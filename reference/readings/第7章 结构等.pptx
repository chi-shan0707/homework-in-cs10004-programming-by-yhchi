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45"/>
  </p:notesMasterIdLst>
  <p:handoutMasterIdLst>
    <p:handoutMasterId r:id="rId146"/>
  </p:handoutMasterIdLst>
  <p:sldIdLst>
    <p:sldId id="256" r:id="rId2"/>
    <p:sldId id="309" r:id="rId3"/>
    <p:sldId id="618" r:id="rId4"/>
    <p:sldId id="630" r:id="rId5"/>
    <p:sldId id="620" r:id="rId6"/>
    <p:sldId id="621" r:id="rId7"/>
    <p:sldId id="485" r:id="rId8"/>
    <p:sldId id="486" r:id="rId9"/>
    <p:sldId id="487" r:id="rId10"/>
    <p:sldId id="488" r:id="rId11"/>
    <p:sldId id="489" r:id="rId12"/>
    <p:sldId id="490" r:id="rId13"/>
    <p:sldId id="491" r:id="rId14"/>
    <p:sldId id="492" r:id="rId15"/>
    <p:sldId id="493" r:id="rId16"/>
    <p:sldId id="494" r:id="rId17"/>
    <p:sldId id="495" r:id="rId18"/>
    <p:sldId id="496" r:id="rId19"/>
    <p:sldId id="623" r:id="rId20"/>
    <p:sldId id="647" r:id="rId21"/>
    <p:sldId id="648" r:id="rId22"/>
    <p:sldId id="624" r:id="rId23"/>
    <p:sldId id="625" r:id="rId24"/>
    <p:sldId id="497" r:id="rId25"/>
    <p:sldId id="498" r:id="rId26"/>
    <p:sldId id="499" r:id="rId27"/>
    <p:sldId id="500" r:id="rId28"/>
    <p:sldId id="502" r:id="rId29"/>
    <p:sldId id="504" r:id="rId30"/>
    <p:sldId id="505" r:id="rId31"/>
    <p:sldId id="503" r:id="rId32"/>
    <p:sldId id="631" r:id="rId33"/>
    <p:sldId id="507" r:id="rId34"/>
    <p:sldId id="508" r:id="rId35"/>
    <p:sldId id="633" r:id="rId36"/>
    <p:sldId id="632" r:id="rId37"/>
    <p:sldId id="510" r:id="rId38"/>
    <p:sldId id="511" r:id="rId39"/>
    <p:sldId id="512" r:id="rId40"/>
    <p:sldId id="513" r:id="rId41"/>
    <p:sldId id="514" r:id="rId42"/>
    <p:sldId id="515" r:id="rId43"/>
    <p:sldId id="516" r:id="rId44"/>
    <p:sldId id="517" r:id="rId45"/>
    <p:sldId id="518" r:id="rId46"/>
    <p:sldId id="519" r:id="rId47"/>
    <p:sldId id="520" r:id="rId48"/>
    <p:sldId id="527" r:id="rId49"/>
    <p:sldId id="528" r:id="rId50"/>
    <p:sldId id="529" r:id="rId51"/>
    <p:sldId id="530" r:id="rId52"/>
    <p:sldId id="531" r:id="rId53"/>
    <p:sldId id="532" r:id="rId54"/>
    <p:sldId id="533" r:id="rId55"/>
    <p:sldId id="635" r:id="rId56"/>
    <p:sldId id="636" r:id="rId57"/>
    <p:sldId id="649" r:id="rId58"/>
    <p:sldId id="637" r:id="rId59"/>
    <p:sldId id="638" r:id="rId60"/>
    <p:sldId id="639" r:id="rId61"/>
    <p:sldId id="640" r:id="rId62"/>
    <p:sldId id="641" r:id="rId63"/>
    <p:sldId id="634" r:id="rId64"/>
    <p:sldId id="596" r:id="rId65"/>
    <p:sldId id="642" r:id="rId66"/>
    <p:sldId id="597" r:id="rId67"/>
    <p:sldId id="598" r:id="rId68"/>
    <p:sldId id="643" r:id="rId69"/>
    <p:sldId id="599" r:id="rId70"/>
    <p:sldId id="600" r:id="rId71"/>
    <p:sldId id="601" r:id="rId72"/>
    <p:sldId id="602" r:id="rId73"/>
    <p:sldId id="644" r:id="rId74"/>
    <p:sldId id="604" r:id="rId75"/>
    <p:sldId id="605" r:id="rId76"/>
    <p:sldId id="606" r:id="rId77"/>
    <p:sldId id="607" r:id="rId78"/>
    <p:sldId id="608" r:id="rId79"/>
    <p:sldId id="646" r:id="rId80"/>
    <p:sldId id="609" r:id="rId81"/>
    <p:sldId id="610" r:id="rId82"/>
    <p:sldId id="611" r:id="rId83"/>
    <p:sldId id="612" r:id="rId84"/>
    <p:sldId id="645" r:id="rId85"/>
    <p:sldId id="536" r:id="rId86"/>
    <p:sldId id="537" r:id="rId87"/>
    <p:sldId id="538" r:id="rId88"/>
    <p:sldId id="539" r:id="rId89"/>
    <p:sldId id="540" r:id="rId90"/>
    <p:sldId id="541" r:id="rId91"/>
    <p:sldId id="542" r:id="rId92"/>
    <p:sldId id="543" r:id="rId93"/>
    <p:sldId id="544" r:id="rId94"/>
    <p:sldId id="545" r:id="rId95"/>
    <p:sldId id="546" r:id="rId96"/>
    <p:sldId id="548" r:id="rId97"/>
    <p:sldId id="549" r:id="rId98"/>
    <p:sldId id="547" r:id="rId99"/>
    <p:sldId id="551" r:id="rId100"/>
    <p:sldId id="552" r:id="rId101"/>
    <p:sldId id="553" r:id="rId102"/>
    <p:sldId id="554" r:id="rId103"/>
    <p:sldId id="555" r:id="rId104"/>
    <p:sldId id="556" r:id="rId105"/>
    <p:sldId id="557" r:id="rId106"/>
    <p:sldId id="650" r:id="rId107"/>
    <p:sldId id="558" r:id="rId108"/>
    <p:sldId id="559" r:id="rId109"/>
    <p:sldId id="560" r:id="rId110"/>
    <p:sldId id="561" r:id="rId111"/>
    <p:sldId id="562" r:id="rId112"/>
    <p:sldId id="563" r:id="rId113"/>
    <p:sldId id="564" r:id="rId114"/>
    <p:sldId id="565" r:id="rId115"/>
    <p:sldId id="566" r:id="rId116"/>
    <p:sldId id="567" r:id="rId117"/>
    <p:sldId id="568" r:id="rId118"/>
    <p:sldId id="569" r:id="rId119"/>
    <p:sldId id="570" r:id="rId120"/>
    <p:sldId id="571" r:id="rId121"/>
    <p:sldId id="572" r:id="rId122"/>
    <p:sldId id="573" r:id="rId123"/>
    <p:sldId id="574" r:id="rId124"/>
    <p:sldId id="575" r:id="rId125"/>
    <p:sldId id="550" r:id="rId126"/>
    <p:sldId id="576" r:id="rId127"/>
    <p:sldId id="577" r:id="rId128"/>
    <p:sldId id="578" r:id="rId129"/>
    <p:sldId id="579" r:id="rId130"/>
    <p:sldId id="580" r:id="rId131"/>
    <p:sldId id="581" r:id="rId132"/>
    <p:sldId id="582" r:id="rId133"/>
    <p:sldId id="583" r:id="rId134"/>
    <p:sldId id="584" r:id="rId135"/>
    <p:sldId id="585" r:id="rId136"/>
    <p:sldId id="586" r:id="rId137"/>
    <p:sldId id="587" r:id="rId138"/>
    <p:sldId id="588" r:id="rId139"/>
    <p:sldId id="589" r:id="rId140"/>
    <p:sldId id="590" r:id="rId141"/>
    <p:sldId id="591" r:id="rId142"/>
    <p:sldId id="592" r:id="rId143"/>
    <p:sldId id="439" r:id="rId144"/>
  </p:sldIdLst>
  <p:sldSz cx="9144000" cy="6858000" type="screen4x3"/>
  <p:notesSz cx="7099300" cy="10234613"/>
  <p:defaultTextStyle>
    <a:defPPr>
      <a:defRPr lang="zh-CN"/>
    </a:defPPr>
    <a:lvl1pPr algn="l" rtl="0" eaLnBrk="0" fontAlgn="base" hangingPunct="0">
      <a:spcBef>
        <a:spcPct val="0"/>
      </a:spcBef>
      <a:spcAft>
        <a:spcPct val="0"/>
      </a:spcAft>
      <a:defRPr sz="3200" i="1" kern="1200">
        <a:solidFill>
          <a:schemeClr val="tx1"/>
        </a:solidFill>
        <a:latin typeface="Arial Unicode MS" panose="020B0604020202020204" pitchFamily="34" charset="-128"/>
        <a:ea typeface="楷体_GB2312" pitchFamily="49" charset="-122"/>
        <a:cs typeface="+mn-cs"/>
      </a:defRPr>
    </a:lvl1pPr>
    <a:lvl2pPr marL="457200" algn="l" rtl="0" eaLnBrk="0" fontAlgn="base" hangingPunct="0">
      <a:spcBef>
        <a:spcPct val="0"/>
      </a:spcBef>
      <a:spcAft>
        <a:spcPct val="0"/>
      </a:spcAft>
      <a:defRPr sz="3200" i="1" kern="1200">
        <a:solidFill>
          <a:schemeClr val="tx1"/>
        </a:solidFill>
        <a:latin typeface="Arial Unicode MS" panose="020B0604020202020204" pitchFamily="34" charset="-128"/>
        <a:ea typeface="楷体_GB2312" pitchFamily="49" charset="-122"/>
        <a:cs typeface="+mn-cs"/>
      </a:defRPr>
    </a:lvl2pPr>
    <a:lvl3pPr marL="914400" algn="l" rtl="0" eaLnBrk="0" fontAlgn="base" hangingPunct="0">
      <a:spcBef>
        <a:spcPct val="0"/>
      </a:spcBef>
      <a:spcAft>
        <a:spcPct val="0"/>
      </a:spcAft>
      <a:defRPr sz="3200" i="1" kern="1200">
        <a:solidFill>
          <a:schemeClr val="tx1"/>
        </a:solidFill>
        <a:latin typeface="Arial Unicode MS" panose="020B0604020202020204" pitchFamily="34" charset="-128"/>
        <a:ea typeface="楷体_GB2312" pitchFamily="49" charset="-122"/>
        <a:cs typeface="+mn-cs"/>
      </a:defRPr>
    </a:lvl3pPr>
    <a:lvl4pPr marL="1371600" algn="l" rtl="0" eaLnBrk="0" fontAlgn="base" hangingPunct="0">
      <a:spcBef>
        <a:spcPct val="0"/>
      </a:spcBef>
      <a:spcAft>
        <a:spcPct val="0"/>
      </a:spcAft>
      <a:defRPr sz="3200" i="1" kern="1200">
        <a:solidFill>
          <a:schemeClr val="tx1"/>
        </a:solidFill>
        <a:latin typeface="Arial Unicode MS" panose="020B0604020202020204" pitchFamily="34" charset="-128"/>
        <a:ea typeface="楷体_GB2312" pitchFamily="49" charset="-122"/>
        <a:cs typeface="+mn-cs"/>
      </a:defRPr>
    </a:lvl4pPr>
    <a:lvl5pPr marL="1828800" algn="l" rtl="0" eaLnBrk="0" fontAlgn="base" hangingPunct="0">
      <a:spcBef>
        <a:spcPct val="0"/>
      </a:spcBef>
      <a:spcAft>
        <a:spcPct val="0"/>
      </a:spcAft>
      <a:defRPr sz="3200" i="1" kern="1200">
        <a:solidFill>
          <a:schemeClr val="tx1"/>
        </a:solidFill>
        <a:latin typeface="Arial Unicode MS" panose="020B0604020202020204" pitchFamily="34" charset="-128"/>
        <a:ea typeface="楷体_GB2312" pitchFamily="49" charset="-122"/>
        <a:cs typeface="+mn-cs"/>
      </a:defRPr>
    </a:lvl5pPr>
    <a:lvl6pPr marL="2286000" algn="l" defTabSz="914400" rtl="0" eaLnBrk="1" latinLnBrk="0" hangingPunct="1">
      <a:defRPr sz="3200" i="1" kern="1200">
        <a:solidFill>
          <a:schemeClr val="tx1"/>
        </a:solidFill>
        <a:latin typeface="Arial Unicode MS" panose="020B0604020202020204" pitchFamily="34" charset="-128"/>
        <a:ea typeface="楷体_GB2312" pitchFamily="49" charset="-122"/>
        <a:cs typeface="+mn-cs"/>
      </a:defRPr>
    </a:lvl6pPr>
    <a:lvl7pPr marL="2743200" algn="l" defTabSz="914400" rtl="0" eaLnBrk="1" latinLnBrk="0" hangingPunct="1">
      <a:defRPr sz="3200" i="1" kern="1200">
        <a:solidFill>
          <a:schemeClr val="tx1"/>
        </a:solidFill>
        <a:latin typeface="Arial Unicode MS" panose="020B0604020202020204" pitchFamily="34" charset="-128"/>
        <a:ea typeface="楷体_GB2312" pitchFamily="49" charset="-122"/>
        <a:cs typeface="+mn-cs"/>
      </a:defRPr>
    </a:lvl7pPr>
    <a:lvl8pPr marL="3200400" algn="l" defTabSz="914400" rtl="0" eaLnBrk="1" latinLnBrk="0" hangingPunct="1">
      <a:defRPr sz="3200" i="1" kern="1200">
        <a:solidFill>
          <a:schemeClr val="tx1"/>
        </a:solidFill>
        <a:latin typeface="Arial Unicode MS" panose="020B0604020202020204" pitchFamily="34" charset="-128"/>
        <a:ea typeface="楷体_GB2312" pitchFamily="49" charset="-122"/>
        <a:cs typeface="+mn-cs"/>
      </a:defRPr>
    </a:lvl8pPr>
    <a:lvl9pPr marL="3657600" algn="l" defTabSz="914400" rtl="0" eaLnBrk="1" latinLnBrk="0" hangingPunct="1">
      <a:defRPr sz="3200" i="1" kern="1200">
        <a:solidFill>
          <a:schemeClr val="tx1"/>
        </a:solidFill>
        <a:latin typeface="Arial Unicode MS" panose="020B0604020202020204" pitchFamily="34" charset="-128"/>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02" autoAdjust="0"/>
    <p:restoredTop sz="86916" autoAdjust="0"/>
  </p:normalViewPr>
  <p:slideViewPr>
    <p:cSldViewPr>
      <p:cViewPr varScale="1">
        <p:scale>
          <a:sx n="108" d="100"/>
          <a:sy n="108" d="100"/>
        </p:scale>
        <p:origin x="1168"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heme" Target="theme/theme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E2B2B51-7C93-43BF-B2A9-DE0D3E4D32EB}"/>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l" defTabSz="990600" eaLnBrk="1" hangingPunct="1">
              <a:spcBef>
                <a:spcPct val="0"/>
              </a:spcBef>
              <a:buClrTx/>
              <a:buSzTx/>
              <a:buFontTx/>
              <a:buNone/>
              <a:defRPr sz="1300" i="0">
                <a:latin typeface="Arial" charset="0"/>
                <a:ea typeface="宋体" charset="-122"/>
              </a:defRPr>
            </a:lvl1pPr>
          </a:lstStyle>
          <a:p>
            <a:pPr>
              <a:defRPr/>
            </a:pPr>
            <a:endParaRPr lang="en-US" altLang="zh-CN"/>
          </a:p>
        </p:txBody>
      </p:sp>
      <p:sp>
        <p:nvSpPr>
          <p:cNvPr id="80899" name="Rectangle 3">
            <a:extLst>
              <a:ext uri="{FF2B5EF4-FFF2-40B4-BE49-F238E27FC236}">
                <a16:creationId xmlns:a16="http://schemas.microsoft.com/office/drawing/2014/main" id="{855E0E1E-768A-497F-A59D-980BB393746C}"/>
              </a:ext>
            </a:extLst>
          </p:cNvPr>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spcBef>
                <a:spcPct val="0"/>
              </a:spcBef>
              <a:buClrTx/>
              <a:buSzTx/>
              <a:buFontTx/>
              <a:buNone/>
              <a:defRPr sz="1300" i="0">
                <a:latin typeface="Arial" charset="0"/>
                <a:ea typeface="宋体" charset="-122"/>
              </a:defRPr>
            </a:lvl1pPr>
          </a:lstStyle>
          <a:p>
            <a:pPr>
              <a:defRPr/>
            </a:pPr>
            <a:endParaRPr lang="en-US" altLang="zh-CN"/>
          </a:p>
        </p:txBody>
      </p:sp>
      <p:sp>
        <p:nvSpPr>
          <p:cNvPr id="80900" name="Rectangle 4">
            <a:extLst>
              <a:ext uri="{FF2B5EF4-FFF2-40B4-BE49-F238E27FC236}">
                <a16:creationId xmlns:a16="http://schemas.microsoft.com/office/drawing/2014/main" id="{139E30FC-EF74-4DB5-8CAE-A62E6935ED02}"/>
              </a:ext>
            </a:extLst>
          </p:cNvPr>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l" defTabSz="990600" eaLnBrk="1" hangingPunct="1">
              <a:spcBef>
                <a:spcPct val="0"/>
              </a:spcBef>
              <a:buClrTx/>
              <a:buSzTx/>
              <a:buFontTx/>
              <a:buNone/>
              <a:defRPr sz="1300" i="0">
                <a:latin typeface="Arial" charset="0"/>
                <a:ea typeface="宋体" charset="-122"/>
              </a:defRPr>
            </a:lvl1pPr>
          </a:lstStyle>
          <a:p>
            <a:pPr>
              <a:defRPr/>
            </a:pPr>
            <a:endParaRPr lang="en-US" altLang="zh-CN"/>
          </a:p>
        </p:txBody>
      </p:sp>
      <p:sp>
        <p:nvSpPr>
          <p:cNvPr id="80901" name="Rectangle 5">
            <a:extLst>
              <a:ext uri="{FF2B5EF4-FFF2-40B4-BE49-F238E27FC236}">
                <a16:creationId xmlns:a16="http://schemas.microsoft.com/office/drawing/2014/main" id="{D27B46B7-08A1-4610-A660-C62462818D22}"/>
              </a:ext>
            </a:extLst>
          </p:cNvPr>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i="0">
                <a:latin typeface="Arial" panose="020B0604020202020204" pitchFamily="34" charset="0"/>
                <a:ea typeface="宋体" panose="02010600030101010101" pitchFamily="2" charset="-122"/>
              </a:defRPr>
            </a:lvl1pPr>
          </a:lstStyle>
          <a:p>
            <a:fld id="{C2D446CA-1380-9C41-95AD-B21F1C2D68FA}" type="slidenum">
              <a:rPr lang="en-US" altLang="zh-CN"/>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8728841C-EB68-4C6C-B9DD-541FBEE89F8B}"/>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l" defTabSz="990600" eaLnBrk="1" hangingPunct="1">
              <a:spcBef>
                <a:spcPct val="0"/>
              </a:spcBef>
              <a:buClrTx/>
              <a:buSzTx/>
              <a:buFontTx/>
              <a:buNone/>
              <a:defRPr sz="1300" i="0">
                <a:latin typeface="Arial" charset="0"/>
                <a:ea typeface="宋体" charset="-122"/>
              </a:defRPr>
            </a:lvl1pPr>
          </a:lstStyle>
          <a:p>
            <a:pPr>
              <a:defRPr/>
            </a:pPr>
            <a:endParaRPr lang="en-US" altLang="zh-CN"/>
          </a:p>
        </p:txBody>
      </p:sp>
      <p:sp>
        <p:nvSpPr>
          <p:cNvPr id="51203" name="Rectangle 3">
            <a:extLst>
              <a:ext uri="{FF2B5EF4-FFF2-40B4-BE49-F238E27FC236}">
                <a16:creationId xmlns:a16="http://schemas.microsoft.com/office/drawing/2014/main" id="{481D0EB8-9DCA-4F28-B38F-E584EED879D5}"/>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spcBef>
                <a:spcPct val="0"/>
              </a:spcBef>
              <a:buClrTx/>
              <a:buSzTx/>
              <a:buFontTx/>
              <a:buNone/>
              <a:defRPr sz="1300" i="0">
                <a:latin typeface="Arial" charset="0"/>
                <a:ea typeface="宋体" charset="-122"/>
              </a:defRPr>
            </a:lvl1pPr>
          </a:lstStyle>
          <a:p>
            <a:pPr>
              <a:defRPr/>
            </a:pPr>
            <a:endParaRPr lang="en-US" altLang="zh-CN"/>
          </a:p>
        </p:txBody>
      </p:sp>
      <p:sp>
        <p:nvSpPr>
          <p:cNvPr id="3076" name="Rectangle 4">
            <a:extLst>
              <a:ext uri="{FF2B5EF4-FFF2-40B4-BE49-F238E27FC236}">
                <a16:creationId xmlns:a16="http://schemas.microsoft.com/office/drawing/2014/main" id="{1D192AF8-BCC3-13AA-9FC5-5D2BD433F79F}"/>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05" name="Rectangle 5">
            <a:extLst>
              <a:ext uri="{FF2B5EF4-FFF2-40B4-BE49-F238E27FC236}">
                <a16:creationId xmlns:a16="http://schemas.microsoft.com/office/drawing/2014/main" id="{0F9D734F-1643-43AD-A774-88C385EE9854}"/>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206" name="Rectangle 6">
            <a:extLst>
              <a:ext uri="{FF2B5EF4-FFF2-40B4-BE49-F238E27FC236}">
                <a16:creationId xmlns:a16="http://schemas.microsoft.com/office/drawing/2014/main" id="{DDB83259-9918-4553-90D8-8BB32152C3B2}"/>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l" defTabSz="990600" eaLnBrk="1" hangingPunct="1">
              <a:spcBef>
                <a:spcPct val="0"/>
              </a:spcBef>
              <a:buClrTx/>
              <a:buSzTx/>
              <a:buFontTx/>
              <a:buNone/>
              <a:defRPr sz="1300" i="0">
                <a:latin typeface="Arial" charset="0"/>
                <a:ea typeface="宋体" charset="-122"/>
              </a:defRPr>
            </a:lvl1pPr>
          </a:lstStyle>
          <a:p>
            <a:pPr>
              <a:defRPr/>
            </a:pPr>
            <a:endParaRPr lang="en-US" altLang="zh-CN"/>
          </a:p>
        </p:txBody>
      </p:sp>
      <p:sp>
        <p:nvSpPr>
          <p:cNvPr id="51207" name="Rectangle 7">
            <a:extLst>
              <a:ext uri="{FF2B5EF4-FFF2-40B4-BE49-F238E27FC236}">
                <a16:creationId xmlns:a16="http://schemas.microsoft.com/office/drawing/2014/main" id="{404A076D-BF8D-42A0-99FD-DAEF406C6024}"/>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i="0">
                <a:latin typeface="Arial" panose="020B0604020202020204" pitchFamily="34" charset="0"/>
                <a:ea typeface="宋体" panose="02010600030101010101" pitchFamily="2" charset="-122"/>
              </a:defRPr>
            </a:lvl1pPr>
          </a:lstStyle>
          <a:p>
            <a:fld id="{B3B6D3AF-80C6-F548-B579-98AA2A1A0E06}"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86857881-B20A-822E-8117-6BF28CFE4044}"/>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990F1FC-9B8C-DD41-8E6F-CD270BCD1110}" type="slidenum">
              <a:rPr lang="en-US" altLang="zh-CN" sz="1300"/>
              <a:pPr>
                <a:spcBef>
                  <a:spcPct val="0"/>
                </a:spcBef>
              </a:pPr>
              <a:t>3</a:t>
            </a:fld>
            <a:endParaRPr lang="en-US" altLang="zh-CN" sz="1300"/>
          </a:p>
        </p:txBody>
      </p:sp>
      <p:sp>
        <p:nvSpPr>
          <p:cNvPr id="19459" name="Rectangle 2">
            <a:extLst>
              <a:ext uri="{FF2B5EF4-FFF2-40B4-BE49-F238E27FC236}">
                <a16:creationId xmlns:a16="http://schemas.microsoft.com/office/drawing/2014/main" id="{4F657FF9-798F-2EBC-8C7B-BA0A0A674C9D}"/>
              </a:ext>
            </a:extLst>
          </p:cNvPr>
          <p:cNvSpPr>
            <a:spLocks noGrp="1" noRot="1" noChangeAspect="1" noChangeArrowheads="1" noTextEdit="1"/>
          </p:cNvSpPr>
          <p:nvPr>
            <p:ph type="sldImg"/>
          </p:nvPr>
        </p:nvSpPr>
        <p:spPr>
          <a:xfrm>
            <a:off x="992188" y="768350"/>
            <a:ext cx="5114925" cy="3836988"/>
          </a:xfrm>
          <a:ln/>
        </p:spPr>
      </p:sp>
      <p:sp>
        <p:nvSpPr>
          <p:cNvPr id="19460" name="Rectangle 3">
            <a:extLst>
              <a:ext uri="{FF2B5EF4-FFF2-40B4-BE49-F238E27FC236}">
                <a16:creationId xmlns:a16="http://schemas.microsoft.com/office/drawing/2014/main" id="{956D1C25-15BB-45DB-BA5E-D725FD91D9DC}"/>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5095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BFE96F9B-7CC1-3929-8729-FBE3A98D44AD}"/>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563A5BC-063F-CB4C-9B27-0B072A10158B}" type="slidenum">
              <a:rPr lang="en-US" altLang="zh-CN" sz="1300"/>
              <a:pPr>
                <a:spcBef>
                  <a:spcPct val="0"/>
                </a:spcBef>
              </a:pPr>
              <a:t>5</a:t>
            </a:fld>
            <a:endParaRPr lang="en-US" altLang="zh-CN" sz="1300"/>
          </a:p>
        </p:txBody>
      </p:sp>
      <p:sp>
        <p:nvSpPr>
          <p:cNvPr id="9219" name="Rectangle 2">
            <a:extLst>
              <a:ext uri="{FF2B5EF4-FFF2-40B4-BE49-F238E27FC236}">
                <a16:creationId xmlns:a16="http://schemas.microsoft.com/office/drawing/2014/main" id="{6B8182E1-B6C7-7407-72C7-3D9A1DF12373}"/>
              </a:ext>
            </a:extLst>
          </p:cNvPr>
          <p:cNvSpPr>
            <a:spLocks noGrp="1" noRot="1" noChangeAspect="1" noChangeArrowheads="1" noTextEdit="1"/>
          </p:cNvSpPr>
          <p:nvPr>
            <p:ph type="sldImg"/>
          </p:nvPr>
        </p:nvSpPr>
        <p:spPr>
          <a:xfrm>
            <a:off x="990600" y="766763"/>
            <a:ext cx="5118100" cy="3838575"/>
          </a:xfrm>
          <a:ln/>
        </p:spPr>
      </p:sp>
      <p:sp>
        <p:nvSpPr>
          <p:cNvPr id="9220" name="Rectangle 3">
            <a:extLst>
              <a:ext uri="{FF2B5EF4-FFF2-40B4-BE49-F238E27FC236}">
                <a16:creationId xmlns:a16="http://schemas.microsoft.com/office/drawing/2014/main" id="{5E6BFC33-B44A-A2DD-E8ED-2417F03CB57F}"/>
              </a:ext>
            </a:extLst>
          </p:cNvPr>
          <p:cNvSpPr>
            <a:spLocks noGrp="1" noChangeArrowheads="1"/>
          </p:cNvSpPr>
          <p:nvPr>
            <p:ph type="body" idx="1"/>
          </p:nvPr>
        </p:nvSpPr>
        <p:spPr>
          <a:xfrm>
            <a:off x="709613" y="4860925"/>
            <a:ext cx="5680075" cy="4606925"/>
          </a:xfrm>
          <a:noFill/>
        </p:spPr>
        <p:txBody>
          <a:bodyPr lIns="95473" tIns="47736" rIns="95473" bIns="47736"/>
          <a:lstStyle/>
          <a:p>
            <a:pPr eaLnBrk="1" hangingPunct="1"/>
            <a:r>
              <a:rPr lang="en-US" altLang="zh-CN">
                <a:latin typeface="Arial" panose="020B0604020202020204" pitchFamily="34" charset="0"/>
                <a:ea typeface="宋体" panose="02010600030101010101" pitchFamily="2" charset="-122"/>
              </a:rPr>
              <a:t>C</a:t>
            </a:r>
            <a:r>
              <a:rPr lang="zh-CN" altLang="en-US">
                <a:latin typeface="Arial" panose="020B0604020202020204" pitchFamily="34" charset="0"/>
                <a:ea typeface="宋体" panose="02010600030101010101" pitchFamily="2" charset="-122"/>
              </a:rPr>
              <a:t>语言通过指针和类型强转，使我们可以对一块内存进行“你希望它代表什么，它就代表什么的操作”，从而更深地控制计算机</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29FA9E04-554E-2A47-2362-3DEE5E95A67C}"/>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345731C-0A25-7846-8E36-7147761310C2}" type="slidenum">
              <a:rPr lang="en-US" altLang="zh-CN" sz="1300"/>
              <a:pPr>
                <a:spcBef>
                  <a:spcPct val="0"/>
                </a:spcBef>
              </a:pPr>
              <a:t>7</a:t>
            </a:fld>
            <a:endParaRPr lang="en-US" altLang="zh-CN" sz="1300"/>
          </a:p>
        </p:txBody>
      </p:sp>
      <p:sp>
        <p:nvSpPr>
          <p:cNvPr id="25603" name="Rectangle 2">
            <a:extLst>
              <a:ext uri="{FF2B5EF4-FFF2-40B4-BE49-F238E27FC236}">
                <a16:creationId xmlns:a16="http://schemas.microsoft.com/office/drawing/2014/main" id="{78AF2984-27F8-560C-68EF-0F807BA37903}"/>
              </a:ext>
            </a:extLst>
          </p:cNvPr>
          <p:cNvSpPr>
            <a:spLocks noGrp="1" noRot="1" noChangeAspect="1" noChangeArrowheads="1" noTextEdit="1"/>
          </p:cNvSpPr>
          <p:nvPr>
            <p:ph type="sldImg"/>
          </p:nvPr>
        </p:nvSpPr>
        <p:spPr>
          <a:xfrm>
            <a:off x="992188" y="768350"/>
            <a:ext cx="5114925" cy="3836988"/>
          </a:xfrm>
          <a:ln/>
        </p:spPr>
      </p:sp>
      <p:sp>
        <p:nvSpPr>
          <p:cNvPr id="25604" name="Rectangle 3">
            <a:extLst>
              <a:ext uri="{FF2B5EF4-FFF2-40B4-BE49-F238E27FC236}">
                <a16:creationId xmlns:a16="http://schemas.microsoft.com/office/drawing/2014/main" id="{E9505923-9688-B994-6A51-2CF85FC0AD36}"/>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38489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C7032A87-B274-75D0-99CD-8C46189A430A}"/>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EA236C1-65AC-094B-B232-D63779EBAFB1}" type="slidenum">
              <a:rPr lang="en-US" altLang="zh-CN" sz="1300"/>
              <a:pPr>
                <a:spcBef>
                  <a:spcPct val="0"/>
                </a:spcBef>
              </a:pPr>
              <a:t>8</a:t>
            </a:fld>
            <a:endParaRPr lang="en-US" altLang="zh-CN" sz="1300"/>
          </a:p>
        </p:txBody>
      </p:sp>
      <p:sp>
        <p:nvSpPr>
          <p:cNvPr id="27651" name="Rectangle 2">
            <a:extLst>
              <a:ext uri="{FF2B5EF4-FFF2-40B4-BE49-F238E27FC236}">
                <a16:creationId xmlns:a16="http://schemas.microsoft.com/office/drawing/2014/main" id="{9189DCA7-4872-6D64-DADF-C4F51EE61CB8}"/>
              </a:ext>
            </a:extLst>
          </p:cNvPr>
          <p:cNvSpPr>
            <a:spLocks noGrp="1" noRot="1" noChangeAspect="1" noChangeArrowheads="1" noTextEdit="1"/>
          </p:cNvSpPr>
          <p:nvPr>
            <p:ph type="sldImg"/>
          </p:nvPr>
        </p:nvSpPr>
        <p:spPr>
          <a:xfrm>
            <a:off x="992188" y="768350"/>
            <a:ext cx="5114925" cy="3836988"/>
          </a:xfrm>
          <a:ln/>
        </p:spPr>
      </p:sp>
      <p:sp>
        <p:nvSpPr>
          <p:cNvPr id="27652" name="Rectangle 3">
            <a:extLst>
              <a:ext uri="{FF2B5EF4-FFF2-40B4-BE49-F238E27FC236}">
                <a16:creationId xmlns:a16="http://schemas.microsoft.com/office/drawing/2014/main" id="{A8062548-7C00-BA7B-1F2A-1626CAF9AA43}"/>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75404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79DBF911-882F-C941-E436-4DEF298505A1}"/>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4C0E6F6-E956-DB4C-8B96-DEB47B48B927}" type="slidenum">
              <a:rPr lang="en-US" altLang="zh-CN" sz="1300"/>
              <a:pPr>
                <a:spcBef>
                  <a:spcPct val="0"/>
                </a:spcBef>
              </a:pPr>
              <a:t>9</a:t>
            </a:fld>
            <a:endParaRPr lang="en-US" altLang="zh-CN" sz="1300"/>
          </a:p>
        </p:txBody>
      </p:sp>
      <p:sp>
        <p:nvSpPr>
          <p:cNvPr id="29699" name="Rectangle 2">
            <a:extLst>
              <a:ext uri="{FF2B5EF4-FFF2-40B4-BE49-F238E27FC236}">
                <a16:creationId xmlns:a16="http://schemas.microsoft.com/office/drawing/2014/main" id="{91668EFD-C24F-9906-10AD-6BA8D5CFF32E}"/>
              </a:ext>
            </a:extLst>
          </p:cNvPr>
          <p:cNvSpPr>
            <a:spLocks noGrp="1" noRot="1" noChangeAspect="1" noChangeArrowheads="1" noTextEdit="1"/>
          </p:cNvSpPr>
          <p:nvPr>
            <p:ph type="sldImg"/>
          </p:nvPr>
        </p:nvSpPr>
        <p:spPr>
          <a:xfrm>
            <a:off x="992188" y="768350"/>
            <a:ext cx="5114925" cy="3836988"/>
          </a:xfrm>
          <a:ln/>
        </p:spPr>
      </p:sp>
      <p:sp>
        <p:nvSpPr>
          <p:cNvPr id="29700" name="Rectangle 3">
            <a:extLst>
              <a:ext uri="{FF2B5EF4-FFF2-40B4-BE49-F238E27FC236}">
                <a16:creationId xmlns:a16="http://schemas.microsoft.com/office/drawing/2014/main" id="{312C854D-CE78-CEA0-929C-683549B1A440}"/>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53442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B165554A-B64E-2BDD-EB59-1BB20F8DD0F6}"/>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8BFDE16-00DC-7E41-9E7E-448D81884DEF}" type="slidenum">
              <a:rPr lang="en-US" altLang="zh-CN" sz="1300"/>
              <a:pPr>
                <a:spcBef>
                  <a:spcPct val="0"/>
                </a:spcBef>
              </a:pPr>
              <a:t>10</a:t>
            </a:fld>
            <a:endParaRPr lang="en-US" altLang="zh-CN" sz="1300"/>
          </a:p>
        </p:txBody>
      </p:sp>
      <p:sp>
        <p:nvSpPr>
          <p:cNvPr id="31747" name="Rectangle 2">
            <a:extLst>
              <a:ext uri="{FF2B5EF4-FFF2-40B4-BE49-F238E27FC236}">
                <a16:creationId xmlns:a16="http://schemas.microsoft.com/office/drawing/2014/main" id="{123DD641-1E5F-106F-DB3E-EBADE5644F74}"/>
              </a:ext>
            </a:extLst>
          </p:cNvPr>
          <p:cNvSpPr>
            <a:spLocks noGrp="1" noRot="1" noChangeAspect="1" noChangeArrowheads="1" noTextEdit="1"/>
          </p:cNvSpPr>
          <p:nvPr>
            <p:ph type="sldImg"/>
          </p:nvPr>
        </p:nvSpPr>
        <p:spPr>
          <a:xfrm>
            <a:off x="992188" y="768350"/>
            <a:ext cx="5114925" cy="3836988"/>
          </a:xfrm>
          <a:ln/>
        </p:spPr>
      </p:sp>
      <p:sp>
        <p:nvSpPr>
          <p:cNvPr id="31748" name="Rectangle 3">
            <a:extLst>
              <a:ext uri="{FF2B5EF4-FFF2-40B4-BE49-F238E27FC236}">
                <a16:creationId xmlns:a16="http://schemas.microsoft.com/office/drawing/2014/main" id="{3710CCA9-6FE6-26FD-FF44-12279D08844B}"/>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62838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97841019-C9DE-3D92-4A3F-893F814A0BA7}"/>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32889FF-07AA-ED4D-8EA4-1A6CE5326421}" type="slidenum">
              <a:rPr lang="en-US" altLang="zh-CN" sz="1300"/>
              <a:pPr>
                <a:spcBef>
                  <a:spcPct val="0"/>
                </a:spcBef>
              </a:pPr>
              <a:t>11</a:t>
            </a:fld>
            <a:endParaRPr lang="en-US" altLang="zh-CN" sz="1300"/>
          </a:p>
        </p:txBody>
      </p:sp>
      <p:sp>
        <p:nvSpPr>
          <p:cNvPr id="33795" name="Rectangle 2">
            <a:extLst>
              <a:ext uri="{FF2B5EF4-FFF2-40B4-BE49-F238E27FC236}">
                <a16:creationId xmlns:a16="http://schemas.microsoft.com/office/drawing/2014/main" id="{F49619FE-E2D2-82ED-BA60-C0F96DE21946}"/>
              </a:ext>
            </a:extLst>
          </p:cNvPr>
          <p:cNvSpPr>
            <a:spLocks noGrp="1" noRot="1" noChangeAspect="1" noChangeArrowheads="1" noTextEdit="1"/>
          </p:cNvSpPr>
          <p:nvPr>
            <p:ph type="sldImg"/>
          </p:nvPr>
        </p:nvSpPr>
        <p:spPr>
          <a:xfrm>
            <a:off x="992188" y="768350"/>
            <a:ext cx="5114925" cy="3836988"/>
          </a:xfrm>
          <a:ln/>
        </p:spPr>
      </p:sp>
      <p:sp>
        <p:nvSpPr>
          <p:cNvPr id="33796" name="Rectangle 3">
            <a:extLst>
              <a:ext uri="{FF2B5EF4-FFF2-40B4-BE49-F238E27FC236}">
                <a16:creationId xmlns:a16="http://schemas.microsoft.com/office/drawing/2014/main" id="{0CF35AD3-C8F0-0395-2953-C48410FA217A}"/>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02739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B8129586-E14F-4976-9264-9DBF1A69E420}"/>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3297A8C-DD79-BA4F-BA9A-A2A5648FC28E}" type="slidenum">
              <a:rPr lang="en-US" altLang="zh-CN" sz="1300"/>
              <a:pPr>
                <a:spcBef>
                  <a:spcPct val="0"/>
                </a:spcBef>
              </a:pPr>
              <a:t>12</a:t>
            </a:fld>
            <a:endParaRPr lang="en-US" altLang="zh-CN" sz="1300"/>
          </a:p>
        </p:txBody>
      </p:sp>
      <p:sp>
        <p:nvSpPr>
          <p:cNvPr id="35843" name="Rectangle 2">
            <a:extLst>
              <a:ext uri="{FF2B5EF4-FFF2-40B4-BE49-F238E27FC236}">
                <a16:creationId xmlns:a16="http://schemas.microsoft.com/office/drawing/2014/main" id="{538E5FB4-6226-BB23-F776-946997264250}"/>
              </a:ext>
            </a:extLst>
          </p:cNvPr>
          <p:cNvSpPr>
            <a:spLocks noGrp="1" noRot="1" noChangeAspect="1" noChangeArrowheads="1" noTextEdit="1"/>
          </p:cNvSpPr>
          <p:nvPr>
            <p:ph type="sldImg"/>
          </p:nvPr>
        </p:nvSpPr>
        <p:spPr>
          <a:xfrm>
            <a:off x="992188" y="768350"/>
            <a:ext cx="5114925" cy="3836988"/>
          </a:xfrm>
          <a:ln/>
        </p:spPr>
      </p:sp>
      <p:sp>
        <p:nvSpPr>
          <p:cNvPr id="35844" name="Rectangle 3">
            <a:extLst>
              <a:ext uri="{FF2B5EF4-FFF2-40B4-BE49-F238E27FC236}">
                <a16:creationId xmlns:a16="http://schemas.microsoft.com/office/drawing/2014/main" id="{6D19C88F-285E-6A7C-3535-A589E728C2A8}"/>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76900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DF348F7E-D65C-8BB4-15C3-1A98EBD728DA}"/>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72CF940-01A2-7949-8783-8C8BC7D503E9}" type="slidenum">
              <a:rPr lang="en-US" altLang="zh-CN" sz="1300"/>
              <a:pPr>
                <a:spcBef>
                  <a:spcPct val="0"/>
                </a:spcBef>
              </a:pPr>
              <a:t>13</a:t>
            </a:fld>
            <a:endParaRPr lang="en-US" altLang="zh-CN" sz="1300"/>
          </a:p>
        </p:txBody>
      </p:sp>
      <p:sp>
        <p:nvSpPr>
          <p:cNvPr id="37891" name="Rectangle 2">
            <a:extLst>
              <a:ext uri="{FF2B5EF4-FFF2-40B4-BE49-F238E27FC236}">
                <a16:creationId xmlns:a16="http://schemas.microsoft.com/office/drawing/2014/main" id="{28BD11F6-0461-9D9E-CB0B-B508869D5163}"/>
              </a:ext>
            </a:extLst>
          </p:cNvPr>
          <p:cNvSpPr>
            <a:spLocks noGrp="1" noRot="1" noChangeAspect="1" noChangeArrowheads="1" noTextEdit="1"/>
          </p:cNvSpPr>
          <p:nvPr>
            <p:ph type="sldImg"/>
          </p:nvPr>
        </p:nvSpPr>
        <p:spPr>
          <a:xfrm>
            <a:off x="992188" y="768350"/>
            <a:ext cx="5114925" cy="3836988"/>
          </a:xfrm>
          <a:ln/>
        </p:spPr>
      </p:sp>
      <p:sp>
        <p:nvSpPr>
          <p:cNvPr id="37892" name="Rectangle 3">
            <a:extLst>
              <a:ext uri="{FF2B5EF4-FFF2-40B4-BE49-F238E27FC236}">
                <a16:creationId xmlns:a16="http://schemas.microsoft.com/office/drawing/2014/main" id="{29FBE1AE-4FEE-3F30-E627-284B8965D28F}"/>
              </a:ext>
            </a:extLst>
          </p:cNvPr>
          <p:cNvSpPr>
            <a:spLocks noGrp="1" noChangeArrowheads="1"/>
          </p:cNvSpPr>
          <p:nvPr>
            <p:ph type="body" idx="1"/>
          </p:nvPr>
        </p:nvSpPr>
        <p:spPr>
          <a:noFill/>
        </p:spPr>
        <p:txBody>
          <a:bodyPr/>
          <a:lstStyle/>
          <a:p>
            <a:r>
              <a:rPr lang="zh-CN" altLang="en-US" b="1"/>
              <a:t>能省略的情况（使用 </a:t>
            </a:r>
            <a:r>
              <a:rPr lang="en-US" altLang="zh-CN" b="1"/>
              <a:t>typedef</a:t>
            </a:r>
            <a:r>
              <a:rPr lang="zh-CN" altLang="en-US" b="1"/>
              <a:t>）</a:t>
            </a:r>
          </a:p>
          <a:p>
            <a:r>
              <a:rPr lang="zh-CN" altLang="en-US"/>
              <a:t>使用 </a:t>
            </a:r>
            <a:r>
              <a:rPr lang="en-US" altLang="zh-CN" sz="1200" kern="1200">
                <a:solidFill>
                  <a:schemeClr val="tx1"/>
                </a:solidFill>
                <a:latin typeface="Arial" charset="0"/>
                <a:ea typeface="宋体" charset="-122"/>
                <a:cs typeface="+mn-cs"/>
              </a:rPr>
              <a:t>typedef</a:t>
            </a:r>
            <a:r>
              <a:rPr lang="en-US" altLang="zh-CN"/>
              <a:t> </a:t>
            </a:r>
            <a:r>
              <a:rPr lang="zh-CN" altLang="en-US"/>
              <a:t>给结构体起一个类型别名：</a:t>
            </a:r>
          </a:p>
          <a:p>
            <a:pPr rtl="0"/>
            <a:r>
              <a:rPr lang="en-US" altLang="zh-CN" sz="1200" kern="1200">
                <a:solidFill>
                  <a:schemeClr val="tx1"/>
                </a:solidFill>
                <a:latin typeface="Arial" charset="0"/>
                <a:ea typeface="宋体" charset="-122"/>
                <a:cs typeface="+mn-cs"/>
              </a:rPr>
              <a:t>typedef struct Point {</a:t>
            </a:r>
          </a:p>
          <a:p>
            <a:pPr rtl="0"/>
            <a:r>
              <a:rPr lang="en-US" altLang="zh-CN" sz="1200" kern="1200">
                <a:solidFill>
                  <a:schemeClr val="tx1"/>
                </a:solidFill>
                <a:latin typeface="Arial" charset="0"/>
                <a:ea typeface="宋体" charset="-122"/>
                <a:cs typeface="+mn-cs"/>
              </a:rPr>
              <a:t>    int x;</a:t>
            </a:r>
          </a:p>
          <a:p>
            <a:pPr rtl="0"/>
            <a:r>
              <a:rPr lang="en-US" altLang="zh-CN" sz="1200" kern="1200">
                <a:solidFill>
                  <a:schemeClr val="tx1"/>
                </a:solidFill>
                <a:latin typeface="Arial" charset="0"/>
                <a:ea typeface="宋体" charset="-122"/>
                <a:cs typeface="+mn-cs"/>
              </a:rPr>
              <a:t>    int y;</a:t>
            </a:r>
          </a:p>
          <a:p>
            <a:pPr rtl="0"/>
            <a:r>
              <a:rPr lang="en-US" altLang="zh-CN" sz="1200" kern="1200">
                <a:solidFill>
                  <a:schemeClr val="tx1"/>
                </a:solidFill>
                <a:latin typeface="Arial" charset="0"/>
                <a:ea typeface="宋体" charset="-122"/>
                <a:cs typeface="+mn-cs"/>
              </a:rPr>
              <a:t>} Point;</a:t>
            </a:r>
          </a:p>
          <a:p>
            <a:pPr rtl="0"/>
            <a:endParaRPr lang="en-US" altLang="zh-CN" sz="1200" kern="1200">
              <a:solidFill>
                <a:schemeClr val="tx1"/>
              </a:solidFill>
              <a:latin typeface="Arial" charset="0"/>
              <a:ea typeface="宋体" charset="-122"/>
              <a:cs typeface="+mn-cs"/>
            </a:endParaRPr>
          </a:p>
          <a:p>
            <a:r>
              <a:rPr lang="zh-CN" altLang="en-US"/>
              <a:t>现在你可以直接写：</a:t>
            </a:r>
          </a:p>
          <a:p>
            <a:pPr rtl="0"/>
            <a:r>
              <a:rPr lang="en-US" altLang="zh-CN" sz="1200" kern="1200">
                <a:solidFill>
                  <a:schemeClr val="tx1"/>
                </a:solidFill>
                <a:latin typeface="Arial" charset="0"/>
                <a:ea typeface="宋体" charset="-122"/>
                <a:cs typeface="+mn-cs"/>
              </a:rPr>
              <a:t>Point p;     // struct </a:t>
            </a:r>
            <a:r>
              <a:rPr lang="zh-CN" altLang="en-US" sz="1200" kern="1200">
                <a:solidFill>
                  <a:schemeClr val="tx1"/>
                </a:solidFill>
                <a:latin typeface="Arial" charset="0"/>
                <a:ea typeface="宋体" charset="-122"/>
                <a:cs typeface="+mn-cs"/>
              </a:rPr>
              <a:t>可以省略</a:t>
            </a:r>
          </a:p>
          <a:p>
            <a:endParaRPr lang="en-US" altLang="zh-CN"/>
          </a:p>
          <a:p>
            <a:r>
              <a:rPr lang="zh-CN" altLang="en-US"/>
              <a:t>因为此时 </a:t>
            </a:r>
            <a:r>
              <a:rPr lang="en-US" altLang="zh-CN" sz="1200" kern="1200">
                <a:solidFill>
                  <a:schemeClr val="tx1"/>
                </a:solidFill>
                <a:latin typeface="Arial" charset="0"/>
                <a:ea typeface="宋体" charset="-122"/>
                <a:cs typeface="+mn-cs"/>
              </a:rPr>
              <a:t>Point</a:t>
            </a:r>
            <a:r>
              <a:rPr lang="en-US" altLang="zh-CN"/>
              <a:t> </a:t>
            </a:r>
            <a:r>
              <a:rPr lang="zh-CN" altLang="en-US"/>
              <a:t>成为一个真正的 “类型名”，类似 </a:t>
            </a:r>
            <a:r>
              <a:rPr lang="en-US" altLang="zh-CN" sz="1200" kern="1200">
                <a:solidFill>
                  <a:schemeClr val="tx1"/>
                </a:solidFill>
                <a:latin typeface="Arial" charset="0"/>
                <a:ea typeface="宋体" charset="-122"/>
                <a:cs typeface="+mn-cs"/>
              </a:rPr>
              <a:t>int</a:t>
            </a:r>
            <a:r>
              <a:rPr lang="zh-CN" altLang="en-US"/>
              <a:t>、</a:t>
            </a:r>
            <a:r>
              <a:rPr lang="en-US" altLang="zh-CN" sz="1200" kern="1200">
                <a:solidFill>
                  <a:schemeClr val="tx1"/>
                </a:solidFill>
                <a:latin typeface="Arial" charset="0"/>
                <a:ea typeface="宋体" charset="-122"/>
                <a:cs typeface="+mn-cs"/>
              </a:rPr>
              <a:t>double</a:t>
            </a:r>
            <a:r>
              <a:rPr lang="zh-CN" altLang="en-US"/>
              <a:t>。</a:t>
            </a:r>
          </a:p>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02632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CCB81291-D5CB-8E5B-B9D6-C8C44DAB95A3}"/>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B55D72-8D30-0A4F-ABE1-873DD09BB404}" type="slidenum">
              <a:rPr lang="en-US" altLang="zh-CN" sz="1300"/>
              <a:pPr>
                <a:spcBef>
                  <a:spcPct val="0"/>
                </a:spcBef>
              </a:pPr>
              <a:t>14</a:t>
            </a:fld>
            <a:endParaRPr lang="en-US" altLang="zh-CN" sz="1300"/>
          </a:p>
        </p:txBody>
      </p:sp>
      <p:sp>
        <p:nvSpPr>
          <p:cNvPr id="39939" name="Rectangle 2">
            <a:extLst>
              <a:ext uri="{FF2B5EF4-FFF2-40B4-BE49-F238E27FC236}">
                <a16:creationId xmlns:a16="http://schemas.microsoft.com/office/drawing/2014/main" id="{C8864FB0-2C38-BA1B-6BAE-EBC64CF0249A}"/>
              </a:ext>
            </a:extLst>
          </p:cNvPr>
          <p:cNvSpPr>
            <a:spLocks noGrp="1" noRot="1" noChangeAspect="1" noChangeArrowheads="1" noTextEdit="1"/>
          </p:cNvSpPr>
          <p:nvPr>
            <p:ph type="sldImg"/>
          </p:nvPr>
        </p:nvSpPr>
        <p:spPr>
          <a:xfrm>
            <a:off x="992188" y="768350"/>
            <a:ext cx="5114925" cy="3836988"/>
          </a:xfrm>
          <a:ln/>
        </p:spPr>
      </p:sp>
      <p:sp>
        <p:nvSpPr>
          <p:cNvPr id="39940" name="Rectangle 3">
            <a:extLst>
              <a:ext uri="{FF2B5EF4-FFF2-40B4-BE49-F238E27FC236}">
                <a16:creationId xmlns:a16="http://schemas.microsoft.com/office/drawing/2014/main" id="{DAF4F53C-2F29-D11E-5F4E-6870F88F653F}"/>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60735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10F08E54-BEA0-E2A9-5A05-9264DE39F593}"/>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B1942A3-1895-D648-85C4-9F13EC9CD3E2}" type="slidenum">
              <a:rPr lang="en-US" altLang="zh-CN" sz="1300"/>
              <a:pPr>
                <a:spcBef>
                  <a:spcPct val="0"/>
                </a:spcBef>
              </a:pPr>
              <a:t>15</a:t>
            </a:fld>
            <a:endParaRPr lang="en-US" altLang="zh-CN" sz="1300"/>
          </a:p>
        </p:txBody>
      </p:sp>
      <p:sp>
        <p:nvSpPr>
          <p:cNvPr id="41987" name="Rectangle 2">
            <a:extLst>
              <a:ext uri="{FF2B5EF4-FFF2-40B4-BE49-F238E27FC236}">
                <a16:creationId xmlns:a16="http://schemas.microsoft.com/office/drawing/2014/main" id="{C24E413A-19CA-F9BE-6F5C-31E08EB9025A}"/>
              </a:ext>
            </a:extLst>
          </p:cNvPr>
          <p:cNvSpPr>
            <a:spLocks noGrp="1" noRot="1" noChangeAspect="1" noChangeArrowheads="1" noTextEdit="1"/>
          </p:cNvSpPr>
          <p:nvPr>
            <p:ph type="sldImg"/>
          </p:nvPr>
        </p:nvSpPr>
        <p:spPr>
          <a:xfrm>
            <a:off x="992188" y="768350"/>
            <a:ext cx="5114925" cy="3836988"/>
          </a:xfrm>
          <a:ln/>
        </p:spPr>
      </p:sp>
      <p:sp>
        <p:nvSpPr>
          <p:cNvPr id="41988" name="Rectangle 3">
            <a:extLst>
              <a:ext uri="{FF2B5EF4-FFF2-40B4-BE49-F238E27FC236}">
                <a16:creationId xmlns:a16="http://schemas.microsoft.com/office/drawing/2014/main" id="{31E59A0D-528C-136D-A136-449DED0FEEB6}"/>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23004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24A5D211-7330-B311-9AB6-F88B681BF3D3}"/>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6EA30A5-C5FE-214E-B628-694A0E177FBC}" type="slidenum">
              <a:rPr lang="en-US" altLang="zh-CN" sz="1300"/>
              <a:pPr>
                <a:spcBef>
                  <a:spcPct val="0"/>
                </a:spcBef>
              </a:pPr>
              <a:t>16</a:t>
            </a:fld>
            <a:endParaRPr lang="en-US" altLang="zh-CN" sz="1300"/>
          </a:p>
        </p:txBody>
      </p:sp>
      <p:sp>
        <p:nvSpPr>
          <p:cNvPr id="44035" name="Rectangle 2">
            <a:extLst>
              <a:ext uri="{FF2B5EF4-FFF2-40B4-BE49-F238E27FC236}">
                <a16:creationId xmlns:a16="http://schemas.microsoft.com/office/drawing/2014/main" id="{0F8BB27E-E3FC-D2B3-F01A-3D36D95CFCC5}"/>
              </a:ext>
            </a:extLst>
          </p:cNvPr>
          <p:cNvSpPr>
            <a:spLocks noGrp="1" noRot="1" noChangeAspect="1" noChangeArrowheads="1" noTextEdit="1"/>
          </p:cNvSpPr>
          <p:nvPr>
            <p:ph type="sldImg"/>
          </p:nvPr>
        </p:nvSpPr>
        <p:spPr>
          <a:xfrm>
            <a:off x="992188" y="768350"/>
            <a:ext cx="5114925" cy="3836988"/>
          </a:xfrm>
          <a:ln/>
        </p:spPr>
      </p:sp>
      <p:sp>
        <p:nvSpPr>
          <p:cNvPr id="44036" name="Rectangle 3">
            <a:extLst>
              <a:ext uri="{FF2B5EF4-FFF2-40B4-BE49-F238E27FC236}">
                <a16:creationId xmlns:a16="http://schemas.microsoft.com/office/drawing/2014/main" id="{F937A044-78D6-F1E3-62E9-306CD4591D86}"/>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99958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94FDFC4E-DEAA-ED9E-3169-D619DE22E1A1}"/>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79D6C18-9194-2646-B95F-56BD2ADC62FF}" type="slidenum">
              <a:rPr lang="en-US" altLang="zh-CN" sz="1300"/>
              <a:pPr>
                <a:spcBef>
                  <a:spcPct val="0"/>
                </a:spcBef>
              </a:pPr>
              <a:t>17</a:t>
            </a:fld>
            <a:endParaRPr lang="en-US" altLang="zh-CN" sz="1300"/>
          </a:p>
        </p:txBody>
      </p:sp>
      <p:sp>
        <p:nvSpPr>
          <p:cNvPr id="46083" name="Rectangle 2">
            <a:extLst>
              <a:ext uri="{FF2B5EF4-FFF2-40B4-BE49-F238E27FC236}">
                <a16:creationId xmlns:a16="http://schemas.microsoft.com/office/drawing/2014/main" id="{6087DF43-8929-EC34-5F8B-184A28B2E69E}"/>
              </a:ext>
            </a:extLst>
          </p:cNvPr>
          <p:cNvSpPr>
            <a:spLocks noGrp="1" noRot="1" noChangeAspect="1" noChangeArrowheads="1" noTextEdit="1"/>
          </p:cNvSpPr>
          <p:nvPr>
            <p:ph type="sldImg"/>
          </p:nvPr>
        </p:nvSpPr>
        <p:spPr>
          <a:xfrm>
            <a:off x="992188" y="768350"/>
            <a:ext cx="5114925" cy="3836988"/>
          </a:xfrm>
          <a:ln/>
        </p:spPr>
      </p:sp>
      <p:sp>
        <p:nvSpPr>
          <p:cNvPr id="46084" name="Rectangle 3">
            <a:extLst>
              <a:ext uri="{FF2B5EF4-FFF2-40B4-BE49-F238E27FC236}">
                <a16:creationId xmlns:a16="http://schemas.microsoft.com/office/drawing/2014/main" id="{1BB5D97F-6258-67B0-E2E1-16EFFBB07884}"/>
              </a:ext>
            </a:extLst>
          </p:cNvPr>
          <p:cNvSpPr>
            <a:spLocks noGrp="1" noChangeArrowheads="1"/>
          </p:cNvSpPr>
          <p:nvPr>
            <p:ph type="body" idx="1"/>
          </p:nvPr>
        </p:nvSpPr>
        <p:spPr>
          <a:noFill/>
        </p:spPr>
        <p:txBody>
          <a:bodyPr/>
          <a:lstStyle/>
          <a:p>
            <a:pPr lvl="1" eaLnBrk="1" hangingPunct="1"/>
            <a:r>
              <a:rPr lang="zh-CN" altLang="en-US">
                <a:latin typeface="Arial" panose="020B0604020202020204" pitchFamily="34" charset="0"/>
                <a:ea typeface="宋体" panose="02010600030101010101" pitchFamily="2" charset="-122"/>
              </a:rPr>
              <a:t>部分初始化时候，剩余的填机器零</a:t>
            </a:r>
          </a:p>
        </p:txBody>
      </p:sp>
    </p:spTree>
    <p:extLst>
      <p:ext uri="{BB962C8B-B14F-4D97-AF65-F5344CB8AC3E}">
        <p14:creationId xmlns:p14="http://schemas.microsoft.com/office/powerpoint/2010/main" val="3697482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C276164B-7A17-E0F4-6604-4F99BAABDA96}"/>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2C6363D-04F2-6949-8268-39D55F00BDA1}" type="slidenum">
              <a:rPr lang="en-US" altLang="zh-CN" sz="1300"/>
              <a:pPr>
                <a:spcBef>
                  <a:spcPct val="0"/>
                </a:spcBef>
              </a:pPr>
              <a:t>18</a:t>
            </a:fld>
            <a:endParaRPr lang="en-US" altLang="zh-CN" sz="1300"/>
          </a:p>
        </p:txBody>
      </p:sp>
      <p:sp>
        <p:nvSpPr>
          <p:cNvPr id="48131" name="Rectangle 2">
            <a:extLst>
              <a:ext uri="{FF2B5EF4-FFF2-40B4-BE49-F238E27FC236}">
                <a16:creationId xmlns:a16="http://schemas.microsoft.com/office/drawing/2014/main" id="{F32D91F2-23FD-2479-14C4-B35B3E7DDAFF}"/>
              </a:ext>
            </a:extLst>
          </p:cNvPr>
          <p:cNvSpPr>
            <a:spLocks noGrp="1" noRot="1" noChangeAspect="1" noChangeArrowheads="1" noTextEdit="1"/>
          </p:cNvSpPr>
          <p:nvPr>
            <p:ph type="sldImg"/>
          </p:nvPr>
        </p:nvSpPr>
        <p:spPr>
          <a:xfrm>
            <a:off x="992188" y="768350"/>
            <a:ext cx="5114925" cy="3836988"/>
          </a:xfrm>
          <a:ln/>
        </p:spPr>
      </p:sp>
      <p:sp>
        <p:nvSpPr>
          <p:cNvPr id="48132" name="Rectangle 3">
            <a:extLst>
              <a:ext uri="{FF2B5EF4-FFF2-40B4-BE49-F238E27FC236}">
                <a16:creationId xmlns:a16="http://schemas.microsoft.com/office/drawing/2014/main" id="{4A7C5D14-2D20-7622-83F5-349C2634EF91}"/>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40685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a:t>在 </a:t>
            </a:r>
            <a:r>
              <a:rPr lang="en-US" altLang="zh-CN"/>
              <a:t>C </a:t>
            </a:r>
            <a:r>
              <a:rPr lang="zh-CN" altLang="en-US"/>
              <a:t>语言中，结构体的实际空间是按照机器字长进行对齐的。这意味着编译器通常会在结构体成员之间插入一些</a:t>
            </a:r>
            <a:r>
              <a:rPr lang="zh-CN" altLang="en-US" b="1"/>
              <a:t>填充字节</a:t>
            </a:r>
            <a:r>
              <a:rPr lang="zh-CN" altLang="en-US"/>
              <a:t>（</a:t>
            </a:r>
            <a:r>
              <a:rPr lang="en-US" altLang="zh-CN"/>
              <a:t>padding</a:t>
            </a:r>
            <a:r>
              <a:rPr lang="zh-CN" altLang="en-US"/>
              <a:t>），使得每个成员的内存地址按照特定的对齐方式排列。这样做是为了提高 </a:t>
            </a:r>
            <a:r>
              <a:rPr lang="en-US" altLang="zh-CN"/>
              <a:t>CPU </a:t>
            </a:r>
            <a:r>
              <a:rPr lang="zh-CN" altLang="en-US"/>
              <a:t>访问内存的效率，</a:t>
            </a:r>
            <a:r>
              <a:rPr lang="zh-CN" altLang="en-US" b="1"/>
              <a:t>因为现代计算机在读取和写入内存时通常更高效地处理对齐的内存地址</a:t>
            </a:r>
            <a:r>
              <a:rPr lang="zh-CN" altLang="en-US"/>
              <a:t>。</a:t>
            </a:r>
            <a:endParaRPr lang="en-US" altLang="zh-CN"/>
          </a:p>
          <a:p>
            <a:endParaRPr kumimoji="1" lang="en-US" altLang="zh-CN"/>
          </a:p>
          <a:p>
            <a:r>
              <a:rPr lang="zh-CN" altLang="en-US" b="1"/>
              <a:t>优点：</a:t>
            </a:r>
          </a:p>
          <a:p>
            <a:pPr>
              <a:buFont typeface="Arial" panose="020B0604020202020204" pitchFamily="34" charset="0"/>
              <a:buChar char="•"/>
            </a:pPr>
            <a:r>
              <a:rPr lang="zh-CN" altLang="en-US"/>
              <a:t>提高 </a:t>
            </a:r>
            <a:r>
              <a:rPr lang="en-US" altLang="zh-CN"/>
              <a:t>CPU </a:t>
            </a:r>
            <a:r>
              <a:rPr lang="zh-CN" altLang="en-US"/>
              <a:t>访问结构体成员的速度。</a:t>
            </a:r>
          </a:p>
          <a:p>
            <a:r>
              <a:rPr lang="zh-CN" altLang="en-US" b="1"/>
              <a:t>缺点：</a:t>
            </a:r>
          </a:p>
          <a:p>
            <a:pPr>
              <a:buFont typeface="Arial" panose="020B0604020202020204" pitchFamily="34" charset="0"/>
              <a:buChar char="•"/>
            </a:pPr>
            <a:r>
              <a:rPr lang="zh-CN" altLang="en-US"/>
              <a:t>可能浪费内存（填充字节的使用）。</a:t>
            </a:r>
          </a:p>
          <a:p>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19</a:t>
            </a:fld>
            <a:endParaRPr lang="en-US" altLang="zh-CN"/>
          </a:p>
        </p:txBody>
      </p:sp>
    </p:spTree>
    <p:extLst>
      <p:ext uri="{BB962C8B-B14F-4D97-AF65-F5344CB8AC3E}">
        <p14:creationId xmlns:p14="http://schemas.microsoft.com/office/powerpoint/2010/main" val="24440894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en-US" altLang="zh-CN" b="0">
                <a:solidFill>
                  <a:srgbClr val="FF0000"/>
                </a:solidFill>
                <a:latin typeface="+mn-ea"/>
              </a:rPr>
              <a:t>sizeof</a:t>
            </a:r>
            <a:r>
              <a:rPr kumimoji="1" lang="zh-CN" altLang="en-US" b="0">
                <a:solidFill>
                  <a:srgbClr val="FF0000"/>
                </a:solidFill>
                <a:latin typeface="+mn-ea"/>
              </a:rPr>
              <a:t>中 </a:t>
            </a:r>
            <a:r>
              <a:rPr kumimoji="1" lang="en-US" altLang="zh-CN" b="0">
                <a:solidFill>
                  <a:srgbClr val="FF0000"/>
                </a:solidFill>
                <a:latin typeface="+mn-ea"/>
              </a:rPr>
              <a:t>struct</a:t>
            </a:r>
            <a:r>
              <a:rPr kumimoji="1" lang="zh-CN" altLang="en-US" b="0">
                <a:solidFill>
                  <a:srgbClr val="FF0000"/>
                </a:solidFill>
                <a:latin typeface="+mn-ea"/>
              </a:rPr>
              <a:t>不能漏</a:t>
            </a:r>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22</a:t>
            </a:fld>
            <a:endParaRPr lang="en-US" altLang="zh-CN"/>
          </a:p>
        </p:txBody>
      </p:sp>
    </p:spTree>
    <p:extLst>
      <p:ext uri="{BB962C8B-B14F-4D97-AF65-F5344CB8AC3E}">
        <p14:creationId xmlns:p14="http://schemas.microsoft.com/office/powerpoint/2010/main" val="3408844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a:t>虽然 </a:t>
            </a:r>
            <a:r>
              <a:rPr lang="en-US" altLang="zh-CN"/>
              <a:t>C </a:t>
            </a:r>
            <a:r>
              <a:rPr lang="zh-CN" altLang="en-US"/>
              <a:t>语言不支持运算符重载，</a:t>
            </a:r>
            <a:r>
              <a:rPr lang="en-US" altLang="zh-CN"/>
              <a:t>C++ </a:t>
            </a:r>
            <a:r>
              <a:rPr lang="zh-CN" altLang="en-US"/>
              <a:t>可以通过</a:t>
            </a:r>
            <a:r>
              <a:rPr lang="zh-CN" altLang="en-US" b="1"/>
              <a:t>运算符重载</a:t>
            </a:r>
            <a:r>
              <a:rPr lang="zh-CN" altLang="en-US"/>
              <a:t>来实现结构体的运算。</a:t>
            </a:r>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23</a:t>
            </a:fld>
            <a:endParaRPr lang="en-US" altLang="zh-CN"/>
          </a:p>
        </p:txBody>
      </p:sp>
    </p:spTree>
    <p:extLst>
      <p:ext uri="{BB962C8B-B14F-4D97-AF65-F5344CB8AC3E}">
        <p14:creationId xmlns:p14="http://schemas.microsoft.com/office/powerpoint/2010/main" val="3504717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7F050A7E-6B32-CE67-8A93-EEA3B51D15A7}"/>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8CADB83-279D-1A48-9128-DC336ACE7F82}" type="slidenum">
              <a:rPr lang="en-US" altLang="zh-CN" sz="1300"/>
              <a:pPr>
                <a:spcBef>
                  <a:spcPct val="0"/>
                </a:spcBef>
              </a:pPr>
              <a:t>24</a:t>
            </a:fld>
            <a:endParaRPr lang="en-US" altLang="zh-CN" sz="1300"/>
          </a:p>
        </p:txBody>
      </p:sp>
      <p:sp>
        <p:nvSpPr>
          <p:cNvPr id="50179" name="Rectangle 2">
            <a:extLst>
              <a:ext uri="{FF2B5EF4-FFF2-40B4-BE49-F238E27FC236}">
                <a16:creationId xmlns:a16="http://schemas.microsoft.com/office/drawing/2014/main" id="{0FE5450A-58D1-B318-D505-0BCE03A5CDD1}"/>
              </a:ext>
            </a:extLst>
          </p:cNvPr>
          <p:cNvSpPr>
            <a:spLocks noGrp="1" noRot="1" noChangeAspect="1" noChangeArrowheads="1" noTextEdit="1"/>
          </p:cNvSpPr>
          <p:nvPr>
            <p:ph type="sldImg"/>
          </p:nvPr>
        </p:nvSpPr>
        <p:spPr>
          <a:xfrm>
            <a:off x="992188" y="768350"/>
            <a:ext cx="5114925" cy="3836988"/>
          </a:xfrm>
          <a:ln/>
        </p:spPr>
      </p:sp>
      <p:sp>
        <p:nvSpPr>
          <p:cNvPr id="50180" name="Rectangle 3">
            <a:extLst>
              <a:ext uri="{FF2B5EF4-FFF2-40B4-BE49-F238E27FC236}">
                <a16:creationId xmlns:a16="http://schemas.microsoft.com/office/drawing/2014/main" id="{F99F1A20-B024-5D06-0D95-63944761C810}"/>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7ED05CA1-EBCF-DEB3-6349-4FB267B20886}"/>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0D58832-E873-F845-857F-3C68687A0167}" type="slidenum">
              <a:rPr lang="en-US" altLang="zh-CN" sz="1300"/>
              <a:pPr>
                <a:spcBef>
                  <a:spcPct val="0"/>
                </a:spcBef>
              </a:pPr>
              <a:t>25</a:t>
            </a:fld>
            <a:endParaRPr lang="en-US" altLang="zh-CN" sz="1300"/>
          </a:p>
        </p:txBody>
      </p:sp>
      <p:sp>
        <p:nvSpPr>
          <p:cNvPr id="52227" name="Rectangle 2">
            <a:extLst>
              <a:ext uri="{FF2B5EF4-FFF2-40B4-BE49-F238E27FC236}">
                <a16:creationId xmlns:a16="http://schemas.microsoft.com/office/drawing/2014/main" id="{33AC8C54-5E5E-4744-1E2F-8DF4A28DADF0}"/>
              </a:ext>
            </a:extLst>
          </p:cNvPr>
          <p:cNvSpPr>
            <a:spLocks noGrp="1" noRot="1" noChangeAspect="1" noChangeArrowheads="1" noTextEdit="1"/>
          </p:cNvSpPr>
          <p:nvPr>
            <p:ph type="sldImg"/>
          </p:nvPr>
        </p:nvSpPr>
        <p:spPr>
          <a:xfrm>
            <a:off x="992188" y="768350"/>
            <a:ext cx="5114925" cy="3836988"/>
          </a:xfrm>
          <a:ln/>
        </p:spPr>
      </p:sp>
      <p:sp>
        <p:nvSpPr>
          <p:cNvPr id="52228" name="Rectangle 3">
            <a:extLst>
              <a:ext uri="{FF2B5EF4-FFF2-40B4-BE49-F238E27FC236}">
                <a16:creationId xmlns:a16="http://schemas.microsoft.com/office/drawing/2014/main" id="{ED6EFFB2-0F0C-EF36-A357-FDDFBF292851}"/>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A8E21891-A075-C972-20D8-D2751B7988CB}"/>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CF7E897-9DE5-3141-9EED-C0ECB2C909D6}" type="slidenum">
              <a:rPr lang="en-US" altLang="zh-CN" sz="1300"/>
              <a:pPr>
                <a:spcBef>
                  <a:spcPct val="0"/>
                </a:spcBef>
              </a:pPr>
              <a:t>26</a:t>
            </a:fld>
            <a:endParaRPr lang="en-US" altLang="zh-CN" sz="1300"/>
          </a:p>
        </p:txBody>
      </p:sp>
      <p:sp>
        <p:nvSpPr>
          <p:cNvPr id="54275" name="Rectangle 2">
            <a:extLst>
              <a:ext uri="{FF2B5EF4-FFF2-40B4-BE49-F238E27FC236}">
                <a16:creationId xmlns:a16="http://schemas.microsoft.com/office/drawing/2014/main" id="{6BB9806C-80E9-A382-6493-AB0EC271D1E2}"/>
              </a:ext>
            </a:extLst>
          </p:cNvPr>
          <p:cNvSpPr>
            <a:spLocks noGrp="1" noRot="1" noChangeAspect="1" noChangeArrowheads="1" noTextEdit="1"/>
          </p:cNvSpPr>
          <p:nvPr>
            <p:ph type="sldImg"/>
          </p:nvPr>
        </p:nvSpPr>
        <p:spPr>
          <a:xfrm>
            <a:off x="992188" y="768350"/>
            <a:ext cx="5114925" cy="3836988"/>
          </a:xfrm>
          <a:ln/>
        </p:spPr>
      </p:sp>
      <p:sp>
        <p:nvSpPr>
          <p:cNvPr id="54276" name="Rectangle 3">
            <a:extLst>
              <a:ext uri="{FF2B5EF4-FFF2-40B4-BE49-F238E27FC236}">
                <a16:creationId xmlns:a16="http://schemas.microsoft.com/office/drawing/2014/main" id="{3E74D0CB-ED00-CCEC-F6D6-6AC7026F5B9F}"/>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F3D68F4C-9B02-3497-3279-3DC023680EB2}"/>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BCF1641-7B30-CC47-8FEC-4CE319000A9B}" type="slidenum">
              <a:rPr lang="en-US" altLang="zh-CN" sz="1300"/>
              <a:pPr>
                <a:spcBef>
                  <a:spcPct val="0"/>
                </a:spcBef>
              </a:pPr>
              <a:t>27</a:t>
            </a:fld>
            <a:endParaRPr lang="en-US" altLang="zh-CN" sz="1300"/>
          </a:p>
        </p:txBody>
      </p:sp>
      <p:sp>
        <p:nvSpPr>
          <p:cNvPr id="56323" name="Rectangle 2">
            <a:extLst>
              <a:ext uri="{FF2B5EF4-FFF2-40B4-BE49-F238E27FC236}">
                <a16:creationId xmlns:a16="http://schemas.microsoft.com/office/drawing/2014/main" id="{AA158925-C18F-E2A2-9112-BC53939DD3DF}"/>
              </a:ext>
            </a:extLst>
          </p:cNvPr>
          <p:cNvSpPr>
            <a:spLocks noGrp="1" noRot="1" noChangeAspect="1" noChangeArrowheads="1" noTextEdit="1"/>
          </p:cNvSpPr>
          <p:nvPr>
            <p:ph type="sldImg"/>
          </p:nvPr>
        </p:nvSpPr>
        <p:spPr>
          <a:xfrm>
            <a:off x="992188" y="768350"/>
            <a:ext cx="5114925" cy="3836988"/>
          </a:xfrm>
          <a:ln/>
        </p:spPr>
      </p:sp>
      <p:sp>
        <p:nvSpPr>
          <p:cNvPr id="56324" name="Rectangle 3">
            <a:extLst>
              <a:ext uri="{FF2B5EF4-FFF2-40B4-BE49-F238E27FC236}">
                <a16:creationId xmlns:a16="http://schemas.microsoft.com/office/drawing/2014/main" id="{CDCB6020-8055-D27C-CB7F-DB96E45850EE}"/>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4004BA2C-5823-FF5F-60F7-DFAE897F7696}"/>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2A97F70-C2EE-7745-AC8D-8A2932D32638}" type="slidenum">
              <a:rPr lang="en-US" altLang="zh-CN" sz="1300"/>
              <a:pPr>
                <a:spcBef>
                  <a:spcPct val="0"/>
                </a:spcBef>
              </a:pPr>
              <a:t>28</a:t>
            </a:fld>
            <a:endParaRPr lang="en-US" altLang="zh-CN" sz="1300"/>
          </a:p>
        </p:txBody>
      </p:sp>
      <p:sp>
        <p:nvSpPr>
          <p:cNvPr id="60419" name="Rectangle 2">
            <a:extLst>
              <a:ext uri="{FF2B5EF4-FFF2-40B4-BE49-F238E27FC236}">
                <a16:creationId xmlns:a16="http://schemas.microsoft.com/office/drawing/2014/main" id="{C7A53E1A-E4BD-CE6B-71FC-6A9BE2EF2D54}"/>
              </a:ext>
            </a:extLst>
          </p:cNvPr>
          <p:cNvSpPr>
            <a:spLocks noGrp="1" noRot="1" noChangeAspect="1" noChangeArrowheads="1" noTextEdit="1"/>
          </p:cNvSpPr>
          <p:nvPr>
            <p:ph type="sldImg"/>
          </p:nvPr>
        </p:nvSpPr>
        <p:spPr>
          <a:xfrm>
            <a:off x="992188" y="768350"/>
            <a:ext cx="5114925" cy="3836988"/>
          </a:xfrm>
          <a:ln/>
        </p:spPr>
      </p:sp>
      <p:sp>
        <p:nvSpPr>
          <p:cNvPr id="60420" name="Rectangle 3">
            <a:extLst>
              <a:ext uri="{FF2B5EF4-FFF2-40B4-BE49-F238E27FC236}">
                <a16:creationId xmlns:a16="http://schemas.microsoft.com/office/drawing/2014/main" id="{1C56403E-491C-7F67-4D32-03B570EF6753}"/>
              </a:ext>
            </a:extLst>
          </p:cNvPr>
          <p:cNvSpPr>
            <a:spLocks noGrp="1" noChangeArrowheads="1"/>
          </p:cNvSpPr>
          <p:nvPr>
            <p:ph type="body" idx="1"/>
          </p:nvPr>
        </p:nvSpPr>
        <p:spPr>
          <a:noFill/>
        </p:spPr>
        <p:txBody>
          <a:bodyPr/>
          <a:lstStyle/>
          <a:p>
            <a:pPr eaLnBrk="1" hangingPunct="1"/>
            <a:r>
              <a:rPr lang="en-US" altLang="zh-CN">
                <a:latin typeface="Arial" panose="020B0604020202020204" pitchFamily="34" charset="0"/>
                <a:ea typeface="宋体" panose="02010600030101010101" pitchFamily="2" charset="-122"/>
              </a:rPr>
              <a:t>struct  pNode {</a:t>
            </a:r>
          </a:p>
          <a:p>
            <a:pPr eaLnBrk="1" hangingPunct="1"/>
            <a:r>
              <a:rPr lang="en-US" altLang="zh-CN">
                <a:latin typeface="Arial" panose="020B0604020202020204" pitchFamily="34" charset="0"/>
                <a:ea typeface="宋体" panose="02010600030101010101" pitchFamily="2" charset="-122"/>
              </a:rPr>
              <a:t>         float   pos[2];</a:t>
            </a:r>
          </a:p>
          <a:p>
            <a:pPr eaLnBrk="1" hangingPunct="1"/>
            <a:r>
              <a:rPr lang="en-US" altLang="zh-CN">
                <a:latin typeface="Arial" panose="020B0604020202020204" pitchFamily="34" charset="0"/>
                <a:ea typeface="宋体" panose="02010600030101010101" pitchFamily="2" charset="-122"/>
              </a:rPr>
              <a:t>         struct  pNode  next;</a:t>
            </a:r>
          </a:p>
          <a:p>
            <a:pPr eaLnBrk="1" hangingPunct="1"/>
            <a:r>
              <a:rPr lang="en-US" altLang="zh-CN">
                <a:latin typeface="Arial" panose="020B0604020202020204" pitchFamily="34" charset="0"/>
                <a:ea typeface="宋体" panose="02010600030101010101" pitchFamily="2" charset="-122"/>
              </a:rPr>
              <a:t>} ;</a:t>
            </a:r>
          </a:p>
          <a:p>
            <a:pPr eaLnBrk="1" hangingPunct="1"/>
            <a:endParaRPr lang="en-US" altLang="zh-CN">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这个定义是错的，报错：</a:t>
            </a:r>
            <a:r>
              <a:rPr lang="en-US" altLang="zh-CN" sz="1200" b="0" i="0" kern="1200">
                <a:solidFill>
                  <a:schemeClr val="tx1"/>
                </a:solidFill>
                <a:effectLst/>
                <a:latin typeface="Arial" charset="0"/>
                <a:ea typeface="宋体" charset="-122"/>
                <a:cs typeface="+mn-cs"/>
              </a:rPr>
              <a:t>error: field ‘next’ has incomplete type</a:t>
            </a:r>
            <a:r>
              <a:rPr lang="zh-CN" altLang="en-US" sz="1200" b="0" i="0" kern="1200">
                <a:solidFill>
                  <a:schemeClr val="tx1"/>
                </a:solidFill>
                <a:effectLst/>
                <a:latin typeface="Arial" charset="0"/>
                <a:ea typeface="宋体" charset="-122"/>
                <a:cs typeface="+mn-cs"/>
              </a:rPr>
              <a:t>，因为</a:t>
            </a:r>
            <a:r>
              <a:rPr lang="zh-CN" altLang="en-US">
                <a:latin typeface="Arial" panose="020B0604020202020204" pitchFamily="34" charset="0"/>
                <a:ea typeface="宋体" panose="02010600030101010101" pitchFamily="2" charset="-122"/>
              </a:rPr>
              <a:t>包含了循环定义。</a:t>
            </a: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627000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88278193-6700-0408-F358-113D65C780FB}"/>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EBCDD3D-7C09-5547-8AF4-0DD681367B70}" type="slidenum">
              <a:rPr lang="en-US" altLang="zh-CN" sz="1300"/>
              <a:pPr>
                <a:spcBef>
                  <a:spcPct val="0"/>
                </a:spcBef>
              </a:pPr>
              <a:t>29</a:t>
            </a:fld>
            <a:endParaRPr lang="en-US" altLang="zh-CN" sz="1300"/>
          </a:p>
        </p:txBody>
      </p:sp>
      <p:sp>
        <p:nvSpPr>
          <p:cNvPr id="64515" name="Rectangle 2">
            <a:extLst>
              <a:ext uri="{FF2B5EF4-FFF2-40B4-BE49-F238E27FC236}">
                <a16:creationId xmlns:a16="http://schemas.microsoft.com/office/drawing/2014/main" id="{EB56080A-0082-216B-AEF2-E9288B1AA035}"/>
              </a:ext>
            </a:extLst>
          </p:cNvPr>
          <p:cNvSpPr>
            <a:spLocks noGrp="1" noRot="1" noChangeAspect="1" noChangeArrowheads="1" noTextEdit="1"/>
          </p:cNvSpPr>
          <p:nvPr>
            <p:ph type="sldImg"/>
          </p:nvPr>
        </p:nvSpPr>
        <p:spPr>
          <a:xfrm>
            <a:off x="992188" y="768350"/>
            <a:ext cx="5114925" cy="3836988"/>
          </a:xfrm>
          <a:ln/>
        </p:spPr>
      </p:sp>
      <p:sp>
        <p:nvSpPr>
          <p:cNvPr id="64516" name="Rectangle 3">
            <a:extLst>
              <a:ext uri="{FF2B5EF4-FFF2-40B4-BE49-F238E27FC236}">
                <a16:creationId xmlns:a16="http://schemas.microsoft.com/office/drawing/2014/main" id="{9DA356E6-40CF-B4E6-978C-874778D51E55}"/>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37052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107F9B58-654B-DE10-C6AA-191A19176D11}"/>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7B265C8-0850-C047-B458-A45B434E4A3D}" type="slidenum">
              <a:rPr lang="en-US" altLang="zh-CN" sz="1300"/>
              <a:pPr>
                <a:spcBef>
                  <a:spcPct val="0"/>
                </a:spcBef>
              </a:pPr>
              <a:t>30</a:t>
            </a:fld>
            <a:endParaRPr lang="en-US" altLang="zh-CN" sz="1300"/>
          </a:p>
        </p:txBody>
      </p:sp>
      <p:sp>
        <p:nvSpPr>
          <p:cNvPr id="66563" name="Rectangle 2">
            <a:extLst>
              <a:ext uri="{FF2B5EF4-FFF2-40B4-BE49-F238E27FC236}">
                <a16:creationId xmlns:a16="http://schemas.microsoft.com/office/drawing/2014/main" id="{DB07DE00-8442-86C1-9599-90557BDA8BBC}"/>
              </a:ext>
            </a:extLst>
          </p:cNvPr>
          <p:cNvSpPr>
            <a:spLocks noGrp="1" noRot="1" noChangeAspect="1" noChangeArrowheads="1" noTextEdit="1"/>
          </p:cNvSpPr>
          <p:nvPr>
            <p:ph type="sldImg"/>
          </p:nvPr>
        </p:nvSpPr>
        <p:spPr>
          <a:xfrm>
            <a:off x="992188" y="768350"/>
            <a:ext cx="5114925" cy="3836988"/>
          </a:xfrm>
          <a:ln/>
        </p:spPr>
      </p:sp>
      <p:sp>
        <p:nvSpPr>
          <p:cNvPr id="66564" name="Rectangle 3">
            <a:extLst>
              <a:ext uri="{FF2B5EF4-FFF2-40B4-BE49-F238E27FC236}">
                <a16:creationId xmlns:a16="http://schemas.microsoft.com/office/drawing/2014/main" id="{0E93C2EA-F603-D19B-ADE4-5A577D5AB16D}"/>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914414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8FA3948F-1E2F-F0DE-D814-B3DEFBE1FB87}"/>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5FA0186-04BC-8F4A-AD0E-BDE5109A5C4F}" type="slidenum">
              <a:rPr lang="en-US" altLang="zh-CN" sz="1300"/>
              <a:pPr>
                <a:spcBef>
                  <a:spcPct val="0"/>
                </a:spcBef>
              </a:pPr>
              <a:t>31</a:t>
            </a:fld>
            <a:endParaRPr lang="en-US" altLang="zh-CN" sz="1300"/>
          </a:p>
        </p:txBody>
      </p:sp>
      <p:sp>
        <p:nvSpPr>
          <p:cNvPr id="62467" name="Rectangle 2">
            <a:extLst>
              <a:ext uri="{FF2B5EF4-FFF2-40B4-BE49-F238E27FC236}">
                <a16:creationId xmlns:a16="http://schemas.microsoft.com/office/drawing/2014/main" id="{86C0A6C4-4325-E1C5-F54C-7567BC8D88AA}"/>
              </a:ext>
            </a:extLst>
          </p:cNvPr>
          <p:cNvSpPr>
            <a:spLocks noGrp="1" noRot="1" noChangeAspect="1" noChangeArrowheads="1" noTextEdit="1"/>
          </p:cNvSpPr>
          <p:nvPr>
            <p:ph type="sldImg"/>
          </p:nvPr>
        </p:nvSpPr>
        <p:spPr>
          <a:xfrm>
            <a:off x="992188" y="768350"/>
            <a:ext cx="5114925" cy="3836988"/>
          </a:xfrm>
          <a:ln/>
        </p:spPr>
      </p:sp>
      <p:sp>
        <p:nvSpPr>
          <p:cNvPr id="62468" name="Rectangle 3">
            <a:extLst>
              <a:ext uri="{FF2B5EF4-FFF2-40B4-BE49-F238E27FC236}">
                <a16:creationId xmlns:a16="http://schemas.microsoft.com/office/drawing/2014/main" id="{0F2D8B86-6183-F6E9-E036-9B3A2E53A05F}"/>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A3795813-5DAC-626A-F2F4-7E264AD6941D}"/>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45E186D-0F0D-5041-9BC5-412ABA11A29F}" type="slidenum">
              <a:rPr lang="en-US" altLang="zh-CN" sz="1300"/>
              <a:pPr>
                <a:spcBef>
                  <a:spcPct val="0"/>
                </a:spcBef>
              </a:pPr>
              <a:t>33</a:t>
            </a:fld>
            <a:endParaRPr lang="en-US" altLang="zh-CN" sz="1300"/>
          </a:p>
        </p:txBody>
      </p:sp>
      <p:sp>
        <p:nvSpPr>
          <p:cNvPr id="70659" name="Rectangle 2">
            <a:extLst>
              <a:ext uri="{FF2B5EF4-FFF2-40B4-BE49-F238E27FC236}">
                <a16:creationId xmlns:a16="http://schemas.microsoft.com/office/drawing/2014/main" id="{93B6D4C6-3C4F-89A5-4FEF-0A6B8AF0F75A}"/>
              </a:ext>
            </a:extLst>
          </p:cNvPr>
          <p:cNvSpPr>
            <a:spLocks noGrp="1" noRot="1" noChangeAspect="1" noChangeArrowheads="1" noTextEdit="1"/>
          </p:cNvSpPr>
          <p:nvPr>
            <p:ph type="sldImg"/>
          </p:nvPr>
        </p:nvSpPr>
        <p:spPr>
          <a:xfrm>
            <a:off x="992188" y="768350"/>
            <a:ext cx="5114925" cy="3836988"/>
          </a:xfrm>
          <a:ln/>
        </p:spPr>
      </p:sp>
      <p:sp>
        <p:nvSpPr>
          <p:cNvPr id="70660" name="Rectangle 3">
            <a:extLst>
              <a:ext uri="{FF2B5EF4-FFF2-40B4-BE49-F238E27FC236}">
                <a16:creationId xmlns:a16="http://schemas.microsoft.com/office/drawing/2014/main" id="{8B058421-4AD4-0139-24D9-6455CA4906DF}"/>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75A718E4-92D7-3B9C-B3FE-95A0C77FFE72}"/>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4EB618D-D323-8647-A974-25D3E66FA817}" type="slidenum">
              <a:rPr lang="en-US" altLang="zh-CN" sz="1300"/>
              <a:pPr>
                <a:spcBef>
                  <a:spcPct val="0"/>
                </a:spcBef>
              </a:pPr>
              <a:t>34</a:t>
            </a:fld>
            <a:endParaRPr lang="en-US" altLang="zh-CN" sz="1300"/>
          </a:p>
        </p:txBody>
      </p:sp>
      <p:sp>
        <p:nvSpPr>
          <p:cNvPr id="72707" name="Rectangle 2">
            <a:extLst>
              <a:ext uri="{FF2B5EF4-FFF2-40B4-BE49-F238E27FC236}">
                <a16:creationId xmlns:a16="http://schemas.microsoft.com/office/drawing/2014/main" id="{A6020EFD-1DA1-E347-2DCA-D44367B9A7BB}"/>
              </a:ext>
            </a:extLst>
          </p:cNvPr>
          <p:cNvSpPr>
            <a:spLocks noGrp="1" noRot="1" noChangeAspect="1" noChangeArrowheads="1" noTextEdit="1"/>
          </p:cNvSpPr>
          <p:nvPr>
            <p:ph type="sldImg"/>
          </p:nvPr>
        </p:nvSpPr>
        <p:spPr>
          <a:xfrm>
            <a:off x="992188" y="768350"/>
            <a:ext cx="5114925" cy="3836988"/>
          </a:xfrm>
          <a:ln/>
        </p:spPr>
      </p:sp>
      <p:sp>
        <p:nvSpPr>
          <p:cNvPr id="72708" name="Rectangle 3">
            <a:extLst>
              <a:ext uri="{FF2B5EF4-FFF2-40B4-BE49-F238E27FC236}">
                <a16:creationId xmlns:a16="http://schemas.microsoft.com/office/drawing/2014/main" id="{5EAC9361-4191-3955-936D-FC90969395B3}"/>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B20B4-F0C7-759B-3ADB-85B56F041E67}"/>
            </a:ext>
          </a:extLst>
        </p:cNvPr>
        <p:cNvGrpSpPr/>
        <p:nvPr/>
      </p:nvGrpSpPr>
      <p:grpSpPr>
        <a:xfrm>
          <a:off x="0" y="0"/>
          <a:ext cx="0" cy="0"/>
          <a:chOff x="0" y="0"/>
          <a:chExt cx="0" cy="0"/>
        </a:xfrm>
      </p:grpSpPr>
      <p:sp>
        <p:nvSpPr>
          <p:cNvPr id="72706" name="Rectangle 7">
            <a:extLst>
              <a:ext uri="{FF2B5EF4-FFF2-40B4-BE49-F238E27FC236}">
                <a16:creationId xmlns:a16="http://schemas.microsoft.com/office/drawing/2014/main" id="{A6F74D61-864A-8E3B-BB74-70E72DE2C562}"/>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4EB618D-D323-8647-A974-25D3E66FA817}" type="slidenum">
              <a:rPr lang="en-US" altLang="zh-CN" sz="1300"/>
              <a:pPr>
                <a:spcBef>
                  <a:spcPct val="0"/>
                </a:spcBef>
              </a:pPr>
              <a:t>35</a:t>
            </a:fld>
            <a:endParaRPr lang="en-US" altLang="zh-CN" sz="1300"/>
          </a:p>
        </p:txBody>
      </p:sp>
      <p:sp>
        <p:nvSpPr>
          <p:cNvPr id="72707" name="Rectangle 2">
            <a:extLst>
              <a:ext uri="{FF2B5EF4-FFF2-40B4-BE49-F238E27FC236}">
                <a16:creationId xmlns:a16="http://schemas.microsoft.com/office/drawing/2014/main" id="{3AEC96C6-8B01-AB7C-A3C6-E24BF0D29C28}"/>
              </a:ext>
            </a:extLst>
          </p:cNvPr>
          <p:cNvSpPr>
            <a:spLocks noGrp="1" noRot="1" noChangeAspect="1" noChangeArrowheads="1" noTextEdit="1"/>
          </p:cNvSpPr>
          <p:nvPr>
            <p:ph type="sldImg"/>
          </p:nvPr>
        </p:nvSpPr>
        <p:spPr>
          <a:xfrm>
            <a:off x="992188" y="768350"/>
            <a:ext cx="5114925" cy="3836988"/>
          </a:xfrm>
          <a:ln/>
        </p:spPr>
      </p:sp>
      <p:sp>
        <p:nvSpPr>
          <p:cNvPr id="72708" name="Rectangle 3">
            <a:extLst>
              <a:ext uri="{FF2B5EF4-FFF2-40B4-BE49-F238E27FC236}">
                <a16:creationId xmlns:a16="http://schemas.microsoft.com/office/drawing/2014/main" id="{552CBF92-C823-A8D8-DEE9-A0BB133D6F26}"/>
              </a:ext>
            </a:extLst>
          </p:cNvPr>
          <p:cNvSpPr>
            <a:spLocks noGrp="1" noChangeArrowheads="1"/>
          </p:cNvSpPr>
          <p:nvPr>
            <p:ph type="body" idx="1"/>
          </p:nvPr>
        </p:nvSpPr>
        <p:spPr>
          <a:noFill/>
        </p:spPr>
        <p:txBody>
          <a:bodyPr/>
          <a:lstStyle/>
          <a:p>
            <a:pPr eaLnBrk="1" hangingPunct="1"/>
            <a:r>
              <a:rPr lang="en-US" altLang="zh-CN">
                <a:latin typeface="Arial" panose="020B0604020202020204" pitchFamily="34" charset="0"/>
                <a:ea typeface="宋体" panose="02010600030101010101" pitchFamily="2" charset="-122"/>
              </a:rPr>
              <a:t>sizeof</a:t>
            </a:r>
            <a:r>
              <a:rPr lang="zh-CN" altLang="en-US">
                <a:latin typeface="Arial" panose="020B0604020202020204" pitchFamily="34" charset="0"/>
                <a:ea typeface="宋体" panose="02010600030101010101" pitchFamily="2" charset="-122"/>
              </a:rPr>
              <a:t>的另一种语法</a:t>
            </a: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292052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50DBF3E4-27CB-44F0-FCA3-478ED0C7D0B6}"/>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1388DB4-9F29-B849-8668-9322AF5454CA}" type="slidenum">
              <a:rPr lang="en-US" altLang="zh-CN" sz="1300"/>
              <a:pPr>
                <a:spcBef>
                  <a:spcPct val="0"/>
                </a:spcBef>
              </a:pPr>
              <a:t>37</a:t>
            </a:fld>
            <a:endParaRPr lang="en-US" altLang="zh-CN" sz="1300"/>
          </a:p>
        </p:txBody>
      </p:sp>
      <p:sp>
        <p:nvSpPr>
          <p:cNvPr id="76803" name="Rectangle 2">
            <a:extLst>
              <a:ext uri="{FF2B5EF4-FFF2-40B4-BE49-F238E27FC236}">
                <a16:creationId xmlns:a16="http://schemas.microsoft.com/office/drawing/2014/main" id="{D12E983D-0363-9CEB-C371-D41FEBBFD8D0}"/>
              </a:ext>
            </a:extLst>
          </p:cNvPr>
          <p:cNvSpPr>
            <a:spLocks noGrp="1" noRot="1" noChangeAspect="1" noChangeArrowheads="1" noTextEdit="1"/>
          </p:cNvSpPr>
          <p:nvPr>
            <p:ph type="sldImg"/>
          </p:nvPr>
        </p:nvSpPr>
        <p:spPr>
          <a:xfrm>
            <a:off x="992188" y="768350"/>
            <a:ext cx="5114925" cy="3836988"/>
          </a:xfrm>
          <a:ln/>
        </p:spPr>
      </p:sp>
      <p:sp>
        <p:nvSpPr>
          <p:cNvPr id="76804" name="Rectangle 3">
            <a:extLst>
              <a:ext uri="{FF2B5EF4-FFF2-40B4-BE49-F238E27FC236}">
                <a16:creationId xmlns:a16="http://schemas.microsoft.com/office/drawing/2014/main" id="{F0E41385-47B7-6FE8-215B-1F37A0BDA93A}"/>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BE1128F5-5284-EAFC-8A8B-4F2F0EA5C380}"/>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10D4C15-D31F-E043-A082-144B0BC40484}" type="slidenum">
              <a:rPr lang="en-US" altLang="zh-CN" sz="1300"/>
              <a:pPr>
                <a:spcBef>
                  <a:spcPct val="0"/>
                </a:spcBef>
              </a:pPr>
              <a:t>38</a:t>
            </a:fld>
            <a:endParaRPr lang="en-US" altLang="zh-CN" sz="1300"/>
          </a:p>
        </p:txBody>
      </p:sp>
      <p:sp>
        <p:nvSpPr>
          <p:cNvPr id="78851" name="Rectangle 2">
            <a:extLst>
              <a:ext uri="{FF2B5EF4-FFF2-40B4-BE49-F238E27FC236}">
                <a16:creationId xmlns:a16="http://schemas.microsoft.com/office/drawing/2014/main" id="{06F623A1-3C7C-263D-A4E8-D6E144B3ACAA}"/>
              </a:ext>
            </a:extLst>
          </p:cNvPr>
          <p:cNvSpPr>
            <a:spLocks noGrp="1" noRot="1" noChangeAspect="1" noChangeArrowheads="1" noTextEdit="1"/>
          </p:cNvSpPr>
          <p:nvPr>
            <p:ph type="sldImg"/>
          </p:nvPr>
        </p:nvSpPr>
        <p:spPr>
          <a:xfrm>
            <a:off x="992188" y="768350"/>
            <a:ext cx="5114925" cy="3836988"/>
          </a:xfrm>
          <a:ln/>
        </p:spPr>
      </p:sp>
      <p:sp>
        <p:nvSpPr>
          <p:cNvPr id="78852" name="Rectangle 3">
            <a:extLst>
              <a:ext uri="{FF2B5EF4-FFF2-40B4-BE49-F238E27FC236}">
                <a16:creationId xmlns:a16="http://schemas.microsoft.com/office/drawing/2014/main" id="{32786EE9-A5C8-661F-E64D-61853A1083FC}"/>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ADABDC1-8B04-E092-F92A-45A149E08AB2}"/>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6250AD-D6F9-BF4C-94EA-0003BBB7EB37}" type="slidenum">
              <a:rPr lang="en-US" altLang="zh-CN" sz="1300"/>
              <a:pPr>
                <a:spcBef>
                  <a:spcPct val="0"/>
                </a:spcBef>
              </a:pPr>
              <a:t>39</a:t>
            </a:fld>
            <a:endParaRPr lang="en-US" altLang="zh-CN" sz="1300"/>
          </a:p>
        </p:txBody>
      </p:sp>
      <p:sp>
        <p:nvSpPr>
          <p:cNvPr id="80899" name="Rectangle 2">
            <a:extLst>
              <a:ext uri="{FF2B5EF4-FFF2-40B4-BE49-F238E27FC236}">
                <a16:creationId xmlns:a16="http://schemas.microsoft.com/office/drawing/2014/main" id="{EB937555-7C37-03A9-62D6-E4932AC90264}"/>
              </a:ext>
            </a:extLst>
          </p:cNvPr>
          <p:cNvSpPr>
            <a:spLocks noGrp="1" noRot="1" noChangeAspect="1" noChangeArrowheads="1" noTextEdit="1"/>
          </p:cNvSpPr>
          <p:nvPr>
            <p:ph type="sldImg"/>
          </p:nvPr>
        </p:nvSpPr>
        <p:spPr>
          <a:xfrm>
            <a:off x="992188" y="768350"/>
            <a:ext cx="5114925" cy="3836988"/>
          </a:xfrm>
          <a:ln/>
        </p:spPr>
      </p:sp>
      <p:sp>
        <p:nvSpPr>
          <p:cNvPr id="80900" name="Rectangle 3">
            <a:extLst>
              <a:ext uri="{FF2B5EF4-FFF2-40B4-BE49-F238E27FC236}">
                <a16:creationId xmlns:a16="http://schemas.microsoft.com/office/drawing/2014/main" id="{06464C9E-7F93-5112-FF10-37F71F844E4A}"/>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9AB4B105-F8A5-D822-C571-E4A5951E582F}"/>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FD284D5-5E9B-F746-B589-11EE8406E64F}" type="slidenum">
              <a:rPr lang="en-US" altLang="zh-CN" sz="1300"/>
              <a:pPr>
                <a:spcBef>
                  <a:spcPct val="0"/>
                </a:spcBef>
              </a:pPr>
              <a:t>40</a:t>
            </a:fld>
            <a:endParaRPr lang="en-US" altLang="zh-CN" sz="1300"/>
          </a:p>
        </p:txBody>
      </p:sp>
      <p:sp>
        <p:nvSpPr>
          <p:cNvPr id="82947" name="Rectangle 2">
            <a:extLst>
              <a:ext uri="{FF2B5EF4-FFF2-40B4-BE49-F238E27FC236}">
                <a16:creationId xmlns:a16="http://schemas.microsoft.com/office/drawing/2014/main" id="{D4A9AA28-0EFD-8E2C-2ADE-6D4627106F3D}"/>
              </a:ext>
            </a:extLst>
          </p:cNvPr>
          <p:cNvSpPr>
            <a:spLocks noGrp="1" noRot="1" noChangeAspect="1" noChangeArrowheads="1" noTextEdit="1"/>
          </p:cNvSpPr>
          <p:nvPr>
            <p:ph type="sldImg"/>
          </p:nvPr>
        </p:nvSpPr>
        <p:spPr>
          <a:xfrm>
            <a:off x="992188" y="768350"/>
            <a:ext cx="5114925" cy="3836988"/>
          </a:xfrm>
          <a:ln/>
        </p:spPr>
      </p:sp>
      <p:sp>
        <p:nvSpPr>
          <p:cNvPr id="82948" name="Rectangle 3">
            <a:extLst>
              <a:ext uri="{FF2B5EF4-FFF2-40B4-BE49-F238E27FC236}">
                <a16:creationId xmlns:a16="http://schemas.microsoft.com/office/drawing/2014/main" id="{EE79F28C-83FC-A586-4D29-23BBA11300B4}"/>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1E768556-7464-11E6-6C90-F109030C8029}"/>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E22368B-1FF6-4A47-84AC-845A1BAF416B}" type="slidenum">
              <a:rPr lang="en-US" altLang="zh-CN" sz="1300"/>
              <a:pPr>
                <a:spcBef>
                  <a:spcPct val="0"/>
                </a:spcBef>
              </a:pPr>
              <a:t>41</a:t>
            </a:fld>
            <a:endParaRPr lang="en-US" altLang="zh-CN" sz="1300"/>
          </a:p>
        </p:txBody>
      </p:sp>
      <p:sp>
        <p:nvSpPr>
          <p:cNvPr id="84995" name="Rectangle 2">
            <a:extLst>
              <a:ext uri="{FF2B5EF4-FFF2-40B4-BE49-F238E27FC236}">
                <a16:creationId xmlns:a16="http://schemas.microsoft.com/office/drawing/2014/main" id="{EC922BA1-88D9-CCA5-30A4-D1EECCC3BAD6}"/>
              </a:ext>
            </a:extLst>
          </p:cNvPr>
          <p:cNvSpPr>
            <a:spLocks noGrp="1" noRot="1" noChangeAspect="1" noChangeArrowheads="1" noTextEdit="1"/>
          </p:cNvSpPr>
          <p:nvPr>
            <p:ph type="sldImg"/>
          </p:nvPr>
        </p:nvSpPr>
        <p:spPr>
          <a:xfrm>
            <a:off x="992188" y="768350"/>
            <a:ext cx="5114925" cy="3836988"/>
          </a:xfrm>
          <a:ln/>
        </p:spPr>
      </p:sp>
      <p:sp>
        <p:nvSpPr>
          <p:cNvPr id="84996" name="Rectangle 3">
            <a:extLst>
              <a:ext uri="{FF2B5EF4-FFF2-40B4-BE49-F238E27FC236}">
                <a16:creationId xmlns:a16="http://schemas.microsoft.com/office/drawing/2014/main" id="{FA3558D5-0212-7B55-0766-6EAFBE9BEB25}"/>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AB6528B-F2B8-28F3-7630-258D4453BB68}"/>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282EAA4-B739-E447-9BD4-41080E18B360}" type="slidenum">
              <a:rPr lang="en-US" altLang="zh-CN" sz="1300"/>
              <a:pPr>
                <a:spcBef>
                  <a:spcPct val="0"/>
                </a:spcBef>
              </a:pPr>
              <a:t>42</a:t>
            </a:fld>
            <a:endParaRPr lang="en-US" altLang="zh-CN" sz="1300"/>
          </a:p>
        </p:txBody>
      </p:sp>
      <p:sp>
        <p:nvSpPr>
          <p:cNvPr id="87043" name="Rectangle 2">
            <a:extLst>
              <a:ext uri="{FF2B5EF4-FFF2-40B4-BE49-F238E27FC236}">
                <a16:creationId xmlns:a16="http://schemas.microsoft.com/office/drawing/2014/main" id="{19EC9FA5-25F1-1D0E-E62A-B8AE0B9AAD1B}"/>
              </a:ext>
            </a:extLst>
          </p:cNvPr>
          <p:cNvSpPr>
            <a:spLocks noGrp="1" noRot="1" noChangeAspect="1" noChangeArrowheads="1" noTextEdit="1"/>
          </p:cNvSpPr>
          <p:nvPr>
            <p:ph type="sldImg"/>
          </p:nvPr>
        </p:nvSpPr>
        <p:spPr>
          <a:xfrm>
            <a:off x="992188" y="768350"/>
            <a:ext cx="5114925" cy="3836988"/>
          </a:xfrm>
          <a:ln/>
        </p:spPr>
      </p:sp>
      <p:sp>
        <p:nvSpPr>
          <p:cNvPr id="87044" name="Rectangle 3">
            <a:extLst>
              <a:ext uri="{FF2B5EF4-FFF2-40B4-BE49-F238E27FC236}">
                <a16:creationId xmlns:a16="http://schemas.microsoft.com/office/drawing/2014/main" id="{87A373DB-B997-4B2E-729D-C9A0B585A38E}"/>
              </a:ext>
            </a:extLst>
          </p:cNvPr>
          <p:cNvSpPr>
            <a:spLocks noGrp="1" noChangeArrowheads="1"/>
          </p:cNvSpPr>
          <p:nvPr>
            <p:ph type="body" idx="1"/>
          </p:nvPr>
        </p:nvSpPr>
        <p:spPr>
          <a:noFill/>
        </p:spPr>
        <p:txBody>
          <a:bodyPr/>
          <a:lstStyle/>
          <a:p>
            <a:pPr marL="228600" indent="-228600" eaLnBrk="1" hangingPunct="1"/>
            <a:r>
              <a:rPr lang="en-US" altLang="zh-CN">
                <a:latin typeface="Arial" panose="020B0604020202020204" pitchFamily="34" charset="0"/>
                <a:ea typeface="宋体" panose="02010600030101010101" pitchFamily="2" charset="-122"/>
              </a:rPr>
              <a:t>???L.26 scanf("  %c", &amp;ans);</a:t>
            </a:r>
          </a:p>
          <a:p>
            <a:pPr marL="228600" indent="-228600" eaLnBrk="1" hangingPunct="1"/>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EDE96734-1D25-53F5-08EF-4A92AA1EDE1A}"/>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35800F1-5749-1D4A-BD27-460222AABE92}" type="slidenum">
              <a:rPr lang="en-US" altLang="zh-CN" sz="1300"/>
              <a:pPr>
                <a:spcBef>
                  <a:spcPct val="0"/>
                </a:spcBef>
              </a:pPr>
              <a:t>43</a:t>
            </a:fld>
            <a:endParaRPr lang="en-US" altLang="zh-CN" sz="1300"/>
          </a:p>
        </p:txBody>
      </p:sp>
      <p:sp>
        <p:nvSpPr>
          <p:cNvPr id="89091" name="Rectangle 2">
            <a:extLst>
              <a:ext uri="{FF2B5EF4-FFF2-40B4-BE49-F238E27FC236}">
                <a16:creationId xmlns:a16="http://schemas.microsoft.com/office/drawing/2014/main" id="{8F961E3A-5F1D-A9FF-1710-330815C81431}"/>
              </a:ext>
            </a:extLst>
          </p:cNvPr>
          <p:cNvSpPr>
            <a:spLocks noGrp="1" noRot="1" noChangeAspect="1" noChangeArrowheads="1" noTextEdit="1"/>
          </p:cNvSpPr>
          <p:nvPr>
            <p:ph type="sldImg"/>
          </p:nvPr>
        </p:nvSpPr>
        <p:spPr>
          <a:xfrm>
            <a:off x="992188" y="768350"/>
            <a:ext cx="5114925" cy="3836988"/>
          </a:xfrm>
          <a:ln/>
        </p:spPr>
      </p:sp>
      <p:sp>
        <p:nvSpPr>
          <p:cNvPr id="89092" name="Rectangle 3">
            <a:extLst>
              <a:ext uri="{FF2B5EF4-FFF2-40B4-BE49-F238E27FC236}">
                <a16:creationId xmlns:a16="http://schemas.microsoft.com/office/drawing/2014/main" id="{5068F978-46B8-862E-D968-8B4DF7A9271C}"/>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80DC0EAC-13E9-F809-1327-FCF0C2D67EFE}"/>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3224583-5968-AF49-B620-62F1DD1E968C}" type="slidenum">
              <a:rPr lang="en-US" altLang="zh-CN" sz="1300"/>
              <a:pPr>
                <a:spcBef>
                  <a:spcPct val="0"/>
                </a:spcBef>
              </a:pPr>
              <a:t>44</a:t>
            </a:fld>
            <a:endParaRPr lang="en-US" altLang="zh-CN" sz="1300"/>
          </a:p>
        </p:txBody>
      </p:sp>
      <p:sp>
        <p:nvSpPr>
          <p:cNvPr id="91139" name="Rectangle 2">
            <a:extLst>
              <a:ext uri="{FF2B5EF4-FFF2-40B4-BE49-F238E27FC236}">
                <a16:creationId xmlns:a16="http://schemas.microsoft.com/office/drawing/2014/main" id="{3C7538AB-AD66-64DF-DC44-64E5C55A26B1}"/>
              </a:ext>
            </a:extLst>
          </p:cNvPr>
          <p:cNvSpPr>
            <a:spLocks noGrp="1" noRot="1" noChangeAspect="1" noChangeArrowheads="1" noTextEdit="1"/>
          </p:cNvSpPr>
          <p:nvPr>
            <p:ph type="sldImg"/>
          </p:nvPr>
        </p:nvSpPr>
        <p:spPr>
          <a:xfrm>
            <a:off x="992188" y="768350"/>
            <a:ext cx="5114925" cy="3836988"/>
          </a:xfrm>
          <a:ln/>
        </p:spPr>
      </p:sp>
      <p:sp>
        <p:nvSpPr>
          <p:cNvPr id="91140" name="Rectangle 3">
            <a:extLst>
              <a:ext uri="{FF2B5EF4-FFF2-40B4-BE49-F238E27FC236}">
                <a16:creationId xmlns:a16="http://schemas.microsoft.com/office/drawing/2014/main" id="{365FCCFA-5925-6461-B5A2-7006BAA60FEC}"/>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9C466DFF-F2E6-86C6-1C1A-6B6023B45243}"/>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B5CCC7-0AF4-E14C-A68B-0F247C92AE8E}" type="slidenum">
              <a:rPr lang="en-US" altLang="zh-CN" sz="1300"/>
              <a:pPr>
                <a:spcBef>
                  <a:spcPct val="0"/>
                </a:spcBef>
              </a:pPr>
              <a:t>45</a:t>
            </a:fld>
            <a:endParaRPr lang="en-US" altLang="zh-CN" sz="1300"/>
          </a:p>
        </p:txBody>
      </p:sp>
      <p:sp>
        <p:nvSpPr>
          <p:cNvPr id="93187" name="Rectangle 2">
            <a:extLst>
              <a:ext uri="{FF2B5EF4-FFF2-40B4-BE49-F238E27FC236}">
                <a16:creationId xmlns:a16="http://schemas.microsoft.com/office/drawing/2014/main" id="{45A4B3EB-8217-5DB2-5B99-CAEDFDCC349C}"/>
              </a:ext>
            </a:extLst>
          </p:cNvPr>
          <p:cNvSpPr>
            <a:spLocks noGrp="1" noRot="1" noChangeAspect="1" noChangeArrowheads="1" noTextEdit="1"/>
          </p:cNvSpPr>
          <p:nvPr>
            <p:ph type="sldImg"/>
          </p:nvPr>
        </p:nvSpPr>
        <p:spPr>
          <a:xfrm>
            <a:off x="992188" y="768350"/>
            <a:ext cx="5114925" cy="3836988"/>
          </a:xfrm>
          <a:ln/>
        </p:spPr>
      </p:sp>
      <p:sp>
        <p:nvSpPr>
          <p:cNvPr id="93188" name="Rectangle 3">
            <a:extLst>
              <a:ext uri="{FF2B5EF4-FFF2-40B4-BE49-F238E27FC236}">
                <a16:creationId xmlns:a16="http://schemas.microsoft.com/office/drawing/2014/main" id="{0CC66360-F6E7-8BAD-9FCD-BF64918A5888}"/>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93D14C0E-902E-482A-3AC9-DD49DF74B213}"/>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02F433-E61D-9045-8C52-16005062A672}" type="slidenum">
              <a:rPr lang="en-US" altLang="zh-CN" sz="1300"/>
              <a:pPr>
                <a:spcBef>
                  <a:spcPct val="0"/>
                </a:spcBef>
              </a:pPr>
              <a:t>46</a:t>
            </a:fld>
            <a:endParaRPr lang="en-US" altLang="zh-CN" sz="1300"/>
          </a:p>
        </p:txBody>
      </p:sp>
      <p:sp>
        <p:nvSpPr>
          <p:cNvPr id="95235" name="Rectangle 2">
            <a:extLst>
              <a:ext uri="{FF2B5EF4-FFF2-40B4-BE49-F238E27FC236}">
                <a16:creationId xmlns:a16="http://schemas.microsoft.com/office/drawing/2014/main" id="{BE115E34-3DB4-A360-A27D-64D2134101F6}"/>
              </a:ext>
            </a:extLst>
          </p:cNvPr>
          <p:cNvSpPr>
            <a:spLocks noGrp="1" noRot="1" noChangeAspect="1" noChangeArrowheads="1" noTextEdit="1"/>
          </p:cNvSpPr>
          <p:nvPr>
            <p:ph type="sldImg"/>
          </p:nvPr>
        </p:nvSpPr>
        <p:spPr>
          <a:xfrm>
            <a:off x="992188" y="768350"/>
            <a:ext cx="5114925" cy="3836988"/>
          </a:xfrm>
          <a:ln/>
        </p:spPr>
      </p:sp>
      <p:sp>
        <p:nvSpPr>
          <p:cNvPr id="95236" name="Rectangle 3">
            <a:extLst>
              <a:ext uri="{FF2B5EF4-FFF2-40B4-BE49-F238E27FC236}">
                <a16:creationId xmlns:a16="http://schemas.microsoft.com/office/drawing/2014/main" id="{FA291CF1-58D4-A1BD-0A11-DE01983BCFA9}"/>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AFD69449-DC17-7108-680B-C1B3D4702CA8}"/>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0F13133-7BAE-5942-B06A-526B9508A72B}" type="slidenum">
              <a:rPr lang="en-US" altLang="zh-CN" sz="1300"/>
              <a:pPr>
                <a:spcBef>
                  <a:spcPct val="0"/>
                </a:spcBef>
              </a:pPr>
              <a:t>47</a:t>
            </a:fld>
            <a:endParaRPr lang="en-US" altLang="zh-CN" sz="1300"/>
          </a:p>
        </p:txBody>
      </p:sp>
      <p:sp>
        <p:nvSpPr>
          <p:cNvPr id="97283" name="Rectangle 2">
            <a:extLst>
              <a:ext uri="{FF2B5EF4-FFF2-40B4-BE49-F238E27FC236}">
                <a16:creationId xmlns:a16="http://schemas.microsoft.com/office/drawing/2014/main" id="{C4503433-02E4-B7AA-6BBA-CB50678AAB96}"/>
              </a:ext>
            </a:extLst>
          </p:cNvPr>
          <p:cNvSpPr>
            <a:spLocks noGrp="1" noRot="1" noChangeAspect="1" noChangeArrowheads="1" noTextEdit="1"/>
          </p:cNvSpPr>
          <p:nvPr>
            <p:ph type="sldImg"/>
          </p:nvPr>
        </p:nvSpPr>
        <p:spPr>
          <a:xfrm>
            <a:off x="992188" y="768350"/>
            <a:ext cx="5114925" cy="3836988"/>
          </a:xfrm>
          <a:ln/>
        </p:spPr>
      </p:sp>
      <p:sp>
        <p:nvSpPr>
          <p:cNvPr id="97284" name="Rectangle 3">
            <a:extLst>
              <a:ext uri="{FF2B5EF4-FFF2-40B4-BE49-F238E27FC236}">
                <a16:creationId xmlns:a16="http://schemas.microsoft.com/office/drawing/2014/main" id="{BC581A76-FA82-5BDC-7E6C-1196DBB73B3D}"/>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91210124-11B5-8ABE-6834-AC9598BC3C8C}"/>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88FA0CF-A2D7-0C47-9224-D89AD7991FEE}" type="slidenum">
              <a:rPr lang="en-US" altLang="zh-CN" sz="1300"/>
              <a:pPr>
                <a:spcBef>
                  <a:spcPct val="0"/>
                </a:spcBef>
              </a:pPr>
              <a:t>48</a:t>
            </a:fld>
            <a:endParaRPr lang="en-US" altLang="zh-CN" sz="1300"/>
          </a:p>
        </p:txBody>
      </p:sp>
      <p:sp>
        <p:nvSpPr>
          <p:cNvPr id="105475" name="Rectangle 2">
            <a:extLst>
              <a:ext uri="{FF2B5EF4-FFF2-40B4-BE49-F238E27FC236}">
                <a16:creationId xmlns:a16="http://schemas.microsoft.com/office/drawing/2014/main" id="{20EBF1AD-0446-5404-BF98-BE6C6EA87319}"/>
              </a:ext>
            </a:extLst>
          </p:cNvPr>
          <p:cNvSpPr>
            <a:spLocks noGrp="1" noRot="1" noChangeAspect="1" noChangeArrowheads="1" noTextEdit="1"/>
          </p:cNvSpPr>
          <p:nvPr>
            <p:ph type="sldImg"/>
          </p:nvPr>
        </p:nvSpPr>
        <p:spPr>
          <a:xfrm>
            <a:off x="992188" y="768350"/>
            <a:ext cx="5114925" cy="3836988"/>
          </a:xfrm>
          <a:ln/>
        </p:spPr>
      </p:sp>
      <p:sp>
        <p:nvSpPr>
          <p:cNvPr id="105476" name="Rectangle 3">
            <a:extLst>
              <a:ext uri="{FF2B5EF4-FFF2-40B4-BE49-F238E27FC236}">
                <a16:creationId xmlns:a16="http://schemas.microsoft.com/office/drawing/2014/main" id="{5F718697-D33F-1E5D-DA1F-92A10172A8F1}"/>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048D3AAC-037C-DE4F-0F90-DB61A4CA6079}"/>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4E704CD-1179-E74A-837D-D5A0E2526473}" type="slidenum">
              <a:rPr lang="en-US" altLang="zh-CN" sz="1300"/>
              <a:pPr>
                <a:spcBef>
                  <a:spcPct val="0"/>
                </a:spcBef>
              </a:pPr>
              <a:t>49</a:t>
            </a:fld>
            <a:endParaRPr lang="en-US" altLang="zh-CN" sz="1300"/>
          </a:p>
        </p:txBody>
      </p:sp>
      <p:sp>
        <p:nvSpPr>
          <p:cNvPr id="107523" name="Rectangle 2">
            <a:extLst>
              <a:ext uri="{FF2B5EF4-FFF2-40B4-BE49-F238E27FC236}">
                <a16:creationId xmlns:a16="http://schemas.microsoft.com/office/drawing/2014/main" id="{755E1342-633D-1F8E-1540-82C1F99AEECD}"/>
              </a:ext>
            </a:extLst>
          </p:cNvPr>
          <p:cNvSpPr>
            <a:spLocks noGrp="1" noRot="1" noChangeAspect="1" noChangeArrowheads="1" noTextEdit="1"/>
          </p:cNvSpPr>
          <p:nvPr>
            <p:ph type="sldImg"/>
          </p:nvPr>
        </p:nvSpPr>
        <p:spPr>
          <a:xfrm>
            <a:off x="992188" y="768350"/>
            <a:ext cx="5114925" cy="3836988"/>
          </a:xfrm>
          <a:ln/>
        </p:spPr>
      </p:sp>
      <p:sp>
        <p:nvSpPr>
          <p:cNvPr id="107524" name="Rectangle 3">
            <a:extLst>
              <a:ext uri="{FF2B5EF4-FFF2-40B4-BE49-F238E27FC236}">
                <a16:creationId xmlns:a16="http://schemas.microsoft.com/office/drawing/2014/main" id="{C9C858F3-673E-0517-050B-CEA0F4FE92B8}"/>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2BAAD70E-A0DA-C783-60C1-451B2B66E7E0}"/>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3A97724-2C77-CF44-89F8-4364BED5E169}" type="slidenum">
              <a:rPr lang="en-US" altLang="zh-CN" sz="1300"/>
              <a:pPr>
                <a:spcBef>
                  <a:spcPct val="0"/>
                </a:spcBef>
              </a:pPr>
              <a:t>50</a:t>
            </a:fld>
            <a:endParaRPr lang="en-US" altLang="zh-CN" sz="1300"/>
          </a:p>
        </p:txBody>
      </p:sp>
      <p:sp>
        <p:nvSpPr>
          <p:cNvPr id="109571" name="Rectangle 2">
            <a:extLst>
              <a:ext uri="{FF2B5EF4-FFF2-40B4-BE49-F238E27FC236}">
                <a16:creationId xmlns:a16="http://schemas.microsoft.com/office/drawing/2014/main" id="{B128BFB6-FC81-B533-4E6D-1E6EFD02B351}"/>
              </a:ext>
            </a:extLst>
          </p:cNvPr>
          <p:cNvSpPr>
            <a:spLocks noGrp="1" noRot="1" noChangeAspect="1" noChangeArrowheads="1" noTextEdit="1"/>
          </p:cNvSpPr>
          <p:nvPr>
            <p:ph type="sldImg"/>
          </p:nvPr>
        </p:nvSpPr>
        <p:spPr>
          <a:xfrm>
            <a:off x="992188" y="768350"/>
            <a:ext cx="5114925" cy="3836988"/>
          </a:xfrm>
          <a:ln/>
        </p:spPr>
      </p:sp>
      <p:sp>
        <p:nvSpPr>
          <p:cNvPr id="109572" name="Rectangle 3">
            <a:extLst>
              <a:ext uri="{FF2B5EF4-FFF2-40B4-BE49-F238E27FC236}">
                <a16:creationId xmlns:a16="http://schemas.microsoft.com/office/drawing/2014/main" id="{746ED509-E547-2D5E-A803-9AB116823093}"/>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18E5D659-1A8C-1DC6-8D8D-B70036F9A0A1}"/>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A1F38FC-949A-754F-97C3-C0B9E7E2F652}" type="slidenum">
              <a:rPr lang="en-US" altLang="zh-CN" sz="1300"/>
              <a:pPr>
                <a:spcBef>
                  <a:spcPct val="0"/>
                </a:spcBef>
              </a:pPr>
              <a:t>51</a:t>
            </a:fld>
            <a:endParaRPr lang="en-US" altLang="zh-CN" sz="1300"/>
          </a:p>
        </p:txBody>
      </p:sp>
      <p:sp>
        <p:nvSpPr>
          <p:cNvPr id="111619" name="Rectangle 2">
            <a:extLst>
              <a:ext uri="{FF2B5EF4-FFF2-40B4-BE49-F238E27FC236}">
                <a16:creationId xmlns:a16="http://schemas.microsoft.com/office/drawing/2014/main" id="{12272ADB-7CCC-EA43-57E3-A51DBCAE78F1}"/>
              </a:ext>
            </a:extLst>
          </p:cNvPr>
          <p:cNvSpPr>
            <a:spLocks noGrp="1" noRot="1" noChangeAspect="1" noChangeArrowheads="1" noTextEdit="1"/>
          </p:cNvSpPr>
          <p:nvPr>
            <p:ph type="sldImg"/>
          </p:nvPr>
        </p:nvSpPr>
        <p:spPr>
          <a:xfrm>
            <a:off x="992188" y="768350"/>
            <a:ext cx="5114925" cy="3836988"/>
          </a:xfrm>
          <a:ln/>
        </p:spPr>
      </p:sp>
      <p:sp>
        <p:nvSpPr>
          <p:cNvPr id="111620" name="Rectangle 3">
            <a:extLst>
              <a:ext uri="{FF2B5EF4-FFF2-40B4-BE49-F238E27FC236}">
                <a16:creationId xmlns:a16="http://schemas.microsoft.com/office/drawing/2014/main" id="{8500CEF0-393A-16DC-8E14-E828120574CD}"/>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B6EF23BA-7CE2-3BEC-CF35-C8A5C8272C16}"/>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454C323-662A-5543-8117-FC09BCB2F9CC}" type="slidenum">
              <a:rPr lang="en-US" altLang="zh-CN" sz="1300"/>
              <a:pPr>
                <a:spcBef>
                  <a:spcPct val="0"/>
                </a:spcBef>
              </a:pPr>
              <a:t>52</a:t>
            </a:fld>
            <a:endParaRPr lang="en-US" altLang="zh-CN" sz="1300"/>
          </a:p>
        </p:txBody>
      </p:sp>
      <p:sp>
        <p:nvSpPr>
          <p:cNvPr id="113667" name="Rectangle 2">
            <a:extLst>
              <a:ext uri="{FF2B5EF4-FFF2-40B4-BE49-F238E27FC236}">
                <a16:creationId xmlns:a16="http://schemas.microsoft.com/office/drawing/2014/main" id="{51D4F9C8-B2BD-F966-D9C5-C123CD04B023}"/>
              </a:ext>
            </a:extLst>
          </p:cNvPr>
          <p:cNvSpPr>
            <a:spLocks noGrp="1" noRot="1" noChangeAspect="1" noChangeArrowheads="1" noTextEdit="1"/>
          </p:cNvSpPr>
          <p:nvPr>
            <p:ph type="sldImg"/>
          </p:nvPr>
        </p:nvSpPr>
        <p:spPr>
          <a:xfrm>
            <a:off x="992188" y="768350"/>
            <a:ext cx="5114925" cy="3836988"/>
          </a:xfrm>
          <a:ln/>
        </p:spPr>
      </p:sp>
      <p:sp>
        <p:nvSpPr>
          <p:cNvPr id="113668" name="Rectangle 3">
            <a:extLst>
              <a:ext uri="{FF2B5EF4-FFF2-40B4-BE49-F238E27FC236}">
                <a16:creationId xmlns:a16="http://schemas.microsoft.com/office/drawing/2014/main" id="{69F55559-8E60-73B6-6479-D121DE7B01CC}"/>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81EC2A48-6F9A-DD54-1BB7-0D89B85BC206}"/>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601081-261D-ED44-BEA1-766EEE87E40C}" type="slidenum">
              <a:rPr lang="en-US" altLang="zh-CN" sz="1300"/>
              <a:pPr>
                <a:spcBef>
                  <a:spcPct val="0"/>
                </a:spcBef>
              </a:pPr>
              <a:t>53</a:t>
            </a:fld>
            <a:endParaRPr lang="en-US" altLang="zh-CN" sz="1300"/>
          </a:p>
        </p:txBody>
      </p:sp>
      <p:sp>
        <p:nvSpPr>
          <p:cNvPr id="115715" name="Rectangle 2">
            <a:extLst>
              <a:ext uri="{FF2B5EF4-FFF2-40B4-BE49-F238E27FC236}">
                <a16:creationId xmlns:a16="http://schemas.microsoft.com/office/drawing/2014/main" id="{816B3470-EA54-11BE-7E0F-0CAAE54BBE4B}"/>
              </a:ext>
            </a:extLst>
          </p:cNvPr>
          <p:cNvSpPr>
            <a:spLocks noGrp="1" noRot="1" noChangeAspect="1" noChangeArrowheads="1" noTextEdit="1"/>
          </p:cNvSpPr>
          <p:nvPr>
            <p:ph type="sldImg"/>
          </p:nvPr>
        </p:nvSpPr>
        <p:spPr>
          <a:xfrm>
            <a:off x="992188" y="768350"/>
            <a:ext cx="5114925" cy="3836988"/>
          </a:xfrm>
          <a:ln/>
        </p:spPr>
      </p:sp>
      <p:sp>
        <p:nvSpPr>
          <p:cNvPr id="115716" name="Rectangle 3">
            <a:extLst>
              <a:ext uri="{FF2B5EF4-FFF2-40B4-BE49-F238E27FC236}">
                <a16:creationId xmlns:a16="http://schemas.microsoft.com/office/drawing/2014/main" id="{27DCF2E2-7F94-F0E4-25D1-126F1BA8B163}"/>
              </a:ext>
            </a:extLst>
          </p:cNvPr>
          <p:cNvSpPr>
            <a:spLocks noGrp="1" noChangeArrowheads="1"/>
          </p:cNvSpPr>
          <p:nvPr>
            <p:ph type="body" idx="1"/>
          </p:nvPr>
        </p:nvSpPr>
        <p:spPr>
          <a:noFill/>
        </p:spPr>
        <p:txBody>
          <a:bodyPr/>
          <a:lstStyle/>
          <a:p>
            <a:pPr eaLnBrk="1" hangingPunct="1"/>
            <a:r>
              <a:rPr lang="en-US" altLang="zh-CN" sz="1200" b="0"/>
              <a:t> t = (p[pno2].y-p[pno1].y)* (p[pno3].x - p[pno1].x) </a:t>
            </a:r>
            <a:br>
              <a:rPr lang="en-US" altLang="zh-CN" sz="1200" b="0"/>
            </a:br>
            <a:r>
              <a:rPr lang="en-US" altLang="zh-CN" sz="1200" b="0"/>
              <a:t>    -  (p[pno3].y - p[pno1].y)* (p[pno2].x - p[pno1].x);</a:t>
            </a:r>
          </a:p>
          <a:p>
            <a:pPr eaLnBrk="1" hangingPunct="1"/>
            <a:endParaRPr lang="en-US" altLang="zh-CN" sz="1200" b="0">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判断</a:t>
            </a:r>
            <a:r>
              <a:rPr lang="en-US" altLang="zh-CN">
                <a:latin typeface="Arial" panose="020B0604020202020204" pitchFamily="34" charset="0"/>
                <a:ea typeface="宋体" panose="02010600030101010101" pitchFamily="2" charset="-122"/>
              </a:rPr>
              <a:t>t==0</a:t>
            </a:r>
            <a:r>
              <a:rPr lang="zh-CN" altLang="en-US">
                <a:latin typeface="Arial" panose="020B0604020202020204" pitchFamily="34" charset="0"/>
                <a:ea typeface="宋体" panose="02010600030101010101" pitchFamily="2" charset="-122"/>
              </a:rPr>
              <a:t> 即可，可以避免浮点数比较</a:t>
            </a:r>
            <a:endParaRPr lang="en-US" altLang="zh-CN">
              <a:latin typeface="Arial" panose="020B0604020202020204" pitchFamily="34" charset="0"/>
              <a:ea typeface="宋体" panose="02010600030101010101" pitchFamily="2" charset="-122"/>
            </a:endParaRPr>
          </a:p>
          <a:p>
            <a:pPr eaLnBrk="1" hangingPunct="1"/>
            <a:endParaRPr lang="en-US" altLang="zh-CN">
              <a:latin typeface="Arial" panose="020B0604020202020204" pitchFamily="34" charset="0"/>
              <a:ea typeface="宋体" panose="02010600030101010101" pitchFamily="2" charset="-122"/>
            </a:endParaRPr>
          </a:p>
          <a:p>
            <a:r>
              <a:rPr lang="zh-CN" altLang="en-US" b="1"/>
              <a:t>优点：</a:t>
            </a:r>
          </a:p>
          <a:p>
            <a:pPr>
              <a:buFont typeface="Arial" panose="020B0604020202020204" pitchFamily="34" charset="0"/>
              <a:buChar char="•"/>
            </a:pPr>
            <a:r>
              <a:rPr lang="zh-CN" altLang="en-US" b="1"/>
              <a:t>避免浮点数比较</a:t>
            </a:r>
            <a:r>
              <a:rPr lang="zh-CN" altLang="en-US"/>
              <a:t>：所有计算都是整数运算（行列式和坐标范围判断），因此不会出现由于浮点数精度误差导致的判断失误。</a:t>
            </a:r>
          </a:p>
          <a:p>
            <a:pPr>
              <a:buFont typeface="Arial" panose="020B0604020202020204" pitchFamily="34" charset="0"/>
              <a:buChar char="•"/>
            </a:pPr>
            <a:r>
              <a:rPr lang="zh-CN" altLang="en-US" b="1"/>
              <a:t>精度高</a:t>
            </a:r>
            <a:r>
              <a:rPr lang="zh-CN" altLang="en-US"/>
              <a:t>：由于不涉及浮点数运算，整数的精确计算可以避免常见的误差问题。</a:t>
            </a:r>
            <a:endParaRPr lang="en-US" altLang="zh-CN"/>
          </a:p>
          <a:p>
            <a:pPr>
              <a:buFont typeface="Arial" panose="020B0604020202020204" pitchFamily="34" charset="0"/>
              <a:buChar char="•"/>
            </a:pPr>
            <a:endParaRPr lang="en-US" altLang="zh-CN"/>
          </a:p>
          <a:p>
            <a:pPr>
              <a:buFont typeface="Arial" panose="020B0604020202020204" pitchFamily="34" charset="0"/>
              <a:buChar char="•"/>
            </a:pPr>
            <a:r>
              <a:rPr lang="zh-CN" altLang="en-US"/>
              <a:t>当然需要确保：</a:t>
            </a:r>
            <a:endParaRPr lang="en-US" altLang="zh-CN"/>
          </a:p>
          <a:p>
            <a:pPr>
              <a:buFont typeface="Arial" panose="020B0604020202020204" pitchFamily="34" charset="0"/>
              <a:buChar char="•"/>
            </a:pPr>
            <a:r>
              <a:rPr lang="en-US" altLang="zh-CN"/>
              <a:t>min(</a:t>
            </a:r>
            <a:r>
              <a:rPr lang="en-US" altLang="zh-CN" sz="1200" b="0"/>
              <a:t>p[pno1].x</a:t>
            </a:r>
            <a:r>
              <a:rPr lang="en-US" altLang="zh-CN"/>
              <a:t>​,</a:t>
            </a:r>
            <a:r>
              <a:rPr lang="en-US" altLang="zh-CN" sz="1200" b="0"/>
              <a:t> p[pno2].x</a:t>
            </a:r>
            <a:r>
              <a:rPr lang="en-US" altLang="zh-CN"/>
              <a:t>​)</a:t>
            </a:r>
            <a:r>
              <a:rPr lang="zh-CN" altLang="en-US"/>
              <a:t> </a:t>
            </a:r>
            <a:r>
              <a:rPr lang="en-US" altLang="zh-CN"/>
              <a:t>≤</a:t>
            </a:r>
            <a:r>
              <a:rPr lang="zh-CN" altLang="en-US"/>
              <a:t> </a:t>
            </a:r>
            <a:r>
              <a:rPr lang="en-US" altLang="zh-CN" sz="1200" b="0"/>
              <a:t>p[pno3].x</a:t>
            </a:r>
            <a:r>
              <a:rPr lang="en-US" altLang="zh-CN"/>
              <a:t>​</a:t>
            </a:r>
            <a:r>
              <a:rPr lang="zh-CN" altLang="en-US"/>
              <a:t> </a:t>
            </a:r>
            <a:r>
              <a:rPr lang="en-US" altLang="zh-CN"/>
              <a:t>≤</a:t>
            </a:r>
            <a:r>
              <a:rPr lang="zh-CN" altLang="en-US"/>
              <a:t> </a:t>
            </a:r>
            <a:r>
              <a:rPr lang="en-US" altLang="zh-CN"/>
              <a:t>max(</a:t>
            </a:r>
            <a:r>
              <a:rPr lang="en-US" altLang="zh-CN" sz="1200" b="0"/>
              <a:t>p[pno1].x</a:t>
            </a:r>
            <a:r>
              <a:rPr lang="en-US" altLang="zh-CN"/>
              <a:t>​,</a:t>
            </a:r>
            <a:r>
              <a:rPr lang="en-US" altLang="zh-CN" sz="1200" b="0"/>
              <a:t> p[pno2].x</a:t>
            </a:r>
            <a:r>
              <a:rPr lang="en-US" altLang="zh-CN"/>
              <a:t>​)</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altLang="zh-CN"/>
              <a:t>min(</a:t>
            </a:r>
            <a:r>
              <a:rPr lang="en-US" altLang="zh-CN" sz="1200" b="0"/>
              <a:t>p[pno1].y</a:t>
            </a:r>
            <a:r>
              <a:rPr lang="en-US" altLang="zh-CN"/>
              <a:t>​,</a:t>
            </a:r>
            <a:r>
              <a:rPr lang="en-US" altLang="zh-CN" sz="1200" b="0"/>
              <a:t> p[pno2].y</a:t>
            </a:r>
            <a:r>
              <a:rPr lang="en-US" altLang="zh-CN"/>
              <a:t>​)</a:t>
            </a:r>
            <a:r>
              <a:rPr lang="zh-CN" altLang="en-US"/>
              <a:t> </a:t>
            </a:r>
            <a:r>
              <a:rPr lang="en-US" altLang="zh-CN"/>
              <a:t>≤</a:t>
            </a:r>
            <a:r>
              <a:rPr lang="zh-CN" altLang="en-US"/>
              <a:t> </a:t>
            </a:r>
            <a:r>
              <a:rPr lang="en-US" altLang="zh-CN" sz="1200" b="0"/>
              <a:t>p[pno3].y</a:t>
            </a:r>
            <a:r>
              <a:rPr lang="en-US" altLang="zh-CN"/>
              <a:t>​</a:t>
            </a:r>
            <a:r>
              <a:rPr lang="zh-CN" altLang="en-US"/>
              <a:t> </a:t>
            </a:r>
            <a:r>
              <a:rPr lang="en-US" altLang="zh-CN"/>
              <a:t>≤</a:t>
            </a:r>
            <a:r>
              <a:rPr lang="zh-CN" altLang="en-US"/>
              <a:t> </a:t>
            </a:r>
            <a:r>
              <a:rPr lang="en-US" altLang="zh-CN"/>
              <a:t>max(</a:t>
            </a:r>
            <a:r>
              <a:rPr lang="en-US" altLang="zh-CN" sz="1200" b="0"/>
              <a:t>p[pno1].y</a:t>
            </a:r>
            <a:r>
              <a:rPr lang="en-US" altLang="zh-CN"/>
              <a:t>​,</a:t>
            </a:r>
            <a:r>
              <a:rPr lang="en-US" altLang="zh-CN" sz="1200" b="0"/>
              <a:t> p[pno2].y</a:t>
            </a:r>
            <a:r>
              <a:rPr lang="en-US" altLang="zh-CN"/>
              <a:t>​)</a:t>
            </a:r>
            <a:endParaRPr lang="zh-CN" altLang="en-US"/>
          </a:p>
          <a:p>
            <a:pPr>
              <a:buFont typeface="Arial" panose="020B0604020202020204" pitchFamily="34" charset="0"/>
              <a:buChar char="•"/>
            </a:pPr>
            <a:endParaRPr lang="zh-CN" altLang="en-US"/>
          </a:p>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657E4C5B-E087-59BB-50D4-B76A3712F708}"/>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7DD15AD-8B09-2D4F-958E-89942EC18DBB}" type="slidenum">
              <a:rPr lang="en-US" altLang="zh-CN" sz="1300"/>
              <a:pPr>
                <a:spcBef>
                  <a:spcPct val="0"/>
                </a:spcBef>
              </a:pPr>
              <a:t>54</a:t>
            </a:fld>
            <a:endParaRPr lang="en-US" altLang="zh-CN" sz="1300"/>
          </a:p>
        </p:txBody>
      </p:sp>
      <p:sp>
        <p:nvSpPr>
          <p:cNvPr id="117763" name="Rectangle 2">
            <a:extLst>
              <a:ext uri="{FF2B5EF4-FFF2-40B4-BE49-F238E27FC236}">
                <a16:creationId xmlns:a16="http://schemas.microsoft.com/office/drawing/2014/main" id="{13D81933-224B-56BA-3D1F-71406D5082AB}"/>
              </a:ext>
            </a:extLst>
          </p:cNvPr>
          <p:cNvSpPr>
            <a:spLocks noGrp="1" noRot="1" noChangeAspect="1" noChangeArrowheads="1" noTextEdit="1"/>
          </p:cNvSpPr>
          <p:nvPr>
            <p:ph type="sldImg"/>
          </p:nvPr>
        </p:nvSpPr>
        <p:spPr>
          <a:xfrm>
            <a:off x="992188" y="768350"/>
            <a:ext cx="5114925" cy="3836988"/>
          </a:xfrm>
          <a:ln/>
        </p:spPr>
      </p:sp>
      <p:sp>
        <p:nvSpPr>
          <p:cNvPr id="117764" name="Rectangle 3">
            <a:extLst>
              <a:ext uri="{FF2B5EF4-FFF2-40B4-BE49-F238E27FC236}">
                <a16:creationId xmlns:a16="http://schemas.microsoft.com/office/drawing/2014/main" id="{FFA23A85-0B8B-8A95-50F4-A664D048B7A9}"/>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25C31-EBED-FF0C-6900-497460FCFCF9}"/>
            </a:ext>
          </a:extLst>
        </p:cNvPr>
        <p:cNvGrpSpPr/>
        <p:nvPr/>
      </p:nvGrpSpPr>
      <p:grpSpPr>
        <a:xfrm>
          <a:off x="0" y="0"/>
          <a:ext cx="0" cy="0"/>
          <a:chOff x="0" y="0"/>
          <a:chExt cx="0" cy="0"/>
        </a:xfrm>
      </p:grpSpPr>
      <p:sp>
        <p:nvSpPr>
          <p:cNvPr id="95234" name="Rectangle 7">
            <a:extLst>
              <a:ext uri="{FF2B5EF4-FFF2-40B4-BE49-F238E27FC236}">
                <a16:creationId xmlns:a16="http://schemas.microsoft.com/office/drawing/2014/main" id="{5912A298-4865-EE5F-D193-6DDF400D0D9D}"/>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02F433-E61D-9045-8C52-16005062A672}" type="slidenum">
              <a:rPr lang="en-US" altLang="zh-CN" sz="1300"/>
              <a:pPr>
                <a:spcBef>
                  <a:spcPct val="0"/>
                </a:spcBef>
              </a:pPr>
              <a:t>56</a:t>
            </a:fld>
            <a:endParaRPr lang="en-US" altLang="zh-CN" sz="1300"/>
          </a:p>
        </p:txBody>
      </p:sp>
      <p:sp>
        <p:nvSpPr>
          <p:cNvPr id="95235" name="Rectangle 2">
            <a:extLst>
              <a:ext uri="{FF2B5EF4-FFF2-40B4-BE49-F238E27FC236}">
                <a16:creationId xmlns:a16="http://schemas.microsoft.com/office/drawing/2014/main" id="{8F2AD2B7-50FF-925F-B9E7-1BC3C2EC1A2E}"/>
              </a:ext>
            </a:extLst>
          </p:cNvPr>
          <p:cNvSpPr>
            <a:spLocks noGrp="1" noRot="1" noChangeAspect="1" noChangeArrowheads="1" noTextEdit="1"/>
          </p:cNvSpPr>
          <p:nvPr>
            <p:ph type="sldImg"/>
          </p:nvPr>
        </p:nvSpPr>
        <p:spPr>
          <a:xfrm>
            <a:off x="992188" y="768350"/>
            <a:ext cx="5114925" cy="3836988"/>
          </a:xfrm>
          <a:ln/>
        </p:spPr>
      </p:sp>
      <p:sp>
        <p:nvSpPr>
          <p:cNvPr id="95236" name="Rectangle 3">
            <a:extLst>
              <a:ext uri="{FF2B5EF4-FFF2-40B4-BE49-F238E27FC236}">
                <a16:creationId xmlns:a16="http://schemas.microsoft.com/office/drawing/2014/main" id="{F8A41866-E51A-A759-0EBE-D838B90A5433}"/>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305238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8C4E1-B024-332C-C2AC-208D38790E27}"/>
            </a:ext>
          </a:extLst>
        </p:cNvPr>
        <p:cNvGrpSpPr/>
        <p:nvPr/>
      </p:nvGrpSpPr>
      <p:grpSpPr>
        <a:xfrm>
          <a:off x="0" y="0"/>
          <a:ext cx="0" cy="0"/>
          <a:chOff x="0" y="0"/>
          <a:chExt cx="0" cy="0"/>
        </a:xfrm>
      </p:grpSpPr>
      <p:sp>
        <p:nvSpPr>
          <p:cNvPr id="95234" name="Rectangle 7">
            <a:extLst>
              <a:ext uri="{FF2B5EF4-FFF2-40B4-BE49-F238E27FC236}">
                <a16:creationId xmlns:a16="http://schemas.microsoft.com/office/drawing/2014/main" id="{3F4336D8-F6C9-A05C-FAAA-1B67286DA26F}"/>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02F433-E61D-9045-8C52-16005062A672}" type="slidenum">
              <a:rPr lang="en-US" altLang="zh-CN" sz="1300"/>
              <a:pPr>
                <a:spcBef>
                  <a:spcPct val="0"/>
                </a:spcBef>
              </a:pPr>
              <a:t>57</a:t>
            </a:fld>
            <a:endParaRPr lang="en-US" altLang="zh-CN" sz="1300"/>
          </a:p>
        </p:txBody>
      </p:sp>
      <p:sp>
        <p:nvSpPr>
          <p:cNvPr id="95235" name="Rectangle 2">
            <a:extLst>
              <a:ext uri="{FF2B5EF4-FFF2-40B4-BE49-F238E27FC236}">
                <a16:creationId xmlns:a16="http://schemas.microsoft.com/office/drawing/2014/main" id="{4E50D77A-498D-59FC-3919-C4CFD0878771}"/>
              </a:ext>
            </a:extLst>
          </p:cNvPr>
          <p:cNvSpPr>
            <a:spLocks noGrp="1" noRot="1" noChangeAspect="1" noChangeArrowheads="1" noTextEdit="1"/>
          </p:cNvSpPr>
          <p:nvPr>
            <p:ph type="sldImg"/>
          </p:nvPr>
        </p:nvSpPr>
        <p:spPr>
          <a:xfrm>
            <a:off x="992188" y="768350"/>
            <a:ext cx="5114925" cy="3836988"/>
          </a:xfrm>
          <a:ln/>
        </p:spPr>
      </p:sp>
      <p:sp>
        <p:nvSpPr>
          <p:cNvPr id="95236" name="Rectangle 3">
            <a:extLst>
              <a:ext uri="{FF2B5EF4-FFF2-40B4-BE49-F238E27FC236}">
                <a16:creationId xmlns:a16="http://schemas.microsoft.com/office/drawing/2014/main" id="{D2B622DB-0C7E-460E-04EE-78C344FF82BC}"/>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320264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9A138-0E5B-8CF6-5345-04987C2E1F51}"/>
            </a:ext>
          </a:extLst>
        </p:cNvPr>
        <p:cNvGrpSpPr/>
        <p:nvPr/>
      </p:nvGrpSpPr>
      <p:grpSpPr>
        <a:xfrm>
          <a:off x="0" y="0"/>
          <a:ext cx="0" cy="0"/>
          <a:chOff x="0" y="0"/>
          <a:chExt cx="0" cy="0"/>
        </a:xfrm>
      </p:grpSpPr>
      <p:sp>
        <p:nvSpPr>
          <p:cNvPr id="95234" name="Rectangle 7">
            <a:extLst>
              <a:ext uri="{FF2B5EF4-FFF2-40B4-BE49-F238E27FC236}">
                <a16:creationId xmlns:a16="http://schemas.microsoft.com/office/drawing/2014/main" id="{DA4B89F3-8E4C-B8DE-F97C-7C73D1250034}"/>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02F433-E61D-9045-8C52-16005062A672}" type="slidenum">
              <a:rPr lang="en-US" altLang="zh-CN" sz="1300"/>
              <a:pPr>
                <a:spcBef>
                  <a:spcPct val="0"/>
                </a:spcBef>
              </a:pPr>
              <a:t>58</a:t>
            </a:fld>
            <a:endParaRPr lang="en-US" altLang="zh-CN" sz="1300"/>
          </a:p>
        </p:txBody>
      </p:sp>
      <p:sp>
        <p:nvSpPr>
          <p:cNvPr id="95235" name="Rectangle 2">
            <a:extLst>
              <a:ext uri="{FF2B5EF4-FFF2-40B4-BE49-F238E27FC236}">
                <a16:creationId xmlns:a16="http://schemas.microsoft.com/office/drawing/2014/main" id="{ACF4F554-A352-8192-260A-A15754B960BB}"/>
              </a:ext>
            </a:extLst>
          </p:cNvPr>
          <p:cNvSpPr>
            <a:spLocks noGrp="1" noRot="1" noChangeAspect="1" noChangeArrowheads="1" noTextEdit="1"/>
          </p:cNvSpPr>
          <p:nvPr>
            <p:ph type="sldImg"/>
          </p:nvPr>
        </p:nvSpPr>
        <p:spPr>
          <a:xfrm>
            <a:off x="992188" y="768350"/>
            <a:ext cx="5114925" cy="3836988"/>
          </a:xfrm>
          <a:ln/>
        </p:spPr>
      </p:sp>
      <p:sp>
        <p:nvSpPr>
          <p:cNvPr id="95236" name="Rectangle 3">
            <a:extLst>
              <a:ext uri="{FF2B5EF4-FFF2-40B4-BE49-F238E27FC236}">
                <a16:creationId xmlns:a16="http://schemas.microsoft.com/office/drawing/2014/main" id="{5B3FA499-DD93-3A58-19F5-09B652804395}"/>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298743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37766-8FE6-6E56-DB0F-4C4ADE35B735}"/>
            </a:ext>
          </a:extLst>
        </p:cNvPr>
        <p:cNvGrpSpPr/>
        <p:nvPr/>
      </p:nvGrpSpPr>
      <p:grpSpPr>
        <a:xfrm>
          <a:off x="0" y="0"/>
          <a:ext cx="0" cy="0"/>
          <a:chOff x="0" y="0"/>
          <a:chExt cx="0" cy="0"/>
        </a:xfrm>
      </p:grpSpPr>
      <p:sp>
        <p:nvSpPr>
          <p:cNvPr id="95234" name="Rectangle 7">
            <a:extLst>
              <a:ext uri="{FF2B5EF4-FFF2-40B4-BE49-F238E27FC236}">
                <a16:creationId xmlns:a16="http://schemas.microsoft.com/office/drawing/2014/main" id="{0560885B-17E6-80E3-B707-73C6CC3B7FAC}"/>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02F433-E61D-9045-8C52-16005062A672}" type="slidenum">
              <a:rPr lang="en-US" altLang="zh-CN" sz="1300"/>
              <a:pPr>
                <a:spcBef>
                  <a:spcPct val="0"/>
                </a:spcBef>
              </a:pPr>
              <a:t>59</a:t>
            </a:fld>
            <a:endParaRPr lang="en-US" altLang="zh-CN" sz="1300"/>
          </a:p>
        </p:txBody>
      </p:sp>
      <p:sp>
        <p:nvSpPr>
          <p:cNvPr id="95235" name="Rectangle 2">
            <a:extLst>
              <a:ext uri="{FF2B5EF4-FFF2-40B4-BE49-F238E27FC236}">
                <a16:creationId xmlns:a16="http://schemas.microsoft.com/office/drawing/2014/main" id="{A2B06190-072C-21D0-E381-643162846E21}"/>
              </a:ext>
            </a:extLst>
          </p:cNvPr>
          <p:cNvSpPr>
            <a:spLocks noGrp="1" noRot="1" noChangeAspect="1" noChangeArrowheads="1" noTextEdit="1"/>
          </p:cNvSpPr>
          <p:nvPr>
            <p:ph type="sldImg"/>
          </p:nvPr>
        </p:nvSpPr>
        <p:spPr>
          <a:xfrm>
            <a:off x="992188" y="768350"/>
            <a:ext cx="5114925" cy="3836988"/>
          </a:xfrm>
          <a:ln/>
        </p:spPr>
      </p:sp>
      <p:sp>
        <p:nvSpPr>
          <p:cNvPr id="95236" name="Rectangle 3">
            <a:extLst>
              <a:ext uri="{FF2B5EF4-FFF2-40B4-BE49-F238E27FC236}">
                <a16:creationId xmlns:a16="http://schemas.microsoft.com/office/drawing/2014/main" id="{660944F0-69C0-3036-63FC-237FBA45F2B7}"/>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560097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D48A-D914-0D63-2580-512F149DB8AA}"/>
            </a:ext>
          </a:extLst>
        </p:cNvPr>
        <p:cNvGrpSpPr/>
        <p:nvPr/>
      </p:nvGrpSpPr>
      <p:grpSpPr>
        <a:xfrm>
          <a:off x="0" y="0"/>
          <a:ext cx="0" cy="0"/>
          <a:chOff x="0" y="0"/>
          <a:chExt cx="0" cy="0"/>
        </a:xfrm>
      </p:grpSpPr>
      <p:sp>
        <p:nvSpPr>
          <p:cNvPr id="95234" name="Rectangle 7">
            <a:extLst>
              <a:ext uri="{FF2B5EF4-FFF2-40B4-BE49-F238E27FC236}">
                <a16:creationId xmlns:a16="http://schemas.microsoft.com/office/drawing/2014/main" id="{944F0795-ECEC-FFAF-093B-4C4FEA7D8D52}"/>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02F433-E61D-9045-8C52-16005062A672}" type="slidenum">
              <a:rPr lang="en-US" altLang="zh-CN" sz="1300"/>
              <a:pPr>
                <a:spcBef>
                  <a:spcPct val="0"/>
                </a:spcBef>
              </a:pPr>
              <a:t>60</a:t>
            </a:fld>
            <a:endParaRPr lang="en-US" altLang="zh-CN" sz="1300"/>
          </a:p>
        </p:txBody>
      </p:sp>
      <p:sp>
        <p:nvSpPr>
          <p:cNvPr id="95235" name="Rectangle 2">
            <a:extLst>
              <a:ext uri="{FF2B5EF4-FFF2-40B4-BE49-F238E27FC236}">
                <a16:creationId xmlns:a16="http://schemas.microsoft.com/office/drawing/2014/main" id="{3364A081-AA75-6BF8-80C6-0AC770420A26}"/>
              </a:ext>
            </a:extLst>
          </p:cNvPr>
          <p:cNvSpPr>
            <a:spLocks noGrp="1" noRot="1" noChangeAspect="1" noChangeArrowheads="1" noTextEdit="1"/>
          </p:cNvSpPr>
          <p:nvPr>
            <p:ph type="sldImg"/>
          </p:nvPr>
        </p:nvSpPr>
        <p:spPr>
          <a:xfrm>
            <a:off x="992188" y="768350"/>
            <a:ext cx="5114925" cy="3836988"/>
          </a:xfrm>
          <a:ln/>
        </p:spPr>
      </p:sp>
      <p:sp>
        <p:nvSpPr>
          <p:cNvPr id="95236" name="Rectangle 3">
            <a:extLst>
              <a:ext uri="{FF2B5EF4-FFF2-40B4-BE49-F238E27FC236}">
                <a16:creationId xmlns:a16="http://schemas.microsoft.com/office/drawing/2014/main" id="{DA954979-05E4-1304-F3B0-3EB0A7CC186D}"/>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188845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69F82-E487-3229-B348-4A65A4EE4D33}"/>
            </a:ext>
          </a:extLst>
        </p:cNvPr>
        <p:cNvGrpSpPr/>
        <p:nvPr/>
      </p:nvGrpSpPr>
      <p:grpSpPr>
        <a:xfrm>
          <a:off x="0" y="0"/>
          <a:ext cx="0" cy="0"/>
          <a:chOff x="0" y="0"/>
          <a:chExt cx="0" cy="0"/>
        </a:xfrm>
      </p:grpSpPr>
      <p:sp>
        <p:nvSpPr>
          <p:cNvPr id="95234" name="Rectangle 7">
            <a:extLst>
              <a:ext uri="{FF2B5EF4-FFF2-40B4-BE49-F238E27FC236}">
                <a16:creationId xmlns:a16="http://schemas.microsoft.com/office/drawing/2014/main" id="{F057D1F7-C198-B5F4-F71C-CB9CA64E52B6}"/>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02F433-E61D-9045-8C52-16005062A672}" type="slidenum">
              <a:rPr lang="en-US" altLang="zh-CN" sz="1300"/>
              <a:pPr>
                <a:spcBef>
                  <a:spcPct val="0"/>
                </a:spcBef>
              </a:pPr>
              <a:t>61</a:t>
            </a:fld>
            <a:endParaRPr lang="en-US" altLang="zh-CN" sz="1300"/>
          </a:p>
        </p:txBody>
      </p:sp>
      <p:sp>
        <p:nvSpPr>
          <p:cNvPr id="95235" name="Rectangle 2">
            <a:extLst>
              <a:ext uri="{FF2B5EF4-FFF2-40B4-BE49-F238E27FC236}">
                <a16:creationId xmlns:a16="http://schemas.microsoft.com/office/drawing/2014/main" id="{1CAD8EE0-6721-70C7-B6FE-9A581D30DFAF}"/>
              </a:ext>
            </a:extLst>
          </p:cNvPr>
          <p:cNvSpPr>
            <a:spLocks noGrp="1" noRot="1" noChangeAspect="1" noChangeArrowheads="1" noTextEdit="1"/>
          </p:cNvSpPr>
          <p:nvPr>
            <p:ph type="sldImg"/>
          </p:nvPr>
        </p:nvSpPr>
        <p:spPr>
          <a:xfrm>
            <a:off x="992188" y="768350"/>
            <a:ext cx="5114925" cy="3836988"/>
          </a:xfrm>
          <a:ln/>
        </p:spPr>
      </p:sp>
      <p:sp>
        <p:nvSpPr>
          <p:cNvPr id="95236" name="Rectangle 3">
            <a:extLst>
              <a:ext uri="{FF2B5EF4-FFF2-40B4-BE49-F238E27FC236}">
                <a16:creationId xmlns:a16="http://schemas.microsoft.com/office/drawing/2014/main" id="{FAE534CD-F8AF-D33A-D8BE-FF53D5663E04}"/>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144968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F8E1C-D9CA-3C45-0F45-DEFA34B0A724}"/>
            </a:ext>
          </a:extLst>
        </p:cNvPr>
        <p:cNvGrpSpPr/>
        <p:nvPr/>
      </p:nvGrpSpPr>
      <p:grpSpPr>
        <a:xfrm>
          <a:off x="0" y="0"/>
          <a:ext cx="0" cy="0"/>
          <a:chOff x="0" y="0"/>
          <a:chExt cx="0" cy="0"/>
        </a:xfrm>
      </p:grpSpPr>
      <p:sp>
        <p:nvSpPr>
          <p:cNvPr id="95234" name="Rectangle 7">
            <a:extLst>
              <a:ext uri="{FF2B5EF4-FFF2-40B4-BE49-F238E27FC236}">
                <a16:creationId xmlns:a16="http://schemas.microsoft.com/office/drawing/2014/main" id="{81CFFC03-7ADC-2175-25C4-DB82E1F39ED4}"/>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02F433-E61D-9045-8C52-16005062A672}" type="slidenum">
              <a:rPr lang="en-US" altLang="zh-CN" sz="1300"/>
              <a:pPr>
                <a:spcBef>
                  <a:spcPct val="0"/>
                </a:spcBef>
              </a:pPr>
              <a:t>62</a:t>
            </a:fld>
            <a:endParaRPr lang="en-US" altLang="zh-CN" sz="1300"/>
          </a:p>
        </p:txBody>
      </p:sp>
      <p:sp>
        <p:nvSpPr>
          <p:cNvPr id="95235" name="Rectangle 2">
            <a:extLst>
              <a:ext uri="{FF2B5EF4-FFF2-40B4-BE49-F238E27FC236}">
                <a16:creationId xmlns:a16="http://schemas.microsoft.com/office/drawing/2014/main" id="{2B8D1D29-47B8-A083-B91A-1F330C65EF3B}"/>
              </a:ext>
            </a:extLst>
          </p:cNvPr>
          <p:cNvSpPr>
            <a:spLocks noGrp="1" noRot="1" noChangeAspect="1" noChangeArrowheads="1" noTextEdit="1"/>
          </p:cNvSpPr>
          <p:nvPr>
            <p:ph type="sldImg"/>
          </p:nvPr>
        </p:nvSpPr>
        <p:spPr>
          <a:xfrm>
            <a:off x="992188" y="768350"/>
            <a:ext cx="5114925" cy="3836988"/>
          </a:xfrm>
          <a:ln/>
        </p:spPr>
      </p:sp>
      <p:sp>
        <p:nvSpPr>
          <p:cNvPr id="95236" name="Rectangle 3">
            <a:extLst>
              <a:ext uri="{FF2B5EF4-FFF2-40B4-BE49-F238E27FC236}">
                <a16:creationId xmlns:a16="http://schemas.microsoft.com/office/drawing/2014/main" id="{C7F4696D-5B31-4214-45C0-40B3434D35D8}"/>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23095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a:t>在 </a:t>
            </a:r>
            <a:r>
              <a:rPr lang="en-US" altLang="zh-CN"/>
              <a:t>C </a:t>
            </a:r>
            <a:r>
              <a:rPr lang="zh-CN" altLang="en-US"/>
              <a:t>语言中，调用 </a:t>
            </a:r>
            <a:r>
              <a:rPr lang="en-US" altLang="zh-CN"/>
              <a:t>free() </a:t>
            </a:r>
            <a:r>
              <a:rPr lang="zh-CN" altLang="en-US"/>
              <a:t>函数释放动态分配的内存时，</a:t>
            </a:r>
            <a:r>
              <a:rPr lang="zh-CN" altLang="en-US" b="1"/>
              <a:t>不会</a:t>
            </a:r>
            <a:r>
              <a:rPr lang="zh-CN" altLang="en-US"/>
              <a:t>自动将传递的指针赋值为 </a:t>
            </a:r>
            <a:r>
              <a:rPr lang="en-US" altLang="zh-CN"/>
              <a:t>NULL</a:t>
            </a:r>
            <a:r>
              <a:rPr lang="zh-CN" altLang="en-US"/>
              <a:t>。调用 </a:t>
            </a:r>
            <a:r>
              <a:rPr lang="en-US" altLang="zh-CN"/>
              <a:t>free() </a:t>
            </a:r>
            <a:r>
              <a:rPr lang="zh-CN" altLang="en-US"/>
              <a:t>只是释放内存块，使其可以被重新分配，但它不会修改或重置传入的指针。</a:t>
            </a:r>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91</a:t>
            </a:fld>
            <a:endParaRPr lang="en-US" altLang="zh-CN"/>
          </a:p>
        </p:txBody>
      </p:sp>
    </p:spTree>
    <p:extLst>
      <p:ext uri="{BB962C8B-B14F-4D97-AF65-F5344CB8AC3E}">
        <p14:creationId xmlns:p14="http://schemas.microsoft.com/office/powerpoint/2010/main" val="10785070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a:t>上述代码有对函数</a:t>
            </a:r>
            <a:r>
              <a:rPr lang="en-US" altLang="zh-CN" sz="1200" b="0"/>
              <a:t>malloc()</a:t>
            </a:r>
            <a:r>
              <a:rPr lang="zh-CN" altLang="en-US" sz="1200" b="0"/>
              <a:t>的调用，实参</a:t>
            </a:r>
            <a:r>
              <a:rPr lang="en-US" altLang="zh-CN" sz="1200" b="0"/>
              <a:t>sizeof(struct intNode)</a:t>
            </a:r>
            <a:r>
              <a:rPr lang="zh-CN" altLang="en-US" sz="1200" b="0"/>
              <a:t>是一个表达式，</a:t>
            </a:r>
            <a:r>
              <a:rPr lang="en-US" altLang="zh-CN" sz="1200" b="0"/>
              <a:t>sizeof</a:t>
            </a:r>
            <a:r>
              <a:rPr lang="zh-CN" altLang="en-US" sz="1200" b="0"/>
              <a:t>运算的结果是计算表元所需</a:t>
            </a:r>
            <a:r>
              <a:rPr lang="en-US" altLang="zh-CN" sz="1200" b="0"/>
              <a:t>(</a:t>
            </a:r>
            <a:r>
              <a:rPr lang="zh-CN" altLang="en-US" sz="1200" b="0"/>
              <a:t>或占用</a:t>
            </a:r>
            <a:r>
              <a:rPr lang="en-US" altLang="zh-CN" sz="1200" b="0"/>
              <a:t>)</a:t>
            </a:r>
            <a:r>
              <a:rPr lang="zh-CN" altLang="en-US" sz="1200" b="0"/>
              <a:t>的字节数。这里是存储链表表元数据所需的字节数。函数调用</a:t>
            </a:r>
            <a:r>
              <a:rPr lang="en-US" altLang="zh-CN" sz="1200" b="0"/>
              <a:t>malloc()</a:t>
            </a:r>
            <a:r>
              <a:rPr lang="zh-CN" altLang="en-US" sz="1200" b="0"/>
              <a:t>返回分配给新表元的存储空间的开始地址。</a:t>
            </a:r>
          </a:p>
          <a:p>
            <a:endParaRPr kumimoji="1" lang="en-US" altLang="zh-CN"/>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a:t>申请获得的存储空间开始地址需转换成存储对象类型的指针类型，然后再对该存储空间以数据类型所具有的成分进行存储。例如，对函数</a:t>
            </a:r>
            <a:r>
              <a:rPr lang="en-US" altLang="zh-CN" sz="1200" b="0"/>
              <a:t>malloc()</a:t>
            </a:r>
            <a:r>
              <a:rPr lang="zh-CN" altLang="en-US" sz="1200" b="0"/>
              <a:t>调用的返回值作强制类型转换</a:t>
            </a:r>
            <a:r>
              <a:rPr lang="en-US" altLang="zh-CN" sz="1200" b="0"/>
              <a:t>(struct intNode *)</a:t>
            </a:r>
            <a:r>
              <a:rPr lang="zh-CN" altLang="en-US" sz="1200" b="0"/>
              <a:t>，使函数调用返回的</a:t>
            </a:r>
            <a:r>
              <a:rPr lang="en-US" altLang="zh-CN" sz="1200" b="0"/>
              <a:t>(void *)</a:t>
            </a:r>
            <a:r>
              <a:rPr lang="zh-CN" altLang="en-US" sz="1200" b="0"/>
              <a:t>类型值转换成</a:t>
            </a:r>
            <a:r>
              <a:rPr lang="en-US" altLang="zh-CN" sz="1200" b="0"/>
              <a:t>(struct intNode *)</a:t>
            </a:r>
            <a:r>
              <a:rPr lang="zh-CN" altLang="en-US" sz="1200" b="0"/>
              <a:t>类型的值，以便通过转换后的指针值引用成分</a:t>
            </a:r>
            <a:r>
              <a:rPr lang="en-US" altLang="zh-CN" sz="1200" b="0"/>
              <a:t>value</a:t>
            </a:r>
            <a:r>
              <a:rPr lang="zh-CN" altLang="en-US" sz="1200" b="0"/>
              <a:t>或</a:t>
            </a:r>
            <a:r>
              <a:rPr lang="en-US" altLang="zh-CN" sz="1200" b="0"/>
              <a:t>next</a:t>
            </a:r>
            <a:r>
              <a:rPr lang="zh-CN" altLang="en-US" sz="1200" b="0"/>
              <a:t>。</a:t>
            </a:r>
          </a:p>
          <a:p>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101</a:t>
            </a:fld>
            <a:endParaRPr lang="en-US" altLang="zh-CN"/>
          </a:p>
        </p:txBody>
      </p:sp>
    </p:spTree>
    <p:extLst>
      <p:ext uri="{BB962C8B-B14F-4D97-AF65-F5344CB8AC3E}">
        <p14:creationId xmlns:p14="http://schemas.microsoft.com/office/powerpoint/2010/main" val="26556369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1200" b="0">
                <a:solidFill>
                  <a:srgbClr val="0066FF"/>
                </a:solidFill>
              </a:rPr>
              <a:t>如果要实现动态查找（删除或在之前插入新表元） ，在单项链表中需要获得“前驱表元”的指针</a:t>
            </a:r>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108</a:t>
            </a:fld>
            <a:endParaRPr lang="en-US" altLang="zh-CN"/>
          </a:p>
        </p:txBody>
      </p:sp>
    </p:spTree>
    <p:extLst>
      <p:ext uri="{BB962C8B-B14F-4D97-AF65-F5344CB8AC3E}">
        <p14:creationId xmlns:p14="http://schemas.microsoft.com/office/powerpoint/2010/main" val="37849630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b="0"/>
              <a:t>( v != NULL ) &amp;&amp; ( v-&gt;value &lt; key)</a:t>
            </a:r>
            <a:r>
              <a:rPr lang="zh-CN" altLang="en-US" sz="1200" b="0"/>
              <a:t>的顺序也不能反</a:t>
            </a:r>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110</a:t>
            </a:fld>
            <a:endParaRPr lang="en-US" altLang="zh-CN"/>
          </a:p>
        </p:txBody>
      </p:sp>
    </p:spTree>
    <p:extLst>
      <p:ext uri="{BB962C8B-B14F-4D97-AF65-F5344CB8AC3E}">
        <p14:creationId xmlns:p14="http://schemas.microsoft.com/office/powerpoint/2010/main" val="327329828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i="0">
                <a:solidFill>
                  <a:srgbClr val="CC0000"/>
                </a:solidFill>
                <a:latin typeface="Arial Narrow" panose="020B0604020202020204" pitchFamily="34" charset="0"/>
                <a:ea typeface="宋体" panose="02010600030101010101" pitchFamily="2" charset="-122"/>
              </a:rPr>
              <a:t>return (v != NULL &amp;&amp; v-&gt;value == key) ? v : NULL;</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sz="1200" b="0" i="0">
              <a:solidFill>
                <a:srgbClr val="CC0000"/>
              </a:solidFill>
              <a:latin typeface="Arial Narrow" panose="020B0604020202020204" pitchFamily="34" charset="0"/>
              <a:ea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i="0">
                <a:solidFill>
                  <a:srgbClr val="CC0000"/>
                </a:solidFill>
                <a:latin typeface="Arial Narrow" panose="020B0604020202020204" pitchFamily="34" charset="0"/>
                <a:ea typeface="宋体" panose="02010600030101010101" pitchFamily="2" charset="-122"/>
              </a:rPr>
              <a:t>这个查找的结果，</a:t>
            </a:r>
            <a:r>
              <a:rPr kumimoji="1" lang="en-US" altLang="zh-CN" sz="1200" b="0" i="0">
                <a:solidFill>
                  <a:srgbClr val="CC0000"/>
                </a:solidFill>
                <a:latin typeface="Arial Narrow" panose="020B0604020202020204" pitchFamily="34" charset="0"/>
                <a:ea typeface="宋体" panose="02010600030101010101" pitchFamily="2" charset="-122"/>
              </a:rPr>
              <a:t>u</a:t>
            </a:r>
            <a:r>
              <a:rPr kumimoji="1" lang="zh-CN" altLang="en-US" sz="1200" b="0" i="0">
                <a:solidFill>
                  <a:srgbClr val="CC0000"/>
                </a:solidFill>
                <a:latin typeface="Arial Narrow" panose="020B0604020202020204" pitchFamily="34" charset="0"/>
                <a:ea typeface="宋体" panose="02010600030101010101" pitchFamily="2" charset="-122"/>
              </a:rPr>
              <a:t>（前驱表元）要么为</a:t>
            </a:r>
            <a:r>
              <a:rPr kumimoji="1" lang="en-US" altLang="zh-CN" sz="1200" b="0" i="0">
                <a:solidFill>
                  <a:srgbClr val="CC0000"/>
                </a:solidFill>
                <a:latin typeface="Arial Narrow" panose="020B0604020202020204" pitchFamily="34" charset="0"/>
                <a:ea typeface="宋体" panose="02010600030101010101" pitchFamily="2" charset="-122"/>
              </a:rPr>
              <a:t>NULL</a:t>
            </a:r>
            <a:r>
              <a:rPr kumimoji="1" lang="zh-CN" altLang="en-US" sz="1200" b="0" i="0">
                <a:solidFill>
                  <a:srgbClr val="CC0000"/>
                </a:solidFill>
                <a:latin typeface="Arial Narrow" panose="020B0604020202020204" pitchFamily="34" charset="0"/>
                <a:ea typeface="宋体" panose="02010600030101010101" pitchFamily="2" charset="-122"/>
              </a:rPr>
              <a:t>，要么</a:t>
            </a:r>
            <a:r>
              <a:rPr kumimoji="1" lang="en-US" altLang="zh-CN" sz="1200" b="0" i="0">
                <a:solidFill>
                  <a:srgbClr val="CC0000"/>
                </a:solidFill>
                <a:latin typeface="Arial Narrow" panose="020B0604020202020204" pitchFamily="34" charset="0"/>
                <a:ea typeface="宋体" panose="02010600030101010101" pitchFamily="2" charset="-122"/>
              </a:rPr>
              <a:t> u-&gt;value &lt; key</a:t>
            </a:r>
            <a:r>
              <a:rPr kumimoji="1" lang="zh-CN" altLang="en-US" sz="1200" b="0" i="0">
                <a:solidFill>
                  <a:srgbClr val="CC0000"/>
                </a:solidFill>
                <a:latin typeface="Arial Narrow" panose="020B0604020202020204" pitchFamily="34" charset="0"/>
                <a:ea typeface="宋体" panose="02010600030101010101" pitchFamily="2" charset="-122"/>
              </a:rPr>
              <a:t>；而 </a:t>
            </a:r>
            <a:r>
              <a:rPr kumimoji="1" lang="en-US" altLang="zh-CN" sz="1200" b="0" i="0">
                <a:solidFill>
                  <a:srgbClr val="CC0000"/>
                </a:solidFill>
                <a:latin typeface="Arial Narrow" panose="020B0604020202020204" pitchFamily="34" charset="0"/>
                <a:ea typeface="宋体" panose="02010600030101010101" pitchFamily="2" charset="-122"/>
              </a:rPr>
              <a:t>v</a:t>
            </a:r>
            <a:r>
              <a:rPr kumimoji="1" lang="zh-CN" altLang="en-US" sz="1200" b="0" i="0">
                <a:solidFill>
                  <a:srgbClr val="CC0000"/>
                </a:solidFill>
                <a:latin typeface="Arial Narrow" panose="020B0604020202020204" pitchFamily="34" charset="0"/>
                <a:ea typeface="宋体" panose="02010600030101010101" pitchFamily="2" charset="-122"/>
              </a:rPr>
              <a:t> 要么为</a:t>
            </a:r>
            <a:r>
              <a:rPr kumimoji="1" lang="en-US" altLang="zh-CN" sz="1200" b="0" i="0">
                <a:solidFill>
                  <a:srgbClr val="CC0000"/>
                </a:solidFill>
                <a:latin typeface="Arial Narrow" panose="020B0604020202020204" pitchFamily="34" charset="0"/>
                <a:ea typeface="宋体" panose="02010600030101010101" pitchFamily="2" charset="-122"/>
              </a:rPr>
              <a:t>NULL</a:t>
            </a:r>
            <a:r>
              <a:rPr kumimoji="1" lang="zh-CN" altLang="en-US" sz="1200" b="0" i="0">
                <a:solidFill>
                  <a:srgbClr val="CC0000"/>
                </a:solidFill>
                <a:latin typeface="Arial Narrow" panose="020B0604020202020204" pitchFamily="34" charset="0"/>
                <a:ea typeface="宋体" panose="02010600030101010101" pitchFamily="2" charset="-122"/>
              </a:rPr>
              <a:t>（即所有表元的值都比</a:t>
            </a:r>
            <a:r>
              <a:rPr kumimoji="1" lang="en-US" altLang="zh-CN" sz="1200" b="0" i="0">
                <a:solidFill>
                  <a:srgbClr val="CC0000"/>
                </a:solidFill>
                <a:latin typeface="Arial Narrow" panose="020B0604020202020204" pitchFamily="34" charset="0"/>
                <a:ea typeface="宋体" panose="02010600030101010101" pitchFamily="2" charset="-122"/>
              </a:rPr>
              <a:t>key</a:t>
            </a:r>
            <a:r>
              <a:rPr kumimoji="1" lang="zh-CN" altLang="en-US" sz="1200" b="0" i="0">
                <a:solidFill>
                  <a:srgbClr val="CC0000"/>
                </a:solidFill>
                <a:latin typeface="Arial Narrow" panose="020B0604020202020204" pitchFamily="34" charset="0"/>
                <a:ea typeface="宋体" panose="02010600030101010101" pitchFamily="2" charset="-122"/>
              </a:rPr>
              <a:t>小），要么 </a:t>
            </a:r>
            <a:r>
              <a:rPr kumimoji="1" lang="en-US" altLang="zh-CN" sz="1200" b="0" i="0">
                <a:solidFill>
                  <a:srgbClr val="CC0000"/>
                </a:solidFill>
                <a:latin typeface="Arial Narrow" panose="020B0604020202020204" pitchFamily="34" charset="0"/>
                <a:ea typeface="宋体" panose="02010600030101010101" pitchFamily="2" charset="-122"/>
              </a:rPr>
              <a:t>v-&gt;value &gt;= key</a:t>
            </a:r>
          </a:p>
          <a:p>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112</a:t>
            </a:fld>
            <a:endParaRPr lang="en-US" altLang="zh-CN"/>
          </a:p>
        </p:txBody>
      </p:sp>
    </p:spTree>
    <p:extLst>
      <p:ext uri="{BB962C8B-B14F-4D97-AF65-F5344CB8AC3E}">
        <p14:creationId xmlns:p14="http://schemas.microsoft.com/office/powerpoint/2010/main" val="2751730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zh-CN" altLang="en-US"/>
              <a:t>铺垫：为后面的删除指定表元做铺垫</a:t>
            </a:r>
          </a:p>
        </p:txBody>
      </p:sp>
      <p:sp>
        <p:nvSpPr>
          <p:cNvPr id="4" name="灯片编号占位符 3"/>
          <p:cNvSpPr>
            <a:spLocks noGrp="1"/>
          </p:cNvSpPr>
          <p:nvPr>
            <p:ph type="sldNum" sz="quarter" idx="5"/>
          </p:nvPr>
        </p:nvSpPr>
        <p:spPr/>
        <p:txBody>
          <a:bodyPr/>
          <a:lstStyle/>
          <a:p>
            <a:fld id="{B3B6D3AF-80C6-F548-B579-98AA2A1A0E06}" type="slidenum">
              <a:rPr lang="en-US" altLang="zh-CN"/>
              <a:pPr/>
              <a:t>114</a:t>
            </a:fld>
            <a:endParaRPr lang="en-US" altLang="zh-CN"/>
          </a:p>
        </p:txBody>
      </p:sp>
    </p:spTree>
    <p:extLst>
      <p:ext uri="{BB962C8B-B14F-4D97-AF65-F5344CB8AC3E}">
        <p14:creationId xmlns:p14="http://schemas.microsoft.com/office/powerpoint/2010/main" val="3161840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a:t>铺垫：为后面的删除指定表元做铺垫</a:t>
            </a:r>
            <a:endParaRPr kumimoji="1" lang="en-US" altLang="zh-CN" sz="1200" b="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a:t>铺垫：删除指定表元，如果是第一个表元，需要涉及到表头指针修改</a:t>
            </a:r>
            <a:endParaRPr kumimoji="1" lang="en-US" altLang="zh-CN"/>
          </a:p>
          <a:p>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117</a:t>
            </a:fld>
            <a:endParaRPr lang="en-US" altLang="zh-CN"/>
          </a:p>
        </p:txBody>
      </p:sp>
    </p:spTree>
    <p:extLst>
      <p:ext uri="{BB962C8B-B14F-4D97-AF65-F5344CB8AC3E}">
        <p14:creationId xmlns:p14="http://schemas.microsoft.com/office/powerpoint/2010/main" val="5063029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a:t>删除指定表元，一定要用到前驱指针 或 涉及到表头指针修改</a:t>
            </a:r>
            <a:endParaRPr kumimoji="1" lang="en-US" altLang="zh-CN"/>
          </a:p>
          <a:p>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118</a:t>
            </a:fld>
            <a:endParaRPr lang="en-US" altLang="zh-CN"/>
          </a:p>
        </p:txBody>
      </p:sp>
    </p:spTree>
    <p:extLst>
      <p:ext uri="{BB962C8B-B14F-4D97-AF65-F5344CB8AC3E}">
        <p14:creationId xmlns:p14="http://schemas.microsoft.com/office/powerpoint/2010/main" val="31816368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a:t>删除指定表元，一定要用到前驱指针 </a:t>
            </a:r>
            <a:r>
              <a:rPr kumimoji="1" lang="en-US" altLang="zh-CN" sz="1200" b="0"/>
              <a:t>w</a:t>
            </a:r>
            <a:r>
              <a:rPr kumimoji="1" lang="zh-CN" altLang="en-US" sz="1200" b="0"/>
              <a:t> 或 涉及到表头指针 *</a:t>
            </a:r>
            <a:r>
              <a:rPr kumimoji="1" lang="en-US" altLang="zh-CN" sz="1200" b="0"/>
              <a:t>hpt</a:t>
            </a:r>
            <a:r>
              <a:rPr kumimoji="1" lang="zh-CN" altLang="en-US" sz="1200" b="0"/>
              <a:t> 修改</a:t>
            </a:r>
            <a:endParaRPr kumimoji="1" lang="en-US" altLang="zh-CN"/>
          </a:p>
          <a:p>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119</a:t>
            </a:fld>
            <a:endParaRPr lang="en-US" altLang="zh-CN"/>
          </a:p>
        </p:txBody>
      </p:sp>
    </p:spTree>
    <p:extLst>
      <p:ext uri="{BB962C8B-B14F-4D97-AF65-F5344CB8AC3E}">
        <p14:creationId xmlns:p14="http://schemas.microsoft.com/office/powerpoint/2010/main" val="12525914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a:solidFill>
                  <a:srgbClr val="0066FF"/>
                </a:solidFill>
              </a:rPr>
              <a:t>searchDSLink</a:t>
            </a:r>
            <a:r>
              <a:rPr lang="zh-CN" altLang="en-US" sz="1200" b="0">
                <a:solidFill>
                  <a:srgbClr val="0066FF"/>
                </a:solidFill>
              </a:rPr>
              <a:t>函数定义在</a:t>
            </a:r>
            <a:r>
              <a:rPr lang="en-US" altLang="zh-CN" sz="1200" b="0">
                <a:solidFill>
                  <a:srgbClr val="0066FF"/>
                </a:solidFill>
              </a:rPr>
              <a:t>P111</a:t>
            </a:r>
            <a:endParaRPr kumimoji="1" lang="en-US" altLang="zh-CN"/>
          </a:p>
          <a:p>
            <a:endParaRPr kumimoji="1" lang="en-US" altLang="zh-CN"/>
          </a:p>
          <a:p>
            <a:r>
              <a:rPr kumimoji="1" lang="zh-CN" altLang="en-US"/>
              <a:t>这是是通过判断前驱表元指针</a:t>
            </a:r>
            <a:r>
              <a:rPr kumimoji="1" lang="en-US" altLang="zh-CN"/>
              <a:t>w</a:t>
            </a:r>
            <a:r>
              <a:rPr kumimoji="1" lang="zh-CN" altLang="en-US"/>
              <a:t>是否为空 </a:t>
            </a:r>
            <a:r>
              <a:rPr lang="en-US" altLang="zh-CN" sz="1200" b="0"/>
              <a:t> if(</a:t>
            </a:r>
            <a:r>
              <a:rPr lang="en-US" altLang="zh-CN" sz="1200" b="0">
                <a:solidFill>
                  <a:srgbClr val="0066FF"/>
                </a:solidFill>
              </a:rPr>
              <a:t>w==NULL</a:t>
            </a:r>
            <a:r>
              <a:rPr lang="en-US" altLang="zh-CN" sz="1200" b="0"/>
              <a:t>)</a:t>
            </a:r>
            <a:r>
              <a:rPr kumimoji="1" lang="zh-CN" altLang="en-US"/>
              <a:t>，来判断删除的是否是第一个表元（即表头表元）</a:t>
            </a:r>
            <a:endParaRPr kumimoji="1" lang="en-US" altLang="zh-CN"/>
          </a:p>
          <a:p>
            <a:r>
              <a:rPr kumimoji="1" lang="zh-CN" altLang="en-US"/>
              <a:t>等价于上页的 </a:t>
            </a:r>
            <a:r>
              <a:rPr lang="en-US" altLang="zh-CN" sz="1200" b="0"/>
              <a:t>if (</a:t>
            </a:r>
            <a:r>
              <a:rPr lang="en-US" altLang="zh-CN" sz="1200" b="0">
                <a:solidFill>
                  <a:srgbClr val="0066FF"/>
                </a:solidFill>
              </a:rPr>
              <a:t>u == *hpt</a:t>
            </a:r>
            <a:r>
              <a:rPr lang="en-US" altLang="zh-CN" sz="1200" b="0"/>
              <a:t>)</a:t>
            </a:r>
            <a:r>
              <a:rPr lang="zh-CN" altLang="en-US" sz="1200" b="0"/>
              <a:t> 判断</a:t>
            </a:r>
            <a:endParaRPr lang="en-US" altLang="zh-CN" sz="1200" b="0"/>
          </a:p>
          <a:p>
            <a:endParaRPr kumimoji="1" lang="en-US" altLang="zh-CN" sz="1200" b="0"/>
          </a:p>
          <a:p>
            <a:r>
              <a:rPr kumimoji="1" lang="zh-CN" altLang="en-US" sz="1200" b="0"/>
              <a:t>删除指定表元，一定要用到前驱指针 或 涉及到表头指针修改</a:t>
            </a:r>
            <a:endParaRPr kumimoji="1" lang="en-US" altLang="zh-CN"/>
          </a:p>
          <a:p>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120</a:t>
            </a:fld>
            <a:endParaRPr lang="en-US" altLang="zh-CN"/>
          </a:p>
        </p:txBody>
      </p:sp>
    </p:spTree>
    <p:extLst>
      <p:ext uri="{BB962C8B-B14F-4D97-AF65-F5344CB8AC3E}">
        <p14:creationId xmlns:p14="http://schemas.microsoft.com/office/powerpoint/2010/main" val="27060488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sz="1200" b="0">
                <a:solidFill>
                  <a:srgbClr val="0066FF"/>
                </a:solidFill>
              </a:rPr>
              <a:t>searchDOLink</a:t>
            </a:r>
            <a:r>
              <a:rPr lang="zh-CN" altLang="en-US" sz="1200" b="0">
                <a:solidFill>
                  <a:srgbClr val="0066FF"/>
                </a:solidFill>
              </a:rPr>
              <a:t>函数定义在</a:t>
            </a:r>
            <a:r>
              <a:rPr lang="en-US" altLang="zh-CN" sz="1200" b="0">
                <a:solidFill>
                  <a:srgbClr val="0066FF"/>
                </a:solidFill>
              </a:rPr>
              <a:t>P112</a:t>
            </a:r>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121</a:t>
            </a:fld>
            <a:endParaRPr lang="en-US" altLang="zh-CN"/>
          </a:p>
        </p:txBody>
      </p:sp>
    </p:spTree>
    <p:extLst>
      <p:ext uri="{BB962C8B-B14F-4D97-AF65-F5344CB8AC3E}">
        <p14:creationId xmlns:p14="http://schemas.microsoft.com/office/powerpoint/2010/main" val="38982499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zh-CN" altLang="en-US"/>
              <a:t>在有序链表中，如果</a:t>
            </a:r>
            <a:r>
              <a:rPr lang="en-US" altLang="zh-CN" sz="1200" b="0"/>
              <a:t>(u = searchDOLink(*hpt, key, &amp;w)) </a:t>
            </a:r>
            <a:r>
              <a:rPr lang="zh-CN" altLang="en-US" sz="1200" b="0"/>
              <a:t>！</a:t>
            </a:r>
            <a:r>
              <a:rPr lang="en-US" altLang="zh-CN" sz="1200" b="0"/>
              <a:t>= NULL</a:t>
            </a:r>
            <a:r>
              <a:rPr lang="zh-CN" altLang="en-US" sz="1200" b="0"/>
              <a:t> </a:t>
            </a:r>
            <a:r>
              <a:rPr lang="en-US" altLang="zh-CN" sz="1200" b="0"/>
              <a:t>&amp;&amp;</a:t>
            </a:r>
            <a:r>
              <a:rPr lang="zh-CN" altLang="en-US" sz="1200" b="0"/>
              <a:t> </a:t>
            </a:r>
            <a:r>
              <a:rPr lang="en-US" altLang="zh-CN" sz="1200" b="0"/>
              <a:t>u-&gt;value != key</a:t>
            </a:r>
            <a:r>
              <a:rPr lang="zh-CN" altLang="en-US" sz="1200" b="0"/>
              <a:t>，意味着 </a:t>
            </a:r>
            <a:r>
              <a:rPr lang="en-US" altLang="zh-CN" sz="1200" b="0"/>
              <a:t>u-&gt;value &gt; key</a:t>
            </a:r>
            <a:r>
              <a:rPr lang="zh-CN" altLang="en-US" sz="1200" b="0"/>
              <a:t>，也就意味着要在</a:t>
            </a:r>
            <a:r>
              <a:rPr lang="en-US" altLang="zh-CN" sz="1200" b="0"/>
              <a:t>u</a:t>
            </a:r>
            <a:r>
              <a:rPr lang="zh-CN" altLang="en-US" sz="1200" b="0"/>
              <a:t>之前插入</a:t>
            </a:r>
            <a:r>
              <a:rPr lang="en-US" altLang="zh-CN" sz="1200" b="0"/>
              <a:t>key</a:t>
            </a:r>
            <a:r>
              <a:rPr lang="zh-CN" altLang="en-US" sz="1200" b="0"/>
              <a:t>，这里就需要用到前驱表元指针 </a:t>
            </a:r>
            <a:r>
              <a:rPr lang="en-US" altLang="zh-CN" sz="1200" b="0"/>
              <a:t>w</a:t>
            </a:r>
            <a:r>
              <a:rPr lang="zh-CN" altLang="en-US" sz="1200" b="0"/>
              <a:t>，或 表头指针（</a:t>
            </a:r>
            <a:r>
              <a:rPr lang="en-US" altLang="zh-CN" sz="1200" b="0"/>
              <a:t>*hpt</a:t>
            </a:r>
            <a:r>
              <a:rPr lang="zh-CN" altLang="en-US" sz="1200" b="0"/>
              <a:t>）的更新</a:t>
            </a:r>
            <a:endParaRPr kumimoji="1" lang="zh-CN" altLang="en-US"/>
          </a:p>
        </p:txBody>
      </p:sp>
      <p:sp>
        <p:nvSpPr>
          <p:cNvPr id="4" name="灯片编号占位符 3"/>
          <p:cNvSpPr>
            <a:spLocks noGrp="1"/>
          </p:cNvSpPr>
          <p:nvPr>
            <p:ph type="sldNum" sz="quarter" idx="5"/>
          </p:nvPr>
        </p:nvSpPr>
        <p:spPr/>
        <p:txBody>
          <a:bodyPr/>
          <a:lstStyle/>
          <a:p>
            <a:fld id="{B3B6D3AF-80C6-F548-B579-98AA2A1A0E06}" type="slidenum">
              <a:rPr lang="en-US" altLang="zh-CN"/>
              <a:pPr/>
              <a:t>122</a:t>
            </a:fld>
            <a:endParaRPr lang="en-US" altLang="zh-CN"/>
          </a:p>
        </p:txBody>
      </p:sp>
    </p:spTree>
    <p:extLst>
      <p:ext uri="{BB962C8B-B14F-4D97-AF65-F5344CB8AC3E}">
        <p14:creationId xmlns:p14="http://schemas.microsoft.com/office/powerpoint/2010/main" val="21421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F1CD708-9075-3E0B-E76F-2430B7DF809A}"/>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0B2D61B9-165E-E3BF-D9EF-5436A056E5C9}"/>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1ADFE782-1EFF-4851-CA93-98BE8BA6EFDF}"/>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spcBef>
                    <a:spcPct val="20000"/>
                  </a:spcBef>
                  <a:buClr>
                    <a:schemeClr val="folHlink"/>
                  </a:buClr>
                  <a:buSzPct val="60000"/>
                  <a:buFont typeface="Wingdings" panose="05000000000000000000" pitchFamily="2" charset="2"/>
                  <a:buChar char="u"/>
                  <a:defRPr/>
                </a:pPr>
                <a:endParaRPr lang="zh-CN" altLang="en-US"/>
              </a:p>
            </p:txBody>
          </p:sp>
          <p:sp>
            <p:nvSpPr>
              <p:cNvPr id="11" name="Rectangle 5">
                <a:extLst>
                  <a:ext uri="{FF2B5EF4-FFF2-40B4-BE49-F238E27FC236}">
                    <a16:creationId xmlns:a16="http://schemas.microsoft.com/office/drawing/2014/main" id="{85010EBF-ADAF-FEFF-FC6B-2332417907B3}"/>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spcBef>
                    <a:spcPct val="20000"/>
                  </a:spcBef>
                  <a:buClr>
                    <a:schemeClr val="folHlink"/>
                  </a:buClr>
                  <a:buSzPct val="60000"/>
                  <a:buFont typeface="Wingdings" panose="05000000000000000000" pitchFamily="2" charset="2"/>
                  <a:buChar char="u"/>
                  <a:defRPr/>
                </a:pPr>
                <a:endParaRPr lang="zh-CN" altLang="en-US"/>
              </a:p>
            </p:txBody>
          </p:sp>
        </p:grpSp>
        <p:grpSp>
          <p:nvGrpSpPr>
            <p:cNvPr id="4" name="Group 6">
              <a:extLst>
                <a:ext uri="{FF2B5EF4-FFF2-40B4-BE49-F238E27FC236}">
                  <a16:creationId xmlns:a16="http://schemas.microsoft.com/office/drawing/2014/main" id="{AC37EAE1-D491-9617-A64D-80E6BA175CB1}"/>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E0FE8954-D689-0EE8-76B3-B30333C489FA}"/>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spcBef>
                    <a:spcPct val="20000"/>
                  </a:spcBef>
                  <a:buClr>
                    <a:schemeClr val="folHlink"/>
                  </a:buClr>
                  <a:buSzPct val="60000"/>
                  <a:buFont typeface="Wingdings" panose="05000000000000000000" pitchFamily="2" charset="2"/>
                  <a:buChar char="u"/>
                  <a:defRPr/>
                </a:pPr>
                <a:endParaRPr lang="zh-CN" altLang="en-US"/>
              </a:p>
            </p:txBody>
          </p:sp>
          <p:sp>
            <p:nvSpPr>
              <p:cNvPr id="9" name="Rectangle 8">
                <a:extLst>
                  <a:ext uri="{FF2B5EF4-FFF2-40B4-BE49-F238E27FC236}">
                    <a16:creationId xmlns:a16="http://schemas.microsoft.com/office/drawing/2014/main" id="{980ACB43-BE3C-F8AD-22E0-F6430FE45B42}"/>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spcBef>
                    <a:spcPct val="20000"/>
                  </a:spcBef>
                  <a:buClr>
                    <a:schemeClr val="folHlink"/>
                  </a:buClr>
                  <a:buSzPct val="60000"/>
                  <a:buFont typeface="Wingdings" panose="05000000000000000000" pitchFamily="2" charset="2"/>
                  <a:buChar char="u"/>
                  <a:defRPr/>
                </a:pPr>
                <a:endParaRPr lang="zh-CN" altLang="en-US"/>
              </a:p>
            </p:txBody>
          </p:sp>
        </p:grpSp>
        <p:sp>
          <p:nvSpPr>
            <p:cNvPr id="5" name="Rectangle 9">
              <a:extLst>
                <a:ext uri="{FF2B5EF4-FFF2-40B4-BE49-F238E27FC236}">
                  <a16:creationId xmlns:a16="http://schemas.microsoft.com/office/drawing/2014/main" id="{B4174D4A-8468-2344-1473-49406C03086A}"/>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spcBef>
                  <a:spcPct val="20000"/>
                </a:spcBef>
                <a:buClr>
                  <a:schemeClr val="folHlink"/>
                </a:buClr>
                <a:buSzPct val="60000"/>
                <a:buFont typeface="Wingdings" panose="05000000000000000000" pitchFamily="2" charset="2"/>
                <a:buChar char="u"/>
                <a:defRPr/>
              </a:pPr>
              <a:endParaRPr lang="zh-CN" altLang="en-US"/>
            </a:p>
          </p:txBody>
        </p:sp>
        <p:sp>
          <p:nvSpPr>
            <p:cNvPr id="6" name="Rectangle 10">
              <a:extLst>
                <a:ext uri="{FF2B5EF4-FFF2-40B4-BE49-F238E27FC236}">
                  <a16:creationId xmlns:a16="http://schemas.microsoft.com/office/drawing/2014/main" id="{0279BA6A-4002-38EB-CE4B-D59117675C46}"/>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spcBef>
                  <a:spcPct val="20000"/>
                </a:spcBef>
                <a:buClr>
                  <a:schemeClr val="folHlink"/>
                </a:buClr>
                <a:buSzPct val="60000"/>
                <a:buFont typeface="Wingdings" panose="05000000000000000000" pitchFamily="2" charset="2"/>
                <a:buChar char="u"/>
                <a:defRPr/>
              </a:pPr>
              <a:endParaRPr lang="zh-CN" altLang="en-US"/>
            </a:p>
          </p:txBody>
        </p:sp>
        <p:sp>
          <p:nvSpPr>
            <p:cNvPr id="7" name="Rectangle 11">
              <a:extLst>
                <a:ext uri="{FF2B5EF4-FFF2-40B4-BE49-F238E27FC236}">
                  <a16:creationId xmlns:a16="http://schemas.microsoft.com/office/drawing/2014/main" id="{E1A439B9-BEFD-E3DC-AE28-AF7684A22FA0}"/>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spcBef>
                  <a:spcPct val="20000"/>
                </a:spcBef>
                <a:buClr>
                  <a:schemeClr val="folHlink"/>
                </a:buClr>
                <a:buSzPct val="60000"/>
                <a:buFont typeface="Wingdings" panose="05000000000000000000" pitchFamily="2" charset="2"/>
                <a:buChar char="u"/>
                <a:defRPr/>
              </a:pPr>
              <a:endParaRPr lang="zh-CN" altLang="en-US"/>
            </a:p>
          </p:txBody>
        </p:sp>
      </p:grpSp>
      <p:sp>
        <p:nvSpPr>
          <p:cNvPr id="21516"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21517"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12" name="Rectangle 14">
            <a:extLst>
              <a:ext uri="{FF2B5EF4-FFF2-40B4-BE49-F238E27FC236}">
                <a16:creationId xmlns:a16="http://schemas.microsoft.com/office/drawing/2014/main" id="{D38D6E2D-B6C2-151E-21D1-129DD213B41B}"/>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a16="http://schemas.microsoft.com/office/drawing/2014/main" id="{1D10F071-1952-C718-0CEE-DB0299EB01D3}"/>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4" name="Rectangle 16">
            <a:extLst>
              <a:ext uri="{FF2B5EF4-FFF2-40B4-BE49-F238E27FC236}">
                <a16:creationId xmlns:a16="http://schemas.microsoft.com/office/drawing/2014/main" id="{180EDFF7-4769-A4DE-331E-684803833926}"/>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392DB1E6-82F5-1040-A90D-0A26E4B4B030}" type="slidenum">
              <a:rPr lang="en-US" altLang="zh-CN"/>
              <a:pPr/>
              <a:t>‹#›</a:t>
            </a:fld>
            <a:endParaRPr lang="en-US" altLang="zh-CN"/>
          </a:p>
        </p:txBody>
      </p:sp>
    </p:spTree>
    <p:extLst>
      <p:ext uri="{BB962C8B-B14F-4D97-AF65-F5344CB8AC3E}">
        <p14:creationId xmlns:p14="http://schemas.microsoft.com/office/powerpoint/2010/main" val="3753789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7EFABEF5-5023-319A-42F7-56E010AC7BF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D5E5165E-EFEB-C010-6C7B-B3283E4ADCB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1D276A05-9BAA-21C4-0C85-4C0110D6D02D}"/>
              </a:ext>
            </a:extLst>
          </p:cNvPr>
          <p:cNvSpPr>
            <a:spLocks noGrp="1" noChangeArrowheads="1"/>
          </p:cNvSpPr>
          <p:nvPr>
            <p:ph type="sldNum" sz="quarter" idx="12"/>
          </p:nvPr>
        </p:nvSpPr>
        <p:spPr>
          <a:ln/>
        </p:spPr>
        <p:txBody>
          <a:bodyPr/>
          <a:lstStyle>
            <a:lvl1pPr>
              <a:defRPr/>
            </a:lvl1pPr>
          </a:lstStyle>
          <a:p>
            <a:fld id="{5D641738-26C5-EA48-A913-7ED37032E70C}" type="slidenum">
              <a:rPr lang="en-US" altLang="zh-CN"/>
              <a:pPr/>
              <a:t>‹#›</a:t>
            </a:fld>
            <a:endParaRPr lang="en-US" altLang="zh-CN"/>
          </a:p>
        </p:txBody>
      </p:sp>
    </p:spTree>
    <p:extLst>
      <p:ext uri="{BB962C8B-B14F-4D97-AF65-F5344CB8AC3E}">
        <p14:creationId xmlns:p14="http://schemas.microsoft.com/office/powerpoint/2010/main" val="3344388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2C9ABF17-5AB4-8F9F-C2DF-4F180001D40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4B12CD91-9339-4EC4-F3D5-B774CC3D23F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2C695B35-C07A-79E2-7959-2CFFA46490FA}"/>
              </a:ext>
            </a:extLst>
          </p:cNvPr>
          <p:cNvSpPr>
            <a:spLocks noGrp="1" noChangeArrowheads="1"/>
          </p:cNvSpPr>
          <p:nvPr>
            <p:ph type="sldNum" sz="quarter" idx="12"/>
          </p:nvPr>
        </p:nvSpPr>
        <p:spPr>
          <a:ln/>
        </p:spPr>
        <p:txBody>
          <a:bodyPr/>
          <a:lstStyle>
            <a:lvl1pPr>
              <a:defRPr/>
            </a:lvl1pPr>
          </a:lstStyle>
          <a:p>
            <a:fld id="{5BC202B8-F31A-D84B-810A-CE7F3E0E6FCE}" type="slidenum">
              <a:rPr lang="en-US" altLang="zh-CN"/>
              <a:pPr/>
              <a:t>‹#›</a:t>
            </a:fld>
            <a:endParaRPr lang="en-US" altLang="zh-CN"/>
          </a:p>
        </p:txBody>
      </p:sp>
    </p:spTree>
    <p:extLst>
      <p:ext uri="{BB962C8B-B14F-4D97-AF65-F5344CB8AC3E}">
        <p14:creationId xmlns:p14="http://schemas.microsoft.com/office/powerpoint/2010/main" val="2406210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27088" y="1628775"/>
            <a:ext cx="39878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967288" y="1628775"/>
            <a:ext cx="39878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73D9C3EE-D42F-E4D3-0A1A-076E54AAA1A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E54E803E-FF2F-DF2C-04B1-2F669C9B708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AB0586BF-B210-4491-7374-768064963244}"/>
              </a:ext>
            </a:extLst>
          </p:cNvPr>
          <p:cNvSpPr>
            <a:spLocks noGrp="1" noChangeArrowheads="1"/>
          </p:cNvSpPr>
          <p:nvPr>
            <p:ph type="sldNum" sz="quarter" idx="12"/>
          </p:nvPr>
        </p:nvSpPr>
        <p:spPr>
          <a:ln/>
        </p:spPr>
        <p:txBody>
          <a:bodyPr/>
          <a:lstStyle>
            <a:lvl1pPr>
              <a:defRPr/>
            </a:lvl1pPr>
          </a:lstStyle>
          <a:p>
            <a:fld id="{4850D077-528C-624B-A699-F12645F5F9B4}" type="slidenum">
              <a:rPr lang="en-US" altLang="zh-CN"/>
              <a:pPr/>
              <a:t>‹#›</a:t>
            </a:fld>
            <a:endParaRPr lang="en-US" altLang="zh-CN"/>
          </a:p>
        </p:txBody>
      </p:sp>
    </p:spTree>
    <p:extLst>
      <p:ext uri="{BB962C8B-B14F-4D97-AF65-F5344CB8AC3E}">
        <p14:creationId xmlns:p14="http://schemas.microsoft.com/office/powerpoint/2010/main" val="3603979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5F043364-372B-2344-D648-66F3BAE5CF1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487C1189-FEC4-1C18-BFC2-383A332B16B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5B57E3EF-7E64-92BB-E2C8-9F73E25701A7}"/>
              </a:ext>
            </a:extLst>
          </p:cNvPr>
          <p:cNvSpPr>
            <a:spLocks noGrp="1" noChangeArrowheads="1"/>
          </p:cNvSpPr>
          <p:nvPr>
            <p:ph type="sldNum" sz="quarter" idx="12"/>
          </p:nvPr>
        </p:nvSpPr>
        <p:spPr>
          <a:ln/>
        </p:spPr>
        <p:txBody>
          <a:bodyPr/>
          <a:lstStyle>
            <a:lvl1pPr>
              <a:defRPr/>
            </a:lvl1pPr>
          </a:lstStyle>
          <a:p>
            <a:fld id="{566CA286-99B1-204E-AB9B-EC73A4F09BA0}" type="slidenum">
              <a:rPr lang="en-US" altLang="zh-CN"/>
              <a:pPr/>
              <a:t>‹#›</a:t>
            </a:fld>
            <a:endParaRPr lang="en-US" altLang="zh-CN"/>
          </a:p>
        </p:txBody>
      </p:sp>
    </p:spTree>
    <p:extLst>
      <p:ext uri="{BB962C8B-B14F-4D97-AF65-F5344CB8AC3E}">
        <p14:creationId xmlns:p14="http://schemas.microsoft.com/office/powerpoint/2010/main" val="2619235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20695C22-97D0-2131-BFD9-D28BB64348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4190DF06-3325-A0C7-7CC8-FDC1D78A44E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F03D1D7F-A172-2A9A-C9D2-289568C8DF89}"/>
              </a:ext>
            </a:extLst>
          </p:cNvPr>
          <p:cNvSpPr>
            <a:spLocks noGrp="1" noChangeArrowheads="1"/>
          </p:cNvSpPr>
          <p:nvPr>
            <p:ph type="sldNum" sz="quarter" idx="12"/>
          </p:nvPr>
        </p:nvSpPr>
        <p:spPr>
          <a:ln/>
        </p:spPr>
        <p:txBody>
          <a:bodyPr/>
          <a:lstStyle>
            <a:lvl1pPr>
              <a:defRPr/>
            </a:lvl1pPr>
          </a:lstStyle>
          <a:p>
            <a:fld id="{8429FCA2-3C23-4C41-9BFB-4EB764C84D17}" type="slidenum">
              <a:rPr lang="en-US" altLang="zh-CN"/>
              <a:pPr/>
              <a:t>‹#›</a:t>
            </a:fld>
            <a:endParaRPr lang="en-US" altLang="zh-CN"/>
          </a:p>
        </p:txBody>
      </p:sp>
    </p:spTree>
    <p:extLst>
      <p:ext uri="{BB962C8B-B14F-4D97-AF65-F5344CB8AC3E}">
        <p14:creationId xmlns:p14="http://schemas.microsoft.com/office/powerpoint/2010/main" val="3074177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EFE41FF0-9AE7-6173-0485-4556C45F97D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D77EC996-6371-E1D4-D564-8ACA53DD7FD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03F43A10-11BA-4AB9-59C8-EFB691A68418}"/>
              </a:ext>
            </a:extLst>
          </p:cNvPr>
          <p:cNvSpPr>
            <a:spLocks noGrp="1" noChangeArrowheads="1"/>
          </p:cNvSpPr>
          <p:nvPr>
            <p:ph type="sldNum" sz="quarter" idx="12"/>
          </p:nvPr>
        </p:nvSpPr>
        <p:spPr>
          <a:ln/>
        </p:spPr>
        <p:txBody>
          <a:bodyPr/>
          <a:lstStyle>
            <a:lvl1pPr>
              <a:defRPr/>
            </a:lvl1pPr>
          </a:lstStyle>
          <a:p>
            <a:fld id="{CFC40BA9-76B0-7E45-BDFB-037A653B4D4E}" type="slidenum">
              <a:rPr lang="en-US" altLang="zh-CN"/>
              <a:pPr/>
              <a:t>‹#›</a:t>
            </a:fld>
            <a:endParaRPr lang="en-US" altLang="zh-CN"/>
          </a:p>
        </p:txBody>
      </p:sp>
    </p:spTree>
    <p:extLst>
      <p:ext uri="{BB962C8B-B14F-4D97-AF65-F5344CB8AC3E}">
        <p14:creationId xmlns:p14="http://schemas.microsoft.com/office/powerpoint/2010/main" val="801575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2D4AA013-DFBD-2C2C-1244-C13A87C649B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61662C37-66A1-A18F-4E73-345402E3695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35FE3AAA-0EE2-4B0B-9187-6873E1D0AED0}"/>
              </a:ext>
            </a:extLst>
          </p:cNvPr>
          <p:cNvSpPr>
            <a:spLocks noGrp="1" noChangeArrowheads="1"/>
          </p:cNvSpPr>
          <p:nvPr>
            <p:ph type="sldNum" sz="quarter" idx="12"/>
          </p:nvPr>
        </p:nvSpPr>
        <p:spPr>
          <a:ln/>
        </p:spPr>
        <p:txBody>
          <a:bodyPr/>
          <a:lstStyle>
            <a:lvl1pPr>
              <a:defRPr/>
            </a:lvl1pPr>
          </a:lstStyle>
          <a:p>
            <a:fld id="{2566C696-2D81-4142-AE60-175458C7574D}" type="slidenum">
              <a:rPr lang="en-US" altLang="zh-CN"/>
              <a:pPr/>
              <a:t>‹#›</a:t>
            </a:fld>
            <a:endParaRPr lang="en-US" altLang="zh-CN"/>
          </a:p>
        </p:txBody>
      </p:sp>
    </p:spTree>
    <p:extLst>
      <p:ext uri="{BB962C8B-B14F-4D97-AF65-F5344CB8AC3E}">
        <p14:creationId xmlns:p14="http://schemas.microsoft.com/office/powerpoint/2010/main" val="383397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6C5A49E0-BA31-0495-ABC0-556E35A0208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7F1E9917-7BF3-A376-105D-03A30040FFE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CC85320D-B1A8-D4B5-54FF-49C2E69AA793}"/>
              </a:ext>
            </a:extLst>
          </p:cNvPr>
          <p:cNvSpPr>
            <a:spLocks noGrp="1" noChangeArrowheads="1"/>
          </p:cNvSpPr>
          <p:nvPr>
            <p:ph type="sldNum" sz="quarter" idx="12"/>
          </p:nvPr>
        </p:nvSpPr>
        <p:spPr>
          <a:ln/>
        </p:spPr>
        <p:txBody>
          <a:bodyPr/>
          <a:lstStyle>
            <a:lvl1pPr>
              <a:defRPr/>
            </a:lvl1pPr>
          </a:lstStyle>
          <a:p>
            <a:fld id="{67F25ABE-FDB6-5141-ACAE-0BB9FACB423E}" type="slidenum">
              <a:rPr lang="en-US" altLang="zh-CN"/>
              <a:pPr/>
              <a:t>‹#›</a:t>
            </a:fld>
            <a:endParaRPr lang="en-US" altLang="zh-CN"/>
          </a:p>
        </p:txBody>
      </p:sp>
    </p:spTree>
    <p:extLst>
      <p:ext uri="{BB962C8B-B14F-4D97-AF65-F5344CB8AC3E}">
        <p14:creationId xmlns:p14="http://schemas.microsoft.com/office/powerpoint/2010/main" val="3849054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7EE388C8-8BF0-A93D-615A-EABE8CA7960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1367DB27-1AA1-6B28-6B8C-5548A61A554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8B189BE3-FE3D-4048-79C9-8C8EC4978A3B}"/>
              </a:ext>
            </a:extLst>
          </p:cNvPr>
          <p:cNvSpPr>
            <a:spLocks noGrp="1" noChangeArrowheads="1"/>
          </p:cNvSpPr>
          <p:nvPr>
            <p:ph type="sldNum" sz="quarter" idx="12"/>
          </p:nvPr>
        </p:nvSpPr>
        <p:spPr>
          <a:ln/>
        </p:spPr>
        <p:txBody>
          <a:bodyPr/>
          <a:lstStyle>
            <a:lvl1pPr>
              <a:defRPr/>
            </a:lvl1pPr>
          </a:lstStyle>
          <a:p>
            <a:fld id="{8B18A35E-BD12-EA4F-AE3C-354ACD96742B}" type="slidenum">
              <a:rPr lang="en-US" altLang="zh-CN"/>
              <a:pPr/>
              <a:t>‹#›</a:t>
            </a:fld>
            <a:endParaRPr lang="en-US" altLang="zh-CN"/>
          </a:p>
        </p:txBody>
      </p:sp>
    </p:spTree>
    <p:extLst>
      <p:ext uri="{BB962C8B-B14F-4D97-AF65-F5344CB8AC3E}">
        <p14:creationId xmlns:p14="http://schemas.microsoft.com/office/powerpoint/2010/main" val="1546117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23088" y="333375"/>
            <a:ext cx="2032000" cy="57991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27088" y="333375"/>
            <a:ext cx="5943600" cy="57991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7AF63FC2-0BC4-4500-1365-3C7C9FC0192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E66CF23A-910E-E9ED-89DC-07064EEDD5E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679FCD52-B342-F9F6-5BA2-288EE6B78376}"/>
              </a:ext>
            </a:extLst>
          </p:cNvPr>
          <p:cNvSpPr>
            <a:spLocks noGrp="1" noChangeArrowheads="1"/>
          </p:cNvSpPr>
          <p:nvPr>
            <p:ph type="sldNum" sz="quarter" idx="12"/>
          </p:nvPr>
        </p:nvSpPr>
        <p:spPr>
          <a:ln/>
        </p:spPr>
        <p:txBody>
          <a:bodyPr/>
          <a:lstStyle>
            <a:lvl1pPr>
              <a:defRPr/>
            </a:lvl1pPr>
          </a:lstStyle>
          <a:p>
            <a:fld id="{9DE12992-F26B-B74E-98F7-D92479A51FBD}" type="slidenum">
              <a:rPr lang="en-US" altLang="zh-CN"/>
              <a:pPr/>
              <a:t>‹#›</a:t>
            </a:fld>
            <a:endParaRPr lang="en-US" altLang="zh-CN"/>
          </a:p>
        </p:txBody>
      </p:sp>
    </p:spTree>
    <p:extLst>
      <p:ext uri="{BB962C8B-B14F-4D97-AF65-F5344CB8AC3E}">
        <p14:creationId xmlns:p14="http://schemas.microsoft.com/office/powerpoint/2010/main" val="4022366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8055A1F-6238-4390-89D6-6FC27352EF6F}"/>
              </a:ext>
            </a:extLst>
          </p:cNvPr>
          <p:cNvSpPr>
            <a:spLocks noChangeArrowheads="1"/>
          </p:cNvSpPr>
          <p:nvPr/>
        </p:nvSpPr>
        <p:spPr bwMode="ltGray">
          <a:xfrm>
            <a:off x="417513" y="80010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defRPr/>
            </a:pPr>
            <a:endParaRPr kumimoji="1" lang="zh-CN" altLang="zh-CN" sz="2400" i="0">
              <a:latin typeface="Tahoma" panose="020B0604030504040204" pitchFamily="34" charset="0"/>
              <a:ea typeface="宋体" panose="02010600030101010101" pitchFamily="2" charset="-122"/>
            </a:endParaRPr>
          </a:p>
        </p:txBody>
      </p:sp>
      <p:sp>
        <p:nvSpPr>
          <p:cNvPr id="1027" name="Rectangle 3">
            <a:extLst>
              <a:ext uri="{FF2B5EF4-FFF2-40B4-BE49-F238E27FC236}">
                <a16:creationId xmlns:a16="http://schemas.microsoft.com/office/drawing/2014/main" id="{4FD12DAE-0960-40CB-A279-15B4F3CCA80B}"/>
              </a:ext>
            </a:extLst>
          </p:cNvPr>
          <p:cNvSpPr>
            <a:spLocks noChangeArrowheads="1"/>
          </p:cNvSpPr>
          <p:nvPr/>
        </p:nvSpPr>
        <p:spPr bwMode="ltGray">
          <a:xfrm>
            <a:off x="800100" y="80010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defRPr/>
            </a:pPr>
            <a:endParaRPr kumimoji="1" lang="zh-CN" altLang="zh-CN" sz="2400" i="0">
              <a:latin typeface="Tahoma" panose="020B0604030504040204" pitchFamily="34" charset="0"/>
              <a:ea typeface="宋体" panose="02010600030101010101" pitchFamily="2" charset="-122"/>
            </a:endParaRPr>
          </a:p>
        </p:txBody>
      </p:sp>
      <p:sp>
        <p:nvSpPr>
          <p:cNvPr id="1028" name="Rectangle 4">
            <a:extLst>
              <a:ext uri="{FF2B5EF4-FFF2-40B4-BE49-F238E27FC236}">
                <a16:creationId xmlns:a16="http://schemas.microsoft.com/office/drawing/2014/main" id="{5BB8ACCF-5FD7-43F2-BF77-D2D0AE2BFA06}"/>
              </a:ext>
            </a:extLst>
          </p:cNvPr>
          <p:cNvSpPr>
            <a:spLocks noChangeArrowheads="1"/>
          </p:cNvSpPr>
          <p:nvPr/>
        </p:nvSpPr>
        <p:spPr bwMode="ltGray">
          <a:xfrm>
            <a:off x="541338" y="122237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defRPr/>
            </a:pPr>
            <a:endParaRPr kumimoji="1" lang="zh-CN" altLang="zh-CN" sz="2400" i="0">
              <a:latin typeface="Tahoma" panose="020B0604030504040204" pitchFamily="34" charset="0"/>
              <a:ea typeface="宋体" panose="02010600030101010101" pitchFamily="2" charset="-122"/>
            </a:endParaRPr>
          </a:p>
        </p:txBody>
      </p:sp>
      <p:sp>
        <p:nvSpPr>
          <p:cNvPr id="1029" name="Rectangle 5">
            <a:extLst>
              <a:ext uri="{FF2B5EF4-FFF2-40B4-BE49-F238E27FC236}">
                <a16:creationId xmlns:a16="http://schemas.microsoft.com/office/drawing/2014/main" id="{BFABEFBF-12F1-401B-96D6-B6A21BF726BE}"/>
              </a:ext>
            </a:extLst>
          </p:cNvPr>
          <p:cNvSpPr>
            <a:spLocks noChangeArrowheads="1"/>
          </p:cNvSpPr>
          <p:nvPr/>
        </p:nvSpPr>
        <p:spPr bwMode="ltGray">
          <a:xfrm>
            <a:off x="911225" y="122237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defRPr/>
            </a:pPr>
            <a:endParaRPr kumimoji="1" lang="zh-CN" altLang="zh-CN" sz="2400" i="0">
              <a:latin typeface="Tahoma" panose="020B0604030504040204" pitchFamily="34" charset="0"/>
              <a:ea typeface="宋体" panose="02010600030101010101" pitchFamily="2" charset="-122"/>
            </a:endParaRPr>
          </a:p>
        </p:txBody>
      </p:sp>
      <p:sp>
        <p:nvSpPr>
          <p:cNvPr id="1030" name="Rectangle 6">
            <a:extLst>
              <a:ext uri="{FF2B5EF4-FFF2-40B4-BE49-F238E27FC236}">
                <a16:creationId xmlns:a16="http://schemas.microsoft.com/office/drawing/2014/main" id="{AB8308F3-12FA-428B-9ACB-A530ACA3E572}"/>
              </a:ext>
            </a:extLst>
          </p:cNvPr>
          <p:cNvSpPr>
            <a:spLocks noChangeArrowheads="1"/>
          </p:cNvSpPr>
          <p:nvPr/>
        </p:nvSpPr>
        <p:spPr bwMode="ltGray">
          <a:xfrm>
            <a:off x="127000" y="114935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defRPr/>
            </a:pPr>
            <a:endParaRPr kumimoji="1" lang="zh-CN" altLang="zh-CN" sz="2400" i="0">
              <a:latin typeface="Tahoma" panose="020B0604030504040204" pitchFamily="34" charset="0"/>
              <a:ea typeface="宋体" panose="02010600030101010101" pitchFamily="2" charset="-122"/>
            </a:endParaRPr>
          </a:p>
        </p:txBody>
      </p:sp>
      <p:sp>
        <p:nvSpPr>
          <p:cNvPr id="1031" name="Rectangle 7">
            <a:extLst>
              <a:ext uri="{FF2B5EF4-FFF2-40B4-BE49-F238E27FC236}">
                <a16:creationId xmlns:a16="http://schemas.microsoft.com/office/drawing/2014/main" id="{0311A1B5-E528-49D1-B6A4-4E6BFC821318}"/>
              </a:ext>
            </a:extLst>
          </p:cNvPr>
          <p:cNvSpPr>
            <a:spLocks noChangeArrowheads="1"/>
          </p:cNvSpPr>
          <p:nvPr/>
        </p:nvSpPr>
        <p:spPr bwMode="gray">
          <a:xfrm>
            <a:off x="762000" y="69215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defRPr/>
            </a:pPr>
            <a:endParaRPr kumimoji="1" lang="zh-CN" altLang="zh-CN" sz="2400" i="0">
              <a:latin typeface="Tahoma" panose="020B0604030504040204" pitchFamily="34" charset="0"/>
              <a:ea typeface="宋体" panose="02010600030101010101" pitchFamily="2" charset="-122"/>
            </a:endParaRPr>
          </a:p>
        </p:txBody>
      </p:sp>
      <p:sp>
        <p:nvSpPr>
          <p:cNvPr id="1032" name="Rectangle 8">
            <a:extLst>
              <a:ext uri="{FF2B5EF4-FFF2-40B4-BE49-F238E27FC236}">
                <a16:creationId xmlns:a16="http://schemas.microsoft.com/office/drawing/2014/main" id="{3E9D5F55-CD56-4104-B8D8-A9D7FFF2B329}"/>
              </a:ext>
            </a:extLst>
          </p:cNvPr>
          <p:cNvSpPr>
            <a:spLocks noChangeArrowheads="1"/>
          </p:cNvSpPr>
          <p:nvPr/>
        </p:nvSpPr>
        <p:spPr bwMode="gray">
          <a:xfrm>
            <a:off x="442913" y="148272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i="1">
                <a:solidFill>
                  <a:schemeClr val="tx1"/>
                </a:solidFill>
                <a:latin typeface="Arial Unicode MS" pitchFamily="34" charset="-122"/>
                <a:ea typeface="楷体_GB2312" pitchFamily="49" charset="-122"/>
              </a:defRPr>
            </a:lvl1pPr>
            <a:lvl2pPr marL="742950" indent="-285750" eaLnBrk="0" hangingPunct="0">
              <a:defRPr sz="3200" i="1">
                <a:solidFill>
                  <a:schemeClr val="tx1"/>
                </a:solidFill>
                <a:latin typeface="Arial Unicode MS" pitchFamily="34" charset="-122"/>
                <a:ea typeface="楷体_GB2312" pitchFamily="49" charset="-122"/>
              </a:defRPr>
            </a:lvl2pPr>
            <a:lvl3pPr marL="1143000" indent="-228600" eaLnBrk="0" hangingPunct="0">
              <a:defRPr sz="3200" i="1">
                <a:solidFill>
                  <a:schemeClr val="tx1"/>
                </a:solidFill>
                <a:latin typeface="Arial Unicode MS" pitchFamily="34" charset="-122"/>
                <a:ea typeface="楷体_GB2312" pitchFamily="49" charset="-122"/>
              </a:defRPr>
            </a:lvl3pPr>
            <a:lvl4pPr marL="1600200" indent="-228600" eaLnBrk="0" hangingPunct="0">
              <a:defRPr sz="3200" i="1">
                <a:solidFill>
                  <a:schemeClr val="tx1"/>
                </a:solidFill>
                <a:latin typeface="Arial Unicode MS" pitchFamily="34" charset="-122"/>
                <a:ea typeface="楷体_GB2312" pitchFamily="49" charset="-122"/>
              </a:defRPr>
            </a:lvl4pPr>
            <a:lvl5pPr marL="2057400" indent="-228600" eaLnBrk="0" hangingPunct="0">
              <a:defRPr sz="3200" i="1">
                <a:solidFill>
                  <a:schemeClr val="tx1"/>
                </a:solidFill>
                <a:latin typeface="Arial Unicode MS" pitchFamily="34" charset="-122"/>
                <a:ea typeface="楷体_GB2312" pitchFamily="49" charset="-122"/>
              </a:defRPr>
            </a:lvl5pPr>
            <a:lvl6pPr marL="25146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6pPr>
            <a:lvl7pPr marL="29718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7pPr>
            <a:lvl8pPr marL="34290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8pPr>
            <a:lvl9pPr marL="3886200" indent="-228600" algn="ctr" eaLnBrk="0" fontAlgn="base" hangingPunct="0">
              <a:spcBef>
                <a:spcPct val="20000"/>
              </a:spcBef>
              <a:spcAft>
                <a:spcPct val="0"/>
              </a:spcAft>
              <a:buClr>
                <a:schemeClr val="folHlink"/>
              </a:buClr>
              <a:buSzPct val="60000"/>
              <a:buFont typeface="Wingdings" panose="05000000000000000000" pitchFamily="2" charset="2"/>
              <a:buChar char="u"/>
              <a:defRPr sz="3200" i="1">
                <a:solidFill>
                  <a:schemeClr val="tx1"/>
                </a:solidFill>
                <a:latin typeface="Arial Unicode MS" pitchFamily="34" charset="-122"/>
                <a:ea typeface="楷体_GB2312" pitchFamily="49" charset="-122"/>
              </a:defRPr>
            </a:lvl9pPr>
          </a:lstStyle>
          <a:p>
            <a:pPr algn="ctr" eaLnBrk="1" hangingPunct="1">
              <a:defRPr/>
            </a:pPr>
            <a:endParaRPr kumimoji="1" lang="zh-CN" altLang="zh-CN" sz="2400" i="0">
              <a:latin typeface="Tahoma" panose="020B0604030504040204" pitchFamily="34" charset="0"/>
              <a:ea typeface="宋体" panose="02010600030101010101" pitchFamily="2" charset="-122"/>
            </a:endParaRPr>
          </a:p>
        </p:txBody>
      </p:sp>
      <p:sp>
        <p:nvSpPr>
          <p:cNvPr id="1033" name="Rectangle 9">
            <a:extLst>
              <a:ext uri="{FF2B5EF4-FFF2-40B4-BE49-F238E27FC236}">
                <a16:creationId xmlns:a16="http://schemas.microsoft.com/office/drawing/2014/main" id="{49DEFCD2-A835-3C01-74AA-C0BB76A98948}"/>
              </a:ext>
            </a:extLst>
          </p:cNvPr>
          <p:cNvSpPr>
            <a:spLocks noGrp="1" noChangeArrowheads="1"/>
          </p:cNvSpPr>
          <p:nvPr>
            <p:ph type="title"/>
          </p:nvPr>
        </p:nvSpPr>
        <p:spPr bwMode="auto">
          <a:xfrm>
            <a:off x="900113" y="333375"/>
            <a:ext cx="7793037"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3CC2ADD1-7BDF-8FD6-36ED-B86332CF6F0E}"/>
              </a:ext>
            </a:extLst>
          </p:cNvPr>
          <p:cNvSpPr>
            <a:spLocks noGrp="1" noChangeArrowheads="1"/>
          </p:cNvSpPr>
          <p:nvPr>
            <p:ph type="body" idx="1"/>
          </p:nvPr>
        </p:nvSpPr>
        <p:spPr bwMode="auto">
          <a:xfrm>
            <a:off x="827088" y="1628775"/>
            <a:ext cx="8128000" cy="450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491" name="Rectangle 11">
            <a:extLst>
              <a:ext uri="{FF2B5EF4-FFF2-40B4-BE49-F238E27FC236}">
                <a16:creationId xmlns:a16="http://schemas.microsoft.com/office/drawing/2014/main" id="{7556978C-BA93-4A0F-A833-CD0E396FF9C6}"/>
              </a:ext>
            </a:extLst>
          </p:cNvPr>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spcBef>
                <a:spcPct val="0"/>
              </a:spcBef>
              <a:buClrTx/>
              <a:buSzTx/>
              <a:buFontTx/>
              <a:buNone/>
              <a:defRPr sz="1400" i="0">
                <a:latin typeface="+mn-lt"/>
                <a:ea typeface="宋体" charset="-122"/>
              </a:defRPr>
            </a:lvl1pPr>
          </a:lstStyle>
          <a:p>
            <a:pPr>
              <a:defRPr/>
            </a:pPr>
            <a:endParaRPr lang="en-US" altLang="zh-CN"/>
          </a:p>
        </p:txBody>
      </p:sp>
      <p:sp>
        <p:nvSpPr>
          <p:cNvPr id="20492" name="Rectangle 12">
            <a:extLst>
              <a:ext uri="{FF2B5EF4-FFF2-40B4-BE49-F238E27FC236}">
                <a16:creationId xmlns:a16="http://schemas.microsoft.com/office/drawing/2014/main" id="{A4385E04-CBEB-4359-9EF6-73584510935C}"/>
              </a:ext>
            </a:extLst>
          </p:cNvPr>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spcBef>
                <a:spcPct val="0"/>
              </a:spcBef>
              <a:buClrTx/>
              <a:buSzTx/>
              <a:buFontTx/>
              <a:buNone/>
              <a:defRPr sz="1400" i="0">
                <a:latin typeface="+mn-lt"/>
                <a:ea typeface="宋体" charset="-122"/>
              </a:defRPr>
            </a:lvl1pPr>
          </a:lstStyle>
          <a:p>
            <a:pPr>
              <a:defRPr/>
            </a:pPr>
            <a:endParaRPr lang="en-US" altLang="zh-CN"/>
          </a:p>
        </p:txBody>
      </p:sp>
      <p:sp>
        <p:nvSpPr>
          <p:cNvPr id="20493" name="Rectangle 13">
            <a:extLst>
              <a:ext uri="{FF2B5EF4-FFF2-40B4-BE49-F238E27FC236}">
                <a16:creationId xmlns:a16="http://schemas.microsoft.com/office/drawing/2014/main" id="{062BAE40-10CA-462E-8504-0298E6672869}"/>
              </a:ext>
            </a:extLst>
          </p:cNvPr>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i="0">
                <a:latin typeface="Tahoma" panose="020B0604030504040204" pitchFamily="34" charset="0"/>
                <a:ea typeface="宋体" panose="02010600030101010101" pitchFamily="2" charset="-122"/>
              </a:defRPr>
            </a:lvl1pPr>
          </a:lstStyle>
          <a:p>
            <a:fld id="{392C17BC-11C2-8241-AA1B-B1DB227F974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Unicode MS" pitchFamily="34" charset="-122"/>
          <a:ea typeface="华文隶书" pitchFamily="2" charset="-122"/>
        </a:defRPr>
      </a:lvl2pPr>
      <a:lvl3pPr algn="l" rtl="0" eaLnBrk="0" fontAlgn="base" hangingPunct="0">
        <a:spcBef>
          <a:spcPct val="0"/>
        </a:spcBef>
        <a:spcAft>
          <a:spcPct val="0"/>
        </a:spcAft>
        <a:defRPr sz="4400" b="1">
          <a:solidFill>
            <a:schemeClr val="tx2"/>
          </a:solidFill>
          <a:latin typeface="Arial Unicode MS" pitchFamily="34" charset="-122"/>
          <a:ea typeface="华文隶书" pitchFamily="2" charset="-122"/>
        </a:defRPr>
      </a:lvl3pPr>
      <a:lvl4pPr algn="l" rtl="0" eaLnBrk="0" fontAlgn="base" hangingPunct="0">
        <a:spcBef>
          <a:spcPct val="0"/>
        </a:spcBef>
        <a:spcAft>
          <a:spcPct val="0"/>
        </a:spcAft>
        <a:defRPr sz="4400" b="1">
          <a:solidFill>
            <a:schemeClr val="tx2"/>
          </a:solidFill>
          <a:latin typeface="Arial Unicode MS" pitchFamily="34" charset="-122"/>
          <a:ea typeface="华文隶书" pitchFamily="2" charset="-122"/>
        </a:defRPr>
      </a:lvl4pPr>
      <a:lvl5pPr algn="l" rtl="0" eaLnBrk="0" fontAlgn="base" hangingPunct="0">
        <a:spcBef>
          <a:spcPct val="0"/>
        </a:spcBef>
        <a:spcAft>
          <a:spcPct val="0"/>
        </a:spcAft>
        <a:defRPr sz="4400" b="1">
          <a:solidFill>
            <a:schemeClr val="tx2"/>
          </a:solidFill>
          <a:latin typeface="Arial Unicode MS" pitchFamily="34" charset="-122"/>
          <a:ea typeface="华文隶书" pitchFamily="2" charset="-122"/>
        </a:defRPr>
      </a:lvl5pPr>
      <a:lvl6pPr marL="457200" algn="l" rtl="0" fontAlgn="base">
        <a:spcBef>
          <a:spcPct val="0"/>
        </a:spcBef>
        <a:spcAft>
          <a:spcPct val="0"/>
        </a:spcAft>
        <a:defRPr sz="4400" b="1">
          <a:solidFill>
            <a:schemeClr val="tx2"/>
          </a:solidFill>
          <a:latin typeface="Arial Unicode MS" pitchFamily="34" charset="-122"/>
          <a:ea typeface="华文隶书" pitchFamily="2" charset="-122"/>
        </a:defRPr>
      </a:lvl6pPr>
      <a:lvl7pPr marL="914400" algn="l" rtl="0" fontAlgn="base">
        <a:spcBef>
          <a:spcPct val="0"/>
        </a:spcBef>
        <a:spcAft>
          <a:spcPct val="0"/>
        </a:spcAft>
        <a:defRPr sz="4400" b="1">
          <a:solidFill>
            <a:schemeClr val="tx2"/>
          </a:solidFill>
          <a:latin typeface="Arial Unicode MS" pitchFamily="34" charset="-122"/>
          <a:ea typeface="华文隶书" pitchFamily="2" charset="-122"/>
        </a:defRPr>
      </a:lvl7pPr>
      <a:lvl8pPr marL="1371600" algn="l" rtl="0" fontAlgn="base">
        <a:spcBef>
          <a:spcPct val="0"/>
        </a:spcBef>
        <a:spcAft>
          <a:spcPct val="0"/>
        </a:spcAft>
        <a:defRPr sz="4400" b="1">
          <a:solidFill>
            <a:schemeClr val="tx2"/>
          </a:solidFill>
          <a:latin typeface="Arial Unicode MS" pitchFamily="34" charset="-122"/>
          <a:ea typeface="华文隶书" pitchFamily="2" charset="-122"/>
        </a:defRPr>
      </a:lvl8pPr>
      <a:lvl9pPr marL="1828800" algn="l" rtl="0" fontAlgn="base">
        <a:spcBef>
          <a:spcPct val="0"/>
        </a:spcBef>
        <a:spcAft>
          <a:spcPct val="0"/>
        </a:spcAft>
        <a:defRPr sz="4400" b="1">
          <a:solidFill>
            <a:schemeClr val="tx2"/>
          </a:solidFill>
          <a:latin typeface="Arial Unicode MS" pitchFamily="34" charset="-122"/>
          <a:ea typeface="华文隶书"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images.google.com/imgres?imgurl=http://lib.bicea.edu.cn/jsjwh/tools/pc.jpg&amp;imgrefurl=http://lib.bicea.edu.cn/jsjwh/index.htm&amp;h=327&amp;w=300&amp;sz=21&amp;hl=zh-CN&amp;start=292&amp;tbnid=qLAHl96qtX_H8M:&amp;tbnh=118&amp;tbnw=108&amp;prev=/images%3Fq%3D%25E8%25AE%25A1%25E7%25AE%2597%25E6%259C%25BA%2B%25E5%259F%25BA%25E7%25A1%2580%26start%3D280%26gbv%3D2%26ndsp%3D20%26svnum%3D10%26hl%3Dzh-CN%26newwindow%3D1%26sa%3D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hyperlink" Target="&#31532;4&#21608;%20%20&#20316;&#19994;.ppt#-1,1,PowerPoint &#28436;&#31034;&#25991;&#31295;" TargetMode="External"/><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4">
            <a:extLst>
              <a:ext uri="{FF2B5EF4-FFF2-40B4-BE49-F238E27FC236}">
                <a16:creationId xmlns:a16="http://schemas.microsoft.com/office/drawing/2014/main" id="{24BB8495-A11D-C729-0DA6-4D1CD3A79720}"/>
              </a:ext>
            </a:extLst>
          </p:cNvPr>
          <p:cNvSpPr>
            <a:spLocks noGrp="1" noChangeArrowheads="1"/>
          </p:cNvSpPr>
          <p:nvPr>
            <p:ph type="ctrTitle"/>
          </p:nvPr>
        </p:nvSpPr>
        <p:spPr/>
        <p:txBody>
          <a:bodyPr/>
          <a:lstStyle/>
          <a:p>
            <a:pPr algn="ctr" eaLnBrk="1" hangingPunct="1"/>
            <a:r>
              <a:rPr lang="en-US" altLang="zh-CN" sz="7200">
                <a:solidFill>
                  <a:schemeClr val="folHlink"/>
                </a:solidFill>
              </a:rPr>
              <a:t>C</a:t>
            </a:r>
            <a:r>
              <a:rPr lang="zh-CN" altLang="en-US" sz="7200">
                <a:solidFill>
                  <a:schemeClr val="folHlink"/>
                </a:solidFill>
              </a:rPr>
              <a:t>语言程序设计</a:t>
            </a:r>
          </a:p>
        </p:txBody>
      </p:sp>
      <p:pic>
        <p:nvPicPr>
          <p:cNvPr id="5123" name="Picture 19" descr="pc">
            <a:hlinkClick r:id="rId2"/>
            <a:extLst>
              <a:ext uri="{FF2B5EF4-FFF2-40B4-BE49-F238E27FC236}">
                <a16:creationId xmlns:a16="http://schemas.microsoft.com/office/drawing/2014/main" id="{612D4CF5-09C4-8B53-AE9B-A4197215A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4413" y="4913313"/>
            <a:ext cx="1779587"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ABCC71E-72A1-C0B1-D924-05B0901CFEA2}"/>
              </a:ext>
            </a:extLst>
          </p:cNvPr>
          <p:cNvSpPr>
            <a:spLocks noGrp="1" noChangeArrowheads="1"/>
          </p:cNvSpPr>
          <p:nvPr>
            <p:ph type="ctrTitle"/>
          </p:nvPr>
        </p:nvSpPr>
        <p:spPr/>
        <p:txBody>
          <a:bodyPr/>
          <a:lstStyle/>
          <a:p>
            <a:pPr eaLnBrk="1" hangingPunct="1"/>
            <a:r>
              <a:rPr lang="zh-CN" altLang="en-US"/>
              <a:t>第</a:t>
            </a:r>
            <a:r>
              <a:rPr lang="en-US" altLang="zh-CN"/>
              <a:t>7</a:t>
            </a:r>
            <a:r>
              <a:rPr lang="zh-CN" altLang="en-US"/>
              <a:t>章 结构和链表</a:t>
            </a:r>
            <a:endParaRPr lang="zh-CN" altLang="en-US" sz="4000" b="1">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2209236-7688-502C-045C-B143DDD15B91}"/>
              </a:ext>
            </a:extLst>
          </p:cNvPr>
          <p:cNvSpPr>
            <a:spLocks noGrp="1" noChangeArrowheads="1"/>
          </p:cNvSpPr>
          <p:nvPr>
            <p:ph type="title"/>
          </p:nvPr>
        </p:nvSpPr>
        <p:spPr/>
        <p:txBody>
          <a:bodyPr/>
          <a:lstStyle/>
          <a:p>
            <a:pPr eaLnBrk="1" hangingPunct="1"/>
            <a:r>
              <a:rPr lang="zh-CN" altLang="en-US"/>
              <a:t>这节课，我们将</a:t>
            </a:r>
          </a:p>
        </p:txBody>
      </p:sp>
      <p:sp>
        <p:nvSpPr>
          <p:cNvPr id="18435" name="Rectangle 3">
            <a:extLst>
              <a:ext uri="{FF2B5EF4-FFF2-40B4-BE49-F238E27FC236}">
                <a16:creationId xmlns:a16="http://schemas.microsoft.com/office/drawing/2014/main" id="{358C2E8D-828D-70D7-8C3B-B1C61CA4C985}"/>
              </a:ext>
            </a:extLst>
          </p:cNvPr>
          <p:cNvSpPr>
            <a:spLocks noGrp="1" noChangeArrowheads="1"/>
          </p:cNvSpPr>
          <p:nvPr>
            <p:ph type="body" idx="1"/>
          </p:nvPr>
        </p:nvSpPr>
        <p:spPr>
          <a:xfrm>
            <a:off x="1043608" y="1844823"/>
            <a:ext cx="7911480" cy="4287689"/>
          </a:xfrm>
        </p:spPr>
        <p:txBody>
          <a:bodyPr/>
          <a:lstStyle/>
          <a:p>
            <a:pPr eaLnBrk="1" hangingPunct="1"/>
            <a:r>
              <a:rPr lang="zh-CN" altLang="en-US"/>
              <a:t>结构类型和结构变量 </a:t>
            </a:r>
          </a:p>
          <a:p>
            <a:pPr eaLnBrk="1" hangingPunct="1"/>
            <a:r>
              <a:rPr lang="zh-CN" altLang="en-US"/>
              <a:t>结构数组</a:t>
            </a:r>
          </a:p>
          <a:p>
            <a:pPr eaLnBrk="1" hangingPunct="1"/>
            <a:r>
              <a:rPr lang="zh-CN" altLang="en-US"/>
              <a:t>结构与函数 </a:t>
            </a:r>
          </a:p>
          <a:p>
            <a:pPr eaLnBrk="1" hangingPunct="1"/>
            <a:r>
              <a:rPr lang="zh-CN" altLang="en-US"/>
              <a:t>联合，位域，枚举（了解） </a:t>
            </a:r>
          </a:p>
          <a:p>
            <a:pPr eaLnBrk="1" hangingPunct="1"/>
            <a:r>
              <a:rPr lang="zh-CN" altLang="en-US"/>
              <a:t>类型定义</a:t>
            </a:r>
          </a:p>
          <a:p>
            <a:pPr eaLnBrk="1" hangingPunct="1"/>
            <a:r>
              <a:rPr lang="zh-CN" altLang="en-US" sz="2800"/>
              <a:t>链表及其应用（重点）</a:t>
            </a:r>
          </a:p>
        </p:txBody>
      </p:sp>
    </p:spTree>
    <p:extLst>
      <p:ext uri="{BB962C8B-B14F-4D97-AF65-F5344CB8AC3E}">
        <p14:creationId xmlns:p14="http://schemas.microsoft.com/office/powerpoint/2010/main" val="2107555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237A8F1-D71C-A8A8-95FC-17C4D49DFCE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47E7623-D322-F1A0-F2C1-92B184FB2E27}"/>
              </a:ext>
            </a:extLst>
          </p:cNvPr>
          <p:cNvSpPr>
            <a:spLocks noGrp="1" noChangeArrowheads="1"/>
          </p:cNvSpPr>
          <p:nvPr>
            <p:ph type="ctrTitle"/>
          </p:nvPr>
        </p:nvSpPr>
        <p:spPr/>
        <p:txBody>
          <a:bodyPr/>
          <a:lstStyle/>
          <a:p>
            <a:pPr eaLnBrk="1" hangingPunct="1"/>
            <a:r>
              <a:rPr lang="zh-CN" altLang="en-US"/>
              <a:t>结构类型和结构变量</a:t>
            </a:r>
            <a:endParaRPr lang="zh-CN" altLang="en-US" sz="4000" b="1">
              <a:solidFill>
                <a:srgbClr val="FF0000"/>
              </a:solidFill>
            </a:endParaRPr>
          </a:p>
        </p:txBody>
      </p:sp>
    </p:spTree>
    <p:extLst>
      <p:ext uri="{BB962C8B-B14F-4D97-AF65-F5344CB8AC3E}">
        <p14:creationId xmlns:p14="http://schemas.microsoft.com/office/powerpoint/2010/main" val="3481896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2D009E8-56FA-1D86-507A-E06939262123}"/>
              </a:ext>
            </a:extLst>
          </p:cNvPr>
          <p:cNvSpPr>
            <a:spLocks noGrp="1" noChangeArrowheads="1"/>
          </p:cNvSpPr>
          <p:nvPr>
            <p:ph type="title"/>
          </p:nvPr>
        </p:nvSpPr>
        <p:spPr/>
        <p:txBody>
          <a:bodyPr/>
          <a:lstStyle/>
          <a:p>
            <a:pPr eaLnBrk="1" hangingPunct="1"/>
            <a:r>
              <a:rPr lang="zh-CN" altLang="en-US" sz="4000"/>
              <a:t>从基本数据类型、复合数据类型到抽象数据类型</a:t>
            </a:r>
          </a:p>
        </p:txBody>
      </p:sp>
      <p:sp>
        <p:nvSpPr>
          <p:cNvPr id="8195" name="Rectangle 3">
            <a:extLst>
              <a:ext uri="{FF2B5EF4-FFF2-40B4-BE49-F238E27FC236}">
                <a16:creationId xmlns:a16="http://schemas.microsoft.com/office/drawing/2014/main" id="{FAAE5EDE-D6C9-B3FB-6182-C9C6956A32B5}"/>
              </a:ext>
            </a:extLst>
          </p:cNvPr>
          <p:cNvSpPr>
            <a:spLocks noGrp="1" noChangeArrowheads="1"/>
          </p:cNvSpPr>
          <p:nvPr>
            <p:ph type="body" idx="1"/>
          </p:nvPr>
        </p:nvSpPr>
        <p:spPr>
          <a:xfrm>
            <a:off x="684213" y="1700213"/>
            <a:ext cx="8280400" cy="4114800"/>
          </a:xfrm>
        </p:spPr>
        <p:txBody>
          <a:bodyPr/>
          <a:lstStyle/>
          <a:p>
            <a:pPr eaLnBrk="1" hangingPunct="1"/>
            <a:r>
              <a:rPr lang="zh-CN" altLang="en-US" sz="2400" b="0">
                <a:solidFill>
                  <a:srgbClr val="0070C0"/>
                </a:solidFill>
                <a:ea typeface="宋体" panose="02010600030101010101" pitchFamily="2" charset="-122"/>
              </a:rPr>
              <a:t>计算机本身是没有数据类型的概念的</a:t>
            </a:r>
          </a:p>
          <a:p>
            <a:pPr lvl="1" eaLnBrk="1" hangingPunct="1"/>
            <a:r>
              <a:rPr lang="zh-CN" altLang="en-US" sz="2000" b="0">
                <a:ea typeface="宋体" panose="02010600030101010101" pitchFamily="2" charset="-122"/>
              </a:rPr>
              <a:t>内存里存储的内容，你认为它代表什么，它就代表什么</a:t>
            </a:r>
          </a:p>
          <a:p>
            <a:pPr eaLnBrk="1" hangingPunct="1"/>
            <a:r>
              <a:rPr lang="zh-CN" altLang="en-US" sz="2400" b="0">
                <a:solidFill>
                  <a:srgbClr val="0070C0"/>
                </a:solidFill>
                <a:ea typeface="宋体" panose="02010600030101010101" pitchFamily="2" charset="-122"/>
              </a:rPr>
              <a:t>高级语言设计了基本数据类型：整型、浮点型、字符型等。不同的语言也会定义不同的基本类型</a:t>
            </a:r>
          </a:p>
          <a:p>
            <a:pPr lvl="1" eaLnBrk="1" hangingPunct="1"/>
            <a:r>
              <a:rPr lang="zh-CN" altLang="en-US" sz="2000" b="0">
                <a:ea typeface="宋体" panose="02010600030101010101" pitchFamily="2" charset="-122"/>
              </a:rPr>
              <a:t>基本数据类型并不能方便地解决所有问题</a:t>
            </a:r>
          </a:p>
          <a:p>
            <a:pPr eaLnBrk="1" hangingPunct="1"/>
            <a:r>
              <a:rPr lang="zh-CN" altLang="en-US" sz="2400" b="0">
                <a:solidFill>
                  <a:srgbClr val="0070C0"/>
                </a:solidFill>
                <a:ea typeface="宋体" panose="02010600030101010101" pitchFamily="2" charset="-122"/>
              </a:rPr>
              <a:t>复合数据类型是基本数据类型迭代派生（</a:t>
            </a:r>
            <a:r>
              <a:rPr lang="en-US" altLang="zh-CN" sz="2400" b="0">
                <a:solidFill>
                  <a:srgbClr val="0070C0"/>
                </a:solidFill>
                <a:ea typeface="宋体" panose="02010600030101010101" pitchFamily="2" charset="-122"/>
              </a:rPr>
              <a:t>derived</a:t>
            </a:r>
            <a:r>
              <a:rPr lang="zh-CN" altLang="en-US" sz="2400" b="0">
                <a:solidFill>
                  <a:srgbClr val="0070C0"/>
                </a:solidFill>
                <a:ea typeface="宋体" panose="02010600030101010101" pitchFamily="2" charset="-122"/>
              </a:rPr>
              <a:t>）而来</a:t>
            </a:r>
          </a:p>
          <a:p>
            <a:pPr lvl="1" eaLnBrk="1" hangingPunct="1"/>
            <a:r>
              <a:rPr lang="zh-CN" altLang="en-US" sz="2000" b="0">
                <a:ea typeface="宋体" panose="02010600030101010101" pitchFamily="2" charset="-122"/>
              </a:rPr>
              <a:t>典型的代表就是</a:t>
            </a:r>
            <a:r>
              <a:rPr lang="zh-CN" altLang="en-US" sz="2000" b="0">
                <a:latin typeface="Times New Roman" panose="02020603050405020304" pitchFamily="18" charset="0"/>
                <a:ea typeface="宋体" panose="02010600030101010101" pitchFamily="2" charset="-122"/>
              </a:rPr>
              <a:t>“</a:t>
            </a:r>
            <a:r>
              <a:rPr lang="zh-CN" altLang="en-US" sz="2000" b="0">
                <a:ea typeface="宋体" panose="02010600030101010101" pitchFamily="2" charset="-122"/>
              </a:rPr>
              <a:t>结构</a:t>
            </a:r>
            <a:r>
              <a:rPr lang="zh-CN" altLang="en-US" sz="2000" b="0">
                <a:latin typeface="Times New Roman" panose="02020603050405020304" pitchFamily="18" charset="0"/>
                <a:ea typeface="宋体" panose="02010600030101010101" pitchFamily="2" charset="-122"/>
              </a:rPr>
              <a:t>”</a:t>
            </a:r>
            <a:r>
              <a:rPr lang="zh-CN" altLang="en-US" sz="2000" b="0">
                <a:ea typeface="宋体" panose="02010600030101010101" pitchFamily="2" charset="-122"/>
              </a:rPr>
              <a:t>，数组、指针也可算作此类</a:t>
            </a:r>
          </a:p>
          <a:p>
            <a:pPr eaLnBrk="1" hangingPunct="1"/>
            <a:r>
              <a:rPr lang="zh-CN" altLang="en-US" sz="2400" b="0">
                <a:solidFill>
                  <a:srgbClr val="0070C0"/>
                </a:solidFill>
                <a:ea typeface="宋体" panose="02010600030101010101" pitchFamily="2" charset="-122"/>
              </a:rPr>
              <a:t>抽象数据类型</a:t>
            </a:r>
            <a:r>
              <a:rPr lang="en-US" altLang="zh-CN" sz="2400" b="0">
                <a:solidFill>
                  <a:srgbClr val="0070C0"/>
                </a:solidFill>
                <a:ea typeface="宋体" panose="02010600030101010101" pitchFamily="2" charset="-122"/>
              </a:rPr>
              <a:t>(ADT)</a:t>
            </a:r>
            <a:r>
              <a:rPr lang="zh-CN" altLang="en-US" sz="2400" b="0">
                <a:solidFill>
                  <a:srgbClr val="0070C0"/>
                </a:solidFill>
                <a:ea typeface="宋体" panose="02010600030101010101" pitchFamily="2" charset="-122"/>
              </a:rPr>
              <a:t>在复合数据类型的基础上增加了对数据的操作</a:t>
            </a:r>
          </a:p>
          <a:p>
            <a:pPr eaLnBrk="1" hangingPunct="1"/>
            <a:r>
              <a:rPr lang="zh-CN" altLang="en-US" sz="2400" b="0">
                <a:solidFill>
                  <a:srgbClr val="0070C0"/>
                </a:solidFill>
                <a:ea typeface="宋体" panose="02010600030101010101" pitchFamily="2" charset="-122"/>
              </a:rPr>
              <a:t>抽象数据类型进而进化为</a:t>
            </a:r>
            <a:r>
              <a:rPr lang="zh-CN" altLang="en-US" sz="2400" b="0">
                <a:solidFill>
                  <a:srgbClr val="0070C0"/>
                </a:solidFill>
                <a:latin typeface="Times New Roman" panose="02020603050405020304" pitchFamily="18" charset="0"/>
                <a:ea typeface="宋体" panose="02010600030101010101" pitchFamily="2" charset="-122"/>
              </a:rPr>
              <a:t>“</a:t>
            </a:r>
            <a:r>
              <a:rPr lang="zh-CN" altLang="en-US" sz="2400" b="0">
                <a:solidFill>
                  <a:srgbClr val="0070C0"/>
                </a:solidFill>
                <a:ea typeface="宋体" panose="02010600030101010101" pitchFamily="2" charset="-122"/>
              </a:rPr>
              <a:t>类</a:t>
            </a:r>
            <a:r>
              <a:rPr lang="zh-CN" altLang="en-US" sz="2400" b="0">
                <a:solidFill>
                  <a:srgbClr val="0070C0"/>
                </a:solidFill>
                <a:latin typeface="Times New Roman" panose="02020603050405020304" pitchFamily="18" charset="0"/>
                <a:ea typeface="宋体" panose="02010600030101010101" pitchFamily="2" charset="-122"/>
              </a:rPr>
              <a:t>”</a:t>
            </a:r>
            <a:endParaRPr lang="zh-CN" altLang="en-US" sz="2400" b="0">
              <a:solidFill>
                <a:srgbClr val="0070C0"/>
              </a:solidFill>
              <a:ea typeface="宋体" panose="02010600030101010101" pitchFamily="2" charset="-122"/>
            </a:endParaRPr>
          </a:p>
          <a:p>
            <a:pPr lvl="1" eaLnBrk="1" hangingPunct="1"/>
            <a:r>
              <a:rPr lang="zh-CN" altLang="en-US" sz="2000" b="0">
                <a:ea typeface="宋体" panose="02010600030101010101" pitchFamily="2" charset="-122"/>
              </a:rPr>
              <a:t>这是一个跨时代的进步</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F34CFC0-72E2-56D7-1DCE-7BBB3F830D59}"/>
              </a:ext>
            </a:extLst>
          </p:cNvPr>
          <p:cNvSpPr>
            <a:spLocks noGrp="1" noChangeArrowheads="1"/>
          </p:cNvSpPr>
          <p:nvPr>
            <p:ph type="title"/>
          </p:nvPr>
        </p:nvSpPr>
        <p:spPr/>
        <p:txBody>
          <a:bodyPr/>
          <a:lstStyle/>
          <a:p>
            <a:pPr eaLnBrk="1" hangingPunct="1"/>
            <a:r>
              <a:rPr lang="zh-CN" altLang="en-US"/>
              <a:t>一个问题</a:t>
            </a:r>
          </a:p>
        </p:txBody>
      </p:sp>
      <p:sp>
        <p:nvSpPr>
          <p:cNvPr id="869379" name="Rectangle 3">
            <a:extLst>
              <a:ext uri="{FF2B5EF4-FFF2-40B4-BE49-F238E27FC236}">
                <a16:creationId xmlns:a16="http://schemas.microsoft.com/office/drawing/2014/main" id="{DC5A5702-E189-6D23-1C0F-5BED205C0BDD}"/>
              </a:ext>
            </a:extLst>
          </p:cNvPr>
          <p:cNvSpPr>
            <a:spLocks noGrp="1" noChangeArrowheads="1"/>
          </p:cNvSpPr>
          <p:nvPr>
            <p:ph type="body" idx="1"/>
          </p:nvPr>
        </p:nvSpPr>
        <p:spPr>
          <a:xfrm>
            <a:off x="900113" y="1773238"/>
            <a:ext cx="7699375" cy="4114800"/>
          </a:xfrm>
        </p:spPr>
        <p:txBody>
          <a:bodyPr/>
          <a:lstStyle/>
          <a:p>
            <a:pPr eaLnBrk="1" hangingPunct="1">
              <a:lnSpc>
                <a:spcPct val="150000"/>
              </a:lnSpc>
            </a:pPr>
            <a:r>
              <a:rPr lang="zh-CN" altLang="en-US" sz="2400" b="0">
                <a:ea typeface="宋体" panose="02010600030101010101" pitchFamily="2" charset="-122"/>
              </a:rPr>
              <a:t>在程序里表示一个人（姓名、年龄、性别、身高、体重</a:t>
            </a:r>
            <a:r>
              <a:rPr lang="en-US" altLang="zh-CN" sz="2400" b="0">
                <a:latin typeface="Times New Roman" panose="02020603050405020304" pitchFamily="18" charset="0"/>
                <a:ea typeface="宋体" panose="02010600030101010101" pitchFamily="2" charset="-122"/>
              </a:rPr>
              <a:t>……</a:t>
            </a:r>
            <a:r>
              <a:rPr lang="zh-CN" altLang="en-US" sz="2400" b="0">
                <a:ea typeface="宋体" panose="02010600030101010101" pitchFamily="2" charset="-122"/>
              </a:rPr>
              <a:t>），怎么表示？</a:t>
            </a:r>
          </a:p>
          <a:p>
            <a:pPr lvl="1" eaLnBrk="1" hangingPunct="1">
              <a:lnSpc>
                <a:spcPct val="150000"/>
              </a:lnSpc>
            </a:pPr>
            <a:r>
              <a:rPr lang="en-US" altLang="zh-CN" sz="2400" b="0">
                <a:solidFill>
                  <a:srgbClr val="0000FF"/>
                </a:solidFill>
                <a:latin typeface="Courier New" panose="02070309020205020404" pitchFamily="49" charset="0"/>
                <a:ea typeface="宋体" panose="02010600030101010101" pitchFamily="2" charset="-122"/>
              </a:rPr>
              <a:t>char</a:t>
            </a:r>
            <a:r>
              <a:rPr lang="en-US" altLang="zh-CN" sz="2400" b="0">
                <a:solidFill>
                  <a:srgbClr val="000000"/>
                </a:solidFill>
                <a:latin typeface="Courier New" panose="02070309020205020404" pitchFamily="49" charset="0"/>
                <a:ea typeface="宋体" panose="02010600030101010101" pitchFamily="2" charset="-122"/>
              </a:rPr>
              <a:t> 	name[12];</a:t>
            </a:r>
            <a:br>
              <a:rPr lang="en-US" altLang="zh-CN" sz="2400" b="0">
                <a:solidFill>
                  <a:srgbClr val="000000"/>
                </a:solidFill>
                <a:latin typeface="Courier New" panose="02070309020205020404" pitchFamily="49" charset="0"/>
                <a:ea typeface="宋体" panose="02010600030101010101" pitchFamily="2" charset="-122"/>
              </a:rPr>
            </a:br>
            <a:r>
              <a:rPr lang="en-US" altLang="zh-CN" sz="2400" b="0">
                <a:solidFill>
                  <a:srgbClr val="0000FF"/>
                </a:solidFill>
                <a:latin typeface="Courier New" panose="02070309020205020404" pitchFamily="49" charset="0"/>
                <a:ea typeface="宋体" panose="02010600030101010101" pitchFamily="2" charset="-122"/>
              </a:rPr>
              <a:t>unsigned</a:t>
            </a:r>
            <a:r>
              <a:rPr lang="en-US" altLang="zh-CN" sz="2400" b="0">
                <a:solidFill>
                  <a:srgbClr val="000000"/>
                </a:solidFill>
                <a:latin typeface="Courier New" panose="02070309020205020404" pitchFamily="49" charset="0"/>
                <a:ea typeface="宋体" panose="02010600030101010101" pitchFamily="2" charset="-122"/>
              </a:rPr>
              <a:t> </a:t>
            </a:r>
            <a:r>
              <a:rPr lang="en-US" altLang="zh-CN" sz="2400" b="0">
                <a:solidFill>
                  <a:srgbClr val="0000FF"/>
                </a:solidFill>
                <a:latin typeface="Courier New" panose="02070309020205020404" pitchFamily="49" charset="0"/>
                <a:ea typeface="宋体" panose="02010600030101010101" pitchFamily="2" charset="-122"/>
              </a:rPr>
              <a:t>int</a:t>
            </a:r>
            <a:r>
              <a:rPr lang="en-US" altLang="zh-CN" sz="2400" b="0">
                <a:solidFill>
                  <a:srgbClr val="000000"/>
                </a:solidFill>
                <a:latin typeface="Courier New" panose="02070309020205020404" pitchFamily="49" charset="0"/>
                <a:ea typeface="宋体" panose="02010600030101010101" pitchFamily="2" charset="-122"/>
              </a:rPr>
              <a:t> age;</a:t>
            </a:r>
            <a:br>
              <a:rPr lang="en-US" altLang="zh-CN" sz="2400" b="0">
                <a:solidFill>
                  <a:srgbClr val="000000"/>
                </a:solidFill>
                <a:latin typeface="Courier New" panose="02070309020205020404" pitchFamily="49" charset="0"/>
                <a:ea typeface="宋体" panose="02010600030101010101" pitchFamily="2" charset="-122"/>
              </a:rPr>
            </a:br>
            <a:r>
              <a:rPr lang="en-US" altLang="zh-CN" sz="2400" b="0">
                <a:solidFill>
                  <a:srgbClr val="0000FF"/>
                </a:solidFill>
                <a:latin typeface="Courier New" panose="02070309020205020404" pitchFamily="49" charset="0"/>
                <a:ea typeface="宋体" panose="02010600030101010101" pitchFamily="2" charset="-122"/>
              </a:rPr>
              <a:t>char</a:t>
            </a:r>
            <a:r>
              <a:rPr lang="en-US" altLang="zh-CN" sz="2400" b="0">
                <a:solidFill>
                  <a:srgbClr val="000000"/>
                </a:solidFill>
                <a:latin typeface="Courier New" panose="02070309020205020404" pitchFamily="49" charset="0"/>
                <a:ea typeface="宋体" panose="02010600030101010101" pitchFamily="2" charset="-122"/>
              </a:rPr>
              <a:t>	sex;</a:t>
            </a:r>
          </a:p>
          <a:p>
            <a:pPr eaLnBrk="1" hangingPunct="1">
              <a:lnSpc>
                <a:spcPct val="150000"/>
              </a:lnSpc>
            </a:pPr>
            <a:r>
              <a:rPr lang="zh-CN" altLang="en-US" sz="2400" b="0">
                <a:ea typeface="宋体" panose="02010600030101010101" pitchFamily="2" charset="-122"/>
              </a:rPr>
              <a:t>想表示多个人呢？</a:t>
            </a:r>
          </a:p>
          <a:p>
            <a:pPr lvl="1" eaLnBrk="1" hangingPunct="1">
              <a:lnSpc>
                <a:spcPct val="150000"/>
              </a:lnSpc>
            </a:pPr>
            <a:r>
              <a:rPr lang="zh-CN" altLang="en-US" sz="2400" b="0">
                <a:ea typeface="宋体" panose="02010600030101010101" pitchFamily="2" charset="-122"/>
              </a:rPr>
              <a:t>定义多个数组？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9379">
                                            <p:txEl>
                                              <p:pRg st="0" end="0"/>
                                            </p:txEl>
                                          </p:spTgt>
                                        </p:tgtEl>
                                        <p:attrNameLst>
                                          <p:attrName>style.visibility</p:attrName>
                                        </p:attrNameLst>
                                      </p:cBhvr>
                                      <p:to>
                                        <p:strVal val="visible"/>
                                      </p:to>
                                    </p:set>
                                    <p:animEffect transition="in" filter="wipe(left)">
                                      <p:cBhvr>
                                        <p:cTn id="7" dur="500"/>
                                        <p:tgtEl>
                                          <p:spTgt spid="869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9379">
                                            <p:txEl>
                                              <p:pRg st="1" end="1"/>
                                            </p:txEl>
                                          </p:spTgt>
                                        </p:tgtEl>
                                        <p:attrNameLst>
                                          <p:attrName>style.visibility</p:attrName>
                                        </p:attrNameLst>
                                      </p:cBhvr>
                                      <p:to>
                                        <p:strVal val="visible"/>
                                      </p:to>
                                    </p:set>
                                    <p:animEffect transition="in" filter="wipe(left)">
                                      <p:cBhvr>
                                        <p:cTn id="12" dur="500"/>
                                        <p:tgtEl>
                                          <p:spTgt spid="8693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69379">
                                            <p:txEl>
                                              <p:pRg st="2" end="2"/>
                                            </p:txEl>
                                          </p:spTgt>
                                        </p:tgtEl>
                                        <p:attrNameLst>
                                          <p:attrName>style.visibility</p:attrName>
                                        </p:attrNameLst>
                                      </p:cBhvr>
                                      <p:to>
                                        <p:strVal val="visible"/>
                                      </p:to>
                                    </p:set>
                                    <p:animEffect transition="in" filter="wipe(left)">
                                      <p:cBhvr>
                                        <p:cTn id="17" dur="500"/>
                                        <p:tgtEl>
                                          <p:spTgt spid="8693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69379">
                                            <p:txEl>
                                              <p:pRg st="3" end="3"/>
                                            </p:txEl>
                                          </p:spTgt>
                                        </p:tgtEl>
                                        <p:attrNameLst>
                                          <p:attrName>style.visibility</p:attrName>
                                        </p:attrNameLst>
                                      </p:cBhvr>
                                      <p:to>
                                        <p:strVal val="visible"/>
                                      </p:to>
                                    </p:set>
                                    <p:animEffect transition="in" filter="wipe(left)">
                                      <p:cBhvr>
                                        <p:cTn id="22" dur="500"/>
                                        <p:tgtEl>
                                          <p:spTgt spid="8693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937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6CFBE5A-C9AA-6B28-3B6E-DB5CFCA2A7EC}"/>
              </a:ext>
            </a:extLst>
          </p:cNvPr>
          <p:cNvSpPr>
            <a:spLocks noGrp="1" noChangeArrowheads="1"/>
          </p:cNvSpPr>
          <p:nvPr>
            <p:ph type="title"/>
          </p:nvPr>
        </p:nvSpPr>
        <p:spPr/>
        <p:txBody>
          <a:bodyPr/>
          <a:lstStyle/>
          <a:p>
            <a:pPr eaLnBrk="1" hangingPunct="1"/>
            <a:r>
              <a:rPr lang="zh-CN" altLang="en-US"/>
              <a:t>结构类型</a:t>
            </a:r>
          </a:p>
        </p:txBody>
      </p:sp>
      <p:sp>
        <p:nvSpPr>
          <p:cNvPr id="24579" name="Rectangle 3">
            <a:extLst>
              <a:ext uri="{FF2B5EF4-FFF2-40B4-BE49-F238E27FC236}">
                <a16:creationId xmlns:a16="http://schemas.microsoft.com/office/drawing/2014/main" id="{0C535D89-4573-6FDA-F128-18AA3E08EDA9}"/>
              </a:ext>
            </a:extLst>
          </p:cNvPr>
          <p:cNvSpPr>
            <a:spLocks noGrp="1" noChangeArrowheads="1"/>
          </p:cNvSpPr>
          <p:nvPr>
            <p:ph type="body" idx="1"/>
          </p:nvPr>
        </p:nvSpPr>
        <p:spPr>
          <a:xfrm>
            <a:off x="755576" y="1772815"/>
            <a:ext cx="7937574" cy="4359697"/>
          </a:xfrm>
        </p:spPr>
        <p:txBody>
          <a:bodyPr/>
          <a:lstStyle/>
          <a:p>
            <a:pPr algn="just" eaLnBrk="1" hangingPunct="1">
              <a:lnSpc>
                <a:spcPct val="150000"/>
              </a:lnSpc>
            </a:pPr>
            <a:r>
              <a:rPr lang="zh-CN" altLang="en-US" sz="2400" b="0"/>
              <a:t>一个</a:t>
            </a:r>
            <a:r>
              <a:rPr lang="zh-CN" altLang="en-US" sz="2400" b="0">
                <a:solidFill>
                  <a:srgbClr val="0070C0"/>
                </a:solidFill>
              </a:rPr>
              <a:t>数据实体</a:t>
            </a:r>
            <a:r>
              <a:rPr lang="zh-CN" altLang="en-US" sz="2400" b="0"/>
              <a:t>常常包含多项</a:t>
            </a:r>
            <a:r>
              <a:rPr lang="zh-CN" altLang="en-US" sz="2400" b="0">
                <a:solidFill>
                  <a:srgbClr val="0070C0"/>
                </a:solidFill>
              </a:rPr>
              <a:t>不同属性</a:t>
            </a:r>
            <a:r>
              <a:rPr lang="zh-CN" altLang="en-US" sz="2400" b="0"/>
              <a:t>的数据信息。</a:t>
            </a:r>
            <a:endParaRPr lang="en-US" altLang="zh-CN" sz="2400" b="0"/>
          </a:p>
          <a:p>
            <a:pPr lvl="1" algn="just" eaLnBrk="1" hangingPunct="1">
              <a:lnSpc>
                <a:spcPct val="150000"/>
              </a:lnSpc>
            </a:pPr>
            <a:r>
              <a:rPr lang="zh-CN" altLang="en-US" sz="2000" b="0"/>
              <a:t>如一个学生的数据实体可能要包含多项数据信息：学号、姓名、性别、年龄、成绩、家庭地址。</a:t>
            </a:r>
          </a:p>
          <a:p>
            <a:pPr algn="just" eaLnBrk="1" hangingPunct="1">
              <a:lnSpc>
                <a:spcPct val="150000"/>
              </a:lnSpc>
            </a:pPr>
            <a:r>
              <a:rPr lang="zh-CN" altLang="en-US" sz="2400" b="0"/>
              <a:t>这类实体的数据因所包含的</a:t>
            </a:r>
            <a:r>
              <a:rPr lang="zh-CN" altLang="en-US" sz="2400" b="0">
                <a:solidFill>
                  <a:srgbClr val="0070C0"/>
                </a:solidFill>
              </a:rPr>
              <a:t>成分类型不同</a:t>
            </a:r>
            <a:r>
              <a:rPr lang="zh-CN" altLang="en-US" sz="2400" b="0"/>
              <a:t>，不能用单个数组来表示，也不便将它们的成分分拆成多个独立的单个数据项，因为这样会失去实体的整体性。</a:t>
            </a:r>
            <a:endParaRPr lang="en-US" altLang="zh-CN" sz="2400" b="0"/>
          </a:p>
          <a:p>
            <a:pPr algn="just" eaLnBrk="1" hangingPunct="1">
              <a:lnSpc>
                <a:spcPct val="150000"/>
              </a:lnSpc>
            </a:pPr>
            <a:r>
              <a:rPr lang="zh-CN" altLang="en-US" sz="2400" b="0"/>
              <a:t>可用</a:t>
            </a:r>
            <a:r>
              <a:rPr lang="zh-CN" altLang="en-US" sz="2400" b="0">
                <a:solidFill>
                  <a:srgbClr val="0070C0"/>
                </a:solidFill>
              </a:rPr>
              <a:t>结构类型</a:t>
            </a:r>
            <a:r>
              <a:rPr lang="zh-CN" altLang="en-US" sz="2400" b="0"/>
              <a:t>描述由若干独立意义成分组成的数据实体。</a:t>
            </a:r>
          </a:p>
        </p:txBody>
      </p:sp>
    </p:spTree>
    <p:extLst>
      <p:ext uri="{BB962C8B-B14F-4D97-AF65-F5344CB8AC3E}">
        <p14:creationId xmlns:p14="http://schemas.microsoft.com/office/powerpoint/2010/main" val="3771611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9CAD5C39-CE86-BE05-3E02-1026D2B0F999}"/>
              </a:ext>
            </a:extLst>
          </p:cNvPr>
          <p:cNvSpPr>
            <a:spLocks noGrp="1" noChangeArrowheads="1"/>
          </p:cNvSpPr>
          <p:nvPr>
            <p:ph type="title"/>
          </p:nvPr>
        </p:nvSpPr>
        <p:spPr/>
        <p:txBody>
          <a:bodyPr/>
          <a:lstStyle/>
          <a:p>
            <a:pPr eaLnBrk="1" hangingPunct="1"/>
            <a:r>
              <a:rPr lang="zh-CN" altLang="en-US"/>
              <a:t>简单结构类型例</a:t>
            </a:r>
          </a:p>
        </p:txBody>
      </p:sp>
      <p:sp>
        <p:nvSpPr>
          <p:cNvPr id="26627" name="Rectangle 3">
            <a:extLst>
              <a:ext uri="{FF2B5EF4-FFF2-40B4-BE49-F238E27FC236}">
                <a16:creationId xmlns:a16="http://schemas.microsoft.com/office/drawing/2014/main" id="{765E370D-6B61-052E-06A1-D8C7102B9B1B}"/>
              </a:ext>
            </a:extLst>
          </p:cNvPr>
          <p:cNvSpPr>
            <a:spLocks noGrp="1" noChangeArrowheads="1"/>
          </p:cNvSpPr>
          <p:nvPr>
            <p:ph type="body" idx="1"/>
          </p:nvPr>
        </p:nvSpPr>
        <p:spPr>
          <a:xfrm>
            <a:off x="971600" y="1916832"/>
            <a:ext cx="7983488" cy="4503738"/>
          </a:xfrm>
        </p:spPr>
        <p:txBody>
          <a:bodyPr/>
          <a:lstStyle/>
          <a:p>
            <a:pPr eaLnBrk="1" hangingPunct="1">
              <a:lnSpc>
                <a:spcPct val="80000"/>
              </a:lnSpc>
            </a:pPr>
            <a:r>
              <a:rPr lang="zh-CN" altLang="en-US" sz="2800" b="0"/>
              <a:t>定义一个结构类型的一般形式为：</a:t>
            </a:r>
          </a:p>
          <a:p>
            <a:pPr lvl="1" eaLnBrk="1" hangingPunct="1">
              <a:lnSpc>
                <a:spcPct val="80000"/>
              </a:lnSpc>
            </a:pPr>
            <a:r>
              <a:rPr lang="zh-CN" altLang="en-US" sz="2400" b="0"/>
              <a:t>      </a:t>
            </a:r>
            <a:r>
              <a:rPr lang="en-US" altLang="zh-CN" sz="2400" b="0">
                <a:solidFill>
                  <a:srgbClr val="0066FF"/>
                </a:solidFill>
              </a:rPr>
              <a:t>struct</a:t>
            </a:r>
            <a:r>
              <a:rPr lang="en-US" altLang="zh-CN" sz="2400" b="0"/>
              <a:t>  </a:t>
            </a:r>
            <a:r>
              <a:rPr lang="zh-CN" altLang="en-US" sz="2400" b="0">
                <a:solidFill>
                  <a:srgbClr val="0066FF"/>
                </a:solidFill>
              </a:rPr>
              <a:t>结构类型名 </a:t>
            </a:r>
            <a:r>
              <a:rPr lang="en-US" altLang="zh-CN" sz="2400" b="0"/>
              <a:t>{</a:t>
            </a:r>
          </a:p>
          <a:p>
            <a:pPr lvl="1" eaLnBrk="1" hangingPunct="1">
              <a:lnSpc>
                <a:spcPct val="80000"/>
              </a:lnSpc>
            </a:pPr>
            <a:r>
              <a:rPr lang="en-US" altLang="zh-CN" sz="2400" b="0"/>
              <a:t>         </a:t>
            </a:r>
            <a:r>
              <a:rPr lang="zh-CN" altLang="en-US" sz="2400" b="0"/>
              <a:t>成分说明表</a:t>
            </a:r>
          </a:p>
          <a:p>
            <a:pPr lvl="1" eaLnBrk="1" hangingPunct="1">
              <a:lnSpc>
                <a:spcPct val="80000"/>
              </a:lnSpc>
            </a:pPr>
            <a:r>
              <a:rPr lang="zh-CN" altLang="en-US" sz="2400" b="0"/>
              <a:t>      </a:t>
            </a:r>
            <a:r>
              <a:rPr lang="en-US" altLang="zh-CN" sz="2400" b="0"/>
              <a:t>};</a:t>
            </a:r>
          </a:p>
          <a:p>
            <a:pPr eaLnBrk="1" hangingPunct="1">
              <a:lnSpc>
                <a:spcPct val="80000"/>
              </a:lnSpc>
            </a:pPr>
            <a:endParaRPr lang="en-US" altLang="zh-CN" sz="2800" b="0"/>
          </a:p>
          <a:p>
            <a:pPr eaLnBrk="1" hangingPunct="1">
              <a:lnSpc>
                <a:spcPct val="80000"/>
              </a:lnSpc>
            </a:pPr>
            <a:r>
              <a:rPr lang="zh-CN" altLang="en-US" sz="2800" b="0"/>
              <a:t>例：描述学生实体的结构类型（</a:t>
            </a:r>
            <a:r>
              <a:rPr lang="en-US" altLang="zh-CN" sz="2800" b="0"/>
              <a:t>stdType</a:t>
            </a:r>
            <a:r>
              <a:rPr lang="zh-CN" altLang="en-US" sz="2800" b="0"/>
              <a:t>）</a:t>
            </a:r>
          </a:p>
          <a:p>
            <a:pPr lvl="1" eaLnBrk="1" hangingPunct="1">
              <a:lnSpc>
                <a:spcPct val="80000"/>
              </a:lnSpc>
            </a:pPr>
            <a:r>
              <a:rPr lang="en-US" altLang="zh-CN" sz="2400" b="0"/>
              <a:t>struct stdType {</a:t>
            </a:r>
          </a:p>
          <a:p>
            <a:pPr lvl="1" eaLnBrk="1" hangingPunct="1">
              <a:lnSpc>
                <a:spcPct val="80000"/>
              </a:lnSpc>
            </a:pPr>
            <a:r>
              <a:rPr lang="en-US" altLang="zh-CN" sz="2400" b="0"/>
              <a:t>	int no;		            </a:t>
            </a:r>
            <a:r>
              <a:rPr lang="en-US" altLang="zh-CN" sz="2400" b="0">
                <a:solidFill>
                  <a:schemeClr val="folHlink"/>
                </a:solidFill>
              </a:rPr>
              <a:t>//</a:t>
            </a:r>
            <a:r>
              <a:rPr lang="zh-CN" altLang="en-US" sz="2400" b="0">
                <a:solidFill>
                  <a:schemeClr val="folHlink"/>
                </a:solidFill>
              </a:rPr>
              <a:t>学号</a:t>
            </a:r>
          </a:p>
          <a:p>
            <a:pPr lvl="1" eaLnBrk="1" hangingPunct="1">
              <a:lnSpc>
                <a:spcPct val="80000"/>
              </a:lnSpc>
            </a:pPr>
            <a:r>
              <a:rPr lang="zh-CN" altLang="en-US" sz="2400" b="0"/>
              <a:t>	</a:t>
            </a:r>
            <a:r>
              <a:rPr lang="en-US" altLang="zh-CN" sz="2400" b="0"/>
              <a:t>char name[20];	</a:t>
            </a:r>
            <a:r>
              <a:rPr lang="zh-CN" altLang="en-US" sz="2400" b="0"/>
              <a:t>  </a:t>
            </a:r>
            <a:r>
              <a:rPr lang="en-US" altLang="zh-CN" sz="2400" b="0">
                <a:solidFill>
                  <a:schemeClr val="folHlink"/>
                </a:solidFill>
              </a:rPr>
              <a:t>//</a:t>
            </a:r>
            <a:r>
              <a:rPr lang="zh-CN" altLang="en-US" sz="2400" b="0">
                <a:solidFill>
                  <a:schemeClr val="folHlink"/>
                </a:solidFill>
              </a:rPr>
              <a:t>姓名</a:t>
            </a:r>
          </a:p>
          <a:p>
            <a:pPr lvl="1" eaLnBrk="1" hangingPunct="1">
              <a:lnSpc>
                <a:spcPct val="80000"/>
              </a:lnSpc>
            </a:pPr>
            <a:r>
              <a:rPr lang="zh-CN" altLang="en-US" sz="2400" b="0"/>
              <a:t>	</a:t>
            </a:r>
            <a:r>
              <a:rPr lang="en-US" altLang="zh-CN" sz="2400" b="0"/>
              <a:t>char sex;	            </a:t>
            </a:r>
            <a:r>
              <a:rPr lang="en-US" altLang="zh-CN" sz="2400" b="0">
                <a:solidFill>
                  <a:schemeClr val="folHlink"/>
                </a:solidFill>
              </a:rPr>
              <a:t>//</a:t>
            </a:r>
            <a:r>
              <a:rPr lang="zh-CN" altLang="en-US" sz="2400" b="0">
                <a:solidFill>
                  <a:schemeClr val="folHlink"/>
                </a:solidFill>
              </a:rPr>
              <a:t>性别</a:t>
            </a:r>
          </a:p>
          <a:p>
            <a:pPr lvl="1" eaLnBrk="1" hangingPunct="1">
              <a:lnSpc>
                <a:spcPct val="80000"/>
              </a:lnSpc>
            </a:pPr>
            <a:r>
              <a:rPr lang="zh-CN" altLang="en-US" sz="2400" b="0"/>
              <a:t>	</a:t>
            </a:r>
            <a:r>
              <a:rPr lang="en-US" altLang="zh-CN" sz="2400" b="0"/>
              <a:t>char address[40];	</a:t>
            </a:r>
            <a:r>
              <a:rPr lang="zh-CN" altLang="en-US" sz="2400" b="0"/>
              <a:t>  </a:t>
            </a:r>
            <a:r>
              <a:rPr lang="en-US" altLang="zh-CN" sz="2400" b="0">
                <a:solidFill>
                  <a:schemeClr val="folHlink"/>
                </a:solidFill>
              </a:rPr>
              <a:t>//</a:t>
            </a:r>
            <a:r>
              <a:rPr lang="zh-CN" altLang="en-US" sz="2400" b="0">
                <a:solidFill>
                  <a:schemeClr val="folHlink"/>
                </a:solidFill>
              </a:rPr>
              <a:t>家庭地址</a:t>
            </a:r>
          </a:p>
          <a:p>
            <a:pPr lvl="1" eaLnBrk="1" hangingPunct="1">
              <a:lnSpc>
                <a:spcPct val="80000"/>
              </a:lnSpc>
            </a:pPr>
            <a:r>
              <a:rPr lang="en-US" altLang="zh-CN" sz="2400" b="0"/>
              <a:t>};</a:t>
            </a:r>
          </a:p>
        </p:txBody>
      </p:sp>
    </p:spTree>
    <p:extLst>
      <p:ext uri="{BB962C8B-B14F-4D97-AF65-F5344CB8AC3E}">
        <p14:creationId xmlns:p14="http://schemas.microsoft.com/office/powerpoint/2010/main" val="2451932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9203A3D-B0A8-677E-2EEE-F382DCC53D81}"/>
              </a:ext>
            </a:extLst>
          </p:cNvPr>
          <p:cNvSpPr>
            <a:spLocks noGrp="1" noChangeArrowheads="1"/>
          </p:cNvSpPr>
          <p:nvPr>
            <p:ph type="title"/>
          </p:nvPr>
        </p:nvSpPr>
        <p:spPr/>
        <p:txBody>
          <a:bodyPr/>
          <a:lstStyle/>
          <a:p>
            <a:pPr eaLnBrk="1" hangingPunct="1"/>
            <a:r>
              <a:rPr lang="zh-CN" altLang="en-US"/>
              <a:t>简单结构类型例</a:t>
            </a:r>
          </a:p>
        </p:txBody>
      </p:sp>
      <p:sp>
        <p:nvSpPr>
          <p:cNvPr id="28675" name="Rectangle 3">
            <a:extLst>
              <a:ext uri="{FF2B5EF4-FFF2-40B4-BE49-F238E27FC236}">
                <a16:creationId xmlns:a16="http://schemas.microsoft.com/office/drawing/2014/main" id="{663B32B9-C3C8-34B7-671F-6969E21AA13D}"/>
              </a:ext>
            </a:extLst>
          </p:cNvPr>
          <p:cNvSpPr>
            <a:spLocks noGrp="1" noChangeArrowheads="1"/>
          </p:cNvSpPr>
          <p:nvPr>
            <p:ph type="body" idx="1"/>
          </p:nvPr>
        </p:nvSpPr>
        <p:spPr>
          <a:xfrm>
            <a:off x="827088" y="1916832"/>
            <a:ext cx="8128000" cy="4215680"/>
          </a:xfrm>
        </p:spPr>
        <p:txBody>
          <a:bodyPr/>
          <a:lstStyle/>
          <a:p>
            <a:pPr eaLnBrk="1" hangingPunct="1"/>
            <a:r>
              <a:rPr lang="zh-CN" altLang="en-US" sz="2400" b="0"/>
              <a:t>例：由日、月、年组成的日期结构类型</a:t>
            </a:r>
          </a:p>
          <a:p>
            <a:pPr lvl="1" eaLnBrk="1" hangingPunct="1"/>
            <a:r>
              <a:rPr lang="zh-CN" altLang="en-US" sz="2000" b="0"/>
              <a:t>    </a:t>
            </a:r>
            <a:r>
              <a:rPr lang="en-US" altLang="zh-CN" sz="2000" b="0"/>
              <a:t>struct Date  {</a:t>
            </a:r>
          </a:p>
          <a:p>
            <a:pPr lvl="1" eaLnBrk="1" hangingPunct="1"/>
            <a:r>
              <a:rPr lang="en-US" altLang="zh-CN" sz="2000" b="0"/>
              <a:t>      int  day;         </a:t>
            </a:r>
            <a:r>
              <a:rPr lang="en-US" altLang="zh-CN" sz="2000" b="0">
                <a:solidFill>
                  <a:schemeClr val="folHlink"/>
                </a:solidFill>
              </a:rPr>
              <a:t>//</a:t>
            </a:r>
            <a:r>
              <a:rPr lang="zh-CN" altLang="en-US" sz="2000" b="0">
                <a:solidFill>
                  <a:schemeClr val="folHlink"/>
                </a:solidFill>
              </a:rPr>
              <a:t>日</a:t>
            </a:r>
          </a:p>
          <a:p>
            <a:pPr lvl="1" eaLnBrk="1" hangingPunct="1"/>
            <a:r>
              <a:rPr lang="zh-CN" altLang="en-US" sz="2000" b="0"/>
              <a:t>      </a:t>
            </a:r>
            <a:r>
              <a:rPr lang="en-US" altLang="zh-CN" sz="2000" b="0"/>
              <a:t>int  month;    </a:t>
            </a:r>
            <a:r>
              <a:rPr lang="en-US" altLang="zh-CN" sz="2000" b="0">
                <a:solidFill>
                  <a:schemeClr val="folHlink"/>
                </a:solidFill>
              </a:rPr>
              <a:t>//</a:t>
            </a:r>
            <a:r>
              <a:rPr lang="zh-CN" altLang="en-US" sz="2000" b="0">
                <a:solidFill>
                  <a:schemeClr val="folHlink"/>
                </a:solidFill>
              </a:rPr>
              <a:t>月</a:t>
            </a:r>
          </a:p>
          <a:p>
            <a:pPr lvl="1" eaLnBrk="1" hangingPunct="1"/>
            <a:r>
              <a:rPr lang="zh-CN" altLang="en-US" sz="2000" b="0"/>
              <a:t>      </a:t>
            </a:r>
            <a:r>
              <a:rPr lang="en-US" altLang="zh-CN" sz="2000" b="0"/>
              <a:t>int  year;       </a:t>
            </a:r>
            <a:r>
              <a:rPr lang="en-US" altLang="zh-CN" sz="2000" b="0">
                <a:solidFill>
                  <a:schemeClr val="folHlink"/>
                </a:solidFill>
              </a:rPr>
              <a:t>//</a:t>
            </a:r>
            <a:r>
              <a:rPr lang="zh-CN" altLang="en-US" sz="2000" b="0">
                <a:solidFill>
                  <a:schemeClr val="folHlink"/>
                </a:solidFill>
              </a:rPr>
              <a:t>年</a:t>
            </a:r>
          </a:p>
          <a:p>
            <a:pPr lvl="1" eaLnBrk="1" hangingPunct="1"/>
            <a:r>
              <a:rPr lang="zh-CN" altLang="en-US" sz="2000" b="0"/>
              <a:t>    </a:t>
            </a:r>
            <a:r>
              <a:rPr lang="en-US" altLang="zh-CN" sz="2000" b="0"/>
              <a:t>};</a:t>
            </a:r>
          </a:p>
        </p:txBody>
      </p:sp>
    </p:spTree>
    <p:extLst>
      <p:ext uri="{BB962C8B-B14F-4D97-AF65-F5344CB8AC3E}">
        <p14:creationId xmlns:p14="http://schemas.microsoft.com/office/powerpoint/2010/main" val="3998348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FD46DB7-E1E3-3594-E448-69AAC935EB22}"/>
              </a:ext>
            </a:extLst>
          </p:cNvPr>
          <p:cNvSpPr>
            <a:spLocks noGrp="1" noChangeArrowheads="1"/>
          </p:cNvSpPr>
          <p:nvPr>
            <p:ph type="title"/>
          </p:nvPr>
        </p:nvSpPr>
        <p:spPr/>
        <p:txBody>
          <a:bodyPr/>
          <a:lstStyle/>
          <a:p>
            <a:pPr eaLnBrk="1" hangingPunct="1"/>
            <a:r>
              <a:rPr lang="zh-CN" altLang="en-US"/>
              <a:t>嵌套结构类型例</a:t>
            </a:r>
            <a:endParaRPr lang="zh-CN" altLang="en-US" sz="3200"/>
          </a:p>
        </p:txBody>
      </p:sp>
      <p:sp>
        <p:nvSpPr>
          <p:cNvPr id="677891" name="Rectangle 3">
            <a:extLst>
              <a:ext uri="{FF2B5EF4-FFF2-40B4-BE49-F238E27FC236}">
                <a16:creationId xmlns:a16="http://schemas.microsoft.com/office/drawing/2014/main" id="{BFAAA540-5369-765B-E345-6B9C052B2533}"/>
              </a:ext>
            </a:extLst>
          </p:cNvPr>
          <p:cNvSpPr>
            <a:spLocks noGrp="1" noChangeArrowheads="1"/>
          </p:cNvSpPr>
          <p:nvPr>
            <p:ph type="body" idx="1"/>
          </p:nvPr>
        </p:nvSpPr>
        <p:spPr>
          <a:xfrm>
            <a:off x="827088" y="1733600"/>
            <a:ext cx="8128000" cy="4215680"/>
          </a:xfrm>
        </p:spPr>
        <p:txBody>
          <a:bodyPr/>
          <a:lstStyle/>
          <a:p>
            <a:pPr eaLnBrk="1" hangingPunct="1"/>
            <a:r>
              <a:rPr lang="zh-CN" altLang="en-US" sz="2400" b="0"/>
              <a:t>一个结构类型中的某些成分可以是其他结构类型</a:t>
            </a:r>
          </a:p>
          <a:p>
            <a:pPr eaLnBrk="1" hangingPunct="1"/>
            <a:r>
              <a:rPr lang="zh-CN" altLang="en-US" sz="2400" b="0"/>
              <a:t>例：描述学生实体的结构类型</a:t>
            </a:r>
          </a:p>
          <a:p>
            <a:pPr lvl="1" eaLnBrk="1" hangingPunct="1"/>
            <a:r>
              <a:rPr lang="en-US" altLang="zh-CN" sz="2000" b="0"/>
              <a:t>struct stdType {</a:t>
            </a:r>
          </a:p>
          <a:p>
            <a:pPr lvl="1" eaLnBrk="1" hangingPunct="1"/>
            <a:r>
              <a:rPr lang="en-US" altLang="zh-CN" sz="2000" b="0"/>
              <a:t>	int no;			</a:t>
            </a:r>
            <a:r>
              <a:rPr lang="en-US" altLang="zh-CN" sz="2000" b="0">
                <a:solidFill>
                  <a:schemeClr val="folHlink"/>
                </a:solidFill>
              </a:rPr>
              <a:t>//</a:t>
            </a:r>
            <a:r>
              <a:rPr lang="zh-CN" altLang="en-US" sz="2000" b="0">
                <a:solidFill>
                  <a:schemeClr val="folHlink"/>
                </a:solidFill>
              </a:rPr>
              <a:t>学号</a:t>
            </a:r>
          </a:p>
          <a:p>
            <a:pPr lvl="1" eaLnBrk="1" hangingPunct="1"/>
            <a:r>
              <a:rPr lang="zh-CN" altLang="en-US" sz="2000" b="0"/>
              <a:t>	</a:t>
            </a:r>
            <a:r>
              <a:rPr lang="en-US" altLang="zh-CN" sz="2000" b="0"/>
              <a:t>char name[20];		</a:t>
            </a:r>
            <a:r>
              <a:rPr lang="en-US" altLang="zh-CN" sz="2000" b="0">
                <a:solidFill>
                  <a:schemeClr val="folHlink"/>
                </a:solidFill>
              </a:rPr>
              <a:t>//</a:t>
            </a:r>
            <a:r>
              <a:rPr lang="zh-CN" altLang="en-US" sz="2000" b="0">
                <a:solidFill>
                  <a:schemeClr val="folHlink"/>
                </a:solidFill>
              </a:rPr>
              <a:t>姓名</a:t>
            </a:r>
          </a:p>
          <a:p>
            <a:pPr lvl="1" eaLnBrk="1" hangingPunct="1"/>
            <a:r>
              <a:rPr lang="zh-CN" altLang="en-US" sz="2000" b="0"/>
              <a:t>	</a:t>
            </a:r>
            <a:r>
              <a:rPr lang="en-US" altLang="zh-CN" sz="2000" b="0"/>
              <a:t>char sex;		</a:t>
            </a:r>
            <a:r>
              <a:rPr lang="en-US" altLang="zh-CN" sz="2000" b="0">
                <a:solidFill>
                  <a:schemeClr val="folHlink"/>
                </a:solidFill>
              </a:rPr>
              <a:t>//</a:t>
            </a:r>
            <a:r>
              <a:rPr lang="zh-CN" altLang="en-US" sz="2000" b="0">
                <a:solidFill>
                  <a:schemeClr val="folHlink"/>
                </a:solidFill>
              </a:rPr>
              <a:t>性别</a:t>
            </a:r>
          </a:p>
          <a:p>
            <a:pPr lvl="1" eaLnBrk="1" hangingPunct="1"/>
            <a:r>
              <a:rPr lang="zh-CN" altLang="en-US" sz="2000" b="0"/>
              <a:t>	</a:t>
            </a:r>
            <a:r>
              <a:rPr lang="en-US" altLang="zh-CN" sz="2000" b="0">
                <a:solidFill>
                  <a:srgbClr val="0066FF"/>
                </a:solidFill>
              </a:rPr>
              <a:t>struct Date </a:t>
            </a:r>
            <a:r>
              <a:rPr lang="en-US" altLang="zh-CN" sz="2000" b="0"/>
              <a:t>birthday; 	</a:t>
            </a:r>
            <a:r>
              <a:rPr lang="en-US" altLang="zh-CN" sz="2000" b="0">
                <a:solidFill>
                  <a:schemeClr val="folHlink"/>
                </a:solidFill>
              </a:rPr>
              <a:t>//</a:t>
            </a:r>
            <a:r>
              <a:rPr lang="zh-CN" altLang="en-US" sz="2000" b="0">
                <a:solidFill>
                  <a:schemeClr val="folHlink"/>
                </a:solidFill>
              </a:rPr>
              <a:t>生日，在</a:t>
            </a:r>
            <a:r>
              <a:rPr lang="en-US" altLang="zh-CN" sz="2000" b="0">
                <a:solidFill>
                  <a:schemeClr val="folHlink"/>
                </a:solidFill>
              </a:rPr>
              <a:t>C++</a:t>
            </a:r>
            <a:r>
              <a:rPr lang="zh-CN" altLang="en-US" sz="2000" b="0">
                <a:solidFill>
                  <a:schemeClr val="folHlink"/>
                </a:solidFill>
              </a:rPr>
              <a:t>中</a:t>
            </a:r>
            <a:r>
              <a:rPr lang="en-US" altLang="zh-CN" sz="2000" b="0">
                <a:solidFill>
                  <a:schemeClr val="folHlink"/>
                </a:solidFill>
              </a:rPr>
              <a:t>struct</a:t>
            </a:r>
            <a:r>
              <a:rPr lang="zh-CN" altLang="en-US" sz="2000" b="0">
                <a:solidFill>
                  <a:schemeClr val="folHlink"/>
                </a:solidFill>
              </a:rPr>
              <a:t>也可不写</a:t>
            </a:r>
            <a:endParaRPr lang="zh-CN" altLang="en-US" sz="2000" b="0"/>
          </a:p>
          <a:p>
            <a:pPr lvl="1" eaLnBrk="1" hangingPunct="1"/>
            <a:r>
              <a:rPr lang="zh-CN" altLang="en-US" sz="2000" b="0"/>
              <a:t>  </a:t>
            </a:r>
            <a:r>
              <a:rPr lang="en-US" altLang="zh-CN" sz="2000" b="0"/>
              <a:t>char address[40];	</a:t>
            </a:r>
            <a:r>
              <a:rPr lang="en-US" altLang="zh-CN" sz="2000" b="0">
                <a:solidFill>
                  <a:schemeClr val="folHlink"/>
                </a:solidFill>
              </a:rPr>
              <a:t>//</a:t>
            </a:r>
            <a:r>
              <a:rPr lang="zh-CN" altLang="en-US" sz="2000" b="0">
                <a:solidFill>
                  <a:schemeClr val="folHlink"/>
                </a:solidFill>
              </a:rPr>
              <a:t>家庭地址</a:t>
            </a:r>
          </a:p>
          <a:p>
            <a:pPr lvl="1" eaLnBrk="1" hangingPunct="1"/>
            <a:r>
              <a:rPr lang="en-US" altLang="zh-CN" sz="2000" b="0"/>
              <a:t>};</a:t>
            </a:r>
          </a:p>
          <a:p>
            <a:pPr eaLnBrk="1" hangingPunct="1"/>
            <a:endParaRPr lang="en-US" altLang="zh-CN" sz="2400" b="0">
              <a:solidFill>
                <a:srgbClr val="CC0000"/>
              </a:solidFill>
              <a:latin typeface="Comic Sans MS" panose="030F0902030302020204" pitchFamily="66" charset="0"/>
            </a:endParaRPr>
          </a:p>
          <a:p>
            <a:pPr eaLnBrk="1" hangingPunct="1"/>
            <a:r>
              <a:rPr lang="en-US" altLang="zh-CN" sz="2400" b="0">
                <a:solidFill>
                  <a:srgbClr val="CC0000"/>
                </a:solidFill>
                <a:latin typeface="Comic Sans MS" panose="030F0902030302020204" pitchFamily="66" charset="0"/>
              </a:rPr>
              <a:t>Q</a:t>
            </a:r>
            <a:r>
              <a:rPr lang="zh-CN" altLang="en-US" sz="2400" b="0">
                <a:solidFill>
                  <a:srgbClr val="CC0000"/>
                </a:solidFill>
              </a:rPr>
              <a:t>：嵌套结构类型能否包含自身？</a:t>
            </a:r>
            <a:r>
              <a:rPr lang="en-US" altLang="zh-CN" sz="2400" b="0">
                <a:solidFill>
                  <a:srgbClr val="CC0000"/>
                </a:solidFill>
              </a:rPr>
              <a:t>——</a:t>
            </a:r>
            <a:r>
              <a:rPr lang="zh-CN" altLang="en-US" sz="2400" b="0">
                <a:solidFill>
                  <a:srgbClr val="CC0000"/>
                </a:solidFill>
              </a:rPr>
              <a:t>不能！</a:t>
            </a:r>
          </a:p>
        </p:txBody>
      </p:sp>
    </p:spTree>
    <p:extLst>
      <p:ext uri="{BB962C8B-B14F-4D97-AF65-F5344CB8AC3E}">
        <p14:creationId xmlns:p14="http://schemas.microsoft.com/office/powerpoint/2010/main" val="37984489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77891">
                                            <p:txEl>
                                              <p:pRg st="10" end="10"/>
                                            </p:txEl>
                                          </p:spTgt>
                                        </p:tgtEl>
                                        <p:attrNameLst>
                                          <p:attrName>style.visibility</p:attrName>
                                        </p:attrNameLst>
                                      </p:cBhvr>
                                      <p:to>
                                        <p:strVal val="visible"/>
                                      </p:to>
                                    </p:set>
                                    <p:anim calcmode="lin" valueType="num">
                                      <p:cBhvr additive="base">
                                        <p:cTn id="7" dur="500" fill="hold"/>
                                        <p:tgtEl>
                                          <p:spTgt spid="677891">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7891">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61E07AB-5BA3-028B-47B6-7C3BFB011F75}"/>
              </a:ext>
            </a:extLst>
          </p:cNvPr>
          <p:cNvSpPr>
            <a:spLocks noGrp="1" noChangeArrowheads="1"/>
          </p:cNvSpPr>
          <p:nvPr>
            <p:ph type="title"/>
          </p:nvPr>
        </p:nvSpPr>
        <p:spPr/>
        <p:txBody>
          <a:bodyPr/>
          <a:lstStyle/>
          <a:p>
            <a:pPr eaLnBrk="1" hangingPunct="1"/>
            <a:r>
              <a:rPr lang="zh-CN" altLang="en-US"/>
              <a:t>结构变量</a:t>
            </a:r>
          </a:p>
        </p:txBody>
      </p:sp>
      <p:sp>
        <p:nvSpPr>
          <p:cNvPr id="679939" name="Rectangle 3">
            <a:extLst>
              <a:ext uri="{FF2B5EF4-FFF2-40B4-BE49-F238E27FC236}">
                <a16:creationId xmlns:a16="http://schemas.microsoft.com/office/drawing/2014/main" id="{E74BD773-CFB1-4F68-A995-F32BB43623C4}"/>
              </a:ext>
            </a:extLst>
          </p:cNvPr>
          <p:cNvSpPr>
            <a:spLocks noGrp="1" noChangeArrowheads="1"/>
          </p:cNvSpPr>
          <p:nvPr>
            <p:ph type="body" idx="1"/>
          </p:nvPr>
        </p:nvSpPr>
        <p:spPr>
          <a:xfrm>
            <a:off x="684213" y="1844824"/>
            <a:ext cx="8008937" cy="4287689"/>
          </a:xfrm>
        </p:spPr>
        <p:txBody>
          <a:bodyPr/>
          <a:lstStyle/>
          <a:p>
            <a:pPr eaLnBrk="1" hangingPunct="1">
              <a:lnSpc>
                <a:spcPct val="130000"/>
              </a:lnSpc>
            </a:pPr>
            <a:r>
              <a:rPr lang="zh-CN" altLang="en-US" sz="2000" b="0"/>
              <a:t>在结构类型定义中，详细列出了结构类型所包含的每个成分的名及其类型。但</a:t>
            </a:r>
            <a:r>
              <a:rPr lang="zh-CN" altLang="en-US" sz="2000" b="0">
                <a:solidFill>
                  <a:srgbClr val="CC0000"/>
                </a:solidFill>
              </a:rPr>
              <a:t>结构类型定义只是表明一种数据类型</a:t>
            </a:r>
            <a:r>
              <a:rPr lang="zh-CN" altLang="en-US" sz="2000" b="0"/>
              <a:t>，是定义一种数据结构的</a:t>
            </a:r>
            <a:r>
              <a:rPr lang="zh-CN" altLang="en-US" sz="2000" b="0">
                <a:latin typeface="Arial" panose="020B0604020202020204" pitchFamily="34" charset="0"/>
              </a:rPr>
              <a:t>“</a:t>
            </a:r>
            <a:r>
              <a:rPr lang="zh-CN" altLang="en-US" sz="2000" b="0"/>
              <a:t>模式</a:t>
            </a:r>
            <a:r>
              <a:rPr lang="zh-CN" altLang="en-US" sz="2000" b="0">
                <a:latin typeface="Arial" panose="020B0604020202020204" pitchFamily="34" charset="0"/>
              </a:rPr>
              <a:t>”</a:t>
            </a:r>
            <a:r>
              <a:rPr lang="zh-CN" altLang="en-US" sz="2000" b="0"/>
              <a:t>或</a:t>
            </a:r>
            <a:r>
              <a:rPr lang="zh-CN" altLang="en-US" sz="2000" b="0">
                <a:latin typeface="Arial" panose="020B0604020202020204" pitchFamily="34" charset="0"/>
              </a:rPr>
              <a:t>“</a:t>
            </a:r>
            <a:r>
              <a:rPr lang="zh-CN" altLang="en-US" sz="2000" b="0"/>
              <a:t>样板</a:t>
            </a:r>
            <a:r>
              <a:rPr lang="zh-CN" altLang="en-US" sz="2000" b="0">
                <a:latin typeface="Arial" panose="020B0604020202020204" pitchFamily="34" charset="0"/>
              </a:rPr>
              <a:t>”</a:t>
            </a:r>
            <a:r>
              <a:rPr lang="zh-CN" altLang="en-US" sz="2000" b="0"/>
              <a:t>，</a:t>
            </a:r>
            <a:r>
              <a:rPr lang="zh-CN" altLang="en-US" sz="2000" b="0">
                <a:solidFill>
                  <a:srgbClr val="CC0000"/>
                </a:solidFill>
              </a:rPr>
              <a:t>并不定义</a:t>
            </a:r>
            <a:r>
              <a:rPr lang="zh-CN" altLang="en-US" sz="2000" b="0">
                <a:solidFill>
                  <a:srgbClr val="CC0000"/>
                </a:solidFill>
                <a:latin typeface="Arial" panose="020B0604020202020204" pitchFamily="34" charset="0"/>
              </a:rPr>
              <a:t>“</a:t>
            </a:r>
            <a:r>
              <a:rPr lang="zh-CN" altLang="en-US" sz="2000" b="0">
                <a:solidFill>
                  <a:srgbClr val="CC0000"/>
                </a:solidFill>
              </a:rPr>
              <a:t>实物</a:t>
            </a:r>
            <a:r>
              <a:rPr lang="en-US" altLang="zh-CN" sz="2000" b="0">
                <a:solidFill>
                  <a:srgbClr val="CC0000"/>
                </a:solidFill>
              </a:rPr>
              <a:t>/</a:t>
            </a:r>
            <a:r>
              <a:rPr lang="zh-CN" altLang="en-US" sz="2000" b="0">
                <a:solidFill>
                  <a:srgbClr val="CC0000"/>
                </a:solidFill>
              </a:rPr>
              <a:t>实例</a:t>
            </a:r>
            <a:r>
              <a:rPr lang="zh-CN" altLang="en-US" sz="2000" b="0">
                <a:solidFill>
                  <a:srgbClr val="CC0000"/>
                </a:solidFill>
                <a:latin typeface="Arial" panose="020B0604020202020204" pitchFamily="34" charset="0"/>
              </a:rPr>
              <a:t>”</a:t>
            </a:r>
            <a:r>
              <a:rPr lang="zh-CN" altLang="en-US" sz="2000" b="0">
                <a:solidFill>
                  <a:srgbClr val="CC0000"/>
                </a:solidFill>
              </a:rPr>
              <a:t>，不要求分配存储单元</a:t>
            </a:r>
            <a:r>
              <a:rPr lang="zh-CN" altLang="en-US" sz="2000" b="0"/>
              <a:t>。</a:t>
            </a:r>
            <a:r>
              <a:rPr lang="zh-CN" altLang="en-US" sz="2000" b="0">
                <a:solidFill>
                  <a:schemeClr val="folHlink"/>
                </a:solidFill>
              </a:rPr>
              <a:t>程序要使用结构数据，必须定义</a:t>
            </a:r>
            <a:r>
              <a:rPr lang="zh-CN" altLang="en-US" sz="2000" b="0" u="sng">
                <a:solidFill>
                  <a:srgbClr val="0066FF"/>
                </a:solidFill>
                <a:effectLst>
                  <a:outerShdw blurRad="38100" dist="38100" dir="2700000" algn="tl">
                    <a:srgbClr val="C0C0C0"/>
                  </a:outerShdw>
                </a:effectLst>
              </a:rPr>
              <a:t>结构变量</a:t>
            </a:r>
            <a:r>
              <a:rPr lang="zh-CN" altLang="en-US" sz="2000" b="0">
                <a:solidFill>
                  <a:schemeClr val="folHlink"/>
                </a:solidFill>
              </a:rPr>
              <a:t>。</a:t>
            </a:r>
          </a:p>
          <a:p>
            <a:pPr eaLnBrk="1" hangingPunct="1">
              <a:lnSpc>
                <a:spcPct val="130000"/>
              </a:lnSpc>
            </a:pPr>
            <a:endParaRPr lang="zh-CN" altLang="en-US" sz="2000" b="0"/>
          </a:p>
          <a:p>
            <a:pPr eaLnBrk="1" hangingPunct="1">
              <a:lnSpc>
                <a:spcPct val="130000"/>
              </a:lnSpc>
            </a:pPr>
            <a:r>
              <a:rPr lang="zh-CN" altLang="en-US" sz="2000" b="0">
                <a:solidFill>
                  <a:srgbClr val="0066FF"/>
                </a:solidFill>
              </a:rPr>
              <a:t>结构变量</a:t>
            </a:r>
            <a:r>
              <a:rPr lang="zh-CN" altLang="en-US" sz="2000" b="0"/>
              <a:t>：具有结构类型的变量</a:t>
            </a:r>
          </a:p>
          <a:p>
            <a:pPr lvl="1" eaLnBrk="1" hangingPunct="1">
              <a:lnSpc>
                <a:spcPct val="130000"/>
              </a:lnSpc>
            </a:pPr>
            <a:r>
              <a:rPr lang="zh-CN" altLang="en-US" sz="1800" b="0"/>
              <a:t>结构变量也简称结构</a:t>
            </a:r>
          </a:p>
          <a:p>
            <a:pPr eaLnBrk="1" hangingPunct="1">
              <a:lnSpc>
                <a:spcPct val="130000"/>
              </a:lnSpc>
            </a:pPr>
            <a:r>
              <a:rPr lang="zh-CN" altLang="en-US" sz="2000" b="0"/>
              <a:t>结构变量在存在期间要占用内存单元，它的成分个数和各成分的类型与结构类型定义中的成分个数和各成分的类型相一致。</a:t>
            </a:r>
          </a:p>
        </p:txBody>
      </p:sp>
    </p:spTree>
    <p:extLst>
      <p:ext uri="{BB962C8B-B14F-4D97-AF65-F5344CB8AC3E}">
        <p14:creationId xmlns:p14="http://schemas.microsoft.com/office/powerpoint/2010/main" val="3762263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4DDC46B-8038-2C8C-BC2D-7E58A93E89AF}"/>
              </a:ext>
            </a:extLst>
          </p:cNvPr>
          <p:cNvSpPr>
            <a:spLocks noGrp="1" noChangeArrowheads="1"/>
          </p:cNvSpPr>
          <p:nvPr>
            <p:ph type="title"/>
          </p:nvPr>
        </p:nvSpPr>
        <p:spPr/>
        <p:txBody>
          <a:bodyPr/>
          <a:lstStyle/>
          <a:p>
            <a:pPr eaLnBrk="1" hangingPunct="1"/>
            <a:r>
              <a:rPr lang="zh-CN" altLang="en-US"/>
              <a:t>定义结构变量</a:t>
            </a:r>
          </a:p>
        </p:txBody>
      </p:sp>
      <p:sp>
        <p:nvSpPr>
          <p:cNvPr id="681987" name="Rectangle 3">
            <a:extLst>
              <a:ext uri="{FF2B5EF4-FFF2-40B4-BE49-F238E27FC236}">
                <a16:creationId xmlns:a16="http://schemas.microsoft.com/office/drawing/2014/main" id="{46AA7A4D-AD85-04B6-0518-F3B8163A5AF5}"/>
              </a:ext>
            </a:extLst>
          </p:cNvPr>
          <p:cNvSpPr>
            <a:spLocks noGrp="1" noChangeArrowheads="1"/>
          </p:cNvSpPr>
          <p:nvPr>
            <p:ph type="body" idx="1"/>
          </p:nvPr>
        </p:nvSpPr>
        <p:spPr>
          <a:xfrm>
            <a:off x="827088" y="1844823"/>
            <a:ext cx="8128000" cy="4287689"/>
          </a:xfrm>
        </p:spPr>
        <p:txBody>
          <a:bodyPr/>
          <a:lstStyle/>
          <a:p>
            <a:pPr eaLnBrk="1" hangingPunct="1">
              <a:buFont typeface="Wingdings" pitchFamily="2" charset="2"/>
              <a:buNone/>
            </a:pPr>
            <a:r>
              <a:rPr lang="zh-CN" altLang="en-US" b="0"/>
              <a:t>程序定义结构变量有</a:t>
            </a:r>
            <a:r>
              <a:rPr lang="zh-CN" altLang="en-US" b="0">
                <a:solidFill>
                  <a:srgbClr val="0070C0"/>
                </a:solidFill>
              </a:rPr>
              <a:t>两种不同的方法</a:t>
            </a:r>
            <a:r>
              <a:rPr lang="zh-CN" altLang="en-US" b="0"/>
              <a:t>。</a:t>
            </a:r>
          </a:p>
          <a:p>
            <a:pPr eaLnBrk="1" hangingPunct="1">
              <a:buFont typeface="Wingdings" pitchFamily="2" charset="2"/>
              <a:buNone/>
            </a:pPr>
            <a:endParaRPr lang="en-US" altLang="zh-CN"/>
          </a:p>
          <a:p>
            <a:pPr eaLnBrk="1" hangingPunct="1">
              <a:buFont typeface="Wingdings" pitchFamily="2" charset="2"/>
              <a:buNone/>
            </a:pPr>
            <a:r>
              <a:rPr lang="en-US" altLang="zh-CN"/>
              <a:t>(1)</a:t>
            </a:r>
            <a:r>
              <a:rPr lang="zh-CN" altLang="en-US"/>
              <a:t>先定义结构类型，再定义结构变量</a:t>
            </a:r>
          </a:p>
          <a:p>
            <a:pPr lvl="1" eaLnBrk="1" hangingPunct="1"/>
            <a:r>
              <a:rPr lang="en-US" altLang="zh-CN" b="0"/>
              <a:t>struct </a:t>
            </a:r>
            <a:r>
              <a:rPr lang="zh-CN" altLang="en-US" b="0"/>
              <a:t>结构类型名  结构变量标识符表；</a:t>
            </a:r>
          </a:p>
          <a:p>
            <a:pPr eaLnBrk="1" hangingPunct="1"/>
            <a:r>
              <a:rPr lang="zh-CN" altLang="en-US" b="0"/>
              <a:t>例</a:t>
            </a:r>
          </a:p>
          <a:p>
            <a:pPr lvl="1" eaLnBrk="1" hangingPunct="1"/>
            <a:r>
              <a:rPr lang="en-US" altLang="zh-CN" b="0"/>
              <a:t>struct stdType st1, st2; </a:t>
            </a:r>
            <a:endParaRPr lang="en-US" altLang="zh-CN" b="0">
              <a:solidFill>
                <a:schemeClr val="folHlink"/>
              </a:solidFill>
            </a:endParaRPr>
          </a:p>
          <a:p>
            <a:pPr lvl="1" eaLnBrk="1" hangingPunct="1"/>
            <a:r>
              <a:rPr lang="en-US" altLang="zh-CN" b="0">
                <a:solidFill>
                  <a:srgbClr val="0070C0"/>
                </a:solidFill>
              </a:rPr>
              <a:t>struct  stdType  stdArray[200];</a:t>
            </a:r>
          </a:p>
        </p:txBody>
      </p:sp>
    </p:spTree>
    <p:extLst>
      <p:ext uri="{BB962C8B-B14F-4D97-AF65-F5344CB8AC3E}">
        <p14:creationId xmlns:p14="http://schemas.microsoft.com/office/powerpoint/2010/main" val="9285178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681987">
                                            <p:txEl>
                                              <p:pRg st="6" end="6"/>
                                            </p:txEl>
                                          </p:spTgt>
                                        </p:tgtEl>
                                        <p:attrNameLst>
                                          <p:attrName>style.visibility</p:attrName>
                                        </p:attrNameLst>
                                      </p:cBhvr>
                                      <p:to>
                                        <p:strVal val="visible"/>
                                      </p:to>
                                    </p:set>
                                    <p:animEffect transition="in" filter="blinds(horizontal)">
                                      <p:cBhvr>
                                        <p:cTn id="7" dur="500"/>
                                        <p:tgtEl>
                                          <p:spTgt spid="6819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B08233B-EF2B-5076-5BB1-5D6F20EED5BD}"/>
              </a:ext>
            </a:extLst>
          </p:cNvPr>
          <p:cNvSpPr>
            <a:spLocks noGrp="1" noChangeArrowheads="1"/>
          </p:cNvSpPr>
          <p:nvPr>
            <p:ph type="title"/>
          </p:nvPr>
        </p:nvSpPr>
        <p:spPr/>
        <p:txBody>
          <a:bodyPr/>
          <a:lstStyle/>
          <a:p>
            <a:pPr eaLnBrk="1" hangingPunct="1"/>
            <a:r>
              <a:rPr lang="zh-CN" altLang="en-US" sz="4000"/>
              <a:t>定义结构变量</a:t>
            </a:r>
            <a:r>
              <a:rPr lang="en-US" altLang="zh-CN" sz="4000"/>
              <a:t>(</a:t>
            </a:r>
            <a:r>
              <a:rPr lang="zh-CN" altLang="en-US" sz="4000"/>
              <a:t>续</a:t>
            </a:r>
            <a:r>
              <a:rPr lang="en-US" altLang="zh-CN" sz="4000"/>
              <a:t>)</a:t>
            </a:r>
            <a:endParaRPr lang="zh-CN" altLang="en-US" sz="4000"/>
          </a:p>
        </p:txBody>
      </p:sp>
      <p:sp>
        <p:nvSpPr>
          <p:cNvPr id="36867" name="Rectangle 3">
            <a:extLst>
              <a:ext uri="{FF2B5EF4-FFF2-40B4-BE49-F238E27FC236}">
                <a16:creationId xmlns:a16="http://schemas.microsoft.com/office/drawing/2014/main" id="{C59A7F6D-E224-746B-3F87-1B6D6D4AAAC8}"/>
              </a:ext>
            </a:extLst>
          </p:cNvPr>
          <p:cNvSpPr>
            <a:spLocks noGrp="1" noChangeArrowheads="1"/>
          </p:cNvSpPr>
          <p:nvPr>
            <p:ph type="body" idx="1"/>
          </p:nvPr>
        </p:nvSpPr>
        <p:spPr>
          <a:xfrm>
            <a:off x="827088" y="1844823"/>
            <a:ext cx="7866062" cy="4287689"/>
          </a:xfrm>
        </p:spPr>
        <p:txBody>
          <a:bodyPr/>
          <a:lstStyle/>
          <a:p>
            <a:pPr eaLnBrk="1" hangingPunct="1"/>
            <a:r>
              <a:rPr lang="zh-CN" altLang="en-US" sz="2800" b="0"/>
              <a:t>例</a:t>
            </a:r>
          </a:p>
          <a:p>
            <a:pPr lvl="1" eaLnBrk="1" hangingPunct="1"/>
            <a:r>
              <a:rPr lang="en-US" altLang="zh-CN" sz="2400" b="0"/>
              <a:t>int  i;</a:t>
            </a:r>
          </a:p>
          <a:p>
            <a:pPr lvl="1" eaLnBrk="1" hangingPunct="1"/>
            <a:r>
              <a:rPr lang="en-US" altLang="zh-CN" sz="2400" b="0"/>
              <a:t>struct Date  date1, date2;</a:t>
            </a:r>
          </a:p>
          <a:p>
            <a:pPr eaLnBrk="1" hangingPunct="1"/>
            <a:endParaRPr lang="en-US" altLang="zh-CN" sz="2800" b="0"/>
          </a:p>
          <a:p>
            <a:pPr eaLnBrk="1" hangingPunct="1"/>
            <a:r>
              <a:rPr lang="zh-CN" altLang="en-US" sz="2800" b="0"/>
              <a:t>格式区别</a:t>
            </a:r>
          </a:p>
          <a:p>
            <a:pPr lvl="1" eaLnBrk="1" hangingPunct="1"/>
            <a:r>
              <a:rPr lang="zh-CN" altLang="en-US" sz="2400" b="0"/>
              <a:t>在定义基本数据类型的变量时，只需指明其类型即可</a:t>
            </a:r>
          </a:p>
          <a:p>
            <a:pPr lvl="1" eaLnBrk="1" hangingPunct="1"/>
            <a:r>
              <a:rPr lang="zh-CN" altLang="en-US" sz="2400" b="0"/>
              <a:t>在定义结构变量的这种方法中，要同时指明变量的类型为结构 </a:t>
            </a:r>
            <a:r>
              <a:rPr lang="en-US" altLang="zh-CN" sz="2400" b="0"/>
              <a:t>(struct)</a:t>
            </a:r>
            <a:r>
              <a:rPr lang="zh-CN" altLang="en-US" sz="2400" b="0"/>
              <a:t>，以及结构类型名</a:t>
            </a:r>
            <a:r>
              <a:rPr lang="en-US" altLang="zh-CN" sz="2400" b="0"/>
              <a:t>(</a:t>
            </a:r>
            <a:r>
              <a:rPr lang="zh-CN" altLang="en-US" sz="2400" b="0"/>
              <a:t>如 </a:t>
            </a:r>
            <a:r>
              <a:rPr lang="en-US" altLang="zh-CN" sz="2400" b="0"/>
              <a:t>Date)——</a:t>
            </a:r>
            <a:r>
              <a:rPr lang="en-US" altLang="zh-CN" sz="2400" b="0">
                <a:solidFill>
                  <a:srgbClr val="C00000"/>
                </a:solidFill>
              </a:rPr>
              <a:t>⚠️</a:t>
            </a:r>
            <a:r>
              <a:rPr lang="zh-CN" altLang="en-US" sz="2400" b="0">
                <a:solidFill>
                  <a:srgbClr val="C00000"/>
                </a:solidFill>
              </a:rPr>
              <a:t>注意：这种情况下，变量定义中</a:t>
            </a:r>
            <a:r>
              <a:rPr lang="en-US" altLang="zh-CN" sz="2400" b="0">
                <a:solidFill>
                  <a:srgbClr val="C00000"/>
                </a:solidFill>
              </a:rPr>
              <a:t>struct</a:t>
            </a:r>
            <a:r>
              <a:rPr lang="zh-CN" altLang="en-US" sz="2400" b="0">
                <a:solidFill>
                  <a:srgbClr val="C00000"/>
                </a:solidFill>
              </a:rPr>
              <a:t>不能省略</a:t>
            </a:r>
            <a:endParaRPr lang="en-US" altLang="zh-CN" sz="2400" b="0">
              <a:solidFill>
                <a:srgbClr val="C00000"/>
              </a:solidFill>
            </a:endParaRPr>
          </a:p>
        </p:txBody>
      </p:sp>
    </p:spTree>
    <p:extLst>
      <p:ext uri="{BB962C8B-B14F-4D97-AF65-F5344CB8AC3E}">
        <p14:creationId xmlns:p14="http://schemas.microsoft.com/office/powerpoint/2010/main" val="556822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A10E357-ABA4-9843-965E-273B62EBDDE0}"/>
              </a:ext>
            </a:extLst>
          </p:cNvPr>
          <p:cNvSpPr>
            <a:spLocks noGrp="1" noChangeArrowheads="1"/>
          </p:cNvSpPr>
          <p:nvPr>
            <p:ph type="title"/>
          </p:nvPr>
        </p:nvSpPr>
        <p:spPr/>
        <p:txBody>
          <a:bodyPr/>
          <a:lstStyle/>
          <a:p>
            <a:pPr eaLnBrk="1" hangingPunct="1"/>
            <a:r>
              <a:rPr lang="zh-CN" altLang="en-US"/>
              <a:t>定义结构变量</a:t>
            </a:r>
            <a:r>
              <a:rPr lang="en-US" altLang="zh-CN"/>
              <a:t>(</a:t>
            </a:r>
            <a:r>
              <a:rPr lang="zh-CN" altLang="en-US"/>
              <a:t>续</a:t>
            </a:r>
            <a:r>
              <a:rPr lang="en-US" altLang="zh-CN"/>
              <a:t>)</a:t>
            </a:r>
          </a:p>
        </p:txBody>
      </p:sp>
      <p:sp>
        <p:nvSpPr>
          <p:cNvPr id="38915" name="Rectangle 3">
            <a:extLst>
              <a:ext uri="{FF2B5EF4-FFF2-40B4-BE49-F238E27FC236}">
                <a16:creationId xmlns:a16="http://schemas.microsoft.com/office/drawing/2014/main" id="{0D7E8DF4-EC12-CF7D-C135-3652823B22FD}"/>
              </a:ext>
            </a:extLst>
          </p:cNvPr>
          <p:cNvSpPr>
            <a:spLocks noGrp="1" noChangeArrowheads="1"/>
          </p:cNvSpPr>
          <p:nvPr>
            <p:ph type="body" idx="1"/>
          </p:nvPr>
        </p:nvSpPr>
        <p:spPr>
          <a:xfrm>
            <a:off x="827088" y="1844823"/>
            <a:ext cx="8128000" cy="4287689"/>
          </a:xfrm>
        </p:spPr>
        <p:txBody>
          <a:bodyPr/>
          <a:lstStyle/>
          <a:p>
            <a:pPr eaLnBrk="1" hangingPunct="1">
              <a:spcAft>
                <a:spcPts val="600"/>
              </a:spcAft>
              <a:buFont typeface="Wingdings" pitchFamily="2" charset="2"/>
              <a:buNone/>
            </a:pPr>
            <a:r>
              <a:rPr lang="en-US" altLang="zh-CN" sz="2800"/>
              <a:t>(2)</a:t>
            </a:r>
            <a:r>
              <a:rPr lang="zh-CN" altLang="en-US" sz="2800"/>
              <a:t>在定义结构类型时，同时定义结构变量</a:t>
            </a:r>
          </a:p>
          <a:p>
            <a:pPr lvl="1" eaLnBrk="1" hangingPunct="1">
              <a:spcAft>
                <a:spcPts val="600"/>
              </a:spcAft>
            </a:pPr>
            <a:r>
              <a:rPr lang="zh-CN" altLang="en-US" sz="2400" b="0"/>
              <a:t>      </a:t>
            </a:r>
            <a:r>
              <a:rPr lang="en-US" altLang="zh-CN" sz="2400" b="0"/>
              <a:t>struct  </a:t>
            </a:r>
            <a:r>
              <a:rPr lang="zh-CN" altLang="en-US" sz="2400" b="0"/>
              <a:t>结构类型名  </a:t>
            </a:r>
            <a:r>
              <a:rPr lang="en-US" altLang="zh-CN" sz="2400" b="0"/>
              <a:t>{</a:t>
            </a:r>
          </a:p>
          <a:p>
            <a:pPr lvl="1" eaLnBrk="1" hangingPunct="1">
              <a:spcAft>
                <a:spcPts val="600"/>
              </a:spcAft>
            </a:pPr>
            <a:r>
              <a:rPr lang="en-US" altLang="zh-CN" sz="2400" b="0"/>
              <a:t>         </a:t>
            </a:r>
            <a:r>
              <a:rPr lang="zh-CN" altLang="en-US" sz="2400" b="0"/>
              <a:t>成分说明表</a:t>
            </a:r>
          </a:p>
          <a:p>
            <a:pPr lvl="1" eaLnBrk="1" hangingPunct="1">
              <a:spcAft>
                <a:spcPts val="600"/>
              </a:spcAft>
            </a:pPr>
            <a:r>
              <a:rPr lang="zh-CN" altLang="en-US" sz="2400" b="0"/>
              <a:t>      </a:t>
            </a:r>
            <a:r>
              <a:rPr lang="en-US" altLang="zh-CN" sz="2400" b="0"/>
              <a:t>}  </a:t>
            </a:r>
            <a:r>
              <a:rPr lang="zh-CN" altLang="en-US" sz="2400" b="0">
                <a:solidFill>
                  <a:srgbClr val="0066FF"/>
                </a:solidFill>
              </a:rPr>
              <a:t>结构变量标识符表</a:t>
            </a:r>
            <a:r>
              <a:rPr lang="en-US" altLang="zh-CN" sz="2400" b="0"/>
              <a:t>;</a:t>
            </a:r>
          </a:p>
          <a:p>
            <a:pPr eaLnBrk="1" hangingPunct="1">
              <a:spcAft>
                <a:spcPts val="600"/>
              </a:spcAft>
            </a:pPr>
            <a:r>
              <a:rPr lang="zh-CN" altLang="en-US" sz="2400" b="0"/>
              <a:t>例：定义</a:t>
            </a:r>
            <a:r>
              <a:rPr lang="en-US" altLang="zh-CN" sz="2400" b="0"/>
              <a:t>struct point</a:t>
            </a:r>
            <a:r>
              <a:rPr lang="zh-CN" altLang="en-US" sz="2400" b="0"/>
              <a:t>型变量</a:t>
            </a:r>
            <a:r>
              <a:rPr lang="en-US" altLang="zh-CN" sz="2400" b="0"/>
              <a:t>p1</a:t>
            </a:r>
            <a:r>
              <a:rPr lang="zh-CN" altLang="en-US" sz="2400" b="0"/>
              <a:t>、</a:t>
            </a:r>
            <a:r>
              <a:rPr lang="en-US" altLang="zh-CN" sz="2400" b="0"/>
              <a:t>p2</a:t>
            </a:r>
          </a:p>
          <a:p>
            <a:pPr lvl="1" eaLnBrk="1" hangingPunct="1">
              <a:spcAft>
                <a:spcPts val="600"/>
              </a:spcAft>
            </a:pPr>
            <a:r>
              <a:rPr lang="en-US" altLang="zh-CN" sz="2000" b="0"/>
              <a:t>     struct  point{     </a:t>
            </a:r>
            <a:r>
              <a:rPr lang="en-US" altLang="zh-CN" sz="2000" b="0">
                <a:solidFill>
                  <a:schemeClr val="folHlink"/>
                </a:solidFill>
              </a:rPr>
              <a:t>// </a:t>
            </a:r>
            <a:r>
              <a:rPr lang="zh-CN" altLang="en-US" sz="2000" b="0">
                <a:solidFill>
                  <a:schemeClr val="folHlink"/>
                </a:solidFill>
              </a:rPr>
              <a:t>说明绘图程序的坐标类型</a:t>
            </a:r>
          </a:p>
          <a:p>
            <a:pPr lvl="1" eaLnBrk="1" hangingPunct="1">
              <a:spcAft>
                <a:spcPts val="600"/>
              </a:spcAft>
            </a:pPr>
            <a:r>
              <a:rPr lang="zh-CN" altLang="en-US" sz="2000" b="0"/>
              <a:t>         </a:t>
            </a:r>
            <a:r>
              <a:rPr lang="en-US" altLang="zh-CN" sz="2000" b="0"/>
              <a:t>int  x;</a:t>
            </a:r>
          </a:p>
          <a:p>
            <a:pPr lvl="1" eaLnBrk="1" hangingPunct="1">
              <a:spcAft>
                <a:spcPts val="600"/>
              </a:spcAft>
            </a:pPr>
            <a:r>
              <a:rPr lang="en-US" altLang="zh-CN" sz="2000" b="0"/>
              <a:t>         int  y;</a:t>
            </a:r>
          </a:p>
          <a:p>
            <a:pPr lvl="1" eaLnBrk="1" hangingPunct="1">
              <a:spcAft>
                <a:spcPts val="600"/>
              </a:spcAft>
            </a:pPr>
            <a:r>
              <a:rPr lang="en-US" altLang="zh-CN" sz="2000" b="0"/>
              <a:t>     }  </a:t>
            </a:r>
            <a:r>
              <a:rPr lang="en-US" altLang="zh-CN" sz="2000" b="0">
                <a:solidFill>
                  <a:srgbClr val="0066FF"/>
                </a:solidFill>
              </a:rPr>
              <a:t>p1, p2</a:t>
            </a:r>
            <a:r>
              <a:rPr lang="en-US" altLang="zh-CN" sz="2000" b="0"/>
              <a:t>;</a:t>
            </a:r>
            <a:endParaRPr lang="en-US" altLang="zh-CN" sz="2400" b="0"/>
          </a:p>
        </p:txBody>
      </p:sp>
    </p:spTree>
    <p:extLst>
      <p:ext uri="{BB962C8B-B14F-4D97-AF65-F5344CB8AC3E}">
        <p14:creationId xmlns:p14="http://schemas.microsoft.com/office/powerpoint/2010/main" val="3182000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ED3CE26-29FA-38BA-DCDC-8C86C0636DD8}"/>
              </a:ext>
            </a:extLst>
          </p:cNvPr>
          <p:cNvSpPr>
            <a:spLocks noGrp="1" noChangeArrowheads="1"/>
          </p:cNvSpPr>
          <p:nvPr>
            <p:ph type="title"/>
          </p:nvPr>
        </p:nvSpPr>
        <p:spPr/>
        <p:txBody>
          <a:bodyPr/>
          <a:lstStyle/>
          <a:p>
            <a:pPr eaLnBrk="1" hangingPunct="1"/>
            <a:r>
              <a:rPr lang="zh-CN" altLang="en-US"/>
              <a:t>定义结构变量</a:t>
            </a:r>
            <a:r>
              <a:rPr lang="en-US" altLang="zh-CN"/>
              <a:t>(</a:t>
            </a:r>
            <a:r>
              <a:rPr lang="zh-CN" altLang="en-US"/>
              <a:t>续</a:t>
            </a:r>
            <a:r>
              <a:rPr lang="en-US" altLang="zh-CN"/>
              <a:t>)</a:t>
            </a:r>
          </a:p>
        </p:txBody>
      </p:sp>
      <p:sp>
        <p:nvSpPr>
          <p:cNvPr id="40963" name="Rectangle 3">
            <a:extLst>
              <a:ext uri="{FF2B5EF4-FFF2-40B4-BE49-F238E27FC236}">
                <a16:creationId xmlns:a16="http://schemas.microsoft.com/office/drawing/2014/main" id="{B4BC861E-78E6-E877-C752-12123F7EC0B6}"/>
              </a:ext>
            </a:extLst>
          </p:cNvPr>
          <p:cNvSpPr>
            <a:spLocks noGrp="1" noChangeArrowheads="1"/>
          </p:cNvSpPr>
          <p:nvPr>
            <p:ph type="body" idx="1"/>
          </p:nvPr>
        </p:nvSpPr>
        <p:spPr>
          <a:xfrm>
            <a:off x="827088" y="1772815"/>
            <a:ext cx="8128000" cy="4359697"/>
          </a:xfrm>
        </p:spPr>
        <p:txBody>
          <a:bodyPr/>
          <a:lstStyle/>
          <a:p>
            <a:pPr eaLnBrk="1" hangingPunct="1">
              <a:spcAft>
                <a:spcPts val="600"/>
              </a:spcAft>
            </a:pPr>
            <a:r>
              <a:rPr lang="zh-CN" altLang="en-US" b="0"/>
              <a:t>在这种定义形式中，如某种形式的结构类型只是一次性定义几个变量，还可以</a:t>
            </a:r>
            <a:r>
              <a:rPr lang="zh-CN" altLang="en-US" b="0" u="sng">
                <a:solidFill>
                  <a:srgbClr val="0070C0"/>
                </a:solidFill>
              </a:rPr>
              <a:t>省略结构类型名</a:t>
            </a:r>
            <a:r>
              <a:rPr lang="zh-CN" altLang="en-US" b="0"/>
              <a:t>，直接定义结构变量。例如：</a:t>
            </a:r>
          </a:p>
          <a:p>
            <a:pPr lvl="1" eaLnBrk="1" hangingPunct="1">
              <a:spcAft>
                <a:spcPts val="600"/>
              </a:spcAft>
            </a:pPr>
            <a:r>
              <a:rPr lang="zh-CN" altLang="en-US" b="0"/>
              <a:t> </a:t>
            </a:r>
            <a:r>
              <a:rPr lang="en-US" altLang="zh-CN" b="0"/>
              <a:t>struct  {       </a:t>
            </a:r>
            <a:r>
              <a:rPr lang="en-US" altLang="zh-CN" b="0">
                <a:solidFill>
                  <a:schemeClr val="folHlink"/>
                </a:solidFill>
              </a:rPr>
              <a:t>// </a:t>
            </a:r>
            <a:r>
              <a:rPr lang="zh-CN" altLang="en-US" b="0">
                <a:solidFill>
                  <a:schemeClr val="folHlink"/>
                </a:solidFill>
              </a:rPr>
              <a:t>说明绘图程序的坐标类型</a:t>
            </a:r>
          </a:p>
          <a:p>
            <a:pPr lvl="1" eaLnBrk="1" hangingPunct="1">
              <a:spcAft>
                <a:spcPts val="600"/>
              </a:spcAft>
            </a:pPr>
            <a:r>
              <a:rPr lang="zh-CN" altLang="en-US" b="0"/>
              <a:t>      </a:t>
            </a:r>
            <a:r>
              <a:rPr lang="en-US" altLang="zh-CN" b="0"/>
              <a:t>int  x;</a:t>
            </a:r>
          </a:p>
          <a:p>
            <a:pPr lvl="1" eaLnBrk="1" hangingPunct="1">
              <a:spcAft>
                <a:spcPts val="600"/>
              </a:spcAft>
            </a:pPr>
            <a:r>
              <a:rPr lang="en-US" altLang="zh-CN" b="0"/>
              <a:t>      int  y;</a:t>
            </a:r>
          </a:p>
          <a:p>
            <a:pPr lvl="1" eaLnBrk="1" hangingPunct="1">
              <a:spcAft>
                <a:spcPts val="600"/>
              </a:spcAft>
            </a:pPr>
            <a:r>
              <a:rPr lang="en-US" altLang="zh-CN" b="0"/>
              <a:t>}  p1, p2;</a:t>
            </a:r>
          </a:p>
        </p:txBody>
      </p:sp>
    </p:spTree>
    <p:extLst>
      <p:ext uri="{BB962C8B-B14F-4D97-AF65-F5344CB8AC3E}">
        <p14:creationId xmlns:p14="http://schemas.microsoft.com/office/powerpoint/2010/main" val="4120040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CCC23B28-AD85-D923-293B-4471839EC5A3}"/>
              </a:ext>
            </a:extLst>
          </p:cNvPr>
          <p:cNvSpPr>
            <a:spLocks noGrp="1" noChangeArrowheads="1"/>
          </p:cNvSpPr>
          <p:nvPr>
            <p:ph type="title"/>
          </p:nvPr>
        </p:nvSpPr>
        <p:spPr/>
        <p:txBody>
          <a:bodyPr/>
          <a:lstStyle/>
          <a:p>
            <a:pPr eaLnBrk="1" hangingPunct="1"/>
            <a:r>
              <a:rPr lang="zh-CN" altLang="en-US"/>
              <a:t>定义中的“重名”</a:t>
            </a:r>
          </a:p>
        </p:txBody>
      </p:sp>
      <p:sp>
        <p:nvSpPr>
          <p:cNvPr id="690179" name="Rectangle 3">
            <a:extLst>
              <a:ext uri="{FF2B5EF4-FFF2-40B4-BE49-F238E27FC236}">
                <a16:creationId xmlns:a16="http://schemas.microsoft.com/office/drawing/2014/main" id="{30010FA4-6264-A1E6-9CE7-C221ADF32444}"/>
              </a:ext>
            </a:extLst>
          </p:cNvPr>
          <p:cNvSpPr>
            <a:spLocks noGrp="1" noChangeArrowheads="1"/>
          </p:cNvSpPr>
          <p:nvPr>
            <p:ph type="body" idx="1"/>
          </p:nvPr>
        </p:nvSpPr>
        <p:spPr>
          <a:xfrm>
            <a:off x="827088" y="1844823"/>
            <a:ext cx="7633344" cy="4287689"/>
          </a:xfrm>
        </p:spPr>
        <p:txBody>
          <a:bodyPr/>
          <a:lstStyle/>
          <a:p>
            <a:pPr marL="381000" indent="-381000" eaLnBrk="1" hangingPunct="1"/>
            <a:r>
              <a:rPr lang="zh-CN" altLang="en-US" sz="2400" b="0"/>
              <a:t>结构类型名、结构变量名、结构类型的成分名可以有相同的名称，编译程序能根据它们在源程序文件中出现的上下文，区别出</a:t>
            </a:r>
            <a:r>
              <a:rPr lang="zh-CN" altLang="en-US" sz="2400" b="0" u="sng">
                <a:latin typeface="Arial" panose="020B0604020202020204" pitchFamily="34" charset="0"/>
              </a:rPr>
              <a:t>“</a:t>
            </a:r>
            <a:r>
              <a:rPr lang="zh-CN" altLang="en-US" sz="2400" b="0" u="sng"/>
              <a:t>相同</a:t>
            </a:r>
            <a:r>
              <a:rPr lang="zh-CN" altLang="en-US" sz="2400" b="0" u="sng">
                <a:latin typeface="Arial" panose="020B0604020202020204" pitchFamily="34" charset="0"/>
              </a:rPr>
              <a:t>”</a:t>
            </a:r>
            <a:r>
              <a:rPr lang="zh-CN" altLang="en-US" sz="2400" b="0" u="sng"/>
              <a:t>名称的不同意义</a:t>
            </a:r>
            <a:r>
              <a:rPr lang="zh-CN" altLang="en-US" sz="2400" b="0"/>
              <a:t>。</a:t>
            </a:r>
          </a:p>
          <a:p>
            <a:pPr marL="381000" indent="-381000" eaLnBrk="1" hangingPunct="1"/>
            <a:r>
              <a:rPr lang="zh-CN" altLang="en-US" sz="2400" b="0"/>
              <a:t>例如：</a:t>
            </a:r>
          </a:p>
          <a:p>
            <a:pPr marL="800100" lvl="1" indent="-342900" eaLnBrk="1" hangingPunct="1">
              <a:buFont typeface="Wingdings" pitchFamily="2" charset="2"/>
              <a:buAutoNum type="arabicPeriod"/>
            </a:pPr>
            <a:r>
              <a:rPr lang="zh-CN" altLang="en-US" sz="2000" b="0"/>
              <a:t>      </a:t>
            </a:r>
            <a:r>
              <a:rPr lang="en-US" altLang="zh-CN" sz="2000" b="0"/>
              <a:t>struct  x  {</a:t>
            </a:r>
          </a:p>
          <a:p>
            <a:pPr marL="800100" lvl="1" indent="-342900" eaLnBrk="1" hangingPunct="1">
              <a:buFont typeface="Wingdings" pitchFamily="2" charset="2"/>
              <a:buAutoNum type="arabicPeriod"/>
            </a:pPr>
            <a:r>
              <a:rPr lang="en-US" altLang="zh-CN" sz="2000" b="0"/>
              <a:t>          int  x;</a:t>
            </a:r>
          </a:p>
          <a:p>
            <a:pPr marL="800100" lvl="1" indent="-342900" eaLnBrk="1" hangingPunct="1">
              <a:buFont typeface="Wingdings" pitchFamily="2" charset="2"/>
              <a:buAutoNum type="arabicPeriod"/>
            </a:pPr>
            <a:r>
              <a:rPr lang="en-US" altLang="zh-CN" sz="2000" b="0"/>
              <a:t>          int  y;</a:t>
            </a:r>
          </a:p>
          <a:p>
            <a:pPr marL="800100" lvl="1" indent="-342900" eaLnBrk="1" hangingPunct="1">
              <a:buFont typeface="Wingdings" pitchFamily="2" charset="2"/>
              <a:buAutoNum type="arabicPeriod"/>
            </a:pPr>
            <a:r>
              <a:rPr lang="en-US" altLang="zh-CN" sz="2000" b="0"/>
              <a:t>      }x;</a:t>
            </a:r>
          </a:p>
          <a:p>
            <a:pPr marL="381000" indent="-381000" eaLnBrk="1" hangingPunct="1"/>
            <a:r>
              <a:rPr lang="zh-CN" altLang="en-US" sz="2400" b="0"/>
              <a:t>则</a:t>
            </a:r>
            <a:r>
              <a:rPr lang="zh-CN" altLang="en-US" sz="2400" b="0">
                <a:latin typeface="Arial" panose="020B0604020202020204" pitchFamily="34" charset="0"/>
              </a:rPr>
              <a:t>“</a:t>
            </a:r>
            <a:r>
              <a:rPr lang="en-US" altLang="zh-CN" sz="2400" b="0"/>
              <a:t>struct x</a:t>
            </a:r>
            <a:r>
              <a:rPr lang="en-US" altLang="zh-CN" sz="2400" b="0">
                <a:latin typeface="Arial" panose="020B0604020202020204" pitchFamily="34" charset="0"/>
              </a:rPr>
              <a:t>”</a:t>
            </a:r>
            <a:r>
              <a:rPr lang="zh-CN" altLang="en-US" sz="2400" b="0"/>
              <a:t>中的</a:t>
            </a:r>
            <a:r>
              <a:rPr lang="en-US" altLang="zh-CN" sz="2400" b="0"/>
              <a:t>x</a:t>
            </a:r>
            <a:r>
              <a:rPr lang="zh-CN" altLang="en-US" sz="2400" b="0"/>
              <a:t>表示</a:t>
            </a:r>
            <a:r>
              <a:rPr lang="zh-CN" altLang="en-US" sz="2400" b="0">
                <a:solidFill>
                  <a:srgbClr val="0070C0"/>
                </a:solidFill>
              </a:rPr>
              <a:t>结构类型</a:t>
            </a:r>
            <a:r>
              <a:rPr lang="zh-CN" altLang="en-US" sz="2400" b="0"/>
              <a:t>，</a:t>
            </a:r>
            <a:r>
              <a:rPr lang="zh-CN" altLang="en-US" sz="2400" b="0">
                <a:latin typeface="Arial" panose="020B0604020202020204" pitchFamily="34" charset="0"/>
              </a:rPr>
              <a:t>“</a:t>
            </a:r>
            <a:r>
              <a:rPr lang="en-US" altLang="zh-CN" sz="2400" b="0"/>
              <a:t>int x;</a:t>
            </a:r>
            <a:r>
              <a:rPr lang="en-US" altLang="zh-CN" sz="2400" b="0">
                <a:latin typeface="Arial" panose="020B0604020202020204" pitchFamily="34" charset="0"/>
              </a:rPr>
              <a:t>”</a:t>
            </a:r>
            <a:r>
              <a:rPr lang="zh-CN" altLang="en-US" sz="2400" b="0"/>
              <a:t>中的</a:t>
            </a:r>
            <a:r>
              <a:rPr lang="en-US" altLang="zh-CN" sz="2400" b="0"/>
              <a:t>x</a:t>
            </a:r>
            <a:r>
              <a:rPr lang="zh-CN" altLang="en-US" sz="2400" b="0"/>
              <a:t>为</a:t>
            </a:r>
            <a:r>
              <a:rPr lang="zh-CN" altLang="en-US" sz="2400" b="0">
                <a:solidFill>
                  <a:srgbClr val="0070C0"/>
                </a:solidFill>
              </a:rPr>
              <a:t>成分名</a:t>
            </a:r>
            <a:r>
              <a:rPr lang="zh-CN" altLang="en-US" sz="2400" b="0"/>
              <a:t>，最后一行的</a:t>
            </a:r>
            <a:r>
              <a:rPr lang="en-US" altLang="zh-CN" sz="2400" b="0"/>
              <a:t>x</a:t>
            </a:r>
            <a:r>
              <a:rPr lang="zh-CN" altLang="en-US" sz="2400" b="0"/>
              <a:t>是</a:t>
            </a:r>
            <a:r>
              <a:rPr lang="zh-CN" altLang="en-US" sz="2400" b="0">
                <a:solidFill>
                  <a:srgbClr val="0070C0"/>
                </a:solidFill>
              </a:rPr>
              <a:t>结构变量</a:t>
            </a:r>
            <a:r>
              <a:rPr lang="en-US" altLang="zh-CN" sz="2400" b="0"/>
              <a:t>x</a:t>
            </a:r>
            <a:r>
              <a:rPr lang="zh-CN" altLang="en-US" sz="2400" b="0"/>
              <a:t>。</a:t>
            </a:r>
          </a:p>
          <a:p>
            <a:pPr marL="381000" indent="-381000" eaLnBrk="1" hangingPunct="1"/>
            <a:r>
              <a:rPr lang="zh-CN" altLang="en-US" sz="2400" b="0">
                <a:solidFill>
                  <a:srgbClr val="CC0000"/>
                </a:solidFill>
              </a:rPr>
              <a:t>但是：实际编程时应该避免使用重名</a:t>
            </a:r>
          </a:p>
        </p:txBody>
      </p:sp>
    </p:spTree>
    <p:extLst>
      <p:ext uri="{BB962C8B-B14F-4D97-AF65-F5344CB8AC3E}">
        <p14:creationId xmlns:p14="http://schemas.microsoft.com/office/powerpoint/2010/main" val="15461523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690179">
                                            <p:txEl>
                                              <p:pRg st="7" end="7"/>
                                            </p:txEl>
                                          </p:spTgt>
                                        </p:tgtEl>
                                        <p:attrNameLst>
                                          <p:attrName>style.visibility</p:attrName>
                                        </p:attrNameLst>
                                      </p:cBhvr>
                                      <p:to>
                                        <p:strVal val="visible"/>
                                      </p:to>
                                    </p:set>
                                    <p:anim calcmode="discrete" valueType="clr">
                                      <p:cBhvr override="childStyle">
                                        <p:cTn id="7" dur="2000"/>
                                        <p:tgtEl>
                                          <p:spTgt spid="690179">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2000"/>
                                        <p:tgtEl>
                                          <p:spTgt spid="690179">
                                            <p:txEl>
                                              <p:pRg st="7" end="7"/>
                                            </p:txEl>
                                          </p:spTgt>
                                        </p:tgtEl>
                                        <p:attrNameLst>
                                          <p:attrName>fillcolor</p:attrName>
                                        </p:attrNameLst>
                                      </p:cBhvr>
                                      <p:tavLst>
                                        <p:tav tm="0">
                                          <p:val>
                                            <p:clrVal>
                                              <a:schemeClr val="accent2"/>
                                            </p:clrVal>
                                          </p:val>
                                        </p:tav>
                                        <p:tav tm="50000">
                                          <p:val>
                                            <p:clrVal>
                                              <a:schemeClr val="hlink"/>
                                            </p:clrVal>
                                          </p:val>
                                        </p:tav>
                                      </p:tavLst>
                                    </p:anim>
                                    <p:set>
                                      <p:cBhvr>
                                        <p:cTn id="9" dur="2000"/>
                                        <p:tgtEl>
                                          <p:spTgt spid="690179">
                                            <p:txEl>
                                              <p:pRg st="7" end="7"/>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E7FAAF6-00D6-FCD1-38CD-BA069828B3C2}"/>
              </a:ext>
            </a:extLst>
          </p:cNvPr>
          <p:cNvSpPr>
            <a:spLocks noGrp="1" noChangeArrowheads="1"/>
          </p:cNvSpPr>
          <p:nvPr>
            <p:ph type="title"/>
          </p:nvPr>
        </p:nvSpPr>
        <p:spPr/>
        <p:txBody>
          <a:bodyPr/>
          <a:lstStyle/>
          <a:p>
            <a:pPr eaLnBrk="1" hangingPunct="1"/>
            <a:r>
              <a:rPr lang="zh-CN" altLang="en-US"/>
              <a:t>结构变量初始化</a:t>
            </a:r>
          </a:p>
        </p:txBody>
      </p:sp>
      <p:sp>
        <p:nvSpPr>
          <p:cNvPr id="45059" name="Rectangle 3">
            <a:extLst>
              <a:ext uri="{FF2B5EF4-FFF2-40B4-BE49-F238E27FC236}">
                <a16:creationId xmlns:a16="http://schemas.microsoft.com/office/drawing/2014/main" id="{E9069B9B-E79E-7222-84E1-2A560367E0F8}"/>
              </a:ext>
            </a:extLst>
          </p:cNvPr>
          <p:cNvSpPr>
            <a:spLocks noGrp="1" noChangeArrowheads="1"/>
          </p:cNvSpPr>
          <p:nvPr>
            <p:ph type="body" idx="1"/>
          </p:nvPr>
        </p:nvSpPr>
        <p:spPr>
          <a:xfrm>
            <a:off x="771724" y="1916832"/>
            <a:ext cx="7937574" cy="4330700"/>
          </a:xfrm>
        </p:spPr>
        <p:txBody>
          <a:bodyPr/>
          <a:lstStyle/>
          <a:p>
            <a:pPr eaLnBrk="1" hangingPunct="1"/>
            <a:r>
              <a:rPr lang="zh-CN" altLang="en-US" sz="2400" b="0"/>
              <a:t>在定义结构变量时，可同时给它置初值，称为</a:t>
            </a:r>
            <a:r>
              <a:rPr lang="zh-CN" altLang="en-US" sz="2400" b="0">
                <a:solidFill>
                  <a:srgbClr val="0070C0"/>
                </a:solidFill>
              </a:rPr>
              <a:t>结构变量初始化</a:t>
            </a:r>
            <a:r>
              <a:rPr lang="zh-CN" altLang="en-US" sz="2400" b="0"/>
              <a:t>。结构变量初始化时，要按其结构类型定义中的各成分顺序逐一给出各成分的初值。如</a:t>
            </a:r>
          </a:p>
          <a:p>
            <a:pPr lvl="1" eaLnBrk="1" hangingPunct="1"/>
            <a:r>
              <a:rPr lang="zh-CN" altLang="en-US" sz="2000" b="0"/>
              <a:t>       </a:t>
            </a:r>
            <a:r>
              <a:rPr lang="en-US" altLang="zh-CN" sz="2000" b="0"/>
              <a:t>struct  point{ </a:t>
            </a:r>
            <a:r>
              <a:rPr lang="en-US" altLang="zh-CN" sz="2000" b="0">
                <a:solidFill>
                  <a:schemeClr val="folHlink"/>
                </a:solidFill>
              </a:rPr>
              <a:t>//</a:t>
            </a:r>
            <a:r>
              <a:rPr lang="zh-CN" altLang="en-US" sz="2000" b="0">
                <a:solidFill>
                  <a:schemeClr val="folHlink"/>
                </a:solidFill>
              </a:rPr>
              <a:t>说明绘图程序的坐标类型</a:t>
            </a:r>
          </a:p>
          <a:p>
            <a:pPr lvl="1" eaLnBrk="1" hangingPunct="1"/>
            <a:r>
              <a:rPr lang="zh-CN" altLang="en-US" sz="2000" b="0"/>
              <a:t>         </a:t>
            </a:r>
            <a:r>
              <a:rPr lang="en-US" altLang="zh-CN" sz="2000" b="0"/>
              <a:t>int  x;</a:t>
            </a:r>
          </a:p>
          <a:p>
            <a:pPr lvl="1" eaLnBrk="1" hangingPunct="1"/>
            <a:r>
              <a:rPr lang="en-US" altLang="zh-CN" sz="2000" b="0"/>
              <a:t>         int  y;</a:t>
            </a:r>
          </a:p>
          <a:p>
            <a:pPr lvl="1" eaLnBrk="1" hangingPunct="1"/>
            <a:r>
              <a:rPr lang="en-US" altLang="zh-CN" sz="2000" b="0"/>
              <a:t>       }  p1 = {1, 2};</a:t>
            </a:r>
          </a:p>
          <a:p>
            <a:pPr eaLnBrk="1" hangingPunct="1"/>
            <a:r>
              <a:rPr lang="zh-CN" altLang="en-US" sz="2400" b="0"/>
              <a:t>下面是结构变量初始化的例子：</a:t>
            </a:r>
          </a:p>
          <a:p>
            <a:pPr lvl="1" eaLnBrk="1" hangingPunct="1"/>
            <a:r>
              <a:rPr lang="zh-CN" altLang="en-US" sz="2000" b="0"/>
              <a:t>       </a:t>
            </a:r>
            <a:r>
              <a:rPr lang="en-US" altLang="zh-CN" sz="2000" b="0"/>
              <a:t>struct point p2 = {3, 4};</a:t>
            </a:r>
          </a:p>
          <a:p>
            <a:pPr lvl="1" eaLnBrk="1" hangingPunct="1"/>
            <a:r>
              <a:rPr lang="en-US" altLang="zh-CN" sz="2000" b="0"/>
              <a:t>       struct point p3 = {5};</a:t>
            </a:r>
          </a:p>
          <a:p>
            <a:pPr lvl="1" eaLnBrk="1" hangingPunct="1"/>
            <a:r>
              <a:rPr lang="en-US" altLang="zh-CN" sz="2000" b="0"/>
              <a:t>       static  struct point p4 = {7, 8};</a:t>
            </a:r>
          </a:p>
        </p:txBody>
      </p:sp>
    </p:spTree>
    <p:extLst>
      <p:ext uri="{BB962C8B-B14F-4D97-AF65-F5344CB8AC3E}">
        <p14:creationId xmlns:p14="http://schemas.microsoft.com/office/powerpoint/2010/main" val="2661768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7CD1944-B060-4F65-3074-398A6A7C11B9}"/>
              </a:ext>
            </a:extLst>
          </p:cNvPr>
          <p:cNvSpPr>
            <a:spLocks noGrp="1" noChangeArrowheads="1"/>
          </p:cNvSpPr>
          <p:nvPr>
            <p:ph type="title"/>
          </p:nvPr>
        </p:nvSpPr>
        <p:spPr/>
        <p:txBody>
          <a:bodyPr/>
          <a:lstStyle/>
          <a:p>
            <a:pPr eaLnBrk="1" hangingPunct="1"/>
            <a:r>
              <a:rPr lang="zh-CN" altLang="en-US" sz="4000"/>
              <a:t>和数组、普通变量初始化的联系</a:t>
            </a:r>
          </a:p>
        </p:txBody>
      </p:sp>
      <p:sp>
        <p:nvSpPr>
          <p:cNvPr id="47107" name="Rectangle 3">
            <a:extLst>
              <a:ext uri="{FF2B5EF4-FFF2-40B4-BE49-F238E27FC236}">
                <a16:creationId xmlns:a16="http://schemas.microsoft.com/office/drawing/2014/main" id="{9DFED588-3A12-121A-E6A8-B1BAB996825C}"/>
              </a:ext>
            </a:extLst>
          </p:cNvPr>
          <p:cNvSpPr>
            <a:spLocks noGrp="1" noChangeArrowheads="1"/>
          </p:cNvSpPr>
          <p:nvPr>
            <p:ph type="body" idx="1"/>
          </p:nvPr>
        </p:nvSpPr>
        <p:spPr>
          <a:xfrm>
            <a:off x="684213" y="1916832"/>
            <a:ext cx="7920235" cy="4215681"/>
          </a:xfrm>
        </p:spPr>
        <p:txBody>
          <a:bodyPr/>
          <a:lstStyle/>
          <a:p>
            <a:pPr algn="just" eaLnBrk="1" hangingPunct="1">
              <a:lnSpc>
                <a:spcPct val="150000"/>
              </a:lnSpc>
              <a:spcAft>
                <a:spcPts val="600"/>
              </a:spcAft>
            </a:pPr>
            <a:r>
              <a:rPr lang="zh-CN" altLang="en-US" sz="2400" b="0"/>
              <a:t>结构变量初始化对初值表达式的要求与数组变量初始化的要求相同，也遵守与数组变量初始化类似的规则。</a:t>
            </a:r>
          </a:p>
          <a:p>
            <a:pPr lvl="1" algn="just" eaLnBrk="1" hangingPunct="1">
              <a:lnSpc>
                <a:spcPct val="150000"/>
              </a:lnSpc>
              <a:spcAft>
                <a:spcPts val="600"/>
              </a:spcAft>
            </a:pPr>
            <a:r>
              <a:rPr lang="zh-CN" altLang="en-US" sz="2000" b="0">
                <a:solidFill>
                  <a:srgbClr val="0070C0"/>
                </a:solidFill>
              </a:rPr>
              <a:t>部分初始化时候，剩余的填机器零</a:t>
            </a:r>
          </a:p>
          <a:p>
            <a:pPr algn="just" eaLnBrk="1" hangingPunct="1">
              <a:lnSpc>
                <a:spcPct val="150000"/>
              </a:lnSpc>
              <a:spcAft>
                <a:spcPts val="600"/>
              </a:spcAft>
            </a:pPr>
            <a:r>
              <a:rPr lang="zh-CN" altLang="en-US" sz="2400" b="0"/>
              <a:t>和普通变量一样：</a:t>
            </a:r>
          </a:p>
          <a:p>
            <a:pPr lvl="1" algn="just" eaLnBrk="1" hangingPunct="1">
              <a:lnSpc>
                <a:spcPct val="150000"/>
              </a:lnSpc>
              <a:spcAft>
                <a:spcPts val="600"/>
              </a:spcAft>
            </a:pPr>
            <a:r>
              <a:rPr lang="zh-CN" altLang="en-US" sz="2000" b="0">
                <a:solidFill>
                  <a:srgbClr val="0070C0"/>
                </a:solidFill>
              </a:rPr>
              <a:t>静态的和全局的</a:t>
            </a:r>
            <a:r>
              <a:rPr lang="zh-CN" altLang="en-US" sz="2000" b="0"/>
              <a:t>结构变量初始化是在程序执行之前完成，静态的结构变量未指定初值的，自动置</a:t>
            </a:r>
            <a:r>
              <a:rPr lang="en-US" altLang="zh-CN" sz="2000" b="0"/>
              <a:t>0</a:t>
            </a:r>
            <a:r>
              <a:rPr lang="zh-CN" altLang="en-US" sz="2000" b="0"/>
              <a:t>值。</a:t>
            </a:r>
          </a:p>
          <a:p>
            <a:pPr lvl="1" algn="just" eaLnBrk="1" hangingPunct="1">
              <a:lnSpc>
                <a:spcPct val="150000"/>
              </a:lnSpc>
              <a:spcAft>
                <a:spcPts val="600"/>
              </a:spcAft>
            </a:pPr>
            <a:r>
              <a:rPr lang="zh-CN" altLang="en-US" sz="2000" b="0"/>
              <a:t>局部结构变量是每次控制进入它所属辖域时创建并初始化，未指定初值的局部结构变量其初值是不确定的。</a:t>
            </a:r>
          </a:p>
        </p:txBody>
      </p:sp>
    </p:spTree>
    <p:extLst>
      <p:ext uri="{BB962C8B-B14F-4D97-AF65-F5344CB8AC3E}">
        <p14:creationId xmlns:p14="http://schemas.microsoft.com/office/powerpoint/2010/main" val="763537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528AB40-DDF0-1A4C-77AD-8A52927B2E32}"/>
              </a:ext>
            </a:extLst>
          </p:cNvPr>
          <p:cNvSpPr>
            <a:spLocks noGrp="1" noChangeArrowheads="1"/>
          </p:cNvSpPr>
          <p:nvPr>
            <p:ph type="title"/>
          </p:nvPr>
        </p:nvSpPr>
        <p:spPr/>
        <p:txBody>
          <a:bodyPr/>
          <a:lstStyle/>
          <a:p>
            <a:pPr eaLnBrk="1" hangingPunct="1"/>
            <a:r>
              <a:rPr lang="zh-CN" altLang="en-US"/>
              <a:t>结构的内存占用</a:t>
            </a:r>
          </a:p>
        </p:txBody>
      </p:sp>
      <p:sp>
        <p:nvSpPr>
          <p:cNvPr id="871427" name="Rectangle 3">
            <a:extLst>
              <a:ext uri="{FF2B5EF4-FFF2-40B4-BE49-F238E27FC236}">
                <a16:creationId xmlns:a16="http://schemas.microsoft.com/office/drawing/2014/main" id="{DFAF0FF2-A721-AAEE-09B0-A62EE4C9674E}"/>
              </a:ext>
            </a:extLst>
          </p:cNvPr>
          <p:cNvSpPr>
            <a:spLocks noGrp="1" noChangeArrowheads="1"/>
          </p:cNvSpPr>
          <p:nvPr>
            <p:ph type="body" idx="1"/>
          </p:nvPr>
        </p:nvSpPr>
        <p:spPr>
          <a:xfrm>
            <a:off x="900112" y="2017713"/>
            <a:ext cx="7793037" cy="4114800"/>
          </a:xfrm>
        </p:spPr>
        <p:txBody>
          <a:bodyPr/>
          <a:lstStyle/>
          <a:p>
            <a:pPr eaLnBrk="1" hangingPunct="1">
              <a:spcAft>
                <a:spcPts val="600"/>
              </a:spcAft>
            </a:pPr>
            <a:r>
              <a:rPr lang="zh-CN" altLang="en-US" sz="2800" b="0">
                <a:latin typeface="+mn-ea"/>
              </a:rPr>
              <a:t>一个结构变量的成员变量</a:t>
            </a:r>
            <a:r>
              <a:rPr lang="zh-CN" altLang="en-US" sz="2800" b="0" u="sng">
                <a:solidFill>
                  <a:srgbClr val="0070C0"/>
                </a:solidFill>
                <a:latin typeface="+mn-ea"/>
              </a:rPr>
              <a:t>在内存中是相邻的</a:t>
            </a:r>
          </a:p>
          <a:p>
            <a:pPr eaLnBrk="1" hangingPunct="1">
              <a:spcAft>
                <a:spcPts val="600"/>
              </a:spcAft>
            </a:pPr>
            <a:r>
              <a:rPr lang="zh-CN" altLang="en-US" sz="2800" b="0">
                <a:latin typeface="+mn-ea"/>
              </a:rPr>
              <a:t>整个结构变量将占用多少内存呢？</a:t>
            </a:r>
          </a:p>
          <a:p>
            <a:pPr lvl="1" eaLnBrk="1" hangingPunct="1">
              <a:spcAft>
                <a:spcPts val="600"/>
              </a:spcAft>
            </a:pPr>
            <a:r>
              <a:rPr lang="zh-CN" altLang="en-US" sz="2400" b="0">
                <a:latin typeface="+mn-ea"/>
              </a:rPr>
              <a:t>是所有成员变量的内存总和吗？</a:t>
            </a:r>
          </a:p>
          <a:p>
            <a:pPr lvl="1" eaLnBrk="1" hangingPunct="1">
              <a:spcAft>
                <a:spcPts val="600"/>
              </a:spcAft>
            </a:pPr>
            <a:r>
              <a:rPr lang="zh-CN" altLang="en-US" sz="2400" b="0">
                <a:latin typeface="+mn-ea"/>
              </a:rPr>
              <a:t>我们可以用</a:t>
            </a:r>
            <a:r>
              <a:rPr lang="en-US" altLang="zh-CN" sz="2400" b="0">
                <a:solidFill>
                  <a:srgbClr val="0000FF"/>
                </a:solidFill>
                <a:latin typeface="+mn-ea"/>
              </a:rPr>
              <a:t>sizeof</a:t>
            </a:r>
            <a:r>
              <a:rPr lang="zh-CN" altLang="en-US" sz="2400" b="0">
                <a:latin typeface="+mn-ea"/>
              </a:rPr>
              <a:t>来获得结构的大小</a:t>
            </a:r>
          </a:p>
          <a:p>
            <a:pPr lvl="1" eaLnBrk="1" hangingPunct="1">
              <a:spcAft>
                <a:spcPts val="600"/>
              </a:spcAft>
            </a:pPr>
            <a:r>
              <a:rPr lang="zh-CN" altLang="en-US" sz="2400" b="0">
                <a:solidFill>
                  <a:srgbClr val="0070C0"/>
                </a:solidFill>
                <a:latin typeface="+mn-ea"/>
              </a:rPr>
              <a:t>事实上，结构所占的实际空间一般是按照机器字长对齐的</a:t>
            </a:r>
          </a:p>
          <a:p>
            <a:pPr lvl="2" eaLnBrk="1" hangingPunct="1">
              <a:spcAft>
                <a:spcPts val="600"/>
              </a:spcAft>
            </a:pPr>
            <a:r>
              <a:rPr lang="zh-CN" altLang="en-US" sz="2000" b="0">
                <a:latin typeface="+mn-ea"/>
              </a:rPr>
              <a:t>不同的编译器、不同的平台，对齐方式会有变化，不过一般的编译器都可以设定按照多大对齐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1427">
                                            <p:txEl>
                                              <p:pRg st="0" end="0"/>
                                            </p:txEl>
                                          </p:spTgt>
                                        </p:tgtEl>
                                        <p:attrNameLst>
                                          <p:attrName>style.visibility</p:attrName>
                                        </p:attrNameLst>
                                      </p:cBhvr>
                                      <p:to>
                                        <p:strVal val="visible"/>
                                      </p:to>
                                    </p:set>
                                    <p:animEffect transition="in" filter="wipe(left)">
                                      <p:cBhvr>
                                        <p:cTn id="7" dur="500"/>
                                        <p:tgtEl>
                                          <p:spTgt spid="8714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1427">
                                            <p:txEl>
                                              <p:pRg st="1" end="1"/>
                                            </p:txEl>
                                          </p:spTgt>
                                        </p:tgtEl>
                                        <p:attrNameLst>
                                          <p:attrName>style.visibility</p:attrName>
                                        </p:attrNameLst>
                                      </p:cBhvr>
                                      <p:to>
                                        <p:strVal val="visible"/>
                                      </p:to>
                                    </p:set>
                                    <p:animEffect transition="in" filter="wipe(left)">
                                      <p:cBhvr>
                                        <p:cTn id="12" dur="500"/>
                                        <p:tgtEl>
                                          <p:spTgt spid="8714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1427">
                                            <p:txEl>
                                              <p:pRg st="2" end="2"/>
                                            </p:txEl>
                                          </p:spTgt>
                                        </p:tgtEl>
                                        <p:attrNameLst>
                                          <p:attrName>style.visibility</p:attrName>
                                        </p:attrNameLst>
                                      </p:cBhvr>
                                      <p:to>
                                        <p:strVal val="visible"/>
                                      </p:to>
                                    </p:set>
                                    <p:animEffect transition="in" filter="wipe(left)">
                                      <p:cBhvr>
                                        <p:cTn id="17" dur="500"/>
                                        <p:tgtEl>
                                          <p:spTgt spid="8714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71427">
                                            <p:txEl>
                                              <p:pRg st="3" end="3"/>
                                            </p:txEl>
                                          </p:spTgt>
                                        </p:tgtEl>
                                        <p:attrNameLst>
                                          <p:attrName>style.visibility</p:attrName>
                                        </p:attrNameLst>
                                      </p:cBhvr>
                                      <p:to>
                                        <p:strVal val="visible"/>
                                      </p:to>
                                    </p:set>
                                    <p:animEffect transition="in" filter="wipe(left)">
                                      <p:cBhvr>
                                        <p:cTn id="22" dur="500"/>
                                        <p:tgtEl>
                                          <p:spTgt spid="8714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71427">
                                            <p:txEl>
                                              <p:pRg st="4" end="4"/>
                                            </p:txEl>
                                          </p:spTgt>
                                        </p:tgtEl>
                                        <p:attrNameLst>
                                          <p:attrName>style.visibility</p:attrName>
                                        </p:attrNameLst>
                                      </p:cBhvr>
                                      <p:to>
                                        <p:strVal val="visible"/>
                                      </p:to>
                                    </p:set>
                                    <p:animEffect transition="in" filter="wipe(left)">
                                      <p:cBhvr>
                                        <p:cTn id="27" dur="500"/>
                                        <p:tgtEl>
                                          <p:spTgt spid="871427">
                                            <p:txEl>
                                              <p:pRg st="4" end="4"/>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871427">
                                            <p:txEl>
                                              <p:pRg st="5" end="5"/>
                                            </p:txEl>
                                          </p:spTgt>
                                        </p:tgtEl>
                                        <p:attrNameLst>
                                          <p:attrName>style.visibility</p:attrName>
                                        </p:attrNameLst>
                                      </p:cBhvr>
                                      <p:to>
                                        <p:strVal val="visible"/>
                                      </p:to>
                                    </p:set>
                                    <p:animEffect transition="in" filter="wipe(left)">
                                      <p:cBhvr>
                                        <p:cTn id="30" dur="500"/>
                                        <p:tgtEl>
                                          <p:spTgt spid="8714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42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8F5A9-8E76-0D67-1759-1AFA5209A4F0}"/>
            </a:ext>
          </a:extLst>
        </p:cNvPr>
        <p:cNvGrpSpPr/>
        <p:nvPr/>
      </p:nvGrpSpPr>
      <p:grpSpPr>
        <a:xfrm>
          <a:off x="0" y="0"/>
          <a:ext cx="0" cy="0"/>
          <a:chOff x="0" y="0"/>
          <a:chExt cx="0" cy="0"/>
        </a:xfrm>
      </p:grpSpPr>
      <p:sp>
        <p:nvSpPr>
          <p:cNvPr id="13315" name="Rectangle 3">
            <a:extLst>
              <a:ext uri="{FF2B5EF4-FFF2-40B4-BE49-F238E27FC236}">
                <a16:creationId xmlns:a16="http://schemas.microsoft.com/office/drawing/2014/main" id="{45D0B63C-9BA2-357C-1FBB-9D55D43B65FF}"/>
              </a:ext>
            </a:extLst>
          </p:cNvPr>
          <p:cNvSpPr>
            <a:spLocks noGrp="1" noChangeArrowheads="1"/>
          </p:cNvSpPr>
          <p:nvPr>
            <p:ph type="title"/>
          </p:nvPr>
        </p:nvSpPr>
        <p:spPr/>
        <p:txBody>
          <a:bodyPr/>
          <a:lstStyle/>
          <a:p>
            <a:pPr eaLnBrk="1" hangingPunct="1"/>
            <a:r>
              <a:rPr lang="zh-CN" altLang="en-US"/>
              <a:t>结构的内存占用（续）</a:t>
            </a:r>
          </a:p>
        </p:txBody>
      </p:sp>
      <p:sp>
        <p:nvSpPr>
          <p:cNvPr id="13316" name="Rectangle 4">
            <a:extLst>
              <a:ext uri="{FF2B5EF4-FFF2-40B4-BE49-F238E27FC236}">
                <a16:creationId xmlns:a16="http://schemas.microsoft.com/office/drawing/2014/main" id="{956CADFC-5260-CC90-6153-C88FE147965B}"/>
              </a:ext>
            </a:extLst>
          </p:cNvPr>
          <p:cNvSpPr>
            <a:spLocks noGrp="1" noChangeArrowheads="1"/>
          </p:cNvSpPr>
          <p:nvPr>
            <p:ph type="body" idx="1"/>
          </p:nvPr>
        </p:nvSpPr>
        <p:spPr>
          <a:xfrm>
            <a:off x="827088" y="1844823"/>
            <a:ext cx="7866062" cy="4287689"/>
          </a:xfrm>
        </p:spPr>
        <p:txBody>
          <a:bodyPr/>
          <a:lstStyle/>
          <a:p>
            <a:pPr eaLnBrk="1" hangingPunct="1"/>
            <a:r>
              <a:rPr lang="zh-CN" altLang="en-US" b="0">
                <a:latin typeface="+mn-ea"/>
              </a:rPr>
              <a:t>优化前</a:t>
            </a:r>
          </a:p>
          <a:p>
            <a:pPr lvl="1" eaLnBrk="1" hangingPunct="1"/>
            <a:r>
              <a:rPr lang="en-US" altLang="zh-CN" sz="2400" b="0">
                <a:solidFill>
                  <a:srgbClr val="000000"/>
                </a:solidFill>
                <a:latin typeface="+mn-ea"/>
              </a:rPr>
              <a:t>struct A {</a:t>
            </a:r>
          </a:p>
          <a:p>
            <a:pPr lvl="1" eaLnBrk="1" hangingPunct="1"/>
            <a:r>
              <a:rPr lang="en-US" altLang="zh-CN" sz="2400" b="0">
                <a:solidFill>
                  <a:srgbClr val="000000"/>
                </a:solidFill>
                <a:latin typeface="+mn-ea"/>
              </a:rPr>
              <a:t>    char  a;   // 1 </a:t>
            </a:r>
            <a:r>
              <a:rPr lang="zh-CN" altLang="en-US" sz="2400" b="0">
                <a:solidFill>
                  <a:srgbClr val="000000"/>
                </a:solidFill>
                <a:latin typeface="+mn-ea"/>
              </a:rPr>
              <a:t>字节</a:t>
            </a:r>
          </a:p>
          <a:p>
            <a:pPr lvl="1" eaLnBrk="1" hangingPunct="1"/>
            <a:r>
              <a:rPr lang="zh-CN" altLang="en-US" sz="2400" b="0">
                <a:solidFill>
                  <a:srgbClr val="000000"/>
                </a:solidFill>
                <a:latin typeface="+mn-ea"/>
              </a:rPr>
              <a:t>    </a:t>
            </a:r>
            <a:r>
              <a:rPr lang="en-US" altLang="zh-CN" sz="2400" b="0">
                <a:solidFill>
                  <a:srgbClr val="000000"/>
                </a:solidFill>
                <a:latin typeface="+mn-ea"/>
              </a:rPr>
              <a:t>int   b;   </a:t>
            </a:r>
            <a:r>
              <a:rPr lang="zh-CN" altLang="en-US" sz="2400" b="0">
                <a:solidFill>
                  <a:srgbClr val="000000"/>
                </a:solidFill>
                <a:latin typeface="+mn-ea"/>
              </a:rPr>
              <a:t> </a:t>
            </a:r>
            <a:r>
              <a:rPr lang="en-US" altLang="zh-CN" sz="2400" b="0">
                <a:solidFill>
                  <a:srgbClr val="000000"/>
                </a:solidFill>
                <a:latin typeface="+mn-ea"/>
              </a:rPr>
              <a:t>// 4 </a:t>
            </a:r>
            <a:r>
              <a:rPr lang="zh-CN" altLang="en-US" sz="2400" b="0">
                <a:solidFill>
                  <a:srgbClr val="000000"/>
                </a:solidFill>
                <a:latin typeface="+mn-ea"/>
              </a:rPr>
              <a:t>字节</a:t>
            </a:r>
          </a:p>
          <a:p>
            <a:pPr lvl="1" eaLnBrk="1" hangingPunct="1"/>
            <a:r>
              <a:rPr lang="zh-CN" altLang="en-US" sz="2400" b="0">
                <a:solidFill>
                  <a:srgbClr val="000000"/>
                </a:solidFill>
                <a:latin typeface="+mn-ea"/>
              </a:rPr>
              <a:t>    </a:t>
            </a:r>
            <a:r>
              <a:rPr lang="en-US" altLang="zh-CN" sz="2400" b="0">
                <a:solidFill>
                  <a:srgbClr val="000000"/>
                </a:solidFill>
                <a:latin typeface="+mn-ea"/>
              </a:rPr>
              <a:t>char  c;   // 1 </a:t>
            </a:r>
            <a:r>
              <a:rPr lang="zh-CN" altLang="en-US" sz="2400" b="0">
                <a:solidFill>
                  <a:srgbClr val="000000"/>
                </a:solidFill>
                <a:latin typeface="+mn-ea"/>
              </a:rPr>
              <a:t>字节</a:t>
            </a:r>
          </a:p>
          <a:p>
            <a:pPr lvl="1" eaLnBrk="1" hangingPunct="1"/>
            <a:r>
              <a:rPr lang="en-US" altLang="zh-CN" sz="2400" b="0">
                <a:solidFill>
                  <a:srgbClr val="000000"/>
                </a:solidFill>
                <a:latin typeface="+mn-ea"/>
              </a:rPr>
              <a:t>} a;</a:t>
            </a:r>
          </a:p>
          <a:p>
            <a:pPr lvl="1" eaLnBrk="1" hangingPunct="1"/>
            <a:endParaRPr lang="en-US" altLang="zh-CN" sz="2400" b="0">
              <a:solidFill>
                <a:srgbClr val="000000"/>
              </a:solidFill>
              <a:latin typeface="+mn-ea"/>
            </a:endParaRPr>
          </a:p>
          <a:p>
            <a:pPr lvl="1" eaLnBrk="1" hangingPunct="1"/>
            <a:r>
              <a:rPr lang="en-US" altLang="zh-CN" sz="2400" b="0">
                <a:solidFill>
                  <a:srgbClr val="000000"/>
                </a:solidFill>
                <a:latin typeface="+mn-ea"/>
              </a:rPr>
              <a:t>sizeof(a) = 12</a:t>
            </a:r>
            <a:r>
              <a:rPr lang="zh-CN" altLang="en-US" sz="2400" b="0">
                <a:solidFill>
                  <a:srgbClr val="000000"/>
                </a:solidFill>
                <a:latin typeface="+mn-ea"/>
              </a:rPr>
              <a:t>字节</a:t>
            </a:r>
            <a:endParaRPr lang="en-US" altLang="zh-CN" sz="2400" b="0">
              <a:solidFill>
                <a:srgbClr val="000000"/>
              </a:solidFill>
              <a:latin typeface="+mn-ea"/>
            </a:endParaRPr>
          </a:p>
          <a:p>
            <a:pPr lvl="1" eaLnBrk="1" hangingPunct="1"/>
            <a:r>
              <a:rPr lang="zh-CN" altLang="en-US" sz="2400" b="0">
                <a:solidFill>
                  <a:srgbClr val="000000"/>
                </a:solidFill>
                <a:latin typeface="+mn-ea"/>
              </a:rPr>
              <a:t>而不是</a:t>
            </a:r>
            <a:r>
              <a:rPr lang="en-US" altLang="zh-CN" sz="2400" b="0">
                <a:solidFill>
                  <a:srgbClr val="000000"/>
                </a:solidFill>
                <a:latin typeface="+mn-ea"/>
              </a:rPr>
              <a:t>6</a:t>
            </a:r>
            <a:r>
              <a:rPr lang="zh-CN" altLang="en-US" sz="2400" b="0">
                <a:solidFill>
                  <a:srgbClr val="000000"/>
                </a:solidFill>
                <a:latin typeface="+mn-ea"/>
              </a:rPr>
              <a:t>字节</a:t>
            </a:r>
            <a:endParaRPr lang="en-US" altLang="zh-CN" sz="2400" b="0">
              <a:solidFill>
                <a:srgbClr val="000000"/>
              </a:solidFill>
              <a:latin typeface="+mn-ea"/>
            </a:endParaRPr>
          </a:p>
        </p:txBody>
      </p:sp>
      <p:sp>
        <p:nvSpPr>
          <p:cNvPr id="4" name="Rectangle 4">
            <a:extLst>
              <a:ext uri="{FF2B5EF4-FFF2-40B4-BE49-F238E27FC236}">
                <a16:creationId xmlns:a16="http://schemas.microsoft.com/office/drawing/2014/main" id="{D4D38EB1-E868-B729-3072-13FC0D2350E4}"/>
              </a:ext>
            </a:extLst>
          </p:cNvPr>
          <p:cNvSpPr txBox="1">
            <a:spLocks noChangeArrowheads="1"/>
          </p:cNvSpPr>
          <p:nvPr/>
        </p:nvSpPr>
        <p:spPr bwMode="auto">
          <a:xfrm>
            <a:off x="5004048" y="1844822"/>
            <a:ext cx="4032448" cy="4287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9pPr>
          </a:lstStyle>
          <a:p>
            <a:pPr eaLnBrk="1" hangingPunct="1"/>
            <a:r>
              <a:rPr lang="zh-CN" altLang="en-US" b="0" i="0" kern="0">
                <a:latin typeface="+mn-ea"/>
              </a:rPr>
              <a:t>优化后</a:t>
            </a:r>
          </a:p>
          <a:p>
            <a:pPr lvl="1" eaLnBrk="1" hangingPunct="1"/>
            <a:r>
              <a:rPr lang="en-US" altLang="zh-CN" sz="2400" b="0" i="0" kern="0">
                <a:solidFill>
                  <a:srgbClr val="000000"/>
                </a:solidFill>
                <a:latin typeface="+mn-ea"/>
              </a:rPr>
              <a:t>struct A_opt {</a:t>
            </a:r>
          </a:p>
          <a:p>
            <a:pPr lvl="1" eaLnBrk="1" hangingPunct="1"/>
            <a:r>
              <a:rPr lang="en-US" altLang="zh-CN" sz="2400" b="0" i="0" kern="0">
                <a:solidFill>
                  <a:srgbClr val="000000"/>
                </a:solidFill>
                <a:latin typeface="+mn-ea"/>
              </a:rPr>
              <a:t>    int   b;   </a:t>
            </a:r>
            <a:r>
              <a:rPr lang="zh-CN" altLang="en-US" sz="2400" b="0" i="0" kern="0">
                <a:solidFill>
                  <a:srgbClr val="000000"/>
                </a:solidFill>
                <a:latin typeface="+mn-ea"/>
              </a:rPr>
              <a:t> </a:t>
            </a:r>
            <a:r>
              <a:rPr lang="en-US" altLang="zh-CN" sz="2400" b="0" i="0" kern="0">
                <a:solidFill>
                  <a:srgbClr val="000000"/>
                </a:solidFill>
                <a:latin typeface="+mn-ea"/>
              </a:rPr>
              <a:t>// 4 </a:t>
            </a:r>
            <a:r>
              <a:rPr lang="zh-CN" altLang="en-US" sz="2400" b="0" i="0" kern="0">
                <a:solidFill>
                  <a:srgbClr val="000000"/>
                </a:solidFill>
                <a:latin typeface="+mn-ea"/>
              </a:rPr>
              <a:t>字节</a:t>
            </a:r>
          </a:p>
          <a:p>
            <a:pPr lvl="1" eaLnBrk="1" hangingPunct="1"/>
            <a:r>
              <a:rPr lang="zh-CN" altLang="en-US" sz="2400" b="0" i="0" kern="0">
                <a:solidFill>
                  <a:srgbClr val="000000"/>
                </a:solidFill>
                <a:latin typeface="+mn-ea"/>
              </a:rPr>
              <a:t>    </a:t>
            </a:r>
            <a:r>
              <a:rPr lang="en-US" altLang="zh-CN" sz="2400" b="0" i="0" kern="0">
                <a:solidFill>
                  <a:srgbClr val="000000"/>
                </a:solidFill>
                <a:latin typeface="+mn-ea"/>
              </a:rPr>
              <a:t>char  a;   // 1 </a:t>
            </a:r>
            <a:r>
              <a:rPr lang="zh-CN" altLang="en-US" sz="2400" b="0" i="0" kern="0">
                <a:solidFill>
                  <a:srgbClr val="000000"/>
                </a:solidFill>
                <a:latin typeface="+mn-ea"/>
              </a:rPr>
              <a:t>字节</a:t>
            </a:r>
          </a:p>
          <a:p>
            <a:pPr lvl="1" eaLnBrk="1" hangingPunct="1"/>
            <a:r>
              <a:rPr lang="zh-CN" altLang="en-US" sz="2400" b="0" i="0" kern="0">
                <a:solidFill>
                  <a:srgbClr val="000000"/>
                </a:solidFill>
                <a:latin typeface="+mn-ea"/>
              </a:rPr>
              <a:t>    </a:t>
            </a:r>
            <a:r>
              <a:rPr lang="en-US" altLang="zh-CN" sz="2400" b="0" i="0" kern="0">
                <a:solidFill>
                  <a:srgbClr val="000000"/>
                </a:solidFill>
                <a:latin typeface="+mn-ea"/>
              </a:rPr>
              <a:t>char  c;   // 1 </a:t>
            </a:r>
            <a:r>
              <a:rPr lang="zh-CN" altLang="en-US" sz="2400" b="0" i="0" kern="0">
                <a:solidFill>
                  <a:srgbClr val="000000"/>
                </a:solidFill>
                <a:latin typeface="+mn-ea"/>
              </a:rPr>
              <a:t>字节</a:t>
            </a:r>
          </a:p>
          <a:p>
            <a:pPr lvl="1" eaLnBrk="1" hangingPunct="1"/>
            <a:r>
              <a:rPr lang="en-US" altLang="zh-CN" sz="2400" b="0" i="0" kern="0">
                <a:solidFill>
                  <a:srgbClr val="000000"/>
                </a:solidFill>
                <a:latin typeface="+mn-ea"/>
              </a:rPr>
              <a:t>}</a:t>
            </a:r>
            <a:r>
              <a:rPr lang="zh-CN" altLang="en-US" sz="2400" b="0" i="0" kern="0">
                <a:solidFill>
                  <a:srgbClr val="000000"/>
                </a:solidFill>
                <a:latin typeface="+mn-ea"/>
              </a:rPr>
              <a:t> </a:t>
            </a:r>
            <a:r>
              <a:rPr lang="en-US" altLang="zh-CN" sz="2400" b="0" i="0" kern="0">
                <a:solidFill>
                  <a:srgbClr val="000000"/>
                </a:solidFill>
                <a:latin typeface="+mn-ea"/>
              </a:rPr>
              <a:t>a;</a:t>
            </a:r>
          </a:p>
          <a:p>
            <a:pPr lvl="1" eaLnBrk="1" hangingPunct="1"/>
            <a:endParaRPr lang="en-US" altLang="zh-CN" sz="2400" b="0" i="0" kern="0">
              <a:solidFill>
                <a:srgbClr val="000000"/>
              </a:solidFill>
              <a:latin typeface="+mn-ea"/>
            </a:endParaRPr>
          </a:p>
          <a:p>
            <a:pPr lvl="1" eaLnBrk="1" hangingPunct="1"/>
            <a:r>
              <a:rPr lang="en-US" altLang="zh-CN" sz="2400" b="0" i="0" kern="0">
                <a:solidFill>
                  <a:srgbClr val="000000"/>
                </a:solidFill>
                <a:latin typeface="+mn-ea"/>
              </a:rPr>
              <a:t>sizeof(a) = 8</a:t>
            </a:r>
            <a:r>
              <a:rPr lang="zh-CN" altLang="en-US" sz="2400" b="0" i="0" kern="0">
                <a:solidFill>
                  <a:srgbClr val="000000"/>
                </a:solidFill>
                <a:latin typeface="+mn-ea"/>
              </a:rPr>
              <a:t>字节</a:t>
            </a:r>
            <a:endParaRPr lang="en-US" altLang="zh-CN" sz="2400" b="0" i="0" kern="0">
              <a:solidFill>
                <a:srgbClr val="000000"/>
              </a:solidFill>
              <a:latin typeface="+mn-ea"/>
            </a:endParaRPr>
          </a:p>
        </p:txBody>
      </p:sp>
    </p:spTree>
    <p:extLst>
      <p:ext uri="{BB962C8B-B14F-4D97-AF65-F5344CB8AC3E}">
        <p14:creationId xmlns:p14="http://schemas.microsoft.com/office/powerpoint/2010/main" val="3768679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81DA0-CB4E-60B0-305B-EAE697B2CCFF}"/>
            </a:ext>
          </a:extLst>
        </p:cNvPr>
        <p:cNvGrpSpPr/>
        <p:nvPr/>
      </p:nvGrpSpPr>
      <p:grpSpPr>
        <a:xfrm>
          <a:off x="0" y="0"/>
          <a:ext cx="0" cy="0"/>
          <a:chOff x="0" y="0"/>
          <a:chExt cx="0" cy="0"/>
        </a:xfrm>
      </p:grpSpPr>
      <p:sp>
        <p:nvSpPr>
          <p:cNvPr id="13315" name="Rectangle 3">
            <a:extLst>
              <a:ext uri="{FF2B5EF4-FFF2-40B4-BE49-F238E27FC236}">
                <a16:creationId xmlns:a16="http://schemas.microsoft.com/office/drawing/2014/main" id="{88AAC79D-230A-C70E-0D37-E651C8BD0F91}"/>
              </a:ext>
            </a:extLst>
          </p:cNvPr>
          <p:cNvSpPr>
            <a:spLocks noGrp="1" noChangeArrowheads="1"/>
          </p:cNvSpPr>
          <p:nvPr>
            <p:ph type="title"/>
          </p:nvPr>
        </p:nvSpPr>
        <p:spPr/>
        <p:txBody>
          <a:bodyPr/>
          <a:lstStyle/>
          <a:p>
            <a:pPr eaLnBrk="1" hangingPunct="1"/>
            <a:r>
              <a:rPr lang="zh-CN" altLang="en-US"/>
              <a:t>结构的内存占用（续）</a:t>
            </a:r>
          </a:p>
        </p:txBody>
      </p:sp>
      <p:sp>
        <p:nvSpPr>
          <p:cNvPr id="13316" name="Rectangle 4">
            <a:extLst>
              <a:ext uri="{FF2B5EF4-FFF2-40B4-BE49-F238E27FC236}">
                <a16:creationId xmlns:a16="http://schemas.microsoft.com/office/drawing/2014/main" id="{7194E45F-05CD-A1FF-BBB4-1DE46655B54C}"/>
              </a:ext>
            </a:extLst>
          </p:cNvPr>
          <p:cNvSpPr>
            <a:spLocks noGrp="1" noChangeArrowheads="1"/>
          </p:cNvSpPr>
          <p:nvPr>
            <p:ph type="body" idx="1"/>
          </p:nvPr>
        </p:nvSpPr>
        <p:spPr>
          <a:xfrm>
            <a:off x="827088" y="1844823"/>
            <a:ext cx="7866062" cy="4287689"/>
          </a:xfrm>
        </p:spPr>
        <p:txBody>
          <a:bodyPr/>
          <a:lstStyle/>
          <a:p>
            <a:pPr eaLnBrk="1" hangingPunct="1"/>
            <a:r>
              <a:rPr lang="zh-CN" altLang="en-US" b="0">
                <a:latin typeface="+mn-ea"/>
              </a:rPr>
              <a:t>优化前</a:t>
            </a:r>
          </a:p>
          <a:p>
            <a:pPr lvl="1" eaLnBrk="1" hangingPunct="1"/>
            <a:r>
              <a:rPr lang="en-US" altLang="zh-CN" sz="2400" b="0">
                <a:solidFill>
                  <a:srgbClr val="000000"/>
                </a:solidFill>
                <a:latin typeface="+mn-ea"/>
              </a:rPr>
              <a:t>struct User {</a:t>
            </a:r>
          </a:p>
          <a:p>
            <a:pPr lvl="1" eaLnBrk="1" hangingPunct="1"/>
            <a:r>
              <a:rPr lang="en-US" altLang="zh-CN" sz="2400" b="0">
                <a:solidFill>
                  <a:srgbClr val="000000"/>
                </a:solidFill>
                <a:latin typeface="+mn-ea"/>
              </a:rPr>
              <a:t>    char flag;</a:t>
            </a:r>
          </a:p>
          <a:p>
            <a:pPr lvl="1" eaLnBrk="1" hangingPunct="1"/>
            <a:r>
              <a:rPr lang="en-US" altLang="zh-CN" sz="2400" b="0">
                <a:solidFill>
                  <a:srgbClr val="000000"/>
                </a:solidFill>
                <a:latin typeface="+mn-ea"/>
              </a:rPr>
              <a:t>    int id;</a:t>
            </a:r>
          </a:p>
          <a:p>
            <a:pPr lvl="1" eaLnBrk="1" hangingPunct="1"/>
            <a:r>
              <a:rPr lang="en-US" altLang="zh-CN" sz="2400" b="0">
                <a:solidFill>
                  <a:srgbClr val="000000"/>
                </a:solidFill>
                <a:latin typeface="+mn-ea"/>
              </a:rPr>
              <a:t>    char type;</a:t>
            </a:r>
          </a:p>
          <a:p>
            <a:pPr lvl="1" eaLnBrk="1" hangingPunct="1"/>
            <a:r>
              <a:rPr lang="en-US" altLang="zh-CN" sz="2400" b="0">
                <a:solidFill>
                  <a:srgbClr val="000000"/>
                </a:solidFill>
                <a:latin typeface="+mn-ea"/>
              </a:rPr>
              <a:t>    short age;</a:t>
            </a:r>
          </a:p>
          <a:p>
            <a:pPr lvl="1" eaLnBrk="1" hangingPunct="1"/>
            <a:r>
              <a:rPr lang="en-US" altLang="zh-CN" sz="2400" b="0">
                <a:solidFill>
                  <a:srgbClr val="000000"/>
                </a:solidFill>
                <a:latin typeface="+mn-ea"/>
              </a:rPr>
              <a:t>}</a:t>
            </a:r>
            <a:r>
              <a:rPr lang="zh-CN" altLang="en-US" sz="2400" b="0">
                <a:solidFill>
                  <a:srgbClr val="000000"/>
                </a:solidFill>
                <a:latin typeface="+mn-ea"/>
              </a:rPr>
              <a:t> </a:t>
            </a:r>
            <a:r>
              <a:rPr lang="en-US" altLang="zh-CN" sz="2400" b="0">
                <a:solidFill>
                  <a:srgbClr val="000000"/>
                </a:solidFill>
                <a:latin typeface="+mn-ea"/>
              </a:rPr>
              <a:t>u;</a:t>
            </a:r>
          </a:p>
          <a:p>
            <a:pPr lvl="1" eaLnBrk="1" hangingPunct="1"/>
            <a:endParaRPr lang="en-US" altLang="zh-CN" sz="2400" b="0">
              <a:solidFill>
                <a:srgbClr val="000000"/>
              </a:solidFill>
              <a:latin typeface="+mn-ea"/>
            </a:endParaRPr>
          </a:p>
          <a:p>
            <a:pPr lvl="1" eaLnBrk="1" hangingPunct="1"/>
            <a:r>
              <a:rPr lang="en-US" altLang="zh-CN" sz="2400" b="0">
                <a:solidFill>
                  <a:srgbClr val="000000"/>
                </a:solidFill>
                <a:latin typeface="+mn-ea"/>
              </a:rPr>
              <a:t>sizeof(u) = 12</a:t>
            </a:r>
            <a:r>
              <a:rPr lang="zh-CN" altLang="en-US" sz="2400" b="0">
                <a:solidFill>
                  <a:srgbClr val="000000"/>
                </a:solidFill>
                <a:latin typeface="+mn-ea"/>
              </a:rPr>
              <a:t>字节</a:t>
            </a:r>
            <a:endParaRPr lang="en-US" altLang="zh-CN" sz="2400" b="0">
              <a:solidFill>
                <a:srgbClr val="000000"/>
              </a:solidFill>
              <a:latin typeface="+mn-ea"/>
            </a:endParaRPr>
          </a:p>
        </p:txBody>
      </p:sp>
      <p:sp>
        <p:nvSpPr>
          <p:cNvPr id="4" name="Rectangle 4">
            <a:extLst>
              <a:ext uri="{FF2B5EF4-FFF2-40B4-BE49-F238E27FC236}">
                <a16:creationId xmlns:a16="http://schemas.microsoft.com/office/drawing/2014/main" id="{E8A3920E-7F9E-608A-7C40-E76E5987AC70}"/>
              </a:ext>
            </a:extLst>
          </p:cNvPr>
          <p:cNvSpPr txBox="1">
            <a:spLocks noChangeArrowheads="1"/>
          </p:cNvSpPr>
          <p:nvPr/>
        </p:nvSpPr>
        <p:spPr bwMode="auto">
          <a:xfrm>
            <a:off x="5004048" y="1844822"/>
            <a:ext cx="4032448" cy="4287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b="1">
                <a:solidFill>
                  <a:schemeClr val="tx1"/>
                </a:solidFill>
                <a:latin typeface="+mn-lt"/>
                <a:ea typeface="+mn-ea"/>
              </a:defRPr>
            </a:lvl9pPr>
          </a:lstStyle>
          <a:p>
            <a:pPr eaLnBrk="1" hangingPunct="1"/>
            <a:r>
              <a:rPr lang="zh-CN" altLang="en-US" b="0" i="0" kern="0">
                <a:latin typeface="+mn-ea"/>
              </a:rPr>
              <a:t>优化后</a:t>
            </a:r>
          </a:p>
          <a:p>
            <a:pPr lvl="1" eaLnBrk="1" hangingPunct="1"/>
            <a:r>
              <a:rPr lang="en-US" altLang="zh-CN" sz="2400" b="0" i="0" kern="0">
                <a:solidFill>
                  <a:srgbClr val="000000"/>
                </a:solidFill>
                <a:latin typeface="+mn-ea"/>
              </a:rPr>
              <a:t>struct User {</a:t>
            </a:r>
          </a:p>
          <a:p>
            <a:pPr lvl="1" eaLnBrk="1" hangingPunct="1"/>
            <a:r>
              <a:rPr lang="en-US" altLang="zh-CN" sz="2400" b="0" i="0" kern="0">
                <a:solidFill>
                  <a:srgbClr val="000000"/>
                </a:solidFill>
                <a:latin typeface="+mn-ea"/>
              </a:rPr>
              <a:t>    int   id;      </a:t>
            </a:r>
            <a:r>
              <a:rPr lang="zh-CN" altLang="en-US" sz="2400" b="0" i="0" kern="0">
                <a:solidFill>
                  <a:srgbClr val="000000"/>
                </a:solidFill>
                <a:latin typeface="+mn-ea"/>
              </a:rPr>
              <a:t>    </a:t>
            </a:r>
            <a:r>
              <a:rPr lang="en-US" altLang="zh-CN" sz="2400" b="0" i="0" kern="0">
                <a:solidFill>
                  <a:srgbClr val="000000"/>
                </a:solidFill>
                <a:latin typeface="+mn-ea"/>
              </a:rPr>
              <a:t>// 4</a:t>
            </a:r>
          </a:p>
          <a:p>
            <a:pPr lvl="1" eaLnBrk="1" hangingPunct="1"/>
            <a:r>
              <a:rPr lang="en-US" altLang="zh-CN" sz="2400" b="0" i="0" kern="0">
                <a:solidFill>
                  <a:srgbClr val="000000"/>
                </a:solidFill>
                <a:latin typeface="+mn-ea"/>
              </a:rPr>
              <a:t>    short age;     // 2</a:t>
            </a:r>
          </a:p>
          <a:p>
            <a:pPr lvl="1" eaLnBrk="1" hangingPunct="1"/>
            <a:r>
              <a:rPr lang="en-US" altLang="zh-CN" sz="2400" b="0" i="0" kern="0">
                <a:solidFill>
                  <a:srgbClr val="000000"/>
                </a:solidFill>
                <a:latin typeface="+mn-ea"/>
              </a:rPr>
              <a:t>    char  flag;    </a:t>
            </a:r>
            <a:r>
              <a:rPr lang="zh-CN" altLang="en-US" sz="2400" b="0" i="0" kern="0">
                <a:solidFill>
                  <a:srgbClr val="000000"/>
                </a:solidFill>
                <a:latin typeface="+mn-ea"/>
              </a:rPr>
              <a:t> </a:t>
            </a:r>
            <a:r>
              <a:rPr lang="en-US" altLang="zh-CN" sz="2400" b="0" i="0" kern="0">
                <a:solidFill>
                  <a:srgbClr val="000000"/>
                </a:solidFill>
                <a:latin typeface="+mn-ea"/>
              </a:rPr>
              <a:t>// 1</a:t>
            </a:r>
          </a:p>
          <a:p>
            <a:pPr lvl="1" eaLnBrk="1" hangingPunct="1"/>
            <a:r>
              <a:rPr lang="en-US" altLang="zh-CN" sz="2400" b="0" i="0" kern="0">
                <a:solidFill>
                  <a:srgbClr val="000000"/>
                </a:solidFill>
                <a:latin typeface="+mn-ea"/>
              </a:rPr>
              <a:t>    char  type;    // 1</a:t>
            </a:r>
          </a:p>
          <a:p>
            <a:pPr lvl="1" eaLnBrk="1" hangingPunct="1"/>
            <a:r>
              <a:rPr lang="en-US" altLang="zh-CN" sz="2400" b="0" i="0" kern="0">
                <a:solidFill>
                  <a:srgbClr val="000000"/>
                </a:solidFill>
                <a:latin typeface="+mn-ea"/>
              </a:rPr>
              <a:t>}</a:t>
            </a:r>
            <a:r>
              <a:rPr lang="zh-CN" altLang="en-US" sz="2400" b="0" i="0" kern="0">
                <a:solidFill>
                  <a:srgbClr val="000000"/>
                </a:solidFill>
                <a:latin typeface="+mn-ea"/>
              </a:rPr>
              <a:t> </a:t>
            </a:r>
            <a:r>
              <a:rPr lang="en-US" altLang="zh-CN" sz="2400" b="0" i="0" kern="0">
                <a:solidFill>
                  <a:srgbClr val="000000"/>
                </a:solidFill>
                <a:latin typeface="+mn-ea"/>
              </a:rPr>
              <a:t>u;</a:t>
            </a:r>
          </a:p>
          <a:p>
            <a:pPr lvl="1" eaLnBrk="1" hangingPunct="1"/>
            <a:endParaRPr lang="en-US" altLang="zh-CN" sz="2400" b="0" i="0" kern="0">
              <a:solidFill>
                <a:srgbClr val="000000"/>
              </a:solidFill>
              <a:latin typeface="+mn-ea"/>
            </a:endParaRPr>
          </a:p>
          <a:p>
            <a:pPr lvl="1" eaLnBrk="1" hangingPunct="1"/>
            <a:r>
              <a:rPr lang="en-US" altLang="zh-CN" sz="2400" b="0" i="0" kern="0">
                <a:solidFill>
                  <a:srgbClr val="000000"/>
                </a:solidFill>
                <a:latin typeface="+mn-ea"/>
              </a:rPr>
              <a:t>sizeof(u) = 8</a:t>
            </a:r>
            <a:r>
              <a:rPr lang="zh-CN" altLang="en-US" sz="2400" b="0" i="0" kern="0">
                <a:solidFill>
                  <a:srgbClr val="000000"/>
                </a:solidFill>
                <a:latin typeface="+mn-ea"/>
              </a:rPr>
              <a:t>字节</a:t>
            </a:r>
            <a:endParaRPr lang="en-US" altLang="zh-CN" sz="2400" b="0" i="0" kern="0">
              <a:solidFill>
                <a:srgbClr val="000000"/>
              </a:solidFill>
              <a:latin typeface="+mn-ea"/>
            </a:endParaRPr>
          </a:p>
        </p:txBody>
      </p:sp>
    </p:spTree>
    <p:extLst>
      <p:ext uri="{BB962C8B-B14F-4D97-AF65-F5344CB8AC3E}">
        <p14:creationId xmlns:p14="http://schemas.microsoft.com/office/powerpoint/2010/main" val="843095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a:extLst>
              <a:ext uri="{FF2B5EF4-FFF2-40B4-BE49-F238E27FC236}">
                <a16:creationId xmlns:a16="http://schemas.microsoft.com/office/drawing/2014/main" id="{F2B6393D-8C61-6C82-7BFB-D1A15A99DED8}"/>
              </a:ext>
            </a:extLst>
          </p:cNvPr>
          <p:cNvSpPr>
            <a:spLocks noGrp="1" noChangeArrowheads="1"/>
          </p:cNvSpPr>
          <p:nvPr>
            <p:ph type="title"/>
          </p:nvPr>
        </p:nvSpPr>
        <p:spPr/>
        <p:txBody>
          <a:bodyPr/>
          <a:lstStyle/>
          <a:p>
            <a:pPr eaLnBrk="1" hangingPunct="1"/>
            <a:r>
              <a:rPr lang="zh-CN" altLang="en-US"/>
              <a:t>结构的内存占用（续）</a:t>
            </a:r>
          </a:p>
        </p:txBody>
      </p:sp>
      <p:sp>
        <p:nvSpPr>
          <p:cNvPr id="13316" name="Rectangle 4">
            <a:extLst>
              <a:ext uri="{FF2B5EF4-FFF2-40B4-BE49-F238E27FC236}">
                <a16:creationId xmlns:a16="http://schemas.microsoft.com/office/drawing/2014/main" id="{DA31CADF-862A-F334-C378-3157001CA8CE}"/>
              </a:ext>
            </a:extLst>
          </p:cNvPr>
          <p:cNvSpPr>
            <a:spLocks noGrp="1" noChangeArrowheads="1"/>
          </p:cNvSpPr>
          <p:nvPr>
            <p:ph type="body" idx="1"/>
          </p:nvPr>
        </p:nvSpPr>
        <p:spPr>
          <a:xfrm>
            <a:off x="827088" y="1844823"/>
            <a:ext cx="7866062" cy="4287689"/>
          </a:xfrm>
        </p:spPr>
        <p:txBody>
          <a:bodyPr/>
          <a:lstStyle/>
          <a:p>
            <a:pPr eaLnBrk="1" hangingPunct="1"/>
            <a:r>
              <a:rPr lang="en-US" altLang="zh-CN" b="0">
                <a:solidFill>
                  <a:srgbClr val="0000FF"/>
                </a:solidFill>
                <a:latin typeface="+mn-ea"/>
              </a:rPr>
              <a:t>sizeof</a:t>
            </a:r>
            <a:r>
              <a:rPr lang="zh-CN" altLang="en-US" b="0">
                <a:latin typeface="+mn-ea"/>
              </a:rPr>
              <a:t>是一个</a:t>
            </a:r>
            <a:r>
              <a:rPr lang="en-US" altLang="zh-CN" b="0">
                <a:latin typeface="+mn-ea"/>
              </a:rPr>
              <a:t>C</a:t>
            </a:r>
            <a:r>
              <a:rPr lang="zh-CN" altLang="en-US" b="0">
                <a:latin typeface="+mn-ea"/>
              </a:rPr>
              <a:t>语言的操作符，并不是函数</a:t>
            </a:r>
          </a:p>
          <a:p>
            <a:pPr eaLnBrk="1" hangingPunct="1"/>
            <a:r>
              <a:rPr lang="zh-CN" altLang="en-US" b="0">
                <a:latin typeface="+mn-ea"/>
              </a:rPr>
              <a:t>可以用两种形式使用</a:t>
            </a:r>
          </a:p>
          <a:p>
            <a:pPr lvl="1" eaLnBrk="1" hangingPunct="1"/>
            <a:r>
              <a:rPr lang="en-US" altLang="zh-CN" b="0">
                <a:solidFill>
                  <a:srgbClr val="0000FF"/>
                </a:solidFill>
                <a:latin typeface="+mn-ea"/>
              </a:rPr>
              <a:t>sizeof</a:t>
            </a:r>
            <a:r>
              <a:rPr lang="en-US" altLang="zh-CN" b="0">
                <a:solidFill>
                  <a:srgbClr val="000000"/>
                </a:solidFill>
                <a:latin typeface="+mn-ea"/>
              </a:rPr>
              <a:t>(</a:t>
            </a:r>
            <a:r>
              <a:rPr lang="zh-CN" altLang="en-US" b="0">
                <a:latin typeface="+mn-ea"/>
              </a:rPr>
              <a:t>表达式</a:t>
            </a:r>
            <a:r>
              <a:rPr lang="en-US" altLang="zh-CN" b="0">
                <a:solidFill>
                  <a:srgbClr val="000000"/>
                </a:solidFill>
                <a:latin typeface="+mn-ea"/>
              </a:rPr>
              <a:t>)</a:t>
            </a:r>
          </a:p>
          <a:p>
            <a:pPr lvl="2" eaLnBrk="1" hangingPunct="1"/>
            <a:r>
              <a:rPr lang="zh-CN" altLang="en-US" b="0">
                <a:latin typeface="+mn-ea"/>
              </a:rPr>
              <a:t>一般都使用</a:t>
            </a:r>
            <a:r>
              <a:rPr lang="en-US" altLang="zh-CN" b="0">
                <a:solidFill>
                  <a:srgbClr val="0000FF"/>
                </a:solidFill>
                <a:latin typeface="+mn-ea"/>
              </a:rPr>
              <a:t>sizeof</a:t>
            </a:r>
            <a:r>
              <a:rPr lang="en-US" altLang="zh-CN" b="0">
                <a:solidFill>
                  <a:srgbClr val="000000"/>
                </a:solidFill>
                <a:latin typeface="+mn-ea"/>
              </a:rPr>
              <a:t>(</a:t>
            </a:r>
            <a:r>
              <a:rPr lang="zh-CN" altLang="en-US" b="0">
                <a:latin typeface="+mn-ea"/>
              </a:rPr>
              <a:t>变量名</a:t>
            </a:r>
            <a:r>
              <a:rPr lang="en-US" altLang="zh-CN" b="0">
                <a:solidFill>
                  <a:srgbClr val="000000"/>
                </a:solidFill>
                <a:latin typeface="+mn-ea"/>
              </a:rPr>
              <a:t>)</a:t>
            </a:r>
          </a:p>
          <a:p>
            <a:pPr lvl="1" eaLnBrk="1" hangingPunct="1"/>
            <a:r>
              <a:rPr lang="en-US" altLang="zh-CN" b="0">
                <a:solidFill>
                  <a:srgbClr val="0000FF"/>
                </a:solidFill>
                <a:latin typeface="+mn-ea"/>
              </a:rPr>
              <a:t>sizeof</a:t>
            </a:r>
            <a:r>
              <a:rPr lang="en-US" altLang="zh-CN" b="0">
                <a:solidFill>
                  <a:srgbClr val="000000"/>
                </a:solidFill>
                <a:latin typeface="+mn-ea"/>
              </a:rPr>
              <a:t>(</a:t>
            </a:r>
            <a:r>
              <a:rPr lang="zh-CN" altLang="en-US" b="0">
                <a:latin typeface="+mn-ea"/>
              </a:rPr>
              <a:t>类型</a:t>
            </a:r>
            <a:r>
              <a:rPr lang="en-US" altLang="zh-CN" b="0">
                <a:solidFill>
                  <a:srgbClr val="000000"/>
                </a:solidFill>
                <a:latin typeface="+mn-ea"/>
              </a:rPr>
              <a:t>)</a:t>
            </a:r>
            <a:r>
              <a:rPr lang="zh-CN" altLang="en-US" b="0">
                <a:solidFill>
                  <a:srgbClr val="000000"/>
                </a:solidFill>
                <a:latin typeface="+mn-ea"/>
              </a:rPr>
              <a:t>：</a:t>
            </a:r>
            <a:r>
              <a:rPr lang="en-US" altLang="zh-CN" b="0">
                <a:solidFill>
                  <a:srgbClr val="000000"/>
                </a:solidFill>
                <a:latin typeface="+mn-ea"/>
              </a:rPr>
              <a:t>sizeof(</a:t>
            </a:r>
            <a:r>
              <a:rPr lang="en-US" altLang="zh-CN" b="0">
                <a:solidFill>
                  <a:srgbClr val="FF0000"/>
                </a:solidFill>
                <a:latin typeface="+mn-ea"/>
              </a:rPr>
              <a:t>struct</a:t>
            </a:r>
            <a:r>
              <a:rPr lang="en-US" altLang="zh-CN" b="0">
                <a:solidFill>
                  <a:srgbClr val="000000"/>
                </a:solidFill>
                <a:latin typeface="+mn-ea"/>
              </a:rPr>
              <a:t> User)</a:t>
            </a:r>
          </a:p>
          <a:p>
            <a:pPr eaLnBrk="1" hangingPunct="1"/>
            <a:r>
              <a:rPr lang="zh-CN" altLang="en-US" b="0">
                <a:latin typeface="+mn-ea"/>
              </a:rPr>
              <a:t>求出的结果为</a:t>
            </a:r>
            <a:r>
              <a:rPr lang="zh-CN" altLang="en-US" b="0" u="sng">
                <a:latin typeface="+mn-ea"/>
              </a:rPr>
              <a:t>表达式值所属类型</a:t>
            </a:r>
            <a:r>
              <a:rPr lang="zh-CN" altLang="en-US" b="0">
                <a:latin typeface="+mn-ea"/>
              </a:rPr>
              <a:t>或者</a:t>
            </a:r>
            <a:r>
              <a:rPr lang="zh-CN" altLang="en-US" b="0" u="sng">
                <a:latin typeface="+mn-ea"/>
              </a:rPr>
              <a:t>类型</a:t>
            </a:r>
            <a:r>
              <a:rPr lang="zh-CN" altLang="en-US" b="0">
                <a:latin typeface="+mn-ea"/>
              </a:rPr>
              <a:t>占用的字节数</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DEF4FD2-7ABC-8779-D65A-C346D1CDCBAB}"/>
              </a:ext>
            </a:extLst>
          </p:cNvPr>
          <p:cNvSpPr>
            <a:spLocks noGrp="1" noChangeArrowheads="1"/>
          </p:cNvSpPr>
          <p:nvPr>
            <p:ph type="title"/>
          </p:nvPr>
        </p:nvSpPr>
        <p:spPr/>
        <p:txBody>
          <a:bodyPr/>
          <a:lstStyle/>
          <a:p>
            <a:pPr eaLnBrk="1" hangingPunct="1"/>
            <a:r>
              <a:rPr lang="zh-CN" altLang="en-US">
                <a:latin typeface="Courier New" panose="02070309020205020404" pitchFamily="49" charset="0"/>
              </a:rPr>
              <a:t>小结：</a:t>
            </a:r>
            <a:r>
              <a:rPr lang="en-US" altLang="zh-CN">
                <a:latin typeface="Courier New" panose="02070309020205020404" pitchFamily="49" charset="0"/>
              </a:rPr>
              <a:t>struct</a:t>
            </a:r>
            <a:r>
              <a:rPr lang="zh-CN" altLang="en-US"/>
              <a:t>类型的特点</a:t>
            </a:r>
          </a:p>
        </p:txBody>
      </p:sp>
      <p:sp>
        <p:nvSpPr>
          <p:cNvPr id="14339" name="Rectangle 3">
            <a:extLst>
              <a:ext uri="{FF2B5EF4-FFF2-40B4-BE49-F238E27FC236}">
                <a16:creationId xmlns:a16="http://schemas.microsoft.com/office/drawing/2014/main" id="{1CAC7777-F340-EF5A-C078-322418250369}"/>
              </a:ext>
            </a:extLst>
          </p:cNvPr>
          <p:cNvSpPr>
            <a:spLocks noGrp="1" noChangeArrowheads="1"/>
          </p:cNvSpPr>
          <p:nvPr>
            <p:ph type="body" idx="1"/>
          </p:nvPr>
        </p:nvSpPr>
        <p:spPr>
          <a:xfrm>
            <a:off x="900113" y="1772816"/>
            <a:ext cx="7793038" cy="4896544"/>
          </a:xfrm>
        </p:spPr>
        <p:txBody>
          <a:bodyPr/>
          <a:lstStyle/>
          <a:p>
            <a:pPr eaLnBrk="1" hangingPunct="1"/>
            <a:r>
              <a:rPr lang="zh-CN" altLang="en-US" sz="2400">
                <a:latin typeface="Microsoft YaHei" panose="020B0503020204020204" pitchFamily="34" charset="-122"/>
                <a:ea typeface="Microsoft YaHei" panose="020B0503020204020204" pitchFamily="34" charset="-122"/>
              </a:rPr>
              <a:t>一个普通的类型</a:t>
            </a:r>
          </a:p>
          <a:p>
            <a:pPr lvl="1" eaLnBrk="1" hangingPunct="1"/>
            <a:r>
              <a:rPr lang="zh-CN" altLang="en-US" sz="2000" b="0">
                <a:ea typeface="宋体" panose="02010600030101010101" pitchFamily="2" charset="-122"/>
              </a:rPr>
              <a:t>可以定义该类型的变量、数组、指针</a:t>
            </a:r>
            <a:r>
              <a:rPr lang="en-US" altLang="zh-CN" sz="2000" b="0">
                <a:latin typeface="Times New Roman" panose="02020603050405020304" pitchFamily="18" charset="0"/>
                <a:ea typeface="宋体" panose="02010600030101010101" pitchFamily="2" charset="-122"/>
              </a:rPr>
              <a:t>……</a:t>
            </a:r>
            <a:endParaRPr lang="en-US" altLang="zh-CN" sz="2000" b="0">
              <a:ea typeface="宋体" panose="02010600030101010101" pitchFamily="2" charset="-122"/>
            </a:endParaRPr>
          </a:p>
          <a:p>
            <a:pPr lvl="1" eaLnBrk="1" hangingPunct="1"/>
            <a:r>
              <a:rPr lang="zh-CN" altLang="en-US" sz="2000" b="0">
                <a:ea typeface="宋体" panose="02010600030101010101" pitchFamily="2" charset="-122"/>
              </a:rPr>
              <a:t>它的成员可以是任意类型</a:t>
            </a:r>
          </a:p>
          <a:p>
            <a:pPr lvl="2" eaLnBrk="1" hangingPunct="1"/>
            <a:r>
              <a:rPr lang="zh-CN" altLang="en-US" sz="1800" b="0">
                <a:ea typeface="宋体" panose="02010600030101010101" pitchFamily="2" charset="-122"/>
              </a:rPr>
              <a:t>基本类型、数组、指针、结构</a:t>
            </a:r>
            <a:r>
              <a:rPr lang="en-US" altLang="zh-CN" sz="1800" b="0">
                <a:solidFill>
                  <a:srgbClr val="000000"/>
                </a:solidFill>
                <a:latin typeface="Courier New" panose="02070309020205020404" pitchFamily="49" charset="0"/>
                <a:ea typeface="宋体" panose="02010600030101010101" pitchFamily="2" charset="-122"/>
              </a:rPr>
              <a:t>……</a:t>
            </a:r>
          </a:p>
          <a:p>
            <a:pPr lvl="1" eaLnBrk="1" hangingPunct="1"/>
            <a:r>
              <a:rPr lang="zh-CN" altLang="en-US" sz="2000" b="0">
                <a:ea typeface="宋体" panose="02010600030101010101" pitchFamily="2" charset="-122"/>
              </a:rPr>
              <a:t>可以做函数的</a:t>
            </a:r>
            <a:r>
              <a:rPr lang="zh-CN" altLang="en-US" sz="2000" b="0">
                <a:solidFill>
                  <a:srgbClr val="0066FF"/>
                </a:solidFill>
                <a:ea typeface="宋体" panose="02010600030101010101" pitchFamily="2" charset="-122"/>
              </a:rPr>
              <a:t>参数类型</a:t>
            </a:r>
            <a:r>
              <a:rPr lang="zh-CN" altLang="en-US" sz="2000" b="0">
                <a:ea typeface="宋体" panose="02010600030101010101" pitchFamily="2" charset="-122"/>
              </a:rPr>
              <a:t>和</a:t>
            </a:r>
            <a:r>
              <a:rPr lang="zh-CN" altLang="en-US" sz="2000" b="0">
                <a:solidFill>
                  <a:srgbClr val="0066FF"/>
                </a:solidFill>
                <a:ea typeface="宋体" panose="02010600030101010101" pitchFamily="2" charset="-122"/>
              </a:rPr>
              <a:t>返回值类型</a:t>
            </a:r>
          </a:p>
          <a:p>
            <a:pPr eaLnBrk="1" hangingPunct="1"/>
            <a:r>
              <a:rPr lang="en-US" altLang="zh-CN" sz="2400">
                <a:solidFill>
                  <a:srgbClr val="0000FF"/>
                </a:solidFill>
                <a:latin typeface="Microsoft YaHei" panose="020B0503020204020204" pitchFamily="34" charset="-122"/>
                <a:ea typeface="Microsoft YaHei" panose="020B0503020204020204" pitchFamily="34" charset="-122"/>
              </a:rPr>
              <a:t>struct</a:t>
            </a:r>
            <a:r>
              <a:rPr lang="zh-CN" altLang="en-US" sz="2400">
                <a:latin typeface="Microsoft YaHei" panose="020B0503020204020204" pitchFamily="34" charset="-122"/>
                <a:ea typeface="Microsoft YaHei" panose="020B0503020204020204" pitchFamily="34" charset="-122"/>
              </a:rPr>
              <a:t>类型的变量</a:t>
            </a:r>
          </a:p>
          <a:p>
            <a:pPr lvl="1" eaLnBrk="1" hangingPunct="1"/>
            <a:r>
              <a:rPr lang="zh-CN" altLang="en-US" sz="2000" b="0">
                <a:ea typeface="宋体" panose="02010600030101010101" pitchFamily="2" charset="-122"/>
              </a:rPr>
              <a:t>可以互相赋值</a:t>
            </a:r>
          </a:p>
          <a:p>
            <a:pPr lvl="2" eaLnBrk="1" hangingPunct="1"/>
            <a:r>
              <a:rPr lang="zh-CN" altLang="en-US" sz="1800" b="0">
                <a:ea typeface="宋体" panose="02010600030101010101" pitchFamily="2" charset="-122"/>
              </a:rPr>
              <a:t>所以作为函数的参数时，是</a:t>
            </a:r>
            <a:r>
              <a:rPr lang="zh-CN" altLang="en-US" sz="1800">
                <a:solidFill>
                  <a:srgbClr val="0066FF"/>
                </a:solidFill>
                <a:ea typeface="宋体" panose="02010600030101010101" pitchFamily="2" charset="-122"/>
              </a:rPr>
              <a:t>传值调用</a:t>
            </a:r>
            <a:endParaRPr lang="zh-CN" altLang="en-US" sz="1800">
              <a:solidFill>
                <a:srgbClr val="0066FF"/>
              </a:solidFill>
              <a:latin typeface="Courier New" panose="02070309020205020404" pitchFamily="49" charset="0"/>
              <a:ea typeface="宋体" panose="02010600030101010101" pitchFamily="2" charset="-122"/>
            </a:endParaRPr>
          </a:p>
          <a:p>
            <a:pPr lvl="1" eaLnBrk="1" hangingPunct="1"/>
            <a:r>
              <a:rPr lang="zh-CN" altLang="en-US" sz="2000" b="0">
                <a:ea typeface="宋体" panose="02010600030101010101" pitchFamily="2" charset="-122"/>
              </a:rPr>
              <a:t>可以</a:t>
            </a:r>
            <a:r>
              <a:rPr lang="en-US" altLang="zh-CN" sz="2000" b="0">
                <a:solidFill>
                  <a:srgbClr val="000000"/>
                </a:solidFill>
                <a:latin typeface="Courier New" panose="02070309020205020404" pitchFamily="49" charset="0"/>
                <a:ea typeface="宋体" panose="02010600030101010101" pitchFamily="2" charset="-122"/>
              </a:rPr>
              <a:t>&amp;</a:t>
            </a:r>
          </a:p>
          <a:p>
            <a:pPr lvl="1" eaLnBrk="1" hangingPunct="1"/>
            <a:r>
              <a:rPr lang="zh-CN" altLang="en-US" sz="2000" b="0">
                <a:solidFill>
                  <a:srgbClr val="C00000"/>
                </a:solidFill>
                <a:ea typeface="宋体" panose="02010600030101010101" pitchFamily="2" charset="-122"/>
              </a:rPr>
              <a:t>不能直接参与运算（加、减、乘、除等）</a:t>
            </a:r>
          </a:p>
          <a:p>
            <a:pPr eaLnBrk="1" hangingPunct="1"/>
            <a:r>
              <a:rPr lang="zh-CN" altLang="en-US" sz="2400" b="0">
                <a:ea typeface="宋体" panose="02010600030101010101" pitchFamily="2" charset="-122"/>
              </a:rPr>
              <a:t>它的成员个个也都是变量</a:t>
            </a:r>
          </a:p>
          <a:p>
            <a:pPr eaLnBrk="1" hangingPunct="1"/>
            <a:r>
              <a:rPr lang="zh-CN" altLang="en-US" sz="2400" b="0">
                <a:ea typeface="宋体" panose="02010600030101010101" pitchFamily="2" charset="-122"/>
              </a:rPr>
              <a:t>面向对象和数据库是</a:t>
            </a:r>
            <a:r>
              <a:rPr lang="en-US" altLang="zh-CN" sz="2400" b="0">
                <a:solidFill>
                  <a:srgbClr val="0000FF"/>
                </a:solidFill>
                <a:latin typeface="Courier New" panose="02070309020205020404" pitchFamily="49" charset="0"/>
                <a:ea typeface="宋体" panose="02010600030101010101" pitchFamily="2" charset="-122"/>
              </a:rPr>
              <a:t>struct</a:t>
            </a:r>
            <a:r>
              <a:rPr lang="zh-CN" altLang="en-US" sz="2400" b="0">
                <a:ea typeface="宋体" panose="02010600030101010101" pitchFamily="2" charset="-122"/>
              </a:rPr>
              <a:t>思想的发展</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9A5BAB81-26E7-CA4E-F99F-5FE89DD09048}"/>
              </a:ext>
            </a:extLst>
          </p:cNvPr>
          <p:cNvSpPr>
            <a:spLocks noGrp="1" noChangeArrowheads="1"/>
          </p:cNvSpPr>
          <p:nvPr>
            <p:ph type="title"/>
          </p:nvPr>
        </p:nvSpPr>
        <p:spPr/>
        <p:txBody>
          <a:bodyPr/>
          <a:lstStyle/>
          <a:p>
            <a:pPr eaLnBrk="1" hangingPunct="1"/>
            <a:r>
              <a:rPr lang="zh-CN" altLang="en-US"/>
              <a:t>结构指针变量</a:t>
            </a:r>
          </a:p>
        </p:txBody>
      </p:sp>
      <p:sp>
        <p:nvSpPr>
          <p:cNvPr id="49155" name="Rectangle 3">
            <a:extLst>
              <a:ext uri="{FF2B5EF4-FFF2-40B4-BE49-F238E27FC236}">
                <a16:creationId xmlns:a16="http://schemas.microsoft.com/office/drawing/2014/main" id="{DD20C4B6-488E-EF67-D37C-DA4F099D7E24}"/>
              </a:ext>
            </a:extLst>
          </p:cNvPr>
          <p:cNvSpPr>
            <a:spLocks noGrp="1" noChangeArrowheads="1"/>
          </p:cNvSpPr>
          <p:nvPr>
            <p:ph type="body" idx="1"/>
          </p:nvPr>
        </p:nvSpPr>
        <p:spPr>
          <a:xfrm>
            <a:off x="900112" y="1844824"/>
            <a:ext cx="7793037" cy="4287689"/>
          </a:xfrm>
        </p:spPr>
        <p:txBody>
          <a:bodyPr/>
          <a:lstStyle/>
          <a:p>
            <a:pPr eaLnBrk="1" hangingPunct="1"/>
            <a:r>
              <a:rPr lang="zh-CN" altLang="en-US" sz="2400" b="0"/>
              <a:t>结构指针变量</a:t>
            </a:r>
            <a:r>
              <a:rPr lang="en-US" altLang="zh-CN" sz="2400" b="0"/>
              <a:t>p</a:t>
            </a:r>
            <a:r>
              <a:rPr lang="zh-CN" altLang="en-US" sz="2400" b="0"/>
              <a:t>：指向一个结构</a:t>
            </a:r>
            <a:r>
              <a:rPr lang="en-US" altLang="zh-CN" sz="2400" b="0"/>
              <a:t>s</a:t>
            </a:r>
            <a:r>
              <a:rPr lang="zh-CN" altLang="en-US" sz="2400" b="0"/>
              <a:t>的指针变量</a:t>
            </a:r>
          </a:p>
          <a:p>
            <a:pPr lvl="1" eaLnBrk="1" hangingPunct="1"/>
            <a:r>
              <a:rPr lang="en-US" altLang="zh-CN" sz="2000" b="0"/>
              <a:t>p</a:t>
            </a:r>
            <a:r>
              <a:rPr lang="zh-CN" altLang="en-US" sz="2000" b="0"/>
              <a:t>存放</a:t>
            </a:r>
            <a:r>
              <a:rPr lang="en-US" altLang="zh-CN" sz="2000" b="0"/>
              <a:t>s</a:t>
            </a:r>
            <a:r>
              <a:rPr lang="zh-CN" altLang="en-US" sz="2000" b="0"/>
              <a:t>的开始地址</a:t>
            </a:r>
          </a:p>
          <a:p>
            <a:pPr lvl="1" eaLnBrk="1" hangingPunct="1"/>
            <a:r>
              <a:rPr lang="zh-CN" altLang="en-US" sz="2000" b="0"/>
              <a:t>简称结构指针</a:t>
            </a:r>
          </a:p>
          <a:p>
            <a:pPr eaLnBrk="1" hangingPunct="1"/>
            <a:r>
              <a:rPr lang="zh-CN" altLang="en-US" sz="2400" b="0"/>
              <a:t>定义结构指针的方法，与定义一般指针变量一样。如</a:t>
            </a:r>
          </a:p>
          <a:p>
            <a:pPr lvl="1" eaLnBrk="1" hangingPunct="1"/>
            <a:r>
              <a:rPr lang="en-US" altLang="zh-CN" sz="2000" b="0"/>
              <a:t>struct  Date  *pd , date3;</a:t>
            </a:r>
          </a:p>
          <a:p>
            <a:pPr lvl="1" eaLnBrk="1" hangingPunct="1"/>
            <a:r>
              <a:rPr lang="en-US" altLang="zh-CN" sz="2000" b="0"/>
              <a:t>pd = &amp;date3;</a:t>
            </a:r>
          </a:p>
          <a:p>
            <a:pPr lvl="1" eaLnBrk="1" hangingPunct="1"/>
            <a:endParaRPr lang="en-US" altLang="zh-CN" sz="2000" b="0"/>
          </a:p>
          <a:p>
            <a:pPr lvl="1" eaLnBrk="1" hangingPunct="1"/>
            <a:r>
              <a:rPr lang="zh-CN" altLang="en-US" sz="2400" b="0"/>
              <a:t>定义了结构指针</a:t>
            </a:r>
            <a:r>
              <a:rPr lang="en-US" altLang="zh-CN" sz="2400" b="0"/>
              <a:t>pd</a:t>
            </a:r>
            <a:r>
              <a:rPr lang="zh-CN" altLang="en-US" sz="2400" b="0"/>
              <a:t>和结构变量</a:t>
            </a:r>
            <a:r>
              <a:rPr lang="en-US" altLang="zh-CN" sz="2400" b="0"/>
              <a:t>date3</a:t>
            </a:r>
            <a:r>
              <a:rPr lang="zh-CN" altLang="en-US" sz="2400" b="0"/>
              <a:t>。其中，指针变量</a:t>
            </a:r>
            <a:r>
              <a:rPr lang="en-US" altLang="zh-CN" sz="2400" b="0"/>
              <a:t>pd</a:t>
            </a:r>
            <a:r>
              <a:rPr lang="zh-CN" altLang="en-US" sz="2400" b="0"/>
              <a:t>能指向类型为 </a:t>
            </a:r>
            <a:r>
              <a:rPr lang="en-US" altLang="zh-CN" sz="2400" b="0"/>
              <a:t>struct Date</a:t>
            </a:r>
            <a:r>
              <a:rPr lang="zh-CN" altLang="en-US" sz="2400" b="0"/>
              <a:t>的结构。</a:t>
            </a:r>
          </a:p>
          <a:p>
            <a:pPr lvl="1" eaLnBrk="1" hangingPunct="1"/>
            <a:r>
              <a:rPr lang="zh-CN" altLang="en-US" sz="2400" b="0"/>
              <a:t>赋值</a:t>
            </a:r>
            <a:r>
              <a:rPr lang="en-US" altLang="zh-CN" sz="2400" b="0"/>
              <a:t>pd = &amp;date3</a:t>
            </a:r>
            <a:r>
              <a:rPr lang="zh-CN" altLang="en-US" sz="2400" b="0"/>
              <a:t>，使指针</a:t>
            </a:r>
            <a:r>
              <a:rPr lang="en-US" altLang="zh-CN" sz="2400" b="0"/>
              <a:t>pd</a:t>
            </a:r>
            <a:r>
              <a:rPr lang="zh-CN" altLang="en-US" sz="2400" b="0"/>
              <a:t>指向结构</a:t>
            </a:r>
            <a:r>
              <a:rPr lang="en-US" altLang="zh-CN" sz="2400" b="0"/>
              <a:t>date3</a:t>
            </a:r>
            <a:r>
              <a:rPr lang="zh-CN" altLang="en-US" sz="2400" b="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F6A7B86-7D08-CDFA-8471-98FB5DB313D9}"/>
              </a:ext>
            </a:extLst>
          </p:cNvPr>
          <p:cNvSpPr>
            <a:spLocks noGrp="1" noChangeArrowheads="1"/>
          </p:cNvSpPr>
          <p:nvPr>
            <p:ph type="title"/>
          </p:nvPr>
        </p:nvSpPr>
        <p:spPr/>
        <p:txBody>
          <a:bodyPr/>
          <a:lstStyle/>
          <a:p>
            <a:pPr eaLnBrk="1" hangingPunct="1"/>
            <a:r>
              <a:rPr lang="zh-CN" altLang="en-US"/>
              <a:t>结构成员的访问</a:t>
            </a:r>
          </a:p>
        </p:txBody>
      </p:sp>
      <p:sp>
        <p:nvSpPr>
          <p:cNvPr id="51203" name="Rectangle 3">
            <a:extLst>
              <a:ext uri="{FF2B5EF4-FFF2-40B4-BE49-F238E27FC236}">
                <a16:creationId xmlns:a16="http://schemas.microsoft.com/office/drawing/2014/main" id="{37DE5F41-7221-D184-4DC0-1F761E0A2A18}"/>
              </a:ext>
            </a:extLst>
          </p:cNvPr>
          <p:cNvSpPr>
            <a:spLocks noGrp="1" noChangeArrowheads="1"/>
          </p:cNvSpPr>
          <p:nvPr>
            <p:ph type="body" idx="1"/>
          </p:nvPr>
        </p:nvSpPr>
        <p:spPr>
          <a:xfrm>
            <a:off x="684213" y="1772816"/>
            <a:ext cx="8008937" cy="4359697"/>
          </a:xfrm>
        </p:spPr>
        <p:txBody>
          <a:bodyPr/>
          <a:lstStyle/>
          <a:p>
            <a:pPr eaLnBrk="1" hangingPunct="1">
              <a:lnSpc>
                <a:spcPct val="150000"/>
              </a:lnSpc>
            </a:pPr>
            <a:r>
              <a:rPr lang="zh-CN" altLang="en-US" sz="2400" b="0"/>
              <a:t>结构成员有</a:t>
            </a:r>
            <a:r>
              <a:rPr lang="zh-CN" altLang="en-US" sz="2400" b="0">
                <a:solidFill>
                  <a:srgbClr val="0066FF"/>
                </a:solidFill>
              </a:rPr>
              <a:t>两种访问方式</a:t>
            </a:r>
            <a:endParaRPr lang="en-US" altLang="zh-CN" sz="2400" b="0">
              <a:solidFill>
                <a:srgbClr val="0066FF"/>
              </a:solidFill>
            </a:endParaRPr>
          </a:p>
          <a:p>
            <a:pPr eaLnBrk="1" hangingPunct="1">
              <a:lnSpc>
                <a:spcPct val="150000"/>
              </a:lnSpc>
            </a:pPr>
            <a:r>
              <a:rPr lang="zh-CN" altLang="en-US" sz="2400"/>
              <a:t>（</a:t>
            </a:r>
            <a:r>
              <a:rPr lang="en-US" altLang="zh-CN" sz="2400"/>
              <a:t>1</a:t>
            </a:r>
            <a:r>
              <a:rPr lang="zh-CN" altLang="en-US" sz="2400"/>
              <a:t>）由</a:t>
            </a:r>
            <a:r>
              <a:rPr lang="zh-CN" altLang="en-US" sz="2400" u="sng"/>
              <a:t>结构变量名</a:t>
            </a:r>
            <a:r>
              <a:rPr lang="zh-CN" altLang="en-US" sz="2400"/>
              <a:t>引用其成分的标记形式为：</a:t>
            </a:r>
          </a:p>
          <a:p>
            <a:pPr lvl="1" eaLnBrk="1" hangingPunct="1">
              <a:lnSpc>
                <a:spcPct val="150000"/>
              </a:lnSpc>
            </a:pPr>
            <a:r>
              <a:rPr lang="zh-CN" altLang="en-US" sz="2000" b="0">
                <a:solidFill>
                  <a:srgbClr val="0066FF"/>
                </a:solidFill>
              </a:rPr>
              <a:t>结构变量名</a:t>
            </a:r>
            <a:r>
              <a:rPr lang="en-US" altLang="zh-CN" sz="2000" b="0">
                <a:solidFill>
                  <a:srgbClr val="0066FF"/>
                </a:solidFill>
              </a:rPr>
              <a:t>.</a:t>
            </a:r>
            <a:r>
              <a:rPr lang="zh-CN" altLang="en-US" sz="2000" b="0">
                <a:solidFill>
                  <a:srgbClr val="0066FF"/>
                </a:solidFill>
              </a:rPr>
              <a:t>成分名</a:t>
            </a:r>
          </a:p>
          <a:p>
            <a:pPr eaLnBrk="1" hangingPunct="1">
              <a:lnSpc>
                <a:spcPct val="150000"/>
              </a:lnSpc>
            </a:pPr>
            <a:r>
              <a:rPr lang="zh-CN" altLang="en-US" sz="2400" b="0"/>
              <a:t>例如，</a:t>
            </a:r>
            <a:r>
              <a:rPr lang="en-US" altLang="zh-CN" sz="2400" b="0"/>
              <a:t>d1.year</a:t>
            </a:r>
            <a:r>
              <a:rPr lang="zh-CN" altLang="en-US" sz="2400" b="0"/>
              <a:t>引用结构变量</a:t>
            </a:r>
            <a:r>
              <a:rPr lang="en-US" altLang="zh-CN" sz="2400" b="0"/>
              <a:t>d1</a:t>
            </a:r>
            <a:r>
              <a:rPr lang="zh-CN" altLang="en-US" sz="2400" b="0"/>
              <a:t>的</a:t>
            </a:r>
            <a:r>
              <a:rPr lang="en-US" altLang="zh-CN" sz="2400" b="0"/>
              <a:t>year</a:t>
            </a:r>
            <a:r>
              <a:rPr lang="zh-CN" altLang="en-US" sz="2400" b="0"/>
              <a:t>成分。因该成分的类型为</a:t>
            </a:r>
            <a:r>
              <a:rPr lang="en-US" altLang="zh-CN" sz="2400" b="0"/>
              <a:t>int</a:t>
            </a:r>
            <a:r>
              <a:rPr lang="zh-CN" altLang="en-US" sz="2400" b="0"/>
              <a:t>型的，可以对它施行</a:t>
            </a:r>
            <a:r>
              <a:rPr lang="zh-CN" altLang="en-US" sz="2400" b="0" u="sng">
                <a:solidFill>
                  <a:srgbClr val="CC0000"/>
                </a:solidFill>
              </a:rPr>
              <a:t>任何</a:t>
            </a:r>
            <a:r>
              <a:rPr lang="en-US" altLang="zh-CN" sz="2400" b="0"/>
              <a:t>int</a:t>
            </a:r>
            <a:r>
              <a:rPr lang="zh-CN" altLang="en-US" sz="2400" b="0"/>
              <a:t>型变量可以施行的运算。例如赋值运算</a:t>
            </a:r>
          </a:p>
          <a:p>
            <a:pPr lvl="1" eaLnBrk="1" hangingPunct="1">
              <a:lnSpc>
                <a:spcPct val="150000"/>
              </a:lnSpc>
            </a:pPr>
            <a:r>
              <a:rPr lang="en-US" altLang="zh-CN" sz="2000" b="0"/>
              <a:t>d1.year = 2000;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7364AF1F-F946-EE76-DB89-F35D97EAC587}"/>
              </a:ext>
            </a:extLst>
          </p:cNvPr>
          <p:cNvSpPr>
            <a:spLocks noGrp="1" noChangeArrowheads="1"/>
          </p:cNvSpPr>
          <p:nvPr>
            <p:ph type="title"/>
          </p:nvPr>
        </p:nvSpPr>
        <p:spPr/>
        <p:txBody>
          <a:bodyPr/>
          <a:lstStyle/>
          <a:p>
            <a:pPr eaLnBrk="1" hangingPunct="1"/>
            <a:r>
              <a:rPr lang="zh-CN" altLang="en-US"/>
              <a:t>结构成员的访问（续）</a:t>
            </a:r>
            <a:endParaRPr lang="en-US" altLang="zh-CN"/>
          </a:p>
        </p:txBody>
      </p:sp>
      <p:sp>
        <p:nvSpPr>
          <p:cNvPr id="53251" name="Rectangle 3">
            <a:extLst>
              <a:ext uri="{FF2B5EF4-FFF2-40B4-BE49-F238E27FC236}">
                <a16:creationId xmlns:a16="http://schemas.microsoft.com/office/drawing/2014/main" id="{0EC8D8F0-F29D-9DAB-150B-A89B238AB992}"/>
              </a:ext>
            </a:extLst>
          </p:cNvPr>
          <p:cNvSpPr>
            <a:spLocks noGrp="1" noChangeArrowheads="1"/>
          </p:cNvSpPr>
          <p:nvPr>
            <p:ph type="body" idx="1"/>
          </p:nvPr>
        </p:nvSpPr>
        <p:spPr>
          <a:xfrm>
            <a:off x="684213" y="1844823"/>
            <a:ext cx="8270875" cy="4287689"/>
          </a:xfrm>
        </p:spPr>
        <p:txBody>
          <a:bodyPr/>
          <a:lstStyle/>
          <a:p>
            <a:pPr eaLnBrk="1" hangingPunct="1"/>
            <a:r>
              <a:rPr lang="zh-CN" altLang="en-US" sz="2400"/>
              <a:t>（</a:t>
            </a:r>
            <a:r>
              <a:rPr lang="en-US" altLang="zh-CN" sz="2400"/>
              <a:t>2</a:t>
            </a:r>
            <a:r>
              <a:rPr lang="zh-CN" altLang="en-US" sz="2400"/>
              <a:t>）由</a:t>
            </a:r>
            <a:r>
              <a:rPr lang="zh-CN" altLang="en-US" sz="2400" u="sng"/>
              <a:t>结构指针</a:t>
            </a:r>
            <a:r>
              <a:rPr lang="zh-CN" altLang="en-US" sz="2400"/>
              <a:t>引用结构成分的标记形式为：</a:t>
            </a:r>
          </a:p>
          <a:p>
            <a:pPr lvl="1" eaLnBrk="1" hangingPunct="1"/>
            <a:r>
              <a:rPr lang="zh-CN" altLang="en-US" sz="2000" b="0">
                <a:solidFill>
                  <a:srgbClr val="0066FF"/>
                </a:solidFill>
              </a:rPr>
              <a:t>指针变量名</a:t>
            </a:r>
            <a:r>
              <a:rPr lang="en-US" altLang="zh-CN" sz="2000" b="0">
                <a:solidFill>
                  <a:srgbClr val="0066FF"/>
                </a:solidFill>
                <a:latin typeface="黑体" panose="02010609060101010101" pitchFamily="49" charset="-122"/>
              </a:rPr>
              <a:t>-</a:t>
            </a:r>
            <a:r>
              <a:rPr lang="en-US" altLang="zh-CN" sz="2000" b="0">
                <a:solidFill>
                  <a:srgbClr val="0066FF"/>
                </a:solidFill>
              </a:rPr>
              <a:t>&gt;</a:t>
            </a:r>
            <a:r>
              <a:rPr lang="zh-CN" altLang="en-US" sz="2000" b="0">
                <a:solidFill>
                  <a:srgbClr val="0066FF"/>
                </a:solidFill>
              </a:rPr>
              <a:t>成分名</a:t>
            </a:r>
          </a:p>
          <a:p>
            <a:pPr eaLnBrk="1" hangingPunct="1"/>
            <a:endParaRPr lang="en-US" altLang="zh-CN" sz="2400" b="0"/>
          </a:p>
          <a:p>
            <a:pPr eaLnBrk="1" hangingPunct="1"/>
            <a:r>
              <a:rPr lang="zh-CN" altLang="en-US" sz="2400" b="0"/>
              <a:t>例如：</a:t>
            </a:r>
          </a:p>
          <a:p>
            <a:pPr lvl="1" eaLnBrk="1" hangingPunct="1"/>
            <a:r>
              <a:rPr lang="zh-CN" altLang="en-US" sz="2000" b="0"/>
              <a:t>      </a:t>
            </a:r>
            <a:r>
              <a:rPr lang="en-US" altLang="zh-CN" sz="2000" b="0"/>
              <a:t>struct  pNode {</a:t>
            </a:r>
          </a:p>
          <a:p>
            <a:pPr lvl="1" eaLnBrk="1" hangingPunct="1"/>
            <a:r>
              <a:rPr lang="en-US" altLang="zh-CN" sz="2000" b="0"/>
              <a:t>         float   pos[2];</a:t>
            </a:r>
          </a:p>
          <a:p>
            <a:pPr lvl="1" eaLnBrk="1" hangingPunct="1"/>
            <a:r>
              <a:rPr lang="en-US" altLang="zh-CN" sz="2000" b="0"/>
              <a:t>         struct  pNode  * next;</a:t>
            </a:r>
          </a:p>
          <a:p>
            <a:pPr lvl="1" eaLnBrk="1" hangingPunct="1"/>
            <a:r>
              <a:rPr lang="en-US" altLang="zh-CN" sz="2000" b="0"/>
              <a:t>      }  p, u, *pt;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D3F68DA0-DA48-B0DD-0B66-CF54BEA6C98A}"/>
              </a:ext>
            </a:extLst>
          </p:cNvPr>
          <p:cNvSpPr>
            <a:spLocks noGrp="1" noChangeArrowheads="1"/>
          </p:cNvSpPr>
          <p:nvPr>
            <p:ph type="title"/>
          </p:nvPr>
        </p:nvSpPr>
        <p:spPr/>
        <p:txBody>
          <a:bodyPr/>
          <a:lstStyle/>
          <a:p>
            <a:pPr eaLnBrk="1" hangingPunct="1"/>
            <a:r>
              <a:rPr lang="zh-CN" altLang="en-US"/>
              <a:t>结构成员的访问（续）</a:t>
            </a:r>
          </a:p>
        </p:txBody>
      </p:sp>
      <p:sp>
        <p:nvSpPr>
          <p:cNvPr id="55299" name="Rectangle 3">
            <a:extLst>
              <a:ext uri="{FF2B5EF4-FFF2-40B4-BE49-F238E27FC236}">
                <a16:creationId xmlns:a16="http://schemas.microsoft.com/office/drawing/2014/main" id="{81DC4F9C-9AB5-257C-E2E3-9745531B15A2}"/>
              </a:ext>
            </a:extLst>
          </p:cNvPr>
          <p:cNvSpPr>
            <a:spLocks noGrp="1" noChangeArrowheads="1"/>
          </p:cNvSpPr>
          <p:nvPr>
            <p:ph type="body" idx="1"/>
          </p:nvPr>
        </p:nvSpPr>
        <p:spPr>
          <a:xfrm>
            <a:off x="755650" y="1692273"/>
            <a:ext cx="8128000" cy="3579815"/>
          </a:xfrm>
        </p:spPr>
        <p:txBody>
          <a:bodyPr/>
          <a:lstStyle/>
          <a:p>
            <a:pPr marL="533400" indent="-533400" eaLnBrk="1" hangingPunct="1">
              <a:lnSpc>
                <a:spcPct val="90000"/>
              </a:lnSpc>
            </a:pPr>
            <a:r>
              <a:rPr lang="zh-CN" altLang="en-US" sz="2000" b="0"/>
              <a:t>例：指向结构的指针引用结构成分</a:t>
            </a:r>
          </a:p>
          <a:p>
            <a:pPr marL="914400" lvl="1" indent="-457200" eaLnBrk="1" hangingPunct="1">
              <a:lnSpc>
                <a:spcPct val="90000"/>
              </a:lnSpc>
              <a:buFont typeface="Wingdings" pitchFamily="2" charset="2"/>
              <a:buAutoNum type="arabicPeriod"/>
            </a:pPr>
            <a:r>
              <a:rPr lang="en-US" altLang="zh-CN" sz="2000" b="0"/>
              <a:t>pt = &amp;p</a:t>
            </a:r>
            <a:r>
              <a:rPr lang="zh-CN" altLang="en-US" sz="2000" b="0"/>
              <a:t>；          	</a:t>
            </a:r>
            <a:r>
              <a:rPr lang="en-US" altLang="zh-CN" sz="2000" b="0">
                <a:solidFill>
                  <a:srgbClr val="00B050"/>
                </a:solidFill>
              </a:rPr>
              <a:t>//</a:t>
            </a:r>
            <a:r>
              <a:rPr lang="zh-CN" altLang="en-US" sz="2000" b="0">
                <a:solidFill>
                  <a:srgbClr val="00B050"/>
                </a:solidFill>
              </a:rPr>
              <a:t>使</a:t>
            </a:r>
            <a:r>
              <a:rPr lang="en-US" altLang="zh-CN" sz="2000" b="0">
                <a:solidFill>
                  <a:srgbClr val="00B050"/>
                </a:solidFill>
              </a:rPr>
              <a:t>pt</a:t>
            </a:r>
            <a:r>
              <a:rPr lang="zh-CN" altLang="en-US" sz="2000" b="0">
                <a:solidFill>
                  <a:srgbClr val="00B050"/>
                </a:solidFill>
              </a:rPr>
              <a:t>指向结构</a:t>
            </a:r>
            <a:r>
              <a:rPr lang="en-US" altLang="zh-CN" sz="2000" b="0">
                <a:solidFill>
                  <a:srgbClr val="00B050"/>
                </a:solidFill>
              </a:rPr>
              <a:t>p</a:t>
            </a:r>
          </a:p>
          <a:p>
            <a:pPr marL="914400" lvl="1" indent="-457200" eaLnBrk="1" hangingPunct="1">
              <a:lnSpc>
                <a:spcPct val="90000"/>
              </a:lnSpc>
              <a:buFont typeface="Wingdings" pitchFamily="2" charset="2"/>
              <a:buAutoNum type="arabicPeriod"/>
            </a:pPr>
            <a:r>
              <a:rPr lang="en-US" altLang="zh-CN" sz="2000" b="0"/>
              <a:t>p.pos[0] = 2.2</a:t>
            </a:r>
            <a:r>
              <a:rPr lang="zh-CN" altLang="en-US" sz="2000" b="0"/>
              <a:t>；</a:t>
            </a:r>
            <a:r>
              <a:rPr lang="en-US" altLang="zh-CN" sz="2000" b="0">
                <a:solidFill>
                  <a:srgbClr val="00B050"/>
                </a:solidFill>
              </a:rPr>
              <a:t>//</a:t>
            </a:r>
            <a:r>
              <a:rPr lang="zh-CN" altLang="en-US" sz="2000" b="0">
                <a:solidFill>
                  <a:srgbClr val="00B050"/>
                </a:solidFill>
              </a:rPr>
              <a:t>结构</a:t>
            </a:r>
            <a:r>
              <a:rPr lang="en-US" altLang="zh-CN" sz="2000" b="0">
                <a:solidFill>
                  <a:srgbClr val="00B050"/>
                </a:solidFill>
              </a:rPr>
              <a:t>p</a:t>
            </a:r>
            <a:r>
              <a:rPr lang="zh-CN" altLang="en-US" sz="2000" b="0">
                <a:solidFill>
                  <a:srgbClr val="00B050"/>
                </a:solidFill>
              </a:rPr>
              <a:t>的</a:t>
            </a:r>
            <a:r>
              <a:rPr lang="en-US" altLang="zh-CN" sz="2000" b="0">
                <a:solidFill>
                  <a:srgbClr val="00B050"/>
                </a:solidFill>
              </a:rPr>
              <a:t>pos</a:t>
            </a:r>
            <a:r>
              <a:rPr lang="zh-CN" altLang="en-US" sz="2000" b="0">
                <a:solidFill>
                  <a:srgbClr val="00B050"/>
                </a:solidFill>
              </a:rPr>
              <a:t>数组成分的首元素</a:t>
            </a:r>
            <a:r>
              <a:rPr lang="en-US" altLang="zh-CN" sz="2000" b="0">
                <a:solidFill>
                  <a:srgbClr val="00B050"/>
                </a:solidFill>
              </a:rPr>
              <a:t>pos[0]</a:t>
            </a:r>
            <a:r>
              <a:rPr lang="zh-CN" altLang="en-US" sz="2000" b="0">
                <a:solidFill>
                  <a:srgbClr val="00B050"/>
                </a:solidFill>
              </a:rPr>
              <a:t>置值</a:t>
            </a:r>
            <a:r>
              <a:rPr lang="en-US" altLang="zh-CN" sz="2000" b="0">
                <a:solidFill>
                  <a:srgbClr val="00B050"/>
                </a:solidFill>
              </a:rPr>
              <a:t>2.2</a:t>
            </a:r>
          </a:p>
          <a:p>
            <a:pPr marL="914400" lvl="1" indent="-457200" eaLnBrk="1" hangingPunct="1">
              <a:lnSpc>
                <a:spcPct val="90000"/>
              </a:lnSpc>
              <a:buFont typeface="Wingdings" pitchFamily="2" charset="2"/>
              <a:buAutoNum type="arabicPeriod"/>
            </a:pPr>
            <a:r>
              <a:rPr lang="en-US" altLang="zh-CN" sz="2000" b="0"/>
              <a:t>pt-&gt;pos[1] = 2.0</a:t>
            </a:r>
            <a:r>
              <a:rPr lang="zh-CN" altLang="en-US" sz="2000" b="0"/>
              <a:t>；</a:t>
            </a:r>
            <a:r>
              <a:rPr lang="en-US" altLang="zh-CN" sz="2000" b="0">
                <a:solidFill>
                  <a:srgbClr val="00B050"/>
                </a:solidFill>
              </a:rPr>
              <a:t>//</a:t>
            </a:r>
            <a:r>
              <a:rPr lang="zh-CN" altLang="en-US" sz="2000" b="0">
                <a:solidFill>
                  <a:srgbClr val="00B050"/>
                </a:solidFill>
              </a:rPr>
              <a:t>与代码</a:t>
            </a:r>
            <a:r>
              <a:rPr lang="zh-CN" altLang="en-US" sz="2000" b="0">
                <a:solidFill>
                  <a:srgbClr val="00B050"/>
                </a:solidFill>
                <a:latin typeface="Arial" panose="020B0604020202020204" pitchFamily="34" charset="0"/>
              </a:rPr>
              <a:t>“</a:t>
            </a:r>
            <a:r>
              <a:rPr lang="en-US" altLang="zh-CN" sz="2000" b="0">
                <a:solidFill>
                  <a:srgbClr val="00B050"/>
                </a:solidFill>
              </a:rPr>
              <a:t>p.pos[1] = 2.0</a:t>
            </a:r>
            <a:r>
              <a:rPr lang="en-US" altLang="zh-CN" sz="2000" b="0">
                <a:solidFill>
                  <a:srgbClr val="00B050"/>
                </a:solidFill>
                <a:latin typeface="Arial" panose="020B0604020202020204" pitchFamily="34" charset="0"/>
              </a:rPr>
              <a:t>”</a:t>
            </a:r>
            <a:r>
              <a:rPr lang="zh-CN" altLang="en-US" sz="2000" b="0">
                <a:solidFill>
                  <a:srgbClr val="00B050"/>
                </a:solidFill>
              </a:rPr>
              <a:t>的作用相同</a:t>
            </a:r>
            <a:endParaRPr lang="en-US" altLang="zh-CN" sz="2000" b="0">
              <a:solidFill>
                <a:srgbClr val="00B050"/>
              </a:solidFill>
            </a:endParaRPr>
          </a:p>
          <a:p>
            <a:pPr marL="914400" lvl="1" indent="-457200" eaLnBrk="1" hangingPunct="1">
              <a:lnSpc>
                <a:spcPct val="90000"/>
              </a:lnSpc>
              <a:buFont typeface="Wingdings" pitchFamily="2" charset="2"/>
              <a:buAutoNum type="arabicPeriod"/>
            </a:pPr>
            <a:r>
              <a:rPr lang="en-US" altLang="zh-CN" sz="2000" b="0"/>
              <a:t>p.next = &amp;u</a:t>
            </a:r>
            <a:r>
              <a:rPr lang="zh-CN" altLang="en-US" sz="2000" b="0"/>
              <a:t>；       </a:t>
            </a:r>
            <a:r>
              <a:rPr lang="en-US" altLang="zh-CN" sz="2000" b="0">
                <a:solidFill>
                  <a:srgbClr val="00B050"/>
                </a:solidFill>
              </a:rPr>
              <a:t>//</a:t>
            </a:r>
            <a:r>
              <a:rPr lang="zh-CN" altLang="en-US" sz="2000" b="0">
                <a:solidFill>
                  <a:srgbClr val="00B050"/>
                </a:solidFill>
              </a:rPr>
              <a:t>使结构</a:t>
            </a:r>
            <a:r>
              <a:rPr lang="en-US" altLang="zh-CN" sz="2000" b="0">
                <a:solidFill>
                  <a:srgbClr val="00B050"/>
                </a:solidFill>
              </a:rPr>
              <a:t>p</a:t>
            </a:r>
            <a:r>
              <a:rPr lang="zh-CN" altLang="en-US" sz="2000" b="0">
                <a:solidFill>
                  <a:srgbClr val="00B050"/>
                </a:solidFill>
              </a:rPr>
              <a:t>的</a:t>
            </a:r>
            <a:r>
              <a:rPr lang="en-US" altLang="zh-CN" sz="2000" b="0">
                <a:solidFill>
                  <a:srgbClr val="00B050"/>
                </a:solidFill>
              </a:rPr>
              <a:t>next</a:t>
            </a:r>
            <a:r>
              <a:rPr lang="zh-CN" altLang="en-US" sz="2000" b="0">
                <a:solidFill>
                  <a:srgbClr val="00B050"/>
                </a:solidFill>
              </a:rPr>
              <a:t>成分指向结构</a:t>
            </a:r>
            <a:r>
              <a:rPr lang="en-US" altLang="zh-CN" sz="2000" b="0">
                <a:solidFill>
                  <a:srgbClr val="00B050"/>
                </a:solidFill>
              </a:rPr>
              <a:t>u</a:t>
            </a:r>
          </a:p>
          <a:p>
            <a:pPr marL="914400" lvl="1" indent="-457200" eaLnBrk="1" hangingPunct="1">
              <a:lnSpc>
                <a:spcPct val="90000"/>
              </a:lnSpc>
              <a:buFont typeface="Wingdings" pitchFamily="2" charset="2"/>
              <a:buAutoNum type="arabicPeriod"/>
            </a:pPr>
            <a:r>
              <a:rPr lang="en-US" altLang="zh-CN" sz="2000" b="0"/>
              <a:t>p.next-&gt;pos[0] = 1.2; </a:t>
            </a:r>
            <a:r>
              <a:rPr lang="en-US" altLang="zh-CN" sz="2000" b="0">
                <a:solidFill>
                  <a:srgbClr val="00B050"/>
                </a:solidFill>
              </a:rPr>
              <a:t>//</a:t>
            </a:r>
            <a:r>
              <a:rPr lang="zh-CN" altLang="en-US" sz="2000" b="0">
                <a:solidFill>
                  <a:srgbClr val="00B050"/>
                </a:solidFill>
              </a:rPr>
              <a:t>与代码</a:t>
            </a:r>
            <a:r>
              <a:rPr lang="zh-CN" altLang="en-US" sz="2000" b="0">
                <a:solidFill>
                  <a:srgbClr val="00B050"/>
                </a:solidFill>
                <a:latin typeface="Arial" panose="020B0604020202020204" pitchFamily="34" charset="0"/>
              </a:rPr>
              <a:t>“</a:t>
            </a:r>
            <a:r>
              <a:rPr lang="en-US" altLang="zh-CN" sz="2000" b="0">
                <a:solidFill>
                  <a:srgbClr val="00B050"/>
                </a:solidFill>
              </a:rPr>
              <a:t>u.pos[0] = 1.2</a:t>
            </a:r>
            <a:r>
              <a:rPr lang="en-US" altLang="zh-CN" sz="2000" b="0">
                <a:solidFill>
                  <a:srgbClr val="00B050"/>
                </a:solidFill>
                <a:latin typeface="Arial" panose="020B0604020202020204" pitchFamily="34" charset="0"/>
              </a:rPr>
              <a:t>”</a:t>
            </a:r>
            <a:r>
              <a:rPr lang="zh-CN" altLang="en-US" sz="2000" b="0">
                <a:solidFill>
                  <a:srgbClr val="00B050"/>
                </a:solidFill>
              </a:rPr>
              <a:t>的作用相同</a:t>
            </a:r>
          </a:p>
          <a:p>
            <a:pPr marL="1295400" lvl="2" indent="-381000" eaLnBrk="1" hangingPunct="1">
              <a:lnSpc>
                <a:spcPct val="90000"/>
              </a:lnSpc>
              <a:buFont typeface="Wingdings" pitchFamily="2" charset="2"/>
              <a:buNone/>
            </a:pPr>
            <a:r>
              <a:rPr lang="en-US" altLang="zh-CN" sz="1800" b="0">
                <a:solidFill>
                  <a:schemeClr val="folHlink"/>
                </a:solidFill>
              </a:rPr>
              <a:t>// pt-&gt;next-&gt;pos[0]=1.2;</a:t>
            </a:r>
          </a:p>
          <a:p>
            <a:pPr marL="914400" lvl="1" indent="-457200" eaLnBrk="1" hangingPunct="1">
              <a:lnSpc>
                <a:spcPct val="90000"/>
              </a:lnSpc>
              <a:buFont typeface="Wingdings" pitchFamily="2" charset="2"/>
              <a:buAutoNum type="arabicPeriod"/>
            </a:pPr>
            <a:r>
              <a:rPr lang="en-US" altLang="zh-CN" sz="2000" b="0"/>
              <a:t>u.pos[1] = 1.0; </a:t>
            </a:r>
          </a:p>
          <a:p>
            <a:pPr marL="914400" lvl="1" indent="-457200" eaLnBrk="1" hangingPunct="1">
              <a:lnSpc>
                <a:spcPct val="90000"/>
              </a:lnSpc>
              <a:buFont typeface="Wingdings" pitchFamily="2" charset="2"/>
              <a:buAutoNum type="arabicPeriod"/>
            </a:pPr>
            <a:r>
              <a:rPr lang="en-US" altLang="zh-CN" sz="2000" b="0"/>
              <a:t>u.next = NULL;</a:t>
            </a:r>
          </a:p>
          <a:p>
            <a:pPr marL="533400" indent="-533400" eaLnBrk="1" hangingPunct="1">
              <a:lnSpc>
                <a:spcPct val="90000"/>
              </a:lnSpc>
            </a:pPr>
            <a:endParaRPr lang="en-US" altLang="zh-CN" sz="2000" b="0"/>
          </a:p>
          <a:p>
            <a:pPr marL="533400" indent="-533400" eaLnBrk="1" hangingPunct="1">
              <a:lnSpc>
                <a:spcPct val="90000"/>
              </a:lnSpc>
            </a:pPr>
            <a:endParaRPr lang="en-US" altLang="zh-CN" sz="2400" b="0"/>
          </a:p>
        </p:txBody>
      </p:sp>
      <p:sp>
        <p:nvSpPr>
          <p:cNvPr id="702468" name="AutoShape 4">
            <a:extLst>
              <a:ext uri="{FF2B5EF4-FFF2-40B4-BE49-F238E27FC236}">
                <a16:creationId xmlns:a16="http://schemas.microsoft.com/office/drawing/2014/main" id="{70FF3891-9F35-B82B-1047-A18FB35BEE7B}"/>
              </a:ext>
            </a:extLst>
          </p:cNvPr>
          <p:cNvSpPr>
            <a:spLocks noChangeArrowheads="1"/>
          </p:cNvSpPr>
          <p:nvPr/>
        </p:nvSpPr>
        <p:spPr bwMode="auto">
          <a:xfrm>
            <a:off x="4489450" y="4768850"/>
            <a:ext cx="914400" cy="6096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grpSp>
        <p:nvGrpSpPr>
          <p:cNvPr id="702469" name="Group 5">
            <a:extLst>
              <a:ext uri="{FF2B5EF4-FFF2-40B4-BE49-F238E27FC236}">
                <a16:creationId xmlns:a16="http://schemas.microsoft.com/office/drawing/2014/main" id="{AB93BBEA-8B97-70FB-4818-74A9EFCBD874}"/>
              </a:ext>
            </a:extLst>
          </p:cNvPr>
          <p:cNvGrpSpPr>
            <a:grpSpLocks/>
          </p:cNvGrpSpPr>
          <p:nvPr/>
        </p:nvGrpSpPr>
        <p:grpSpPr bwMode="auto">
          <a:xfrm>
            <a:off x="6089650" y="4768850"/>
            <a:ext cx="914400" cy="1828800"/>
            <a:chOff x="3648" y="2544"/>
            <a:chExt cx="576" cy="1152"/>
          </a:xfrm>
        </p:grpSpPr>
        <p:sp>
          <p:nvSpPr>
            <p:cNvPr id="55316" name="AutoShape 6">
              <a:extLst>
                <a:ext uri="{FF2B5EF4-FFF2-40B4-BE49-F238E27FC236}">
                  <a16:creationId xmlns:a16="http://schemas.microsoft.com/office/drawing/2014/main" id="{FBCEF728-3D02-E494-1062-772812551D7B}"/>
                </a:ext>
              </a:extLst>
            </p:cNvPr>
            <p:cNvSpPr>
              <a:spLocks noChangeArrowheads="1"/>
            </p:cNvSpPr>
            <p:nvPr/>
          </p:nvSpPr>
          <p:spPr bwMode="auto">
            <a:xfrm>
              <a:off x="3648" y="2544"/>
              <a:ext cx="576" cy="38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55317" name="AutoShape 7">
              <a:extLst>
                <a:ext uri="{FF2B5EF4-FFF2-40B4-BE49-F238E27FC236}">
                  <a16:creationId xmlns:a16="http://schemas.microsoft.com/office/drawing/2014/main" id="{FC270CB6-9A81-1DCF-0CC9-0B358194C99C}"/>
                </a:ext>
              </a:extLst>
            </p:cNvPr>
            <p:cNvSpPr>
              <a:spLocks noChangeArrowheads="1"/>
            </p:cNvSpPr>
            <p:nvPr/>
          </p:nvSpPr>
          <p:spPr bwMode="auto">
            <a:xfrm>
              <a:off x="3648" y="3312"/>
              <a:ext cx="576" cy="38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55318" name="AutoShape 8">
              <a:extLst>
                <a:ext uri="{FF2B5EF4-FFF2-40B4-BE49-F238E27FC236}">
                  <a16:creationId xmlns:a16="http://schemas.microsoft.com/office/drawing/2014/main" id="{C43C041C-CEE1-D6FC-C7C5-9488773EFEF4}"/>
                </a:ext>
              </a:extLst>
            </p:cNvPr>
            <p:cNvSpPr>
              <a:spLocks noChangeArrowheads="1"/>
            </p:cNvSpPr>
            <p:nvPr/>
          </p:nvSpPr>
          <p:spPr bwMode="auto">
            <a:xfrm>
              <a:off x="3648" y="2928"/>
              <a:ext cx="576" cy="38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grpSp>
      <p:grpSp>
        <p:nvGrpSpPr>
          <p:cNvPr id="702473" name="Group 9">
            <a:extLst>
              <a:ext uri="{FF2B5EF4-FFF2-40B4-BE49-F238E27FC236}">
                <a16:creationId xmlns:a16="http://schemas.microsoft.com/office/drawing/2014/main" id="{FB1F0A96-94F5-7041-66F5-EF8AB9F9ADB9}"/>
              </a:ext>
            </a:extLst>
          </p:cNvPr>
          <p:cNvGrpSpPr>
            <a:grpSpLocks/>
          </p:cNvGrpSpPr>
          <p:nvPr/>
        </p:nvGrpSpPr>
        <p:grpSpPr bwMode="auto">
          <a:xfrm>
            <a:off x="7689850" y="4768850"/>
            <a:ext cx="914400" cy="1828800"/>
            <a:chOff x="3648" y="2544"/>
            <a:chExt cx="576" cy="1152"/>
          </a:xfrm>
        </p:grpSpPr>
        <p:sp>
          <p:nvSpPr>
            <p:cNvPr id="55313" name="AutoShape 10">
              <a:extLst>
                <a:ext uri="{FF2B5EF4-FFF2-40B4-BE49-F238E27FC236}">
                  <a16:creationId xmlns:a16="http://schemas.microsoft.com/office/drawing/2014/main" id="{AB1F1B68-16C0-FCFF-C5B1-AC2F3106937C}"/>
                </a:ext>
              </a:extLst>
            </p:cNvPr>
            <p:cNvSpPr>
              <a:spLocks noChangeArrowheads="1"/>
            </p:cNvSpPr>
            <p:nvPr/>
          </p:nvSpPr>
          <p:spPr bwMode="auto">
            <a:xfrm>
              <a:off x="3648" y="2544"/>
              <a:ext cx="576" cy="38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55314" name="AutoShape 11">
              <a:extLst>
                <a:ext uri="{FF2B5EF4-FFF2-40B4-BE49-F238E27FC236}">
                  <a16:creationId xmlns:a16="http://schemas.microsoft.com/office/drawing/2014/main" id="{F0EC3147-6A10-7F83-D4CE-FF04CFBC0FE1}"/>
                </a:ext>
              </a:extLst>
            </p:cNvPr>
            <p:cNvSpPr>
              <a:spLocks noChangeArrowheads="1"/>
            </p:cNvSpPr>
            <p:nvPr/>
          </p:nvSpPr>
          <p:spPr bwMode="auto">
            <a:xfrm>
              <a:off x="3648" y="3312"/>
              <a:ext cx="576" cy="38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55315" name="AutoShape 12">
              <a:extLst>
                <a:ext uri="{FF2B5EF4-FFF2-40B4-BE49-F238E27FC236}">
                  <a16:creationId xmlns:a16="http://schemas.microsoft.com/office/drawing/2014/main" id="{5A08CEB4-C6D8-68DD-9E8E-24EEE3CD4249}"/>
                </a:ext>
              </a:extLst>
            </p:cNvPr>
            <p:cNvSpPr>
              <a:spLocks noChangeArrowheads="1"/>
            </p:cNvSpPr>
            <p:nvPr/>
          </p:nvSpPr>
          <p:spPr bwMode="auto">
            <a:xfrm>
              <a:off x="3648" y="2928"/>
              <a:ext cx="576" cy="38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grpSp>
      <p:sp>
        <p:nvSpPr>
          <p:cNvPr id="702477" name="Line 13">
            <a:extLst>
              <a:ext uri="{FF2B5EF4-FFF2-40B4-BE49-F238E27FC236}">
                <a16:creationId xmlns:a16="http://schemas.microsoft.com/office/drawing/2014/main" id="{058A8C0C-01E0-949B-C253-A496F5F2F55E}"/>
              </a:ext>
            </a:extLst>
          </p:cNvPr>
          <p:cNvSpPr>
            <a:spLocks noChangeShapeType="1"/>
          </p:cNvSpPr>
          <p:nvPr/>
        </p:nvSpPr>
        <p:spPr bwMode="auto">
          <a:xfrm>
            <a:off x="5251450" y="5073650"/>
            <a:ext cx="838200" cy="0"/>
          </a:xfrm>
          <a:prstGeom prst="line">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02478" name="Line 14">
            <a:extLst>
              <a:ext uri="{FF2B5EF4-FFF2-40B4-BE49-F238E27FC236}">
                <a16:creationId xmlns:a16="http://schemas.microsoft.com/office/drawing/2014/main" id="{06A6A158-3D04-881A-2D79-536928570B3A}"/>
              </a:ext>
            </a:extLst>
          </p:cNvPr>
          <p:cNvSpPr>
            <a:spLocks noChangeShapeType="1"/>
          </p:cNvSpPr>
          <p:nvPr/>
        </p:nvSpPr>
        <p:spPr bwMode="auto">
          <a:xfrm flipV="1">
            <a:off x="6927850" y="5073650"/>
            <a:ext cx="762000" cy="1219200"/>
          </a:xfrm>
          <a:prstGeom prst="line">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02479" name="Text Box 15">
            <a:extLst>
              <a:ext uri="{FF2B5EF4-FFF2-40B4-BE49-F238E27FC236}">
                <a16:creationId xmlns:a16="http://schemas.microsoft.com/office/drawing/2014/main" id="{FC46FA0F-B8D3-4112-EBAC-FFD4F879FB12}"/>
              </a:ext>
            </a:extLst>
          </p:cNvPr>
          <p:cNvSpPr txBox="1">
            <a:spLocks noChangeArrowheads="1"/>
          </p:cNvSpPr>
          <p:nvPr/>
        </p:nvSpPr>
        <p:spPr bwMode="auto">
          <a:xfrm>
            <a:off x="4641850" y="438785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000" i="0">
                <a:latin typeface="Arial Narrow" panose="020B0604020202020204" pitchFamily="34" charset="0"/>
                <a:ea typeface="宋体" panose="02010600030101010101" pitchFamily="2" charset="-122"/>
              </a:rPr>
              <a:t>pt</a:t>
            </a:r>
          </a:p>
        </p:txBody>
      </p:sp>
      <p:sp>
        <p:nvSpPr>
          <p:cNvPr id="702480" name="Text Box 16">
            <a:extLst>
              <a:ext uri="{FF2B5EF4-FFF2-40B4-BE49-F238E27FC236}">
                <a16:creationId xmlns:a16="http://schemas.microsoft.com/office/drawing/2014/main" id="{F8957EF4-8C1A-1F18-AF97-06B722F402C7}"/>
              </a:ext>
            </a:extLst>
          </p:cNvPr>
          <p:cNvSpPr txBox="1">
            <a:spLocks noChangeArrowheads="1"/>
          </p:cNvSpPr>
          <p:nvPr/>
        </p:nvSpPr>
        <p:spPr bwMode="auto">
          <a:xfrm>
            <a:off x="6242050" y="438785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000" i="0">
                <a:latin typeface="Arial Narrow" panose="020B0604020202020204" pitchFamily="34" charset="0"/>
                <a:ea typeface="宋体" panose="02010600030101010101" pitchFamily="2" charset="-122"/>
              </a:rPr>
              <a:t>p</a:t>
            </a:r>
          </a:p>
        </p:txBody>
      </p:sp>
      <p:sp>
        <p:nvSpPr>
          <p:cNvPr id="702481" name="Text Box 17">
            <a:extLst>
              <a:ext uri="{FF2B5EF4-FFF2-40B4-BE49-F238E27FC236}">
                <a16:creationId xmlns:a16="http://schemas.microsoft.com/office/drawing/2014/main" id="{919E7B41-C75C-7FB6-6CA5-A5FE45D15C4A}"/>
              </a:ext>
            </a:extLst>
          </p:cNvPr>
          <p:cNvSpPr txBox="1">
            <a:spLocks noChangeArrowheads="1"/>
          </p:cNvSpPr>
          <p:nvPr/>
        </p:nvSpPr>
        <p:spPr bwMode="auto">
          <a:xfrm>
            <a:off x="7918450" y="438785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000" i="0">
                <a:latin typeface="Arial Narrow" panose="020B0604020202020204" pitchFamily="34" charset="0"/>
                <a:ea typeface="宋体" panose="02010600030101010101" pitchFamily="2" charset="-122"/>
              </a:rPr>
              <a:t>u</a:t>
            </a:r>
          </a:p>
        </p:txBody>
      </p:sp>
      <p:sp>
        <p:nvSpPr>
          <p:cNvPr id="702482" name="Text Box 18">
            <a:extLst>
              <a:ext uri="{FF2B5EF4-FFF2-40B4-BE49-F238E27FC236}">
                <a16:creationId xmlns:a16="http://schemas.microsoft.com/office/drawing/2014/main" id="{F6C34990-10C8-6822-27ED-962389CEF065}"/>
              </a:ext>
            </a:extLst>
          </p:cNvPr>
          <p:cNvSpPr txBox="1">
            <a:spLocks noChangeArrowheads="1"/>
          </p:cNvSpPr>
          <p:nvPr/>
        </p:nvSpPr>
        <p:spPr bwMode="auto">
          <a:xfrm>
            <a:off x="6242050" y="492125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000" i="0">
                <a:latin typeface="Arial Narrow" panose="020B0604020202020204" pitchFamily="34" charset="0"/>
                <a:ea typeface="宋体" panose="02010600030101010101" pitchFamily="2" charset="-122"/>
              </a:rPr>
              <a:t>2.2</a:t>
            </a:r>
          </a:p>
        </p:txBody>
      </p:sp>
      <p:sp>
        <p:nvSpPr>
          <p:cNvPr id="702483" name="Text Box 19">
            <a:extLst>
              <a:ext uri="{FF2B5EF4-FFF2-40B4-BE49-F238E27FC236}">
                <a16:creationId xmlns:a16="http://schemas.microsoft.com/office/drawing/2014/main" id="{CCA623A6-0C28-287C-8472-81E36E2E0B03}"/>
              </a:ext>
            </a:extLst>
          </p:cNvPr>
          <p:cNvSpPr txBox="1">
            <a:spLocks noChangeArrowheads="1"/>
          </p:cNvSpPr>
          <p:nvPr/>
        </p:nvSpPr>
        <p:spPr bwMode="auto">
          <a:xfrm>
            <a:off x="6242050" y="5514975"/>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000" i="0">
                <a:latin typeface="Arial Narrow" panose="020B0604020202020204" pitchFamily="34" charset="0"/>
                <a:ea typeface="宋体" panose="02010600030101010101" pitchFamily="2" charset="-122"/>
              </a:rPr>
              <a:t>2.0</a:t>
            </a:r>
          </a:p>
        </p:txBody>
      </p:sp>
      <p:sp>
        <p:nvSpPr>
          <p:cNvPr id="702484" name="Text Box 20">
            <a:extLst>
              <a:ext uri="{FF2B5EF4-FFF2-40B4-BE49-F238E27FC236}">
                <a16:creationId xmlns:a16="http://schemas.microsoft.com/office/drawing/2014/main" id="{4FEEB1D7-6B2A-6702-4B84-E8E77660C537}"/>
              </a:ext>
            </a:extLst>
          </p:cNvPr>
          <p:cNvSpPr txBox="1">
            <a:spLocks noChangeArrowheads="1"/>
          </p:cNvSpPr>
          <p:nvPr/>
        </p:nvSpPr>
        <p:spPr bwMode="auto">
          <a:xfrm>
            <a:off x="7842250" y="484505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000" i="0">
                <a:latin typeface="Arial Narrow" panose="020B0604020202020204" pitchFamily="34" charset="0"/>
                <a:ea typeface="宋体" panose="02010600030101010101" pitchFamily="2" charset="-122"/>
              </a:rPr>
              <a:t>1.2</a:t>
            </a:r>
          </a:p>
        </p:txBody>
      </p:sp>
      <p:sp>
        <p:nvSpPr>
          <p:cNvPr id="702485" name="Text Box 21">
            <a:extLst>
              <a:ext uri="{FF2B5EF4-FFF2-40B4-BE49-F238E27FC236}">
                <a16:creationId xmlns:a16="http://schemas.microsoft.com/office/drawing/2014/main" id="{42547EAE-9FB7-F336-37E5-BDCB25D6DB1F}"/>
              </a:ext>
            </a:extLst>
          </p:cNvPr>
          <p:cNvSpPr txBox="1">
            <a:spLocks noChangeArrowheads="1"/>
          </p:cNvSpPr>
          <p:nvPr/>
        </p:nvSpPr>
        <p:spPr bwMode="auto">
          <a:xfrm>
            <a:off x="7842250" y="5514975"/>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000" i="0">
                <a:latin typeface="Arial Narrow" panose="020B0604020202020204" pitchFamily="34" charset="0"/>
                <a:ea typeface="宋体" panose="02010600030101010101" pitchFamily="2" charset="-122"/>
              </a:rPr>
              <a:t>1.0</a:t>
            </a:r>
          </a:p>
        </p:txBody>
      </p:sp>
      <p:sp>
        <p:nvSpPr>
          <p:cNvPr id="702486" name="Text Box 22">
            <a:extLst>
              <a:ext uri="{FF2B5EF4-FFF2-40B4-BE49-F238E27FC236}">
                <a16:creationId xmlns:a16="http://schemas.microsoft.com/office/drawing/2014/main" id="{3F4317C9-652F-9553-DB35-16855C7740EE}"/>
              </a:ext>
            </a:extLst>
          </p:cNvPr>
          <p:cNvSpPr txBox="1">
            <a:spLocks noChangeArrowheads="1"/>
          </p:cNvSpPr>
          <p:nvPr/>
        </p:nvSpPr>
        <p:spPr bwMode="auto">
          <a:xfrm>
            <a:off x="7766050" y="6124575"/>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1800" i="0">
                <a:latin typeface="Arial Narrow" panose="020B0604020202020204" pitchFamily="34" charset="0"/>
                <a:ea typeface="宋体" panose="02010600030101010101" pitchFamily="2" charset="-122"/>
              </a:rPr>
              <a:t>NULL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2479"/>
                                        </p:tgtEl>
                                        <p:attrNameLst>
                                          <p:attrName>style.visibility</p:attrName>
                                        </p:attrNameLst>
                                      </p:cBhvr>
                                      <p:to>
                                        <p:strVal val="visible"/>
                                      </p:to>
                                    </p:set>
                                    <p:anim calcmode="lin" valueType="num">
                                      <p:cBhvr additive="base">
                                        <p:cTn id="7" dur="500" fill="hold"/>
                                        <p:tgtEl>
                                          <p:spTgt spid="702479"/>
                                        </p:tgtEl>
                                        <p:attrNameLst>
                                          <p:attrName>ppt_x</p:attrName>
                                        </p:attrNameLst>
                                      </p:cBhvr>
                                      <p:tavLst>
                                        <p:tav tm="0">
                                          <p:val>
                                            <p:strVal val="0-#ppt_w/2"/>
                                          </p:val>
                                        </p:tav>
                                        <p:tav tm="100000">
                                          <p:val>
                                            <p:strVal val="#ppt_x"/>
                                          </p:val>
                                        </p:tav>
                                      </p:tavLst>
                                    </p:anim>
                                    <p:anim calcmode="lin" valueType="num">
                                      <p:cBhvr additive="base">
                                        <p:cTn id="8" dur="500" fill="hold"/>
                                        <p:tgtEl>
                                          <p:spTgt spid="70247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02468"/>
                                        </p:tgtEl>
                                        <p:attrNameLst>
                                          <p:attrName>style.visibility</p:attrName>
                                        </p:attrNameLst>
                                      </p:cBhvr>
                                      <p:to>
                                        <p:strVal val="visible"/>
                                      </p:to>
                                    </p:set>
                                    <p:anim calcmode="lin" valueType="num">
                                      <p:cBhvr additive="base">
                                        <p:cTn id="13" dur="500" fill="hold"/>
                                        <p:tgtEl>
                                          <p:spTgt spid="702468"/>
                                        </p:tgtEl>
                                        <p:attrNameLst>
                                          <p:attrName>ppt_x</p:attrName>
                                        </p:attrNameLst>
                                      </p:cBhvr>
                                      <p:tavLst>
                                        <p:tav tm="0">
                                          <p:val>
                                            <p:strVal val="0-#ppt_w/2"/>
                                          </p:val>
                                        </p:tav>
                                        <p:tav tm="100000">
                                          <p:val>
                                            <p:strVal val="#ppt_x"/>
                                          </p:val>
                                        </p:tav>
                                      </p:tavLst>
                                    </p:anim>
                                    <p:anim calcmode="lin" valueType="num">
                                      <p:cBhvr additive="base">
                                        <p:cTn id="14" dur="500" fill="hold"/>
                                        <p:tgtEl>
                                          <p:spTgt spid="70246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02480"/>
                                        </p:tgtEl>
                                        <p:attrNameLst>
                                          <p:attrName>style.visibility</p:attrName>
                                        </p:attrNameLst>
                                      </p:cBhvr>
                                      <p:to>
                                        <p:strVal val="visible"/>
                                      </p:to>
                                    </p:set>
                                    <p:anim calcmode="lin" valueType="num">
                                      <p:cBhvr additive="base">
                                        <p:cTn id="19" dur="500" fill="hold"/>
                                        <p:tgtEl>
                                          <p:spTgt spid="702480"/>
                                        </p:tgtEl>
                                        <p:attrNameLst>
                                          <p:attrName>ppt_x</p:attrName>
                                        </p:attrNameLst>
                                      </p:cBhvr>
                                      <p:tavLst>
                                        <p:tav tm="0">
                                          <p:val>
                                            <p:strVal val="0-#ppt_w/2"/>
                                          </p:val>
                                        </p:tav>
                                        <p:tav tm="100000">
                                          <p:val>
                                            <p:strVal val="#ppt_x"/>
                                          </p:val>
                                        </p:tav>
                                      </p:tavLst>
                                    </p:anim>
                                    <p:anim calcmode="lin" valueType="num">
                                      <p:cBhvr additive="base">
                                        <p:cTn id="20" dur="500" fill="hold"/>
                                        <p:tgtEl>
                                          <p:spTgt spid="70248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702469"/>
                                        </p:tgtEl>
                                        <p:attrNameLst>
                                          <p:attrName>style.visibility</p:attrName>
                                        </p:attrNameLst>
                                      </p:cBhvr>
                                      <p:to>
                                        <p:strVal val="visible"/>
                                      </p:to>
                                    </p:set>
                                    <p:anim calcmode="lin" valueType="num">
                                      <p:cBhvr additive="base">
                                        <p:cTn id="25" dur="500" fill="hold"/>
                                        <p:tgtEl>
                                          <p:spTgt spid="702469"/>
                                        </p:tgtEl>
                                        <p:attrNameLst>
                                          <p:attrName>ppt_x</p:attrName>
                                        </p:attrNameLst>
                                      </p:cBhvr>
                                      <p:tavLst>
                                        <p:tav tm="0">
                                          <p:val>
                                            <p:strVal val="0-#ppt_w/2"/>
                                          </p:val>
                                        </p:tav>
                                        <p:tav tm="100000">
                                          <p:val>
                                            <p:strVal val="#ppt_x"/>
                                          </p:val>
                                        </p:tav>
                                      </p:tavLst>
                                    </p:anim>
                                    <p:anim calcmode="lin" valueType="num">
                                      <p:cBhvr additive="base">
                                        <p:cTn id="26" dur="500" fill="hold"/>
                                        <p:tgtEl>
                                          <p:spTgt spid="70246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02481"/>
                                        </p:tgtEl>
                                        <p:attrNameLst>
                                          <p:attrName>style.visibility</p:attrName>
                                        </p:attrNameLst>
                                      </p:cBhvr>
                                      <p:to>
                                        <p:strVal val="visible"/>
                                      </p:to>
                                    </p:set>
                                    <p:anim calcmode="lin" valueType="num">
                                      <p:cBhvr additive="base">
                                        <p:cTn id="31" dur="500" fill="hold"/>
                                        <p:tgtEl>
                                          <p:spTgt spid="702481"/>
                                        </p:tgtEl>
                                        <p:attrNameLst>
                                          <p:attrName>ppt_x</p:attrName>
                                        </p:attrNameLst>
                                      </p:cBhvr>
                                      <p:tavLst>
                                        <p:tav tm="0">
                                          <p:val>
                                            <p:strVal val="0-#ppt_w/2"/>
                                          </p:val>
                                        </p:tav>
                                        <p:tav tm="100000">
                                          <p:val>
                                            <p:strVal val="#ppt_x"/>
                                          </p:val>
                                        </p:tav>
                                      </p:tavLst>
                                    </p:anim>
                                    <p:anim calcmode="lin" valueType="num">
                                      <p:cBhvr additive="base">
                                        <p:cTn id="32" dur="500" fill="hold"/>
                                        <p:tgtEl>
                                          <p:spTgt spid="70248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702473"/>
                                        </p:tgtEl>
                                        <p:attrNameLst>
                                          <p:attrName>style.visibility</p:attrName>
                                        </p:attrNameLst>
                                      </p:cBhvr>
                                      <p:to>
                                        <p:strVal val="visible"/>
                                      </p:to>
                                    </p:set>
                                    <p:anim calcmode="lin" valueType="num">
                                      <p:cBhvr additive="base">
                                        <p:cTn id="37" dur="500" fill="hold"/>
                                        <p:tgtEl>
                                          <p:spTgt spid="702473"/>
                                        </p:tgtEl>
                                        <p:attrNameLst>
                                          <p:attrName>ppt_x</p:attrName>
                                        </p:attrNameLst>
                                      </p:cBhvr>
                                      <p:tavLst>
                                        <p:tav tm="0">
                                          <p:val>
                                            <p:strVal val="0-#ppt_w/2"/>
                                          </p:val>
                                        </p:tav>
                                        <p:tav tm="100000">
                                          <p:val>
                                            <p:strVal val="#ppt_x"/>
                                          </p:val>
                                        </p:tav>
                                      </p:tavLst>
                                    </p:anim>
                                    <p:anim calcmode="lin" valueType="num">
                                      <p:cBhvr additive="base">
                                        <p:cTn id="38" dur="500" fill="hold"/>
                                        <p:tgtEl>
                                          <p:spTgt spid="702473"/>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702477"/>
                                        </p:tgtEl>
                                        <p:attrNameLst>
                                          <p:attrName>style.visibility</p:attrName>
                                        </p:attrNameLst>
                                      </p:cBhvr>
                                      <p:to>
                                        <p:strVal val="visible"/>
                                      </p:to>
                                    </p:set>
                                    <p:anim calcmode="lin" valueType="num">
                                      <p:cBhvr additive="base">
                                        <p:cTn id="43" dur="500" fill="hold"/>
                                        <p:tgtEl>
                                          <p:spTgt spid="702477"/>
                                        </p:tgtEl>
                                        <p:attrNameLst>
                                          <p:attrName>ppt_x</p:attrName>
                                        </p:attrNameLst>
                                      </p:cBhvr>
                                      <p:tavLst>
                                        <p:tav tm="0">
                                          <p:val>
                                            <p:strVal val="0-#ppt_w/2"/>
                                          </p:val>
                                        </p:tav>
                                        <p:tav tm="100000">
                                          <p:val>
                                            <p:strVal val="#ppt_x"/>
                                          </p:val>
                                        </p:tav>
                                      </p:tavLst>
                                    </p:anim>
                                    <p:anim calcmode="lin" valueType="num">
                                      <p:cBhvr additive="base">
                                        <p:cTn id="44" dur="500" fill="hold"/>
                                        <p:tgtEl>
                                          <p:spTgt spid="702477"/>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702482"/>
                                        </p:tgtEl>
                                        <p:attrNameLst>
                                          <p:attrName>style.visibility</p:attrName>
                                        </p:attrNameLst>
                                      </p:cBhvr>
                                      <p:to>
                                        <p:strVal val="visible"/>
                                      </p:to>
                                    </p:set>
                                    <p:anim calcmode="lin" valueType="num">
                                      <p:cBhvr additive="base">
                                        <p:cTn id="49" dur="500" fill="hold"/>
                                        <p:tgtEl>
                                          <p:spTgt spid="702482"/>
                                        </p:tgtEl>
                                        <p:attrNameLst>
                                          <p:attrName>ppt_x</p:attrName>
                                        </p:attrNameLst>
                                      </p:cBhvr>
                                      <p:tavLst>
                                        <p:tav tm="0">
                                          <p:val>
                                            <p:strVal val="0-#ppt_w/2"/>
                                          </p:val>
                                        </p:tav>
                                        <p:tav tm="100000">
                                          <p:val>
                                            <p:strVal val="#ppt_x"/>
                                          </p:val>
                                        </p:tav>
                                      </p:tavLst>
                                    </p:anim>
                                    <p:anim calcmode="lin" valueType="num">
                                      <p:cBhvr additive="base">
                                        <p:cTn id="50" dur="500" fill="hold"/>
                                        <p:tgtEl>
                                          <p:spTgt spid="702482"/>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702483"/>
                                        </p:tgtEl>
                                        <p:attrNameLst>
                                          <p:attrName>style.visibility</p:attrName>
                                        </p:attrNameLst>
                                      </p:cBhvr>
                                      <p:to>
                                        <p:strVal val="visible"/>
                                      </p:to>
                                    </p:set>
                                    <p:anim calcmode="lin" valueType="num">
                                      <p:cBhvr additive="base">
                                        <p:cTn id="55" dur="500" fill="hold"/>
                                        <p:tgtEl>
                                          <p:spTgt spid="702483"/>
                                        </p:tgtEl>
                                        <p:attrNameLst>
                                          <p:attrName>ppt_x</p:attrName>
                                        </p:attrNameLst>
                                      </p:cBhvr>
                                      <p:tavLst>
                                        <p:tav tm="0">
                                          <p:val>
                                            <p:strVal val="0-#ppt_w/2"/>
                                          </p:val>
                                        </p:tav>
                                        <p:tav tm="100000">
                                          <p:val>
                                            <p:strVal val="#ppt_x"/>
                                          </p:val>
                                        </p:tav>
                                      </p:tavLst>
                                    </p:anim>
                                    <p:anim calcmode="lin" valueType="num">
                                      <p:cBhvr additive="base">
                                        <p:cTn id="56" dur="500" fill="hold"/>
                                        <p:tgtEl>
                                          <p:spTgt spid="702483"/>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702478"/>
                                        </p:tgtEl>
                                        <p:attrNameLst>
                                          <p:attrName>style.visibility</p:attrName>
                                        </p:attrNameLst>
                                      </p:cBhvr>
                                      <p:to>
                                        <p:strVal val="visible"/>
                                      </p:to>
                                    </p:set>
                                    <p:anim calcmode="lin" valueType="num">
                                      <p:cBhvr additive="base">
                                        <p:cTn id="61" dur="500" fill="hold"/>
                                        <p:tgtEl>
                                          <p:spTgt spid="702478"/>
                                        </p:tgtEl>
                                        <p:attrNameLst>
                                          <p:attrName>ppt_x</p:attrName>
                                        </p:attrNameLst>
                                      </p:cBhvr>
                                      <p:tavLst>
                                        <p:tav tm="0">
                                          <p:val>
                                            <p:strVal val="0-#ppt_w/2"/>
                                          </p:val>
                                        </p:tav>
                                        <p:tav tm="100000">
                                          <p:val>
                                            <p:strVal val="#ppt_x"/>
                                          </p:val>
                                        </p:tav>
                                      </p:tavLst>
                                    </p:anim>
                                    <p:anim calcmode="lin" valueType="num">
                                      <p:cBhvr additive="base">
                                        <p:cTn id="62" dur="500" fill="hold"/>
                                        <p:tgtEl>
                                          <p:spTgt spid="702478"/>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702484"/>
                                        </p:tgtEl>
                                        <p:attrNameLst>
                                          <p:attrName>style.visibility</p:attrName>
                                        </p:attrNameLst>
                                      </p:cBhvr>
                                      <p:to>
                                        <p:strVal val="visible"/>
                                      </p:to>
                                    </p:set>
                                    <p:anim calcmode="lin" valueType="num">
                                      <p:cBhvr additive="base">
                                        <p:cTn id="67" dur="500" fill="hold"/>
                                        <p:tgtEl>
                                          <p:spTgt spid="702484"/>
                                        </p:tgtEl>
                                        <p:attrNameLst>
                                          <p:attrName>ppt_x</p:attrName>
                                        </p:attrNameLst>
                                      </p:cBhvr>
                                      <p:tavLst>
                                        <p:tav tm="0">
                                          <p:val>
                                            <p:strVal val="0-#ppt_w/2"/>
                                          </p:val>
                                        </p:tav>
                                        <p:tav tm="100000">
                                          <p:val>
                                            <p:strVal val="#ppt_x"/>
                                          </p:val>
                                        </p:tav>
                                      </p:tavLst>
                                    </p:anim>
                                    <p:anim calcmode="lin" valueType="num">
                                      <p:cBhvr additive="base">
                                        <p:cTn id="68" dur="500" fill="hold"/>
                                        <p:tgtEl>
                                          <p:spTgt spid="702484"/>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702485"/>
                                        </p:tgtEl>
                                        <p:attrNameLst>
                                          <p:attrName>style.visibility</p:attrName>
                                        </p:attrNameLst>
                                      </p:cBhvr>
                                      <p:to>
                                        <p:strVal val="visible"/>
                                      </p:to>
                                    </p:set>
                                    <p:anim calcmode="lin" valueType="num">
                                      <p:cBhvr additive="base">
                                        <p:cTn id="73" dur="500" fill="hold"/>
                                        <p:tgtEl>
                                          <p:spTgt spid="702485"/>
                                        </p:tgtEl>
                                        <p:attrNameLst>
                                          <p:attrName>ppt_x</p:attrName>
                                        </p:attrNameLst>
                                      </p:cBhvr>
                                      <p:tavLst>
                                        <p:tav tm="0">
                                          <p:val>
                                            <p:strVal val="0-#ppt_w/2"/>
                                          </p:val>
                                        </p:tav>
                                        <p:tav tm="100000">
                                          <p:val>
                                            <p:strVal val="#ppt_x"/>
                                          </p:val>
                                        </p:tav>
                                      </p:tavLst>
                                    </p:anim>
                                    <p:anim calcmode="lin" valueType="num">
                                      <p:cBhvr additive="base">
                                        <p:cTn id="74" dur="500" fill="hold"/>
                                        <p:tgtEl>
                                          <p:spTgt spid="702485"/>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702486"/>
                                        </p:tgtEl>
                                        <p:attrNameLst>
                                          <p:attrName>style.visibility</p:attrName>
                                        </p:attrNameLst>
                                      </p:cBhvr>
                                      <p:to>
                                        <p:strVal val="visible"/>
                                      </p:to>
                                    </p:set>
                                    <p:anim calcmode="lin" valueType="num">
                                      <p:cBhvr additive="base">
                                        <p:cTn id="79" dur="500" fill="hold"/>
                                        <p:tgtEl>
                                          <p:spTgt spid="702486"/>
                                        </p:tgtEl>
                                        <p:attrNameLst>
                                          <p:attrName>ppt_x</p:attrName>
                                        </p:attrNameLst>
                                      </p:cBhvr>
                                      <p:tavLst>
                                        <p:tav tm="0">
                                          <p:val>
                                            <p:strVal val="0-#ppt_w/2"/>
                                          </p:val>
                                        </p:tav>
                                        <p:tav tm="100000">
                                          <p:val>
                                            <p:strVal val="#ppt_x"/>
                                          </p:val>
                                        </p:tav>
                                      </p:tavLst>
                                    </p:anim>
                                    <p:anim calcmode="lin" valueType="num">
                                      <p:cBhvr additive="base">
                                        <p:cTn id="80" dur="500" fill="hold"/>
                                        <p:tgtEl>
                                          <p:spTgt spid="7024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468" grpId="0" animBg="1"/>
      <p:bldP spid="702479" grpId="0" autoUpdateAnimBg="0"/>
      <p:bldP spid="702480" grpId="0" autoUpdateAnimBg="0"/>
      <p:bldP spid="702481" grpId="0" autoUpdateAnimBg="0"/>
      <p:bldP spid="702482" grpId="0" autoUpdateAnimBg="0"/>
      <p:bldP spid="702483" grpId="0" autoUpdateAnimBg="0"/>
      <p:bldP spid="702484" grpId="0" autoUpdateAnimBg="0"/>
      <p:bldP spid="702485" grpId="0" autoUpdateAnimBg="0"/>
      <p:bldP spid="702486"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1E1DAE25-0FA7-B384-C177-B012B3F45306}"/>
              </a:ext>
            </a:extLst>
          </p:cNvPr>
          <p:cNvSpPr>
            <a:spLocks noGrp="1" noChangeArrowheads="1"/>
          </p:cNvSpPr>
          <p:nvPr>
            <p:ph type="title"/>
          </p:nvPr>
        </p:nvSpPr>
        <p:spPr/>
        <p:txBody>
          <a:bodyPr/>
          <a:lstStyle/>
          <a:p>
            <a:pPr eaLnBrk="1" hangingPunct="1"/>
            <a:r>
              <a:rPr lang="zh-CN" altLang="en-US"/>
              <a:t>结构成员的访问（续）</a:t>
            </a:r>
          </a:p>
        </p:txBody>
      </p:sp>
      <p:sp>
        <p:nvSpPr>
          <p:cNvPr id="59395" name="Rectangle 3">
            <a:extLst>
              <a:ext uri="{FF2B5EF4-FFF2-40B4-BE49-F238E27FC236}">
                <a16:creationId xmlns:a16="http://schemas.microsoft.com/office/drawing/2014/main" id="{D008126F-75E9-6397-CD90-49E425CB4231}"/>
              </a:ext>
            </a:extLst>
          </p:cNvPr>
          <p:cNvSpPr>
            <a:spLocks noGrp="1" noChangeArrowheads="1"/>
          </p:cNvSpPr>
          <p:nvPr>
            <p:ph type="body" idx="1"/>
          </p:nvPr>
        </p:nvSpPr>
        <p:spPr>
          <a:xfrm>
            <a:off x="827088" y="1844823"/>
            <a:ext cx="8065392" cy="4287689"/>
          </a:xfrm>
        </p:spPr>
        <p:txBody>
          <a:bodyPr/>
          <a:lstStyle/>
          <a:p>
            <a:pPr eaLnBrk="1" hangingPunct="1">
              <a:lnSpc>
                <a:spcPct val="150000"/>
              </a:lnSpc>
            </a:pPr>
            <a:r>
              <a:rPr lang="zh-CN" altLang="en-US" sz="2000"/>
              <a:t>引用自身的结构</a:t>
            </a:r>
          </a:p>
          <a:p>
            <a:pPr lvl="1" eaLnBrk="1" hangingPunct="1">
              <a:lnSpc>
                <a:spcPct val="150000"/>
              </a:lnSpc>
            </a:pPr>
            <a:r>
              <a:rPr lang="en-US" altLang="zh-CN" sz="1800" b="0"/>
              <a:t>struct  pNode {</a:t>
            </a:r>
          </a:p>
          <a:p>
            <a:pPr lvl="1" eaLnBrk="1" hangingPunct="1">
              <a:lnSpc>
                <a:spcPct val="150000"/>
              </a:lnSpc>
            </a:pPr>
            <a:r>
              <a:rPr lang="en-US" altLang="zh-CN" sz="1800" b="0"/>
              <a:t>         float   pos[2];</a:t>
            </a:r>
          </a:p>
          <a:p>
            <a:pPr lvl="1" eaLnBrk="1" hangingPunct="1">
              <a:lnSpc>
                <a:spcPct val="150000"/>
              </a:lnSpc>
            </a:pPr>
            <a:r>
              <a:rPr lang="en-US" altLang="zh-CN" sz="1800" b="0"/>
              <a:t>         </a:t>
            </a:r>
            <a:r>
              <a:rPr lang="en-US" altLang="zh-CN" sz="1800" b="0">
                <a:solidFill>
                  <a:srgbClr val="CC0000"/>
                </a:solidFill>
              </a:rPr>
              <a:t>struct  pNode</a:t>
            </a:r>
            <a:r>
              <a:rPr lang="en-US" altLang="zh-CN" sz="1800" b="0"/>
              <a:t> </a:t>
            </a:r>
            <a:r>
              <a:rPr lang="en-US" altLang="zh-CN" sz="1800" b="0">
                <a:solidFill>
                  <a:srgbClr val="FF0000"/>
                </a:solidFill>
              </a:rPr>
              <a:t> * </a:t>
            </a:r>
            <a:r>
              <a:rPr lang="en-US" altLang="zh-CN" sz="1800" b="0"/>
              <a:t>next;</a:t>
            </a:r>
          </a:p>
          <a:p>
            <a:pPr lvl="1" eaLnBrk="1" hangingPunct="1">
              <a:lnSpc>
                <a:spcPct val="150000"/>
              </a:lnSpc>
            </a:pPr>
            <a:r>
              <a:rPr lang="en-US" altLang="zh-CN" sz="1800" b="0"/>
              <a:t>      } ;</a:t>
            </a:r>
          </a:p>
          <a:p>
            <a:pPr eaLnBrk="1" hangingPunct="1">
              <a:lnSpc>
                <a:spcPct val="150000"/>
              </a:lnSpc>
            </a:pPr>
            <a:r>
              <a:rPr lang="zh-CN" altLang="en-US" sz="2000" b="0"/>
              <a:t>在结构类型</a:t>
            </a:r>
            <a:r>
              <a:rPr lang="en-US" altLang="zh-CN" sz="2000" b="0"/>
              <a:t>struct pNode</a:t>
            </a:r>
            <a:r>
              <a:rPr lang="zh-CN" altLang="en-US" sz="2000" b="0"/>
              <a:t>中，含有</a:t>
            </a:r>
            <a:r>
              <a:rPr lang="zh-CN" altLang="en-US" sz="2000" b="0">
                <a:solidFill>
                  <a:srgbClr val="0066FF"/>
                </a:solidFill>
              </a:rPr>
              <a:t>一个指向自身一样结构的指针成分</a:t>
            </a:r>
            <a:r>
              <a:rPr lang="zh-CN" altLang="en-US" sz="2000" b="0"/>
              <a:t>。</a:t>
            </a:r>
          </a:p>
          <a:p>
            <a:pPr eaLnBrk="1" hangingPunct="1">
              <a:lnSpc>
                <a:spcPct val="150000"/>
              </a:lnSpc>
            </a:pPr>
            <a:r>
              <a:rPr lang="zh-CN" altLang="en-US" sz="2000" b="0"/>
              <a:t>利用含有指针成分的结构可以</a:t>
            </a:r>
            <a:r>
              <a:rPr lang="zh-CN" altLang="en-US" sz="2000" b="0" u="sng"/>
              <a:t>实现结构的链接</a:t>
            </a:r>
            <a:r>
              <a:rPr lang="zh-CN" altLang="en-US" sz="2000" b="0"/>
              <a:t>，用这样的结构能构成如</a:t>
            </a:r>
            <a:r>
              <a:rPr lang="zh-CN" altLang="en-US" sz="2000" b="0">
                <a:solidFill>
                  <a:srgbClr val="0066FF"/>
                </a:solidFill>
              </a:rPr>
              <a:t>链表、树、图</a:t>
            </a:r>
            <a:r>
              <a:rPr lang="zh-CN" altLang="en-US" sz="2000" b="0"/>
              <a:t>等复杂数据结构。 </a:t>
            </a:r>
          </a:p>
        </p:txBody>
      </p:sp>
    </p:spTree>
    <p:extLst>
      <p:ext uri="{BB962C8B-B14F-4D97-AF65-F5344CB8AC3E}">
        <p14:creationId xmlns:p14="http://schemas.microsoft.com/office/powerpoint/2010/main" val="161438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4049D3B-7A9D-BC8B-2A3E-64F9BC142088}"/>
              </a:ext>
            </a:extLst>
          </p:cNvPr>
          <p:cNvSpPr>
            <a:spLocks noGrp="1" noChangeArrowheads="1"/>
          </p:cNvSpPr>
          <p:nvPr>
            <p:ph type="title"/>
          </p:nvPr>
        </p:nvSpPr>
        <p:spPr/>
        <p:txBody>
          <a:bodyPr/>
          <a:lstStyle/>
          <a:p>
            <a:pPr eaLnBrk="1" hangingPunct="1"/>
            <a:r>
              <a:rPr lang="zh-CN" altLang="en-US"/>
              <a:t>结构成员的访问（续）</a:t>
            </a:r>
            <a:endParaRPr lang="en-US" altLang="zh-CN"/>
          </a:p>
        </p:txBody>
      </p:sp>
      <p:sp>
        <p:nvSpPr>
          <p:cNvPr id="63491" name="Rectangle 3">
            <a:extLst>
              <a:ext uri="{FF2B5EF4-FFF2-40B4-BE49-F238E27FC236}">
                <a16:creationId xmlns:a16="http://schemas.microsoft.com/office/drawing/2014/main" id="{B1AC12C5-AA03-980A-8FDF-98B5C68BE11B}"/>
              </a:ext>
            </a:extLst>
          </p:cNvPr>
          <p:cNvSpPr>
            <a:spLocks noGrp="1" noChangeArrowheads="1"/>
          </p:cNvSpPr>
          <p:nvPr>
            <p:ph type="body" idx="1"/>
          </p:nvPr>
        </p:nvSpPr>
        <p:spPr>
          <a:xfrm>
            <a:off x="827088" y="1844823"/>
            <a:ext cx="7561336" cy="4287689"/>
          </a:xfrm>
        </p:spPr>
        <p:txBody>
          <a:bodyPr/>
          <a:lstStyle/>
          <a:p>
            <a:pPr eaLnBrk="1" hangingPunct="1">
              <a:lnSpc>
                <a:spcPct val="150000"/>
              </a:lnSpc>
            </a:pPr>
            <a:r>
              <a:rPr lang="zh-CN" altLang="en-US" sz="2400" b="0"/>
              <a:t>表达式</a:t>
            </a:r>
            <a:r>
              <a:rPr lang="zh-CN" altLang="en-US" sz="2400" b="0">
                <a:latin typeface="Arial" panose="020B0604020202020204" pitchFamily="34" charset="0"/>
              </a:rPr>
              <a:t>“</a:t>
            </a:r>
            <a:r>
              <a:rPr lang="zh-CN" altLang="en-US" sz="2400" b="0"/>
              <a:t>* 指针变量</a:t>
            </a:r>
            <a:r>
              <a:rPr lang="zh-CN" altLang="en-US" sz="2400" b="0">
                <a:latin typeface="Arial" panose="020B0604020202020204" pitchFamily="34" charset="0"/>
              </a:rPr>
              <a:t>”</a:t>
            </a:r>
            <a:r>
              <a:rPr lang="zh-CN" altLang="en-US" sz="2400" b="0"/>
              <a:t>表示指针变量所指对象，所以通过指针引用其所指结构的成分有两种</a:t>
            </a:r>
            <a:r>
              <a:rPr lang="zh-CN" altLang="en-US" sz="2400" b="0" u="sng">
                <a:solidFill>
                  <a:srgbClr val="0066FF"/>
                </a:solidFill>
              </a:rPr>
              <a:t>完全等价</a:t>
            </a:r>
            <a:r>
              <a:rPr lang="zh-CN" altLang="en-US" sz="2400" b="0"/>
              <a:t>的形式：</a:t>
            </a:r>
          </a:p>
          <a:p>
            <a:pPr lvl="1" eaLnBrk="1" hangingPunct="1">
              <a:lnSpc>
                <a:spcPct val="150000"/>
              </a:lnSpc>
            </a:pPr>
            <a:r>
              <a:rPr lang="zh-CN" altLang="en-US" sz="2000" b="0">
                <a:solidFill>
                  <a:srgbClr val="0066FF"/>
                </a:solidFill>
              </a:rPr>
              <a:t>    指针变量</a:t>
            </a:r>
            <a:r>
              <a:rPr lang="en-US" altLang="zh-CN" sz="2000" b="0">
                <a:solidFill>
                  <a:srgbClr val="0066FF"/>
                </a:solidFill>
                <a:latin typeface="黑体" panose="02010609060101010101" pitchFamily="49" charset="-122"/>
              </a:rPr>
              <a:t>-</a:t>
            </a:r>
            <a:r>
              <a:rPr lang="en-US" altLang="zh-CN" sz="2000" b="0">
                <a:solidFill>
                  <a:srgbClr val="0066FF"/>
                </a:solidFill>
              </a:rPr>
              <a:t>&gt;</a:t>
            </a:r>
            <a:r>
              <a:rPr lang="zh-CN" altLang="en-US" sz="2000" b="0">
                <a:solidFill>
                  <a:srgbClr val="0066FF"/>
                </a:solidFill>
              </a:rPr>
              <a:t>成分名	</a:t>
            </a:r>
          </a:p>
          <a:p>
            <a:pPr lvl="1" eaLnBrk="1" hangingPunct="1">
              <a:lnSpc>
                <a:spcPct val="150000"/>
              </a:lnSpc>
            </a:pPr>
            <a:r>
              <a:rPr lang="zh-CN" altLang="en-US" sz="2000" b="0">
                <a:solidFill>
                  <a:srgbClr val="0066FF"/>
                </a:solidFill>
              </a:rPr>
              <a:t>    </a:t>
            </a:r>
            <a:r>
              <a:rPr lang="en-US" altLang="zh-CN" sz="2000" b="0">
                <a:solidFill>
                  <a:srgbClr val="0066FF"/>
                </a:solidFill>
              </a:rPr>
              <a:t>( * </a:t>
            </a:r>
            <a:r>
              <a:rPr lang="zh-CN" altLang="en-US" sz="2000" b="0">
                <a:solidFill>
                  <a:srgbClr val="0066FF"/>
                </a:solidFill>
              </a:rPr>
              <a:t>指针变量 </a:t>
            </a:r>
            <a:r>
              <a:rPr lang="en-US" altLang="zh-CN" sz="2000" b="0">
                <a:solidFill>
                  <a:srgbClr val="0066FF"/>
                </a:solidFill>
              </a:rPr>
              <a:t>). </a:t>
            </a:r>
            <a:r>
              <a:rPr lang="zh-CN" altLang="en-US" sz="2000" b="0">
                <a:solidFill>
                  <a:srgbClr val="0066FF"/>
                </a:solidFill>
              </a:rPr>
              <a:t>成分名</a:t>
            </a:r>
          </a:p>
          <a:p>
            <a:pPr eaLnBrk="1" hangingPunct="1">
              <a:lnSpc>
                <a:spcPct val="150000"/>
              </a:lnSpc>
            </a:pPr>
            <a:r>
              <a:rPr lang="zh-CN" altLang="en-US" sz="2400" b="0">
                <a:solidFill>
                  <a:srgbClr val="C00000"/>
                </a:solidFill>
              </a:rPr>
              <a:t>注意，这里圆括号是必需的</a:t>
            </a:r>
            <a:r>
              <a:rPr lang="zh-CN" altLang="en-US" sz="2400" b="0"/>
              <a:t>，因为运算符</a:t>
            </a:r>
            <a:r>
              <a:rPr lang="zh-CN" altLang="en-US" sz="2400" b="0">
                <a:latin typeface="Arial" panose="020B0604020202020204" pitchFamily="34" charset="0"/>
              </a:rPr>
              <a:t>“</a:t>
            </a:r>
            <a:r>
              <a:rPr lang="zh-CN" altLang="en-US" sz="2400" b="0"/>
              <a:t>*</a:t>
            </a:r>
            <a:r>
              <a:rPr lang="zh-CN" altLang="en-US" sz="2400" b="0">
                <a:latin typeface="Arial" panose="020B0604020202020204" pitchFamily="34" charset="0"/>
              </a:rPr>
              <a:t>”（</a:t>
            </a:r>
            <a:r>
              <a:rPr lang="en-US" altLang="zh-CN" sz="2400" b="0">
                <a:latin typeface="Arial" panose="020B0604020202020204" pitchFamily="34" charset="0"/>
              </a:rPr>
              <a:t>dereference</a:t>
            </a:r>
            <a:r>
              <a:rPr lang="zh-CN" altLang="en-US" sz="2400" b="0">
                <a:latin typeface="Arial" panose="020B0604020202020204" pitchFamily="34" charset="0"/>
              </a:rPr>
              <a:t>）</a:t>
            </a:r>
            <a:r>
              <a:rPr lang="zh-CN" altLang="en-US" sz="2400" b="0"/>
              <a:t>的优先级低于运算符</a:t>
            </a:r>
            <a:r>
              <a:rPr lang="zh-CN" altLang="en-US" sz="2400" b="0">
                <a:latin typeface="Arial" panose="020B0604020202020204" pitchFamily="34" charset="0"/>
              </a:rPr>
              <a:t>“</a:t>
            </a:r>
            <a:r>
              <a:rPr lang="en-US" altLang="zh-CN" sz="2400" b="0"/>
              <a:t>.</a:t>
            </a:r>
            <a:r>
              <a:rPr lang="en-US" altLang="zh-CN" sz="2400" b="0">
                <a:latin typeface="Arial" panose="020B0604020202020204" pitchFamily="34" charset="0"/>
              </a:rPr>
              <a:t>”</a:t>
            </a:r>
            <a:r>
              <a:rPr lang="zh-CN" altLang="en-US" sz="2400" b="0"/>
              <a:t>。</a:t>
            </a:r>
          </a:p>
        </p:txBody>
      </p:sp>
    </p:spTree>
    <p:extLst>
      <p:ext uri="{BB962C8B-B14F-4D97-AF65-F5344CB8AC3E}">
        <p14:creationId xmlns:p14="http://schemas.microsoft.com/office/powerpoint/2010/main" val="1128827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18E2A513-C4FC-9451-6D03-C616CCA25FA1}"/>
              </a:ext>
            </a:extLst>
          </p:cNvPr>
          <p:cNvSpPr>
            <a:spLocks noGrp="1" noChangeArrowheads="1"/>
          </p:cNvSpPr>
          <p:nvPr>
            <p:ph type="title"/>
          </p:nvPr>
        </p:nvSpPr>
        <p:spPr/>
        <p:txBody>
          <a:bodyPr/>
          <a:lstStyle/>
          <a:p>
            <a:pPr eaLnBrk="1" hangingPunct="1"/>
            <a:r>
              <a:rPr lang="zh-CN" altLang="en-US"/>
              <a:t>结构成员的访问（续）</a:t>
            </a:r>
            <a:endParaRPr lang="en-US" altLang="zh-CN"/>
          </a:p>
        </p:txBody>
      </p:sp>
      <p:sp>
        <p:nvSpPr>
          <p:cNvPr id="712707" name="Rectangle 3">
            <a:extLst>
              <a:ext uri="{FF2B5EF4-FFF2-40B4-BE49-F238E27FC236}">
                <a16:creationId xmlns:a16="http://schemas.microsoft.com/office/drawing/2014/main" id="{04F839E2-564A-40F7-6E13-3B22FADBD27B}"/>
              </a:ext>
            </a:extLst>
          </p:cNvPr>
          <p:cNvSpPr>
            <a:spLocks noGrp="1" noChangeArrowheads="1"/>
          </p:cNvSpPr>
          <p:nvPr>
            <p:ph type="body" idx="1"/>
          </p:nvPr>
        </p:nvSpPr>
        <p:spPr>
          <a:xfrm>
            <a:off x="827088" y="1844823"/>
            <a:ext cx="8128000" cy="4287689"/>
          </a:xfrm>
        </p:spPr>
        <p:txBody>
          <a:bodyPr/>
          <a:lstStyle/>
          <a:p>
            <a:pPr marL="533400" indent="-533400" eaLnBrk="1" hangingPunct="1">
              <a:lnSpc>
                <a:spcPct val="150000"/>
              </a:lnSpc>
            </a:pPr>
            <a:r>
              <a:rPr lang="zh-CN" altLang="en-US" sz="2400" b="0"/>
              <a:t>例</a:t>
            </a:r>
          </a:p>
          <a:p>
            <a:pPr marL="914400" lvl="1" indent="-457200" eaLnBrk="1" hangingPunct="1">
              <a:lnSpc>
                <a:spcPct val="150000"/>
              </a:lnSpc>
              <a:buFont typeface="Wingdings" pitchFamily="2" charset="2"/>
              <a:buAutoNum type="arabicPeriod"/>
            </a:pPr>
            <a:r>
              <a:rPr lang="en-US" altLang="zh-CN" sz="2000" b="0"/>
              <a:t>struct Date  *pd , date3;</a:t>
            </a:r>
          </a:p>
          <a:p>
            <a:pPr marL="914400" lvl="1" indent="-457200" eaLnBrk="1" hangingPunct="1">
              <a:lnSpc>
                <a:spcPct val="150000"/>
              </a:lnSpc>
              <a:buFont typeface="Wingdings" pitchFamily="2" charset="2"/>
              <a:buAutoNum type="arabicPeriod"/>
            </a:pPr>
            <a:r>
              <a:rPr lang="en-US" altLang="zh-CN" sz="2000" b="0"/>
              <a:t>pd = &amp;date3;</a:t>
            </a:r>
          </a:p>
          <a:p>
            <a:pPr marL="914400" lvl="1" indent="-457200" eaLnBrk="1" hangingPunct="1">
              <a:lnSpc>
                <a:spcPct val="150000"/>
              </a:lnSpc>
              <a:buFont typeface="Wingdings" pitchFamily="2" charset="2"/>
              <a:buAutoNum type="arabicPeriod"/>
            </a:pPr>
            <a:r>
              <a:rPr lang="en-US" altLang="zh-CN" sz="2000" b="0"/>
              <a:t>(*pd).day=5;		</a:t>
            </a:r>
            <a:r>
              <a:rPr lang="en-US" altLang="zh-CN" sz="2000" b="0">
                <a:solidFill>
                  <a:schemeClr val="folHlink"/>
                </a:solidFill>
              </a:rPr>
              <a:t>//OK!</a:t>
            </a:r>
          </a:p>
          <a:p>
            <a:pPr marL="914400" lvl="1" indent="-457200" eaLnBrk="1" hangingPunct="1">
              <a:lnSpc>
                <a:spcPct val="150000"/>
              </a:lnSpc>
              <a:buFont typeface="Wingdings" pitchFamily="2" charset="2"/>
              <a:buAutoNum type="arabicPeriod"/>
            </a:pPr>
            <a:r>
              <a:rPr lang="en-US" altLang="zh-CN" sz="2000" b="0"/>
              <a:t>pd</a:t>
            </a:r>
            <a:r>
              <a:rPr lang="en-US" altLang="zh-CN" sz="2000" b="0">
                <a:latin typeface="黑体" panose="02010609060101010101" pitchFamily="49" charset="-122"/>
              </a:rPr>
              <a:t>-</a:t>
            </a:r>
            <a:r>
              <a:rPr lang="en-US" altLang="zh-CN" sz="2000" b="0"/>
              <a:t>&gt;month=12;	</a:t>
            </a:r>
            <a:r>
              <a:rPr lang="en-US" altLang="zh-CN" sz="2000" b="0">
                <a:solidFill>
                  <a:schemeClr val="folHlink"/>
                </a:solidFill>
              </a:rPr>
              <a:t>//OK!</a:t>
            </a:r>
          </a:p>
          <a:p>
            <a:pPr marL="914400" lvl="1" indent="-457200" eaLnBrk="1" hangingPunct="1">
              <a:lnSpc>
                <a:spcPct val="150000"/>
              </a:lnSpc>
              <a:buFont typeface="Wingdings" pitchFamily="2" charset="2"/>
              <a:buAutoNum type="arabicPeriod"/>
            </a:pPr>
            <a:r>
              <a:rPr lang="en-US" altLang="zh-CN" sz="2000" b="0"/>
              <a:t>*pd.year=2007;		</a:t>
            </a:r>
            <a:r>
              <a:rPr lang="en-US" altLang="zh-CN" sz="2000" b="0">
                <a:solidFill>
                  <a:schemeClr val="folHlink"/>
                </a:solidFill>
              </a:rPr>
              <a:t>//Error!</a:t>
            </a:r>
          </a:p>
          <a:p>
            <a:pPr marL="533400" indent="-533400" eaLnBrk="1" hangingPunct="1">
              <a:lnSpc>
                <a:spcPct val="150000"/>
              </a:lnSpc>
            </a:pPr>
            <a:r>
              <a:rPr lang="zh-CN" altLang="en-US" sz="2400" b="0">
                <a:solidFill>
                  <a:srgbClr val="CC0000"/>
                </a:solidFill>
              </a:rPr>
              <a:t>但是在这种场合，习惯都采用运算符</a:t>
            </a:r>
            <a:r>
              <a:rPr lang="zh-CN" altLang="en-US" sz="2400" b="0">
                <a:solidFill>
                  <a:srgbClr val="CC0000"/>
                </a:solidFill>
                <a:latin typeface="Arial" panose="020B0604020202020204" pitchFamily="34" charset="0"/>
              </a:rPr>
              <a:t>“</a:t>
            </a:r>
            <a:r>
              <a:rPr lang="en-US" altLang="zh-CN" sz="2400" b="0">
                <a:solidFill>
                  <a:srgbClr val="CC0000"/>
                </a:solidFill>
                <a:latin typeface="黑体" panose="02010609060101010101" pitchFamily="49" charset="-122"/>
              </a:rPr>
              <a:t>-</a:t>
            </a:r>
            <a:r>
              <a:rPr lang="en-US" altLang="zh-CN" sz="2400" b="0">
                <a:solidFill>
                  <a:srgbClr val="CC0000"/>
                </a:solidFill>
              </a:rPr>
              <a:t>&gt;</a:t>
            </a:r>
            <a:r>
              <a:rPr lang="en-US" altLang="zh-CN" sz="2400" b="0">
                <a:solidFill>
                  <a:srgbClr val="CC0000"/>
                </a:solidFill>
                <a:latin typeface="Arial" panose="020B0604020202020204" pitchFamily="34" charset="0"/>
              </a:rPr>
              <a:t>”</a:t>
            </a:r>
            <a:r>
              <a:rPr lang="zh-CN" altLang="en-US" sz="2400" b="0">
                <a:solidFill>
                  <a:srgbClr val="CC0000"/>
                </a:solidFill>
              </a:rPr>
              <a:t> 。</a:t>
            </a:r>
            <a:r>
              <a:rPr lang="zh-CN" altLang="en-US" sz="2400" b="0"/>
              <a:t>  </a:t>
            </a:r>
            <a:endParaRPr lang="zh-CN" altLang="en-US" sz="2000" b="0"/>
          </a:p>
        </p:txBody>
      </p:sp>
    </p:spTree>
    <p:extLst>
      <p:ext uri="{BB962C8B-B14F-4D97-AF65-F5344CB8AC3E}">
        <p14:creationId xmlns:p14="http://schemas.microsoft.com/office/powerpoint/2010/main" val="1473116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27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58C1161-F87D-B55A-5302-6C0F9A56CF43}"/>
              </a:ext>
            </a:extLst>
          </p:cNvPr>
          <p:cNvSpPr>
            <a:spLocks noGrp="1" noChangeArrowheads="1"/>
          </p:cNvSpPr>
          <p:nvPr>
            <p:ph type="title"/>
          </p:nvPr>
        </p:nvSpPr>
        <p:spPr/>
        <p:txBody>
          <a:bodyPr/>
          <a:lstStyle/>
          <a:p>
            <a:pPr eaLnBrk="1" hangingPunct="1"/>
            <a:r>
              <a:rPr lang="zh-CN" altLang="en-US"/>
              <a:t>结构成员的访问（续）</a:t>
            </a:r>
            <a:endParaRPr lang="en-US" altLang="zh-CN"/>
          </a:p>
        </p:txBody>
      </p:sp>
      <p:sp>
        <p:nvSpPr>
          <p:cNvPr id="61443" name="Rectangle 3">
            <a:extLst>
              <a:ext uri="{FF2B5EF4-FFF2-40B4-BE49-F238E27FC236}">
                <a16:creationId xmlns:a16="http://schemas.microsoft.com/office/drawing/2014/main" id="{1AA84A9A-1B1F-4E80-2FDF-1A60BB47BA69}"/>
              </a:ext>
            </a:extLst>
          </p:cNvPr>
          <p:cNvSpPr>
            <a:spLocks noGrp="1" noChangeArrowheads="1"/>
          </p:cNvSpPr>
          <p:nvPr>
            <p:ph type="body" idx="1"/>
          </p:nvPr>
        </p:nvSpPr>
        <p:spPr>
          <a:xfrm>
            <a:off x="827088" y="1844823"/>
            <a:ext cx="7866062" cy="4287689"/>
          </a:xfrm>
        </p:spPr>
        <p:txBody>
          <a:bodyPr/>
          <a:lstStyle/>
          <a:p>
            <a:pPr eaLnBrk="1" hangingPunct="1"/>
            <a:r>
              <a:rPr lang="zh-CN" altLang="en-US" sz="2400" b="0"/>
              <a:t>如果结构成分本身又是结构类型的，则可继续使用成分运算符‘</a:t>
            </a:r>
            <a:r>
              <a:rPr lang="en-US" altLang="zh-CN" sz="2400" b="0"/>
              <a:t>.</a:t>
            </a:r>
            <a:r>
              <a:rPr lang="en-US" altLang="zh-CN" sz="2400" b="0">
                <a:latin typeface="Arial" panose="020B0604020202020204" pitchFamily="34" charset="0"/>
              </a:rPr>
              <a:t>’</a:t>
            </a:r>
            <a:r>
              <a:rPr lang="zh-CN" altLang="en-US" sz="2400" b="0"/>
              <a:t>引用结构成分的结构成分，逐级向下，引用最低一级的成分。</a:t>
            </a:r>
          </a:p>
          <a:p>
            <a:pPr eaLnBrk="1" hangingPunct="1"/>
            <a:r>
              <a:rPr lang="zh-CN" altLang="en-US" sz="2400" b="0"/>
              <a:t>例如，对</a:t>
            </a:r>
            <a:r>
              <a:rPr lang="en-US" altLang="zh-CN" sz="2400" b="0"/>
              <a:t>st1</a:t>
            </a:r>
            <a:r>
              <a:rPr lang="zh-CN" altLang="en-US" sz="2400" b="0"/>
              <a:t>的某些成分的访问：</a:t>
            </a:r>
          </a:p>
          <a:p>
            <a:pPr lvl="1" eaLnBrk="1" hangingPunct="1"/>
            <a:r>
              <a:rPr lang="zh-CN" altLang="en-US" sz="2000" b="0"/>
              <a:t>       </a:t>
            </a:r>
            <a:r>
              <a:rPr lang="en-US" altLang="zh-CN" sz="2000" b="0"/>
              <a:t>st1.birthday.day     = 28;</a:t>
            </a:r>
          </a:p>
          <a:p>
            <a:pPr lvl="1" eaLnBrk="1" hangingPunct="1"/>
            <a:r>
              <a:rPr lang="en-US" altLang="zh-CN" sz="2000" b="0"/>
              <a:t>       st1.birthday.month = 2;</a:t>
            </a:r>
          </a:p>
          <a:p>
            <a:pPr lvl="1" eaLnBrk="1" hangingPunct="1"/>
            <a:r>
              <a:rPr lang="en-US" altLang="zh-CN" sz="2000" b="0"/>
              <a:t>       st1.birthday.year    = 1994;</a:t>
            </a:r>
          </a:p>
          <a:p>
            <a:pPr lvl="1" eaLnBrk="1" hangingPunct="1"/>
            <a:r>
              <a:rPr lang="en-US" altLang="zh-CN" sz="2000" b="0"/>
              <a:t>       scanf("%f",&amp;st1.birthday.year);</a:t>
            </a:r>
          </a:p>
          <a:p>
            <a:pPr eaLnBrk="1" hangingPunct="1"/>
            <a:endParaRPr lang="en-US" altLang="zh-CN" sz="2400" b="0"/>
          </a:p>
          <a:p>
            <a:pPr eaLnBrk="1" hangingPunct="1"/>
            <a:r>
              <a:rPr lang="en-US" altLang="zh-CN" sz="2400" b="0">
                <a:solidFill>
                  <a:srgbClr val="0066FF"/>
                </a:solidFill>
              </a:rPr>
              <a:t>ANSI C </a:t>
            </a:r>
            <a:r>
              <a:rPr lang="zh-CN" altLang="en-US" sz="2400" b="0">
                <a:solidFill>
                  <a:srgbClr val="0066FF"/>
                </a:solidFill>
              </a:rPr>
              <a:t>还允许相同类型的结构变量相互赋值。</a:t>
            </a:r>
          </a:p>
          <a:p>
            <a:pPr lvl="1" eaLnBrk="1" hangingPunct="1"/>
            <a:r>
              <a:rPr lang="en-US" altLang="zh-CN" sz="2000" b="0"/>
              <a:t>struct Date d1 = {7, 12, 2005};</a:t>
            </a:r>
          </a:p>
          <a:p>
            <a:pPr lvl="1" eaLnBrk="1" hangingPunct="1"/>
            <a:r>
              <a:rPr lang="en-US" altLang="zh-CN" sz="2000" b="0"/>
              <a:t>struct Date d2 =d1;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66A18D7-3340-7188-C97D-8EEE61BDB31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E93EEB3-162C-CD39-AAAD-835FB60DA473}"/>
              </a:ext>
            </a:extLst>
          </p:cNvPr>
          <p:cNvSpPr>
            <a:spLocks noGrp="1" noChangeArrowheads="1"/>
          </p:cNvSpPr>
          <p:nvPr>
            <p:ph type="ctrTitle"/>
          </p:nvPr>
        </p:nvSpPr>
        <p:spPr/>
        <p:txBody>
          <a:bodyPr/>
          <a:lstStyle/>
          <a:p>
            <a:pPr eaLnBrk="1" hangingPunct="1"/>
            <a:r>
              <a:rPr lang="zh-CN" altLang="en-US"/>
              <a:t>结构数组</a:t>
            </a:r>
            <a:endParaRPr lang="zh-CN" altLang="en-US" sz="4000" b="1">
              <a:solidFill>
                <a:srgbClr val="FF0000"/>
              </a:solidFill>
            </a:endParaRPr>
          </a:p>
        </p:txBody>
      </p:sp>
    </p:spTree>
    <p:extLst>
      <p:ext uri="{BB962C8B-B14F-4D97-AF65-F5344CB8AC3E}">
        <p14:creationId xmlns:p14="http://schemas.microsoft.com/office/powerpoint/2010/main" val="4239489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CDEF5BE-B4F6-0997-6982-A93E4B4D497F}"/>
              </a:ext>
            </a:extLst>
          </p:cNvPr>
          <p:cNvSpPr>
            <a:spLocks noGrp="1" noChangeArrowheads="1"/>
          </p:cNvSpPr>
          <p:nvPr>
            <p:ph type="title"/>
          </p:nvPr>
        </p:nvSpPr>
        <p:spPr/>
        <p:txBody>
          <a:bodyPr/>
          <a:lstStyle/>
          <a:p>
            <a:pPr eaLnBrk="1" hangingPunct="1"/>
            <a:r>
              <a:rPr lang="zh-CN" altLang="en-US"/>
              <a:t>结构和数组</a:t>
            </a:r>
            <a:endParaRPr lang="zh-CN" altLang="en-US">
              <a:solidFill>
                <a:schemeClr val="accent1"/>
              </a:solidFill>
            </a:endParaRPr>
          </a:p>
        </p:txBody>
      </p:sp>
      <p:sp>
        <p:nvSpPr>
          <p:cNvPr id="69635" name="Rectangle 3">
            <a:extLst>
              <a:ext uri="{FF2B5EF4-FFF2-40B4-BE49-F238E27FC236}">
                <a16:creationId xmlns:a16="http://schemas.microsoft.com/office/drawing/2014/main" id="{46BF2B84-C481-5C5A-7207-1DE4E2DF259B}"/>
              </a:ext>
            </a:extLst>
          </p:cNvPr>
          <p:cNvSpPr>
            <a:spLocks noGrp="1" noChangeArrowheads="1"/>
          </p:cNvSpPr>
          <p:nvPr>
            <p:ph type="body" idx="1"/>
          </p:nvPr>
        </p:nvSpPr>
        <p:spPr>
          <a:xfrm>
            <a:off x="827088" y="1772815"/>
            <a:ext cx="8128000" cy="4359697"/>
          </a:xfrm>
        </p:spPr>
        <p:txBody>
          <a:bodyPr/>
          <a:lstStyle/>
          <a:p>
            <a:pPr eaLnBrk="1" hangingPunct="1"/>
            <a:r>
              <a:rPr lang="zh-CN" altLang="en-US" sz="2400" b="0"/>
              <a:t>一般，用</a:t>
            </a:r>
            <a:r>
              <a:rPr lang="zh-CN" altLang="en-US" sz="2400"/>
              <a:t>结构</a:t>
            </a:r>
            <a:r>
              <a:rPr lang="zh-CN" altLang="en-US" sz="2400" b="0"/>
              <a:t>描述个体，用</a:t>
            </a:r>
            <a:r>
              <a:rPr lang="zh-CN" altLang="en-US" sz="2400"/>
              <a:t>数组</a:t>
            </a:r>
            <a:r>
              <a:rPr lang="zh-CN" altLang="en-US" sz="2400" b="0"/>
              <a:t>描述个体的集合。</a:t>
            </a:r>
          </a:p>
          <a:p>
            <a:pPr eaLnBrk="1" hangingPunct="1"/>
            <a:r>
              <a:rPr lang="zh-CN" altLang="en-US" sz="2400" b="0"/>
              <a:t>当数组的元素是结构时，这种数组就称为</a:t>
            </a:r>
            <a:r>
              <a:rPr lang="zh-CN" altLang="en-US" sz="2400">
                <a:solidFill>
                  <a:srgbClr val="0066FF"/>
                </a:solidFill>
              </a:rPr>
              <a:t>结构数组</a:t>
            </a:r>
            <a:r>
              <a:rPr lang="zh-CN" altLang="en-US" sz="2400" b="0"/>
              <a:t>。</a:t>
            </a:r>
          </a:p>
          <a:p>
            <a:pPr lvl="1" eaLnBrk="1" hangingPunct="1"/>
            <a:r>
              <a:rPr lang="zh-CN" altLang="en-US" sz="2000" b="0"/>
              <a:t>如用结构类型描述学生的有关信息，而用结构数组表示一个班的学生。用结构数组表示全班学生能充分反映班级的整体性，程序处理它也比较方便。</a:t>
            </a:r>
          </a:p>
          <a:p>
            <a:pPr eaLnBrk="1" hangingPunct="1"/>
            <a:r>
              <a:rPr lang="zh-CN" altLang="en-US" sz="2400" b="0"/>
              <a:t>在变量名之后指定元素个数，就能定义结构数组。如：</a:t>
            </a:r>
          </a:p>
          <a:p>
            <a:pPr lvl="1" eaLnBrk="1" hangingPunct="1"/>
            <a:r>
              <a:rPr lang="en-US" altLang="zh-CN" sz="2000" b="0"/>
              <a:t>struct  stdType  students[59];  </a:t>
            </a:r>
            <a:r>
              <a:rPr lang="en-US" altLang="zh-CN" sz="2000" b="0">
                <a:solidFill>
                  <a:srgbClr val="00B050"/>
                </a:solidFill>
              </a:rPr>
              <a:t>/*</a:t>
            </a:r>
            <a:r>
              <a:rPr lang="zh-CN" altLang="en-US" sz="2000" b="0">
                <a:solidFill>
                  <a:srgbClr val="00B050"/>
                </a:solidFill>
              </a:rPr>
              <a:t>结构数组</a:t>
            </a:r>
            <a:r>
              <a:rPr lang="en-US" altLang="zh-CN" sz="2000" b="0">
                <a:solidFill>
                  <a:srgbClr val="00B050"/>
                </a:solidFill>
              </a:rPr>
              <a:t>students</a:t>
            </a:r>
            <a:r>
              <a:rPr lang="zh-CN" altLang="en-US" sz="2000" b="0">
                <a:solidFill>
                  <a:srgbClr val="00B050"/>
                </a:solidFill>
              </a:rPr>
              <a:t>有</a:t>
            </a:r>
            <a:r>
              <a:rPr lang="en-US" altLang="zh-CN" sz="2000" b="0">
                <a:solidFill>
                  <a:srgbClr val="00B050"/>
                </a:solidFill>
              </a:rPr>
              <a:t>59</a:t>
            </a:r>
            <a:r>
              <a:rPr lang="zh-CN" altLang="en-US" sz="2000" b="0">
                <a:solidFill>
                  <a:srgbClr val="00B050"/>
                </a:solidFill>
              </a:rPr>
              <a:t>个元素</a:t>
            </a:r>
            <a:r>
              <a:rPr lang="en-US" altLang="zh-CN" sz="2000" b="0">
                <a:solidFill>
                  <a:srgbClr val="00B050"/>
                </a:solidFill>
              </a:rPr>
              <a:t>, </a:t>
            </a:r>
            <a:r>
              <a:rPr lang="zh-CN" altLang="en-US" sz="2000" b="0">
                <a:solidFill>
                  <a:srgbClr val="00B050"/>
                </a:solidFill>
              </a:rPr>
              <a:t>元素的类型是</a:t>
            </a:r>
            <a:r>
              <a:rPr lang="en-US" altLang="zh-CN" sz="2000" b="0">
                <a:solidFill>
                  <a:srgbClr val="00B050"/>
                </a:solidFill>
              </a:rPr>
              <a:t>struct stdType*/</a:t>
            </a:r>
          </a:p>
          <a:p>
            <a:pPr lvl="1" eaLnBrk="1" hangingPunct="1"/>
            <a:endParaRPr lang="en-US" altLang="zh-CN" sz="2000" b="0"/>
          </a:p>
          <a:p>
            <a:pPr lvl="1" eaLnBrk="1" hangingPunct="1"/>
            <a:r>
              <a:rPr lang="en-US" altLang="zh-CN" sz="2000" b="0"/>
              <a:t>struct point{</a:t>
            </a:r>
          </a:p>
          <a:p>
            <a:pPr lvl="1" eaLnBrk="1" hangingPunct="1"/>
            <a:r>
              <a:rPr lang="en-US" altLang="zh-CN" sz="2000" b="0"/>
              <a:t>       int x;</a:t>
            </a:r>
          </a:p>
          <a:p>
            <a:pPr lvl="1" eaLnBrk="1" hangingPunct="1"/>
            <a:r>
              <a:rPr lang="en-US" altLang="zh-CN" sz="2000" b="0"/>
              <a:t>       int y;</a:t>
            </a:r>
          </a:p>
          <a:p>
            <a:pPr lvl="1" eaLnBrk="1" hangingPunct="1"/>
            <a:r>
              <a:rPr lang="en-US" altLang="zh-CN" sz="2000" b="0"/>
              <a:t>}  points[500];   </a:t>
            </a:r>
            <a:r>
              <a:rPr lang="en-US" altLang="zh-CN" sz="2000" b="0">
                <a:solidFill>
                  <a:srgbClr val="00B050"/>
                </a:solidFill>
              </a:rPr>
              <a:t>//</a:t>
            </a:r>
            <a:r>
              <a:rPr lang="zh-CN" altLang="en-US" sz="2000" b="0">
                <a:solidFill>
                  <a:srgbClr val="00B050"/>
                </a:solidFill>
              </a:rPr>
              <a:t>结构数组</a:t>
            </a:r>
            <a:r>
              <a:rPr lang="en-US" altLang="zh-CN" sz="2000" b="0">
                <a:solidFill>
                  <a:srgbClr val="00B050"/>
                </a:solidFill>
              </a:rPr>
              <a:t>points</a:t>
            </a:r>
            <a:r>
              <a:rPr lang="zh-CN" altLang="en-US" sz="2000" b="0">
                <a:solidFill>
                  <a:srgbClr val="00B050"/>
                </a:solidFill>
              </a:rPr>
              <a:t>有</a:t>
            </a:r>
            <a:r>
              <a:rPr lang="en-US" altLang="zh-CN" sz="2000" b="0">
                <a:solidFill>
                  <a:srgbClr val="00B050"/>
                </a:solidFill>
              </a:rPr>
              <a:t>500</a:t>
            </a:r>
            <a:r>
              <a:rPr lang="zh-CN" altLang="en-US" sz="2000" b="0">
                <a:solidFill>
                  <a:srgbClr val="00B050"/>
                </a:solidFill>
              </a:rPr>
              <a:t>个元素</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7EC97215-0E39-DD1C-F87D-A5C17CE984AC}"/>
              </a:ext>
            </a:extLst>
          </p:cNvPr>
          <p:cNvSpPr>
            <a:spLocks noGrp="1" noChangeArrowheads="1"/>
          </p:cNvSpPr>
          <p:nvPr>
            <p:ph type="title"/>
          </p:nvPr>
        </p:nvSpPr>
        <p:spPr/>
        <p:txBody>
          <a:bodyPr/>
          <a:lstStyle/>
          <a:p>
            <a:pPr eaLnBrk="1" hangingPunct="1"/>
            <a:r>
              <a:rPr lang="zh-CN" altLang="en-US"/>
              <a:t>访问结构数组</a:t>
            </a:r>
          </a:p>
        </p:txBody>
      </p:sp>
      <p:sp>
        <p:nvSpPr>
          <p:cNvPr id="71683" name="Rectangle 3">
            <a:extLst>
              <a:ext uri="{FF2B5EF4-FFF2-40B4-BE49-F238E27FC236}">
                <a16:creationId xmlns:a16="http://schemas.microsoft.com/office/drawing/2014/main" id="{ACD31798-1FDA-A96C-DDDF-BEABAE182E72}"/>
              </a:ext>
            </a:extLst>
          </p:cNvPr>
          <p:cNvSpPr>
            <a:spLocks noGrp="1" noChangeArrowheads="1"/>
          </p:cNvSpPr>
          <p:nvPr>
            <p:ph type="body" idx="1"/>
          </p:nvPr>
        </p:nvSpPr>
        <p:spPr>
          <a:xfrm>
            <a:off x="900113" y="1844824"/>
            <a:ext cx="7793038" cy="4752826"/>
          </a:xfrm>
        </p:spPr>
        <p:txBody>
          <a:bodyPr/>
          <a:lstStyle/>
          <a:p>
            <a:pPr marL="533400" indent="-533400" eaLnBrk="1" hangingPunct="1">
              <a:spcAft>
                <a:spcPts val="600"/>
              </a:spcAft>
            </a:pPr>
            <a:r>
              <a:rPr lang="zh-CN" altLang="en-US" sz="2400" b="0"/>
              <a:t>结构数组各元素在内存中也顺序存放，也可初始化，对结构数组元素的访问也要利用元素的下标。</a:t>
            </a:r>
          </a:p>
          <a:p>
            <a:pPr marL="533400" indent="-533400" eaLnBrk="1" hangingPunct="1">
              <a:spcAft>
                <a:spcPts val="600"/>
              </a:spcAft>
            </a:pPr>
            <a:r>
              <a:rPr lang="zh-CN" altLang="en-US" sz="2400" b="0"/>
              <a:t>访问结构数组元素的成分的标记方法为：</a:t>
            </a:r>
          </a:p>
          <a:p>
            <a:pPr marL="914400" lvl="1" indent="-457200" eaLnBrk="1" hangingPunct="1">
              <a:spcAft>
                <a:spcPts val="600"/>
              </a:spcAft>
            </a:pPr>
            <a:r>
              <a:rPr lang="zh-CN" altLang="en-US" sz="2000" b="0">
                <a:solidFill>
                  <a:srgbClr val="0066FF"/>
                </a:solidFill>
              </a:rPr>
              <a:t>结构数组名</a:t>
            </a:r>
            <a:r>
              <a:rPr lang="en-US" altLang="zh-CN" sz="2000" b="0">
                <a:solidFill>
                  <a:srgbClr val="0066FF"/>
                </a:solidFill>
              </a:rPr>
              <a:t>[</a:t>
            </a:r>
            <a:r>
              <a:rPr lang="zh-CN" altLang="en-US" sz="2000" b="0">
                <a:solidFill>
                  <a:srgbClr val="0066FF"/>
                </a:solidFill>
              </a:rPr>
              <a:t>元素下标</a:t>
            </a:r>
            <a:r>
              <a:rPr lang="en-US" altLang="zh-CN" sz="2000" b="0">
                <a:solidFill>
                  <a:srgbClr val="0066FF"/>
                </a:solidFill>
              </a:rPr>
              <a:t>].</a:t>
            </a:r>
            <a:r>
              <a:rPr lang="zh-CN" altLang="en-US" sz="2000" b="0">
                <a:solidFill>
                  <a:srgbClr val="0066FF"/>
                </a:solidFill>
              </a:rPr>
              <a:t>结构成分名</a:t>
            </a:r>
          </a:p>
          <a:p>
            <a:pPr marL="533400" indent="-533400" eaLnBrk="1" hangingPunct="1">
              <a:spcAft>
                <a:spcPts val="600"/>
              </a:spcAft>
              <a:buFont typeface="Wingdings" pitchFamily="2" charset="2"/>
              <a:buNone/>
            </a:pPr>
            <a:r>
              <a:rPr lang="zh-CN" altLang="en-US" sz="2400" b="0"/>
              <a:t>        即首先是指定数组的元素，再指定结构的成分。</a:t>
            </a:r>
          </a:p>
          <a:p>
            <a:pPr marL="533400" indent="-533400" eaLnBrk="1" hangingPunct="1">
              <a:spcAft>
                <a:spcPts val="600"/>
              </a:spcAft>
            </a:pPr>
            <a:r>
              <a:rPr lang="zh-CN" altLang="en-US" sz="2400" b="0"/>
              <a:t>结构指针变量也可指向结构数组的某个结构元素。如有定义：</a:t>
            </a:r>
          </a:p>
          <a:p>
            <a:pPr marL="914400" lvl="1" indent="-457200" eaLnBrk="1" hangingPunct="1">
              <a:spcAft>
                <a:spcPts val="600"/>
              </a:spcAft>
            </a:pPr>
            <a:r>
              <a:rPr lang="zh-CN" altLang="en-US" sz="2000" b="0"/>
              <a:t>    </a:t>
            </a:r>
            <a:r>
              <a:rPr lang="en-US" altLang="zh-CN" sz="2000" b="0"/>
              <a:t>struct  stdType  std[65], *ps, *p;</a:t>
            </a:r>
          </a:p>
          <a:p>
            <a:pPr marL="533400" indent="-533400" eaLnBrk="1" hangingPunct="1">
              <a:spcAft>
                <a:spcPts val="600"/>
              </a:spcAft>
              <a:buFont typeface="Wingdings" pitchFamily="2" charset="2"/>
              <a:buNone/>
            </a:pPr>
            <a:r>
              <a:rPr lang="en-US" altLang="zh-CN" sz="2400" b="0"/>
              <a:t>        </a:t>
            </a:r>
            <a:r>
              <a:rPr lang="zh-CN" altLang="en-US" sz="2400" b="0"/>
              <a:t>则赋值运算 </a:t>
            </a:r>
            <a:r>
              <a:rPr lang="en-US" altLang="zh-CN" sz="2400" b="0"/>
              <a:t>ps = &amp;std[2] </a:t>
            </a:r>
            <a:r>
              <a:rPr lang="zh-CN" altLang="en-US" sz="2400" b="0"/>
              <a:t>使指针</a:t>
            </a:r>
            <a:r>
              <a:rPr lang="en-US" altLang="zh-CN" sz="2400" b="0"/>
              <a:t>ps</a:t>
            </a:r>
            <a:r>
              <a:rPr lang="zh-CN" altLang="en-US" sz="2400" b="0"/>
              <a:t>指向结构</a:t>
            </a:r>
            <a:r>
              <a:rPr lang="en-US" altLang="zh-CN" sz="2400" b="0"/>
              <a:t>std[2]</a:t>
            </a:r>
            <a:r>
              <a:rPr lang="zh-CN" altLang="en-US" sz="2400" b="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7816C-ECCC-D05B-178C-CA64C2AB2D2E}"/>
            </a:ext>
          </a:extLst>
        </p:cNvPr>
        <p:cNvGrpSpPr/>
        <p:nvPr/>
      </p:nvGrpSpPr>
      <p:grpSpPr>
        <a:xfrm>
          <a:off x="0" y="0"/>
          <a:ext cx="0" cy="0"/>
          <a:chOff x="0" y="0"/>
          <a:chExt cx="0" cy="0"/>
        </a:xfrm>
      </p:grpSpPr>
      <p:sp>
        <p:nvSpPr>
          <p:cNvPr id="71682" name="Rectangle 2">
            <a:extLst>
              <a:ext uri="{FF2B5EF4-FFF2-40B4-BE49-F238E27FC236}">
                <a16:creationId xmlns:a16="http://schemas.microsoft.com/office/drawing/2014/main" id="{FA3AEBA9-38CF-ECB1-3DD1-EDD65D250E27}"/>
              </a:ext>
            </a:extLst>
          </p:cNvPr>
          <p:cNvSpPr>
            <a:spLocks noGrp="1" noChangeArrowheads="1"/>
          </p:cNvSpPr>
          <p:nvPr>
            <p:ph type="title"/>
          </p:nvPr>
        </p:nvSpPr>
        <p:spPr/>
        <p:txBody>
          <a:bodyPr/>
          <a:lstStyle/>
          <a:p>
            <a:pPr eaLnBrk="1" hangingPunct="1"/>
            <a:r>
              <a:rPr lang="zh-CN" altLang="en-US"/>
              <a:t>访问结构数组</a:t>
            </a:r>
          </a:p>
        </p:txBody>
      </p:sp>
      <p:sp>
        <p:nvSpPr>
          <p:cNvPr id="71683" name="Rectangle 3">
            <a:extLst>
              <a:ext uri="{FF2B5EF4-FFF2-40B4-BE49-F238E27FC236}">
                <a16:creationId xmlns:a16="http://schemas.microsoft.com/office/drawing/2014/main" id="{8263CDF5-2F05-26D4-3E74-4E90FB21997A}"/>
              </a:ext>
            </a:extLst>
          </p:cNvPr>
          <p:cNvSpPr>
            <a:spLocks noGrp="1" noChangeArrowheads="1"/>
          </p:cNvSpPr>
          <p:nvPr>
            <p:ph type="body" idx="1"/>
          </p:nvPr>
        </p:nvSpPr>
        <p:spPr>
          <a:xfrm>
            <a:off x="900113" y="1844824"/>
            <a:ext cx="7793038" cy="4752826"/>
          </a:xfrm>
        </p:spPr>
        <p:txBody>
          <a:bodyPr/>
          <a:lstStyle/>
          <a:p>
            <a:pPr marL="533400" indent="-533400" eaLnBrk="1" hangingPunct="1">
              <a:lnSpc>
                <a:spcPct val="150000"/>
              </a:lnSpc>
            </a:pPr>
            <a:r>
              <a:rPr lang="zh-CN" altLang="en-US" sz="2800" b="0"/>
              <a:t>以下代码序列实现在结构数组</a:t>
            </a:r>
            <a:r>
              <a:rPr lang="en-US" altLang="zh-CN" sz="2800" b="0"/>
              <a:t>std</a:t>
            </a:r>
            <a:r>
              <a:rPr lang="zh-CN" altLang="en-US" sz="2800" b="0"/>
              <a:t>中找最高分的那个结构，并由指针</a:t>
            </a:r>
            <a:r>
              <a:rPr lang="en-US" altLang="zh-CN" sz="2800" b="0"/>
              <a:t>p</a:t>
            </a:r>
            <a:r>
              <a:rPr lang="zh-CN" altLang="en-US" sz="2800" b="0"/>
              <a:t>指向该结构：</a:t>
            </a:r>
          </a:p>
          <a:p>
            <a:pPr marL="914400" lvl="1" indent="-457200" eaLnBrk="1" hangingPunct="1">
              <a:lnSpc>
                <a:spcPct val="150000"/>
              </a:lnSpc>
              <a:buFont typeface="Wingdings" pitchFamily="2" charset="2"/>
              <a:buAutoNum type="arabicPeriod"/>
            </a:pPr>
            <a:r>
              <a:rPr lang="en-US" altLang="zh-CN" sz="2000" b="0"/>
              <a:t>p = std;  </a:t>
            </a:r>
            <a:r>
              <a:rPr lang="en-US" altLang="zh-CN" sz="2000" b="0">
                <a:solidFill>
                  <a:schemeClr val="folHlink"/>
                </a:solidFill>
              </a:rPr>
              <a:t> </a:t>
            </a:r>
            <a:r>
              <a:rPr lang="en-US" altLang="zh-CN" sz="2000" b="0">
                <a:solidFill>
                  <a:srgbClr val="00B050"/>
                </a:solidFill>
              </a:rPr>
              <a:t>//</a:t>
            </a:r>
            <a:r>
              <a:rPr lang="zh-CN" altLang="en-US" sz="2000" b="0">
                <a:solidFill>
                  <a:srgbClr val="00B050"/>
                </a:solidFill>
              </a:rPr>
              <a:t>等价于 </a:t>
            </a:r>
            <a:r>
              <a:rPr lang="en-US" altLang="zh-CN" sz="2000" b="0">
                <a:solidFill>
                  <a:srgbClr val="00B050"/>
                </a:solidFill>
              </a:rPr>
              <a:t>p = &amp;std[0], </a:t>
            </a:r>
            <a:r>
              <a:rPr lang="zh-CN" altLang="en-US" sz="2000" b="0">
                <a:solidFill>
                  <a:srgbClr val="00B050"/>
                </a:solidFill>
              </a:rPr>
              <a:t>使</a:t>
            </a:r>
            <a:r>
              <a:rPr lang="en-US" altLang="zh-CN" sz="2000" b="0">
                <a:solidFill>
                  <a:srgbClr val="00B050"/>
                </a:solidFill>
              </a:rPr>
              <a:t>p</a:t>
            </a:r>
            <a:r>
              <a:rPr lang="zh-CN" altLang="en-US" sz="2000" b="0">
                <a:solidFill>
                  <a:srgbClr val="00B050"/>
                </a:solidFill>
              </a:rPr>
              <a:t>指向结构</a:t>
            </a:r>
            <a:r>
              <a:rPr lang="en-US" altLang="zh-CN" sz="2000" b="0">
                <a:solidFill>
                  <a:srgbClr val="00B050"/>
                </a:solidFill>
              </a:rPr>
              <a:t>std[0]</a:t>
            </a:r>
          </a:p>
          <a:p>
            <a:pPr marL="914400" lvl="1" indent="-457200" eaLnBrk="1" hangingPunct="1">
              <a:lnSpc>
                <a:spcPct val="150000"/>
              </a:lnSpc>
              <a:buFont typeface="Wingdings" pitchFamily="2" charset="2"/>
              <a:buAutoNum type="arabicPeriod"/>
            </a:pPr>
            <a:r>
              <a:rPr lang="en-US" altLang="zh-CN" sz="2000" b="0"/>
              <a:t>for (ps = std+1 ;  ps &lt; std+sizeof std/sizeof std[0]; ps++)</a:t>
            </a:r>
          </a:p>
          <a:p>
            <a:pPr marL="914400" lvl="1" indent="-457200" eaLnBrk="1" hangingPunct="1">
              <a:lnSpc>
                <a:spcPct val="150000"/>
              </a:lnSpc>
              <a:buFont typeface="Wingdings" pitchFamily="2" charset="2"/>
              <a:buAutoNum type="arabicPeriod"/>
            </a:pPr>
            <a:r>
              <a:rPr lang="zh-CN" altLang="en-US" sz="2000" b="0"/>
              <a:t>       </a:t>
            </a:r>
            <a:r>
              <a:rPr lang="en-US" altLang="zh-CN" sz="2000" b="0"/>
              <a:t>if ( ps-&gt;score &gt; p-&gt;score )  p = ps ;</a:t>
            </a:r>
          </a:p>
          <a:p>
            <a:pPr marL="914400" lvl="1" indent="-457200" eaLnBrk="1" hangingPunct="1">
              <a:lnSpc>
                <a:spcPct val="150000"/>
              </a:lnSpc>
            </a:pPr>
            <a:r>
              <a:rPr lang="en-US" altLang="zh-CN" sz="2400" b="0"/>
              <a:t>ps++</a:t>
            </a:r>
            <a:r>
              <a:rPr lang="zh-CN" altLang="en-US" sz="2400" b="0"/>
              <a:t>使指针</a:t>
            </a:r>
            <a:r>
              <a:rPr lang="en-US" altLang="zh-CN" sz="2400" b="0"/>
              <a:t>ps</a:t>
            </a:r>
            <a:r>
              <a:rPr lang="zh-CN" altLang="en-US" sz="2400" b="0"/>
              <a:t>顺序指向结构</a:t>
            </a:r>
            <a:r>
              <a:rPr lang="en-US" altLang="zh-CN" sz="2400" b="0"/>
              <a:t>std[1]</a:t>
            </a:r>
            <a:r>
              <a:rPr lang="zh-CN" altLang="en-US" sz="2400" b="0"/>
              <a:t>、</a:t>
            </a:r>
            <a:r>
              <a:rPr lang="en-US" altLang="zh-CN" sz="2400" b="0"/>
              <a:t>std[2]</a:t>
            </a:r>
            <a:r>
              <a:rPr lang="zh-CN" altLang="en-US" sz="2400" b="0"/>
              <a:t>、</a:t>
            </a:r>
            <a:r>
              <a:rPr lang="en-US" altLang="zh-CN" sz="2400" b="0">
                <a:latin typeface="Arial" panose="020B0604020202020204" pitchFamily="34" charset="0"/>
              </a:rPr>
              <a:t>…</a:t>
            </a:r>
            <a:endParaRPr lang="en-US" altLang="zh-CN" sz="2400" b="0"/>
          </a:p>
        </p:txBody>
      </p:sp>
    </p:spTree>
    <p:extLst>
      <p:ext uri="{BB962C8B-B14F-4D97-AF65-F5344CB8AC3E}">
        <p14:creationId xmlns:p14="http://schemas.microsoft.com/office/powerpoint/2010/main" val="8421965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501E1EF-BF1B-7475-9006-995542856103}"/>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0281DBD2-31EF-A85C-ABB3-790D11D39FFB}"/>
              </a:ext>
            </a:extLst>
          </p:cNvPr>
          <p:cNvSpPr>
            <a:spLocks noGrp="1" noChangeArrowheads="1"/>
          </p:cNvSpPr>
          <p:nvPr>
            <p:ph type="ctrTitle"/>
          </p:nvPr>
        </p:nvSpPr>
        <p:spPr/>
        <p:txBody>
          <a:bodyPr/>
          <a:lstStyle/>
          <a:p>
            <a:pPr eaLnBrk="1" hangingPunct="1"/>
            <a:r>
              <a:rPr lang="zh-CN" altLang="en-US"/>
              <a:t>结构与函数</a:t>
            </a:r>
            <a:endParaRPr lang="zh-CN" altLang="en-US" sz="4000" b="1">
              <a:solidFill>
                <a:srgbClr val="FF0000"/>
              </a:solidFill>
            </a:endParaRPr>
          </a:p>
        </p:txBody>
      </p:sp>
    </p:spTree>
    <p:extLst>
      <p:ext uri="{BB962C8B-B14F-4D97-AF65-F5344CB8AC3E}">
        <p14:creationId xmlns:p14="http://schemas.microsoft.com/office/powerpoint/2010/main" val="28940002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A3DC3EC1-56E6-2856-7383-8610664114DF}"/>
              </a:ext>
            </a:extLst>
          </p:cNvPr>
          <p:cNvSpPr>
            <a:spLocks noGrp="1" noChangeArrowheads="1"/>
          </p:cNvSpPr>
          <p:nvPr>
            <p:ph type="title"/>
          </p:nvPr>
        </p:nvSpPr>
        <p:spPr/>
        <p:txBody>
          <a:bodyPr/>
          <a:lstStyle/>
          <a:p>
            <a:pPr eaLnBrk="1" hangingPunct="1"/>
            <a:r>
              <a:rPr lang="zh-CN" altLang="en-US"/>
              <a:t>结构作为函数参数</a:t>
            </a:r>
          </a:p>
        </p:txBody>
      </p:sp>
      <p:sp>
        <p:nvSpPr>
          <p:cNvPr id="75779" name="Rectangle 3">
            <a:extLst>
              <a:ext uri="{FF2B5EF4-FFF2-40B4-BE49-F238E27FC236}">
                <a16:creationId xmlns:a16="http://schemas.microsoft.com/office/drawing/2014/main" id="{2EFAB26C-9B1B-735F-DE91-5AF52F5F246B}"/>
              </a:ext>
            </a:extLst>
          </p:cNvPr>
          <p:cNvSpPr>
            <a:spLocks noGrp="1" noChangeArrowheads="1"/>
          </p:cNvSpPr>
          <p:nvPr>
            <p:ph type="body" idx="1"/>
          </p:nvPr>
        </p:nvSpPr>
        <p:spPr>
          <a:xfrm>
            <a:off x="827088" y="1916831"/>
            <a:ext cx="7866062" cy="4215681"/>
          </a:xfrm>
        </p:spPr>
        <p:txBody>
          <a:bodyPr/>
          <a:lstStyle/>
          <a:p>
            <a:pPr eaLnBrk="1" hangingPunct="1">
              <a:lnSpc>
                <a:spcPct val="150000"/>
              </a:lnSpc>
            </a:pPr>
            <a:r>
              <a:rPr lang="zh-CN" altLang="en-US"/>
              <a:t>例</a:t>
            </a:r>
            <a:r>
              <a:rPr lang="en-US" altLang="zh-CN"/>
              <a:t>7.3</a:t>
            </a:r>
            <a:r>
              <a:rPr lang="zh-CN" altLang="en-US"/>
              <a:t>：根据输入的年份、月份和日期， 输出该日是该年份中的第几天。</a:t>
            </a:r>
          </a:p>
          <a:p>
            <a:pPr lvl="1" eaLnBrk="1" hangingPunct="1">
              <a:lnSpc>
                <a:spcPct val="150000"/>
              </a:lnSpc>
            </a:pPr>
            <a:r>
              <a:rPr lang="zh-CN" altLang="en-US" b="0"/>
              <a:t>要求：要严格检查输入数据的合理性，发现输入数据不合理时，能输出警告信息，并要求重新输入。</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D4E4FAA-9FDB-A535-1230-15141219154F}"/>
              </a:ext>
            </a:extLst>
          </p:cNvPr>
          <p:cNvSpPr>
            <a:spLocks noGrp="1" noChangeArrowheads="1"/>
          </p:cNvSpPr>
          <p:nvPr>
            <p:ph type="title"/>
          </p:nvPr>
        </p:nvSpPr>
        <p:spPr/>
        <p:txBody>
          <a:bodyPr/>
          <a:lstStyle/>
          <a:p>
            <a:pPr eaLnBrk="1" hangingPunct="1"/>
            <a:r>
              <a:rPr lang="zh-CN" altLang="en-US"/>
              <a:t>例</a:t>
            </a:r>
            <a:r>
              <a:rPr lang="en-US" altLang="zh-CN"/>
              <a:t>7.3 </a:t>
            </a:r>
            <a:r>
              <a:rPr lang="zh-CN" altLang="en-US"/>
              <a:t>程序框架描述</a:t>
            </a:r>
            <a:endParaRPr lang="zh-CN" altLang="en-US" sz="3200"/>
          </a:p>
        </p:txBody>
      </p:sp>
      <p:sp>
        <p:nvSpPr>
          <p:cNvPr id="77827" name="Rectangle 3">
            <a:extLst>
              <a:ext uri="{FF2B5EF4-FFF2-40B4-BE49-F238E27FC236}">
                <a16:creationId xmlns:a16="http://schemas.microsoft.com/office/drawing/2014/main" id="{5BC5C13D-ACB2-7ECC-4490-81EBB411EDAF}"/>
              </a:ext>
            </a:extLst>
          </p:cNvPr>
          <p:cNvSpPr>
            <a:spLocks noGrp="1" noChangeArrowheads="1"/>
          </p:cNvSpPr>
          <p:nvPr>
            <p:ph type="body" idx="1"/>
          </p:nvPr>
        </p:nvSpPr>
        <p:spPr/>
        <p:txBody>
          <a:bodyPr/>
          <a:lstStyle/>
          <a:p>
            <a:pPr marL="914400" lvl="1" indent="-457200" eaLnBrk="1" hangingPunct="1">
              <a:lnSpc>
                <a:spcPct val="80000"/>
              </a:lnSpc>
              <a:buFont typeface="Wingdings" pitchFamily="2" charset="2"/>
              <a:buAutoNum type="arabicPeriod"/>
            </a:pPr>
            <a:r>
              <a:rPr lang="en-US" altLang="zh-CN" sz="1600" b="0"/>
              <a:t>{   </a:t>
            </a:r>
            <a:r>
              <a:rPr lang="zh-CN" altLang="en-US" sz="1600" b="0"/>
              <a:t>提示程序开始工作</a:t>
            </a:r>
            <a:r>
              <a:rPr lang="en-US" altLang="zh-CN" sz="1600" b="0"/>
              <a:t>;</a:t>
            </a:r>
          </a:p>
          <a:p>
            <a:pPr marL="914400" lvl="1" indent="-457200" eaLnBrk="1" hangingPunct="1">
              <a:lnSpc>
                <a:spcPct val="80000"/>
              </a:lnSpc>
              <a:buFont typeface="Wingdings" pitchFamily="2" charset="2"/>
              <a:buAutoNum type="arabicPeriod"/>
            </a:pPr>
            <a:r>
              <a:rPr lang="en-US" altLang="zh-CN" sz="1600" b="0"/>
              <a:t>     while(1){</a:t>
            </a:r>
          </a:p>
          <a:p>
            <a:pPr marL="914400" lvl="1" indent="-457200" eaLnBrk="1" hangingPunct="1">
              <a:lnSpc>
                <a:spcPct val="80000"/>
              </a:lnSpc>
              <a:buFont typeface="Wingdings" pitchFamily="2" charset="2"/>
              <a:buAutoNum type="arabicPeriod"/>
            </a:pPr>
            <a:r>
              <a:rPr lang="en-US" altLang="zh-CN" sz="1600" b="0"/>
              <a:t>           </a:t>
            </a:r>
            <a:r>
              <a:rPr lang="zh-CN" altLang="en-US" sz="1600" b="0"/>
              <a:t>输入年份</a:t>
            </a:r>
            <a:r>
              <a:rPr lang="en-US" altLang="zh-CN" sz="1600" b="0"/>
              <a:t>;</a:t>
            </a:r>
          </a:p>
          <a:p>
            <a:pPr marL="914400" lvl="1" indent="-457200" eaLnBrk="1" hangingPunct="1">
              <a:lnSpc>
                <a:spcPct val="80000"/>
              </a:lnSpc>
              <a:buFont typeface="Wingdings" pitchFamily="2" charset="2"/>
              <a:buAutoNum type="arabicPeriod"/>
            </a:pPr>
            <a:r>
              <a:rPr lang="en-US" altLang="zh-CN" sz="1600" b="0"/>
              <a:t>           while(1) {  </a:t>
            </a:r>
            <a:r>
              <a:rPr lang="en-US" altLang="zh-CN" sz="1600" b="0">
                <a:solidFill>
                  <a:schemeClr val="folHlink"/>
                </a:solidFill>
              </a:rPr>
              <a:t>//</a:t>
            </a:r>
            <a:r>
              <a:rPr lang="zh-CN" altLang="en-US" sz="1600" b="0">
                <a:solidFill>
                  <a:schemeClr val="folHlink"/>
                </a:solidFill>
              </a:rPr>
              <a:t>如月份输入不正确，继续循环</a:t>
            </a:r>
          </a:p>
          <a:p>
            <a:pPr marL="914400" lvl="1" indent="-457200" eaLnBrk="1" hangingPunct="1">
              <a:lnSpc>
                <a:spcPct val="80000"/>
              </a:lnSpc>
              <a:buFont typeface="Wingdings" pitchFamily="2" charset="2"/>
              <a:buAutoNum type="arabicPeriod"/>
            </a:pPr>
            <a:r>
              <a:rPr lang="zh-CN" altLang="en-US" sz="1600" b="0"/>
              <a:t>              输入月份</a:t>
            </a:r>
            <a:r>
              <a:rPr lang="en-US" altLang="zh-CN" sz="1600" b="0"/>
              <a:t>;</a:t>
            </a:r>
          </a:p>
          <a:p>
            <a:pPr marL="914400" lvl="1" indent="-457200" eaLnBrk="1" hangingPunct="1">
              <a:lnSpc>
                <a:spcPct val="80000"/>
              </a:lnSpc>
              <a:buFont typeface="Wingdings" pitchFamily="2" charset="2"/>
              <a:buAutoNum type="arabicPeriod"/>
            </a:pPr>
            <a:r>
              <a:rPr lang="en-US" altLang="zh-CN" sz="1600" b="0"/>
              <a:t>              if (</a:t>
            </a:r>
            <a:r>
              <a:rPr lang="zh-CN" altLang="en-US" sz="1600" b="0"/>
              <a:t>月份合理</a:t>
            </a:r>
            <a:r>
              <a:rPr lang="en-US" altLang="zh-CN" sz="1600" b="0"/>
              <a:t>) break;</a:t>
            </a:r>
          </a:p>
          <a:p>
            <a:pPr marL="914400" lvl="1" indent="-457200" eaLnBrk="1" hangingPunct="1">
              <a:lnSpc>
                <a:spcPct val="80000"/>
              </a:lnSpc>
              <a:buFont typeface="Wingdings" pitchFamily="2" charset="2"/>
              <a:buAutoNum type="arabicPeriod"/>
            </a:pPr>
            <a:r>
              <a:rPr lang="en-US" altLang="zh-CN" sz="1600" b="0"/>
              <a:t>              </a:t>
            </a:r>
            <a:r>
              <a:rPr lang="zh-CN" altLang="en-US" sz="1600" b="0"/>
              <a:t>输出警告信息</a:t>
            </a:r>
            <a:r>
              <a:rPr lang="en-US" altLang="zh-CN" sz="1600" b="0"/>
              <a:t>;</a:t>
            </a:r>
          </a:p>
          <a:p>
            <a:pPr marL="914400" lvl="1" indent="-457200" eaLnBrk="1" hangingPunct="1">
              <a:lnSpc>
                <a:spcPct val="80000"/>
              </a:lnSpc>
              <a:buFont typeface="Wingdings" pitchFamily="2" charset="2"/>
              <a:buAutoNum type="arabicPeriod"/>
            </a:pPr>
            <a:r>
              <a:rPr lang="en-US" altLang="zh-CN" sz="1600" b="0"/>
              <a:t>           }</a:t>
            </a:r>
          </a:p>
          <a:p>
            <a:pPr marL="914400" lvl="1" indent="-457200" eaLnBrk="1" hangingPunct="1">
              <a:lnSpc>
                <a:spcPct val="80000"/>
              </a:lnSpc>
              <a:buFont typeface="Wingdings" pitchFamily="2" charset="2"/>
              <a:buAutoNum type="arabicPeriod"/>
            </a:pPr>
            <a:r>
              <a:rPr lang="en-US" altLang="zh-CN" sz="1600" b="0"/>
              <a:t>           </a:t>
            </a:r>
            <a:r>
              <a:rPr lang="zh-CN" altLang="en-US" sz="1600" b="0"/>
              <a:t>输出月份英文名称</a:t>
            </a:r>
            <a:r>
              <a:rPr lang="en-US" altLang="zh-CN" sz="1600" b="0"/>
              <a:t>;</a:t>
            </a:r>
          </a:p>
          <a:p>
            <a:pPr marL="914400" lvl="1" indent="-457200" eaLnBrk="1" hangingPunct="1">
              <a:lnSpc>
                <a:spcPct val="80000"/>
              </a:lnSpc>
              <a:buFont typeface="Wingdings" pitchFamily="2" charset="2"/>
              <a:buAutoNum type="arabicPeriod"/>
            </a:pPr>
            <a:r>
              <a:rPr lang="en-US" altLang="zh-CN" sz="1600" b="0"/>
              <a:t>           while(1) {  </a:t>
            </a:r>
            <a:r>
              <a:rPr lang="en-US" altLang="zh-CN" sz="1600" b="0">
                <a:solidFill>
                  <a:schemeClr val="folHlink"/>
                </a:solidFill>
              </a:rPr>
              <a:t>//</a:t>
            </a:r>
            <a:r>
              <a:rPr lang="zh-CN" altLang="en-US" sz="1600" b="0">
                <a:solidFill>
                  <a:schemeClr val="folHlink"/>
                </a:solidFill>
              </a:rPr>
              <a:t>如日期输入不正确，继续循环</a:t>
            </a:r>
          </a:p>
          <a:p>
            <a:pPr marL="914400" lvl="1" indent="-457200" eaLnBrk="1" hangingPunct="1">
              <a:lnSpc>
                <a:spcPct val="80000"/>
              </a:lnSpc>
              <a:buFont typeface="Wingdings" pitchFamily="2" charset="2"/>
              <a:buAutoNum type="arabicPeriod"/>
            </a:pPr>
            <a:r>
              <a:rPr lang="zh-CN" altLang="en-US" sz="1600" b="0"/>
              <a:t>              输入日期</a:t>
            </a:r>
            <a:r>
              <a:rPr lang="en-US" altLang="zh-CN" sz="1600" b="0"/>
              <a:t>;</a:t>
            </a:r>
          </a:p>
          <a:p>
            <a:pPr marL="914400" lvl="1" indent="-457200" eaLnBrk="1" hangingPunct="1">
              <a:lnSpc>
                <a:spcPct val="80000"/>
              </a:lnSpc>
              <a:buFont typeface="Wingdings" pitchFamily="2" charset="2"/>
              <a:buAutoNum type="arabicPeriod"/>
            </a:pPr>
            <a:r>
              <a:rPr lang="en-US" altLang="zh-CN" sz="1600" b="0"/>
              <a:t>              if  (</a:t>
            </a:r>
            <a:r>
              <a:rPr lang="zh-CN" altLang="en-US" sz="1600" b="0"/>
              <a:t>日期合理</a:t>
            </a:r>
            <a:r>
              <a:rPr lang="en-US" altLang="zh-CN" sz="1600" b="0"/>
              <a:t>) break;</a:t>
            </a:r>
          </a:p>
          <a:p>
            <a:pPr marL="914400" lvl="1" indent="-457200" eaLnBrk="1" hangingPunct="1">
              <a:lnSpc>
                <a:spcPct val="80000"/>
              </a:lnSpc>
              <a:buFont typeface="Wingdings" pitchFamily="2" charset="2"/>
              <a:buAutoNum type="arabicPeriod"/>
            </a:pPr>
            <a:r>
              <a:rPr lang="en-US" altLang="zh-CN" sz="1600" b="0"/>
              <a:t>              </a:t>
            </a:r>
            <a:r>
              <a:rPr lang="zh-CN" altLang="en-US" sz="1600" b="0"/>
              <a:t>输出警告信息</a:t>
            </a:r>
            <a:r>
              <a:rPr lang="en-US" altLang="zh-CN" sz="1600" b="0"/>
              <a:t>;</a:t>
            </a:r>
          </a:p>
          <a:p>
            <a:pPr marL="914400" lvl="1" indent="-457200" eaLnBrk="1" hangingPunct="1">
              <a:lnSpc>
                <a:spcPct val="80000"/>
              </a:lnSpc>
              <a:buFont typeface="Wingdings" pitchFamily="2" charset="2"/>
              <a:buAutoNum type="arabicPeriod"/>
            </a:pPr>
            <a:r>
              <a:rPr lang="en-US" altLang="zh-CN" sz="1600" b="0"/>
              <a:t>           }</a:t>
            </a:r>
          </a:p>
          <a:p>
            <a:pPr marL="914400" lvl="1" indent="-457200" eaLnBrk="1" hangingPunct="1">
              <a:lnSpc>
                <a:spcPct val="80000"/>
              </a:lnSpc>
              <a:buFont typeface="Wingdings" pitchFamily="2" charset="2"/>
              <a:buAutoNum type="arabicPeriod"/>
            </a:pPr>
            <a:r>
              <a:rPr lang="en-US" altLang="zh-CN" sz="1600" b="0"/>
              <a:t>           </a:t>
            </a:r>
            <a:r>
              <a:rPr lang="zh-CN" altLang="en-US" sz="1600" b="0"/>
              <a:t>计算日期是该年中的第几天</a:t>
            </a:r>
            <a:r>
              <a:rPr lang="en-US" altLang="zh-CN" sz="1600" b="0"/>
              <a:t>;</a:t>
            </a:r>
          </a:p>
          <a:p>
            <a:pPr marL="914400" lvl="1" indent="-457200" eaLnBrk="1" hangingPunct="1">
              <a:lnSpc>
                <a:spcPct val="80000"/>
              </a:lnSpc>
              <a:buFont typeface="Wingdings" pitchFamily="2" charset="2"/>
              <a:buAutoNum type="arabicPeriod"/>
            </a:pPr>
            <a:r>
              <a:rPr lang="en-US" altLang="zh-CN" sz="1600" b="0"/>
              <a:t>           </a:t>
            </a:r>
            <a:r>
              <a:rPr lang="zh-CN" altLang="en-US" sz="1600" b="0"/>
              <a:t>输出结果</a:t>
            </a:r>
            <a:r>
              <a:rPr lang="en-US" altLang="zh-CN" sz="1600" b="0"/>
              <a:t>;</a:t>
            </a:r>
          </a:p>
          <a:p>
            <a:pPr marL="914400" lvl="1" indent="-457200" eaLnBrk="1" hangingPunct="1">
              <a:lnSpc>
                <a:spcPct val="80000"/>
              </a:lnSpc>
              <a:buFont typeface="Wingdings" pitchFamily="2" charset="2"/>
              <a:buAutoNum type="arabicPeriod"/>
            </a:pPr>
            <a:r>
              <a:rPr lang="en-US" altLang="zh-CN" sz="1600" b="0"/>
              <a:t>           </a:t>
            </a:r>
            <a:r>
              <a:rPr lang="zh-CN" altLang="en-US" sz="1600" b="0"/>
              <a:t>输出是否继续的提示</a:t>
            </a:r>
            <a:r>
              <a:rPr lang="en-US" altLang="zh-CN" sz="1600" b="0"/>
              <a:t>;</a:t>
            </a:r>
          </a:p>
          <a:p>
            <a:pPr marL="914400" lvl="1" indent="-457200" eaLnBrk="1" hangingPunct="1">
              <a:lnSpc>
                <a:spcPct val="80000"/>
              </a:lnSpc>
              <a:buFont typeface="Wingdings" pitchFamily="2" charset="2"/>
              <a:buAutoNum type="arabicPeriod"/>
            </a:pPr>
            <a:r>
              <a:rPr lang="en-US" altLang="zh-CN" sz="1600" b="0"/>
              <a:t>           </a:t>
            </a:r>
            <a:r>
              <a:rPr lang="zh-CN" altLang="en-US" sz="1600" b="0"/>
              <a:t>输入用户回答</a:t>
            </a:r>
            <a:r>
              <a:rPr lang="en-US" altLang="zh-CN" sz="1600" b="0"/>
              <a:t>;</a:t>
            </a:r>
          </a:p>
          <a:p>
            <a:pPr marL="914400" lvl="1" indent="-457200" eaLnBrk="1" hangingPunct="1">
              <a:lnSpc>
                <a:spcPct val="80000"/>
              </a:lnSpc>
              <a:buFont typeface="Wingdings" pitchFamily="2" charset="2"/>
              <a:buAutoNum type="arabicPeriod"/>
            </a:pPr>
            <a:r>
              <a:rPr lang="en-US" altLang="zh-CN" sz="1600" b="0"/>
              <a:t>           if  (! </a:t>
            </a:r>
            <a:r>
              <a:rPr lang="zh-CN" altLang="en-US" sz="1600" b="0"/>
              <a:t>继续 </a:t>
            </a:r>
            <a:r>
              <a:rPr lang="en-US" altLang="zh-CN" sz="1600" b="0"/>
              <a:t>) break;      </a:t>
            </a:r>
            <a:r>
              <a:rPr lang="en-US" altLang="zh-CN" sz="1600" b="0">
                <a:solidFill>
                  <a:schemeClr val="folHlink"/>
                </a:solidFill>
              </a:rPr>
              <a:t>//</a:t>
            </a:r>
            <a:r>
              <a:rPr lang="zh-CN" altLang="en-US" sz="1600" b="0">
                <a:solidFill>
                  <a:schemeClr val="folHlink"/>
                </a:solidFill>
              </a:rPr>
              <a:t>结束程序</a:t>
            </a:r>
          </a:p>
          <a:p>
            <a:pPr marL="914400" lvl="1" indent="-457200" eaLnBrk="1" hangingPunct="1">
              <a:lnSpc>
                <a:spcPct val="80000"/>
              </a:lnSpc>
              <a:buFont typeface="Wingdings" pitchFamily="2" charset="2"/>
              <a:buAutoNum type="arabicPeriod"/>
            </a:pPr>
            <a:r>
              <a:rPr lang="zh-CN" altLang="en-US" sz="1600" b="0"/>
              <a:t>    </a:t>
            </a:r>
            <a:r>
              <a:rPr lang="en-US" altLang="zh-CN" sz="1600" b="0"/>
              <a:t>}</a:t>
            </a:r>
          </a:p>
          <a:p>
            <a:pPr marL="914400" lvl="1" indent="-457200" eaLnBrk="1" hangingPunct="1">
              <a:lnSpc>
                <a:spcPct val="80000"/>
              </a:lnSpc>
              <a:buFont typeface="Wingdings" pitchFamily="2" charset="2"/>
              <a:buAutoNum type="arabicPeriod"/>
            </a:pPr>
            <a:r>
              <a:rPr lang="en-US" altLang="zh-CN" sz="1600" b="0"/>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CF4C14D7-FF2B-2078-2C3E-BA3B64553912}"/>
              </a:ext>
            </a:extLst>
          </p:cNvPr>
          <p:cNvSpPr>
            <a:spLocks noGrp="1" noChangeArrowheads="1"/>
          </p:cNvSpPr>
          <p:nvPr>
            <p:ph type="title"/>
          </p:nvPr>
        </p:nvSpPr>
        <p:spPr/>
        <p:txBody>
          <a:bodyPr/>
          <a:lstStyle/>
          <a:p>
            <a:pPr eaLnBrk="1" hangingPunct="1"/>
            <a:r>
              <a:rPr lang="zh-CN" altLang="en-US"/>
              <a:t>例</a:t>
            </a:r>
            <a:r>
              <a:rPr lang="en-US" altLang="zh-CN"/>
              <a:t>7.3  </a:t>
            </a:r>
            <a:r>
              <a:rPr lang="zh-CN" altLang="en-US"/>
              <a:t>主要数据结构和函数</a:t>
            </a:r>
          </a:p>
        </p:txBody>
      </p:sp>
      <p:sp>
        <p:nvSpPr>
          <p:cNvPr id="79875" name="Rectangle 3">
            <a:extLst>
              <a:ext uri="{FF2B5EF4-FFF2-40B4-BE49-F238E27FC236}">
                <a16:creationId xmlns:a16="http://schemas.microsoft.com/office/drawing/2014/main" id="{E5EB4EAA-FC67-C552-D955-27DC49C7BF03}"/>
              </a:ext>
            </a:extLst>
          </p:cNvPr>
          <p:cNvSpPr>
            <a:spLocks noGrp="1" noChangeArrowheads="1"/>
          </p:cNvSpPr>
          <p:nvPr>
            <p:ph type="body" idx="1"/>
          </p:nvPr>
        </p:nvSpPr>
        <p:spPr>
          <a:xfrm>
            <a:off x="827088" y="1916831"/>
            <a:ext cx="7705352" cy="4215681"/>
          </a:xfrm>
        </p:spPr>
        <p:txBody>
          <a:bodyPr/>
          <a:lstStyle/>
          <a:p>
            <a:pPr eaLnBrk="1" hangingPunct="1">
              <a:lnSpc>
                <a:spcPct val="150000"/>
              </a:lnSpc>
            </a:pPr>
            <a:r>
              <a:rPr lang="zh-CN" altLang="en-US" sz="1800" b="0"/>
              <a:t>数据结构</a:t>
            </a:r>
          </a:p>
          <a:p>
            <a:pPr lvl="1" eaLnBrk="1" hangingPunct="1">
              <a:lnSpc>
                <a:spcPct val="150000"/>
              </a:lnSpc>
            </a:pPr>
            <a:r>
              <a:rPr lang="zh-CN" altLang="en-US" sz="1600" b="0"/>
              <a:t>（</a:t>
            </a:r>
            <a:r>
              <a:rPr lang="en-US" altLang="zh-CN" sz="1600" b="0"/>
              <a:t>1</a:t>
            </a:r>
            <a:r>
              <a:rPr lang="zh-CN" altLang="en-US" sz="1600" b="0"/>
              <a:t>）日期结构变量</a:t>
            </a:r>
          </a:p>
          <a:p>
            <a:pPr lvl="2" eaLnBrk="1" hangingPunct="1">
              <a:lnSpc>
                <a:spcPct val="150000"/>
              </a:lnSpc>
            </a:pPr>
            <a:r>
              <a:rPr lang="zh-CN" altLang="en-US" sz="1400" b="0"/>
              <a:t>设日期结构包含有日、月、年、年中的天和月份名称字符串的首字符指针等成分。</a:t>
            </a:r>
          </a:p>
          <a:p>
            <a:pPr lvl="1" eaLnBrk="1" hangingPunct="1">
              <a:lnSpc>
                <a:spcPct val="150000"/>
              </a:lnSpc>
            </a:pPr>
            <a:r>
              <a:rPr lang="zh-CN" altLang="en-US" sz="1600" b="0"/>
              <a:t>（</a:t>
            </a:r>
            <a:r>
              <a:rPr lang="en-US" altLang="zh-CN" sz="1600" b="0"/>
              <a:t>2</a:t>
            </a:r>
            <a:r>
              <a:rPr lang="zh-CN" altLang="en-US" sz="1600" b="0"/>
              <a:t>）月份天数表</a:t>
            </a:r>
          </a:p>
          <a:p>
            <a:pPr lvl="2" eaLnBrk="1" hangingPunct="1">
              <a:lnSpc>
                <a:spcPct val="150000"/>
              </a:lnSpc>
            </a:pPr>
            <a:r>
              <a:rPr lang="zh-CN" altLang="en-US" sz="1400" b="0">
                <a:solidFill>
                  <a:srgbClr val="0070C0"/>
                </a:solidFill>
              </a:rPr>
              <a:t>因月份天数有闰年和平年之分</a:t>
            </a:r>
            <a:r>
              <a:rPr lang="zh-CN" altLang="en-US" sz="1400" b="0"/>
              <a:t>，将该数组设计成一个二维数组，其中第</a:t>
            </a:r>
            <a:r>
              <a:rPr lang="en-US" altLang="zh-CN" sz="1400" b="0"/>
              <a:t>1</a:t>
            </a:r>
            <a:r>
              <a:rPr lang="zh-CN" altLang="en-US" sz="1400" b="0"/>
              <a:t>行存储“平年”各月份的天数；第</a:t>
            </a:r>
            <a:r>
              <a:rPr lang="en-US" altLang="zh-CN" sz="1400" b="0"/>
              <a:t>2</a:t>
            </a:r>
            <a:r>
              <a:rPr lang="zh-CN" altLang="en-US" sz="1400" b="0"/>
              <a:t>行存储“闰年”各月份的天数。在定义时初始化。</a:t>
            </a:r>
          </a:p>
          <a:p>
            <a:pPr eaLnBrk="1" hangingPunct="1">
              <a:lnSpc>
                <a:spcPct val="150000"/>
              </a:lnSpc>
            </a:pPr>
            <a:r>
              <a:rPr lang="zh-CN" altLang="en-US" sz="1800" b="0"/>
              <a:t>将有关功能独立的程序段用函数来实现</a:t>
            </a:r>
          </a:p>
          <a:p>
            <a:pPr lvl="1" eaLnBrk="1" hangingPunct="1">
              <a:lnSpc>
                <a:spcPct val="150000"/>
              </a:lnSpc>
            </a:pPr>
            <a:r>
              <a:rPr lang="en-US" altLang="zh-CN" sz="1800" b="0"/>
              <a:t>int dayofYear(int d, int m, int y)</a:t>
            </a:r>
          </a:p>
          <a:p>
            <a:pPr lvl="2" eaLnBrk="1" hangingPunct="1">
              <a:lnSpc>
                <a:spcPct val="150000"/>
              </a:lnSpc>
            </a:pPr>
            <a:r>
              <a:rPr lang="zh-CN" altLang="en-US" sz="1600" b="0"/>
              <a:t>计算</a:t>
            </a:r>
            <a:r>
              <a:rPr lang="en-US" altLang="zh-CN" sz="1600" b="0"/>
              <a:t>m</a:t>
            </a:r>
            <a:r>
              <a:rPr lang="zh-CN" altLang="en-US" sz="1600" b="0"/>
              <a:t>月</a:t>
            </a:r>
            <a:r>
              <a:rPr lang="en-US" altLang="zh-CN" sz="1600" b="0"/>
              <a:t>d</a:t>
            </a:r>
            <a:r>
              <a:rPr lang="zh-CN" altLang="en-US" sz="1600" b="0"/>
              <a:t>日是</a:t>
            </a:r>
            <a:r>
              <a:rPr lang="en-US" altLang="zh-CN" sz="1600" b="0"/>
              <a:t>y</a:t>
            </a:r>
            <a:r>
              <a:rPr lang="zh-CN" altLang="en-US" sz="1600" b="0"/>
              <a:t>年中第几天</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032E8CDD-BC95-9634-AB58-E99CB3B6570C}"/>
              </a:ext>
            </a:extLst>
          </p:cNvPr>
          <p:cNvSpPr>
            <a:spLocks noGrp="1" noChangeArrowheads="1"/>
          </p:cNvSpPr>
          <p:nvPr>
            <p:ph type="title"/>
          </p:nvPr>
        </p:nvSpPr>
        <p:spPr/>
        <p:txBody>
          <a:bodyPr/>
          <a:lstStyle/>
          <a:p>
            <a:pPr eaLnBrk="1" hangingPunct="1"/>
            <a:r>
              <a:rPr lang="zh-CN" altLang="en-US"/>
              <a:t>例</a:t>
            </a:r>
            <a:r>
              <a:rPr lang="en-US" altLang="zh-CN"/>
              <a:t>7.3  </a:t>
            </a:r>
            <a:r>
              <a:rPr lang="zh-CN" altLang="en-US"/>
              <a:t>完整程序</a:t>
            </a:r>
          </a:p>
        </p:txBody>
      </p:sp>
      <p:sp>
        <p:nvSpPr>
          <p:cNvPr id="81923" name="Rectangle 3">
            <a:extLst>
              <a:ext uri="{FF2B5EF4-FFF2-40B4-BE49-F238E27FC236}">
                <a16:creationId xmlns:a16="http://schemas.microsoft.com/office/drawing/2014/main" id="{5259ECC1-6B3C-061D-155C-0F31EE956196}"/>
              </a:ext>
            </a:extLst>
          </p:cNvPr>
          <p:cNvSpPr>
            <a:spLocks noGrp="1" noChangeArrowheads="1"/>
          </p:cNvSpPr>
          <p:nvPr>
            <p:ph type="body" idx="1"/>
          </p:nvPr>
        </p:nvSpPr>
        <p:spPr>
          <a:xfrm>
            <a:off x="395536" y="1772815"/>
            <a:ext cx="8748464" cy="4143797"/>
          </a:xfrm>
        </p:spPr>
        <p:txBody>
          <a:bodyPr/>
          <a:lstStyle/>
          <a:p>
            <a:pPr marL="533400" indent="-533400" eaLnBrk="1" hangingPunct="1">
              <a:lnSpc>
                <a:spcPct val="80000"/>
              </a:lnSpc>
              <a:buFont typeface="Wingdings" pitchFamily="2" charset="2"/>
              <a:buAutoNum type="arabicPeriod"/>
            </a:pPr>
            <a:r>
              <a:rPr lang="en-US" altLang="zh-CN" sz="2000" b="0"/>
              <a:t>#include  &lt;stdio.h&gt;</a:t>
            </a:r>
          </a:p>
          <a:p>
            <a:pPr marL="533400" indent="-533400" eaLnBrk="1" hangingPunct="1">
              <a:lnSpc>
                <a:spcPct val="80000"/>
              </a:lnSpc>
              <a:buFont typeface="Wingdings" pitchFamily="2" charset="2"/>
              <a:buAutoNum type="arabicPeriod"/>
            </a:pPr>
            <a:r>
              <a:rPr lang="en-US" altLang="zh-CN" sz="2000" b="0"/>
              <a:t>int dayTbl[][12]={{31, 28, 31, 30, 31, 30, 31, 31, 30, 31, 30, 31},</a:t>
            </a:r>
          </a:p>
          <a:p>
            <a:pPr marL="533400" indent="-533400" eaLnBrk="1" hangingPunct="1">
              <a:lnSpc>
                <a:spcPct val="80000"/>
              </a:lnSpc>
              <a:buFont typeface="Wingdings" pitchFamily="2" charset="2"/>
              <a:buAutoNum type="arabicPeriod"/>
            </a:pPr>
            <a:r>
              <a:rPr lang="en-US" altLang="zh-CN" sz="2000" b="0"/>
              <a:t>                          {31, 29, 31, 30, 31, 30, 31, 31, 30, 31, 30, 31}};</a:t>
            </a:r>
          </a:p>
          <a:p>
            <a:pPr marL="533400" indent="-533400" eaLnBrk="1" hangingPunct="1">
              <a:lnSpc>
                <a:spcPct val="80000"/>
              </a:lnSpc>
              <a:buFont typeface="Wingdings" pitchFamily="2" charset="2"/>
              <a:buAutoNum type="arabicPeriod"/>
            </a:pPr>
            <a:r>
              <a:rPr lang="en-US" altLang="zh-CN" sz="2000" b="0"/>
              <a:t>struct Date {</a:t>
            </a:r>
          </a:p>
          <a:p>
            <a:pPr marL="533400" indent="-533400" eaLnBrk="1" hangingPunct="1">
              <a:lnSpc>
                <a:spcPct val="80000"/>
              </a:lnSpc>
              <a:buFont typeface="Wingdings" pitchFamily="2" charset="2"/>
              <a:buAutoNum type="arabicPeriod"/>
            </a:pPr>
            <a:r>
              <a:rPr lang="en-US" altLang="zh-CN" sz="2000" b="0"/>
              <a:t>       int  day;</a:t>
            </a:r>
          </a:p>
          <a:p>
            <a:pPr marL="533400" indent="-533400" eaLnBrk="1" hangingPunct="1">
              <a:lnSpc>
                <a:spcPct val="80000"/>
              </a:lnSpc>
              <a:buFont typeface="Wingdings" pitchFamily="2" charset="2"/>
              <a:buAutoNum type="arabicPeriod"/>
            </a:pPr>
            <a:r>
              <a:rPr lang="en-US" altLang="zh-CN" sz="2000" b="0"/>
              <a:t>       int  month; </a:t>
            </a:r>
          </a:p>
          <a:p>
            <a:pPr marL="533400" indent="-533400" eaLnBrk="1" hangingPunct="1">
              <a:lnSpc>
                <a:spcPct val="80000"/>
              </a:lnSpc>
              <a:buFont typeface="Wingdings" pitchFamily="2" charset="2"/>
              <a:buAutoNum type="arabicPeriod"/>
            </a:pPr>
            <a:r>
              <a:rPr lang="en-US" altLang="zh-CN" sz="2000" b="0"/>
              <a:t>       int  year;</a:t>
            </a:r>
          </a:p>
          <a:p>
            <a:pPr marL="533400" indent="-533400" eaLnBrk="1" hangingPunct="1">
              <a:lnSpc>
                <a:spcPct val="80000"/>
              </a:lnSpc>
              <a:buFont typeface="Wingdings" pitchFamily="2" charset="2"/>
              <a:buAutoNum type="arabicPeriod"/>
            </a:pPr>
            <a:r>
              <a:rPr lang="en-US" altLang="zh-CN" sz="2000" b="0"/>
              <a:t>       int  yearDay;</a:t>
            </a:r>
          </a:p>
          <a:p>
            <a:pPr marL="533400" indent="-533400" eaLnBrk="1" hangingPunct="1">
              <a:lnSpc>
                <a:spcPct val="80000"/>
              </a:lnSpc>
              <a:buFont typeface="Wingdings" pitchFamily="2" charset="2"/>
              <a:buAutoNum type="arabicPeriod"/>
            </a:pPr>
            <a:r>
              <a:rPr lang="en-US" altLang="zh-CN" sz="2000" b="0"/>
              <a:t>} date;</a:t>
            </a:r>
          </a:p>
          <a:p>
            <a:pPr marL="533400" indent="-533400" eaLnBrk="1" hangingPunct="1">
              <a:lnSpc>
                <a:spcPct val="80000"/>
              </a:lnSpc>
              <a:buFont typeface="Wingdings" pitchFamily="2" charset="2"/>
              <a:buAutoNum type="arabicPeriod"/>
            </a:pPr>
            <a:r>
              <a:rPr lang="en-US" altLang="zh-CN" sz="2000" b="0"/>
              <a:t>int dayofYear(int d, int m, int y){  </a:t>
            </a:r>
            <a:r>
              <a:rPr lang="en-US" altLang="zh-CN" sz="2000" b="0">
                <a:solidFill>
                  <a:srgbClr val="00B050"/>
                </a:solidFill>
              </a:rPr>
              <a:t>//</a:t>
            </a:r>
            <a:r>
              <a:rPr lang="zh-CN" altLang="en-US" sz="2000" b="0">
                <a:solidFill>
                  <a:srgbClr val="00B050"/>
                </a:solidFill>
              </a:rPr>
              <a:t>计算年中第几天</a:t>
            </a:r>
          </a:p>
          <a:p>
            <a:pPr marL="533400" indent="-533400" eaLnBrk="1" hangingPunct="1">
              <a:lnSpc>
                <a:spcPct val="80000"/>
              </a:lnSpc>
              <a:buFont typeface="Wingdings" pitchFamily="2" charset="2"/>
              <a:buAutoNum type="arabicPeriod"/>
            </a:pPr>
            <a:r>
              <a:rPr lang="zh-CN" altLang="en-US" sz="2000" b="0"/>
              <a:t>      </a:t>
            </a:r>
            <a:r>
              <a:rPr lang="en-US" altLang="zh-CN" sz="2000" b="0"/>
              <a:t>int  i, leap, day = d;</a:t>
            </a:r>
          </a:p>
          <a:p>
            <a:pPr marL="533400" indent="-533400" eaLnBrk="1" hangingPunct="1">
              <a:lnSpc>
                <a:spcPct val="80000"/>
              </a:lnSpc>
              <a:buFont typeface="Wingdings" pitchFamily="2" charset="2"/>
              <a:buAutoNum type="arabicPeriod"/>
            </a:pPr>
            <a:r>
              <a:rPr lang="en-US" altLang="zh-CN" sz="2000" b="0"/>
              <a:t>      </a:t>
            </a:r>
            <a:r>
              <a:rPr lang="en-US" altLang="zh-CN" sz="2000" b="0">
                <a:solidFill>
                  <a:srgbClr val="C00000"/>
                </a:solidFill>
              </a:rPr>
              <a:t>leap</a:t>
            </a:r>
            <a:r>
              <a:rPr lang="en-US" altLang="zh-CN" sz="2000" b="0"/>
              <a:t> = ( (y%4 == 0 &amp;&amp; y%100) || (y%400 == 0) );</a:t>
            </a:r>
          </a:p>
          <a:p>
            <a:pPr marL="533400" indent="-533400" eaLnBrk="1" hangingPunct="1">
              <a:lnSpc>
                <a:spcPct val="80000"/>
              </a:lnSpc>
              <a:buFont typeface="Wingdings" pitchFamily="2" charset="2"/>
              <a:buAutoNum type="arabicPeriod"/>
            </a:pPr>
            <a:r>
              <a:rPr lang="en-US" altLang="zh-CN" sz="2000" b="0"/>
              <a:t>      for (i = 0; i &lt; m-1; i++)</a:t>
            </a:r>
          </a:p>
          <a:p>
            <a:pPr marL="533400" indent="-533400" eaLnBrk="1" hangingPunct="1">
              <a:lnSpc>
                <a:spcPct val="80000"/>
              </a:lnSpc>
              <a:buFont typeface="Wingdings" pitchFamily="2" charset="2"/>
              <a:buAutoNum type="arabicPeriod"/>
            </a:pPr>
            <a:r>
              <a:rPr lang="en-US" altLang="zh-CN" sz="2000" b="0"/>
              <a:t>           day += dayTbl[</a:t>
            </a:r>
            <a:r>
              <a:rPr lang="en-US" altLang="zh-CN" sz="2000" b="0">
                <a:solidFill>
                  <a:srgbClr val="C00000"/>
                </a:solidFill>
              </a:rPr>
              <a:t>leap</a:t>
            </a:r>
            <a:r>
              <a:rPr lang="en-US" altLang="zh-CN" sz="2000" b="0"/>
              <a:t>][i];</a:t>
            </a:r>
          </a:p>
          <a:p>
            <a:pPr marL="533400" indent="-533400" eaLnBrk="1" hangingPunct="1">
              <a:lnSpc>
                <a:spcPct val="80000"/>
              </a:lnSpc>
              <a:buFont typeface="Wingdings" pitchFamily="2" charset="2"/>
              <a:buAutoNum type="arabicPeriod"/>
            </a:pPr>
            <a:r>
              <a:rPr lang="en-US" altLang="zh-CN" sz="2000" b="0"/>
              <a:t>      return day;</a:t>
            </a:r>
          </a:p>
          <a:p>
            <a:pPr marL="533400" indent="-533400" eaLnBrk="1" hangingPunct="1">
              <a:lnSpc>
                <a:spcPct val="80000"/>
              </a:lnSpc>
              <a:buFont typeface="Wingdings" pitchFamily="2" charset="2"/>
              <a:buAutoNum type="arabicPeriod"/>
            </a:pPr>
            <a:r>
              <a:rPr lang="en-US" altLang="zh-CN" sz="2000" b="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B9A05B84-3CBC-4E64-B425-9C57580E5E5F}"/>
              </a:ext>
            </a:extLst>
          </p:cNvPr>
          <p:cNvSpPr>
            <a:spLocks noGrp="1" noChangeArrowheads="1"/>
          </p:cNvSpPr>
          <p:nvPr>
            <p:ph type="title"/>
          </p:nvPr>
        </p:nvSpPr>
        <p:spPr/>
        <p:txBody>
          <a:bodyPr/>
          <a:lstStyle/>
          <a:p>
            <a:pPr eaLnBrk="1" hangingPunct="1"/>
            <a:r>
              <a:rPr lang="zh-CN" altLang="en-US"/>
              <a:t>例</a:t>
            </a:r>
            <a:r>
              <a:rPr lang="en-US" altLang="zh-CN"/>
              <a:t>7.3  </a:t>
            </a:r>
            <a:r>
              <a:rPr lang="zh-CN" altLang="en-US"/>
              <a:t>完整程序</a:t>
            </a:r>
            <a:r>
              <a:rPr lang="en-US" altLang="zh-CN"/>
              <a:t>(</a:t>
            </a:r>
            <a:r>
              <a:rPr lang="zh-CN" altLang="en-US"/>
              <a:t>续*</a:t>
            </a:r>
            <a:r>
              <a:rPr lang="en-US" altLang="zh-CN"/>
              <a:t>)</a:t>
            </a:r>
          </a:p>
        </p:txBody>
      </p:sp>
      <p:sp>
        <p:nvSpPr>
          <p:cNvPr id="83971" name="Rectangle 3">
            <a:extLst>
              <a:ext uri="{FF2B5EF4-FFF2-40B4-BE49-F238E27FC236}">
                <a16:creationId xmlns:a16="http://schemas.microsoft.com/office/drawing/2014/main" id="{D4F84D6C-D6DB-89B9-1B00-D99F108DEF60}"/>
              </a:ext>
            </a:extLst>
          </p:cNvPr>
          <p:cNvSpPr>
            <a:spLocks noGrp="1" noChangeArrowheads="1"/>
          </p:cNvSpPr>
          <p:nvPr>
            <p:ph type="body" idx="1"/>
          </p:nvPr>
        </p:nvSpPr>
        <p:spPr/>
        <p:txBody>
          <a:bodyPr/>
          <a:lstStyle/>
          <a:p>
            <a:pPr marL="533400" indent="-533400" eaLnBrk="1" hangingPunct="1">
              <a:lnSpc>
                <a:spcPct val="80000"/>
              </a:lnSpc>
              <a:buFont typeface="Wingdings" pitchFamily="2" charset="2"/>
              <a:buAutoNum type="arabicPeriod"/>
            </a:pPr>
            <a:r>
              <a:rPr lang="en-US" altLang="zh-CN" sz="2000" b="0"/>
              <a:t>void main(){</a:t>
            </a:r>
          </a:p>
          <a:p>
            <a:pPr marL="533400" indent="-533400" eaLnBrk="1" hangingPunct="1">
              <a:lnSpc>
                <a:spcPct val="80000"/>
              </a:lnSpc>
              <a:buFont typeface="Wingdings" pitchFamily="2" charset="2"/>
              <a:buAutoNum type="arabicPeriod"/>
            </a:pPr>
            <a:r>
              <a:rPr lang="en-US" altLang="zh-CN" sz="2000" b="0"/>
              <a:t>   int leap, days;</a:t>
            </a:r>
          </a:p>
          <a:p>
            <a:pPr marL="533400" indent="-533400" eaLnBrk="1" hangingPunct="1">
              <a:lnSpc>
                <a:spcPct val="80000"/>
              </a:lnSpc>
              <a:buFont typeface="Wingdings" pitchFamily="2" charset="2"/>
              <a:buAutoNum type="arabicPeriod"/>
            </a:pPr>
            <a:r>
              <a:rPr lang="en-US" altLang="zh-CN" sz="2000" b="0"/>
              <a:t>   char ans;</a:t>
            </a:r>
          </a:p>
          <a:p>
            <a:pPr marL="533400" indent="-533400" eaLnBrk="1" hangingPunct="1">
              <a:lnSpc>
                <a:spcPct val="80000"/>
              </a:lnSpc>
              <a:buFont typeface="Wingdings" pitchFamily="2" charset="2"/>
              <a:buAutoNum type="arabicPeriod"/>
            </a:pPr>
            <a:r>
              <a:rPr lang="en-US" altLang="zh-CN" sz="2000" b="0"/>
              <a:t>   printf("\n\t\tDate Conversion Program\n");</a:t>
            </a:r>
          </a:p>
          <a:p>
            <a:pPr marL="533400" indent="-533400" eaLnBrk="1" hangingPunct="1">
              <a:lnSpc>
                <a:spcPct val="80000"/>
              </a:lnSpc>
              <a:buFont typeface="Wingdings" pitchFamily="2" charset="2"/>
              <a:buAutoNum type="arabicPeriod"/>
            </a:pPr>
            <a:endParaRPr lang="en-US" altLang="zh-CN" sz="2000" b="0"/>
          </a:p>
          <a:p>
            <a:pPr marL="533400" indent="-533400" eaLnBrk="1" hangingPunct="1">
              <a:lnSpc>
                <a:spcPct val="80000"/>
              </a:lnSpc>
              <a:buFont typeface="Wingdings" pitchFamily="2" charset="2"/>
              <a:buAutoNum type="arabicPeriod"/>
            </a:pPr>
            <a:r>
              <a:rPr lang="en-US" altLang="zh-CN" sz="2000" b="0"/>
              <a:t>   while(1) {</a:t>
            </a:r>
          </a:p>
          <a:p>
            <a:pPr marL="533400" indent="-533400" eaLnBrk="1" hangingPunct="1">
              <a:lnSpc>
                <a:spcPct val="80000"/>
              </a:lnSpc>
              <a:buFont typeface="Wingdings" pitchFamily="2" charset="2"/>
              <a:buAutoNum type="arabicPeriod"/>
            </a:pPr>
            <a:r>
              <a:rPr lang="en-US" altLang="zh-CN" sz="2000" b="0"/>
              <a:t>         printf("Year = ");  </a:t>
            </a:r>
          </a:p>
          <a:p>
            <a:pPr marL="533400" indent="-533400" eaLnBrk="1" hangingPunct="1">
              <a:lnSpc>
                <a:spcPct val="80000"/>
              </a:lnSpc>
              <a:buFont typeface="Wingdings" pitchFamily="2" charset="2"/>
              <a:buAutoNum type="arabicPeriod"/>
            </a:pPr>
            <a:r>
              <a:rPr lang="en-US" altLang="zh-CN" sz="2000" b="0"/>
              <a:t>         scanf("%d", &amp;date.year);</a:t>
            </a:r>
          </a:p>
          <a:p>
            <a:pPr marL="533400" indent="-533400" eaLnBrk="1" hangingPunct="1">
              <a:lnSpc>
                <a:spcPct val="80000"/>
              </a:lnSpc>
              <a:buFont typeface="Wingdings" pitchFamily="2" charset="2"/>
              <a:buAutoNum type="arabicPeriod"/>
            </a:pPr>
            <a:r>
              <a:rPr lang="en-US" altLang="zh-CN" sz="2000" b="0"/>
              <a:t>         while(1) {  </a:t>
            </a:r>
            <a:r>
              <a:rPr lang="en-US" altLang="zh-CN" sz="2000" b="0">
                <a:solidFill>
                  <a:srgbClr val="00B050"/>
                </a:solidFill>
              </a:rPr>
              <a:t>//</a:t>
            </a:r>
            <a:r>
              <a:rPr lang="zh-CN" altLang="en-US" sz="2000" b="0">
                <a:solidFill>
                  <a:srgbClr val="00B050"/>
                </a:solidFill>
              </a:rPr>
              <a:t>输入月份</a:t>
            </a:r>
          </a:p>
          <a:p>
            <a:pPr marL="533400" indent="-533400" eaLnBrk="1" hangingPunct="1">
              <a:lnSpc>
                <a:spcPct val="80000"/>
              </a:lnSpc>
              <a:buFont typeface="Wingdings" pitchFamily="2" charset="2"/>
              <a:buAutoNum type="arabicPeriod"/>
            </a:pPr>
            <a:r>
              <a:rPr lang="zh-CN" altLang="en-US" sz="2000" b="0"/>
              <a:t>            </a:t>
            </a:r>
            <a:r>
              <a:rPr lang="en-US" altLang="zh-CN" sz="2000" b="0"/>
              <a:t>printf("Month = ");  scanf("%d", &amp;date.month);</a:t>
            </a:r>
          </a:p>
          <a:p>
            <a:pPr marL="533400" indent="-533400" eaLnBrk="1" hangingPunct="1">
              <a:lnSpc>
                <a:spcPct val="80000"/>
              </a:lnSpc>
              <a:buFont typeface="Wingdings" pitchFamily="2" charset="2"/>
              <a:buAutoNum type="arabicPeriod"/>
            </a:pPr>
            <a:r>
              <a:rPr lang="en-US" altLang="zh-CN" sz="2000" b="0"/>
              <a:t>            if (date.month &gt;= 1 &amp;&amp; date.month &lt;= 12) </a:t>
            </a:r>
            <a:r>
              <a:rPr lang="en-US" altLang="zh-CN" sz="2000" b="0">
                <a:solidFill>
                  <a:srgbClr val="C00000"/>
                </a:solidFill>
              </a:rPr>
              <a:t>break;</a:t>
            </a:r>
            <a:r>
              <a:rPr lang="en-US" altLang="zh-CN" sz="2000" b="0"/>
              <a:t> </a:t>
            </a:r>
          </a:p>
          <a:p>
            <a:pPr marL="533400" indent="-533400" eaLnBrk="1" hangingPunct="1">
              <a:lnSpc>
                <a:spcPct val="80000"/>
              </a:lnSpc>
              <a:buFont typeface="Wingdings" pitchFamily="2" charset="2"/>
              <a:buAutoNum type="arabicPeriod"/>
            </a:pPr>
            <a:r>
              <a:rPr lang="en-US" altLang="zh-CN" sz="2000" b="0"/>
              <a:t>            printf("\tMonth must be between 1 to 12.\n");</a:t>
            </a:r>
          </a:p>
          <a:p>
            <a:pPr marL="533400" indent="-533400" eaLnBrk="1" hangingPunct="1">
              <a:lnSpc>
                <a:spcPct val="80000"/>
              </a:lnSpc>
              <a:buFont typeface="Wingdings" pitchFamily="2" charset="2"/>
              <a:buAutoNum type="arabicPeriod"/>
            </a:pPr>
            <a:r>
              <a:rPr lang="en-US" altLang="zh-CN" sz="2000" b="0"/>
              <a:t>        }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BD18E600-3718-DA8E-BA91-D86FDFE1A38F}"/>
              </a:ext>
            </a:extLst>
          </p:cNvPr>
          <p:cNvSpPr>
            <a:spLocks noGrp="1" noChangeArrowheads="1"/>
          </p:cNvSpPr>
          <p:nvPr>
            <p:ph type="title"/>
          </p:nvPr>
        </p:nvSpPr>
        <p:spPr/>
        <p:txBody>
          <a:bodyPr/>
          <a:lstStyle/>
          <a:p>
            <a:pPr eaLnBrk="1" hangingPunct="1"/>
            <a:r>
              <a:rPr lang="zh-CN" altLang="en-US"/>
              <a:t>例</a:t>
            </a:r>
            <a:r>
              <a:rPr lang="en-US" altLang="zh-CN"/>
              <a:t>7.3  </a:t>
            </a:r>
            <a:r>
              <a:rPr lang="zh-CN" altLang="en-US"/>
              <a:t>完整程序</a:t>
            </a:r>
            <a:r>
              <a:rPr lang="en-US" altLang="zh-CN"/>
              <a:t>(</a:t>
            </a:r>
            <a:r>
              <a:rPr lang="zh-CN" altLang="en-US"/>
              <a:t>续*</a:t>
            </a:r>
            <a:r>
              <a:rPr lang="en-US" altLang="zh-CN"/>
              <a:t>)</a:t>
            </a:r>
          </a:p>
        </p:txBody>
      </p:sp>
      <p:sp>
        <p:nvSpPr>
          <p:cNvPr id="86019" name="Rectangle 3">
            <a:extLst>
              <a:ext uri="{FF2B5EF4-FFF2-40B4-BE49-F238E27FC236}">
                <a16:creationId xmlns:a16="http://schemas.microsoft.com/office/drawing/2014/main" id="{1AF1E0EE-B5C2-B599-EAB7-4F97D2CD4B6C}"/>
              </a:ext>
            </a:extLst>
          </p:cNvPr>
          <p:cNvSpPr>
            <a:spLocks noGrp="1" noChangeArrowheads="1"/>
          </p:cNvSpPr>
          <p:nvPr>
            <p:ph type="body" idx="1"/>
          </p:nvPr>
        </p:nvSpPr>
        <p:spPr>
          <a:xfrm>
            <a:off x="0" y="1628774"/>
            <a:ext cx="9144000" cy="5112593"/>
          </a:xfrm>
        </p:spPr>
        <p:txBody>
          <a:bodyPr/>
          <a:lstStyle/>
          <a:p>
            <a:pPr marL="609600" indent="-609600" eaLnBrk="1" hangingPunct="1">
              <a:lnSpc>
                <a:spcPct val="80000"/>
              </a:lnSpc>
              <a:buFont typeface="Wingdings" pitchFamily="2" charset="2"/>
              <a:buAutoNum type="arabicPeriod" startAt="13"/>
            </a:pPr>
            <a:r>
              <a:rPr lang="en-US" altLang="zh-CN" sz="1800" b="0"/>
              <a:t>      </a:t>
            </a:r>
            <a:r>
              <a:rPr lang="en-US" altLang="zh-CN" sz="1800" b="0">
                <a:solidFill>
                  <a:srgbClr val="C00000"/>
                </a:solidFill>
              </a:rPr>
              <a:t>leap</a:t>
            </a:r>
            <a:r>
              <a:rPr lang="en-US" altLang="zh-CN" sz="1800" b="0"/>
              <a:t>=((date.year%4==0&amp;&amp;date.year%100)||(date.year%400==0));</a:t>
            </a:r>
          </a:p>
          <a:p>
            <a:pPr marL="609600" indent="-609600" eaLnBrk="1" hangingPunct="1">
              <a:lnSpc>
                <a:spcPct val="80000"/>
              </a:lnSpc>
              <a:buFont typeface="Wingdings" pitchFamily="2" charset="2"/>
              <a:buAutoNum type="arabicPeriod" startAt="13"/>
            </a:pPr>
            <a:r>
              <a:rPr lang="en-US" altLang="zh-CN" sz="1800" b="0"/>
              <a:t>      days = dayTbl[</a:t>
            </a:r>
            <a:r>
              <a:rPr lang="en-US" altLang="zh-CN" sz="1800" b="0">
                <a:solidFill>
                  <a:srgbClr val="C00000"/>
                </a:solidFill>
              </a:rPr>
              <a:t>leap</a:t>
            </a:r>
            <a:r>
              <a:rPr lang="en-US" altLang="zh-CN" sz="1800" b="0"/>
              <a:t>][date.month-1];</a:t>
            </a:r>
            <a:r>
              <a:rPr lang="zh-CN" altLang="en-US" sz="1800" b="0"/>
              <a:t>  </a:t>
            </a:r>
            <a:r>
              <a:rPr lang="en-US" altLang="zh-CN" sz="1800" b="0">
                <a:solidFill>
                  <a:srgbClr val="00B050"/>
                </a:solidFill>
              </a:rPr>
              <a:t>//</a:t>
            </a:r>
            <a:r>
              <a:rPr lang="zh-CN" altLang="en-US" sz="1800" b="0">
                <a:solidFill>
                  <a:srgbClr val="00B050"/>
                </a:solidFill>
              </a:rPr>
              <a:t>获得输入月份的天数</a:t>
            </a:r>
            <a:endParaRPr lang="en-US" altLang="zh-CN" sz="1800" b="0">
              <a:solidFill>
                <a:srgbClr val="00B050"/>
              </a:solidFill>
            </a:endParaRPr>
          </a:p>
          <a:p>
            <a:pPr marL="609600" indent="-609600" eaLnBrk="1" hangingPunct="1">
              <a:lnSpc>
                <a:spcPct val="80000"/>
              </a:lnSpc>
              <a:buFont typeface="Wingdings" pitchFamily="2" charset="2"/>
              <a:buAutoNum type="arabicPeriod" startAt="13"/>
            </a:pPr>
            <a:r>
              <a:rPr lang="en-US" altLang="zh-CN" sz="1800" b="0"/>
              <a:t>      while(1) {  </a:t>
            </a:r>
            <a:r>
              <a:rPr lang="en-US" altLang="zh-CN" sz="1800" b="0">
                <a:solidFill>
                  <a:srgbClr val="00B050"/>
                </a:solidFill>
              </a:rPr>
              <a:t>//</a:t>
            </a:r>
            <a:r>
              <a:rPr lang="zh-CN" altLang="en-US" sz="1800" b="0">
                <a:solidFill>
                  <a:srgbClr val="00B050"/>
                </a:solidFill>
              </a:rPr>
              <a:t>输入日</a:t>
            </a:r>
          </a:p>
          <a:p>
            <a:pPr marL="609600" indent="-609600" eaLnBrk="1" hangingPunct="1">
              <a:lnSpc>
                <a:spcPct val="80000"/>
              </a:lnSpc>
              <a:buFont typeface="Wingdings" pitchFamily="2" charset="2"/>
              <a:buAutoNum type="arabicPeriod" startAt="13"/>
            </a:pPr>
            <a:r>
              <a:rPr lang="zh-CN" altLang="en-US" sz="1800" b="0"/>
              <a:t>           </a:t>
            </a:r>
            <a:r>
              <a:rPr lang="en-US" altLang="zh-CN" sz="1800" b="0"/>
              <a:t>printf("Day = ");</a:t>
            </a:r>
          </a:p>
          <a:p>
            <a:pPr marL="609600" indent="-609600" eaLnBrk="1" hangingPunct="1">
              <a:lnSpc>
                <a:spcPct val="80000"/>
              </a:lnSpc>
              <a:buFont typeface="Wingdings" pitchFamily="2" charset="2"/>
              <a:buAutoNum type="arabicPeriod" startAt="13"/>
            </a:pPr>
            <a:r>
              <a:rPr lang="en-US" altLang="zh-CN" sz="1800" b="0"/>
              <a:t>           scanf("%d", &amp;date.day);</a:t>
            </a:r>
          </a:p>
          <a:p>
            <a:pPr marL="609600" indent="-609600" eaLnBrk="1" hangingPunct="1">
              <a:lnSpc>
                <a:spcPct val="80000"/>
              </a:lnSpc>
              <a:buFont typeface="Wingdings" pitchFamily="2" charset="2"/>
              <a:buAutoNum type="arabicPeriod" startAt="13"/>
            </a:pPr>
            <a:r>
              <a:rPr lang="en-US" altLang="zh-CN" sz="1800" b="0"/>
              <a:t>           if (date.day &gt;= 1 &amp;&amp; date.day &lt;= days) </a:t>
            </a:r>
            <a:r>
              <a:rPr lang="en-US" altLang="zh-CN" sz="1800" b="0">
                <a:solidFill>
                  <a:srgbClr val="C00000"/>
                </a:solidFill>
              </a:rPr>
              <a:t>break;</a:t>
            </a:r>
            <a:r>
              <a:rPr lang="en-US" altLang="zh-CN" sz="1800" b="0"/>
              <a:t> </a:t>
            </a:r>
          </a:p>
          <a:p>
            <a:pPr marL="609600" indent="-609600" eaLnBrk="1" hangingPunct="1">
              <a:lnSpc>
                <a:spcPct val="80000"/>
              </a:lnSpc>
              <a:buFont typeface="Wingdings" pitchFamily="2" charset="2"/>
              <a:buAutoNum type="arabicPeriod" startAt="13"/>
            </a:pPr>
            <a:r>
              <a:rPr lang="en-US" altLang="zh-CN" sz="1800" b="0"/>
              <a:t>           printf("\tDay must be between 1 to %d.\n", days);</a:t>
            </a:r>
          </a:p>
          <a:p>
            <a:pPr marL="609600" indent="-609600" eaLnBrk="1" hangingPunct="1">
              <a:lnSpc>
                <a:spcPct val="80000"/>
              </a:lnSpc>
              <a:buFont typeface="Wingdings" pitchFamily="2" charset="2"/>
              <a:buAutoNum type="arabicPeriod" startAt="13"/>
            </a:pPr>
            <a:r>
              <a:rPr lang="en-US" altLang="zh-CN" sz="1800" b="0"/>
              <a:t>      }</a:t>
            </a:r>
          </a:p>
          <a:p>
            <a:pPr marL="609600" indent="-609600" eaLnBrk="1" hangingPunct="1">
              <a:lnSpc>
                <a:spcPct val="80000"/>
              </a:lnSpc>
              <a:buFont typeface="Wingdings" pitchFamily="2" charset="2"/>
              <a:buAutoNum type="arabicPeriod" startAt="13"/>
            </a:pPr>
            <a:r>
              <a:rPr lang="en-US" altLang="zh-CN" sz="1800" b="0"/>
              <a:t>      date.yearDay = </a:t>
            </a:r>
            <a:r>
              <a:rPr lang="en-US" altLang="zh-CN" sz="1800" b="0">
                <a:solidFill>
                  <a:srgbClr val="0066FF"/>
                </a:solidFill>
              </a:rPr>
              <a:t>dayofYear</a:t>
            </a:r>
            <a:r>
              <a:rPr lang="en-US" altLang="zh-CN" sz="1800" b="0"/>
              <a:t>(date.day, date.month, date.year);</a:t>
            </a:r>
          </a:p>
          <a:p>
            <a:pPr marL="609600" indent="-609600" eaLnBrk="1" hangingPunct="1">
              <a:lnSpc>
                <a:spcPct val="80000"/>
              </a:lnSpc>
              <a:buFont typeface="Wingdings" pitchFamily="2" charset="2"/>
              <a:buAutoNum type="arabicPeriod" startAt="13"/>
            </a:pPr>
            <a:r>
              <a:rPr lang="en-US" altLang="zh-CN" sz="1800" b="0"/>
              <a:t>      printf("\tThe days of the year are %d.\n", date.yearDay);</a:t>
            </a:r>
          </a:p>
          <a:p>
            <a:pPr marL="609600" indent="-609600" eaLnBrk="1" hangingPunct="1">
              <a:lnSpc>
                <a:spcPct val="80000"/>
              </a:lnSpc>
              <a:buFont typeface="Wingdings" pitchFamily="2" charset="2"/>
              <a:buAutoNum type="arabicPeriod" startAt="13"/>
            </a:pPr>
            <a:endParaRPr lang="en-US" altLang="zh-CN" sz="1800" b="0"/>
          </a:p>
          <a:p>
            <a:pPr marL="609600" indent="-609600" eaLnBrk="1" hangingPunct="1">
              <a:lnSpc>
                <a:spcPct val="80000"/>
              </a:lnSpc>
              <a:buFont typeface="Wingdings" pitchFamily="2" charset="2"/>
              <a:buAutoNum type="arabicPeriod" startAt="13"/>
            </a:pPr>
            <a:r>
              <a:rPr lang="en-US" altLang="zh-CN" sz="1800" b="0"/>
              <a:t>      printf("\tContinue?(y/n) ");</a:t>
            </a:r>
          </a:p>
          <a:p>
            <a:pPr marL="609600" indent="-609600" eaLnBrk="1" hangingPunct="1">
              <a:lnSpc>
                <a:spcPct val="80000"/>
              </a:lnSpc>
              <a:buFont typeface="Wingdings" pitchFamily="2" charset="2"/>
              <a:buAutoNum type="arabicPeriod" startAt="13"/>
            </a:pPr>
            <a:r>
              <a:rPr lang="en-US" altLang="zh-CN" sz="1800" b="0"/>
              <a:t>      do</a:t>
            </a:r>
          </a:p>
          <a:p>
            <a:pPr marL="609600" indent="-609600" eaLnBrk="1" hangingPunct="1">
              <a:lnSpc>
                <a:spcPct val="80000"/>
              </a:lnSpc>
              <a:buFont typeface="Wingdings" pitchFamily="2" charset="2"/>
              <a:buAutoNum type="arabicPeriod" startAt="13"/>
            </a:pPr>
            <a:r>
              <a:rPr lang="en-US" altLang="zh-CN" sz="1800" b="0"/>
              <a:t>           scanf(</a:t>
            </a:r>
            <a:r>
              <a:rPr lang="en-US" altLang="zh-CN" sz="1800" b="0">
                <a:latin typeface="Arial" panose="020B0604020202020204" pitchFamily="34" charset="0"/>
              </a:rPr>
              <a:t>“</a:t>
            </a:r>
            <a:r>
              <a:rPr lang="en-US" altLang="zh-CN" sz="1800" b="0"/>
              <a:t>  %c", &amp;ans);</a:t>
            </a:r>
          </a:p>
          <a:p>
            <a:pPr marL="609600" indent="-609600" eaLnBrk="1" hangingPunct="1">
              <a:lnSpc>
                <a:spcPct val="80000"/>
              </a:lnSpc>
              <a:buFont typeface="Wingdings" pitchFamily="2" charset="2"/>
              <a:buAutoNum type="arabicPeriod" startAt="13"/>
            </a:pPr>
            <a:r>
              <a:rPr lang="en-US" altLang="zh-CN" sz="1800" b="0"/>
              <a:t>      while (!((ans &gt;= 'A' &amp;&amp; ans &lt;= 'Z') ||(ans &gt;= 'a' &amp;&amp; ans &lt;= 'z')));</a:t>
            </a:r>
          </a:p>
          <a:p>
            <a:pPr marL="609600" indent="-609600" eaLnBrk="1" hangingPunct="1">
              <a:lnSpc>
                <a:spcPct val="80000"/>
              </a:lnSpc>
              <a:buFont typeface="Wingdings" pitchFamily="2" charset="2"/>
              <a:buAutoNum type="arabicPeriod" startAt="13"/>
            </a:pPr>
            <a:r>
              <a:rPr lang="en-US" altLang="zh-CN" sz="1800" b="0"/>
              <a:t>      if (ans != 'y' &amp;&amp; ans != 'Y')  </a:t>
            </a:r>
            <a:r>
              <a:rPr lang="en-US" altLang="zh-CN" sz="1800" b="0">
                <a:solidFill>
                  <a:srgbClr val="C00000"/>
                </a:solidFill>
              </a:rPr>
              <a:t>break;</a:t>
            </a:r>
          </a:p>
          <a:p>
            <a:pPr marL="609600" indent="-609600" eaLnBrk="1" hangingPunct="1">
              <a:lnSpc>
                <a:spcPct val="80000"/>
              </a:lnSpc>
              <a:buFont typeface="Wingdings" pitchFamily="2" charset="2"/>
              <a:buAutoNum type="arabicPeriod" startAt="13"/>
            </a:pPr>
            <a:r>
              <a:rPr lang="en-US" altLang="zh-CN" sz="1800" b="0"/>
              <a:t>    }</a:t>
            </a:r>
          </a:p>
          <a:p>
            <a:pPr marL="609600" indent="-609600" eaLnBrk="1" hangingPunct="1">
              <a:lnSpc>
                <a:spcPct val="80000"/>
              </a:lnSpc>
              <a:buFont typeface="Wingdings" pitchFamily="2" charset="2"/>
              <a:buAutoNum type="arabicPeriod" startAt="13"/>
            </a:pPr>
            <a:r>
              <a:rPr lang="en-US" altLang="zh-CN" sz="1800" b="0"/>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9A4FBB0E-19E4-10B2-9558-71359D7EE500}"/>
              </a:ext>
            </a:extLst>
          </p:cNvPr>
          <p:cNvSpPr>
            <a:spLocks noGrp="1" noChangeArrowheads="1"/>
          </p:cNvSpPr>
          <p:nvPr>
            <p:ph type="title"/>
          </p:nvPr>
        </p:nvSpPr>
        <p:spPr/>
        <p:txBody>
          <a:bodyPr/>
          <a:lstStyle/>
          <a:p>
            <a:pPr eaLnBrk="1" hangingPunct="1"/>
            <a:r>
              <a:rPr lang="zh-CN" altLang="en-US"/>
              <a:t>结构形参</a:t>
            </a:r>
          </a:p>
        </p:txBody>
      </p:sp>
      <p:sp>
        <p:nvSpPr>
          <p:cNvPr id="88067" name="Rectangle 3">
            <a:extLst>
              <a:ext uri="{FF2B5EF4-FFF2-40B4-BE49-F238E27FC236}">
                <a16:creationId xmlns:a16="http://schemas.microsoft.com/office/drawing/2014/main" id="{1BF39403-DDB6-A157-873B-BDED05797594}"/>
              </a:ext>
            </a:extLst>
          </p:cNvPr>
          <p:cNvSpPr>
            <a:spLocks noGrp="1" noChangeArrowheads="1"/>
          </p:cNvSpPr>
          <p:nvPr>
            <p:ph type="body" idx="1"/>
          </p:nvPr>
        </p:nvSpPr>
        <p:spPr>
          <a:xfrm>
            <a:off x="827088" y="1844823"/>
            <a:ext cx="8128000" cy="4287689"/>
          </a:xfrm>
        </p:spPr>
        <p:txBody>
          <a:bodyPr/>
          <a:lstStyle/>
          <a:p>
            <a:pPr marL="533400" indent="-533400" eaLnBrk="1" hangingPunct="1">
              <a:lnSpc>
                <a:spcPct val="80000"/>
              </a:lnSpc>
            </a:pPr>
            <a:r>
              <a:rPr lang="zh-CN" altLang="en-US" sz="1800" b="0"/>
              <a:t>以函数</a:t>
            </a:r>
            <a:r>
              <a:rPr lang="en-US" altLang="zh-CN" sz="1800" b="0"/>
              <a:t>dayofYear()</a:t>
            </a:r>
            <a:r>
              <a:rPr lang="zh-CN" altLang="en-US" sz="1800" b="0"/>
              <a:t>为例，原例为</a:t>
            </a:r>
          </a:p>
          <a:p>
            <a:pPr marL="914400" lvl="1" indent="-457200" eaLnBrk="1" hangingPunct="1">
              <a:lnSpc>
                <a:spcPct val="80000"/>
              </a:lnSpc>
              <a:buFont typeface="Wingdings" pitchFamily="2" charset="2"/>
              <a:buAutoNum type="arabicPeriod"/>
            </a:pPr>
            <a:r>
              <a:rPr lang="en-US" altLang="zh-CN" sz="1600" b="0"/>
              <a:t>int dayofYear(int d, int m, int y){  </a:t>
            </a:r>
            <a:r>
              <a:rPr lang="en-US" altLang="zh-CN" sz="1600" b="0">
                <a:solidFill>
                  <a:srgbClr val="00B050"/>
                </a:solidFill>
              </a:rPr>
              <a:t>//</a:t>
            </a:r>
            <a:r>
              <a:rPr lang="zh-CN" altLang="en-US" sz="1600" b="0">
                <a:solidFill>
                  <a:srgbClr val="00B050"/>
                </a:solidFill>
              </a:rPr>
              <a:t>计算年中第几天</a:t>
            </a:r>
          </a:p>
          <a:p>
            <a:pPr marL="914400" lvl="1" indent="-457200" eaLnBrk="1" hangingPunct="1">
              <a:lnSpc>
                <a:spcPct val="80000"/>
              </a:lnSpc>
              <a:buFont typeface="Wingdings" pitchFamily="2" charset="2"/>
              <a:buAutoNum type="arabicPeriod"/>
            </a:pPr>
            <a:r>
              <a:rPr lang="zh-CN" altLang="en-US" sz="1600" b="0"/>
              <a:t>      </a:t>
            </a:r>
            <a:r>
              <a:rPr lang="en-US" altLang="zh-CN" sz="1600" b="0"/>
              <a:t>int  i, leap, day = d;</a:t>
            </a:r>
          </a:p>
          <a:p>
            <a:pPr marL="914400" lvl="1" indent="-457200" eaLnBrk="1" hangingPunct="1">
              <a:lnSpc>
                <a:spcPct val="80000"/>
              </a:lnSpc>
              <a:buFont typeface="Wingdings" pitchFamily="2" charset="2"/>
              <a:buAutoNum type="arabicPeriod"/>
            </a:pPr>
            <a:r>
              <a:rPr lang="en-US" altLang="zh-CN" sz="1600" b="0"/>
              <a:t>      leap = ( (y%4 == 0 &amp;&amp; y%100) || (y%400 == 0) );</a:t>
            </a:r>
          </a:p>
          <a:p>
            <a:pPr marL="914400" lvl="1" indent="-457200" eaLnBrk="1" hangingPunct="1">
              <a:lnSpc>
                <a:spcPct val="80000"/>
              </a:lnSpc>
              <a:buFont typeface="Wingdings" pitchFamily="2" charset="2"/>
              <a:buAutoNum type="arabicPeriod"/>
            </a:pPr>
            <a:r>
              <a:rPr lang="en-US" altLang="zh-CN" sz="1600" b="0"/>
              <a:t>      for (i = 0; i &lt; m-1; i++)</a:t>
            </a:r>
          </a:p>
          <a:p>
            <a:pPr marL="914400" lvl="1" indent="-457200" eaLnBrk="1" hangingPunct="1">
              <a:lnSpc>
                <a:spcPct val="80000"/>
              </a:lnSpc>
              <a:buFont typeface="Wingdings" pitchFamily="2" charset="2"/>
              <a:buAutoNum type="arabicPeriod"/>
            </a:pPr>
            <a:r>
              <a:rPr lang="en-US" altLang="zh-CN" sz="1600" b="0"/>
              <a:t>           day += dayTbl[leap][i];</a:t>
            </a:r>
          </a:p>
          <a:p>
            <a:pPr marL="914400" lvl="1" indent="-457200" eaLnBrk="1" hangingPunct="1">
              <a:lnSpc>
                <a:spcPct val="80000"/>
              </a:lnSpc>
              <a:buFont typeface="Wingdings" pitchFamily="2" charset="2"/>
              <a:buAutoNum type="arabicPeriod"/>
            </a:pPr>
            <a:r>
              <a:rPr lang="en-US" altLang="zh-CN" sz="1600" b="0"/>
              <a:t>      return day;</a:t>
            </a:r>
          </a:p>
          <a:p>
            <a:pPr marL="914400" lvl="1" indent="-457200" eaLnBrk="1" hangingPunct="1">
              <a:lnSpc>
                <a:spcPct val="80000"/>
              </a:lnSpc>
              <a:buFont typeface="Wingdings" pitchFamily="2" charset="2"/>
              <a:buAutoNum type="arabicPeriod"/>
            </a:pPr>
            <a:r>
              <a:rPr lang="en-US" altLang="zh-CN" sz="1600" b="0"/>
              <a:t>}</a:t>
            </a:r>
          </a:p>
          <a:p>
            <a:pPr marL="533400" indent="-533400" eaLnBrk="1" hangingPunct="1">
              <a:lnSpc>
                <a:spcPct val="80000"/>
              </a:lnSpc>
            </a:pPr>
            <a:r>
              <a:rPr lang="zh-CN" altLang="en-US" sz="1800" b="0"/>
              <a:t>若以结构为形参，改写该函数，有</a:t>
            </a:r>
          </a:p>
          <a:p>
            <a:pPr marL="914400" lvl="1" indent="-457200" eaLnBrk="1" hangingPunct="1">
              <a:lnSpc>
                <a:spcPct val="80000"/>
              </a:lnSpc>
              <a:buFont typeface="Wingdings" pitchFamily="2" charset="2"/>
              <a:buAutoNum type="arabicPeriod"/>
            </a:pPr>
            <a:r>
              <a:rPr lang="en-US" altLang="zh-CN" sz="1600" b="0"/>
              <a:t>int dayofYear(</a:t>
            </a:r>
            <a:r>
              <a:rPr lang="en-US" altLang="zh-CN" sz="1600" b="0">
                <a:solidFill>
                  <a:srgbClr val="CC0000"/>
                </a:solidFill>
              </a:rPr>
              <a:t>struct Date d</a:t>
            </a:r>
            <a:r>
              <a:rPr lang="en-US" altLang="zh-CN" sz="1600" b="0"/>
              <a:t>){</a:t>
            </a:r>
          </a:p>
          <a:p>
            <a:pPr marL="914400" lvl="1" indent="-457200" eaLnBrk="1" hangingPunct="1">
              <a:lnSpc>
                <a:spcPct val="80000"/>
              </a:lnSpc>
              <a:buFont typeface="Wingdings" pitchFamily="2" charset="2"/>
              <a:buAutoNum type="arabicPeriod"/>
            </a:pPr>
            <a:r>
              <a:rPr lang="en-US" altLang="zh-CN" sz="1600" b="0"/>
              <a:t>  int  i, leap, day = </a:t>
            </a:r>
            <a:r>
              <a:rPr lang="en-US" altLang="zh-CN" sz="1600" b="0">
                <a:solidFill>
                  <a:srgbClr val="CC0000"/>
                </a:solidFill>
              </a:rPr>
              <a:t>d.</a:t>
            </a:r>
            <a:r>
              <a:rPr lang="en-US" altLang="zh-CN" sz="1600" b="0"/>
              <a:t>day;</a:t>
            </a:r>
          </a:p>
          <a:p>
            <a:pPr marL="914400" lvl="1" indent="-457200" eaLnBrk="1" hangingPunct="1">
              <a:lnSpc>
                <a:spcPct val="80000"/>
              </a:lnSpc>
              <a:buFont typeface="Wingdings" pitchFamily="2" charset="2"/>
              <a:buAutoNum type="arabicPeriod"/>
            </a:pPr>
            <a:r>
              <a:rPr lang="en-US" altLang="zh-CN" sz="1600" b="0"/>
              <a:t>  leap = ( (</a:t>
            </a:r>
            <a:r>
              <a:rPr lang="en-US" altLang="zh-CN" sz="1600" b="0">
                <a:solidFill>
                  <a:srgbClr val="CC0000"/>
                </a:solidFill>
              </a:rPr>
              <a:t>d.</a:t>
            </a:r>
            <a:r>
              <a:rPr lang="en-US" altLang="zh-CN" sz="1600" b="0"/>
              <a:t>year%4 == 0 &amp;&amp; </a:t>
            </a:r>
            <a:r>
              <a:rPr lang="en-US" altLang="zh-CN" sz="1600" b="0">
                <a:solidFill>
                  <a:srgbClr val="CC0000"/>
                </a:solidFill>
              </a:rPr>
              <a:t>d.</a:t>
            </a:r>
            <a:r>
              <a:rPr lang="en-US" altLang="zh-CN" sz="1600" b="0"/>
              <a:t>year%100) || </a:t>
            </a:r>
            <a:r>
              <a:rPr lang="en-US" altLang="zh-CN" sz="1600" b="0">
                <a:solidFill>
                  <a:srgbClr val="CC0000"/>
                </a:solidFill>
              </a:rPr>
              <a:t>d.</a:t>
            </a:r>
            <a:r>
              <a:rPr lang="en-US" altLang="zh-CN" sz="1600" b="0"/>
              <a:t>year%400 == 0);</a:t>
            </a:r>
          </a:p>
          <a:p>
            <a:pPr marL="914400" lvl="1" indent="-457200" eaLnBrk="1" hangingPunct="1">
              <a:lnSpc>
                <a:spcPct val="80000"/>
              </a:lnSpc>
              <a:buFont typeface="Wingdings" pitchFamily="2" charset="2"/>
              <a:buAutoNum type="arabicPeriod"/>
            </a:pPr>
            <a:r>
              <a:rPr lang="en-US" altLang="zh-CN" sz="1600" b="0"/>
              <a:t>  for (i = 0; i &lt; </a:t>
            </a:r>
            <a:r>
              <a:rPr lang="en-US" altLang="zh-CN" sz="1600" b="0">
                <a:solidFill>
                  <a:srgbClr val="CC0000"/>
                </a:solidFill>
              </a:rPr>
              <a:t>d.</a:t>
            </a:r>
            <a:r>
              <a:rPr lang="en-US" altLang="zh-CN" sz="1600" b="0"/>
              <a:t>month-1; i++)</a:t>
            </a:r>
          </a:p>
          <a:p>
            <a:pPr marL="914400" lvl="1" indent="-457200" eaLnBrk="1" hangingPunct="1">
              <a:lnSpc>
                <a:spcPct val="80000"/>
              </a:lnSpc>
              <a:buFont typeface="Wingdings" pitchFamily="2" charset="2"/>
              <a:buAutoNum type="arabicPeriod"/>
            </a:pPr>
            <a:r>
              <a:rPr lang="en-US" altLang="zh-CN" sz="1600" b="0"/>
              <a:t>         day += dayTbl[leap][i];</a:t>
            </a:r>
          </a:p>
          <a:p>
            <a:pPr marL="914400" lvl="1" indent="-457200" eaLnBrk="1" hangingPunct="1">
              <a:lnSpc>
                <a:spcPct val="80000"/>
              </a:lnSpc>
              <a:buFont typeface="Wingdings" pitchFamily="2" charset="2"/>
              <a:buAutoNum type="arabicPeriod"/>
            </a:pPr>
            <a:r>
              <a:rPr lang="en-US" altLang="zh-CN" sz="1600" b="0"/>
              <a:t>  return day;</a:t>
            </a:r>
          </a:p>
          <a:p>
            <a:pPr marL="914400" lvl="1" indent="-457200" eaLnBrk="1" hangingPunct="1">
              <a:lnSpc>
                <a:spcPct val="80000"/>
              </a:lnSpc>
              <a:buFont typeface="Wingdings" pitchFamily="2" charset="2"/>
              <a:buAutoNum type="arabicPeriod"/>
            </a:pPr>
            <a:r>
              <a:rPr lang="en-US" altLang="zh-CN" sz="1600" b="0"/>
              <a:t>}</a:t>
            </a:r>
          </a:p>
          <a:p>
            <a:pPr marL="533400" indent="-533400" eaLnBrk="1" hangingPunct="1">
              <a:lnSpc>
                <a:spcPct val="80000"/>
              </a:lnSpc>
            </a:pPr>
            <a:r>
              <a:rPr lang="zh-CN" altLang="en-US" sz="1800" b="0"/>
              <a:t>对函数</a:t>
            </a:r>
            <a:r>
              <a:rPr lang="en-US" altLang="zh-CN" sz="1800" b="0"/>
              <a:t>dayofYear()</a:t>
            </a:r>
            <a:r>
              <a:rPr lang="zh-CN" altLang="en-US" sz="1800" b="0"/>
              <a:t>的调用应改写成：</a:t>
            </a:r>
          </a:p>
          <a:p>
            <a:pPr marL="914400" lvl="1" indent="-457200" eaLnBrk="1" hangingPunct="1">
              <a:lnSpc>
                <a:spcPct val="80000"/>
              </a:lnSpc>
            </a:pPr>
            <a:r>
              <a:rPr lang="en-US" altLang="zh-CN" sz="1600" b="0"/>
              <a:t>date.yearDay = dayofYear(date);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65FA90C6-62A4-AD7E-06A9-0EC8B2E4DC84}"/>
              </a:ext>
            </a:extLst>
          </p:cNvPr>
          <p:cNvSpPr>
            <a:spLocks noGrp="1" noChangeArrowheads="1"/>
          </p:cNvSpPr>
          <p:nvPr>
            <p:ph type="title"/>
          </p:nvPr>
        </p:nvSpPr>
        <p:spPr/>
        <p:txBody>
          <a:bodyPr/>
          <a:lstStyle/>
          <a:p>
            <a:pPr eaLnBrk="1" hangingPunct="1"/>
            <a:r>
              <a:rPr lang="zh-CN" altLang="en-US"/>
              <a:t>结构指针形参</a:t>
            </a:r>
          </a:p>
        </p:txBody>
      </p:sp>
      <p:sp>
        <p:nvSpPr>
          <p:cNvPr id="90115" name="Rectangle 3">
            <a:extLst>
              <a:ext uri="{FF2B5EF4-FFF2-40B4-BE49-F238E27FC236}">
                <a16:creationId xmlns:a16="http://schemas.microsoft.com/office/drawing/2014/main" id="{F348B5FA-1260-950F-860F-27F0FBBBDDCF}"/>
              </a:ext>
            </a:extLst>
          </p:cNvPr>
          <p:cNvSpPr>
            <a:spLocks noGrp="1" noChangeArrowheads="1"/>
          </p:cNvSpPr>
          <p:nvPr>
            <p:ph type="body" idx="1"/>
          </p:nvPr>
        </p:nvSpPr>
        <p:spPr>
          <a:xfrm>
            <a:off x="827088" y="1772816"/>
            <a:ext cx="7793037" cy="4751809"/>
          </a:xfrm>
        </p:spPr>
        <p:txBody>
          <a:bodyPr/>
          <a:lstStyle/>
          <a:p>
            <a:pPr marL="533400" indent="-533400" eaLnBrk="1" hangingPunct="1">
              <a:lnSpc>
                <a:spcPct val="110000"/>
              </a:lnSpc>
            </a:pPr>
            <a:r>
              <a:rPr lang="zh-CN" altLang="en-US" sz="1800" b="0"/>
              <a:t>以下再改写函数</a:t>
            </a:r>
            <a:r>
              <a:rPr lang="en-US" altLang="zh-CN" sz="1800" b="0"/>
              <a:t>dayofYear()</a:t>
            </a:r>
            <a:r>
              <a:rPr lang="zh-CN" altLang="en-US" sz="1800" b="0"/>
              <a:t>，使它的形参是以日期结构指针为形参，并以此说明结构指针形参的用法。</a:t>
            </a:r>
          </a:p>
          <a:p>
            <a:pPr marL="914400" lvl="1" indent="-457200" eaLnBrk="1" hangingPunct="1">
              <a:lnSpc>
                <a:spcPct val="110000"/>
              </a:lnSpc>
              <a:buFont typeface="Wingdings" pitchFamily="2" charset="2"/>
              <a:buAutoNum type="arabicPeriod"/>
            </a:pPr>
            <a:r>
              <a:rPr lang="en-US" altLang="zh-CN" sz="1600" b="0">
                <a:solidFill>
                  <a:srgbClr val="0066FF"/>
                </a:solidFill>
              </a:rPr>
              <a:t>void</a:t>
            </a:r>
            <a:r>
              <a:rPr lang="en-US" altLang="zh-CN" sz="1600" b="0"/>
              <a:t> dayofYear(struct Date </a:t>
            </a:r>
            <a:r>
              <a:rPr lang="en-US" altLang="zh-CN" sz="1600" b="0">
                <a:solidFill>
                  <a:srgbClr val="CC0000"/>
                </a:solidFill>
              </a:rPr>
              <a:t>*dp</a:t>
            </a:r>
            <a:r>
              <a:rPr lang="en-US" altLang="zh-CN" sz="1600" b="0"/>
              <a:t>){</a:t>
            </a:r>
          </a:p>
          <a:p>
            <a:pPr marL="914400" lvl="1" indent="-457200" eaLnBrk="1" hangingPunct="1">
              <a:lnSpc>
                <a:spcPct val="110000"/>
              </a:lnSpc>
              <a:buFont typeface="Wingdings" pitchFamily="2" charset="2"/>
              <a:buAutoNum type="arabicPeriod"/>
            </a:pPr>
            <a:r>
              <a:rPr lang="en-US" altLang="zh-CN" sz="1600" b="0"/>
              <a:t>  int i, leap, day = </a:t>
            </a:r>
            <a:r>
              <a:rPr lang="en-US" altLang="zh-CN" sz="1600" b="0">
                <a:solidFill>
                  <a:srgbClr val="CC0000"/>
                </a:solidFill>
              </a:rPr>
              <a:t>dp-&gt;</a:t>
            </a:r>
            <a:r>
              <a:rPr lang="en-US" altLang="zh-CN" sz="1600" b="0"/>
              <a:t>day;</a:t>
            </a:r>
          </a:p>
          <a:p>
            <a:pPr marL="914400" lvl="1" indent="-457200" eaLnBrk="1" hangingPunct="1">
              <a:lnSpc>
                <a:spcPct val="110000"/>
              </a:lnSpc>
              <a:buFont typeface="Wingdings" pitchFamily="2" charset="2"/>
              <a:buAutoNum type="arabicPeriod"/>
            </a:pPr>
            <a:r>
              <a:rPr lang="en-US" altLang="zh-CN" sz="1600" b="0"/>
              <a:t>  leap=((</a:t>
            </a:r>
            <a:r>
              <a:rPr lang="en-US" altLang="zh-CN" sz="1600" b="0">
                <a:solidFill>
                  <a:srgbClr val="CC0000"/>
                </a:solidFill>
              </a:rPr>
              <a:t>dp-&gt;</a:t>
            </a:r>
            <a:r>
              <a:rPr lang="en-US" altLang="zh-CN" sz="1600" b="0"/>
              <a:t>year%4==0&amp;&amp;</a:t>
            </a:r>
            <a:r>
              <a:rPr lang="en-US" altLang="zh-CN" sz="1600" b="0">
                <a:solidFill>
                  <a:srgbClr val="CC0000"/>
                </a:solidFill>
              </a:rPr>
              <a:t>dp-&gt;</a:t>
            </a:r>
            <a:r>
              <a:rPr lang="en-US" altLang="zh-CN" sz="1600" b="0"/>
              <a:t>year%100)||</a:t>
            </a:r>
            <a:r>
              <a:rPr lang="en-US" altLang="zh-CN" sz="1600" b="0">
                <a:solidFill>
                  <a:srgbClr val="CC0000"/>
                </a:solidFill>
              </a:rPr>
              <a:t>dp-&gt;</a:t>
            </a:r>
            <a:r>
              <a:rPr lang="en-US" altLang="zh-CN" sz="1600" b="0"/>
              <a:t>year% 400==0);</a:t>
            </a:r>
          </a:p>
          <a:p>
            <a:pPr marL="914400" lvl="1" indent="-457200" eaLnBrk="1" hangingPunct="1">
              <a:lnSpc>
                <a:spcPct val="110000"/>
              </a:lnSpc>
              <a:buFont typeface="Wingdings" pitchFamily="2" charset="2"/>
              <a:buAutoNum type="arabicPeriod"/>
            </a:pPr>
            <a:r>
              <a:rPr lang="en-US" altLang="zh-CN" sz="1600" b="0"/>
              <a:t>  for(i = 0; i &lt; </a:t>
            </a:r>
            <a:r>
              <a:rPr lang="en-US" altLang="zh-CN" sz="1600" b="0">
                <a:solidFill>
                  <a:srgbClr val="CC0000"/>
                </a:solidFill>
              </a:rPr>
              <a:t>dp-&gt;</a:t>
            </a:r>
            <a:r>
              <a:rPr lang="en-US" altLang="zh-CN" sz="1600" b="0"/>
              <a:t>month-1; i++)</a:t>
            </a:r>
          </a:p>
          <a:p>
            <a:pPr marL="914400" lvl="1" indent="-457200" eaLnBrk="1" hangingPunct="1">
              <a:lnSpc>
                <a:spcPct val="110000"/>
              </a:lnSpc>
              <a:buFont typeface="Wingdings" pitchFamily="2" charset="2"/>
              <a:buAutoNum type="arabicPeriod"/>
            </a:pPr>
            <a:r>
              <a:rPr lang="en-US" altLang="zh-CN" sz="1600" b="0"/>
              <a:t>          day += dayTbl[leap][i];</a:t>
            </a:r>
          </a:p>
          <a:p>
            <a:pPr marL="914400" lvl="1" indent="-457200" eaLnBrk="1" hangingPunct="1">
              <a:lnSpc>
                <a:spcPct val="110000"/>
              </a:lnSpc>
              <a:buFont typeface="Wingdings" pitchFamily="2" charset="2"/>
              <a:buAutoNum type="arabicPeriod"/>
            </a:pPr>
            <a:r>
              <a:rPr lang="en-US" altLang="zh-CN" sz="1600" b="0"/>
              <a:t>  </a:t>
            </a:r>
            <a:r>
              <a:rPr lang="en-US" altLang="zh-CN" sz="1600" b="0">
                <a:solidFill>
                  <a:srgbClr val="CC0000"/>
                </a:solidFill>
              </a:rPr>
              <a:t>dp-&gt;</a:t>
            </a:r>
            <a:r>
              <a:rPr lang="en-US" altLang="zh-CN" sz="1600" b="0"/>
              <a:t>yearDay </a:t>
            </a:r>
            <a:r>
              <a:rPr lang="en-US" altLang="zh-CN" sz="1600" b="0">
                <a:solidFill>
                  <a:srgbClr val="0066FF"/>
                </a:solidFill>
              </a:rPr>
              <a:t>= day</a:t>
            </a:r>
            <a:r>
              <a:rPr lang="en-US" altLang="zh-CN" sz="1600" b="0"/>
              <a:t>;</a:t>
            </a:r>
          </a:p>
          <a:p>
            <a:pPr marL="914400" lvl="1" indent="-457200" eaLnBrk="1" hangingPunct="1">
              <a:lnSpc>
                <a:spcPct val="110000"/>
              </a:lnSpc>
              <a:buFont typeface="Wingdings" pitchFamily="2" charset="2"/>
              <a:buAutoNum type="arabicPeriod"/>
            </a:pPr>
            <a:r>
              <a:rPr lang="en-US" altLang="zh-CN" sz="1600" b="0"/>
              <a:t>}</a:t>
            </a:r>
          </a:p>
          <a:p>
            <a:pPr marL="533400" indent="-533400" eaLnBrk="1" hangingPunct="1">
              <a:lnSpc>
                <a:spcPct val="110000"/>
              </a:lnSpc>
            </a:pPr>
            <a:r>
              <a:rPr lang="zh-CN" altLang="en-US" sz="1800" b="0"/>
              <a:t>改写后的函数通过指针形参引用结构成分，并将计算结果存放在结构的相应成分中，</a:t>
            </a:r>
            <a:r>
              <a:rPr lang="zh-CN" altLang="en-US" sz="1800" b="0">
                <a:solidFill>
                  <a:srgbClr val="0066FF"/>
                </a:solidFill>
              </a:rPr>
              <a:t>可以不再返回结果</a:t>
            </a:r>
            <a:r>
              <a:rPr lang="zh-CN" altLang="en-US" sz="1800" b="0"/>
              <a:t>。</a:t>
            </a:r>
          </a:p>
          <a:p>
            <a:pPr marL="533400" indent="-533400" eaLnBrk="1" hangingPunct="1">
              <a:lnSpc>
                <a:spcPct val="110000"/>
              </a:lnSpc>
            </a:pPr>
            <a:r>
              <a:rPr lang="zh-CN" altLang="en-US" sz="1800" b="0"/>
              <a:t>对该函数的调用方式也需相应地改写成：</a:t>
            </a:r>
          </a:p>
          <a:p>
            <a:pPr marL="914400" lvl="1" indent="-457200" eaLnBrk="1" hangingPunct="1">
              <a:lnSpc>
                <a:spcPct val="110000"/>
              </a:lnSpc>
            </a:pPr>
            <a:r>
              <a:rPr lang="en-US" altLang="zh-CN" sz="1600" b="0"/>
              <a:t>dayofYear(&amp;date);</a:t>
            </a:r>
          </a:p>
          <a:p>
            <a:pPr marL="914400" lvl="1" indent="-457200" eaLnBrk="1" hangingPunct="1">
              <a:lnSpc>
                <a:spcPct val="110000"/>
              </a:lnSpc>
            </a:pPr>
            <a:r>
              <a:rPr lang="zh-CN" altLang="en-US" sz="1600" b="0"/>
              <a:t>调用函数</a:t>
            </a:r>
            <a:r>
              <a:rPr lang="en-US" altLang="zh-CN" sz="1600" b="0"/>
              <a:t>dayofYear()</a:t>
            </a:r>
            <a:r>
              <a:rPr lang="zh-CN" altLang="en-US" sz="1600" b="0"/>
              <a:t>时，必须提供结构变量</a:t>
            </a:r>
            <a:r>
              <a:rPr lang="en-US" altLang="zh-CN" sz="1600" b="0"/>
              <a:t>date</a:t>
            </a:r>
            <a:r>
              <a:rPr lang="zh-CN" altLang="en-US" sz="1600" b="0"/>
              <a:t>的地址。</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47E303BF-2BD6-CF0C-4C4C-F4E8B9EF47BC}"/>
              </a:ext>
            </a:extLst>
          </p:cNvPr>
          <p:cNvSpPr>
            <a:spLocks noGrp="1" noChangeArrowheads="1"/>
          </p:cNvSpPr>
          <p:nvPr>
            <p:ph type="title"/>
          </p:nvPr>
        </p:nvSpPr>
        <p:spPr/>
        <p:txBody>
          <a:bodyPr/>
          <a:lstStyle/>
          <a:p>
            <a:pPr eaLnBrk="1" hangingPunct="1"/>
            <a:r>
              <a:rPr lang="zh-CN" altLang="en-US"/>
              <a:t>返回结构类型值</a:t>
            </a:r>
          </a:p>
        </p:txBody>
      </p:sp>
      <p:sp>
        <p:nvSpPr>
          <p:cNvPr id="92163" name="Rectangle 3">
            <a:extLst>
              <a:ext uri="{FF2B5EF4-FFF2-40B4-BE49-F238E27FC236}">
                <a16:creationId xmlns:a16="http://schemas.microsoft.com/office/drawing/2014/main" id="{EF0ECEEC-A2DB-873B-A3A1-B3F6351B7833}"/>
              </a:ext>
            </a:extLst>
          </p:cNvPr>
          <p:cNvSpPr>
            <a:spLocks noGrp="1" noChangeArrowheads="1"/>
          </p:cNvSpPr>
          <p:nvPr>
            <p:ph type="body" idx="1"/>
          </p:nvPr>
        </p:nvSpPr>
        <p:spPr>
          <a:xfrm>
            <a:off x="827088" y="1772815"/>
            <a:ext cx="7993384" cy="4359697"/>
          </a:xfrm>
        </p:spPr>
        <p:txBody>
          <a:bodyPr/>
          <a:lstStyle/>
          <a:p>
            <a:pPr marL="533400" indent="-533400" eaLnBrk="1" hangingPunct="1"/>
            <a:r>
              <a:rPr lang="en-US" altLang="zh-CN" sz="2000" b="0"/>
              <a:t>C</a:t>
            </a:r>
            <a:r>
              <a:rPr lang="zh-CN" altLang="en-US" sz="2000" b="0"/>
              <a:t>语言还允许函数返回结构类型值，如将上述函数</a:t>
            </a:r>
            <a:r>
              <a:rPr lang="en-US" altLang="zh-CN" sz="2000" b="0"/>
              <a:t>dayofYear()</a:t>
            </a:r>
            <a:r>
              <a:rPr lang="zh-CN" altLang="en-US" sz="2000" b="0"/>
              <a:t>改为设置 </a:t>
            </a:r>
            <a:r>
              <a:rPr lang="en-US" altLang="zh-CN" sz="2000" b="0"/>
              <a:t>struct Date</a:t>
            </a:r>
            <a:r>
              <a:rPr lang="zh-CN" altLang="en-US" sz="2000" b="0"/>
              <a:t>类型的形参，并返回</a:t>
            </a:r>
            <a:r>
              <a:rPr lang="en-US" altLang="zh-CN" sz="2000" b="0"/>
              <a:t>struct Date</a:t>
            </a:r>
            <a:r>
              <a:rPr lang="zh-CN" altLang="en-US" sz="2000" b="0"/>
              <a:t>类型的值。在</a:t>
            </a:r>
            <a:r>
              <a:rPr lang="en-US" altLang="zh-CN" sz="2000" b="0"/>
              <a:t>struct Date</a:t>
            </a:r>
            <a:r>
              <a:rPr lang="zh-CN" altLang="en-US" sz="2000" b="0"/>
              <a:t>类型中增加一项</a:t>
            </a:r>
            <a:r>
              <a:rPr lang="zh-CN" altLang="en-US" sz="2000" b="0">
                <a:latin typeface="Arial" panose="020B0604020202020204" pitchFamily="34" charset="0"/>
              </a:rPr>
              <a:t>“</a:t>
            </a:r>
            <a:r>
              <a:rPr lang="en-US" altLang="zh-CN" sz="2000" b="0"/>
              <a:t>int yearDay;</a:t>
            </a:r>
            <a:r>
              <a:rPr lang="en-US" altLang="zh-CN" sz="2000" b="0">
                <a:latin typeface="Arial" panose="020B0604020202020204" pitchFamily="34" charset="0"/>
              </a:rPr>
              <a:t>”</a:t>
            </a:r>
            <a:r>
              <a:rPr lang="zh-CN" altLang="en-US" sz="2000" b="0"/>
              <a:t>，表示当前年的第几日。对函数</a:t>
            </a:r>
            <a:r>
              <a:rPr lang="en-US" altLang="zh-CN" sz="2000" b="0"/>
              <a:t>dayofYear()</a:t>
            </a:r>
            <a:r>
              <a:rPr lang="zh-CN" altLang="en-US" sz="2000" b="0"/>
              <a:t>的新的改写可写成如下：</a:t>
            </a:r>
          </a:p>
          <a:p>
            <a:pPr marL="914400" lvl="1" indent="-457200" eaLnBrk="1" hangingPunct="1">
              <a:buFont typeface="Wingdings" pitchFamily="2" charset="2"/>
              <a:buAutoNum type="arabicPeriod"/>
            </a:pPr>
            <a:r>
              <a:rPr lang="en-US" altLang="zh-CN" sz="1800" b="0">
                <a:solidFill>
                  <a:srgbClr val="0066FF"/>
                </a:solidFill>
              </a:rPr>
              <a:t>struct Date </a:t>
            </a:r>
            <a:r>
              <a:rPr lang="en-US" altLang="zh-CN" sz="1800" b="0"/>
              <a:t>dayofYear(struct Date d){</a:t>
            </a:r>
          </a:p>
          <a:p>
            <a:pPr marL="914400" lvl="1" indent="-457200" eaLnBrk="1" hangingPunct="1">
              <a:buFont typeface="Wingdings" pitchFamily="2" charset="2"/>
              <a:buAutoNum type="arabicPeriod"/>
            </a:pPr>
            <a:r>
              <a:rPr lang="en-US" altLang="zh-CN" sz="1800" b="0"/>
              <a:t>    int i, leap;</a:t>
            </a:r>
          </a:p>
          <a:p>
            <a:pPr marL="914400" lvl="1" indent="-457200" eaLnBrk="1" hangingPunct="1">
              <a:buFont typeface="Wingdings" pitchFamily="2" charset="2"/>
              <a:buAutoNum type="arabicPeriod"/>
            </a:pPr>
            <a:r>
              <a:rPr lang="en-US" altLang="zh-CN" sz="1800" b="0"/>
              <a:t>    d.yearDay = d.day;</a:t>
            </a:r>
          </a:p>
          <a:p>
            <a:pPr marL="914400" lvl="1" indent="-457200" eaLnBrk="1" hangingPunct="1">
              <a:buFont typeface="Wingdings" pitchFamily="2" charset="2"/>
              <a:buAutoNum type="arabicPeriod"/>
            </a:pPr>
            <a:r>
              <a:rPr lang="en-US" altLang="zh-CN" sz="1800" b="0"/>
              <a:t>    leap = ((d.year%4 == 0 &amp;&amp; d.year%100) || d.year%400 == 0);</a:t>
            </a:r>
          </a:p>
          <a:p>
            <a:pPr marL="914400" lvl="1" indent="-457200" eaLnBrk="1" hangingPunct="1">
              <a:buFont typeface="Wingdings" pitchFamily="2" charset="2"/>
              <a:buAutoNum type="arabicPeriod"/>
            </a:pPr>
            <a:r>
              <a:rPr lang="en-US" altLang="zh-CN" sz="1800" b="0"/>
              <a:t>    for(i = 0; i &lt; d.month-1; i++)  </a:t>
            </a:r>
          </a:p>
          <a:p>
            <a:pPr marL="914400" lvl="1" indent="-457200" eaLnBrk="1" hangingPunct="1">
              <a:buFont typeface="Wingdings" pitchFamily="2" charset="2"/>
              <a:buAutoNum type="arabicPeriod"/>
            </a:pPr>
            <a:r>
              <a:rPr lang="en-US" altLang="zh-CN" sz="1800" b="0"/>
              <a:t>          d.yearDay += day_tbl[leap][i];</a:t>
            </a:r>
          </a:p>
          <a:p>
            <a:pPr marL="914400" lvl="1" indent="-457200" eaLnBrk="1" hangingPunct="1">
              <a:buFont typeface="Wingdings" pitchFamily="2" charset="2"/>
              <a:buAutoNum type="arabicPeriod"/>
            </a:pPr>
            <a:r>
              <a:rPr lang="en-US" altLang="zh-CN" sz="1800" b="0"/>
              <a:t>    </a:t>
            </a:r>
            <a:r>
              <a:rPr lang="en-US" altLang="zh-CN" sz="1800" b="0">
                <a:solidFill>
                  <a:srgbClr val="0066FF"/>
                </a:solidFill>
              </a:rPr>
              <a:t>return d</a:t>
            </a:r>
            <a:r>
              <a:rPr lang="en-US" altLang="zh-CN" sz="1800" b="0"/>
              <a:t>;</a:t>
            </a:r>
          </a:p>
          <a:p>
            <a:pPr marL="914400" lvl="1" indent="-457200" eaLnBrk="1" hangingPunct="1">
              <a:buFont typeface="Wingdings" pitchFamily="2" charset="2"/>
              <a:buAutoNum type="arabicPeriod"/>
            </a:pPr>
            <a:r>
              <a:rPr lang="en-US" altLang="zh-CN" sz="1800" b="0"/>
              <a:t> }</a:t>
            </a:r>
          </a:p>
          <a:p>
            <a:pPr marL="533400" indent="-533400" eaLnBrk="1" hangingPunct="1"/>
            <a:r>
              <a:rPr lang="zh-CN" altLang="en-US" sz="2000" b="0"/>
              <a:t>主函数调用函数</a:t>
            </a:r>
            <a:r>
              <a:rPr lang="en-US" altLang="zh-CN" sz="2000" b="0"/>
              <a:t>dayofYear()</a:t>
            </a:r>
            <a:r>
              <a:rPr lang="zh-CN" altLang="en-US" sz="2000" b="0"/>
              <a:t>把返回的结构值赋给结构变量</a:t>
            </a:r>
            <a:r>
              <a:rPr lang="en-US" altLang="zh-CN" sz="2000" b="0"/>
              <a:t>date</a:t>
            </a:r>
            <a:r>
              <a:rPr lang="zh-CN" altLang="en-US" sz="2000" b="0"/>
              <a:t>：</a:t>
            </a:r>
          </a:p>
          <a:p>
            <a:pPr marL="914400" lvl="1" indent="-457200" eaLnBrk="1" hangingPunct="1"/>
            <a:r>
              <a:rPr lang="zh-CN" altLang="en-US" sz="1800" b="0"/>
              <a:t>       </a:t>
            </a:r>
            <a:r>
              <a:rPr lang="en-US" altLang="zh-CN" sz="1800" b="0"/>
              <a:t>date = dayofYear(date);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E69F39ED-C9F4-1F83-DA25-BB1CE6700F6F}"/>
              </a:ext>
            </a:extLst>
          </p:cNvPr>
          <p:cNvSpPr>
            <a:spLocks noGrp="1" noChangeArrowheads="1"/>
          </p:cNvSpPr>
          <p:nvPr>
            <p:ph type="title"/>
          </p:nvPr>
        </p:nvSpPr>
        <p:spPr/>
        <p:txBody>
          <a:bodyPr/>
          <a:lstStyle/>
          <a:p>
            <a:pPr eaLnBrk="1" hangingPunct="1"/>
            <a:r>
              <a:rPr lang="zh-CN" altLang="en-US"/>
              <a:t>结构形参 </a:t>
            </a:r>
            <a:r>
              <a:rPr lang="en-US" altLang="zh-CN" i="1"/>
              <a:t>vs.</a:t>
            </a:r>
            <a:r>
              <a:rPr lang="en-US" altLang="zh-CN"/>
              <a:t> </a:t>
            </a:r>
            <a:r>
              <a:rPr lang="zh-CN" altLang="en-US"/>
              <a:t>结构指针形参</a:t>
            </a:r>
          </a:p>
        </p:txBody>
      </p:sp>
      <p:sp>
        <p:nvSpPr>
          <p:cNvPr id="94211" name="Rectangle 3">
            <a:extLst>
              <a:ext uri="{FF2B5EF4-FFF2-40B4-BE49-F238E27FC236}">
                <a16:creationId xmlns:a16="http://schemas.microsoft.com/office/drawing/2014/main" id="{48C45F3D-3213-CFDD-7D5F-0FD0EA31C1EF}"/>
              </a:ext>
            </a:extLst>
          </p:cNvPr>
          <p:cNvSpPr>
            <a:spLocks noGrp="1" noChangeArrowheads="1"/>
          </p:cNvSpPr>
          <p:nvPr>
            <p:ph type="body" idx="1"/>
          </p:nvPr>
        </p:nvSpPr>
        <p:spPr>
          <a:xfrm>
            <a:off x="900113" y="1916831"/>
            <a:ext cx="7793038" cy="4215681"/>
          </a:xfrm>
        </p:spPr>
        <p:txBody>
          <a:bodyPr/>
          <a:lstStyle/>
          <a:p>
            <a:pPr eaLnBrk="1" hangingPunct="1">
              <a:lnSpc>
                <a:spcPct val="150000"/>
              </a:lnSpc>
            </a:pPr>
            <a:r>
              <a:rPr lang="zh-CN" altLang="en-US" sz="2000"/>
              <a:t>以结构为形参</a:t>
            </a:r>
            <a:r>
              <a:rPr lang="zh-CN" altLang="en-US" sz="2000" b="0"/>
              <a:t>，函数</a:t>
            </a:r>
            <a:r>
              <a:rPr lang="en-US" altLang="zh-CN" sz="2000" b="0"/>
              <a:t>dayofYear()</a:t>
            </a:r>
            <a:r>
              <a:rPr lang="zh-CN" altLang="en-US" sz="2000" b="0"/>
              <a:t>必须用</a:t>
            </a:r>
            <a:r>
              <a:rPr lang="en-US" altLang="zh-CN" sz="2000" b="0"/>
              <a:t>return </a:t>
            </a:r>
            <a:r>
              <a:rPr lang="zh-CN" altLang="en-US" sz="2000" b="0"/>
              <a:t>语句返回结果。函数的形参是函数的局部变量，</a:t>
            </a:r>
            <a:r>
              <a:rPr lang="zh-CN" altLang="en-US" sz="2000" b="0">
                <a:solidFill>
                  <a:srgbClr val="0066FF"/>
                </a:solidFill>
              </a:rPr>
              <a:t>函数调用时，将结构</a:t>
            </a:r>
            <a:r>
              <a:rPr lang="en-US" altLang="zh-CN" sz="2000" b="0">
                <a:solidFill>
                  <a:srgbClr val="0066FF"/>
                </a:solidFill>
              </a:rPr>
              <a:t>date</a:t>
            </a:r>
            <a:r>
              <a:rPr lang="zh-CN" altLang="en-US" sz="2000" b="0">
                <a:solidFill>
                  <a:srgbClr val="0066FF"/>
                </a:solidFill>
              </a:rPr>
              <a:t>的各成分值拷贝到形参</a:t>
            </a:r>
            <a:r>
              <a:rPr lang="en-US" altLang="zh-CN" sz="2000" b="0">
                <a:solidFill>
                  <a:srgbClr val="0066FF"/>
                </a:solidFill>
              </a:rPr>
              <a:t>d</a:t>
            </a:r>
            <a:r>
              <a:rPr lang="zh-CN" altLang="en-US" sz="2000" b="0">
                <a:solidFill>
                  <a:srgbClr val="0066FF"/>
                </a:solidFill>
              </a:rPr>
              <a:t>的各成分中</a:t>
            </a:r>
            <a:r>
              <a:rPr lang="zh-CN" altLang="en-US" sz="2000" b="0"/>
              <a:t>，以后，函数对</a:t>
            </a:r>
            <a:r>
              <a:rPr lang="en-US" altLang="zh-CN" sz="2000" b="0"/>
              <a:t>d</a:t>
            </a:r>
            <a:r>
              <a:rPr lang="zh-CN" altLang="en-US" sz="2000" b="0"/>
              <a:t>的改变与</a:t>
            </a:r>
            <a:r>
              <a:rPr lang="en-US" altLang="zh-CN" sz="2000" b="0"/>
              <a:t>date</a:t>
            </a:r>
            <a:r>
              <a:rPr lang="zh-CN" altLang="en-US" sz="2000" b="0"/>
              <a:t>无关。</a:t>
            </a:r>
          </a:p>
          <a:p>
            <a:pPr eaLnBrk="1" hangingPunct="1">
              <a:lnSpc>
                <a:spcPct val="150000"/>
              </a:lnSpc>
            </a:pPr>
            <a:endParaRPr lang="zh-CN" altLang="en-US" sz="2000" b="0"/>
          </a:p>
          <a:p>
            <a:pPr eaLnBrk="1" hangingPunct="1">
              <a:lnSpc>
                <a:spcPct val="150000"/>
              </a:lnSpc>
            </a:pPr>
            <a:r>
              <a:rPr lang="zh-CN" altLang="en-US" sz="2000"/>
              <a:t>以结构指针为形参</a:t>
            </a:r>
            <a:r>
              <a:rPr lang="zh-CN" altLang="en-US" sz="2000" b="0"/>
              <a:t>，函数调用时，虽只传递某结构的地址值，但函数能通过该指针间接引用外面实参的结构变量。</a:t>
            </a:r>
            <a:r>
              <a:rPr lang="zh-CN" altLang="en-US" sz="2000" b="0">
                <a:solidFill>
                  <a:srgbClr val="0066FF"/>
                </a:solidFill>
              </a:rPr>
              <a:t>函数可引用形参所指结构，也可把计算结果存储于形参所指的结构中</a:t>
            </a:r>
            <a:r>
              <a:rPr lang="zh-CN" altLang="en-US" sz="2000" b="0"/>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71E2A59F-181D-5FF9-DA0A-A1830D8AEBAB}"/>
              </a:ext>
            </a:extLst>
          </p:cNvPr>
          <p:cNvSpPr>
            <a:spLocks noGrp="1" noChangeArrowheads="1"/>
          </p:cNvSpPr>
          <p:nvPr>
            <p:ph type="title"/>
          </p:nvPr>
        </p:nvSpPr>
        <p:spPr/>
        <p:txBody>
          <a:bodyPr/>
          <a:lstStyle/>
          <a:p>
            <a:pPr eaLnBrk="1" hangingPunct="1"/>
            <a:r>
              <a:rPr lang="zh-CN" altLang="en-US"/>
              <a:t>比较小结</a:t>
            </a:r>
          </a:p>
        </p:txBody>
      </p:sp>
      <p:sp>
        <p:nvSpPr>
          <p:cNvPr id="96259" name="Rectangle 3">
            <a:extLst>
              <a:ext uri="{FF2B5EF4-FFF2-40B4-BE49-F238E27FC236}">
                <a16:creationId xmlns:a16="http://schemas.microsoft.com/office/drawing/2014/main" id="{45FB8467-C7D7-2563-6658-CC60650AA937}"/>
              </a:ext>
            </a:extLst>
          </p:cNvPr>
          <p:cNvSpPr>
            <a:spLocks noGrp="1" noChangeArrowheads="1"/>
          </p:cNvSpPr>
          <p:nvPr>
            <p:ph type="body" idx="1"/>
          </p:nvPr>
        </p:nvSpPr>
        <p:spPr>
          <a:xfrm>
            <a:off x="827088" y="1628800"/>
            <a:ext cx="7866062" cy="4287689"/>
          </a:xfrm>
        </p:spPr>
        <p:txBody>
          <a:bodyPr/>
          <a:lstStyle/>
          <a:p>
            <a:pPr eaLnBrk="1" hangingPunct="1">
              <a:lnSpc>
                <a:spcPct val="150000"/>
              </a:lnSpc>
            </a:pPr>
            <a:r>
              <a:rPr lang="zh-CN" altLang="en-US" sz="2400"/>
              <a:t>函数传参时：</a:t>
            </a:r>
            <a:endParaRPr lang="en-US" altLang="zh-CN" sz="2400"/>
          </a:p>
          <a:p>
            <a:pPr lvl="1" eaLnBrk="1" hangingPunct="1">
              <a:lnSpc>
                <a:spcPct val="150000"/>
              </a:lnSpc>
            </a:pPr>
            <a:r>
              <a:rPr lang="zh-CN" altLang="en-US" sz="1800" b="0"/>
              <a:t>调用有结构类型形参的函数时，</a:t>
            </a:r>
            <a:r>
              <a:rPr lang="zh-CN" altLang="en-US" sz="1800" b="0">
                <a:solidFill>
                  <a:srgbClr val="C00000"/>
                </a:solidFill>
              </a:rPr>
              <a:t>实参结构的各成分值要全部拷贝给形参结构的相应成分</a:t>
            </a:r>
            <a:r>
              <a:rPr lang="zh-CN" altLang="en-US" sz="1800" b="0"/>
              <a:t>，费时间又费空间。</a:t>
            </a:r>
          </a:p>
          <a:p>
            <a:pPr lvl="1" eaLnBrk="1" hangingPunct="1">
              <a:lnSpc>
                <a:spcPct val="150000"/>
              </a:lnSpc>
            </a:pPr>
            <a:r>
              <a:rPr lang="zh-CN" altLang="en-US" sz="1800" b="0"/>
              <a:t>一般情况下，</a:t>
            </a:r>
            <a:r>
              <a:rPr lang="zh-CN" altLang="en-US" sz="1800" b="0">
                <a:solidFill>
                  <a:srgbClr val="0066FF"/>
                </a:solidFill>
              </a:rPr>
              <a:t>以传递结构指针为好</a:t>
            </a:r>
            <a:r>
              <a:rPr lang="zh-CN" altLang="en-US" sz="1800" b="0"/>
              <a:t>。</a:t>
            </a:r>
          </a:p>
          <a:p>
            <a:pPr lvl="1" eaLnBrk="1" hangingPunct="1">
              <a:lnSpc>
                <a:spcPct val="150000"/>
              </a:lnSpc>
            </a:pPr>
            <a:r>
              <a:rPr lang="zh-CN" altLang="en-US" sz="1800" b="0"/>
              <a:t>仅当为了程序的安全性，</a:t>
            </a:r>
            <a:r>
              <a:rPr lang="zh-CN" altLang="en-US" sz="1800" b="0">
                <a:solidFill>
                  <a:srgbClr val="0066FF"/>
                </a:solidFill>
              </a:rPr>
              <a:t>确保函数不修改实参结构成分值的情况下</a:t>
            </a:r>
            <a:r>
              <a:rPr lang="zh-CN" altLang="en-US" sz="1800" b="0"/>
              <a:t>，可使用结构作为形参。</a:t>
            </a:r>
          </a:p>
          <a:p>
            <a:pPr eaLnBrk="1" hangingPunct="1">
              <a:lnSpc>
                <a:spcPct val="150000"/>
              </a:lnSpc>
            </a:pPr>
            <a:r>
              <a:rPr lang="zh-CN" altLang="en-US" sz="2400"/>
              <a:t>函数返回结构值时</a:t>
            </a:r>
            <a:r>
              <a:rPr lang="zh-CN" altLang="en-US" sz="2400" b="0"/>
              <a:t>：</a:t>
            </a:r>
            <a:endParaRPr lang="en-US" altLang="zh-CN" sz="2400" b="0"/>
          </a:p>
          <a:p>
            <a:pPr lvl="1" eaLnBrk="1" hangingPunct="1">
              <a:lnSpc>
                <a:spcPct val="150000"/>
              </a:lnSpc>
            </a:pPr>
            <a:r>
              <a:rPr lang="zh-CN" altLang="en-US" sz="1800" b="0"/>
              <a:t>常需要将函数的返回值赋给结构变量，对于复杂的结构类型，需要执行一长串的传送指令才能实现这一要求。从程序执行效率和实用性来说，以函数返回结构的指针更简便。</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1E2BBC62-F88A-7C8A-5ACB-693CC88FB526}"/>
              </a:ext>
            </a:extLst>
          </p:cNvPr>
          <p:cNvSpPr>
            <a:spLocks noGrp="1" noChangeArrowheads="1"/>
          </p:cNvSpPr>
          <p:nvPr>
            <p:ph type="title"/>
          </p:nvPr>
        </p:nvSpPr>
        <p:spPr/>
        <p:txBody>
          <a:bodyPr/>
          <a:lstStyle/>
          <a:p>
            <a:pPr eaLnBrk="1" hangingPunct="1"/>
            <a:r>
              <a:rPr lang="zh-CN" altLang="en-US"/>
              <a:t>例</a:t>
            </a:r>
            <a:r>
              <a:rPr lang="en-US" altLang="zh-CN"/>
              <a:t>7.2</a:t>
            </a:r>
          </a:p>
        </p:txBody>
      </p:sp>
      <p:sp>
        <p:nvSpPr>
          <p:cNvPr id="104451" name="Rectangle 3">
            <a:extLst>
              <a:ext uri="{FF2B5EF4-FFF2-40B4-BE49-F238E27FC236}">
                <a16:creationId xmlns:a16="http://schemas.microsoft.com/office/drawing/2014/main" id="{9E2BB06B-1C56-B4DA-0569-35A549801213}"/>
              </a:ext>
            </a:extLst>
          </p:cNvPr>
          <p:cNvSpPr>
            <a:spLocks noGrp="1" noChangeArrowheads="1"/>
          </p:cNvSpPr>
          <p:nvPr>
            <p:ph type="body" idx="1"/>
          </p:nvPr>
        </p:nvSpPr>
        <p:spPr>
          <a:xfrm>
            <a:off x="827088" y="1628775"/>
            <a:ext cx="7793037" cy="4503738"/>
          </a:xfrm>
        </p:spPr>
        <p:txBody>
          <a:bodyPr/>
          <a:lstStyle/>
          <a:p>
            <a:pPr marL="533400" indent="-533400" eaLnBrk="1" hangingPunct="1">
              <a:lnSpc>
                <a:spcPct val="150000"/>
              </a:lnSpc>
            </a:pPr>
            <a:r>
              <a:rPr lang="zh-CN" altLang="en-US" sz="2000" b="0"/>
              <a:t>例</a:t>
            </a:r>
            <a:r>
              <a:rPr lang="en-US" altLang="zh-CN" sz="2000" b="0"/>
              <a:t>7.2</a:t>
            </a:r>
            <a:r>
              <a:rPr lang="zh-CN" altLang="en-US" sz="2000" b="0"/>
              <a:t>：设程序中有三个表示坐标点的变量，用户分别用</a:t>
            </a:r>
            <a:r>
              <a:rPr lang="en-US" altLang="zh-CN" sz="2000" b="0"/>
              <a:t>1</a:t>
            </a:r>
            <a:r>
              <a:rPr lang="zh-CN" altLang="en-US" sz="2000" b="0"/>
              <a:t>、</a:t>
            </a:r>
            <a:r>
              <a:rPr lang="en-US" altLang="zh-CN" sz="2000" b="0"/>
              <a:t>2</a:t>
            </a:r>
            <a:r>
              <a:rPr lang="zh-CN" altLang="en-US" sz="2000" b="0"/>
              <a:t>、</a:t>
            </a:r>
            <a:r>
              <a:rPr lang="en-US" altLang="zh-CN" sz="2000" b="0"/>
              <a:t>3</a:t>
            </a:r>
            <a:r>
              <a:rPr lang="zh-CN" altLang="en-US" sz="2000" b="0"/>
              <a:t>来称呼它们。程序给出以下命令供用户选择</a:t>
            </a:r>
            <a:r>
              <a:rPr lang="en-US" altLang="zh-CN" sz="2000" b="0"/>
              <a:t>:</a:t>
            </a:r>
          </a:p>
          <a:p>
            <a:pPr marL="914400" lvl="1" indent="-457200" eaLnBrk="1" hangingPunct="1">
              <a:lnSpc>
                <a:spcPct val="150000"/>
              </a:lnSpc>
              <a:buFont typeface="Wingdings" pitchFamily="2" charset="2"/>
              <a:buNone/>
            </a:pPr>
            <a:r>
              <a:rPr lang="en-US" altLang="zh-CN" sz="1800" b="0"/>
              <a:t>    1.</a:t>
            </a:r>
            <a:r>
              <a:rPr lang="zh-CN" altLang="en-US" sz="1800" b="0"/>
              <a:t>为某坐标点输入坐标值。</a:t>
            </a:r>
          </a:p>
          <a:p>
            <a:pPr marL="914400" lvl="1" indent="-457200" eaLnBrk="1" hangingPunct="1">
              <a:lnSpc>
                <a:spcPct val="150000"/>
              </a:lnSpc>
              <a:buFont typeface="Wingdings" pitchFamily="2" charset="2"/>
              <a:buNone/>
            </a:pPr>
            <a:r>
              <a:rPr lang="zh-CN" altLang="en-US" sz="1800" b="0"/>
              <a:t>    </a:t>
            </a:r>
            <a:r>
              <a:rPr lang="en-US" altLang="zh-CN" sz="1800" b="0"/>
              <a:t>2.</a:t>
            </a:r>
            <a:r>
              <a:rPr lang="zh-CN" altLang="en-US" sz="1800" b="0"/>
              <a:t>显示某点的坐标值。</a:t>
            </a:r>
          </a:p>
          <a:p>
            <a:pPr marL="914400" lvl="1" indent="-457200" eaLnBrk="1" hangingPunct="1">
              <a:lnSpc>
                <a:spcPct val="150000"/>
              </a:lnSpc>
              <a:buFont typeface="Wingdings" pitchFamily="2" charset="2"/>
              <a:buNone/>
            </a:pPr>
            <a:r>
              <a:rPr lang="zh-CN" altLang="en-US" sz="1800" b="0"/>
              <a:t>    </a:t>
            </a:r>
            <a:r>
              <a:rPr lang="en-US" altLang="zh-CN" sz="1800" b="0"/>
              <a:t>3.</a:t>
            </a:r>
            <a:r>
              <a:rPr lang="zh-CN" altLang="en-US" sz="1800" b="0"/>
              <a:t>指定两个点，让另外一个点成为它们的中点。</a:t>
            </a:r>
          </a:p>
          <a:p>
            <a:pPr marL="914400" lvl="1" indent="-457200" eaLnBrk="1" hangingPunct="1">
              <a:lnSpc>
                <a:spcPct val="150000"/>
              </a:lnSpc>
              <a:buFont typeface="Wingdings" pitchFamily="2" charset="2"/>
              <a:buNone/>
            </a:pPr>
            <a:r>
              <a:rPr lang="zh-CN" altLang="en-US" sz="1800" b="0"/>
              <a:t>    </a:t>
            </a:r>
            <a:r>
              <a:rPr lang="en-US" altLang="zh-CN" sz="1800" b="0"/>
              <a:t>4.</a:t>
            </a:r>
            <a:r>
              <a:rPr lang="zh-CN" altLang="en-US" sz="1800" b="0"/>
              <a:t>显示两点之间的矩离。</a:t>
            </a:r>
          </a:p>
          <a:p>
            <a:pPr marL="914400" lvl="1" indent="-457200" eaLnBrk="1" hangingPunct="1">
              <a:lnSpc>
                <a:spcPct val="150000"/>
              </a:lnSpc>
              <a:buFont typeface="Wingdings" pitchFamily="2" charset="2"/>
              <a:buNone/>
            </a:pPr>
            <a:r>
              <a:rPr lang="zh-CN" altLang="en-US" sz="1800" b="0"/>
              <a:t>    </a:t>
            </a:r>
            <a:r>
              <a:rPr lang="en-US" altLang="zh-CN" sz="1800" b="0"/>
              <a:t>5.</a:t>
            </a:r>
            <a:r>
              <a:rPr lang="zh-CN" altLang="en-US" sz="1800" b="0"/>
              <a:t>指定两点，判另一点是否在两点的连线上。</a:t>
            </a:r>
          </a:p>
          <a:p>
            <a:pPr marL="914400" lvl="1" indent="-457200" eaLnBrk="1" hangingPunct="1">
              <a:lnSpc>
                <a:spcPct val="150000"/>
              </a:lnSpc>
              <a:buFont typeface="Wingdings" pitchFamily="2" charset="2"/>
              <a:buNone/>
            </a:pPr>
            <a:r>
              <a:rPr lang="zh-CN" altLang="en-US" sz="1800" b="0"/>
              <a:t>    </a:t>
            </a:r>
            <a:r>
              <a:rPr lang="en-US" altLang="zh-CN" sz="1800" b="0"/>
              <a:t>6.</a:t>
            </a:r>
            <a:r>
              <a:rPr lang="zh-CN" altLang="en-US" sz="1800" b="0"/>
              <a:t>结束程序。</a:t>
            </a:r>
          </a:p>
          <a:p>
            <a:pPr marL="533400" indent="-533400" eaLnBrk="1" hangingPunct="1">
              <a:lnSpc>
                <a:spcPct val="150000"/>
              </a:lnSpc>
            </a:pPr>
            <a:r>
              <a:rPr lang="zh-CN" altLang="en-US" sz="2000" b="0"/>
              <a:t>遵照编程习惯，将完成指定功能的代码、供用户指定坐标点序号的代码，及显示菜单并接受用户选择的代码分别编写成函数。</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69A44766-3335-1F42-09EB-669221AD8B93}"/>
              </a:ext>
            </a:extLst>
          </p:cNvPr>
          <p:cNvSpPr>
            <a:spLocks noGrp="1" noChangeArrowheads="1"/>
          </p:cNvSpPr>
          <p:nvPr>
            <p:ph type="title"/>
          </p:nvPr>
        </p:nvSpPr>
        <p:spPr/>
        <p:txBody>
          <a:bodyPr/>
          <a:lstStyle/>
          <a:p>
            <a:pPr eaLnBrk="1" hangingPunct="1"/>
            <a:r>
              <a:rPr lang="zh-CN" altLang="en-US"/>
              <a:t>例</a:t>
            </a:r>
            <a:r>
              <a:rPr lang="en-US" altLang="zh-CN"/>
              <a:t>7.2 (</a:t>
            </a:r>
            <a:r>
              <a:rPr lang="zh-CN" altLang="en-US"/>
              <a:t>续</a:t>
            </a:r>
            <a:r>
              <a:rPr lang="en-US" altLang="zh-CN"/>
              <a:t>)</a:t>
            </a:r>
          </a:p>
        </p:txBody>
      </p:sp>
      <p:sp>
        <p:nvSpPr>
          <p:cNvPr id="106499" name="Rectangle 3">
            <a:extLst>
              <a:ext uri="{FF2B5EF4-FFF2-40B4-BE49-F238E27FC236}">
                <a16:creationId xmlns:a16="http://schemas.microsoft.com/office/drawing/2014/main" id="{0113FC02-1746-9F54-0BA8-A24FD0A14079}"/>
              </a:ext>
            </a:extLst>
          </p:cNvPr>
          <p:cNvSpPr>
            <a:spLocks noGrp="1" noChangeArrowheads="1"/>
          </p:cNvSpPr>
          <p:nvPr>
            <p:ph type="body" idx="1"/>
          </p:nvPr>
        </p:nvSpPr>
        <p:spPr/>
        <p:txBody>
          <a:bodyPr/>
          <a:lstStyle/>
          <a:p>
            <a:pPr marL="533400" indent="-533400" eaLnBrk="1" hangingPunct="1">
              <a:lnSpc>
                <a:spcPct val="90000"/>
              </a:lnSpc>
              <a:buFont typeface="Wingdings" pitchFamily="2" charset="2"/>
              <a:buAutoNum type="arabicPeriod"/>
            </a:pPr>
            <a:r>
              <a:rPr lang="en-US" altLang="zh-CN" sz="1400" b="0"/>
              <a:t>#include  &lt;stdio.h&gt;</a:t>
            </a:r>
          </a:p>
          <a:p>
            <a:pPr marL="533400" indent="-533400" eaLnBrk="1" hangingPunct="1">
              <a:lnSpc>
                <a:spcPct val="90000"/>
              </a:lnSpc>
              <a:buFont typeface="Wingdings" pitchFamily="2" charset="2"/>
              <a:buAutoNum type="arabicPeriod"/>
            </a:pPr>
            <a:r>
              <a:rPr lang="en-US" altLang="zh-CN" sz="1400" b="0"/>
              <a:t>#include  &lt;math.h&gt;</a:t>
            </a:r>
          </a:p>
          <a:p>
            <a:pPr marL="533400" indent="-533400" eaLnBrk="1" hangingPunct="1">
              <a:lnSpc>
                <a:spcPct val="90000"/>
              </a:lnSpc>
              <a:buFont typeface="Wingdings" pitchFamily="2" charset="2"/>
              <a:buAutoNum type="arabicPeriod"/>
            </a:pPr>
            <a:r>
              <a:rPr lang="en-US" altLang="zh-CN" sz="1400" b="0">
                <a:solidFill>
                  <a:srgbClr val="0066FF"/>
                </a:solidFill>
              </a:rPr>
              <a:t>struct point</a:t>
            </a:r>
            <a:r>
              <a:rPr lang="en-US" altLang="zh-CN" sz="1400" b="0"/>
              <a:t>{</a:t>
            </a:r>
          </a:p>
          <a:p>
            <a:pPr marL="533400" indent="-533400" eaLnBrk="1" hangingPunct="1">
              <a:lnSpc>
                <a:spcPct val="90000"/>
              </a:lnSpc>
              <a:buFont typeface="Wingdings" pitchFamily="2" charset="2"/>
              <a:buAutoNum type="arabicPeriod"/>
            </a:pPr>
            <a:r>
              <a:rPr lang="en-US" altLang="zh-CN" sz="1400" b="0"/>
              <a:t>   int x;  </a:t>
            </a:r>
          </a:p>
          <a:p>
            <a:pPr marL="533400" indent="-533400" eaLnBrk="1" hangingPunct="1">
              <a:lnSpc>
                <a:spcPct val="90000"/>
              </a:lnSpc>
              <a:buFont typeface="Wingdings" pitchFamily="2" charset="2"/>
              <a:buAutoNum type="arabicPeriod"/>
            </a:pPr>
            <a:r>
              <a:rPr lang="en-US" altLang="zh-CN" sz="1400" b="0"/>
              <a:t>   int y;</a:t>
            </a:r>
          </a:p>
          <a:p>
            <a:pPr marL="533400" indent="-533400" eaLnBrk="1" hangingPunct="1">
              <a:lnSpc>
                <a:spcPct val="90000"/>
              </a:lnSpc>
              <a:buFont typeface="Wingdings" pitchFamily="2" charset="2"/>
              <a:buAutoNum type="arabicPeriod"/>
            </a:pPr>
            <a:r>
              <a:rPr lang="en-US" altLang="zh-CN" sz="1400" b="0"/>
              <a:t>} </a:t>
            </a:r>
            <a:r>
              <a:rPr lang="en-US" altLang="zh-CN" sz="1400" b="0">
                <a:solidFill>
                  <a:srgbClr val="0066FF"/>
                </a:solidFill>
              </a:rPr>
              <a:t>p[3]</a:t>
            </a:r>
            <a:r>
              <a:rPr lang="en-US" altLang="zh-CN" sz="1400" b="0"/>
              <a:t>;  </a:t>
            </a:r>
            <a:r>
              <a:rPr lang="en-US" altLang="zh-CN" sz="1400" b="0">
                <a:solidFill>
                  <a:schemeClr val="folHlink"/>
                </a:solidFill>
              </a:rPr>
              <a:t>//</a:t>
            </a:r>
            <a:r>
              <a:rPr lang="zh-CN" altLang="en-US" sz="1400" b="0">
                <a:solidFill>
                  <a:schemeClr val="folHlink"/>
                </a:solidFill>
              </a:rPr>
              <a:t>结构数组，存储三个坐标点</a:t>
            </a:r>
          </a:p>
          <a:p>
            <a:pPr marL="533400" indent="-533400" eaLnBrk="1" hangingPunct="1">
              <a:lnSpc>
                <a:spcPct val="90000"/>
              </a:lnSpc>
              <a:buFont typeface="Wingdings" pitchFamily="2" charset="2"/>
              <a:buAutoNum type="arabicPeriod"/>
            </a:pPr>
            <a:r>
              <a:rPr lang="en-US" altLang="zh-CN" sz="1400" b="0"/>
              <a:t>int </a:t>
            </a:r>
            <a:r>
              <a:rPr lang="en-US" altLang="zh-CN" sz="1400" b="0">
                <a:solidFill>
                  <a:srgbClr val="0066FF"/>
                </a:solidFill>
              </a:rPr>
              <a:t>menu</a:t>
            </a:r>
            <a:r>
              <a:rPr lang="en-US" altLang="zh-CN" sz="1400" b="0"/>
              <a:t>(){  </a:t>
            </a:r>
            <a:r>
              <a:rPr lang="en-US" altLang="zh-CN" sz="1400" b="0">
                <a:solidFill>
                  <a:schemeClr val="folHlink"/>
                </a:solidFill>
              </a:rPr>
              <a:t>//</a:t>
            </a:r>
            <a:r>
              <a:rPr lang="zh-CN" altLang="en-US" sz="1400" b="0">
                <a:solidFill>
                  <a:schemeClr val="folHlink"/>
                </a:solidFill>
              </a:rPr>
              <a:t>菜单函数</a:t>
            </a:r>
          </a:p>
          <a:p>
            <a:pPr marL="533400" indent="-533400" eaLnBrk="1" hangingPunct="1">
              <a:lnSpc>
                <a:spcPct val="90000"/>
              </a:lnSpc>
              <a:buFont typeface="Wingdings" pitchFamily="2" charset="2"/>
              <a:buAutoNum type="arabicPeriod"/>
            </a:pPr>
            <a:r>
              <a:rPr lang="zh-CN" altLang="en-US" sz="1400" b="0"/>
              <a:t>  </a:t>
            </a:r>
            <a:r>
              <a:rPr lang="en-US" altLang="zh-CN" sz="1400" b="0"/>
              <a:t>int choice;</a:t>
            </a:r>
          </a:p>
          <a:p>
            <a:pPr marL="533400" indent="-533400" eaLnBrk="1" hangingPunct="1">
              <a:lnSpc>
                <a:spcPct val="90000"/>
              </a:lnSpc>
              <a:buFont typeface="Wingdings" pitchFamily="2" charset="2"/>
              <a:buAutoNum type="arabicPeriod"/>
            </a:pPr>
            <a:r>
              <a:rPr lang="en-US" altLang="zh-CN" sz="1400" b="0"/>
              <a:t>  do {  </a:t>
            </a:r>
          </a:p>
          <a:p>
            <a:pPr marL="533400" indent="-533400" eaLnBrk="1" hangingPunct="1">
              <a:lnSpc>
                <a:spcPct val="90000"/>
              </a:lnSpc>
              <a:buFont typeface="Wingdings" pitchFamily="2" charset="2"/>
              <a:buAutoNum type="arabicPeriod"/>
            </a:pPr>
            <a:r>
              <a:rPr lang="en-US" altLang="zh-CN" sz="1400" b="0"/>
              <a:t>     printf("\n\n\n");</a:t>
            </a:r>
          </a:p>
          <a:p>
            <a:pPr marL="533400" indent="-533400" eaLnBrk="1" hangingPunct="1">
              <a:lnSpc>
                <a:spcPct val="90000"/>
              </a:lnSpc>
              <a:buFont typeface="Wingdings" pitchFamily="2" charset="2"/>
              <a:buAutoNum type="arabicPeriod"/>
            </a:pPr>
            <a:r>
              <a:rPr lang="en-US" altLang="zh-CN" sz="1400" b="0"/>
              <a:t>     printf("  1.</a:t>
            </a:r>
            <a:r>
              <a:rPr lang="zh-CN" altLang="en-US" sz="1400" b="0"/>
              <a:t>指定点，并为它输入坐标值</a:t>
            </a:r>
            <a:r>
              <a:rPr lang="en-US" altLang="zh-CN" sz="1400" b="0"/>
              <a:t>\n");</a:t>
            </a:r>
          </a:p>
          <a:p>
            <a:pPr marL="533400" indent="-533400" eaLnBrk="1" hangingPunct="1">
              <a:lnSpc>
                <a:spcPct val="90000"/>
              </a:lnSpc>
              <a:buFont typeface="Wingdings" pitchFamily="2" charset="2"/>
              <a:buAutoNum type="arabicPeriod"/>
            </a:pPr>
            <a:r>
              <a:rPr lang="en-US" altLang="zh-CN" sz="1400" b="0"/>
              <a:t>     printf("  2.</a:t>
            </a:r>
            <a:r>
              <a:rPr lang="zh-CN" altLang="en-US" sz="1400" b="0"/>
              <a:t>指定点，显示它的坐标值</a:t>
            </a:r>
            <a:r>
              <a:rPr lang="en-US" altLang="zh-CN" sz="1400" b="0"/>
              <a:t>\n");</a:t>
            </a:r>
          </a:p>
          <a:p>
            <a:pPr marL="533400" indent="-533400" eaLnBrk="1" hangingPunct="1">
              <a:lnSpc>
                <a:spcPct val="90000"/>
              </a:lnSpc>
              <a:buFont typeface="Wingdings" pitchFamily="2" charset="2"/>
              <a:buAutoNum type="arabicPeriod"/>
            </a:pPr>
            <a:r>
              <a:rPr lang="en-US" altLang="zh-CN" sz="1400" b="0"/>
              <a:t>     printf("  3.</a:t>
            </a:r>
            <a:r>
              <a:rPr lang="zh-CN" altLang="en-US" sz="1400" b="0"/>
              <a:t>指定两点</a:t>
            </a:r>
            <a:r>
              <a:rPr lang="en-US" altLang="zh-CN" sz="1400" b="0"/>
              <a:t>,</a:t>
            </a:r>
            <a:r>
              <a:rPr lang="zh-CN" altLang="en-US" sz="1400" b="0"/>
              <a:t>求出它们的中点坐标给另外一个点</a:t>
            </a:r>
            <a:r>
              <a:rPr lang="en-US" altLang="zh-CN" sz="1400" b="0"/>
              <a:t>\n");</a:t>
            </a:r>
          </a:p>
          <a:p>
            <a:pPr marL="533400" indent="-533400" eaLnBrk="1" hangingPunct="1">
              <a:lnSpc>
                <a:spcPct val="90000"/>
              </a:lnSpc>
              <a:buFont typeface="Wingdings" pitchFamily="2" charset="2"/>
              <a:buAutoNum type="arabicPeriod"/>
            </a:pPr>
            <a:r>
              <a:rPr lang="en-US" altLang="zh-CN" sz="1400" b="0"/>
              <a:t>     printf("  4.</a:t>
            </a:r>
            <a:r>
              <a:rPr lang="zh-CN" altLang="en-US" sz="1400" b="0"/>
              <a:t>指定两点，显示两点间的矩离</a:t>
            </a:r>
            <a:r>
              <a:rPr lang="en-US" altLang="zh-CN" sz="1400" b="0"/>
              <a:t>\n");</a:t>
            </a:r>
          </a:p>
          <a:p>
            <a:pPr marL="533400" indent="-533400" eaLnBrk="1" hangingPunct="1">
              <a:lnSpc>
                <a:spcPct val="90000"/>
              </a:lnSpc>
              <a:buFont typeface="Wingdings" pitchFamily="2" charset="2"/>
              <a:buAutoNum type="arabicPeriod"/>
            </a:pPr>
            <a:r>
              <a:rPr lang="en-US" altLang="zh-CN" sz="1400" b="0"/>
              <a:t>     printf("  5.</a:t>
            </a:r>
            <a:r>
              <a:rPr lang="zh-CN" altLang="en-US" sz="1400" b="0"/>
              <a:t>指定两点，判另一点是否在两点的连线上</a:t>
            </a:r>
            <a:r>
              <a:rPr lang="en-US" altLang="zh-CN" sz="1400" b="0"/>
              <a:t>\n");</a:t>
            </a:r>
          </a:p>
          <a:p>
            <a:pPr marL="533400" indent="-533400" eaLnBrk="1" hangingPunct="1">
              <a:lnSpc>
                <a:spcPct val="90000"/>
              </a:lnSpc>
              <a:buFont typeface="Wingdings" pitchFamily="2" charset="2"/>
              <a:buAutoNum type="arabicPeriod"/>
            </a:pPr>
            <a:r>
              <a:rPr lang="en-US" altLang="zh-CN" sz="1400" b="0"/>
              <a:t>     printf("  6.</a:t>
            </a:r>
            <a:r>
              <a:rPr lang="zh-CN" altLang="en-US" sz="1400" b="0"/>
              <a:t>结束程序</a:t>
            </a:r>
            <a:r>
              <a:rPr lang="en-US" altLang="zh-CN" sz="1400" b="0"/>
              <a:t>\n");</a:t>
            </a:r>
          </a:p>
          <a:p>
            <a:pPr marL="533400" indent="-533400" eaLnBrk="1" hangingPunct="1">
              <a:lnSpc>
                <a:spcPct val="90000"/>
              </a:lnSpc>
              <a:buFont typeface="Wingdings" pitchFamily="2" charset="2"/>
              <a:buAutoNum type="arabicPeriod"/>
            </a:pPr>
            <a:r>
              <a:rPr lang="en-US" altLang="zh-CN" sz="1400" b="0"/>
              <a:t>     printf("\t</a:t>
            </a:r>
            <a:r>
              <a:rPr lang="zh-CN" altLang="en-US" sz="1400" b="0"/>
              <a:t>输入你的选择</a:t>
            </a:r>
            <a:r>
              <a:rPr lang="en-US" altLang="zh-CN" sz="1400" b="0"/>
              <a:t>!\n");</a:t>
            </a:r>
          </a:p>
          <a:p>
            <a:pPr marL="533400" indent="-533400" eaLnBrk="1" hangingPunct="1">
              <a:lnSpc>
                <a:spcPct val="90000"/>
              </a:lnSpc>
              <a:buFont typeface="Wingdings" pitchFamily="2" charset="2"/>
              <a:buAutoNum type="arabicPeriod"/>
            </a:pPr>
            <a:r>
              <a:rPr lang="en-US" altLang="zh-CN" sz="1400" b="0"/>
              <a:t>     scanf("%d", &amp;choice);</a:t>
            </a:r>
          </a:p>
          <a:p>
            <a:pPr marL="533400" indent="-533400" eaLnBrk="1" hangingPunct="1">
              <a:lnSpc>
                <a:spcPct val="90000"/>
              </a:lnSpc>
              <a:buFont typeface="Wingdings" pitchFamily="2" charset="2"/>
              <a:buAutoNum type="arabicPeriod"/>
            </a:pPr>
            <a:r>
              <a:rPr lang="en-US" altLang="zh-CN" sz="1400" b="0"/>
              <a:t>     if (choice &gt;= 1 &amp;&amp; choice &lt;= 6) </a:t>
            </a:r>
            <a:r>
              <a:rPr lang="en-US" altLang="zh-CN" sz="1400" b="0">
                <a:solidFill>
                  <a:srgbClr val="0066FF"/>
                </a:solidFill>
              </a:rPr>
              <a:t>return choice</a:t>
            </a:r>
            <a:r>
              <a:rPr lang="en-US" altLang="zh-CN" sz="1400" b="0"/>
              <a:t>;  </a:t>
            </a:r>
            <a:r>
              <a:rPr lang="en-US" altLang="zh-CN" sz="1400" b="0">
                <a:solidFill>
                  <a:schemeClr val="folHlink"/>
                </a:solidFill>
              </a:rPr>
              <a:t>//</a:t>
            </a:r>
            <a:r>
              <a:rPr lang="zh-CN" altLang="en-US" sz="1400" b="0">
                <a:solidFill>
                  <a:schemeClr val="folHlink"/>
                </a:solidFill>
              </a:rPr>
              <a:t>返回选择</a:t>
            </a:r>
          </a:p>
          <a:p>
            <a:pPr marL="533400" indent="-533400" eaLnBrk="1" hangingPunct="1">
              <a:lnSpc>
                <a:spcPct val="90000"/>
              </a:lnSpc>
              <a:buFont typeface="Wingdings" pitchFamily="2" charset="2"/>
              <a:buAutoNum type="arabicPeriod"/>
            </a:pPr>
            <a:r>
              <a:rPr lang="zh-CN" altLang="en-US" sz="1400" b="0"/>
              <a:t>     </a:t>
            </a:r>
            <a:r>
              <a:rPr lang="en-US" altLang="zh-CN" sz="1400" b="0"/>
              <a:t>printf("</a:t>
            </a:r>
            <a:r>
              <a:rPr lang="zh-CN" altLang="en-US" sz="1400" b="0"/>
              <a:t>选择出错！重新选择。</a:t>
            </a:r>
            <a:r>
              <a:rPr lang="en-US" altLang="zh-CN" sz="1400" b="0"/>
              <a:t>\n");</a:t>
            </a:r>
          </a:p>
          <a:p>
            <a:pPr marL="533400" indent="-533400" eaLnBrk="1" hangingPunct="1">
              <a:lnSpc>
                <a:spcPct val="90000"/>
              </a:lnSpc>
              <a:buFont typeface="Wingdings" pitchFamily="2" charset="2"/>
              <a:buAutoNum type="arabicPeriod"/>
            </a:pPr>
            <a:r>
              <a:rPr lang="en-US" altLang="zh-CN" sz="1400" b="0"/>
              <a:t>  } while ( 1 );  </a:t>
            </a:r>
          </a:p>
          <a:p>
            <a:pPr marL="533400" indent="-533400" eaLnBrk="1" hangingPunct="1">
              <a:lnSpc>
                <a:spcPct val="90000"/>
              </a:lnSpc>
              <a:buFont typeface="Wingdings" pitchFamily="2" charset="2"/>
              <a:buAutoNum type="arabicPeriod"/>
            </a:pPr>
            <a:r>
              <a:rPr lang="en-US" altLang="zh-CN" sz="1400" b="0"/>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4EA2A197-A922-069E-BADF-81386EDB2DAD}"/>
              </a:ext>
            </a:extLst>
          </p:cNvPr>
          <p:cNvSpPr>
            <a:spLocks noGrp="1" noChangeArrowheads="1"/>
          </p:cNvSpPr>
          <p:nvPr>
            <p:ph type="title"/>
          </p:nvPr>
        </p:nvSpPr>
        <p:spPr/>
        <p:txBody>
          <a:bodyPr/>
          <a:lstStyle/>
          <a:p>
            <a:pPr eaLnBrk="1" hangingPunct="1"/>
            <a:r>
              <a:rPr lang="zh-CN" altLang="en-US"/>
              <a:t>例</a:t>
            </a:r>
            <a:r>
              <a:rPr lang="en-US" altLang="zh-CN"/>
              <a:t>7.2 (</a:t>
            </a:r>
            <a:r>
              <a:rPr lang="zh-CN" altLang="en-US"/>
              <a:t>续</a:t>
            </a:r>
            <a:r>
              <a:rPr lang="en-US" altLang="zh-CN"/>
              <a:t>)</a:t>
            </a:r>
          </a:p>
        </p:txBody>
      </p:sp>
      <p:sp>
        <p:nvSpPr>
          <p:cNvPr id="108547" name="Rectangle 3">
            <a:extLst>
              <a:ext uri="{FF2B5EF4-FFF2-40B4-BE49-F238E27FC236}">
                <a16:creationId xmlns:a16="http://schemas.microsoft.com/office/drawing/2014/main" id="{4367A9E3-EC35-6FF2-8A91-E1EC0BAD70A5}"/>
              </a:ext>
            </a:extLst>
          </p:cNvPr>
          <p:cNvSpPr>
            <a:spLocks noGrp="1" noChangeArrowheads="1"/>
          </p:cNvSpPr>
          <p:nvPr>
            <p:ph type="body" idx="1"/>
          </p:nvPr>
        </p:nvSpPr>
        <p:spPr>
          <a:xfrm>
            <a:off x="827088" y="1844823"/>
            <a:ext cx="8128000" cy="4287689"/>
          </a:xfrm>
        </p:spPr>
        <p:txBody>
          <a:bodyPr/>
          <a:lstStyle/>
          <a:p>
            <a:pPr marL="533400" indent="-533400" eaLnBrk="1" hangingPunct="1">
              <a:lnSpc>
                <a:spcPct val="90000"/>
              </a:lnSpc>
              <a:buFont typeface="Wingdings" pitchFamily="2" charset="2"/>
              <a:buAutoNum type="arabicPeriod"/>
            </a:pPr>
            <a:r>
              <a:rPr lang="en-US" altLang="zh-CN" sz="2000" b="0"/>
              <a:t>int pointNo(){   </a:t>
            </a:r>
            <a:r>
              <a:rPr lang="en-US" altLang="zh-CN" sz="2000" b="0">
                <a:solidFill>
                  <a:schemeClr val="folHlink"/>
                </a:solidFill>
              </a:rPr>
              <a:t>//</a:t>
            </a:r>
            <a:r>
              <a:rPr lang="zh-CN" altLang="en-US" sz="2000" b="0">
                <a:solidFill>
                  <a:schemeClr val="folHlink"/>
                </a:solidFill>
              </a:rPr>
              <a:t>接受用户指定的点的代号</a:t>
            </a:r>
          </a:p>
          <a:p>
            <a:pPr marL="533400" indent="-533400" eaLnBrk="1" hangingPunct="1">
              <a:lnSpc>
                <a:spcPct val="90000"/>
              </a:lnSpc>
              <a:buFont typeface="Wingdings" pitchFamily="2" charset="2"/>
              <a:buAutoNum type="arabicPeriod"/>
            </a:pPr>
            <a:r>
              <a:rPr lang="zh-CN" altLang="en-US" sz="2000" b="0"/>
              <a:t>    </a:t>
            </a:r>
            <a:r>
              <a:rPr lang="en-US" altLang="zh-CN" sz="2000" b="0"/>
              <a:t>int pno;</a:t>
            </a:r>
          </a:p>
          <a:p>
            <a:pPr marL="533400" indent="-533400" eaLnBrk="1" hangingPunct="1">
              <a:lnSpc>
                <a:spcPct val="90000"/>
              </a:lnSpc>
              <a:buFont typeface="Wingdings" pitchFamily="2" charset="2"/>
              <a:buAutoNum type="arabicPeriod"/>
            </a:pPr>
            <a:r>
              <a:rPr lang="en-US" altLang="zh-CN" sz="2000" b="0"/>
              <a:t>    while (1) {</a:t>
            </a:r>
          </a:p>
          <a:p>
            <a:pPr marL="533400" indent="-533400" eaLnBrk="1" hangingPunct="1">
              <a:lnSpc>
                <a:spcPct val="90000"/>
              </a:lnSpc>
              <a:buFont typeface="Wingdings" pitchFamily="2" charset="2"/>
              <a:buAutoNum type="arabicPeriod"/>
            </a:pPr>
            <a:r>
              <a:rPr lang="en-US" altLang="zh-CN" sz="2000" b="0"/>
              <a:t>        printf("</a:t>
            </a:r>
            <a:r>
              <a:rPr lang="zh-CN" altLang="en-US" sz="2000" b="0"/>
              <a:t>指定点的代号</a:t>
            </a:r>
            <a:r>
              <a:rPr lang="en-US" altLang="zh-CN" sz="2000" b="0"/>
              <a:t>:\n"); </a:t>
            </a:r>
          </a:p>
          <a:p>
            <a:pPr marL="533400" indent="-533400" eaLnBrk="1" hangingPunct="1">
              <a:lnSpc>
                <a:spcPct val="90000"/>
              </a:lnSpc>
              <a:buFont typeface="Wingdings" pitchFamily="2" charset="2"/>
              <a:buAutoNum type="arabicPeriod"/>
            </a:pPr>
            <a:r>
              <a:rPr lang="en-US" altLang="zh-CN" sz="2000" b="0"/>
              <a:t>        scanf("%d", &amp;pno);</a:t>
            </a:r>
          </a:p>
          <a:p>
            <a:pPr marL="533400" indent="-533400" eaLnBrk="1" hangingPunct="1">
              <a:lnSpc>
                <a:spcPct val="90000"/>
              </a:lnSpc>
              <a:buFont typeface="Wingdings" pitchFamily="2" charset="2"/>
              <a:buAutoNum type="arabicPeriod"/>
            </a:pPr>
            <a:r>
              <a:rPr lang="en-US" altLang="zh-CN" sz="2000" b="0"/>
              <a:t>        if(pno &gt;= 1 &amp;&amp; pno &lt;= 3)  </a:t>
            </a:r>
            <a:r>
              <a:rPr lang="en-US" altLang="zh-CN" sz="2000" b="0">
                <a:solidFill>
                  <a:srgbClr val="0066FF"/>
                </a:solidFill>
              </a:rPr>
              <a:t>return pno-1</a:t>
            </a:r>
            <a:r>
              <a:rPr lang="en-US" altLang="zh-CN" sz="2000" b="0"/>
              <a:t>;</a:t>
            </a:r>
          </a:p>
          <a:p>
            <a:pPr marL="533400" indent="-533400" eaLnBrk="1" hangingPunct="1">
              <a:lnSpc>
                <a:spcPct val="90000"/>
              </a:lnSpc>
              <a:buFont typeface="Wingdings" pitchFamily="2" charset="2"/>
              <a:buAutoNum type="arabicPeriod"/>
            </a:pPr>
            <a:r>
              <a:rPr lang="en-US" altLang="zh-CN" sz="2000" b="0"/>
              <a:t>        printf(</a:t>
            </a:r>
            <a:r>
              <a:rPr lang="en-US" altLang="zh-CN" sz="2000" b="0">
                <a:latin typeface="Arial" panose="020B0604020202020204" pitchFamily="34" charset="0"/>
              </a:rPr>
              <a:t>“</a:t>
            </a:r>
            <a:r>
              <a:rPr lang="zh-CN" altLang="en-US" sz="2000" b="0"/>
              <a:t>点的代号指定不正确</a:t>
            </a:r>
            <a:r>
              <a:rPr lang="en-US" altLang="zh-CN" sz="2000" b="0"/>
              <a:t>, </a:t>
            </a:r>
            <a:r>
              <a:rPr lang="zh-CN" altLang="en-US" sz="2000" b="0"/>
              <a:t>请重新输入</a:t>
            </a:r>
            <a:r>
              <a:rPr lang="en-US" altLang="zh-CN" sz="2000" b="0"/>
              <a:t>");</a:t>
            </a:r>
          </a:p>
          <a:p>
            <a:pPr marL="533400" indent="-533400" eaLnBrk="1" hangingPunct="1">
              <a:lnSpc>
                <a:spcPct val="90000"/>
              </a:lnSpc>
              <a:buFont typeface="Wingdings" pitchFamily="2" charset="2"/>
              <a:buAutoNum type="arabicPeriod"/>
            </a:pPr>
            <a:r>
              <a:rPr lang="en-US" altLang="zh-CN" sz="2000" b="0"/>
              <a:t>    }</a:t>
            </a:r>
          </a:p>
          <a:p>
            <a:pPr marL="533400" indent="-533400" eaLnBrk="1" hangingPunct="1">
              <a:lnSpc>
                <a:spcPct val="90000"/>
              </a:lnSpc>
              <a:buFont typeface="Wingdings" pitchFamily="2" charset="2"/>
              <a:buAutoNum type="arabicPeriod"/>
            </a:pPr>
            <a:r>
              <a:rPr lang="en-US" altLang="zh-CN" sz="2000" b="0"/>
              <a:t>}</a:t>
            </a:r>
          </a:p>
          <a:p>
            <a:pPr marL="533400" indent="-533400" eaLnBrk="1" hangingPunct="1">
              <a:lnSpc>
                <a:spcPct val="90000"/>
              </a:lnSpc>
              <a:buFont typeface="Wingdings" pitchFamily="2" charset="2"/>
              <a:buAutoNum type="arabicPeriod"/>
            </a:pPr>
            <a:endParaRPr lang="en-US" altLang="zh-CN" sz="2000" b="0"/>
          </a:p>
          <a:p>
            <a:pPr marL="533400" indent="-533400" eaLnBrk="1" hangingPunct="1">
              <a:lnSpc>
                <a:spcPct val="90000"/>
              </a:lnSpc>
              <a:buFont typeface="Wingdings" pitchFamily="2" charset="2"/>
              <a:buAutoNum type="arabicPeriod"/>
            </a:pPr>
            <a:r>
              <a:rPr lang="en-US" altLang="zh-CN" sz="2000" b="0"/>
              <a:t>void inputPoint(int pno){  </a:t>
            </a:r>
            <a:r>
              <a:rPr lang="en-US" altLang="zh-CN" sz="2000" b="0">
                <a:solidFill>
                  <a:schemeClr val="folHlink"/>
                </a:solidFill>
              </a:rPr>
              <a:t>//</a:t>
            </a:r>
            <a:r>
              <a:rPr lang="zh-CN" altLang="en-US" sz="2000" b="0">
                <a:solidFill>
                  <a:schemeClr val="folHlink"/>
                </a:solidFill>
              </a:rPr>
              <a:t>功能</a:t>
            </a:r>
            <a:r>
              <a:rPr lang="en-US" altLang="zh-CN" sz="2000" b="0">
                <a:solidFill>
                  <a:schemeClr val="folHlink"/>
                </a:solidFill>
              </a:rPr>
              <a:t>1</a:t>
            </a:r>
            <a:r>
              <a:rPr lang="zh-CN" altLang="en-US" sz="2000" b="0">
                <a:solidFill>
                  <a:schemeClr val="folHlink"/>
                </a:solidFill>
              </a:rPr>
              <a:t>：输入指定点的坐标</a:t>
            </a:r>
          </a:p>
          <a:p>
            <a:pPr marL="533400" indent="-533400" eaLnBrk="1" hangingPunct="1">
              <a:lnSpc>
                <a:spcPct val="90000"/>
              </a:lnSpc>
              <a:buFont typeface="Wingdings" pitchFamily="2" charset="2"/>
              <a:buAutoNum type="arabicPeriod"/>
            </a:pPr>
            <a:r>
              <a:rPr lang="zh-CN" altLang="en-US" sz="2000" b="0"/>
              <a:t>      </a:t>
            </a:r>
            <a:r>
              <a:rPr lang="en-US" altLang="zh-CN" sz="2000" b="0"/>
              <a:t>printf("</a:t>
            </a:r>
            <a:r>
              <a:rPr lang="zh-CN" altLang="en-US" sz="2000" b="0"/>
              <a:t>输入第 </a:t>
            </a:r>
            <a:r>
              <a:rPr lang="en-US" altLang="zh-CN" sz="2000" b="0"/>
              <a:t>%d </a:t>
            </a:r>
            <a:r>
              <a:rPr lang="zh-CN" altLang="en-US" sz="2000" b="0"/>
              <a:t>点的 </a:t>
            </a:r>
            <a:r>
              <a:rPr lang="en-US" altLang="zh-CN" sz="2000" b="0"/>
              <a:t>X </a:t>
            </a:r>
            <a:r>
              <a:rPr lang="zh-CN" altLang="en-US" sz="2000" b="0"/>
              <a:t>坐标和 </a:t>
            </a:r>
            <a:r>
              <a:rPr lang="en-US" altLang="zh-CN" sz="2000" b="0"/>
              <a:t>Y </a:t>
            </a:r>
            <a:r>
              <a:rPr lang="zh-CN" altLang="en-US" sz="2000" b="0"/>
              <a:t>坐标</a:t>
            </a:r>
            <a:r>
              <a:rPr lang="en-US" altLang="zh-CN" sz="2000" b="0"/>
              <a:t>\n", pno+1);</a:t>
            </a:r>
          </a:p>
          <a:p>
            <a:pPr marL="533400" indent="-533400" eaLnBrk="1" hangingPunct="1">
              <a:lnSpc>
                <a:spcPct val="90000"/>
              </a:lnSpc>
              <a:buFont typeface="Wingdings" pitchFamily="2" charset="2"/>
              <a:buAutoNum type="arabicPeriod"/>
            </a:pPr>
            <a:r>
              <a:rPr lang="en-US" altLang="zh-CN" sz="2000" b="0"/>
              <a:t>      scanf("%d%d", &amp;p[pno].x, &amp;p[pno].y);</a:t>
            </a:r>
          </a:p>
          <a:p>
            <a:pPr marL="533400" indent="-533400" eaLnBrk="1" hangingPunct="1">
              <a:lnSpc>
                <a:spcPct val="90000"/>
              </a:lnSpc>
              <a:buFont typeface="Wingdings" pitchFamily="2" charset="2"/>
              <a:buAutoNum type="arabicPeriod"/>
            </a:pPr>
            <a:r>
              <a:rPr lang="en-US" altLang="zh-CN" sz="2000" b="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A7D1E3B4-F755-1D88-DE00-5ED4AC502566}"/>
              </a:ext>
            </a:extLst>
          </p:cNvPr>
          <p:cNvSpPr>
            <a:spLocks noGrp="1" noChangeArrowheads="1"/>
          </p:cNvSpPr>
          <p:nvPr>
            <p:ph type="title"/>
          </p:nvPr>
        </p:nvSpPr>
        <p:spPr/>
        <p:txBody>
          <a:bodyPr/>
          <a:lstStyle/>
          <a:p>
            <a:pPr eaLnBrk="1" hangingPunct="1"/>
            <a:r>
              <a:rPr lang="zh-CN" altLang="en-US"/>
              <a:t>例</a:t>
            </a:r>
            <a:r>
              <a:rPr lang="en-US" altLang="zh-CN"/>
              <a:t>7.2 (</a:t>
            </a:r>
            <a:r>
              <a:rPr lang="zh-CN" altLang="en-US"/>
              <a:t>续</a:t>
            </a:r>
            <a:r>
              <a:rPr lang="en-US" altLang="zh-CN"/>
              <a:t>)</a:t>
            </a:r>
          </a:p>
        </p:txBody>
      </p:sp>
      <p:sp>
        <p:nvSpPr>
          <p:cNvPr id="110595" name="Rectangle 3">
            <a:extLst>
              <a:ext uri="{FF2B5EF4-FFF2-40B4-BE49-F238E27FC236}">
                <a16:creationId xmlns:a16="http://schemas.microsoft.com/office/drawing/2014/main" id="{50EA07AA-6E83-2642-2D11-B925B75BA3EA}"/>
              </a:ext>
            </a:extLst>
          </p:cNvPr>
          <p:cNvSpPr>
            <a:spLocks noGrp="1" noChangeArrowheads="1"/>
          </p:cNvSpPr>
          <p:nvPr>
            <p:ph type="body" idx="1"/>
          </p:nvPr>
        </p:nvSpPr>
        <p:spPr>
          <a:xfrm>
            <a:off x="827088" y="1628801"/>
            <a:ext cx="8128000" cy="4503712"/>
          </a:xfrm>
        </p:spPr>
        <p:txBody>
          <a:bodyPr/>
          <a:lstStyle/>
          <a:p>
            <a:pPr marL="533400" indent="-533400" eaLnBrk="1" hangingPunct="1">
              <a:buFont typeface="Wingdings" pitchFamily="2" charset="2"/>
              <a:buAutoNum type="arabicPeriod"/>
            </a:pPr>
            <a:r>
              <a:rPr lang="en-US" altLang="zh-CN" sz="2000" b="0"/>
              <a:t>void displayPoint(int pno){ </a:t>
            </a:r>
            <a:r>
              <a:rPr lang="en-US" altLang="zh-CN" sz="2000" b="0">
                <a:solidFill>
                  <a:schemeClr val="folHlink"/>
                </a:solidFill>
              </a:rPr>
              <a:t>//</a:t>
            </a:r>
            <a:r>
              <a:rPr lang="zh-CN" altLang="en-US" sz="2000" b="0">
                <a:solidFill>
                  <a:schemeClr val="folHlink"/>
                </a:solidFill>
              </a:rPr>
              <a:t>功能</a:t>
            </a:r>
            <a:r>
              <a:rPr lang="en-US" altLang="zh-CN" sz="2000" b="0">
                <a:solidFill>
                  <a:schemeClr val="folHlink"/>
                </a:solidFill>
              </a:rPr>
              <a:t>2</a:t>
            </a:r>
            <a:r>
              <a:rPr lang="zh-CN" altLang="en-US" sz="2000" b="0">
                <a:solidFill>
                  <a:schemeClr val="folHlink"/>
                </a:solidFill>
              </a:rPr>
              <a:t>：显示指定点的坐标</a:t>
            </a:r>
          </a:p>
          <a:p>
            <a:pPr marL="533400" indent="-533400" eaLnBrk="1" hangingPunct="1">
              <a:buFont typeface="Wingdings" pitchFamily="2" charset="2"/>
              <a:buAutoNum type="arabicPeriod"/>
            </a:pPr>
            <a:r>
              <a:rPr lang="zh-CN" altLang="en-US" sz="2000" b="0"/>
              <a:t>      </a:t>
            </a:r>
            <a:r>
              <a:rPr lang="en-US" altLang="zh-CN" sz="2000" b="0"/>
              <a:t>printf("</a:t>
            </a:r>
            <a:r>
              <a:rPr lang="zh-CN" altLang="en-US" sz="2000" b="0"/>
              <a:t>第 </a:t>
            </a:r>
            <a:r>
              <a:rPr lang="en-US" altLang="zh-CN" sz="2000" b="0"/>
              <a:t>%d </a:t>
            </a:r>
            <a:r>
              <a:rPr lang="zh-CN" altLang="en-US" sz="2000" b="0"/>
              <a:t>点的 </a:t>
            </a:r>
            <a:r>
              <a:rPr lang="en-US" altLang="zh-CN" sz="2000" b="0"/>
              <a:t>X </a:t>
            </a:r>
            <a:r>
              <a:rPr lang="zh-CN" altLang="en-US" sz="2000" b="0"/>
              <a:t>坐标 </a:t>
            </a:r>
            <a:r>
              <a:rPr lang="en-US" altLang="zh-CN" sz="2000" b="0"/>
              <a:t>= %d , </a:t>
            </a:r>
            <a:r>
              <a:rPr lang="zh-CN" altLang="en-US" sz="2000" b="0"/>
              <a:t>它的 </a:t>
            </a:r>
            <a:r>
              <a:rPr lang="en-US" altLang="zh-CN" sz="2000" b="0"/>
              <a:t>Y </a:t>
            </a:r>
            <a:r>
              <a:rPr lang="zh-CN" altLang="en-US" sz="2000" b="0"/>
              <a:t>坐标 </a:t>
            </a:r>
            <a:r>
              <a:rPr lang="en-US" altLang="zh-CN" sz="2000" b="0"/>
              <a:t>= %d\n", </a:t>
            </a:r>
          </a:p>
          <a:p>
            <a:pPr marL="533400" indent="-533400" eaLnBrk="1" hangingPunct="1">
              <a:buFont typeface="Wingdings" pitchFamily="2" charset="2"/>
              <a:buAutoNum type="arabicPeriod"/>
            </a:pPr>
            <a:r>
              <a:rPr lang="en-US" altLang="zh-CN" sz="2000" b="0"/>
              <a:t>	  pno+1, p[pno].x, p[pno].y);</a:t>
            </a:r>
          </a:p>
          <a:p>
            <a:pPr marL="533400" indent="-533400" eaLnBrk="1" hangingPunct="1">
              <a:buFont typeface="Wingdings" pitchFamily="2" charset="2"/>
              <a:buAutoNum type="arabicPeriod"/>
            </a:pPr>
            <a:r>
              <a:rPr lang="en-US" altLang="zh-CN" sz="2000" b="0"/>
              <a:t>}</a:t>
            </a:r>
          </a:p>
          <a:p>
            <a:pPr marL="533400" indent="-533400" eaLnBrk="1" hangingPunct="1">
              <a:buFont typeface="Wingdings" pitchFamily="2" charset="2"/>
              <a:buAutoNum type="arabicPeriod"/>
            </a:pPr>
            <a:endParaRPr lang="en-US" altLang="zh-CN" sz="2000" b="0"/>
          </a:p>
          <a:p>
            <a:pPr marL="533400" indent="-533400" eaLnBrk="1" hangingPunct="1">
              <a:buFont typeface="Wingdings" pitchFamily="2" charset="2"/>
              <a:buAutoNum type="arabicPeriod"/>
            </a:pPr>
            <a:r>
              <a:rPr lang="en-US" altLang="zh-CN" sz="2000" b="0"/>
              <a:t>void midPoint(){ </a:t>
            </a:r>
            <a:r>
              <a:rPr lang="en-US" altLang="zh-CN" sz="2000" b="0">
                <a:solidFill>
                  <a:schemeClr val="folHlink"/>
                </a:solidFill>
              </a:rPr>
              <a:t>//</a:t>
            </a:r>
            <a:r>
              <a:rPr lang="zh-CN" altLang="en-US" sz="2000" b="0">
                <a:solidFill>
                  <a:schemeClr val="folHlink"/>
                </a:solidFill>
              </a:rPr>
              <a:t>功能</a:t>
            </a:r>
            <a:r>
              <a:rPr lang="en-US" altLang="zh-CN" sz="2000" b="0">
                <a:solidFill>
                  <a:schemeClr val="folHlink"/>
                </a:solidFill>
              </a:rPr>
              <a:t>3</a:t>
            </a:r>
            <a:r>
              <a:rPr lang="zh-CN" altLang="en-US" sz="2000" b="0">
                <a:solidFill>
                  <a:schemeClr val="folHlink"/>
                </a:solidFill>
              </a:rPr>
              <a:t>：求指定两点的连线中点为另一点</a:t>
            </a:r>
          </a:p>
          <a:p>
            <a:pPr marL="533400" indent="-533400" eaLnBrk="1" hangingPunct="1">
              <a:buFont typeface="Wingdings" pitchFamily="2" charset="2"/>
              <a:buAutoNum type="arabicPeriod"/>
            </a:pPr>
            <a:r>
              <a:rPr lang="zh-CN" altLang="en-US" sz="2000" b="0"/>
              <a:t>  </a:t>
            </a:r>
            <a:r>
              <a:rPr lang="en-US" altLang="zh-CN" sz="2000" b="0"/>
              <a:t>int pno1, pno2, pno3;</a:t>
            </a:r>
          </a:p>
          <a:p>
            <a:pPr marL="533400" indent="-533400" eaLnBrk="1" hangingPunct="1">
              <a:buFont typeface="Wingdings" pitchFamily="2" charset="2"/>
              <a:buAutoNum type="arabicPeriod"/>
            </a:pPr>
            <a:r>
              <a:rPr lang="en-US" altLang="zh-CN" sz="2000" b="0"/>
              <a:t>  pno1 = pointNo(); </a:t>
            </a:r>
          </a:p>
          <a:p>
            <a:pPr marL="533400" indent="-533400" eaLnBrk="1" hangingPunct="1">
              <a:buFont typeface="Wingdings" pitchFamily="2" charset="2"/>
              <a:buAutoNum type="arabicPeriod"/>
            </a:pPr>
            <a:r>
              <a:rPr lang="en-US" altLang="zh-CN" sz="2000" b="0"/>
              <a:t>  pno2 = pointNo();</a:t>
            </a:r>
          </a:p>
          <a:p>
            <a:pPr marL="533400" indent="-533400" eaLnBrk="1" hangingPunct="1">
              <a:buFont typeface="Wingdings" pitchFamily="2" charset="2"/>
              <a:buAutoNum type="arabicPeriod"/>
            </a:pPr>
            <a:r>
              <a:rPr lang="en-US" altLang="zh-CN" sz="2000" b="0"/>
              <a:t>  pno3 = 3 - pno1 - pno2;  </a:t>
            </a:r>
            <a:r>
              <a:rPr lang="en-US" altLang="zh-CN" sz="2000" b="0">
                <a:solidFill>
                  <a:schemeClr val="folHlink"/>
                </a:solidFill>
              </a:rPr>
              <a:t>//</a:t>
            </a:r>
            <a:r>
              <a:rPr lang="en-US" altLang="zh-CN" sz="2000" b="0">
                <a:solidFill>
                  <a:schemeClr val="folHlink"/>
                </a:solidFill>
                <a:sym typeface="Wingdings" pitchFamily="2" charset="2"/>
              </a:rPr>
              <a:t>tip</a:t>
            </a:r>
            <a:r>
              <a:rPr lang="zh-CN" altLang="en-US" sz="2000" b="0">
                <a:solidFill>
                  <a:schemeClr val="folHlink"/>
                </a:solidFill>
                <a:sym typeface="Wingdings" pitchFamily="2" charset="2"/>
              </a:rPr>
              <a:t> 得到第三点的下标</a:t>
            </a:r>
            <a:endParaRPr lang="en-US" altLang="zh-CN" sz="2000" b="0">
              <a:solidFill>
                <a:schemeClr val="folHlink"/>
              </a:solidFill>
            </a:endParaRPr>
          </a:p>
          <a:p>
            <a:pPr marL="533400" indent="-533400" eaLnBrk="1" hangingPunct="1">
              <a:buFont typeface="Wingdings" pitchFamily="2" charset="2"/>
              <a:buAutoNum type="arabicPeriod"/>
            </a:pPr>
            <a:r>
              <a:rPr lang="en-US" altLang="zh-CN" sz="2000" b="0"/>
              <a:t>  p[pno3]. x = (p[pno1].x + p[pno2].x)/2;</a:t>
            </a:r>
          </a:p>
          <a:p>
            <a:pPr marL="533400" indent="-533400" eaLnBrk="1" hangingPunct="1">
              <a:buFont typeface="Wingdings" pitchFamily="2" charset="2"/>
              <a:buAutoNum type="arabicPeriod"/>
            </a:pPr>
            <a:r>
              <a:rPr lang="en-US" altLang="zh-CN" sz="2000" b="0"/>
              <a:t>  p[pno3]. y = (p[pno1].y + p[pno2].y)/2;</a:t>
            </a:r>
          </a:p>
          <a:p>
            <a:pPr marL="533400" indent="-533400" eaLnBrk="1" hangingPunct="1">
              <a:buFont typeface="Wingdings" pitchFamily="2" charset="2"/>
              <a:buAutoNum type="arabicPeriod"/>
            </a:pPr>
            <a:r>
              <a:rPr lang="en-US" altLang="zh-CN" sz="2000" b="0"/>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B7305B95-DDC4-7F18-2A1B-1D3345131B58}"/>
              </a:ext>
            </a:extLst>
          </p:cNvPr>
          <p:cNvSpPr>
            <a:spLocks noGrp="1" noChangeArrowheads="1"/>
          </p:cNvSpPr>
          <p:nvPr>
            <p:ph type="title"/>
          </p:nvPr>
        </p:nvSpPr>
        <p:spPr/>
        <p:txBody>
          <a:bodyPr/>
          <a:lstStyle/>
          <a:p>
            <a:pPr eaLnBrk="1" hangingPunct="1"/>
            <a:r>
              <a:rPr lang="zh-CN" altLang="en-US"/>
              <a:t>例</a:t>
            </a:r>
            <a:r>
              <a:rPr lang="en-US" altLang="zh-CN"/>
              <a:t>7.2 (</a:t>
            </a:r>
            <a:r>
              <a:rPr lang="zh-CN" altLang="en-US"/>
              <a:t>续</a:t>
            </a:r>
            <a:r>
              <a:rPr lang="en-US" altLang="zh-CN"/>
              <a:t>)</a:t>
            </a:r>
          </a:p>
        </p:txBody>
      </p:sp>
      <p:sp>
        <p:nvSpPr>
          <p:cNvPr id="112643" name="Rectangle 3">
            <a:extLst>
              <a:ext uri="{FF2B5EF4-FFF2-40B4-BE49-F238E27FC236}">
                <a16:creationId xmlns:a16="http://schemas.microsoft.com/office/drawing/2014/main" id="{F47CDC78-9402-BDFD-BA84-44B1B59C786D}"/>
              </a:ext>
            </a:extLst>
          </p:cNvPr>
          <p:cNvSpPr>
            <a:spLocks noGrp="1" noChangeArrowheads="1"/>
          </p:cNvSpPr>
          <p:nvPr>
            <p:ph type="body" idx="1"/>
          </p:nvPr>
        </p:nvSpPr>
        <p:spPr>
          <a:xfrm>
            <a:off x="827088" y="1844823"/>
            <a:ext cx="8128000" cy="4287689"/>
          </a:xfrm>
        </p:spPr>
        <p:txBody>
          <a:bodyPr/>
          <a:lstStyle/>
          <a:p>
            <a:pPr marL="533400" indent="-533400" eaLnBrk="1" hangingPunct="1">
              <a:lnSpc>
                <a:spcPct val="150000"/>
              </a:lnSpc>
              <a:buFont typeface="Wingdings" pitchFamily="2" charset="2"/>
              <a:buAutoNum type="arabicPeriod"/>
            </a:pPr>
            <a:r>
              <a:rPr lang="en-US" altLang="zh-CN" sz="1800" b="0"/>
              <a:t>void distance(){  </a:t>
            </a:r>
            <a:r>
              <a:rPr lang="en-US" altLang="zh-CN" sz="1800" b="0">
                <a:solidFill>
                  <a:schemeClr val="folHlink"/>
                </a:solidFill>
              </a:rPr>
              <a:t>//</a:t>
            </a:r>
            <a:r>
              <a:rPr lang="zh-CN" altLang="en-US" sz="1800" b="0">
                <a:solidFill>
                  <a:schemeClr val="folHlink"/>
                </a:solidFill>
              </a:rPr>
              <a:t>功能</a:t>
            </a:r>
            <a:r>
              <a:rPr lang="en-US" altLang="zh-CN" sz="1800" b="0">
                <a:solidFill>
                  <a:schemeClr val="folHlink"/>
                </a:solidFill>
              </a:rPr>
              <a:t>4</a:t>
            </a:r>
            <a:r>
              <a:rPr lang="zh-CN" altLang="en-US" sz="1800" b="0">
                <a:solidFill>
                  <a:schemeClr val="folHlink"/>
                </a:solidFill>
              </a:rPr>
              <a:t>：指定两点，显示两点间的矩离</a:t>
            </a:r>
          </a:p>
          <a:p>
            <a:pPr marL="533400" indent="-533400" eaLnBrk="1" hangingPunct="1">
              <a:lnSpc>
                <a:spcPct val="150000"/>
              </a:lnSpc>
              <a:buFont typeface="Wingdings" pitchFamily="2" charset="2"/>
              <a:buAutoNum type="arabicPeriod"/>
            </a:pPr>
            <a:r>
              <a:rPr lang="zh-CN" altLang="en-US" sz="1800" b="0"/>
              <a:t>  </a:t>
            </a:r>
            <a:r>
              <a:rPr lang="en-US" altLang="zh-CN" sz="1800" b="0"/>
              <a:t>int pno1, pno2;</a:t>
            </a:r>
          </a:p>
          <a:p>
            <a:pPr marL="533400" indent="-533400" eaLnBrk="1" hangingPunct="1">
              <a:lnSpc>
                <a:spcPct val="150000"/>
              </a:lnSpc>
              <a:buFont typeface="Wingdings" pitchFamily="2" charset="2"/>
              <a:buAutoNum type="arabicPeriod"/>
            </a:pPr>
            <a:r>
              <a:rPr lang="en-US" altLang="zh-CN" sz="1800" b="0"/>
              <a:t>  pno1 = pointNo(); </a:t>
            </a:r>
          </a:p>
          <a:p>
            <a:pPr marL="533400" indent="-533400" eaLnBrk="1" hangingPunct="1">
              <a:lnSpc>
                <a:spcPct val="150000"/>
              </a:lnSpc>
              <a:buFont typeface="Wingdings" pitchFamily="2" charset="2"/>
              <a:buAutoNum type="arabicPeriod"/>
            </a:pPr>
            <a:r>
              <a:rPr lang="en-US" altLang="zh-CN" sz="1800" b="0"/>
              <a:t>  pno2 = pointNo();</a:t>
            </a:r>
          </a:p>
          <a:p>
            <a:pPr marL="533400" indent="-533400" eaLnBrk="1" hangingPunct="1">
              <a:lnSpc>
                <a:spcPct val="150000"/>
              </a:lnSpc>
              <a:buFont typeface="Wingdings" pitchFamily="2" charset="2"/>
              <a:buAutoNum type="arabicPeriod"/>
            </a:pPr>
            <a:r>
              <a:rPr lang="en-US" altLang="zh-CN" sz="1800" b="0"/>
              <a:t>  printf("</a:t>
            </a:r>
            <a:r>
              <a:rPr lang="zh-CN" altLang="en-US" sz="1800" b="0"/>
              <a:t>这两点之间的矩离 </a:t>
            </a:r>
            <a:r>
              <a:rPr lang="en-US" altLang="zh-CN" sz="1800" b="0"/>
              <a:t>= %f\n",</a:t>
            </a:r>
          </a:p>
          <a:p>
            <a:pPr marL="533400" indent="-533400" eaLnBrk="1" hangingPunct="1">
              <a:lnSpc>
                <a:spcPct val="150000"/>
              </a:lnSpc>
              <a:buFont typeface="Wingdings" pitchFamily="2" charset="2"/>
              <a:buAutoNum type="arabicPeriod"/>
            </a:pPr>
            <a:r>
              <a:rPr lang="en-US" altLang="zh-CN" sz="1800" b="0"/>
              <a:t>      </a:t>
            </a:r>
            <a:r>
              <a:rPr lang="en-US" altLang="zh-CN" sz="1800" b="0">
                <a:solidFill>
                  <a:srgbClr val="0066FF"/>
                </a:solidFill>
              </a:rPr>
              <a:t>sqrt</a:t>
            </a:r>
            <a:r>
              <a:rPr lang="en-US" altLang="zh-CN" sz="1800" b="0"/>
              <a:t>((double)(p[pno1]. x - p[pno2].x)*(p[pno1]. x - p[pno2].x) +</a:t>
            </a:r>
            <a:br>
              <a:rPr lang="en-US" altLang="zh-CN" sz="1800" b="0"/>
            </a:br>
            <a:r>
              <a:rPr lang="en-US" altLang="zh-CN" sz="1800" b="0"/>
              <a:t>	   (double)(p[pno1]. y - p[pno2].y)*(p[pno1]. y - p[pno2].y)));</a:t>
            </a:r>
          </a:p>
          <a:p>
            <a:pPr marL="533400" indent="-533400" eaLnBrk="1" hangingPunct="1">
              <a:lnSpc>
                <a:spcPct val="150000"/>
              </a:lnSpc>
              <a:buFont typeface="Wingdings" pitchFamily="2" charset="2"/>
              <a:buAutoNum type="arabicPeriod"/>
            </a:pPr>
            <a:r>
              <a:rPr lang="en-US" altLang="zh-CN" sz="1800" b="0"/>
              <a:t>}</a:t>
            </a:r>
          </a:p>
          <a:p>
            <a:pPr marL="533400" indent="-533400" eaLnBrk="1" hangingPunct="1">
              <a:lnSpc>
                <a:spcPct val="150000"/>
              </a:lnSpc>
              <a:buFont typeface="Wingdings" pitchFamily="2" charset="2"/>
              <a:buAutoNum type="arabicPeriod"/>
            </a:pPr>
            <a:endParaRPr lang="en-US" altLang="zh-CN" sz="1800" b="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55188A44-0144-B662-8796-C8019BE1B654}"/>
              </a:ext>
            </a:extLst>
          </p:cNvPr>
          <p:cNvSpPr>
            <a:spLocks noGrp="1" noChangeArrowheads="1"/>
          </p:cNvSpPr>
          <p:nvPr>
            <p:ph type="title"/>
          </p:nvPr>
        </p:nvSpPr>
        <p:spPr/>
        <p:txBody>
          <a:bodyPr/>
          <a:lstStyle/>
          <a:p>
            <a:pPr eaLnBrk="1" hangingPunct="1"/>
            <a:r>
              <a:rPr lang="zh-CN" altLang="en-US"/>
              <a:t>例</a:t>
            </a:r>
            <a:r>
              <a:rPr lang="en-US" altLang="zh-CN"/>
              <a:t>7.2 (</a:t>
            </a:r>
            <a:r>
              <a:rPr lang="zh-CN" altLang="en-US"/>
              <a:t>续</a:t>
            </a:r>
            <a:r>
              <a:rPr lang="en-US" altLang="zh-CN"/>
              <a:t>)</a:t>
            </a:r>
          </a:p>
        </p:txBody>
      </p:sp>
      <p:sp>
        <p:nvSpPr>
          <p:cNvPr id="114691" name="Rectangle 3">
            <a:extLst>
              <a:ext uri="{FF2B5EF4-FFF2-40B4-BE49-F238E27FC236}">
                <a16:creationId xmlns:a16="http://schemas.microsoft.com/office/drawing/2014/main" id="{F8D75E2A-25AD-020F-4164-5EEDCE8F43CA}"/>
              </a:ext>
            </a:extLst>
          </p:cNvPr>
          <p:cNvSpPr>
            <a:spLocks noGrp="1" noChangeArrowheads="1"/>
          </p:cNvSpPr>
          <p:nvPr>
            <p:ph type="body" idx="1"/>
          </p:nvPr>
        </p:nvSpPr>
        <p:spPr>
          <a:xfrm>
            <a:off x="827088" y="1772817"/>
            <a:ext cx="8128000" cy="4359696"/>
          </a:xfrm>
        </p:spPr>
        <p:txBody>
          <a:bodyPr/>
          <a:lstStyle/>
          <a:p>
            <a:pPr marL="533400" indent="-533400" eaLnBrk="1" hangingPunct="1">
              <a:lnSpc>
                <a:spcPct val="150000"/>
              </a:lnSpc>
              <a:buFont typeface="Wingdings" pitchFamily="2" charset="2"/>
              <a:buAutoNum type="arabicPeriod"/>
            </a:pPr>
            <a:r>
              <a:rPr lang="en-US" altLang="zh-CN" sz="1800" b="0"/>
              <a:t>void isInLine(){ </a:t>
            </a:r>
            <a:r>
              <a:rPr lang="en-US" altLang="zh-CN" sz="1800" b="0">
                <a:solidFill>
                  <a:schemeClr val="folHlink"/>
                </a:solidFill>
              </a:rPr>
              <a:t>//</a:t>
            </a:r>
            <a:r>
              <a:rPr lang="zh-CN" altLang="en-US" sz="1800" b="0">
                <a:solidFill>
                  <a:schemeClr val="folHlink"/>
                </a:solidFill>
              </a:rPr>
              <a:t>功能</a:t>
            </a:r>
            <a:r>
              <a:rPr lang="en-US" altLang="zh-CN" sz="1800" b="0">
                <a:solidFill>
                  <a:schemeClr val="folHlink"/>
                </a:solidFill>
              </a:rPr>
              <a:t>5</a:t>
            </a:r>
            <a:r>
              <a:rPr lang="zh-CN" altLang="en-US" sz="1800" b="0">
                <a:solidFill>
                  <a:schemeClr val="folHlink"/>
                </a:solidFill>
              </a:rPr>
              <a:t>：判另一点是否在指定两点的连线上</a:t>
            </a:r>
          </a:p>
          <a:p>
            <a:pPr marL="533400" indent="-533400" eaLnBrk="1" hangingPunct="1">
              <a:lnSpc>
                <a:spcPct val="150000"/>
              </a:lnSpc>
              <a:buFont typeface="Wingdings" pitchFamily="2" charset="2"/>
              <a:buAutoNum type="arabicPeriod"/>
            </a:pPr>
            <a:r>
              <a:rPr lang="zh-CN" altLang="en-US" sz="1800" b="0"/>
              <a:t>   </a:t>
            </a:r>
            <a:r>
              <a:rPr lang="en-US" altLang="zh-CN" sz="1800" b="0"/>
              <a:t>int pno1, pno2, pno3;  double t;</a:t>
            </a:r>
          </a:p>
          <a:p>
            <a:pPr marL="533400" indent="-533400" eaLnBrk="1" hangingPunct="1">
              <a:lnSpc>
                <a:spcPct val="150000"/>
              </a:lnSpc>
              <a:buFont typeface="Wingdings" pitchFamily="2" charset="2"/>
              <a:buAutoNum type="arabicPeriod"/>
            </a:pPr>
            <a:r>
              <a:rPr lang="en-US" altLang="zh-CN" sz="1800" b="0"/>
              <a:t>   pno1 = pointNo();  </a:t>
            </a:r>
          </a:p>
          <a:p>
            <a:pPr marL="533400" indent="-533400" eaLnBrk="1" hangingPunct="1">
              <a:lnSpc>
                <a:spcPct val="150000"/>
              </a:lnSpc>
              <a:buFont typeface="Wingdings" pitchFamily="2" charset="2"/>
              <a:buAutoNum type="arabicPeriod"/>
            </a:pPr>
            <a:r>
              <a:rPr lang="en-US" altLang="zh-CN" sz="1800" b="0"/>
              <a:t>   pno2 = pointNo();  </a:t>
            </a:r>
          </a:p>
          <a:p>
            <a:pPr marL="533400" indent="-533400" eaLnBrk="1" hangingPunct="1">
              <a:lnSpc>
                <a:spcPct val="150000"/>
              </a:lnSpc>
              <a:buFont typeface="Wingdings" pitchFamily="2" charset="2"/>
              <a:buAutoNum type="arabicPeriod"/>
            </a:pPr>
            <a:r>
              <a:rPr lang="en-US" altLang="zh-CN" sz="1800" b="0"/>
              <a:t>   pno3 = 3 - pno1 - pno2;</a:t>
            </a:r>
          </a:p>
          <a:p>
            <a:pPr marL="533400" indent="-533400" eaLnBrk="1" hangingPunct="1">
              <a:lnSpc>
                <a:spcPct val="150000"/>
              </a:lnSpc>
              <a:buFont typeface="Wingdings" pitchFamily="2" charset="2"/>
              <a:buAutoNum type="arabicPeriod"/>
            </a:pPr>
            <a:r>
              <a:rPr lang="en-US" altLang="zh-CN" sz="1800" b="0"/>
              <a:t>   t = (double)(p[pno2].y-p[pno1].y)*(double)(p[pno3].x - p[pno1].x) </a:t>
            </a:r>
            <a:br>
              <a:rPr lang="en-US" altLang="zh-CN" sz="1800" b="0"/>
            </a:br>
            <a:r>
              <a:rPr lang="en-US" altLang="zh-CN" sz="1800" b="0"/>
              <a:t>    -  (double)(p[pno3].y - p[pno1].y)* (double)(p[pno2].x - p[pno1].x);</a:t>
            </a:r>
          </a:p>
          <a:p>
            <a:pPr marL="533400" indent="-533400" eaLnBrk="1" hangingPunct="1">
              <a:lnSpc>
                <a:spcPct val="150000"/>
              </a:lnSpc>
              <a:buFont typeface="Wingdings" pitchFamily="2" charset="2"/>
              <a:buAutoNum type="arabicPeriod"/>
            </a:pPr>
            <a:r>
              <a:rPr lang="en-US" altLang="zh-CN" sz="1800" b="0"/>
              <a:t>  if (</a:t>
            </a:r>
            <a:r>
              <a:rPr lang="en-US" altLang="zh-CN" sz="1800" b="0">
                <a:solidFill>
                  <a:srgbClr val="0066FF"/>
                </a:solidFill>
              </a:rPr>
              <a:t>fabs(t) &lt; 1.0e-5</a:t>
            </a:r>
            <a:r>
              <a:rPr lang="en-US" altLang="zh-CN" sz="1800" b="0"/>
              <a:t>)  printf("In same line\n");</a:t>
            </a:r>
          </a:p>
          <a:p>
            <a:pPr marL="533400" indent="-533400" eaLnBrk="1" hangingPunct="1">
              <a:lnSpc>
                <a:spcPct val="150000"/>
              </a:lnSpc>
              <a:buFont typeface="Wingdings" pitchFamily="2" charset="2"/>
              <a:buAutoNum type="arabicPeriod"/>
            </a:pPr>
            <a:r>
              <a:rPr lang="en-US" altLang="zh-CN" sz="1800" b="0"/>
              <a:t>  else printf("Not in same line\n");</a:t>
            </a:r>
          </a:p>
          <a:p>
            <a:pPr marL="533400" indent="-533400" eaLnBrk="1" hangingPunct="1">
              <a:lnSpc>
                <a:spcPct val="150000"/>
              </a:lnSpc>
              <a:buFont typeface="Wingdings" pitchFamily="2" charset="2"/>
              <a:buAutoNum type="arabicPeriod"/>
            </a:pPr>
            <a:r>
              <a:rPr lang="en-US" altLang="zh-CN" sz="1800" b="0"/>
              <a:t>} </a:t>
            </a:r>
            <a:r>
              <a:rPr lang="en-US" altLang="zh-CN" sz="1800" b="0">
                <a:solidFill>
                  <a:schemeClr val="folHlink"/>
                </a:solidFill>
              </a:rPr>
              <a:t>//</a:t>
            </a:r>
            <a:r>
              <a:rPr lang="en-US" altLang="zh-CN" sz="1800" b="0">
                <a:solidFill>
                  <a:schemeClr val="folHlink"/>
                </a:solidFill>
                <a:sym typeface="Wingdings" pitchFamily="2" charset="2"/>
              </a:rPr>
              <a:t></a:t>
            </a:r>
            <a:r>
              <a:rPr lang="zh-CN" altLang="en-US" sz="1800" b="0">
                <a:solidFill>
                  <a:schemeClr val="folHlink"/>
                </a:solidFill>
                <a:sym typeface="Wingdings" pitchFamily="2" charset="2"/>
              </a:rPr>
              <a:t>思考：为什么要用浮点数比较？能否避免？</a:t>
            </a:r>
            <a:endParaRPr lang="zh-CN" altLang="en-US" sz="1800" b="0">
              <a:solidFill>
                <a:schemeClr val="folHlink"/>
              </a:solidFill>
            </a:endParaRPr>
          </a:p>
          <a:p>
            <a:pPr marL="533400" indent="-533400" eaLnBrk="1" hangingPunct="1">
              <a:lnSpc>
                <a:spcPct val="150000"/>
              </a:lnSpc>
              <a:buFont typeface="Wingdings" pitchFamily="2" charset="2"/>
              <a:buAutoNum type="arabicPeriod"/>
            </a:pPr>
            <a:endParaRPr lang="en-US" altLang="zh-CN" sz="1800" b="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DC862733-4CBE-ACA8-C291-3EC14EE4AFF6}"/>
              </a:ext>
            </a:extLst>
          </p:cNvPr>
          <p:cNvSpPr>
            <a:spLocks noGrp="1" noChangeArrowheads="1"/>
          </p:cNvSpPr>
          <p:nvPr>
            <p:ph type="title"/>
          </p:nvPr>
        </p:nvSpPr>
        <p:spPr/>
        <p:txBody>
          <a:bodyPr/>
          <a:lstStyle/>
          <a:p>
            <a:pPr eaLnBrk="1" hangingPunct="1"/>
            <a:r>
              <a:rPr lang="zh-CN" altLang="en-US"/>
              <a:t>例</a:t>
            </a:r>
            <a:r>
              <a:rPr lang="en-US" altLang="zh-CN"/>
              <a:t>7.2 (</a:t>
            </a:r>
            <a:r>
              <a:rPr lang="zh-CN" altLang="en-US"/>
              <a:t>续</a:t>
            </a:r>
            <a:r>
              <a:rPr lang="en-US" altLang="zh-CN"/>
              <a:t>)</a:t>
            </a:r>
          </a:p>
        </p:txBody>
      </p:sp>
      <p:sp>
        <p:nvSpPr>
          <p:cNvPr id="116739" name="Rectangle 3">
            <a:extLst>
              <a:ext uri="{FF2B5EF4-FFF2-40B4-BE49-F238E27FC236}">
                <a16:creationId xmlns:a16="http://schemas.microsoft.com/office/drawing/2014/main" id="{36B65B66-BBB1-1C4C-AF0B-EFAC0F334B6E}"/>
              </a:ext>
            </a:extLst>
          </p:cNvPr>
          <p:cNvSpPr>
            <a:spLocks noGrp="1" noChangeArrowheads="1"/>
          </p:cNvSpPr>
          <p:nvPr>
            <p:ph type="body" idx="1"/>
          </p:nvPr>
        </p:nvSpPr>
        <p:spPr/>
        <p:txBody>
          <a:bodyPr/>
          <a:lstStyle/>
          <a:p>
            <a:pPr marL="533400" indent="-533400" eaLnBrk="1" hangingPunct="1">
              <a:lnSpc>
                <a:spcPct val="90000"/>
              </a:lnSpc>
              <a:buFont typeface="Wingdings" pitchFamily="2" charset="2"/>
              <a:buAutoNum type="arabicPeriod"/>
            </a:pPr>
            <a:r>
              <a:rPr lang="en-US" altLang="zh-CN" sz="2000" b="0"/>
              <a:t>void main(){</a:t>
            </a:r>
          </a:p>
          <a:p>
            <a:pPr marL="533400" indent="-533400" eaLnBrk="1" hangingPunct="1">
              <a:lnSpc>
                <a:spcPct val="90000"/>
              </a:lnSpc>
              <a:buFont typeface="Wingdings" pitchFamily="2" charset="2"/>
              <a:buAutoNum type="arabicPeriod"/>
            </a:pPr>
            <a:r>
              <a:rPr lang="en-US" altLang="zh-CN" sz="2000" b="0"/>
              <a:t>   int choice;</a:t>
            </a:r>
          </a:p>
          <a:p>
            <a:pPr marL="533400" indent="-533400" eaLnBrk="1" hangingPunct="1">
              <a:lnSpc>
                <a:spcPct val="90000"/>
              </a:lnSpc>
              <a:buFont typeface="Wingdings" pitchFamily="2" charset="2"/>
              <a:buAutoNum type="arabicPeriod"/>
            </a:pPr>
            <a:r>
              <a:rPr lang="en-US" altLang="zh-CN" sz="2000" b="0"/>
              <a:t>   while (1) {</a:t>
            </a:r>
          </a:p>
          <a:p>
            <a:pPr marL="533400" indent="-533400" eaLnBrk="1" hangingPunct="1">
              <a:lnSpc>
                <a:spcPct val="90000"/>
              </a:lnSpc>
              <a:buFont typeface="Wingdings" pitchFamily="2" charset="2"/>
              <a:buAutoNum type="arabicPeriod"/>
            </a:pPr>
            <a:r>
              <a:rPr lang="en-US" altLang="zh-CN" sz="2000" b="0"/>
              <a:t>     choice = menu();</a:t>
            </a:r>
          </a:p>
          <a:p>
            <a:pPr marL="533400" indent="-533400" eaLnBrk="1" hangingPunct="1">
              <a:lnSpc>
                <a:spcPct val="90000"/>
              </a:lnSpc>
              <a:buFont typeface="Wingdings" pitchFamily="2" charset="2"/>
              <a:buAutoNum type="arabicPeriod"/>
            </a:pPr>
            <a:r>
              <a:rPr lang="en-US" altLang="zh-CN" sz="2000" b="0"/>
              <a:t>     switch(choice) {</a:t>
            </a:r>
          </a:p>
          <a:p>
            <a:pPr marL="533400" indent="-533400" eaLnBrk="1" hangingPunct="1">
              <a:lnSpc>
                <a:spcPct val="90000"/>
              </a:lnSpc>
              <a:buFont typeface="Wingdings" pitchFamily="2" charset="2"/>
              <a:buAutoNum type="arabicPeriod"/>
            </a:pPr>
            <a:r>
              <a:rPr lang="en-US" altLang="zh-CN" sz="2000" b="0"/>
              <a:t>       case 1: inputPoint(pointNo()); break;</a:t>
            </a:r>
          </a:p>
          <a:p>
            <a:pPr marL="533400" indent="-533400" eaLnBrk="1" hangingPunct="1">
              <a:lnSpc>
                <a:spcPct val="90000"/>
              </a:lnSpc>
              <a:buFont typeface="Wingdings" pitchFamily="2" charset="2"/>
              <a:buAutoNum type="arabicPeriod"/>
            </a:pPr>
            <a:r>
              <a:rPr lang="en-US" altLang="zh-CN" sz="2000" b="0"/>
              <a:t>       case 2: displayPoint(pointNo()); break;</a:t>
            </a:r>
          </a:p>
          <a:p>
            <a:pPr marL="533400" indent="-533400" eaLnBrk="1" hangingPunct="1">
              <a:lnSpc>
                <a:spcPct val="90000"/>
              </a:lnSpc>
              <a:buFont typeface="Wingdings" pitchFamily="2" charset="2"/>
              <a:buAutoNum type="arabicPeriod"/>
            </a:pPr>
            <a:r>
              <a:rPr lang="en-US" altLang="zh-CN" sz="2000" b="0"/>
              <a:t>       case 3: midPoint(); break;</a:t>
            </a:r>
          </a:p>
          <a:p>
            <a:pPr marL="533400" indent="-533400" eaLnBrk="1" hangingPunct="1">
              <a:lnSpc>
                <a:spcPct val="90000"/>
              </a:lnSpc>
              <a:buFont typeface="Wingdings" pitchFamily="2" charset="2"/>
              <a:buAutoNum type="arabicPeriod"/>
            </a:pPr>
            <a:r>
              <a:rPr lang="en-US" altLang="zh-CN" sz="2000" b="0"/>
              <a:t>       case 4: distance(); break;</a:t>
            </a:r>
          </a:p>
          <a:p>
            <a:pPr marL="533400" indent="-533400" eaLnBrk="1" hangingPunct="1">
              <a:lnSpc>
                <a:spcPct val="90000"/>
              </a:lnSpc>
              <a:buFont typeface="Wingdings" pitchFamily="2" charset="2"/>
              <a:buAutoNum type="arabicPeriod"/>
            </a:pPr>
            <a:r>
              <a:rPr lang="en-US" altLang="zh-CN" sz="2000" b="0"/>
              <a:t>       case 5: isInLine(); break;</a:t>
            </a:r>
          </a:p>
          <a:p>
            <a:pPr marL="533400" indent="-533400" eaLnBrk="1" hangingPunct="1">
              <a:lnSpc>
                <a:spcPct val="90000"/>
              </a:lnSpc>
              <a:buFont typeface="Wingdings" pitchFamily="2" charset="2"/>
              <a:buAutoNum type="arabicPeriod"/>
            </a:pPr>
            <a:r>
              <a:rPr lang="en-US" altLang="zh-CN" sz="2000" b="0"/>
              <a:t>       case 6: return;</a:t>
            </a:r>
          </a:p>
          <a:p>
            <a:pPr marL="533400" indent="-533400" eaLnBrk="1" hangingPunct="1">
              <a:lnSpc>
                <a:spcPct val="90000"/>
              </a:lnSpc>
              <a:buFont typeface="Wingdings" pitchFamily="2" charset="2"/>
              <a:buAutoNum type="arabicPeriod"/>
            </a:pPr>
            <a:r>
              <a:rPr lang="en-US" altLang="zh-CN" sz="2000" b="0"/>
              <a:t>     }</a:t>
            </a:r>
          </a:p>
          <a:p>
            <a:pPr marL="533400" indent="-533400" eaLnBrk="1" hangingPunct="1">
              <a:lnSpc>
                <a:spcPct val="90000"/>
              </a:lnSpc>
              <a:buFont typeface="Wingdings" pitchFamily="2" charset="2"/>
              <a:buAutoNum type="arabicPeriod"/>
            </a:pPr>
            <a:r>
              <a:rPr lang="en-US" altLang="zh-CN" sz="2000" b="0"/>
              <a:t>   }</a:t>
            </a:r>
          </a:p>
          <a:p>
            <a:pPr marL="533400" indent="-533400" eaLnBrk="1" hangingPunct="1">
              <a:lnSpc>
                <a:spcPct val="90000"/>
              </a:lnSpc>
              <a:buFont typeface="Wingdings" pitchFamily="2" charset="2"/>
              <a:buAutoNum type="arabicPeriod"/>
            </a:pPr>
            <a:r>
              <a:rPr lang="en-US" altLang="zh-CN" sz="2000" b="0"/>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87EEA1B-A59D-2F6B-0988-F58095B5CA3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0AB00E6-A63C-5360-6EB1-BE7DC3528463}"/>
              </a:ext>
            </a:extLst>
          </p:cNvPr>
          <p:cNvSpPr>
            <a:spLocks noGrp="1" noChangeArrowheads="1"/>
          </p:cNvSpPr>
          <p:nvPr>
            <p:ph type="ctrTitle"/>
          </p:nvPr>
        </p:nvSpPr>
        <p:spPr/>
        <p:txBody>
          <a:bodyPr/>
          <a:lstStyle/>
          <a:p>
            <a:pPr eaLnBrk="1" hangingPunct="1"/>
            <a:r>
              <a:rPr lang="zh-CN" altLang="en-US"/>
              <a:t>联合与位域*</a:t>
            </a:r>
            <a:endParaRPr lang="zh-CN" altLang="en-US" sz="4000" b="1">
              <a:solidFill>
                <a:srgbClr val="FF0000"/>
              </a:solidFill>
            </a:endParaRPr>
          </a:p>
        </p:txBody>
      </p:sp>
    </p:spTree>
    <p:extLst>
      <p:ext uri="{BB962C8B-B14F-4D97-AF65-F5344CB8AC3E}">
        <p14:creationId xmlns:p14="http://schemas.microsoft.com/office/powerpoint/2010/main" val="4297633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C246F-ABA0-431C-BE20-2B8F774F9D96}"/>
            </a:ext>
          </a:extLst>
        </p:cNvPr>
        <p:cNvGrpSpPr/>
        <p:nvPr/>
      </p:nvGrpSpPr>
      <p:grpSpPr>
        <a:xfrm>
          <a:off x="0" y="0"/>
          <a:ext cx="0" cy="0"/>
          <a:chOff x="0" y="0"/>
          <a:chExt cx="0" cy="0"/>
        </a:xfrm>
      </p:grpSpPr>
      <p:sp>
        <p:nvSpPr>
          <p:cNvPr id="94210" name="Rectangle 2">
            <a:extLst>
              <a:ext uri="{FF2B5EF4-FFF2-40B4-BE49-F238E27FC236}">
                <a16:creationId xmlns:a16="http://schemas.microsoft.com/office/drawing/2014/main" id="{9C93D902-1DC4-0336-033C-4BEE5DD5577F}"/>
              </a:ext>
            </a:extLst>
          </p:cNvPr>
          <p:cNvSpPr>
            <a:spLocks noGrp="1" noChangeArrowheads="1"/>
          </p:cNvSpPr>
          <p:nvPr>
            <p:ph type="title"/>
          </p:nvPr>
        </p:nvSpPr>
        <p:spPr/>
        <p:txBody>
          <a:bodyPr/>
          <a:lstStyle/>
          <a:p>
            <a:pPr eaLnBrk="1" hangingPunct="1"/>
            <a:r>
              <a:rPr lang="zh-CN" altLang="en-US"/>
              <a:t>联合</a:t>
            </a:r>
          </a:p>
        </p:txBody>
      </p:sp>
      <p:sp>
        <p:nvSpPr>
          <p:cNvPr id="94211" name="Rectangle 3">
            <a:extLst>
              <a:ext uri="{FF2B5EF4-FFF2-40B4-BE49-F238E27FC236}">
                <a16:creationId xmlns:a16="http://schemas.microsoft.com/office/drawing/2014/main" id="{2A1FC400-E608-B5A9-5C9C-6536E8D5FAE7}"/>
              </a:ext>
            </a:extLst>
          </p:cNvPr>
          <p:cNvSpPr>
            <a:spLocks noGrp="1" noChangeArrowheads="1"/>
          </p:cNvSpPr>
          <p:nvPr>
            <p:ph type="body" idx="1"/>
          </p:nvPr>
        </p:nvSpPr>
        <p:spPr>
          <a:xfrm>
            <a:off x="900113" y="1844825"/>
            <a:ext cx="7793038" cy="4287688"/>
          </a:xfrm>
        </p:spPr>
        <p:txBody>
          <a:bodyPr/>
          <a:lstStyle/>
          <a:p>
            <a:pPr eaLnBrk="1" hangingPunct="1">
              <a:lnSpc>
                <a:spcPct val="150000"/>
              </a:lnSpc>
            </a:pPr>
            <a:r>
              <a:rPr lang="zh-CN" altLang="en-US" sz="2000"/>
              <a:t>联合（</a:t>
            </a:r>
            <a:r>
              <a:rPr lang="en-US" altLang="zh-CN" sz="2000"/>
              <a:t>union</a:t>
            </a:r>
            <a:r>
              <a:rPr lang="zh-CN" altLang="en-US" sz="2000"/>
              <a:t>）</a:t>
            </a:r>
            <a:r>
              <a:rPr lang="zh-CN" altLang="en-US" sz="2000" b="0"/>
              <a:t>是一种特殊的数据结构，它与结构体类似，但与结构体不同的是，</a:t>
            </a:r>
            <a:r>
              <a:rPr lang="zh-CN" altLang="en-US" sz="2000" b="0">
                <a:solidFill>
                  <a:srgbClr val="C00000"/>
                </a:solidFill>
              </a:rPr>
              <a:t>联合中的所有成员共享同一块内存</a:t>
            </a:r>
            <a:r>
              <a:rPr lang="zh-CN" altLang="en-US" sz="2000" b="0"/>
              <a:t>。这意味着在某一时刻，联合中只能有一个成员存储有效数据，其他成员的数据会被覆盖。</a:t>
            </a:r>
          </a:p>
          <a:p>
            <a:pPr lvl="1" eaLnBrk="1" hangingPunct="1">
              <a:lnSpc>
                <a:spcPct val="150000"/>
              </a:lnSpc>
            </a:pPr>
            <a:r>
              <a:rPr lang="zh-CN" altLang="en-US" sz="1800" b="0"/>
              <a:t>内存共享：所有成员共享同一块内存区域，</a:t>
            </a:r>
            <a:r>
              <a:rPr lang="zh-CN" altLang="en-US" sz="1800" b="0">
                <a:solidFill>
                  <a:srgbClr val="0070C0"/>
                </a:solidFill>
              </a:rPr>
              <a:t>联合的大小等于其最大成员的大小</a:t>
            </a:r>
            <a:r>
              <a:rPr lang="zh-CN" altLang="en-US" sz="1800" b="0"/>
              <a:t>。</a:t>
            </a:r>
            <a:endParaRPr lang="en-US" altLang="zh-CN" sz="1800" b="0"/>
          </a:p>
          <a:p>
            <a:pPr lvl="1" eaLnBrk="1" hangingPunct="1">
              <a:lnSpc>
                <a:spcPct val="150000"/>
              </a:lnSpc>
            </a:pPr>
            <a:r>
              <a:rPr lang="zh-CN" altLang="en-US" sz="1800" b="0"/>
              <a:t>内存节省：由于成员共享内存，联合可以节省内存空间，特别是在需要多种数据类型但一次只用其中之一的情况下。</a:t>
            </a:r>
            <a:endParaRPr lang="en-US" altLang="zh-CN" sz="1800" b="0"/>
          </a:p>
          <a:p>
            <a:pPr lvl="1" eaLnBrk="1" hangingPunct="1">
              <a:lnSpc>
                <a:spcPct val="150000"/>
              </a:lnSpc>
            </a:pPr>
            <a:r>
              <a:rPr lang="zh-CN" altLang="en-US" sz="1800" b="0"/>
              <a:t>访问规则：在任意时刻，联合只能正确访问其中一个成员的数据，如果同时访问多个成员的数据，结果将不可预测。</a:t>
            </a:r>
          </a:p>
        </p:txBody>
      </p:sp>
    </p:spTree>
    <p:extLst>
      <p:ext uri="{BB962C8B-B14F-4D97-AF65-F5344CB8AC3E}">
        <p14:creationId xmlns:p14="http://schemas.microsoft.com/office/powerpoint/2010/main" val="13693084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0B990-9908-18CB-8F70-992C8F6521D0}"/>
            </a:ext>
          </a:extLst>
        </p:cNvPr>
        <p:cNvGrpSpPr/>
        <p:nvPr/>
      </p:nvGrpSpPr>
      <p:grpSpPr>
        <a:xfrm>
          <a:off x="0" y="0"/>
          <a:ext cx="0" cy="0"/>
          <a:chOff x="0" y="0"/>
          <a:chExt cx="0" cy="0"/>
        </a:xfrm>
      </p:grpSpPr>
      <p:sp>
        <p:nvSpPr>
          <p:cNvPr id="94210" name="Rectangle 2">
            <a:extLst>
              <a:ext uri="{FF2B5EF4-FFF2-40B4-BE49-F238E27FC236}">
                <a16:creationId xmlns:a16="http://schemas.microsoft.com/office/drawing/2014/main" id="{B843433F-FD3C-4157-8B5D-A704C256F9A9}"/>
              </a:ext>
            </a:extLst>
          </p:cNvPr>
          <p:cNvSpPr>
            <a:spLocks noGrp="1" noChangeArrowheads="1"/>
          </p:cNvSpPr>
          <p:nvPr>
            <p:ph type="title"/>
          </p:nvPr>
        </p:nvSpPr>
        <p:spPr/>
        <p:txBody>
          <a:bodyPr/>
          <a:lstStyle/>
          <a:p>
            <a:pPr eaLnBrk="1" hangingPunct="1"/>
            <a:r>
              <a:rPr lang="zh-CN" altLang="en-US"/>
              <a:t>联合</a:t>
            </a:r>
          </a:p>
        </p:txBody>
      </p:sp>
      <p:sp>
        <p:nvSpPr>
          <p:cNvPr id="94211" name="Rectangle 3">
            <a:extLst>
              <a:ext uri="{FF2B5EF4-FFF2-40B4-BE49-F238E27FC236}">
                <a16:creationId xmlns:a16="http://schemas.microsoft.com/office/drawing/2014/main" id="{ED8D33CA-D928-531E-0E80-D89319743BA6}"/>
              </a:ext>
            </a:extLst>
          </p:cNvPr>
          <p:cNvSpPr>
            <a:spLocks noGrp="1" noChangeArrowheads="1"/>
          </p:cNvSpPr>
          <p:nvPr>
            <p:ph type="body" idx="1"/>
          </p:nvPr>
        </p:nvSpPr>
        <p:spPr>
          <a:xfrm>
            <a:off x="900113" y="1844825"/>
            <a:ext cx="7793038" cy="4287688"/>
          </a:xfrm>
        </p:spPr>
        <p:txBody>
          <a:bodyPr/>
          <a:lstStyle/>
          <a:p>
            <a:pPr eaLnBrk="1" hangingPunct="1">
              <a:lnSpc>
                <a:spcPct val="150000"/>
              </a:lnSpc>
            </a:pPr>
            <a:r>
              <a:rPr lang="zh-CN" altLang="en-US" sz="2000"/>
              <a:t>举例：</a:t>
            </a:r>
            <a:r>
              <a:rPr lang="en-US" altLang="zh-CN" sz="2000"/>
              <a:t>IP </a:t>
            </a:r>
            <a:r>
              <a:rPr lang="zh-CN" altLang="en-US" sz="2000"/>
              <a:t>地址结构的经典用法</a:t>
            </a:r>
            <a:endParaRPr lang="zh-CN" altLang="en-US" sz="2000" b="0"/>
          </a:p>
          <a:p>
            <a:pPr lvl="1" eaLnBrk="1" hangingPunct="1">
              <a:lnSpc>
                <a:spcPct val="150000"/>
              </a:lnSpc>
            </a:pPr>
            <a:r>
              <a:rPr lang="en-US" altLang="zh-CN" sz="1400" b="0">
                <a:solidFill>
                  <a:srgbClr val="0070C0"/>
                </a:solidFill>
              </a:rPr>
              <a:t>union</a:t>
            </a:r>
            <a:r>
              <a:rPr lang="en-US" altLang="zh-CN" sz="1400" b="0"/>
              <a:t> IPAddress {</a:t>
            </a:r>
          </a:p>
          <a:p>
            <a:pPr lvl="1" eaLnBrk="1" hangingPunct="1">
              <a:lnSpc>
                <a:spcPct val="150000"/>
              </a:lnSpc>
            </a:pPr>
            <a:r>
              <a:rPr lang="en-US" altLang="zh-CN" sz="1400" b="0"/>
              <a:t>    unsigned int addr32;</a:t>
            </a:r>
          </a:p>
          <a:p>
            <a:pPr lvl="1" eaLnBrk="1" hangingPunct="1">
              <a:lnSpc>
                <a:spcPct val="150000"/>
              </a:lnSpc>
            </a:pPr>
            <a:r>
              <a:rPr lang="en-US" altLang="zh-CN" sz="1400" b="0"/>
              <a:t>    unsigned char bytes[4];</a:t>
            </a:r>
          </a:p>
          <a:p>
            <a:pPr lvl="1" eaLnBrk="1" hangingPunct="1">
              <a:lnSpc>
                <a:spcPct val="150000"/>
              </a:lnSpc>
            </a:pPr>
            <a:r>
              <a:rPr lang="en-US" altLang="zh-CN" sz="1400" b="0"/>
              <a:t>};</a:t>
            </a:r>
          </a:p>
          <a:p>
            <a:pPr lvl="1" eaLnBrk="1" hangingPunct="1">
              <a:lnSpc>
                <a:spcPct val="150000"/>
              </a:lnSpc>
            </a:pPr>
            <a:endParaRPr lang="en-US" altLang="zh-CN" sz="1400" b="0"/>
          </a:p>
          <a:p>
            <a:pPr lvl="1" eaLnBrk="1" hangingPunct="1">
              <a:lnSpc>
                <a:spcPct val="150000"/>
              </a:lnSpc>
            </a:pPr>
            <a:r>
              <a:rPr lang="en-US" altLang="zh-CN" sz="1400" b="0"/>
              <a:t>union IPAddress ip;</a:t>
            </a:r>
          </a:p>
          <a:p>
            <a:pPr lvl="1" eaLnBrk="1" hangingPunct="1">
              <a:lnSpc>
                <a:spcPct val="150000"/>
              </a:lnSpc>
            </a:pPr>
            <a:r>
              <a:rPr lang="en-US" altLang="zh-CN" sz="1400" b="0"/>
              <a:t>ip.addr32 = 0xC0A80101; // 192.168.1.1</a:t>
            </a:r>
          </a:p>
          <a:p>
            <a:pPr lvl="1" eaLnBrk="1" hangingPunct="1">
              <a:lnSpc>
                <a:spcPct val="150000"/>
              </a:lnSpc>
            </a:pPr>
            <a:r>
              <a:rPr lang="en-US" altLang="zh-CN" sz="1400" b="0"/>
              <a:t>printf("%u.%u.%u.%u\n",</a:t>
            </a:r>
          </a:p>
          <a:p>
            <a:pPr lvl="1" eaLnBrk="1" hangingPunct="1">
              <a:lnSpc>
                <a:spcPct val="150000"/>
              </a:lnSpc>
            </a:pPr>
            <a:r>
              <a:rPr lang="en-US" altLang="zh-CN" sz="1400" b="0"/>
              <a:t>       ip.bytes[0],</a:t>
            </a:r>
          </a:p>
          <a:p>
            <a:pPr lvl="1" eaLnBrk="1" hangingPunct="1">
              <a:lnSpc>
                <a:spcPct val="150000"/>
              </a:lnSpc>
            </a:pPr>
            <a:r>
              <a:rPr lang="en-US" altLang="zh-CN" sz="1400" b="0"/>
              <a:t>       ip.bytes[1],</a:t>
            </a:r>
          </a:p>
          <a:p>
            <a:pPr lvl="1" eaLnBrk="1" hangingPunct="1">
              <a:lnSpc>
                <a:spcPct val="150000"/>
              </a:lnSpc>
            </a:pPr>
            <a:r>
              <a:rPr lang="en-US" altLang="zh-CN" sz="1400" b="0"/>
              <a:t>       ip.bytes[2],</a:t>
            </a:r>
          </a:p>
          <a:p>
            <a:pPr lvl="1" eaLnBrk="1" hangingPunct="1">
              <a:lnSpc>
                <a:spcPct val="150000"/>
              </a:lnSpc>
            </a:pPr>
            <a:r>
              <a:rPr lang="en-US" altLang="zh-CN" sz="1400" b="0"/>
              <a:t>       ip.bytes[3]);</a:t>
            </a:r>
            <a:endParaRPr lang="zh-CN" altLang="en-US" sz="1800" b="0"/>
          </a:p>
        </p:txBody>
      </p:sp>
    </p:spTree>
    <p:extLst>
      <p:ext uri="{BB962C8B-B14F-4D97-AF65-F5344CB8AC3E}">
        <p14:creationId xmlns:p14="http://schemas.microsoft.com/office/powerpoint/2010/main" val="37425389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0C303-B7A4-BE05-24A2-428DEC8B289E}"/>
            </a:ext>
          </a:extLst>
        </p:cNvPr>
        <p:cNvGrpSpPr/>
        <p:nvPr/>
      </p:nvGrpSpPr>
      <p:grpSpPr>
        <a:xfrm>
          <a:off x="0" y="0"/>
          <a:ext cx="0" cy="0"/>
          <a:chOff x="0" y="0"/>
          <a:chExt cx="0" cy="0"/>
        </a:xfrm>
      </p:grpSpPr>
      <p:sp>
        <p:nvSpPr>
          <p:cNvPr id="94210" name="Rectangle 2">
            <a:extLst>
              <a:ext uri="{FF2B5EF4-FFF2-40B4-BE49-F238E27FC236}">
                <a16:creationId xmlns:a16="http://schemas.microsoft.com/office/drawing/2014/main" id="{74BF2CE7-75D3-4A2A-A8D6-4E174E088D2A}"/>
              </a:ext>
            </a:extLst>
          </p:cNvPr>
          <p:cNvSpPr>
            <a:spLocks noGrp="1" noChangeArrowheads="1"/>
          </p:cNvSpPr>
          <p:nvPr>
            <p:ph type="title"/>
          </p:nvPr>
        </p:nvSpPr>
        <p:spPr/>
        <p:txBody>
          <a:bodyPr/>
          <a:lstStyle/>
          <a:p>
            <a:pPr eaLnBrk="1" hangingPunct="1"/>
            <a:r>
              <a:rPr lang="zh-CN" altLang="en-US"/>
              <a:t>联合</a:t>
            </a:r>
          </a:p>
        </p:txBody>
      </p:sp>
      <p:sp>
        <p:nvSpPr>
          <p:cNvPr id="94211" name="Rectangle 3">
            <a:extLst>
              <a:ext uri="{FF2B5EF4-FFF2-40B4-BE49-F238E27FC236}">
                <a16:creationId xmlns:a16="http://schemas.microsoft.com/office/drawing/2014/main" id="{EF329344-3E7F-16D6-027E-8BDFF560C19A}"/>
              </a:ext>
            </a:extLst>
          </p:cNvPr>
          <p:cNvSpPr>
            <a:spLocks noGrp="1" noChangeArrowheads="1"/>
          </p:cNvSpPr>
          <p:nvPr>
            <p:ph type="body" idx="1"/>
          </p:nvPr>
        </p:nvSpPr>
        <p:spPr>
          <a:xfrm>
            <a:off x="900113" y="1844825"/>
            <a:ext cx="7793038" cy="4287688"/>
          </a:xfrm>
        </p:spPr>
        <p:txBody>
          <a:bodyPr/>
          <a:lstStyle/>
          <a:p>
            <a:pPr eaLnBrk="1" hangingPunct="1">
              <a:lnSpc>
                <a:spcPct val="150000"/>
              </a:lnSpc>
            </a:pPr>
            <a:r>
              <a:rPr lang="zh-CN" altLang="en-US" sz="2000"/>
              <a:t>应用场景：</a:t>
            </a:r>
          </a:p>
          <a:p>
            <a:pPr lvl="1" eaLnBrk="1" hangingPunct="1">
              <a:lnSpc>
                <a:spcPct val="150000"/>
              </a:lnSpc>
            </a:pPr>
            <a:r>
              <a:rPr lang="zh-CN" altLang="en-US" sz="1600" b="0"/>
              <a:t>节省内存：联合通常用于需要节省内存的场景，例如网络协议的实现中，不同数据类型共享内存时。</a:t>
            </a:r>
          </a:p>
          <a:p>
            <a:pPr lvl="1" eaLnBrk="1" hangingPunct="1">
              <a:lnSpc>
                <a:spcPct val="150000"/>
              </a:lnSpc>
            </a:pPr>
            <a:r>
              <a:rPr lang="zh-CN" altLang="en-US" sz="1600" b="0"/>
              <a:t>位域与联合：联合与位域组合使用时，可以方便地操作硬件寄存器或解析二进制数据。</a:t>
            </a:r>
          </a:p>
          <a:p>
            <a:pPr eaLnBrk="1" hangingPunct="1">
              <a:lnSpc>
                <a:spcPct val="150000"/>
              </a:lnSpc>
            </a:pPr>
            <a:r>
              <a:rPr lang="zh-CN" altLang="en-US" sz="2000"/>
              <a:t>注意事项：</a:t>
            </a:r>
          </a:p>
          <a:p>
            <a:pPr lvl="1" eaLnBrk="1" hangingPunct="1">
              <a:lnSpc>
                <a:spcPct val="150000"/>
              </a:lnSpc>
            </a:pPr>
            <a:r>
              <a:rPr lang="zh-CN" altLang="en-US" sz="1600" b="0"/>
              <a:t>联合的大小：它的大小是其中最大成员的大小，但在一些系统中可能需要额外的内存对齐，因此联合的大小可能大于最大成员的大小。</a:t>
            </a:r>
          </a:p>
          <a:p>
            <a:pPr lvl="1" eaLnBrk="1" hangingPunct="1">
              <a:lnSpc>
                <a:spcPct val="150000"/>
              </a:lnSpc>
            </a:pPr>
            <a:r>
              <a:rPr lang="zh-CN" altLang="en-US" sz="1600" b="0"/>
              <a:t>使用的风险：由于联合的所有成员共享同一块内存，如果不小心访问了错误的成员，可能会导致不可预测的行为。</a:t>
            </a:r>
          </a:p>
        </p:txBody>
      </p:sp>
    </p:spTree>
    <p:extLst>
      <p:ext uri="{BB962C8B-B14F-4D97-AF65-F5344CB8AC3E}">
        <p14:creationId xmlns:p14="http://schemas.microsoft.com/office/powerpoint/2010/main" val="4019725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BB0F5-DCFE-A18A-EAA1-F66FBC31CE77}"/>
            </a:ext>
          </a:extLst>
        </p:cNvPr>
        <p:cNvGrpSpPr/>
        <p:nvPr/>
      </p:nvGrpSpPr>
      <p:grpSpPr>
        <a:xfrm>
          <a:off x="0" y="0"/>
          <a:ext cx="0" cy="0"/>
          <a:chOff x="0" y="0"/>
          <a:chExt cx="0" cy="0"/>
        </a:xfrm>
      </p:grpSpPr>
      <p:sp>
        <p:nvSpPr>
          <p:cNvPr id="94210" name="Rectangle 2">
            <a:extLst>
              <a:ext uri="{FF2B5EF4-FFF2-40B4-BE49-F238E27FC236}">
                <a16:creationId xmlns:a16="http://schemas.microsoft.com/office/drawing/2014/main" id="{541E387E-0881-11B5-B82A-0FD857318232}"/>
              </a:ext>
            </a:extLst>
          </p:cNvPr>
          <p:cNvSpPr>
            <a:spLocks noGrp="1" noChangeArrowheads="1"/>
          </p:cNvSpPr>
          <p:nvPr>
            <p:ph type="title"/>
          </p:nvPr>
        </p:nvSpPr>
        <p:spPr/>
        <p:txBody>
          <a:bodyPr/>
          <a:lstStyle/>
          <a:p>
            <a:pPr eaLnBrk="1" hangingPunct="1"/>
            <a:r>
              <a:rPr lang="zh-CN" altLang="en-US"/>
              <a:t>位域（</a:t>
            </a:r>
            <a:r>
              <a:rPr lang="en-US" altLang="zh-CN"/>
              <a:t>bit-fields</a:t>
            </a:r>
            <a:r>
              <a:rPr lang="zh-CN" altLang="en-US"/>
              <a:t>）</a:t>
            </a:r>
          </a:p>
        </p:txBody>
      </p:sp>
      <p:sp>
        <p:nvSpPr>
          <p:cNvPr id="94211" name="Rectangle 3">
            <a:extLst>
              <a:ext uri="{FF2B5EF4-FFF2-40B4-BE49-F238E27FC236}">
                <a16:creationId xmlns:a16="http://schemas.microsoft.com/office/drawing/2014/main" id="{F6807926-8F10-85DF-9964-897115E32494}"/>
              </a:ext>
            </a:extLst>
          </p:cNvPr>
          <p:cNvSpPr>
            <a:spLocks noGrp="1" noChangeArrowheads="1"/>
          </p:cNvSpPr>
          <p:nvPr>
            <p:ph type="body" idx="1"/>
          </p:nvPr>
        </p:nvSpPr>
        <p:spPr>
          <a:xfrm>
            <a:off x="900113" y="1772816"/>
            <a:ext cx="7793038" cy="4359697"/>
          </a:xfrm>
        </p:spPr>
        <p:txBody>
          <a:bodyPr/>
          <a:lstStyle/>
          <a:p>
            <a:pPr eaLnBrk="1" hangingPunct="1">
              <a:lnSpc>
                <a:spcPct val="150000"/>
              </a:lnSpc>
            </a:pPr>
            <a:r>
              <a:rPr lang="zh-CN" altLang="en-US" sz="2000"/>
              <a:t>位域的定义与使用：</a:t>
            </a:r>
          </a:p>
          <a:p>
            <a:pPr lvl="1" eaLnBrk="1" hangingPunct="1">
              <a:lnSpc>
                <a:spcPct val="150000"/>
              </a:lnSpc>
            </a:pPr>
            <a:r>
              <a:rPr lang="zh-CN" altLang="en-US" sz="1600" b="0"/>
              <a:t>位段允许你定义结构体成员时，</a:t>
            </a:r>
            <a:r>
              <a:rPr lang="zh-CN" altLang="en-US" sz="1600" b="0">
                <a:solidFill>
                  <a:srgbClr val="0070C0"/>
                </a:solidFill>
              </a:rPr>
              <a:t>精确指定成员占用的位数</a:t>
            </a:r>
            <a:r>
              <a:rPr lang="zh-CN" altLang="en-US" sz="1600" b="0"/>
              <a:t>。例如，你可以定义一个 </a:t>
            </a:r>
            <a:r>
              <a:rPr lang="en-US" altLang="zh-CN" sz="1600" b="0"/>
              <a:t>struct</a:t>
            </a:r>
            <a:r>
              <a:rPr lang="zh-CN" altLang="en-US" sz="1600" b="0"/>
              <a:t>，其中某些字段只占用 </a:t>
            </a:r>
            <a:r>
              <a:rPr lang="en-US" altLang="zh-CN" sz="1600" b="0"/>
              <a:t>1 </a:t>
            </a:r>
            <a:r>
              <a:rPr lang="zh-CN" altLang="en-US" sz="1600" b="0"/>
              <a:t>位或 </a:t>
            </a:r>
            <a:r>
              <a:rPr lang="en-US" altLang="zh-CN" sz="1600" b="0"/>
              <a:t>2 </a:t>
            </a:r>
            <a:r>
              <a:rPr lang="zh-CN" altLang="en-US" sz="1600" b="0"/>
              <a:t>位。通常用于内存对齐或精确控制二进制数据的布局。</a:t>
            </a:r>
          </a:p>
          <a:p>
            <a:pPr lvl="1" eaLnBrk="1" hangingPunct="1">
              <a:lnSpc>
                <a:spcPct val="150000"/>
              </a:lnSpc>
            </a:pPr>
            <a:r>
              <a:rPr lang="en-US" altLang="zh-CN" sz="1600" b="0"/>
              <a:t>struct {</a:t>
            </a:r>
          </a:p>
          <a:p>
            <a:pPr lvl="1" eaLnBrk="1" hangingPunct="1">
              <a:lnSpc>
                <a:spcPct val="150000"/>
              </a:lnSpc>
            </a:pPr>
            <a:r>
              <a:rPr lang="en-US" altLang="zh-CN" sz="1600" b="0"/>
              <a:t>    unsigned int a : 1; // </a:t>
            </a:r>
            <a:r>
              <a:rPr lang="zh-CN" altLang="en-US" sz="1600" b="0"/>
              <a:t>占用</a:t>
            </a:r>
            <a:r>
              <a:rPr lang="en-US" altLang="zh-CN" sz="1600" b="0"/>
              <a:t>1</a:t>
            </a:r>
            <a:r>
              <a:rPr lang="zh-CN" altLang="en-US" sz="1600" b="0"/>
              <a:t>位</a:t>
            </a:r>
          </a:p>
          <a:p>
            <a:pPr lvl="1" eaLnBrk="1" hangingPunct="1">
              <a:lnSpc>
                <a:spcPct val="150000"/>
              </a:lnSpc>
            </a:pPr>
            <a:r>
              <a:rPr lang="zh-CN" altLang="en-US" sz="1600" b="0"/>
              <a:t>    </a:t>
            </a:r>
            <a:r>
              <a:rPr lang="en-US" altLang="zh-CN" sz="1600" b="0"/>
              <a:t>unsigned int b : 2; // </a:t>
            </a:r>
            <a:r>
              <a:rPr lang="zh-CN" altLang="en-US" sz="1600" b="0"/>
              <a:t>占用</a:t>
            </a:r>
            <a:r>
              <a:rPr lang="en-US" altLang="zh-CN" sz="1600" b="0"/>
              <a:t>2</a:t>
            </a:r>
            <a:r>
              <a:rPr lang="zh-CN" altLang="en-US" sz="1600" b="0"/>
              <a:t>位</a:t>
            </a:r>
          </a:p>
          <a:p>
            <a:pPr lvl="1" eaLnBrk="1" hangingPunct="1">
              <a:lnSpc>
                <a:spcPct val="150000"/>
              </a:lnSpc>
            </a:pPr>
            <a:r>
              <a:rPr lang="zh-CN" altLang="en-US" sz="1600" b="0"/>
              <a:t>    </a:t>
            </a:r>
            <a:r>
              <a:rPr lang="en-US" altLang="zh-CN" sz="1600" b="0"/>
              <a:t>unsigned int c : 5; // </a:t>
            </a:r>
            <a:r>
              <a:rPr lang="zh-CN" altLang="en-US" sz="1600" b="0"/>
              <a:t>占用</a:t>
            </a:r>
            <a:r>
              <a:rPr lang="en-US" altLang="zh-CN" sz="1600" b="0"/>
              <a:t>5</a:t>
            </a:r>
            <a:r>
              <a:rPr lang="zh-CN" altLang="en-US" sz="1600" b="0"/>
              <a:t>位</a:t>
            </a:r>
          </a:p>
          <a:p>
            <a:pPr lvl="1" eaLnBrk="1" hangingPunct="1">
              <a:lnSpc>
                <a:spcPct val="150000"/>
              </a:lnSpc>
            </a:pPr>
            <a:r>
              <a:rPr lang="en-US" altLang="zh-CN" sz="1600" b="0"/>
              <a:t>} bitfield;</a:t>
            </a:r>
          </a:p>
          <a:p>
            <a:pPr lvl="1" eaLnBrk="1" hangingPunct="1">
              <a:lnSpc>
                <a:spcPct val="150000"/>
              </a:lnSpc>
            </a:pPr>
            <a:r>
              <a:rPr lang="zh-CN" altLang="en-US" sz="1600" b="0"/>
              <a:t>在这个示例中，</a:t>
            </a:r>
            <a:r>
              <a:rPr lang="en-US" altLang="zh-CN" sz="1600" b="0"/>
              <a:t>a </a:t>
            </a:r>
            <a:r>
              <a:rPr lang="zh-CN" altLang="en-US" sz="1600" b="0"/>
              <a:t>占用 </a:t>
            </a:r>
            <a:r>
              <a:rPr lang="en-US" altLang="zh-CN" sz="1600" b="0"/>
              <a:t>1 </a:t>
            </a:r>
            <a:r>
              <a:rPr lang="zh-CN" altLang="en-US" sz="1600" b="0"/>
              <a:t>位，</a:t>
            </a:r>
            <a:r>
              <a:rPr lang="en-US" altLang="zh-CN" sz="1600" b="0"/>
              <a:t>b </a:t>
            </a:r>
            <a:r>
              <a:rPr lang="zh-CN" altLang="en-US" sz="1600" b="0"/>
              <a:t>占用 </a:t>
            </a:r>
            <a:r>
              <a:rPr lang="en-US" altLang="zh-CN" sz="1600" b="0"/>
              <a:t>2 </a:t>
            </a:r>
            <a:r>
              <a:rPr lang="zh-CN" altLang="en-US" sz="1600" b="0"/>
              <a:t>位，</a:t>
            </a:r>
            <a:r>
              <a:rPr lang="en-US" altLang="zh-CN" sz="1600" b="0"/>
              <a:t>c </a:t>
            </a:r>
            <a:r>
              <a:rPr lang="zh-CN" altLang="en-US" sz="1600" b="0"/>
              <a:t>占用 </a:t>
            </a:r>
            <a:r>
              <a:rPr lang="en-US" altLang="zh-CN" sz="1600" b="0"/>
              <a:t>5 </a:t>
            </a:r>
            <a:r>
              <a:rPr lang="zh-CN" altLang="en-US" sz="1600" b="0"/>
              <a:t>位，总共占用 </a:t>
            </a:r>
            <a:r>
              <a:rPr lang="en-US" altLang="zh-CN" sz="1600" b="0"/>
              <a:t>8 </a:t>
            </a:r>
            <a:r>
              <a:rPr lang="zh-CN" altLang="en-US" sz="1600" b="0"/>
              <a:t>位（</a:t>
            </a:r>
            <a:r>
              <a:rPr lang="en-US" altLang="zh-CN" sz="1600" b="0"/>
              <a:t>1 </a:t>
            </a:r>
            <a:r>
              <a:rPr lang="zh-CN" altLang="en-US" sz="1600" b="0"/>
              <a:t>字节）。</a:t>
            </a:r>
            <a:endParaRPr lang="en-US" altLang="zh-CN" sz="1600" b="0"/>
          </a:p>
        </p:txBody>
      </p:sp>
    </p:spTree>
    <p:extLst>
      <p:ext uri="{BB962C8B-B14F-4D97-AF65-F5344CB8AC3E}">
        <p14:creationId xmlns:p14="http://schemas.microsoft.com/office/powerpoint/2010/main" val="20540633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68A52-642A-90E1-314C-FD025DA19C00}"/>
            </a:ext>
          </a:extLst>
        </p:cNvPr>
        <p:cNvGrpSpPr/>
        <p:nvPr/>
      </p:nvGrpSpPr>
      <p:grpSpPr>
        <a:xfrm>
          <a:off x="0" y="0"/>
          <a:ext cx="0" cy="0"/>
          <a:chOff x="0" y="0"/>
          <a:chExt cx="0" cy="0"/>
        </a:xfrm>
      </p:grpSpPr>
      <p:sp>
        <p:nvSpPr>
          <p:cNvPr id="94210" name="Rectangle 2">
            <a:extLst>
              <a:ext uri="{FF2B5EF4-FFF2-40B4-BE49-F238E27FC236}">
                <a16:creationId xmlns:a16="http://schemas.microsoft.com/office/drawing/2014/main" id="{2854A70D-1647-DA47-96A1-EEA447B236CF}"/>
              </a:ext>
            </a:extLst>
          </p:cNvPr>
          <p:cNvSpPr>
            <a:spLocks noGrp="1" noChangeArrowheads="1"/>
          </p:cNvSpPr>
          <p:nvPr>
            <p:ph type="title"/>
          </p:nvPr>
        </p:nvSpPr>
        <p:spPr/>
        <p:txBody>
          <a:bodyPr/>
          <a:lstStyle/>
          <a:p>
            <a:pPr eaLnBrk="1" hangingPunct="1"/>
            <a:r>
              <a:rPr lang="zh-CN" altLang="en-US"/>
              <a:t>联合与位域</a:t>
            </a:r>
          </a:p>
        </p:txBody>
      </p:sp>
      <p:sp>
        <p:nvSpPr>
          <p:cNvPr id="94211" name="Rectangle 3">
            <a:extLst>
              <a:ext uri="{FF2B5EF4-FFF2-40B4-BE49-F238E27FC236}">
                <a16:creationId xmlns:a16="http://schemas.microsoft.com/office/drawing/2014/main" id="{FE838BA8-DDCB-4C94-E3B0-8DD4EBDDAEA3}"/>
              </a:ext>
            </a:extLst>
          </p:cNvPr>
          <p:cNvSpPr>
            <a:spLocks noGrp="1" noChangeArrowheads="1"/>
          </p:cNvSpPr>
          <p:nvPr>
            <p:ph type="body" idx="1"/>
          </p:nvPr>
        </p:nvSpPr>
        <p:spPr>
          <a:xfrm>
            <a:off x="900113" y="1700808"/>
            <a:ext cx="7793038" cy="4431705"/>
          </a:xfrm>
        </p:spPr>
        <p:txBody>
          <a:bodyPr/>
          <a:lstStyle/>
          <a:p>
            <a:pPr eaLnBrk="1" hangingPunct="1">
              <a:lnSpc>
                <a:spcPct val="150000"/>
              </a:lnSpc>
            </a:pPr>
            <a:r>
              <a:rPr lang="zh-CN" altLang="en-US" sz="2000" b="0"/>
              <a:t>当联合和位域结合使用时，可以同时以位域的方式操作数据，并通过联合直接访问内存表示。这对于硬件寄存器的操作或协议解析非常有帮助。</a:t>
            </a:r>
            <a:endParaRPr lang="en-US" altLang="zh-CN" sz="2000" b="0"/>
          </a:p>
          <a:p>
            <a:pPr eaLnBrk="1" hangingPunct="1">
              <a:lnSpc>
                <a:spcPct val="150000"/>
              </a:lnSpc>
            </a:pPr>
            <a:r>
              <a:rPr lang="zh-CN" altLang="en-US" sz="2000" b="0"/>
              <a:t>例如，一个联合可以包含位域和完整的整数变量，允许你用不同的方式访问和操作同一块内存：</a:t>
            </a:r>
            <a:endParaRPr lang="en-US" altLang="zh-CN" sz="2000" b="0"/>
          </a:p>
          <a:p>
            <a:pPr lvl="1" eaLnBrk="1" hangingPunct="1"/>
            <a:r>
              <a:rPr lang="en-US" altLang="zh-CN" sz="1600" b="0"/>
              <a:t>union {</a:t>
            </a:r>
          </a:p>
          <a:p>
            <a:pPr lvl="1" eaLnBrk="1" hangingPunct="1"/>
            <a:r>
              <a:rPr lang="en-US" altLang="zh-CN" sz="1600" b="0"/>
              <a:t>    struct {</a:t>
            </a:r>
          </a:p>
          <a:p>
            <a:pPr lvl="1" eaLnBrk="1" hangingPunct="1"/>
            <a:r>
              <a:rPr lang="en-US" altLang="zh-CN" sz="1600" b="0"/>
              <a:t>        unsigned int a : 1;</a:t>
            </a:r>
          </a:p>
          <a:p>
            <a:pPr lvl="1" eaLnBrk="1" hangingPunct="1"/>
            <a:r>
              <a:rPr lang="en-US" altLang="zh-CN" sz="1600" b="0"/>
              <a:t>        unsigned int b : 2;</a:t>
            </a:r>
          </a:p>
          <a:p>
            <a:pPr lvl="1" eaLnBrk="1" hangingPunct="1"/>
            <a:r>
              <a:rPr lang="en-US" altLang="zh-CN" sz="1600" b="0"/>
              <a:t>        unsigned int c : 5;</a:t>
            </a:r>
          </a:p>
          <a:p>
            <a:pPr lvl="1" eaLnBrk="1" hangingPunct="1"/>
            <a:r>
              <a:rPr lang="en-US" altLang="zh-CN" sz="1600" b="0"/>
              <a:t>    } bits;</a:t>
            </a:r>
          </a:p>
          <a:p>
            <a:pPr lvl="1" eaLnBrk="1" hangingPunct="1"/>
            <a:r>
              <a:rPr lang="en-US" altLang="zh-CN" sz="1600" b="0"/>
              <a:t>    unsigned char byte;</a:t>
            </a:r>
          </a:p>
          <a:p>
            <a:pPr lvl="1" eaLnBrk="1" hangingPunct="1"/>
            <a:r>
              <a:rPr lang="en-US" altLang="zh-CN" sz="1600" b="0"/>
              <a:t>} data;</a:t>
            </a:r>
            <a:endParaRPr lang="zh-CN" altLang="en-US" sz="1600" b="0"/>
          </a:p>
        </p:txBody>
      </p:sp>
    </p:spTree>
    <p:extLst>
      <p:ext uri="{BB962C8B-B14F-4D97-AF65-F5344CB8AC3E}">
        <p14:creationId xmlns:p14="http://schemas.microsoft.com/office/powerpoint/2010/main" val="37272901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CCABB-40BF-D934-DF76-034B3E437F3C}"/>
            </a:ext>
          </a:extLst>
        </p:cNvPr>
        <p:cNvGrpSpPr/>
        <p:nvPr/>
      </p:nvGrpSpPr>
      <p:grpSpPr>
        <a:xfrm>
          <a:off x="0" y="0"/>
          <a:ext cx="0" cy="0"/>
          <a:chOff x="0" y="0"/>
          <a:chExt cx="0" cy="0"/>
        </a:xfrm>
      </p:grpSpPr>
      <p:sp>
        <p:nvSpPr>
          <p:cNvPr id="94210" name="Rectangle 2">
            <a:extLst>
              <a:ext uri="{FF2B5EF4-FFF2-40B4-BE49-F238E27FC236}">
                <a16:creationId xmlns:a16="http://schemas.microsoft.com/office/drawing/2014/main" id="{87422D9B-8E32-4B25-77EA-3EB006C0984E}"/>
              </a:ext>
            </a:extLst>
          </p:cNvPr>
          <p:cNvSpPr>
            <a:spLocks noGrp="1" noChangeArrowheads="1"/>
          </p:cNvSpPr>
          <p:nvPr>
            <p:ph type="title"/>
          </p:nvPr>
        </p:nvSpPr>
        <p:spPr/>
        <p:txBody>
          <a:bodyPr/>
          <a:lstStyle/>
          <a:p>
            <a:pPr eaLnBrk="1" hangingPunct="1"/>
            <a:r>
              <a:rPr lang="zh-CN" altLang="en-US"/>
              <a:t>联合与位域（续）</a:t>
            </a:r>
          </a:p>
        </p:txBody>
      </p:sp>
      <p:sp>
        <p:nvSpPr>
          <p:cNvPr id="94211" name="Rectangle 3">
            <a:extLst>
              <a:ext uri="{FF2B5EF4-FFF2-40B4-BE49-F238E27FC236}">
                <a16:creationId xmlns:a16="http://schemas.microsoft.com/office/drawing/2014/main" id="{C0B4547C-B525-AE34-832F-35BC2E85DB3D}"/>
              </a:ext>
            </a:extLst>
          </p:cNvPr>
          <p:cNvSpPr>
            <a:spLocks noGrp="1" noChangeArrowheads="1"/>
          </p:cNvSpPr>
          <p:nvPr>
            <p:ph type="body" idx="1"/>
          </p:nvPr>
        </p:nvSpPr>
        <p:spPr>
          <a:xfrm>
            <a:off x="900113" y="1700808"/>
            <a:ext cx="7793038" cy="4431705"/>
          </a:xfrm>
        </p:spPr>
        <p:txBody>
          <a:bodyPr/>
          <a:lstStyle/>
          <a:p>
            <a:pPr eaLnBrk="1" hangingPunct="1">
              <a:lnSpc>
                <a:spcPct val="150000"/>
              </a:lnSpc>
            </a:pPr>
            <a:r>
              <a:rPr lang="zh-CN" altLang="en-US" sz="2000" b="0"/>
              <a:t>例如，一个联合可以包含位域和完整的整数变量，允许你用不同的方式访问和操作同一块内存：</a:t>
            </a:r>
            <a:endParaRPr lang="en-US" altLang="zh-CN" sz="2000" b="0"/>
          </a:p>
          <a:p>
            <a:pPr lvl="1" eaLnBrk="1" hangingPunct="1"/>
            <a:r>
              <a:rPr lang="en-US" altLang="zh-CN" sz="1600" b="0"/>
              <a:t>int main() {</a:t>
            </a:r>
          </a:p>
          <a:p>
            <a:pPr lvl="1" eaLnBrk="1" hangingPunct="1"/>
            <a:r>
              <a:rPr lang="en-US" altLang="zh-CN" sz="1600" b="0"/>
              <a:t>    data.byte = 0; // </a:t>
            </a:r>
            <a:r>
              <a:rPr lang="zh-CN" altLang="en-US" sz="1600" b="0"/>
              <a:t>清零所有位</a:t>
            </a:r>
          </a:p>
          <a:p>
            <a:pPr lvl="1" eaLnBrk="1" hangingPunct="1"/>
            <a:r>
              <a:rPr lang="zh-CN" altLang="en-US" sz="1600" b="0"/>
              <a:t>    </a:t>
            </a:r>
            <a:r>
              <a:rPr lang="en-US" altLang="zh-CN" sz="1600" b="0"/>
              <a:t>data.bits.a = 1;</a:t>
            </a:r>
          </a:p>
          <a:p>
            <a:pPr lvl="1" eaLnBrk="1" hangingPunct="1"/>
            <a:r>
              <a:rPr lang="en-US" altLang="zh-CN" sz="1600" b="0"/>
              <a:t>    data.bits.b = 3;</a:t>
            </a:r>
          </a:p>
          <a:p>
            <a:pPr lvl="1" eaLnBrk="1" hangingPunct="1"/>
            <a:r>
              <a:rPr lang="en-US" altLang="zh-CN" sz="1600" b="0"/>
              <a:t>    data.bits.c = 15;</a:t>
            </a:r>
          </a:p>
          <a:p>
            <a:pPr lvl="1" eaLnBrk="1" hangingPunct="1"/>
            <a:endParaRPr lang="en-US" altLang="zh-CN" sz="1600" b="0"/>
          </a:p>
          <a:p>
            <a:pPr lvl="1" eaLnBrk="1" hangingPunct="1"/>
            <a:r>
              <a:rPr lang="en-US" altLang="zh-CN" sz="1600" b="0"/>
              <a:t>    printf("Byte value: %x\n", data.byte);  // </a:t>
            </a:r>
            <a:r>
              <a:rPr lang="zh-CN" altLang="en-US" sz="1600" b="0"/>
              <a:t>输出整个字节的值</a:t>
            </a:r>
          </a:p>
          <a:p>
            <a:pPr lvl="1" eaLnBrk="1" hangingPunct="1"/>
            <a:r>
              <a:rPr lang="zh-CN" altLang="en-US" sz="1600" b="0"/>
              <a:t>    </a:t>
            </a:r>
            <a:r>
              <a:rPr lang="en-US" altLang="zh-CN" sz="1600" b="0"/>
              <a:t>return 0;</a:t>
            </a:r>
          </a:p>
          <a:p>
            <a:pPr lvl="1" eaLnBrk="1" hangingPunct="1"/>
            <a:r>
              <a:rPr lang="en-US" altLang="zh-CN" sz="1600" b="0"/>
              <a:t>}</a:t>
            </a:r>
          </a:p>
          <a:p>
            <a:pPr eaLnBrk="1" hangingPunct="1"/>
            <a:r>
              <a:rPr lang="zh-CN" altLang="en-US" sz="2000" b="0"/>
              <a:t>在这个例子中，</a:t>
            </a:r>
            <a:r>
              <a:rPr lang="en-US" altLang="zh-CN" sz="2000" b="0"/>
              <a:t>data.bits.a</a:t>
            </a:r>
            <a:r>
              <a:rPr lang="zh-CN" altLang="en-US" sz="2000" b="0"/>
              <a:t>、</a:t>
            </a:r>
            <a:r>
              <a:rPr lang="en-US" altLang="zh-CN" sz="2000" b="0"/>
              <a:t>data.bits.b</a:t>
            </a:r>
            <a:r>
              <a:rPr lang="zh-CN" altLang="en-US" sz="2000" b="0"/>
              <a:t>、</a:t>
            </a:r>
            <a:r>
              <a:rPr lang="en-US" altLang="zh-CN" sz="2000" b="0"/>
              <a:t>data.bits.c </a:t>
            </a:r>
            <a:r>
              <a:rPr lang="zh-CN" altLang="en-US" sz="2000" b="0"/>
              <a:t>使用位域设置不同位的值，而通过 </a:t>
            </a:r>
            <a:r>
              <a:rPr lang="en-US" altLang="zh-CN" sz="2000" b="0"/>
              <a:t>data.byte </a:t>
            </a:r>
            <a:r>
              <a:rPr lang="zh-CN" altLang="en-US" sz="2000" b="0"/>
              <a:t>你可以直接访问或查看其在内存中的表示。</a:t>
            </a:r>
          </a:p>
        </p:txBody>
      </p:sp>
    </p:spTree>
    <p:extLst>
      <p:ext uri="{BB962C8B-B14F-4D97-AF65-F5344CB8AC3E}">
        <p14:creationId xmlns:p14="http://schemas.microsoft.com/office/powerpoint/2010/main" val="4822024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D02F8-D71B-1BBD-7181-96A968D99A08}"/>
            </a:ext>
          </a:extLst>
        </p:cNvPr>
        <p:cNvGrpSpPr/>
        <p:nvPr/>
      </p:nvGrpSpPr>
      <p:grpSpPr>
        <a:xfrm>
          <a:off x="0" y="0"/>
          <a:ext cx="0" cy="0"/>
          <a:chOff x="0" y="0"/>
          <a:chExt cx="0" cy="0"/>
        </a:xfrm>
      </p:grpSpPr>
      <p:sp>
        <p:nvSpPr>
          <p:cNvPr id="94210" name="Rectangle 2">
            <a:extLst>
              <a:ext uri="{FF2B5EF4-FFF2-40B4-BE49-F238E27FC236}">
                <a16:creationId xmlns:a16="http://schemas.microsoft.com/office/drawing/2014/main" id="{B22914F0-89F9-F9D5-7595-FF3EBAD5BAF1}"/>
              </a:ext>
            </a:extLst>
          </p:cNvPr>
          <p:cNvSpPr>
            <a:spLocks noGrp="1" noChangeArrowheads="1"/>
          </p:cNvSpPr>
          <p:nvPr>
            <p:ph type="title"/>
          </p:nvPr>
        </p:nvSpPr>
        <p:spPr/>
        <p:txBody>
          <a:bodyPr/>
          <a:lstStyle/>
          <a:p>
            <a:pPr eaLnBrk="1" hangingPunct="1"/>
            <a:r>
              <a:rPr lang="zh-CN" altLang="en-US"/>
              <a:t>联合与位域（续）</a:t>
            </a:r>
          </a:p>
        </p:txBody>
      </p:sp>
      <p:sp>
        <p:nvSpPr>
          <p:cNvPr id="94211" name="Rectangle 3">
            <a:extLst>
              <a:ext uri="{FF2B5EF4-FFF2-40B4-BE49-F238E27FC236}">
                <a16:creationId xmlns:a16="http://schemas.microsoft.com/office/drawing/2014/main" id="{EE6F3C30-89AB-E170-7991-8C770D485438}"/>
              </a:ext>
            </a:extLst>
          </p:cNvPr>
          <p:cNvSpPr>
            <a:spLocks noGrp="1" noChangeArrowheads="1"/>
          </p:cNvSpPr>
          <p:nvPr>
            <p:ph type="body" idx="1"/>
          </p:nvPr>
        </p:nvSpPr>
        <p:spPr>
          <a:xfrm>
            <a:off x="900113" y="1844825"/>
            <a:ext cx="7793038" cy="4287688"/>
          </a:xfrm>
        </p:spPr>
        <p:txBody>
          <a:bodyPr/>
          <a:lstStyle/>
          <a:p>
            <a:pPr eaLnBrk="1" hangingPunct="1">
              <a:lnSpc>
                <a:spcPct val="150000"/>
              </a:lnSpc>
            </a:pPr>
            <a:r>
              <a:rPr lang="zh-CN" altLang="en-US" sz="2000"/>
              <a:t>应用场景：</a:t>
            </a:r>
          </a:p>
          <a:p>
            <a:pPr lvl="1" eaLnBrk="1" hangingPunct="1">
              <a:lnSpc>
                <a:spcPct val="150000"/>
              </a:lnSpc>
            </a:pPr>
            <a:r>
              <a:rPr lang="zh-CN" altLang="en-US" sz="1600" b="0"/>
              <a:t>硬件寄存器操作：在嵌入式系统中，硬件寄存器通常由多个位组成，每个位或几个位具有特定的含义。通过位域和联合的结合，可以方便地访问这些位。</a:t>
            </a:r>
            <a:endParaRPr lang="zh-CN" altLang="en-US" sz="2000" b="0"/>
          </a:p>
          <a:p>
            <a:pPr lvl="1" eaLnBrk="1" hangingPunct="1">
              <a:lnSpc>
                <a:spcPct val="150000"/>
              </a:lnSpc>
            </a:pPr>
            <a:r>
              <a:rPr lang="zh-CN" altLang="en-US" sz="1600" b="0"/>
              <a:t>网络协议解析：网络协议中的报文通常是压缩的，其中某些字段可能只占用几位。位域和联合的组合可以用于提取和操作这些字段。</a:t>
            </a:r>
            <a:endParaRPr lang="zh-CN" altLang="en-US" sz="2000" b="0"/>
          </a:p>
          <a:p>
            <a:pPr eaLnBrk="1" hangingPunct="1">
              <a:lnSpc>
                <a:spcPct val="150000"/>
              </a:lnSpc>
            </a:pPr>
            <a:r>
              <a:rPr lang="zh-CN" altLang="en-US" sz="2000"/>
              <a:t>注意事项：</a:t>
            </a:r>
          </a:p>
          <a:p>
            <a:pPr lvl="1" eaLnBrk="1" hangingPunct="1">
              <a:lnSpc>
                <a:spcPct val="150000"/>
              </a:lnSpc>
            </a:pPr>
            <a:r>
              <a:rPr lang="zh-CN" altLang="en-US" sz="1600" b="0"/>
              <a:t>跨平台问题：不同编译器可能会有不同的位域排列方式，因此位域的跨平台兼容性较差，需谨慎使用。</a:t>
            </a:r>
          </a:p>
          <a:p>
            <a:pPr lvl="1" eaLnBrk="1" hangingPunct="1">
              <a:lnSpc>
                <a:spcPct val="150000"/>
              </a:lnSpc>
            </a:pPr>
            <a:r>
              <a:rPr lang="zh-CN" altLang="en-US" sz="1600" b="0"/>
              <a:t>内存对齐：位域可能会因为内存对齐的要求而浪费一些空间，实际占用的内存可能会比你预期的更多。</a:t>
            </a:r>
          </a:p>
        </p:txBody>
      </p:sp>
    </p:spTree>
    <p:extLst>
      <p:ext uri="{BB962C8B-B14F-4D97-AF65-F5344CB8AC3E}">
        <p14:creationId xmlns:p14="http://schemas.microsoft.com/office/powerpoint/2010/main" val="33642065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FFEE1A4-5F49-7974-3027-95D02DD7CA49}"/>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F06B4585-B6CD-1A0F-55BF-EF6C974EB0AD}"/>
              </a:ext>
            </a:extLst>
          </p:cNvPr>
          <p:cNvSpPr>
            <a:spLocks noGrp="1" noChangeArrowheads="1"/>
          </p:cNvSpPr>
          <p:nvPr>
            <p:ph type="ctrTitle"/>
          </p:nvPr>
        </p:nvSpPr>
        <p:spPr/>
        <p:txBody>
          <a:bodyPr/>
          <a:lstStyle/>
          <a:p>
            <a:pPr eaLnBrk="1" hangingPunct="1"/>
            <a:r>
              <a:rPr lang="zh-CN" altLang="en-US"/>
              <a:t>枚举</a:t>
            </a:r>
            <a:endParaRPr lang="zh-CN" altLang="en-US" sz="4000" b="1">
              <a:solidFill>
                <a:srgbClr val="FF0000"/>
              </a:solidFill>
            </a:endParaRPr>
          </a:p>
        </p:txBody>
      </p:sp>
    </p:spTree>
    <p:extLst>
      <p:ext uri="{BB962C8B-B14F-4D97-AF65-F5344CB8AC3E}">
        <p14:creationId xmlns:p14="http://schemas.microsoft.com/office/powerpoint/2010/main" val="13991232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B38D2459-27EC-261F-7DA1-49B6E82AD502}"/>
              </a:ext>
            </a:extLst>
          </p:cNvPr>
          <p:cNvSpPr>
            <a:spLocks noGrp="1" noChangeArrowheads="1"/>
          </p:cNvSpPr>
          <p:nvPr>
            <p:ph type="title"/>
          </p:nvPr>
        </p:nvSpPr>
        <p:spPr/>
        <p:txBody>
          <a:bodyPr/>
          <a:lstStyle/>
          <a:p>
            <a:pPr eaLnBrk="1" hangingPunct="1"/>
            <a:r>
              <a:rPr lang="zh-CN" altLang="en-US"/>
              <a:t>定义枚举类型</a:t>
            </a:r>
          </a:p>
        </p:txBody>
      </p:sp>
      <p:sp>
        <p:nvSpPr>
          <p:cNvPr id="182275" name="Rectangle 3">
            <a:extLst>
              <a:ext uri="{FF2B5EF4-FFF2-40B4-BE49-F238E27FC236}">
                <a16:creationId xmlns:a16="http://schemas.microsoft.com/office/drawing/2014/main" id="{736E48B9-70E6-0DB9-B4B4-DDB61EA3B56C}"/>
              </a:ext>
            </a:extLst>
          </p:cNvPr>
          <p:cNvSpPr>
            <a:spLocks noGrp="1" noChangeArrowheads="1"/>
          </p:cNvSpPr>
          <p:nvPr>
            <p:ph type="body" idx="1"/>
          </p:nvPr>
        </p:nvSpPr>
        <p:spPr>
          <a:xfrm>
            <a:off x="827088" y="1844823"/>
            <a:ext cx="7866062" cy="4287689"/>
          </a:xfrm>
        </p:spPr>
        <p:txBody>
          <a:bodyPr/>
          <a:lstStyle/>
          <a:p>
            <a:pPr eaLnBrk="1" hangingPunct="1">
              <a:lnSpc>
                <a:spcPct val="150000"/>
              </a:lnSpc>
            </a:pPr>
            <a:r>
              <a:rPr lang="zh-CN" altLang="en-US" sz="2000" b="0"/>
              <a:t>除数字，文字信息之外，还有专用名称信息，如反映电梯运行状态的有上</a:t>
            </a:r>
            <a:r>
              <a:rPr lang="en-US" altLang="zh-CN" sz="2000" b="0"/>
              <a:t>(UP)</a:t>
            </a:r>
            <a:r>
              <a:rPr lang="zh-CN" altLang="en-US" sz="2000" b="0"/>
              <a:t>，下</a:t>
            </a:r>
            <a:r>
              <a:rPr lang="en-US" altLang="zh-CN" sz="2000" b="0"/>
              <a:t>(DOWN)</a:t>
            </a:r>
            <a:r>
              <a:rPr lang="zh-CN" altLang="en-US" sz="2000" b="0"/>
              <a:t>，停</a:t>
            </a:r>
            <a:r>
              <a:rPr lang="en-US" altLang="zh-CN" sz="2000" b="0"/>
              <a:t>(STOP)</a:t>
            </a:r>
            <a:r>
              <a:rPr lang="zh-CN" altLang="en-US" sz="2000" b="0"/>
              <a:t>；又如表示星期几的名称等。为提高程序描述问题时的直观性，引入</a:t>
            </a:r>
            <a:r>
              <a:rPr lang="zh-CN" altLang="en-US" sz="2000">
                <a:solidFill>
                  <a:srgbClr val="0066FF"/>
                </a:solidFill>
              </a:rPr>
              <a:t>枚举类型</a:t>
            </a:r>
            <a:r>
              <a:rPr lang="zh-CN" altLang="en-US" sz="2000" b="0"/>
              <a:t>的机制。</a:t>
            </a:r>
            <a:endParaRPr lang="en-US" altLang="zh-CN" sz="2000" b="0"/>
          </a:p>
          <a:p>
            <a:pPr eaLnBrk="1" hangingPunct="1">
              <a:lnSpc>
                <a:spcPct val="150000"/>
              </a:lnSpc>
            </a:pPr>
            <a:r>
              <a:rPr lang="zh-CN" altLang="en-US" sz="2000" b="0"/>
              <a:t>程序用枚举方法列举</a:t>
            </a:r>
            <a:r>
              <a:rPr lang="zh-CN" altLang="en-US" sz="2000" b="0">
                <a:solidFill>
                  <a:srgbClr val="0070C0"/>
                </a:solidFill>
              </a:rPr>
              <a:t>一组标识符</a:t>
            </a:r>
            <a:r>
              <a:rPr lang="zh-CN" altLang="en-US" sz="2000" b="0"/>
              <a:t>作为枚举类型的</a:t>
            </a:r>
            <a:r>
              <a:rPr lang="zh-CN" altLang="en-US" sz="2000" b="0">
                <a:solidFill>
                  <a:srgbClr val="0070C0"/>
                </a:solidFill>
              </a:rPr>
              <a:t>值的集合</a:t>
            </a:r>
            <a:r>
              <a:rPr lang="zh-CN" altLang="en-US" sz="2000" b="0"/>
              <a:t>。当一个变量具有这种枚举类型时，它就能取枚举类型的标识符值。</a:t>
            </a:r>
          </a:p>
          <a:p>
            <a:pPr eaLnBrk="1" hangingPunct="1">
              <a:lnSpc>
                <a:spcPct val="150000"/>
              </a:lnSpc>
            </a:pPr>
            <a:r>
              <a:rPr lang="zh-CN" altLang="en-US" sz="2000"/>
              <a:t>枚举类型定义的一般形式为：</a:t>
            </a:r>
          </a:p>
          <a:p>
            <a:pPr lvl="1" eaLnBrk="1" hangingPunct="1">
              <a:lnSpc>
                <a:spcPct val="150000"/>
              </a:lnSpc>
            </a:pPr>
            <a:r>
              <a:rPr lang="zh-CN" altLang="en-US" sz="1800" b="0"/>
              <a:t>  </a:t>
            </a:r>
            <a:r>
              <a:rPr lang="en-US" altLang="zh-CN" sz="1800" b="0">
                <a:solidFill>
                  <a:srgbClr val="0066FF"/>
                </a:solidFill>
              </a:rPr>
              <a:t>enum  </a:t>
            </a:r>
            <a:r>
              <a:rPr lang="zh-CN" altLang="en-US" sz="1800" b="0">
                <a:solidFill>
                  <a:srgbClr val="0066FF"/>
                </a:solidFill>
              </a:rPr>
              <a:t>类型名  </a:t>
            </a:r>
            <a:r>
              <a:rPr lang="en-US" altLang="zh-CN" sz="1800" b="0">
                <a:solidFill>
                  <a:srgbClr val="0066FF"/>
                </a:solidFill>
              </a:rPr>
              <a:t>{</a:t>
            </a:r>
            <a:r>
              <a:rPr lang="zh-CN" altLang="en-US" sz="1800" b="0">
                <a:solidFill>
                  <a:srgbClr val="0066FF"/>
                </a:solidFill>
              </a:rPr>
              <a:t>标识符</a:t>
            </a:r>
            <a:r>
              <a:rPr lang="en-US" altLang="zh-CN" sz="1800" b="0">
                <a:solidFill>
                  <a:srgbClr val="0066FF"/>
                </a:solidFill>
              </a:rPr>
              <a:t>1, </a:t>
            </a:r>
            <a:r>
              <a:rPr lang="zh-CN" altLang="en-US" sz="1800" b="0">
                <a:solidFill>
                  <a:srgbClr val="0066FF"/>
                </a:solidFill>
              </a:rPr>
              <a:t>标识符</a:t>
            </a:r>
            <a:r>
              <a:rPr lang="en-US" altLang="zh-CN" sz="1800" b="0">
                <a:solidFill>
                  <a:srgbClr val="0066FF"/>
                </a:solidFill>
              </a:rPr>
              <a:t>2, </a:t>
            </a:r>
            <a:r>
              <a:rPr lang="en-US" altLang="zh-CN" sz="1800" b="0">
                <a:solidFill>
                  <a:srgbClr val="0066FF"/>
                </a:solidFill>
                <a:latin typeface="Arial" panose="020B0604020202020204" pitchFamily="34" charset="0"/>
              </a:rPr>
              <a:t>…</a:t>
            </a:r>
            <a:r>
              <a:rPr lang="en-US" altLang="zh-CN" sz="1800" b="0">
                <a:solidFill>
                  <a:srgbClr val="0066FF"/>
                </a:solidFill>
              </a:rPr>
              <a:t>, </a:t>
            </a:r>
            <a:r>
              <a:rPr lang="zh-CN" altLang="en-US" sz="1800" b="0">
                <a:solidFill>
                  <a:srgbClr val="0066FF"/>
                </a:solidFill>
              </a:rPr>
              <a:t>标识符</a:t>
            </a:r>
            <a:r>
              <a:rPr lang="en-US" altLang="zh-CN" sz="1800" b="0">
                <a:solidFill>
                  <a:srgbClr val="0066FF"/>
                </a:solidFill>
              </a:rPr>
              <a:t>n};</a:t>
            </a:r>
          </a:p>
          <a:p>
            <a:pPr eaLnBrk="1" hangingPunct="1">
              <a:lnSpc>
                <a:spcPct val="150000"/>
              </a:lnSpc>
            </a:pPr>
            <a:r>
              <a:rPr lang="zh-CN" altLang="en-US" sz="2000" b="0"/>
              <a:t>例如</a:t>
            </a:r>
          </a:p>
          <a:p>
            <a:pPr lvl="1" eaLnBrk="1" hangingPunct="1">
              <a:lnSpc>
                <a:spcPct val="150000"/>
              </a:lnSpc>
            </a:pPr>
            <a:r>
              <a:rPr lang="zh-CN" altLang="en-US" sz="1800" b="0"/>
              <a:t> </a:t>
            </a:r>
            <a:r>
              <a:rPr lang="en-US" altLang="zh-CN" sz="1800" b="0"/>
              <a:t>enum weekday {SUN, MON, TUE, WED, THU, FRI, SAT};</a:t>
            </a:r>
          </a:p>
        </p:txBody>
      </p:sp>
    </p:spTree>
    <p:extLst>
      <p:ext uri="{BB962C8B-B14F-4D97-AF65-F5344CB8AC3E}">
        <p14:creationId xmlns:p14="http://schemas.microsoft.com/office/powerpoint/2010/main" val="16709290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524F-F886-26D4-9243-9F7605DFE96B}"/>
            </a:ext>
          </a:extLst>
        </p:cNvPr>
        <p:cNvGrpSpPr/>
        <p:nvPr/>
      </p:nvGrpSpPr>
      <p:grpSpPr>
        <a:xfrm>
          <a:off x="0" y="0"/>
          <a:ext cx="0" cy="0"/>
          <a:chOff x="0" y="0"/>
          <a:chExt cx="0" cy="0"/>
        </a:xfrm>
      </p:grpSpPr>
      <p:sp>
        <p:nvSpPr>
          <p:cNvPr id="182274" name="Rectangle 2">
            <a:extLst>
              <a:ext uri="{FF2B5EF4-FFF2-40B4-BE49-F238E27FC236}">
                <a16:creationId xmlns:a16="http://schemas.microsoft.com/office/drawing/2014/main" id="{20699DED-9572-948F-FE2F-4F4D9D93351B}"/>
              </a:ext>
            </a:extLst>
          </p:cNvPr>
          <p:cNvSpPr>
            <a:spLocks noGrp="1" noChangeArrowheads="1"/>
          </p:cNvSpPr>
          <p:nvPr>
            <p:ph type="title"/>
          </p:nvPr>
        </p:nvSpPr>
        <p:spPr/>
        <p:txBody>
          <a:bodyPr/>
          <a:lstStyle/>
          <a:p>
            <a:pPr eaLnBrk="1" hangingPunct="1"/>
            <a:r>
              <a:rPr lang="zh-CN" altLang="en-US"/>
              <a:t>定义枚举类型</a:t>
            </a:r>
          </a:p>
        </p:txBody>
      </p:sp>
      <p:sp>
        <p:nvSpPr>
          <p:cNvPr id="182275" name="Rectangle 3">
            <a:extLst>
              <a:ext uri="{FF2B5EF4-FFF2-40B4-BE49-F238E27FC236}">
                <a16:creationId xmlns:a16="http://schemas.microsoft.com/office/drawing/2014/main" id="{30A66CC5-1149-5DF4-F64D-7FE60078C159}"/>
              </a:ext>
            </a:extLst>
          </p:cNvPr>
          <p:cNvSpPr>
            <a:spLocks noGrp="1" noChangeArrowheads="1"/>
          </p:cNvSpPr>
          <p:nvPr>
            <p:ph type="body" idx="1"/>
          </p:nvPr>
        </p:nvSpPr>
        <p:spPr>
          <a:xfrm>
            <a:off x="827088" y="1916831"/>
            <a:ext cx="7866062" cy="4215681"/>
          </a:xfrm>
        </p:spPr>
        <p:txBody>
          <a:bodyPr/>
          <a:lstStyle/>
          <a:p>
            <a:pPr eaLnBrk="1" hangingPunct="1">
              <a:lnSpc>
                <a:spcPct val="150000"/>
              </a:lnSpc>
            </a:pPr>
            <a:r>
              <a:rPr lang="zh-CN" altLang="en-US" sz="2000" b="0"/>
              <a:t>定义枚举类型</a:t>
            </a:r>
            <a:r>
              <a:rPr lang="en-US" altLang="zh-CN" sz="2000" b="0"/>
              <a:t>enum weekday</a:t>
            </a:r>
            <a:r>
              <a:rPr lang="zh-CN" altLang="en-US" sz="2000" b="0"/>
              <a:t>。用它可以定义变量。如</a:t>
            </a:r>
          </a:p>
          <a:p>
            <a:pPr lvl="1" eaLnBrk="1" hangingPunct="1">
              <a:lnSpc>
                <a:spcPct val="150000"/>
              </a:lnSpc>
            </a:pPr>
            <a:r>
              <a:rPr lang="zh-CN" altLang="en-US" sz="1800" b="0"/>
              <a:t>   </a:t>
            </a:r>
            <a:r>
              <a:rPr lang="en-US" altLang="zh-CN" sz="1800" b="0">
                <a:solidFill>
                  <a:srgbClr val="0070C0"/>
                </a:solidFill>
              </a:rPr>
              <a:t>enum  weekday</a:t>
            </a:r>
            <a:r>
              <a:rPr lang="en-US" altLang="zh-CN" sz="1800" b="0"/>
              <a:t>  today, yesterday, tomorrow;</a:t>
            </a:r>
          </a:p>
          <a:p>
            <a:pPr eaLnBrk="1" hangingPunct="1">
              <a:lnSpc>
                <a:spcPct val="150000"/>
              </a:lnSpc>
            </a:pPr>
            <a:r>
              <a:rPr lang="zh-CN" altLang="en-US" sz="2000" b="0"/>
              <a:t>定义枚举类型</a:t>
            </a:r>
            <a:r>
              <a:rPr lang="en-US" altLang="zh-CN" sz="2000" b="0"/>
              <a:t>enum weekday</a:t>
            </a:r>
            <a:r>
              <a:rPr lang="zh-CN" altLang="en-US" sz="2000" b="0"/>
              <a:t>的变量</a:t>
            </a:r>
            <a:r>
              <a:rPr lang="en-US" altLang="zh-CN" sz="2000" b="0"/>
              <a:t>today</a:t>
            </a:r>
            <a:r>
              <a:rPr lang="zh-CN" altLang="en-US" sz="2000" b="0"/>
              <a:t>，</a:t>
            </a:r>
            <a:r>
              <a:rPr lang="en-US" altLang="zh-CN" sz="2000" b="0"/>
              <a:t>yesterday</a:t>
            </a:r>
            <a:r>
              <a:rPr lang="zh-CN" altLang="en-US" sz="2000" b="0"/>
              <a:t>，</a:t>
            </a:r>
            <a:r>
              <a:rPr lang="en-US" altLang="zh-CN" sz="2000" b="0"/>
              <a:t>tomorrow</a:t>
            </a:r>
            <a:r>
              <a:rPr lang="zh-CN" altLang="en-US" sz="2000" b="0"/>
              <a:t>。它们能取</a:t>
            </a:r>
            <a:r>
              <a:rPr lang="en-US" altLang="zh-CN" sz="2000" b="0"/>
              <a:t>SUN</a:t>
            </a:r>
            <a:r>
              <a:rPr lang="zh-CN" altLang="en-US" sz="2000" b="0"/>
              <a:t>到</a:t>
            </a:r>
            <a:r>
              <a:rPr lang="en-US" altLang="zh-CN" sz="2000" b="0"/>
              <a:t>SAT</a:t>
            </a:r>
            <a:r>
              <a:rPr lang="zh-CN" altLang="en-US" sz="2000" b="0"/>
              <a:t>之一的值。如</a:t>
            </a:r>
          </a:p>
          <a:p>
            <a:pPr lvl="1" eaLnBrk="1" hangingPunct="1">
              <a:lnSpc>
                <a:spcPct val="150000"/>
              </a:lnSpc>
            </a:pPr>
            <a:r>
              <a:rPr lang="zh-CN" altLang="en-US" sz="1800" b="0"/>
              <a:t>     </a:t>
            </a:r>
            <a:r>
              <a:rPr lang="en-US" altLang="zh-CN" sz="1800" b="0"/>
              <a:t>today     = SUN;</a:t>
            </a:r>
          </a:p>
          <a:p>
            <a:pPr lvl="1" eaLnBrk="1" hangingPunct="1">
              <a:lnSpc>
                <a:spcPct val="150000"/>
              </a:lnSpc>
            </a:pPr>
            <a:r>
              <a:rPr lang="en-US" altLang="zh-CN" sz="1800" b="0"/>
              <a:t>     tomorrow  = MON;</a:t>
            </a:r>
          </a:p>
          <a:p>
            <a:pPr lvl="1" eaLnBrk="1" hangingPunct="1">
              <a:lnSpc>
                <a:spcPct val="150000"/>
              </a:lnSpc>
            </a:pPr>
            <a:r>
              <a:rPr lang="en-US" altLang="zh-CN" sz="1800" b="0"/>
              <a:t>     yesterday = SAT;</a:t>
            </a:r>
          </a:p>
          <a:p>
            <a:pPr algn="just" eaLnBrk="1" hangingPunct="1">
              <a:lnSpc>
                <a:spcPct val="150000"/>
              </a:lnSpc>
            </a:pPr>
            <a:r>
              <a:rPr lang="zh-CN" altLang="en-US" sz="2000" b="0"/>
              <a:t>也可以在定义枚举类型同时，定义枚举类型变量。如</a:t>
            </a:r>
          </a:p>
          <a:p>
            <a:pPr lvl="1" algn="just" eaLnBrk="1" hangingPunct="1">
              <a:lnSpc>
                <a:spcPct val="150000"/>
              </a:lnSpc>
            </a:pPr>
            <a:r>
              <a:rPr lang="en-US" altLang="zh-CN" sz="1800" b="0"/>
              <a:t>enum  {RED, YELLOW, BLUE}  color;</a:t>
            </a:r>
          </a:p>
        </p:txBody>
      </p:sp>
    </p:spTree>
    <p:extLst>
      <p:ext uri="{BB962C8B-B14F-4D97-AF65-F5344CB8AC3E}">
        <p14:creationId xmlns:p14="http://schemas.microsoft.com/office/powerpoint/2010/main" val="25405593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E511EC96-F3D9-C434-1F0D-61B7CB20C9B3}"/>
              </a:ext>
            </a:extLst>
          </p:cNvPr>
          <p:cNvSpPr>
            <a:spLocks noGrp="1" noChangeArrowheads="1"/>
          </p:cNvSpPr>
          <p:nvPr>
            <p:ph type="title"/>
          </p:nvPr>
        </p:nvSpPr>
        <p:spPr/>
        <p:txBody>
          <a:bodyPr/>
          <a:lstStyle/>
          <a:p>
            <a:pPr eaLnBrk="1" hangingPunct="1"/>
            <a:r>
              <a:rPr lang="zh-CN" altLang="en-US"/>
              <a:t>定义枚举类型</a:t>
            </a:r>
            <a:r>
              <a:rPr lang="en-US" altLang="zh-CN"/>
              <a:t>(</a:t>
            </a:r>
            <a:r>
              <a:rPr lang="zh-CN" altLang="en-US"/>
              <a:t>续</a:t>
            </a:r>
            <a:r>
              <a:rPr lang="en-US" altLang="zh-CN"/>
              <a:t>)</a:t>
            </a:r>
          </a:p>
        </p:txBody>
      </p:sp>
      <p:sp>
        <p:nvSpPr>
          <p:cNvPr id="183299" name="Rectangle 3">
            <a:extLst>
              <a:ext uri="{FF2B5EF4-FFF2-40B4-BE49-F238E27FC236}">
                <a16:creationId xmlns:a16="http://schemas.microsoft.com/office/drawing/2014/main" id="{081946C4-DFD1-5F24-0BF3-5E0D432F5031}"/>
              </a:ext>
            </a:extLst>
          </p:cNvPr>
          <p:cNvSpPr>
            <a:spLocks noGrp="1" noChangeArrowheads="1"/>
          </p:cNvSpPr>
          <p:nvPr>
            <p:ph type="body" idx="1"/>
          </p:nvPr>
        </p:nvSpPr>
        <p:spPr>
          <a:xfrm>
            <a:off x="827088" y="1844823"/>
            <a:ext cx="7793037" cy="4287689"/>
          </a:xfrm>
        </p:spPr>
        <p:txBody>
          <a:bodyPr/>
          <a:lstStyle/>
          <a:p>
            <a:pPr algn="just" eaLnBrk="1" hangingPunct="1">
              <a:lnSpc>
                <a:spcPct val="150000"/>
              </a:lnSpc>
            </a:pPr>
            <a:r>
              <a:rPr lang="zh-CN" altLang="en-US" sz="2000" b="0"/>
              <a:t>枚举类型中的标识符称为</a:t>
            </a:r>
            <a:r>
              <a:rPr lang="zh-CN" altLang="en-US" sz="2000">
                <a:solidFill>
                  <a:srgbClr val="0066FF"/>
                </a:solidFill>
              </a:rPr>
              <a:t>枚举常量</a:t>
            </a:r>
            <a:r>
              <a:rPr lang="zh-CN" altLang="en-US" sz="2000" b="0"/>
              <a:t>，每个标识符都表示一个有意义的值。</a:t>
            </a:r>
            <a:endParaRPr lang="en-US" altLang="zh-CN" sz="2000" b="0"/>
          </a:p>
          <a:p>
            <a:pPr algn="just" eaLnBrk="1" hangingPunct="1">
              <a:lnSpc>
                <a:spcPct val="150000"/>
              </a:lnSpc>
            </a:pPr>
            <a:r>
              <a:rPr lang="zh-CN" altLang="en-US" sz="2000" b="0"/>
              <a:t>对于编译系统来说，枚举类型中的标识符只是一组互不相同的</a:t>
            </a:r>
            <a:r>
              <a:rPr lang="zh-CN" altLang="en-US" sz="2000" b="0">
                <a:solidFill>
                  <a:srgbClr val="0070C0"/>
                </a:solidFill>
              </a:rPr>
              <a:t>标识符</a:t>
            </a:r>
            <a:r>
              <a:rPr lang="zh-CN" altLang="en-US" sz="2000" b="0"/>
              <a:t>而已，标识符本身的字面意义只是供阅读程序的人便于理解程序。编译系统将枚举类型中的标识符值</a:t>
            </a:r>
            <a:r>
              <a:rPr lang="zh-CN" altLang="en-US" sz="2000" b="0">
                <a:solidFill>
                  <a:srgbClr val="0070C0"/>
                </a:solidFill>
              </a:rPr>
              <a:t>作为常量处理</a:t>
            </a:r>
            <a:r>
              <a:rPr lang="zh-CN" altLang="en-US" sz="2000" b="0"/>
              <a:t>，故称</a:t>
            </a:r>
            <a:r>
              <a:rPr lang="zh-CN" altLang="en-US" sz="2000" b="0">
                <a:solidFill>
                  <a:srgbClr val="0070C0"/>
                </a:solidFill>
              </a:rPr>
              <a:t>枚举常量</a:t>
            </a:r>
            <a:r>
              <a:rPr lang="zh-CN" altLang="en-US" sz="2000" b="0"/>
              <a:t>。程序不能对它们赋值。</a:t>
            </a:r>
          </a:p>
          <a:p>
            <a:pPr lvl="1" algn="just" eaLnBrk="1" hangingPunct="1">
              <a:lnSpc>
                <a:spcPct val="150000"/>
              </a:lnSpc>
            </a:pPr>
            <a:r>
              <a:rPr lang="zh-CN" altLang="en-US" sz="1600" b="0">
                <a:solidFill>
                  <a:srgbClr val="C00000"/>
                </a:solidFill>
              </a:rPr>
              <a:t>如   </a:t>
            </a:r>
            <a:r>
              <a:rPr lang="en-US" altLang="zh-CN" sz="1600" b="0">
                <a:solidFill>
                  <a:srgbClr val="C00000"/>
                </a:solidFill>
              </a:rPr>
              <a:t>SUN = 0 </a:t>
            </a:r>
            <a:r>
              <a:rPr lang="zh-CN" altLang="en-US" sz="1600" b="0">
                <a:solidFill>
                  <a:srgbClr val="C00000"/>
                </a:solidFill>
              </a:rPr>
              <a:t>或  </a:t>
            </a:r>
            <a:r>
              <a:rPr lang="en-US" altLang="zh-CN" sz="1600" b="0">
                <a:solidFill>
                  <a:srgbClr val="C00000"/>
                </a:solidFill>
              </a:rPr>
              <a:t>SAT = 6 </a:t>
            </a:r>
            <a:r>
              <a:rPr lang="zh-CN" altLang="en-US" sz="1600" b="0">
                <a:solidFill>
                  <a:srgbClr val="C00000"/>
                </a:solidFill>
              </a:rPr>
              <a:t>都是错误的。</a:t>
            </a:r>
          </a:p>
        </p:txBody>
      </p:sp>
    </p:spTree>
    <p:extLst>
      <p:ext uri="{BB962C8B-B14F-4D97-AF65-F5344CB8AC3E}">
        <p14:creationId xmlns:p14="http://schemas.microsoft.com/office/powerpoint/2010/main" val="31791076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83A3E3F8-B5C0-EFA7-2A4F-D379BE2C53AD}"/>
              </a:ext>
            </a:extLst>
          </p:cNvPr>
          <p:cNvSpPr>
            <a:spLocks noGrp="1" noChangeArrowheads="1"/>
          </p:cNvSpPr>
          <p:nvPr>
            <p:ph type="title"/>
          </p:nvPr>
        </p:nvSpPr>
        <p:spPr/>
        <p:txBody>
          <a:bodyPr/>
          <a:lstStyle/>
          <a:p>
            <a:pPr eaLnBrk="1" hangingPunct="1"/>
            <a:r>
              <a:rPr lang="zh-CN" altLang="en-US"/>
              <a:t>枚举类型的值</a:t>
            </a:r>
          </a:p>
        </p:txBody>
      </p:sp>
      <p:sp>
        <p:nvSpPr>
          <p:cNvPr id="184323" name="Rectangle 3">
            <a:extLst>
              <a:ext uri="{FF2B5EF4-FFF2-40B4-BE49-F238E27FC236}">
                <a16:creationId xmlns:a16="http://schemas.microsoft.com/office/drawing/2014/main" id="{56AD8FD4-9E34-6B03-AA22-C49AE8DDB7E5}"/>
              </a:ext>
            </a:extLst>
          </p:cNvPr>
          <p:cNvSpPr>
            <a:spLocks noGrp="1" noChangeArrowheads="1"/>
          </p:cNvSpPr>
          <p:nvPr>
            <p:ph type="body" idx="1"/>
          </p:nvPr>
        </p:nvSpPr>
        <p:spPr>
          <a:xfrm>
            <a:off x="827088" y="1844823"/>
            <a:ext cx="7866062" cy="4287689"/>
          </a:xfrm>
        </p:spPr>
        <p:txBody>
          <a:bodyPr/>
          <a:lstStyle/>
          <a:p>
            <a:pPr algn="just" eaLnBrk="1" hangingPunct="1">
              <a:lnSpc>
                <a:spcPct val="150000"/>
              </a:lnSpc>
            </a:pPr>
            <a:r>
              <a:rPr lang="zh-CN" altLang="en-US" sz="2000" b="0"/>
              <a:t>为了便于处理枚举类型，编译系统将每个枚举常量与一个整数相联系，</a:t>
            </a:r>
            <a:r>
              <a:rPr lang="zh-CN" altLang="en-US" sz="2000" b="0">
                <a:solidFill>
                  <a:srgbClr val="0066FF"/>
                </a:solidFill>
              </a:rPr>
              <a:t>即枚举常量在内部被视作一个整数</a:t>
            </a:r>
            <a:r>
              <a:rPr lang="zh-CN" altLang="en-US" sz="2000" b="0"/>
              <a:t>，</a:t>
            </a:r>
            <a:r>
              <a:rPr lang="zh-CN" altLang="en-US" sz="2000"/>
              <a:t>值的大小由它们在枚举类型中出现的顺序确定</a:t>
            </a:r>
            <a:r>
              <a:rPr lang="zh-CN" altLang="en-US" sz="2000" b="0"/>
              <a:t>，依次为 </a:t>
            </a:r>
            <a:r>
              <a:rPr lang="en-US" altLang="zh-CN" sz="2000" b="0"/>
              <a:t>0</a:t>
            </a:r>
            <a:r>
              <a:rPr lang="zh-CN" altLang="en-US" sz="2000" b="0"/>
              <a:t>，</a:t>
            </a:r>
            <a:r>
              <a:rPr lang="en-US" altLang="zh-CN" sz="2000" b="0"/>
              <a:t>1</a:t>
            </a:r>
            <a:r>
              <a:rPr lang="zh-CN" altLang="en-US" sz="2000" b="0"/>
              <a:t>，</a:t>
            </a:r>
            <a:r>
              <a:rPr lang="en-US" altLang="zh-CN" sz="2000" b="0"/>
              <a:t>2</a:t>
            </a:r>
            <a:r>
              <a:rPr lang="zh-CN" altLang="en-US" sz="2000" b="0"/>
              <a:t>，</a:t>
            </a:r>
            <a:r>
              <a:rPr lang="en-US" altLang="zh-CN" sz="2000" b="0">
                <a:latin typeface="Arial" panose="020B0604020202020204" pitchFamily="34" charset="0"/>
              </a:rPr>
              <a:t>…</a:t>
            </a:r>
            <a:r>
              <a:rPr lang="zh-CN" altLang="en-US" sz="2000" b="0"/>
              <a:t>。</a:t>
            </a:r>
            <a:endParaRPr lang="en-US" altLang="zh-CN" sz="2000" b="0"/>
          </a:p>
          <a:p>
            <a:pPr algn="just" eaLnBrk="1" hangingPunct="1">
              <a:lnSpc>
                <a:spcPct val="150000"/>
              </a:lnSpc>
            </a:pPr>
            <a:r>
              <a:rPr lang="zh-CN" altLang="en-US" sz="2000" b="0"/>
              <a:t>如在上面的定义</a:t>
            </a:r>
            <a:r>
              <a:rPr lang="en-US" altLang="zh-CN" sz="2000" b="0"/>
              <a:t>enum weekday {SUN, MON, TUE, WED, THU, FRI, SAT};</a:t>
            </a:r>
            <a:r>
              <a:rPr lang="zh-CN" altLang="en-US" sz="2000" b="0"/>
              <a:t>中，</a:t>
            </a:r>
            <a:r>
              <a:rPr lang="en-US" altLang="zh-CN" sz="2000" b="0"/>
              <a:t>SUN </a:t>
            </a:r>
            <a:r>
              <a:rPr lang="zh-CN" altLang="en-US" sz="2000" b="0"/>
              <a:t>值为</a:t>
            </a:r>
            <a:r>
              <a:rPr lang="en-US" altLang="zh-CN" sz="2000" b="0"/>
              <a:t>0</a:t>
            </a:r>
            <a:r>
              <a:rPr lang="zh-CN" altLang="en-US" sz="2000" b="0"/>
              <a:t>，</a:t>
            </a:r>
            <a:r>
              <a:rPr lang="en-US" altLang="zh-CN" sz="2000" b="0"/>
              <a:t>MON</a:t>
            </a:r>
            <a:r>
              <a:rPr lang="zh-CN" altLang="en-US" sz="2000" b="0"/>
              <a:t>值为</a:t>
            </a:r>
            <a:r>
              <a:rPr lang="en-US" altLang="zh-CN" sz="2000" b="0"/>
              <a:t>1</a:t>
            </a:r>
            <a:r>
              <a:rPr lang="zh-CN" altLang="en-US" sz="2000" b="0"/>
              <a:t>，</a:t>
            </a:r>
            <a:r>
              <a:rPr lang="en-US" altLang="zh-CN" sz="2000" b="0">
                <a:latin typeface="Arial" panose="020B0604020202020204" pitchFamily="34" charset="0"/>
              </a:rPr>
              <a:t>…</a:t>
            </a:r>
            <a:r>
              <a:rPr lang="zh-CN" altLang="en-US" sz="2000" b="0"/>
              <a:t>，</a:t>
            </a:r>
            <a:r>
              <a:rPr lang="en-US" altLang="zh-CN" sz="2000" b="0"/>
              <a:t>SAT </a:t>
            </a:r>
            <a:r>
              <a:rPr lang="zh-CN" altLang="en-US" sz="2000" b="0"/>
              <a:t>值为</a:t>
            </a:r>
            <a:r>
              <a:rPr lang="en-US" altLang="zh-CN" sz="2000" b="0"/>
              <a:t>6</a:t>
            </a:r>
            <a:r>
              <a:rPr lang="zh-CN" altLang="en-US" sz="2000" b="0"/>
              <a:t>。</a:t>
            </a:r>
            <a:endParaRPr lang="en-US" altLang="zh-CN" sz="2000" b="0"/>
          </a:p>
          <a:p>
            <a:pPr algn="just" eaLnBrk="1" hangingPunct="1">
              <a:lnSpc>
                <a:spcPct val="150000"/>
              </a:lnSpc>
            </a:pPr>
            <a:r>
              <a:rPr lang="zh-CN" altLang="en-US" sz="2000" b="0"/>
              <a:t>如有赋值语句 </a:t>
            </a:r>
            <a:r>
              <a:rPr lang="en-US" altLang="zh-CN" sz="2000" b="0"/>
              <a:t>today = SUN; </a:t>
            </a:r>
            <a:r>
              <a:rPr lang="zh-CN" altLang="en-US" sz="2000" b="0"/>
              <a:t>使变量</a:t>
            </a:r>
            <a:r>
              <a:rPr lang="en-US" altLang="zh-CN" sz="2000" b="0"/>
              <a:t>today</a:t>
            </a:r>
            <a:r>
              <a:rPr lang="zh-CN" altLang="en-US" sz="2000" b="0"/>
              <a:t>的值为</a:t>
            </a:r>
            <a:r>
              <a:rPr lang="en-US" altLang="zh-CN" sz="2000" b="0"/>
              <a:t>0</a:t>
            </a:r>
            <a:r>
              <a:rPr lang="zh-CN" altLang="en-US" sz="2000" b="0"/>
              <a:t>。</a:t>
            </a:r>
          </a:p>
          <a:p>
            <a:pPr algn="just" eaLnBrk="1" hangingPunct="1">
              <a:lnSpc>
                <a:spcPct val="150000"/>
              </a:lnSpc>
            </a:pPr>
            <a:r>
              <a:rPr lang="zh-CN" altLang="en-US" sz="2000" b="0"/>
              <a:t>枚举类型变量的值也可输出。如</a:t>
            </a:r>
          </a:p>
          <a:p>
            <a:pPr lvl="1" algn="just" eaLnBrk="1" hangingPunct="1">
              <a:lnSpc>
                <a:spcPct val="150000"/>
              </a:lnSpc>
            </a:pPr>
            <a:r>
              <a:rPr lang="en-US" altLang="zh-CN" sz="1800" b="0"/>
              <a:t>printf("%d\n"</a:t>
            </a:r>
            <a:r>
              <a:rPr lang="zh-CN" altLang="en-US" sz="1800" b="0"/>
              <a:t>，</a:t>
            </a:r>
            <a:r>
              <a:rPr lang="en-US" altLang="zh-CN" sz="1800" b="0"/>
              <a:t>today);</a:t>
            </a:r>
          </a:p>
          <a:p>
            <a:pPr lvl="1" algn="just" eaLnBrk="1" hangingPunct="1">
              <a:lnSpc>
                <a:spcPct val="150000"/>
              </a:lnSpc>
            </a:pPr>
            <a:r>
              <a:rPr lang="zh-CN" altLang="en-US" sz="1800" b="0"/>
              <a:t>将输出整数</a:t>
            </a:r>
            <a:r>
              <a:rPr lang="en-US" altLang="zh-CN" sz="1800" b="0"/>
              <a:t>0</a:t>
            </a:r>
            <a:r>
              <a:rPr lang="zh-CN" altLang="en-US" sz="1800" b="0"/>
              <a:t>。</a:t>
            </a:r>
          </a:p>
        </p:txBody>
      </p:sp>
    </p:spTree>
    <p:extLst>
      <p:ext uri="{BB962C8B-B14F-4D97-AF65-F5344CB8AC3E}">
        <p14:creationId xmlns:p14="http://schemas.microsoft.com/office/powerpoint/2010/main" val="36136923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261DA-86C0-D75B-4840-6613B65A12E6}"/>
            </a:ext>
          </a:extLst>
        </p:cNvPr>
        <p:cNvGrpSpPr/>
        <p:nvPr/>
      </p:nvGrpSpPr>
      <p:grpSpPr>
        <a:xfrm>
          <a:off x="0" y="0"/>
          <a:ext cx="0" cy="0"/>
          <a:chOff x="0" y="0"/>
          <a:chExt cx="0" cy="0"/>
        </a:xfrm>
      </p:grpSpPr>
      <p:sp>
        <p:nvSpPr>
          <p:cNvPr id="184322" name="Rectangle 2">
            <a:extLst>
              <a:ext uri="{FF2B5EF4-FFF2-40B4-BE49-F238E27FC236}">
                <a16:creationId xmlns:a16="http://schemas.microsoft.com/office/drawing/2014/main" id="{21E52BF0-B729-6A73-87A1-53EDA8AF0DEC}"/>
              </a:ext>
            </a:extLst>
          </p:cNvPr>
          <p:cNvSpPr>
            <a:spLocks noGrp="1" noChangeArrowheads="1"/>
          </p:cNvSpPr>
          <p:nvPr>
            <p:ph type="title"/>
          </p:nvPr>
        </p:nvSpPr>
        <p:spPr/>
        <p:txBody>
          <a:bodyPr/>
          <a:lstStyle/>
          <a:p>
            <a:pPr eaLnBrk="1" hangingPunct="1"/>
            <a:r>
              <a:rPr lang="zh-CN" altLang="en-US"/>
              <a:t>枚举类型的值</a:t>
            </a:r>
          </a:p>
        </p:txBody>
      </p:sp>
      <p:sp>
        <p:nvSpPr>
          <p:cNvPr id="184323" name="Rectangle 3">
            <a:extLst>
              <a:ext uri="{FF2B5EF4-FFF2-40B4-BE49-F238E27FC236}">
                <a16:creationId xmlns:a16="http://schemas.microsoft.com/office/drawing/2014/main" id="{5AA83723-6F86-DF9C-3D34-0FAED493B73A}"/>
              </a:ext>
            </a:extLst>
          </p:cNvPr>
          <p:cNvSpPr>
            <a:spLocks noGrp="1" noChangeArrowheads="1"/>
          </p:cNvSpPr>
          <p:nvPr>
            <p:ph type="body" idx="1"/>
          </p:nvPr>
        </p:nvSpPr>
        <p:spPr>
          <a:xfrm>
            <a:off x="827088" y="1844823"/>
            <a:ext cx="7866062" cy="4287689"/>
          </a:xfrm>
        </p:spPr>
        <p:txBody>
          <a:bodyPr/>
          <a:lstStyle/>
          <a:p>
            <a:pPr eaLnBrk="1" hangingPunct="1">
              <a:lnSpc>
                <a:spcPct val="150000"/>
              </a:lnSpc>
            </a:pPr>
            <a:r>
              <a:rPr lang="zh-CN" altLang="en-US" sz="2400"/>
              <a:t>枚举常量的对应整数也可由程序直接指定</a:t>
            </a:r>
            <a:r>
              <a:rPr lang="zh-CN" altLang="en-US" sz="2400" b="0"/>
              <a:t>。如</a:t>
            </a:r>
          </a:p>
          <a:p>
            <a:pPr lvl="1" eaLnBrk="1" hangingPunct="1">
              <a:lnSpc>
                <a:spcPct val="150000"/>
              </a:lnSpc>
            </a:pPr>
            <a:r>
              <a:rPr lang="en-US" altLang="zh-CN" sz="2000" b="0"/>
              <a:t>enum weekday {SUN=7,MON=1,TUE,WED,THU,FRI,SAT};</a:t>
            </a:r>
          </a:p>
          <a:p>
            <a:pPr lvl="1" eaLnBrk="1" hangingPunct="1">
              <a:lnSpc>
                <a:spcPct val="150000"/>
              </a:lnSpc>
            </a:pPr>
            <a:r>
              <a:rPr lang="zh-CN" altLang="en-US" sz="2000" b="0"/>
              <a:t>指定</a:t>
            </a:r>
            <a:r>
              <a:rPr lang="en-US" altLang="zh-CN" sz="2000" b="0"/>
              <a:t>SUN</a:t>
            </a:r>
            <a:r>
              <a:rPr lang="zh-CN" altLang="en-US" sz="2000" b="0"/>
              <a:t>为</a:t>
            </a:r>
            <a:r>
              <a:rPr lang="en-US" altLang="zh-CN" sz="2000" b="0"/>
              <a:t>7</a:t>
            </a:r>
            <a:r>
              <a:rPr lang="zh-CN" altLang="en-US" sz="2000" b="0"/>
              <a:t>，</a:t>
            </a:r>
            <a:r>
              <a:rPr lang="en-US" altLang="zh-CN" sz="2000" b="0"/>
              <a:t>MON</a:t>
            </a:r>
            <a:r>
              <a:rPr lang="zh-CN" altLang="en-US" sz="2000" b="0"/>
              <a:t>为</a:t>
            </a:r>
            <a:r>
              <a:rPr lang="en-US" altLang="zh-CN" sz="2000" b="0"/>
              <a:t>1</a:t>
            </a:r>
            <a:r>
              <a:rPr lang="zh-CN" altLang="en-US" sz="2000" b="0"/>
              <a:t>，后面未指定对应整数的枚举常量所代表的整数，是前一个枚举常量代表的整数加</a:t>
            </a:r>
            <a:r>
              <a:rPr lang="en-US" altLang="zh-CN" sz="2000" b="0"/>
              <a:t>1</a:t>
            </a:r>
            <a:r>
              <a:rPr lang="zh-CN" altLang="en-US" sz="2000" b="0"/>
              <a:t>。所以在上述定义中，</a:t>
            </a:r>
            <a:r>
              <a:rPr lang="en-US" altLang="zh-CN" sz="2000" b="0"/>
              <a:t>TUE</a:t>
            </a:r>
            <a:r>
              <a:rPr lang="zh-CN" altLang="en-US" sz="2000" b="0"/>
              <a:t>为 </a:t>
            </a:r>
            <a:r>
              <a:rPr lang="en-US" altLang="zh-CN" sz="2000" b="0"/>
              <a:t>2</a:t>
            </a:r>
            <a:r>
              <a:rPr lang="zh-CN" altLang="en-US" sz="2000" b="0"/>
              <a:t>，</a:t>
            </a:r>
            <a:r>
              <a:rPr lang="en-US" altLang="zh-CN" sz="2000" b="0">
                <a:latin typeface="Arial" panose="020B0604020202020204" pitchFamily="34" charset="0"/>
              </a:rPr>
              <a:t>…</a:t>
            </a:r>
            <a:r>
              <a:rPr lang="zh-CN" altLang="en-US" sz="2000" b="0"/>
              <a:t>，</a:t>
            </a:r>
            <a:r>
              <a:rPr lang="en-US" altLang="zh-CN" sz="2000" b="0"/>
              <a:t>SAT </a:t>
            </a:r>
            <a:r>
              <a:rPr lang="zh-CN" altLang="en-US" sz="2000" b="0"/>
              <a:t>为 </a:t>
            </a:r>
            <a:r>
              <a:rPr lang="en-US" altLang="zh-CN" sz="2000" b="0"/>
              <a:t>6</a:t>
            </a:r>
            <a:r>
              <a:rPr lang="zh-CN" altLang="en-US" sz="2000" b="0"/>
              <a:t>。</a:t>
            </a:r>
          </a:p>
        </p:txBody>
      </p:sp>
    </p:spTree>
    <p:extLst>
      <p:ext uri="{BB962C8B-B14F-4D97-AF65-F5344CB8AC3E}">
        <p14:creationId xmlns:p14="http://schemas.microsoft.com/office/powerpoint/2010/main" val="29283687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a:extLst>
              <a:ext uri="{FF2B5EF4-FFF2-40B4-BE49-F238E27FC236}">
                <a16:creationId xmlns:a16="http://schemas.microsoft.com/office/drawing/2014/main" id="{269266FC-EEE1-66BC-5811-4EF25FCCAE86}"/>
              </a:ext>
            </a:extLst>
          </p:cNvPr>
          <p:cNvSpPr>
            <a:spLocks noGrp="1" noChangeArrowheads="1"/>
          </p:cNvSpPr>
          <p:nvPr>
            <p:ph type="title"/>
          </p:nvPr>
        </p:nvSpPr>
        <p:spPr/>
        <p:txBody>
          <a:bodyPr/>
          <a:lstStyle/>
          <a:p>
            <a:pPr eaLnBrk="1" hangingPunct="1"/>
            <a:r>
              <a:rPr lang="zh-CN" altLang="en-US"/>
              <a:t>枚举类型数据的比较</a:t>
            </a:r>
          </a:p>
        </p:txBody>
      </p:sp>
      <p:sp>
        <p:nvSpPr>
          <p:cNvPr id="185347" name="Rectangle 3">
            <a:extLst>
              <a:ext uri="{FF2B5EF4-FFF2-40B4-BE49-F238E27FC236}">
                <a16:creationId xmlns:a16="http://schemas.microsoft.com/office/drawing/2014/main" id="{30C8F687-4F27-48C3-F063-E9785C0CF558}"/>
              </a:ext>
            </a:extLst>
          </p:cNvPr>
          <p:cNvSpPr>
            <a:spLocks noGrp="1" noChangeArrowheads="1"/>
          </p:cNvSpPr>
          <p:nvPr>
            <p:ph type="body" idx="1"/>
          </p:nvPr>
        </p:nvSpPr>
        <p:spPr>
          <a:xfrm>
            <a:off x="827088" y="1844823"/>
            <a:ext cx="7866062" cy="4287689"/>
          </a:xfrm>
        </p:spPr>
        <p:txBody>
          <a:bodyPr/>
          <a:lstStyle/>
          <a:p>
            <a:pPr eaLnBrk="1" hangingPunct="1">
              <a:lnSpc>
                <a:spcPct val="150000"/>
              </a:lnSpc>
            </a:pPr>
            <a:r>
              <a:rPr lang="zh-CN" altLang="en-US" sz="2000" b="0"/>
              <a:t>因枚举常量代表一个整数，同一枚举类型的变量，枚举类型变量与常量或整数可以作关系比较。</a:t>
            </a:r>
            <a:r>
              <a:rPr lang="zh-CN" altLang="en-US" sz="2000" b="0">
                <a:solidFill>
                  <a:srgbClr val="0066FF"/>
                </a:solidFill>
              </a:rPr>
              <a:t>比较时，以枚举常量所代表的整数为基础</a:t>
            </a:r>
            <a:r>
              <a:rPr lang="en-US" altLang="zh-CN" sz="2000" b="0"/>
              <a:t>, </a:t>
            </a:r>
            <a:r>
              <a:rPr lang="zh-CN" altLang="en-US" sz="2000" b="0"/>
              <a:t>如</a:t>
            </a:r>
          </a:p>
          <a:p>
            <a:pPr lvl="1" eaLnBrk="1" hangingPunct="1">
              <a:lnSpc>
                <a:spcPct val="150000"/>
              </a:lnSpc>
            </a:pPr>
            <a:r>
              <a:rPr lang="zh-CN" altLang="en-US" sz="1800" b="0"/>
              <a:t>    </a:t>
            </a:r>
            <a:r>
              <a:rPr lang="en-US" altLang="zh-CN" sz="1800" b="0"/>
              <a:t>if  (today == SUN)   yesterday = SAT;</a:t>
            </a:r>
          </a:p>
          <a:p>
            <a:pPr eaLnBrk="1" hangingPunct="1">
              <a:lnSpc>
                <a:spcPct val="150000"/>
              </a:lnSpc>
            </a:pPr>
            <a:r>
              <a:rPr lang="zh-CN" altLang="en-US" sz="2000" b="0"/>
              <a:t>通常枚举类型变量有与整型变量一样的使用方法。但为了强调枚举类型变量值的特别含义，</a:t>
            </a:r>
            <a:r>
              <a:rPr lang="zh-CN" altLang="en-US" sz="2000" b="0">
                <a:solidFill>
                  <a:srgbClr val="C00000"/>
                </a:solidFill>
              </a:rPr>
              <a:t>当一个整数表达式的值赋给枚举类型变量之前，应插入类型强制转换，将整数值转换成枚举常量后再赋值</a:t>
            </a:r>
            <a:r>
              <a:rPr lang="zh-CN" altLang="en-US" sz="2000" b="0"/>
              <a:t>。但是多数Ｃ语言的编译对此没有强制类型转换要求。</a:t>
            </a:r>
            <a:r>
              <a:rPr lang="en-US" altLang="zh-CN" sz="2000" b="0">
                <a:solidFill>
                  <a:srgbClr val="CC0000"/>
                </a:solidFill>
              </a:rPr>
              <a:t>(</a:t>
            </a:r>
            <a:r>
              <a:rPr lang="en-US" altLang="zh-CN" sz="2000" b="0">
                <a:solidFill>
                  <a:srgbClr val="CC0000"/>
                </a:solidFill>
                <a:sym typeface="Wingdings" pitchFamily="2" charset="2"/>
              </a:rPr>
              <a:t>VC</a:t>
            </a:r>
            <a:r>
              <a:rPr lang="zh-CN" altLang="en-US" sz="2000" b="0">
                <a:solidFill>
                  <a:srgbClr val="CC0000"/>
                </a:solidFill>
                <a:sym typeface="Wingdings" pitchFamily="2" charset="2"/>
              </a:rPr>
              <a:t>中需要强制类型转换</a:t>
            </a:r>
            <a:r>
              <a:rPr lang="en-US" altLang="zh-CN" sz="2000" b="0">
                <a:solidFill>
                  <a:srgbClr val="CC0000"/>
                </a:solidFill>
              </a:rPr>
              <a:t>)</a:t>
            </a:r>
          </a:p>
        </p:txBody>
      </p:sp>
    </p:spTree>
    <p:extLst>
      <p:ext uri="{BB962C8B-B14F-4D97-AF65-F5344CB8AC3E}">
        <p14:creationId xmlns:p14="http://schemas.microsoft.com/office/powerpoint/2010/main" val="40317677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C0E0CB4E-5C8F-D63D-28FA-B716E4DFAC46}"/>
              </a:ext>
            </a:extLst>
          </p:cNvPr>
          <p:cNvSpPr>
            <a:spLocks noGrp="1" noChangeArrowheads="1"/>
          </p:cNvSpPr>
          <p:nvPr>
            <p:ph type="title"/>
          </p:nvPr>
        </p:nvSpPr>
        <p:spPr/>
        <p:txBody>
          <a:bodyPr/>
          <a:lstStyle/>
          <a:p>
            <a:pPr eaLnBrk="1" hangingPunct="1"/>
            <a:r>
              <a:rPr lang="zh-CN" altLang="en-US"/>
              <a:t>使用枚举类型举例</a:t>
            </a:r>
          </a:p>
        </p:txBody>
      </p:sp>
      <p:sp>
        <p:nvSpPr>
          <p:cNvPr id="186371" name="Rectangle 3">
            <a:extLst>
              <a:ext uri="{FF2B5EF4-FFF2-40B4-BE49-F238E27FC236}">
                <a16:creationId xmlns:a16="http://schemas.microsoft.com/office/drawing/2014/main" id="{98BF15C0-9C12-9721-38DE-69FD600384C4}"/>
              </a:ext>
            </a:extLst>
          </p:cNvPr>
          <p:cNvSpPr>
            <a:spLocks noGrp="1" noChangeArrowheads="1"/>
          </p:cNvSpPr>
          <p:nvPr>
            <p:ph type="body" idx="1"/>
          </p:nvPr>
        </p:nvSpPr>
        <p:spPr>
          <a:xfrm>
            <a:off x="827088" y="1844823"/>
            <a:ext cx="7793037" cy="4287689"/>
          </a:xfrm>
        </p:spPr>
        <p:txBody>
          <a:bodyPr/>
          <a:lstStyle/>
          <a:p>
            <a:pPr marL="533400" indent="-533400" eaLnBrk="1" hangingPunct="1">
              <a:lnSpc>
                <a:spcPct val="80000"/>
              </a:lnSpc>
            </a:pPr>
            <a:r>
              <a:rPr lang="zh-CN" altLang="en-US" sz="2400" b="0"/>
              <a:t>如在</a:t>
            </a:r>
            <a:r>
              <a:rPr lang="en-US" altLang="zh-CN" sz="2400" b="0"/>
              <a:t>TURBO C</a:t>
            </a:r>
            <a:r>
              <a:rPr lang="zh-CN" altLang="en-US" sz="2400" b="0"/>
              <a:t>或</a:t>
            </a:r>
            <a:r>
              <a:rPr lang="en-US" altLang="zh-CN" sz="2400" b="0"/>
              <a:t>HP</a:t>
            </a:r>
            <a:r>
              <a:rPr lang="zh-CN" altLang="en-US" sz="2400" b="0"/>
              <a:t>机上的Ｃ系统中，下面的Ｃ程序将输出</a:t>
            </a:r>
          </a:p>
          <a:p>
            <a:pPr marL="914400" lvl="1" indent="-457200" eaLnBrk="1" hangingPunct="1">
              <a:lnSpc>
                <a:spcPct val="80000"/>
              </a:lnSpc>
            </a:pPr>
            <a:r>
              <a:rPr lang="en-US" altLang="zh-CN" sz="2000" b="0"/>
              <a:t>Red = 5, Yellow = 6, x = 1, y = 3, z = -1</a:t>
            </a:r>
          </a:p>
          <a:p>
            <a:pPr marL="914400" lvl="1" indent="-457200" eaLnBrk="1" hangingPunct="1">
              <a:lnSpc>
                <a:spcPct val="80000"/>
              </a:lnSpc>
            </a:pPr>
            <a:endParaRPr lang="en-US" altLang="zh-CN" sz="2000" b="0"/>
          </a:p>
          <a:p>
            <a:pPr marL="914400" lvl="1" indent="-457200" eaLnBrk="1" hangingPunct="1">
              <a:lnSpc>
                <a:spcPct val="80000"/>
              </a:lnSpc>
              <a:buFont typeface="Wingdings" pitchFamily="2" charset="2"/>
              <a:buAutoNum type="arabicPeriod"/>
            </a:pPr>
            <a:r>
              <a:rPr lang="en-US" altLang="zh-CN" sz="2000" b="0"/>
              <a:t>#include  &lt;stdio.h&gt;</a:t>
            </a:r>
          </a:p>
          <a:p>
            <a:pPr marL="914400" lvl="1" indent="-457200" eaLnBrk="1" hangingPunct="1">
              <a:lnSpc>
                <a:spcPct val="80000"/>
              </a:lnSpc>
              <a:buFont typeface="Wingdings" pitchFamily="2" charset="2"/>
              <a:buAutoNum type="arabicPeriod"/>
            </a:pPr>
            <a:r>
              <a:rPr lang="en-US" altLang="zh-CN" sz="2000" b="0"/>
              <a:t>void main(){</a:t>
            </a:r>
          </a:p>
          <a:p>
            <a:pPr marL="914400" lvl="1" indent="-457200" eaLnBrk="1" hangingPunct="1">
              <a:lnSpc>
                <a:spcPct val="80000"/>
              </a:lnSpc>
              <a:buFont typeface="Wingdings" pitchFamily="2" charset="2"/>
              <a:buAutoNum type="arabicPeriod"/>
            </a:pPr>
            <a:r>
              <a:rPr lang="en-US" altLang="zh-CN" sz="2000" b="0"/>
              <a:t>   int i = 2, j = 1;</a:t>
            </a:r>
          </a:p>
          <a:p>
            <a:pPr marL="914400" lvl="1" indent="-457200" eaLnBrk="1" hangingPunct="1">
              <a:lnSpc>
                <a:spcPct val="80000"/>
              </a:lnSpc>
              <a:buFont typeface="Wingdings" pitchFamily="2" charset="2"/>
              <a:buAutoNum type="arabicPeriod"/>
            </a:pPr>
            <a:r>
              <a:rPr lang="en-US" altLang="zh-CN" sz="2000" b="0"/>
              <a:t>   enum  en {RED = 5, YELLOW, BLUE} x, y, z;</a:t>
            </a:r>
          </a:p>
          <a:p>
            <a:pPr marL="914400" lvl="1" indent="-457200" eaLnBrk="1" hangingPunct="1">
              <a:lnSpc>
                <a:spcPct val="80000"/>
              </a:lnSpc>
              <a:buFont typeface="Wingdings" pitchFamily="2" charset="2"/>
              <a:buAutoNum type="arabicPeriod"/>
            </a:pPr>
            <a:r>
              <a:rPr lang="en-US" altLang="zh-CN" sz="2000" b="0"/>
              <a:t>   x = i-j;    y = j+i;    z = j-i;</a:t>
            </a:r>
          </a:p>
          <a:p>
            <a:pPr marL="914400" lvl="1" indent="-457200" eaLnBrk="1" hangingPunct="1">
              <a:lnSpc>
                <a:spcPct val="80000"/>
              </a:lnSpc>
              <a:buFont typeface="Wingdings" pitchFamily="2" charset="2"/>
              <a:buAutoNum type="arabicPeriod"/>
            </a:pPr>
            <a:r>
              <a:rPr lang="en-US" altLang="zh-CN" sz="2000" b="0"/>
              <a:t>   printf("Red=%d,Yellow=%d,x=%d,y=%d,z=%d\n",</a:t>
            </a:r>
          </a:p>
          <a:p>
            <a:pPr marL="914400" lvl="1" indent="-457200" eaLnBrk="1" hangingPunct="1">
              <a:lnSpc>
                <a:spcPct val="80000"/>
              </a:lnSpc>
              <a:buFont typeface="Wingdings" pitchFamily="2" charset="2"/>
              <a:buAutoNum type="arabicPeriod"/>
            </a:pPr>
            <a:r>
              <a:rPr lang="en-US" altLang="zh-CN" sz="2000" b="0"/>
              <a:t>              RED, YELLOW, x, y, z);</a:t>
            </a:r>
          </a:p>
          <a:p>
            <a:pPr marL="914400" lvl="1" indent="-457200" eaLnBrk="1" hangingPunct="1">
              <a:lnSpc>
                <a:spcPct val="80000"/>
              </a:lnSpc>
              <a:buFont typeface="Wingdings" pitchFamily="2" charset="2"/>
              <a:buAutoNum type="arabicPeriod"/>
            </a:pPr>
            <a:r>
              <a:rPr lang="en-US" altLang="zh-CN" sz="2000" b="0"/>
              <a:t>}</a:t>
            </a:r>
          </a:p>
          <a:p>
            <a:pPr marL="914400" lvl="1" indent="-457200" eaLnBrk="1" hangingPunct="1">
              <a:lnSpc>
                <a:spcPct val="80000"/>
              </a:lnSpc>
              <a:buFont typeface="Wingdings" pitchFamily="2" charset="2"/>
              <a:buAutoNum type="arabicPeriod"/>
            </a:pPr>
            <a:endParaRPr lang="en-US" altLang="zh-CN" sz="2000" b="0"/>
          </a:p>
          <a:p>
            <a:pPr marL="533400" indent="-533400" eaLnBrk="1" hangingPunct="1">
              <a:lnSpc>
                <a:spcPct val="80000"/>
              </a:lnSpc>
            </a:pPr>
            <a:r>
              <a:rPr lang="en-US" altLang="zh-CN" sz="2400" b="0">
                <a:solidFill>
                  <a:srgbClr val="CC0000"/>
                </a:solidFill>
                <a:sym typeface="Wingdings" pitchFamily="2" charset="2"/>
              </a:rPr>
              <a:t></a:t>
            </a:r>
            <a:r>
              <a:rPr lang="zh-CN" altLang="en-US" sz="2400" b="0">
                <a:solidFill>
                  <a:srgbClr val="CC0000"/>
                </a:solidFill>
              </a:rPr>
              <a:t>而在</a:t>
            </a:r>
            <a:r>
              <a:rPr lang="en-US" altLang="zh-CN" sz="2400" b="0">
                <a:solidFill>
                  <a:srgbClr val="CC0000"/>
                </a:solidFill>
              </a:rPr>
              <a:t>VC</a:t>
            </a:r>
            <a:r>
              <a:rPr lang="zh-CN" altLang="en-US" sz="2400" b="0">
                <a:solidFill>
                  <a:srgbClr val="CC0000"/>
                </a:solidFill>
              </a:rPr>
              <a:t>中不能通过编译，</a:t>
            </a:r>
            <a:r>
              <a:rPr lang="zh-CN" altLang="en-US" sz="2400" b="0">
                <a:solidFill>
                  <a:srgbClr val="CC0000"/>
                </a:solidFill>
                <a:sym typeface="Wingdings" pitchFamily="2" charset="2"/>
              </a:rPr>
              <a:t>需要强制类型转换</a:t>
            </a:r>
          </a:p>
        </p:txBody>
      </p:sp>
    </p:spTree>
    <p:extLst>
      <p:ext uri="{BB962C8B-B14F-4D97-AF65-F5344CB8AC3E}">
        <p14:creationId xmlns:p14="http://schemas.microsoft.com/office/powerpoint/2010/main" val="5262852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C9159B26-02B4-0E71-501C-7C80033E0B12}"/>
              </a:ext>
            </a:extLst>
          </p:cNvPr>
          <p:cNvSpPr>
            <a:spLocks noGrp="1" noChangeArrowheads="1"/>
          </p:cNvSpPr>
          <p:nvPr>
            <p:ph type="title"/>
          </p:nvPr>
        </p:nvSpPr>
        <p:spPr/>
        <p:txBody>
          <a:bodyPr/>
          <a:lstStyle/>
          <a:p>
            <a:pPr eaLnBrk="1" hangingPunct="1"/>
            <a:r>
              <a:rPr lang="zh-CN" altLang="en-US"/>
              <a:t>使用枚举类型举例</a:t>
            </a:r>
            <a:r>
              <a:rPr lang="en-US" altLang="zh-CN"/>
              <a:t>(</a:t>
            </a:r>
            <a:r>
              <a:rPr lang="zh-CN" altLang="en-US"/>
              <a:t>续</a:t>
            </a:r>
            <a:r>
              <a:rPr lang="en-US" altLang="zh-CN"/>
              <a:t>)</a:t>
            </a:r>
          </a:p>
        </p:txBody>
      </p:sp>
      <p:sp>
        <p:nvSpPr>
          <p:cNvPr id="187395" name="Rectangle 3">
            <a:extLst>
              <a:ext uri="{FF2B5EF4-FFF2-40B4-BE49-F238E27FC236}">
                <a16:creationId xmlns:a16="http://schemas.microsoft.com/office/drawing/2014/main" id="{5D589440-696D-2DBB-E492-467A506BF03E}"/>
              </a:ext>
            </a:extLst>
          </p:cNvPr>
          <p:cNvSpPr>
            <a:spLocks noGrp="1" noChangeArrowheads="1"/>
          </p:cNvSpPr>
          <p:nvPr>
            <p:ph type="body" idx="1"/>
          </p:nvPr>
        </p:nvSpPr>
        <p:spPr>
          <a:xfrm>
            <a:off x="539552" y="1772816"/>
            <a:ext cx="8064896" cy="4751810"/>
          </a:xfrm>
        </p:spPr>
        <p:txBody>
          <a:bodyPr/>
          <a:lstStyle/>
          <a:p>
            <a:pPr marL="533400" indent="-533400" eaLnBrk="1" hangingPunct="1"/>
            <a:r>
              <a:rPr lang="zh-CN" altLang="en-US" sz="1800" b="0"/>
              <a:t>使用枚举类型，除能命名见名识意的标识符外，对标识符值的内部实现，程序员可以不必考虑。另外，</a:t>
            </a:r>
            <a:r>
              <a:rPr lang="zh-CN" altLang="en-US" sz="1800" b="0">
                <a:solidFill>
                  <a:srgbClr val="0066FF"/>
                </a:solidFill>
              </a:rPr>
              <a:t>一个变量具有枚举类型，还能反映变量值的有限性</a:t>
            </a:r>
            <a:r>
              <a:rPr lang="zh-CN" altLang="en-US" sz="1800" b="0"/>
              <a:t>。</a:t>
            </a:r>
          </a:p>
          <a:p>
            <a:pPr marL="533400" indent="-533400" eaLnBrk="1" hangingPunct="1"/>
            <a:r>
              <a:rPr lang="zh-CN" altLang="en-US" sz="1800" b="0"/>
              <a:t>枚举类型变量常用于循环的控制变量，枚举常量用于多路选择控制情况。如下面的Ｃ代码实现读入每月的月收入金额，求出年收入总金额。</a:t>
            </a:r>
            <a:r>
              <a:rPr lang="en-US" altLang="zh-CN" sz="1800" b="0">
                <a:solidFill>
                  <a:srgbClr val="CC0000"/>
                </a:solidFill>
              </a:rPr>
              <a:t>(</a:t>
            </a:r>
            <a:r>
              <a:rPr lang="en-US" altLang="zh-CN" sz="1800" b="0">
                <a:solidFill>
                  <a:srgbClr val="CC0000"/>
                </a:solidFill>
                <a:sym typeface="Wingdings" pitchFamily="2" charset="2"/>
              </a:rPr>
              <a:t></a:t>
            </a:r>
            <a:r>
              <a:rPr lang="zh-CN" altLang="en-US" sz="1800" b="0">
                <a:solidFill>
                  <a:srgbClr val="CC0000"/>
                </a:solidFill>
              </a:rPr>
              <a:t>本例同样在</a:t>
            </a:r>
            <a:r>
              <a:rPr lang="en-US" altLang="zh-CN" sz="1800" b="0">
                <a:solidFill>
                  <a:srgbClr val="CC0000"/>
                </a:solidFill>
              </a:rPr>
              <a:t>VC</a:t>
            </a:r>
            <a:r>
              <a:rPr lang="zh-CN" altLang="en-US" sz="1800" b="0">
                <a:solidFill>
                  <a:srgbClr val="CC0000"/>
                </a:solidFill>
              </a:rPr>
              <a:t>中不能通过编译，</a:t>
            </a:r>
            <a:r>
              <a:rPr lang="zh-CN" altLang="en-US" sz="1800" b="0">
                <a:solidFill>
                  <a:srgbClr val="CC0000"/>
                </a:solidFill>
                <a:sym typeface="Wingdings" pitchFamily="2" charset="2"/>
              </a:rPr>
              <a:t>需要修改，强制类型转换</a:t>
            </a:r>
            <a:r>
              <a:rPr lang="en-US" altLang="zh-CN" sz="1600" b="0">
                <a:solidFill>
                  <a:srgbClr val="CC0000"/>
                </a:solidFill>
              </a:rPr>
              <a:t>)</a:t>
            </a:r>
          </a:p>
          <a:p>
            <a:pPr marL="914400" lvl="1" indent="-457200" eaLnBrk="1" hangingPunct="1">
              <a:buFont typeface="Wingdings" pitchFamily="2" charset="2"/>
              <a:buAutoNum type="arabicPeriod"/>
            </a:pPr>
            <a:r>
              <a:rPr lang="en-US" altLang="zh-CN" sz="1600" b="0"/>
              <a:t>{</a:t>
            </a:r>
          </a:p>
          <a:p>
            <a:pPr marL="914400" lvl="1" indent="-457200" eaLnBrk="1" hangingPunct="1">
              <a:buFont typeface="Wingdings" pitchFamily="2" charset="2"/>
              <a:buAutoNum type="arabicPeriod"/>
            </a:pPr>
            <a:r>
              <a:rPr lang="en-US" altLang="zh-CN" sz="1600" b="0"/>
              <a:t>  enum  {Jan = 1, Feb, Mar, Apr, May, Jun,</a:t>
            </a:r>
          </a:p>
          <a:p>
            <a:pPr marL="914400" lvl="1" indent="-457200" eaLnBrk="1" hangingPunct="1">
              <a:buFont typeface="Wingdings" pitchFamily="2" charset="2"/>
              <a:buAutoNum type="arabicPeriod"/>
            </a:pPr>
            <a:r>
              <a:rPr lang="en-US" altLang="zh-CN" sz="1600" b="0"/>
              <a:t>        Jul, Aug, Sep, Oct, Nov, Dec} </a:t>
            </a:r>
            <a:r>
              <a:rPr lang="en-US" altLang="zh-CN" sz="1600" b="0">
                <a:solidFill>
                  <a:srgbClr val="0066FF"/>
                </a:solidFill>
              </a:rPr>
              <a:t>month</a:t>
            </a:r>
            <a:r>
              <a:rPr lang="en-US" altLang="zh-CN" sz="1600" b="0"/>
              <a:t>;</a:t>
            </a:r>
          </a:p>
          <a:p>
            <a:pPr marL="914400" lvl="1" indent="-457200" eaLnBrk="1" hangingPunct="1">
              <a:buFont typeface="Wingdings" pitchFamily="2" charset="2"/>
              <a:buAutoNum type="arabicPeriod"/>
            </a:pPr>
            <a:r>
              <a:rPr lang="en-US" altLang="zh-CN" sz="1600" b="0"/>
              <a:t>  int  yearearn, monthearn;</a:t>
            </a:r>
          </a:p>
          <a:p>
            <a:pPr marL="914400" lvl="1" indent="-457200" eaLnBrk="1" hangingPunct="1">
              <a:buFont typeface="Wingdings" pitchFamily="2" charset="2"/>
              <a:buAutoNum type="arabicPeriod"/>
            </a:pPr>
            <a:r>
              <a:rPr lang="en-US" altLang="zh-CN" sz="1600" b="0"/>
              <a:t>  for(yearearn=0,</a:t>
            </a:r>
            <a:r>
              <a:rPr lang="en-US" altLang="zh-CN" sz="1600" b="0">
                <a:solidFill>
                  <a:srgbClr val="0066FF"/>
                </a:solidFill>
              </a:rPr>
              <a:t>month=Jan</a:t>
            </a:r>
            <a:r>
              <a:rPr lang="en-US" altLang="zh-CN" sz="1600" b="0"/>
              <a:t>;</a:t>
            </a:r>
            <a:r>
              <a:rPr lang="en-US" altLang="zh-CN" sz="1600" b="0">
                <a:solidFill>
                  <a:srgbClr val="0066FF"/>
                </a:solidFill>
              </a:rPr>
              <a:t>month&lt;=Dec</a:t>
            </a:r>
            <a:r>
              <a:rPr lang="en-US" altLang="zh-CN" sz="1600" b="0"/>
              <a:t>;</a:t>
            </a:r>
            <a:r>
              <a:rPr lang="en-US" altLang="zh-CN" sz="1600" b="0">
                <a:solidFill>
                  <a:srgbClr val="0066FF"/>
                </a:solidFill>
              </a:rPr>
              <a:t>month++</a:t>
            </a:r>
            <a:r>
              <a:rPr lang="en-US" altLang="zh-CN" sz="1600" b="0"/>
              <a:t>){</a:t>
            </a:r>
          </a:p>
          <a:p>
            <a:pPr marL="914400" lvl="1" indent="-457200" eaLnBrk="1" hangingPunct="1">
              <a:buFont typeface="Wingdings" pitchFamily="2" charset="2"/>
              <a:buAutoNum type="arabicPeriod"/>
            </a:pPr>
            <a:r>
              <a:rPr lang="en-US" altLang="zh-CN" sz="1600" b="0"/>
              <a:t>    printf ("Enter the monthly earning for ");</a:t>
            </a:r>
          </a:p>
          <a:p>
            <a:pPr marL="914400" lvl="1" indent="-457200" eaLnBrk="1" hangingPunct="1">
              <a:buFont typeface="Wingdings" pitchFamily="2" charset="2"/>
              <a:buAutoNum type="arabicPeriod"/>
            </a:pPr>
            <a:r>
              <a:rPr lang="en-US" altLang="zh-CN" sz="1600" b="0"/>
              <a:t>    switch  (</a:t>
            </a:r>
            <a:r>
              <a:rPr lang="en-US" altLang="zh-CN" sz="1600" b="0">
                <a:solidFill>
                  <a:srgbClr val="0066FF"/>
                </a:solidFill>
              </a:rPr>
              <a:t>month</a:t>
            </a:r>
            <a:r>
              <a:rPr lang="en-US" altLang="zh-CN" sz="1600" b="0"/>
              <a:t>) {</a:t>
            </a:r>
          </a:p>
          <a:p>
            <a:pPr marL="914400" lvl="1" indent="-457200" eaLnBrk="1" hangingPunct="1">
              <a:buFont typeface="Wingdings" pitchFamily="2" charset="2"/>
              <a:buAutoNum type="arabicPeriod"/>
            </a:pPr>
            <a:r>
              <a:rPr lang="en-US" altLang="zh-CN" sz="1600" b="0"/>
              <a:t>      	  </a:t>
            </a:r>
            <a:r>
              <a:rPr lang="en-US" altLang="zh-CN" sz="1600" b="0">
                <a:solidFill>
                  <a:srgbClr val="0066FF"/>
                </a:solidFill>
              </a:rPr>
              <a:t>case Jan </a:t>
            </a:r>
            <a:r>
              <a:rPr lang="en-US" altLang="zh-CN" sz="1600" b="0"/>
              <a:t>: printf("January.\n");  break;</a:t>
            </a:r>
          </a:p>
          <a:p>
            <a:pPr marL="914400" lvl="1" indent="-457200" eaLnBrk="1" hangingPunct="1">
              <a:buFont typeface="Wingdings" pitchFamily="2" charset="2"/>
              <a:buAutoNum type="arabicPeriod"/>
            </a:pPr>
            <a:r>
              <a:rPr lang="en-US" altLang="zh-CN" sz="1600" b="0"/>
              <a:t>	  case Feb : printf("February.\n"); break;</a:t>
            </a:r>
          </a:p>
          <a:p>
            <a:pPr marL="914400" lvl="1" indent="-457200" eaLnBrk="1" hangingPunct="1">
              <a:buFont typeface="Wingdings" pitchFamily="2" charset="2"/>
              <a:buAutoNum type="arabicPeriod"/>
            </a:pPr>
            <a:r>
              <a:rPr lang="en-US" altLang="zh-CN" sz="1600" b="0"/>
              <a:t>	  case Mar : printf("March.\n");    break;</a:t>
            </a:r>
          </a:p>
        </p:txBody>
      </p:sp>
    </p:spTree>
    <p:extLst>
      <p:ext uri="{BB962C8B-B14F-4D97-AF65-F5344CB8AC3E}">
        <p14:creationId xmlns:p14="http://schemas.microsoft.com/office/powerpoint/2010/main" val="17489948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123AE40B-4106-F177-183A-CB050B6B6B49}"/>
              </a:ext>
            </a:extLst>
          </p:cNvPr>
          <p:cNvSpPr>
            <a:spLocks noGrp="1" noChangeArrowheads="1"/>
          </p:cNvSpPr>
          <p:nvPr>
            <p:ph type="title"/>
          </p:nvPr>
        </p:nvSpPr>
        <p:spPr/>
        <p:txBody>
          <a:bodyPr/>
          <a:lstStyle/>
          <a:p>
            <a:pPr eaLnBrk="1" hangingPunct="1"/>
            <a:r>
              <a:rPr lang="zh-CN" altLang="en-US"/>
              <a:t>使用枚举类型举例</a:t>
            </a:r>
            <a:r>
              <a:rPr lang="en-US" altLang="zh-CN"/>
              <a:t>(</a:t>
            </a:r>
            <a:r>
              <a:rPr lang="zh-CN" altLang="en-US"/>
              <a:t>续</a:t>
            </a:r>
            <a:r>
              <a:rPr lang="en-US" altLang="zh-CN"/>
              <a:t>)</a:t>
            </a:r>
          </a:p>
        </p:txBody>
      </p:sp>
      <p:sp>
        <p:nvSpPr>
          <p:cNvPr id="188419" name="Rectangle 3">
            <a:extLst>
              <a:ext uri="{FF2B5EF4-FFF2-40B4-BE49-F238E27FC236}">
                <a16:creationId xmlns:a16="http://schemas.microsoft.com/office/drawing/2014/main" id="{5DC24077-DA08-7387-257D-C3A321A5B9B9}"/>
              </a:ext>
            </a:extLst>
          </p:cNvPr>
          <p:cNvSpPr>
            <a:spLocks noGrp="1" noChangeArrowheads="1"/>
          </p:cNvSpPr>
          <p:nvPr>
            <p:ph type="body" idx="1"/>
          </p:nvPr>
        </p:nvSpPr>
        <p:spPr>
          <a:xfrm>
            <a:off x="827088" y="1700807"/>
            <a:ext cx="8128000" cy="4431705"/>
          </a:xfrm>
        </p:spPr>
        <p:txBody>
          <a:bodyPr/>
          <a:lstStyle/>
          <a:p>
            <a:pPr marL="990600" lvl="1" indent="-533400" eaLnBrk="1" hangingPunct="1">
              <a:lnSpc>
                <a:spcPct val="90000"/>
              </a:lnSpc>
              <a:buFont typeface="Wingdings" pitchFamily="2" charset="2"/>
              <a:buAutoNum type="arabicPeriod" startAt="11"/>
            </a:pPr>
            <a:r>
              <a:rPr lang="en-US" altLang="zh-CN" sz="1600" b="0"/>
              <a:t>	  case Apr : printf("April.\n");    break;</a:t>
            </a:r>
          </a:p>
          <a:p>
            <a:pPr marL="990600" lvl="1" indent="-533400" eaLnBrk="1" hangingPunct="1">
              <a:lnSpc>
                <a:spcPct val="90000"/>
              </a:lnSpc>
              <a:buFont typeface="Wingdings" pitchFamily="2" charset="2"/>
              <a:buAutoNum type="arabicPeriod" startAt="11"/>
            </a:pPr>
            <a:r>
              <a:rPr lang="en-US" altLang="zh-CN" sz="1600" b="0"/>
              <a:t>	  case May : printf("May.\n");      break;</a:t>
            </a:r>
          </a:p>
          <a:p>
            <a:pPr marL="990600" lvl="1" indent="-533400" eaLnBrk="1" hangingPunct="1">
              <a:lnSpc>
                <a:spcPct val="90000"/>
              </a:lnSpc>
              <a:buFont typeface="Wingdings" pitchFamily="2" charset="2"/>
              <a:buAutoNum type="arabicPeriod" startAt="11"/>
            </a:pPr>
            <a:r>
              <a:rPr lang="en-US" altLang="zh-CN" sz="1600" b="0"/>
              <a:t>	  case Jun : ptintf("June.\n");     break;</a:t>
            </a:r>
          </a:p>
          <a:p>
            <a:pPr marL="990600" lvl="1" indent="-533400" eaLnBrk="1" hangingPunct="1">
              <a:lnSpc>
                <a:spcPct val="90000"/>
              </a:lnSpc>
              <a:buFont typeface="Wingdings" pitchFamily="2" charset="2"/>
              <a:buAutoNum type="arabicPeriod" startAt="11"/>
            </a:pPr>
            <a:r>
              <a:rPr lang="en-US" altLang="zh-CN" sz="1600" b="0"/>
              <a:t>	  case Jul : printf("July.\n");     break;</a:t>
            </a:r>
          </a:p>
          <a:p>
            <a:pPr marL="990600" lvl="1" indent="-533400" eaLnBrk="1" hangingPunct="1">
              <a:lnSpc>
                <a:spcPct val="90000"/>
              </a:lnSpc>
              <a:buFont typeface="Wingdings" pitchFamily="2" charset="2"/>
              <a:buAutoNum type="arabicPeriod" startAt="11"/>
            </a:pPr>
            <a:r>
              <a:rPr lang="en-US" altLang="zh-CN" sz="1600" b="0"/>
              <a:t>	  case Aug : printf("August.\n");   break;</a:t>
            </a:r>
          </a:p>
          <a:p>
            <a:pPr marL="990600" lvl="1" indent="-533400" eaLnBrk="1" hangingPunct="1">
              <a:lnSpc>
                <a:spcPct val="90000"/>
              </a:lnSpc>
              <a:buFont typeface="Wingdings" pitchFamily="2" charset="2"/>
              <a:buAutoNum type="arabicPeriod" startAt="11"/>
            </a:pPr>
            <a:r>
              <a:rPr lang="en-US" altLang="zh-CN" sz="1600" b="0"/>
              <a:t>	  case Sep : printf("September.\n");break;</a:t>
            </a:r>
          </a:p>
          <a:p>
            <a:pPr marL="990600" lvl="1" indent="-533400" eaLnBrk="1" hangingPunct="1">
              <a:lnSpc>
                <a:spcPct val="90000"/>
              </a:lnSpc>
              <a:buFont typeface="Wingdings" pitchFamily="2" charset="2"/>
              <a:buAutoNum type="arabicPeriod" startAt="11"/>
            </a:pPr>
            <a:r>
              <a:rPr lang="en-US" altLang="zh-CN" sz="1600" b="0"/>
              <a:t>	  case Oct : printf("October.\n");  break;</a:t>
            </a:r>
          </a:p>
          <a:p>
            <a:pPr marL="990600" lvl="1" indent="-533400" eaLnBrk="1" hangingPunct="1">
              <a:lnSpc>
                <a:spcPct val="90000"/>
              </a:lnSpc>
              <a:buFont typeface="Wingdings" pitchFamily="2" charset="2"/>
              <a:buAutoNum type="arabicPeriod" startAt="11"/>
            </a:pPr>
            <a:r>
              <a:rPr lang="en-US" altLang="zh-CN" sz="1600" b="0"/>
              <a:t>	  case Nov : printf("November.\n"); break;</a:t>
            </a:r>
          </a:p>
          <a:p>
            <a:pPr marL="990600" lvl="1" indent="-533400" eaLnBrk="1" hangingPunct="1">
              <a:lnSpc>
                <a:spcPct val="90000"/>
              </a:lnSpc>
              <a:buFont typeface="Wingdings" pitchFamily="2" charset="2"/>
              <a:buAutoNum type="arabicPeriod" startAt="11"/>
            </a:pPr>
            <a:r>
              <a:rPr lang="en-US" altLang="zh-CN" sz="1600" b="0"/>
              <a:t>	  case Dec : printf("December.\n"); break;</a:t>
            </a:r>
          </a:p>
          <a:p>
            <a:pPr marL="990600" lvl="1" indent="-533400" eaLnBrk="1" hangingPunct="1">
              <a:lnSpc>
                <a:spcPct val="90000"/>
              </a:lnSpc>
              <a:buFont typeface="Wingdings" pitchFamily="2" charset="2"/>
              <a:buAutoNum type="arabicPeriod" startAt="11"/>
            </a:pPr>
            <a:r>
              <a:rPr lang="en-US" altLang="zh-CN" sz="1600" b="0"/>
              <a:t>      }</a:t>
            </a:r>
          </a:p>
          <a:p>
            <a:pPr marL="990600" lvl="1" indent="-533400" eaLnBrk="1" hangingPunct="1">
              <a:lnSpc>
                <a:spcPct val="90000"/>
              </a:lnSpc>
              <a:buFont typeface="Wingdings" pitchFamily="2" charset="2"/>
              <a:buAutoNum type="arabicPeriod" startAt="11"/>
            </a:pPr>
            <a:r>
              <a:rPr lang="en-US" altLang="zh-CN" sz="1600" b="0"/>
              <a:t>   scanf("%d", </a:t>
            </a:r>
            <a:r>
              <a:rPr lang="en-US" altLang="zh-CN" sz="1600" b="0">
                <a:solidFill>
                  <a:srgbClr val="0066FF"/>
                </a:solidFill>
              </a:rPr>
              <a:t>&amp;monthearn</a:t>
            </a:r>
            <a:r>
              <a:rPr lang="en-US" altLang="zh-CN" sz="1600" b="0"/>
              <a:t>);</a:t>
            </a:r>
          </a:p>
          <a:p>
            <a:pPr marL="990600" lvl="1" indent="-533400" eaLnBrk="1" hangingPunct="1">
              <a:lnSpc>
                <a:spcPct val="90000"/>
              </a:lnSpc>
              <a:buFont typeface="Wingdings" pitchFamily="2" charset="2"/>
              <a:buAutoNum type="arabicPeriod" startAt="11"/>
            </a:pPr>
            <a:r>
              <a:rPr lang="en-US" altLang="zh-CN" sz="1600" b="0"/>
              <a:t>   yearearn += monthearn;</a:t>
            </a:r>
          </a:p>
          <a:p>
            <a:pPr marL="990600" lvl="1" indent="-533400" eaLnBrk="1" hangingPunct="1">
              <a:lnSpc>
                <a:spcPct val="90000"/>
              </a:lnSpc>
              <a:buFont typeface="Wingdings" pitchFamily="2" charset="2"/>
              <a:buAutoNum type="arabicPeriod" startAt="11"/>
            </a:pPr>
            <a:r>
              <a:rPr lang="en-US" altLang="zh-CN" sz="1600" b="0"/>
              <a:t>   printf("\n");</a:t>
            </a:r>
          </a:p>
          <a:p>
            <a:pPr marL="990600" lvl="1" indent="-533400" eaLnBrk="1" hangingPunct="1">
              <a:lnSpc>
                <a:spcPct val="90000"/>
              </a:lnSpc>
              <a:buFont typeface="Wingdings" pitchFamily="2" charset="2"/>
              <a:buAutoNum type="arabicPeriod" startAt="11"/>
            </a:pPr>
            <a:r>
              <a:rPr lang="en-US" altLang="zh-CN" sz="1600" b="0"/>
              <a:t> }</a:t>
            </a:r>
          </a:p>
          <a:p>
            <a:pPr marL="990600" lvl="1" indent="-533400" eaLnBrk="1" hangingPunct="1">
              <a:lnSpc>
                <a:spcPct val="90000"/>
              </a:lnSpc>
              <a:buFont typeface="Wingdings" pitchFamily="2" charset="2"/>
              <a:buAutoNum type="arabicPeriod" startAt="11"/>
            </a:pPr>
            <a:r>
              <a:rPr lang="en-US" altLang="zh-CN" sz="1600" b="0"/>
              <a:t> printf("The total earnings for the year are %d\n", yearearn);</a:t>
            </a:r>
          </a:p>
          <a:p>
            <a:pPr marL="990600" lvl="1" indent="-533400" eaLnBrk="1" hangingPunct="1">
              <a:lnSpc>
                <a:spcPct val="90000"/>
              </a:lnSpc>
              <a:buFont typeface="Wingdings" pitchFamily="2" charset="2"/>
              <a:buAutoNum type="arabicPeriod" startAt="11"/>
            </a:pPr>
            <a:r>
              <a:rPr lang="en-US" altLang="zh-CN" sz="1600" b="0"/>
              <a:t>}</a:t>
            </a:r>
          </a:p>
          <a:p>
            <a:pPr marL="609600" indent="-609600" eaLnBrk="1" hangingPunct="1">
              <a:lnSpc>
                <a:spcPct val="90000"/>
              </a:lnSpc>
            </a:pPr>
            <a:endParaRPr lang="en-US" altLang="zh-CN" sz="2400" b="0"/>
          </a:p>
        </p:txBody>
      </p:sp>
    </p:spTree>
    <p:extLst>
      <p:ext uri="{BB962C8B-B14F-4D97-AF65-F5344CB8AC3E}">
        <p14:creationId xmlns:p14="http://schemas.microsoft.com/office/powerpoint/2010/main" val="11110725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0FA6C37-0E3A-E871-33FF-CC97EA11930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3DBFA29C-4333-FA86-4D41-98156F55E888}"/>
              </a:ext>
            </a:extLst>
          </p:cNvPr>
          <p:cNvSpPr>
            <a:spLocks noGrp="1" noChangeArrowheads="1"/>
          </p:cNvSpPr>
          <p:nvPr>
            <p:ph type="ctrTitle"/>
          </p:nvPr>
        </p:nvSpPr>
        <p:spPr/>
        <p:txBody>
          <a:bodyPr/>
          <a:lstStyle/>
          <a:p>
            <a:pPr eaLnBrk="1" hangingPunct="1"/>
            <a:r>
              <a:rPr lang="zh-CN" altLang="en-US"/>
              <a:t>类型定义</a:t>
            </a:r>
            <a:endParaRPr lang="zh-CN" altLang="en-US" sz="4000" b="1">
              <a:solidFill>
                <a:srgbClr val="FF0000"/>
              </a:solidFill>
            </a:endParaRPr>
          </a:p>
        </p:txBody>
      </p:sp>
    </p:spTree>
    <p:extLst>
      <p:ext uri="{BB962C8B-B14F-4D97-AF65-F5344CB8AC3E}">
        <p14:creationId xmlns:p14="http://schemas.microsoft.com/office/powerpoint/2010/main" val="39810849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F1BB697F-C9E4-F948-0EDF-AB0FDD05F25F}"/>
              </a:ext>
            </a:extLst>
          </p:cNvPr>
          <p:cNvSpPr>
            <a:spLocks noGrp="1" noChangeArrowheads="1"/>
          </p:cNvSpPr>
          <p:nvPr>
            <p:ph type="title"/>
          </p:nvPr>
        </p:nvSpPr>
        <p:spPr/>
        <p:txBody>
          <a:bodyPr/>
          <a:lstStyle/>
          <a:p>
            <a:pPr eaLnBrk="1" hangingPunct="1"/>
            <a:r>
              <a:rPr lang="zh-CN" altLang="en-US" sz="3600"/>
              <a:t>类型定义</a:t>
            </a:r>
          </a:p>
        </p:txBody>
      </p:sp>
      <p:sp>
        <p:nvSpPr>
          <p:cNvPr id="190467" name="Rectangle 3">
            <a:extLst>
              <a:ext uri="{FF2B5EF4-FFF2-40B4-BE49-F238E27FC236}">
                <a16:creationId xmlns:a16="http://schemas.microsoft.com/office/drawing/2014/main" id="{660EFA10-F54A-4C96-C145-C05CE8E4B9B6}"/>
              </a:ext>
            </a:extLst>
          </p:cNvPr>
          <p:cNvSpPr>
            <a:spLocks noGrp="1" noChangeArrowheads="1"/>
          </p:cNvSpPr>
          <p:nvPr>
            <p:ph type="body" idx="1"/>
          </p:nvPr>
        </p:nvSpPr>
        <p:spPr>
          <a:xfrm>
            <a:off x="827088" y="1772815"/>
            <a:ext cx="7793037" cy="4359697"/>
          </a:xfrm>
        </p:spPr>
        <p:txBody>
          <a:bodyPr/>
          <a:lstStyle/>
          <a:p>
            <a:pPr marL="533400" indent="-533400" algn="just" eaLnBrk="1" hangingPunct="1">
              <a:lnSpc>
                <a:spcPct val="150000"/>
              </a:lnSpc>
            </a:pPr>
            <a:r>
              <a:rPr lang="zh-CN" altLang="en-US" sz="2400" b="0"/>
              <a:t>在使用标准类型名定义或说明变量时，可只写标准类型名指明变量的数据类型。而</a:t>
            </a:r>
            <a:r>
              <a:rPr lang="zh-CN" altLang="en-US" sz="2400" b="0" u="sng"/>
              <a:t>用结构，联合，枚举等类型定义或说明变量时</a:t>
            </a:r>
            <a:r>
              <a:rPr lang="zh-CN" altLang="en-US" sz="2400" b="0"/>
              <a:t>，</a:t>
            </a:r>
            <a:r>
              <a:rPr lang="zh-CN" altLang="en-US" sz="2400" b="0">
                <a:solidFill>
                  <a:srgbClr val="0066FF"/>
                </a:solidFill>
              </a:rPr>
              <a:t>要冠以表明数据类型类别的关键字，如 </a:t>
            </a:r>
            <a:r>
              <a:rPr lang="en-US" altLang="zh-CN" sz="2400" b="0">
                <a:solidFill>
                  <a:srgbClr val="0066FF"/>
                </a:solidFill>
              </a:rPr>
              <a:t>struct</a:t>
            </a:r>
            <a:r>
              <a:rPr lang="zh-CN" altLang="en-US" sz="2400" b="0">
                <a:solidFill>
                  <a:srgbClr val="0066FF"/>
                </a:solidFill>
              </a:rPr>
              <a:t>、</a:t>
            </a:r>
            <a:r>
              <a:rPr lang="en-US" altLang="zh-CN" sz="2400" b="0">
                <a:solidFill>
                  <a:srgbClr val="0066FF"/>
                </a:solidFill>
              </a:rPr>
              <a:t>union</a:t>
            </a:r>
            <a:r>
              <a:rPr lang="zh-CN" altLang="en-US" sz="2400" b="0">
                <a:solidFill>
                  <a:srgbClr val="0066FF"/>
                </a:solidFill>
              </a:rPr>
              <a:t>、</a:t>
            </a:r>
            <a:r>
              <a:rPr lang="en-US" altLang="zh-CN" sz="2400" b="0">
                <a:solidFill>
                  <a:srgbClr val="0066FF"/>
                </a:solidFill>
              </a:rPr>
              <a:t>enum </a:t>
            </a:r>
            <a:r>
              <a:rPr lang="zh-CN" altLang="en-US" sz="2400" b="0">
                <a:solidFill>
                  <a:srgbClr val="0066FF"/>
                </a:solidFill>
              </a:rPr>
              <a:t>等</a:t>
            </a:r>
            <a:r>
              <a:rPr lang="zh-CN" altLang="en-US" sz="2400" b="0"/>
              <a:t>。</a:t>
            </a:r>
          </a:p>
          <a:p>
            <a:pPr marL="533400" indent="-533400" algn="just" eaLnBrk="1" hangingPunct="1">
              <a:lnSpc>
                <a:spcPct val="150000"/>
              </a:lnSpc>
            </a:pPr>
            <a:r>
              <a:rPr lang="zh-CN" altLang="en-US" sz="2400" b="0"/>
              <a:t>Ｃ语言提供</a:t>
            </a:r>
            <a:r>
              <a:rPr lang="zh-CN" altLang="en-US" sz="2400" b="0">
                <a:solidFill>
                  <a:srgbClr val="0066FF"/>
                </a:solidFill>
              </a:rPr>
              <a:t>类型定义</a:t>
            </a:r>
            <a:r>
              <a:rPr lang="en-US" altLang="zh-CN" sz="2400" b="0">
                <a:solidFill>
                  <a:srgbClr val="0066FF"/>
                </a:solidFill>
              </a:rPr>
              <a:t>typedef</a:t>
            </a:r>
            <a:r>
              <a:rPr lang="zh-CN" altLang="en-US" sz="2400" b="0"/>
              <a:t>，为类型命名的机制。</a:t>
            </a:r>
            <a:r>
              <a:rPr lang="zh-CN" altLang="en-US" sz="2400" b="0" u="sng"/>
              <a:t>用 </a:t>
            </a:r>
            <a:r>
              <a:rPr lang="en-US" altLang="zh-CN" sz="2400" b="0" u="sng"/>
              <a:t>typedef </a:t>
            </a:r>
            <a:r>
              <a:rPr lang="zh-CN" altLang="en-US" sz="2400" b="0" u="sng"/>
              <a:t>定义新类型名后</a:t>
            </a:r>
            <a:r>
              <a:rPr lang="zh-CN" altLang="en-US" sz="2400" b="0"/>
              <a:t>，对于结构，联合或枚举类型，使用它们定义或说明变量时</a:t>
            </a:r>
            <a:r>
              <a:rPr lang="zh-CN" altLang="en-US" sz="2400" b="0">
                <a:solidFill>
                  <a:srgbClr val="0066FF"/>
                </a:solidFill>
              </a:rPr>
              <a:t>不再冠类型类别关键字</a:t>
            </a:r>
            <a:r>
              <a:rPr lang="zh-CN" altLang="en-US" sz="2400" b="0"/>
              <a:t>。</a:t>
            </a:r>
          </a:p>
        </p:txBody>
      </p:sp>
    </p:spTree>
    <p:extLst>
      <p:ext uri="{BB962C8B-B14F-4D97-AF65-F5344CB8AC3E}">
        <p14:creationId xmlns:p14="http://schemas.microsoft.com/office/powerpoint/2010/main" val="9997176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F6C999C8-F110-3491-45E2-DADA8A1ACB5B}"/>
              </a:ext>
            </a:extLst>
          </p:cNvPr>
          <p:cNvSpPr>
            <a:spLocks noGrp="1" noChangeArrowheads="1"/>
          </p:cNvSpPr>
          <p:nvPr>
            <p:ph type="title"/>
          </p:nvPr>
        </p:nvSpPr>
        <p:spPr/>
        <p:txBody>
          <a:bodyPr/>
          <a:lstStyle/>
          <a:p>
            <a:pPr eaLnBrk="1" hangingPunct="1"/>
            <a:r>
              <a:rPr lang="zh-CN" altLang="en-US" sz="3600"/>
              <a:t>类型定义例</a:t>
            </a:r>
          </a:p>
        </p:txBody>
      </p:sp>
      <p:sp>
        <p:nvSpPr>
          <p:cNvPr id="191491" name="Rectangle 3">
            <a:extLst>
              <a:ext uri="{FF2B5EF4-FFF2-40B4-BE49-F238E27FC236}">
                <a16:creationId xmlns:a16="http://schemas.microsoft.com/office/drawing/2014/main" id="{98BE02EE-E327-885E-C281-17BEC612F60C}"/>
              </a:ext>
            </a:extLst>
          </p:cNvPr>
          <p:cNvSpPr>
            <a:spLocks noGrp="1" noChangeArrowheads="1"/>
          </p:cNvSpPr>
          <p:nvPr>
            <p:ph type="body" idx="1"/>
          </p:nvPr>
        </p:nvSpPr>
        <p:spPr>
          <a:xfrm>
            <a:off x="827088" y="1628774"/>
            <a:ext cx="8128000" cy="4968577"/>
          </a:xfrm>
        </p:spPr>
        <p:txBody>
          <a:bodyPr/>
          <a:lstStyle/>
          <a:p>
            <a:pPr marL="533400" indent="-533400" eaLnBrk="1" hangingPunct="1"/>
            <a:r>
              <a:rPr lang="zh-CN" altLang="en-US" sz="2000" b="0"/>
              <a:t>如</a:t>
            </a:r>
          </a:p>
          <a:p>
            <a:pPr marL="914400" lvl="1" indent="-457200" eaLnBrk="1" hangingPunct="1">
              <a:buFont typeface="Wingdings" pitchFamily="2" charset="2"/>
              <a:buAutoNum type="arabicPeriod"/>
            </a:pPr>
            <a:r>
              <a:rPr lang="en-US" altLang="zh-CN" sz="1800" b="0"/>
              <a:t>typedef  struct   {</a:t>
            </a:r>
          </a:p>
          <a:p>
            <a:pPr marL="914400" lvl="1" indent="-457200" eaLnBrk="1" hangingPunct="1">
              <a:buFont typeface="Wingdings" pitchFamily="2" charset="2"/>
              <a:buAutoNum type="arabicPeriod"/>
            </a:pPr>
            <a:r>
              <a:rPr lang="en-US" altLang="zh-CN" sz="1800" b="0"/>
              <a:t>        int   num;</a:t>
            </a:r>
          </a:p>
          <a:p>
            <a:pPr marL="914400" lvl="1" indent="-457200" eaLnBrk="1" hangingPunct="1">
              <a:buFont typeface="Wingdings" pitchFamily="2" charset="2"/>
              <a:buAutoNum type="arabicPeriod"/>
            </a:pPr>
            <a:r>
              <a:rPr lang="en-US" altLang="zh-CN" sz="1800" b="0"/>
              <a:t>        char  *name;</a:t>
            </a:r>
          </a:p>
          <a:p>
            <a:pPr marL="914400" lvl="1" indent="-457200" eaLnBrk="1" hangingPunct="1">
              <a:buFont typeface="Wingdings" pitchFamily="2" charset="2"/>
              <a:buAutoNum type="arabicPeriod"/>
            </a:pPr>
            <a:r>
              <a:rPr lang="en-US" altLang="zh-CN" sz="1800" b="0"/>
              <a:t>        char  sex;</a:t>
            </a:r>
          </a:p>
          <a:p>
            <a:pPr marL="914400" lvl="1" indent="-457200" eaLnBrk="1" hangingPunct="1">
              <a:buFont typeface="Wingdings" pitchFamily="2" charset="2"/>
              <a:buAutoNum type="arabicPeriod"/>
            </a:pPr>
            <a:r>
              <a:rPr lang="en-US" altLang="zh-CN" sz="1800" b="0"/>
              <a:t>        int   age;</a:t>
            </a:r>
          </a:p>
          <a:p>
            <a:pPr marL="914400" lvl="1" indent="-457200" eaLnBrk="1" hangingPunct="1">
              <a:buFont typeface="Wingdings" pitchFamily="2" charset="2"/>
              <a:buAutoNum type="arabicPeriod"/>
            </a:pPr>
            <a:r>
              <a:rPr lang="en-US" altLang="zh-CN" sz="1800" b="0"/>
              <a:t>        int   score;</a:t>
            </a:r>
          </a:p>
          <a:p>
            <a:pPr marL="914400" lvl="1" indent="-457200" eaLnBrk="1" hangingPunct="1">
              <a:buFont typeface="Wingdings" pitchFamily="2" charset="2"/>
              <a:buAutoNum type="arabicPeriod"/>
            </a:pPr>
            <a:r>
              <a:rPr lang="en-US" altLang="zh-CN" sz="1800" b="0"/>
              <a:t>} </a:t>
            </a:r>
            <a:r>
              <a:rPr lang="en-US" altLang="zh-CN" sz="1800" b="0">
                <a:solidFill>
                  <a:srgbClr val="0066FF"/>
                </a:solidFill>
              </a:rPr>
              <a:t>STD_TYPE</a:t>
            </a:r>
            <a:r>
              <a:rPr lang="en-US" altLang="zh-CN" sz="1800" b="0"/>
              <a:t>;   </a:t>
            </a:r>
            <a:r>
              <a:rPr lang="en-US" altLang="zh-CN" sz="1800" b="0">
                <a:solidFill>
                  <a:schemeClr val="folHlink"/>
                </a:solidFill>
              </a:rPr>
              <a:t>/* </a:t>
            </a:r>
            <a:r>
              <a:rPr lang="zh-CN" altLang="en-US" sz="1800" b="0">
                <a:solidFill>
                  <a:schemeClr val="folHlink"/>
                </a:solidFill>
              </a:rPr>
              <a:t>结构类型 </a:t>
            </a:r>
            <a:r>
              <a:rPr lang="en-US" altLang="zh-CN" sz="1800" b="0">
                <a:solidFill>
                  <a:schemeClr val="folHlink"/>
                </a:solidFill>
              </a:rPr>
              <a:t>STD_TYPE */</a:t>
            </a:r>
          </a:p>
          <a:p>
            <a:pPr marL="914400" lvl="1" indent="-457200" eaLnBrk="1" hangingPunct="1">
              <a:buFont typeface="Wingdings" pitchFamily="2" charset="2"/>
              <a:buAutoNum type="arabicPeriod"/>
            </a:pPr>
            <a:r>
              <a:rPr lang="en-US" altLang="zh-CN" sz="1800" b="0"/>
              <a:t>typedef int </a:t>
            </a:r>
            <a:r>
              <a:rPr lang="en-US" altLang="zh-CN" sz="1800" b="0">
                <a:solidFill>
                  <a:srgbClr val="0066FF"/>
                </a:solidFill>
              </a:rPr>
              <a:t>INTARRAY</a:t>
            </a:r>
            <a:r>
              <a:rPr lang="en-US" altLang="zh-CN" sz="1800" b="0"/>
              <a:t>[20];</a:t>
            </a:r>
            <a:r>
              <a:rPr lang="en-US" altLang="zh-CN" sz="1800" b="0">
                <a:solidFill>
                  <a:schemeClr val="folHlink"/>
                </a:solidFill>
              </a:rPr>
              <a:t>/*</a:t>
            </a:r>
            <a:r>
              <a:rPr lang="zh-CN" altLang="en-US" sz="1800" b="0">
                <a:solidFill>
                  <a:schemeClr val="folHlink"/>
                </a:solidFill>
              </a:rPr>
              <a:t>含</a:t>
            </a:r>
            <a:r>
              <a:rPr lang="en-US" altLang="zh-CN" sz="1800" b="0">
                <a:solidFill>
                  <a:schemeClr val="folHlink"/>
                </a:solidFill>
              </a:rPr>
              <a:t>20</a:t>
            </a:r>
            <a:r>
              <a:rPr lang="zh-CN" altLang="en-US" sz="1800" b="0">
                <a:solidFill>
                  <a:schemeClr val="folHlink"/>
                </a:solidFill>
              </a:rPr>
              <a:t>个整数的数组类型</a:t>
            </a:r>
            <a:r>
              <a:rPr lang="en-US" altLang="zh-CN" sz="1800" b="0">
                <a:solidFill>
                  <a:schemeClr val="folHlink"/>
                </a:solidFill>
              </a:rPr>
              <a:t>INTARRAY */</a:t>
            </a:r>
          </a:p>
          <a:p>
            <a:pPr marL="914400" lvl="1" indent="-457200" eaLnBrk="1" hangingPunct="1">
              <a:buFont typeface="Wingdings" pitchFamily="2" charset="2"/>
              <a:buAutoNum type="arabicPeriod"/>
            </a:pPr>
            <a:r>
              <a:rPr lang="en-US" altLang="zh-CN" sz="1800" b="0"/>
              <a:t>typedef enum{RED,YELLOW,BLUE}</a:t>
            </a:r>
            <a:r>
              <a:rPr lang="zh-CN" altLang="en-US" sz="1800" b="0"/>
              <a:t> </a:t>
            </a:r>
            <a:r>
              <a:rPr lang="en-US" altLang="zh-CN" sz="1800" b="0">
                <a:solidFill>
                  <a:srgbClr val="0066FF"/>
                </a:solidFill>
              </a:rPr>
              <a:t>COLOR</a:t>
            </a:r>
            <a:r>
              <a:rPr lang="en-US" altLang="zh-CN" sz="1800" b="0"/>
              <a:t>;</a:t>
            </a:r>
            <a:r>
              <a:rPr lang="en-US" altLang="zh-CN" sz="1800" b="0">
                <a:solidFill>
                  <a:schemeClr val="folHlink"/>
                </a:solidFill>
              </a:rPr>
              <a:t>/* </a:t>
            </a:r>
            <a:r>
              <a:rPr lang="zh-CN" altLang="en-US" sz="1800" b="0">
                <a:solidFill>
                  <a:schemeClr val="folHlink"/>
                </a:solidFill>
              </a:rPr>
              <a:t>枚举类型 *</a:t>
            </a:r>
            <a:r>
              <a:rPr lang="en-US" altLang="zh-CN" sz="1800" b="0">
                <a:solidFill>
                  <a:schemeClr val="folHlink"/>
                </a:solidFill>
              </a:rPr>
              <a:t>/</a:t>
            </a:r>
          </a:p>
          <a:p>
            <a:pPr marL="533400" indent="-533400" eaLnBrk="1" hangingPunct="1"/>
            <a:r>
              <a:rPr lang="zh-CN" altLang="en-US" sz="2000" b="0"/>
              <a:t>利用以上类型定义，可定义变量如下：</a:t>
            </a:r>
          </a:p>
          <a:p>
            <a:pPr marL="914400" lvl="1" indent="-457200" eaLnBrk="1" hangingPunct="1">
              <a:buFont typeface="Wingdings" pitchFamily="2" charset="2"/>
              <a:buAutoNum type="arabicPeriod"/>
            </a:pPr>
            <a:r>
              <a:rPr lang="en-US" altLang="zh-CN" sz="1800" b="0">
                <a:solidFill>
                  <a:srgbClr val="0066FF"/>
                </a:solidFill>
              </a:rPr>
              <a:t>STD_TYPE</a:t>
            </a:r>
            <a:r>
              <a:rPr lang="en-US" altLang="zh-CN" sz="1800" b="0"/>
              <a:t>  std1, std2;  </a:t>
            </a:r>
            <a:r>
              <a:rPr lang="en-US" altLang="zh-CN" sz="1800" b="0">
                <a:solidFill>
                  <a:schemeClr val="folHlink"/>
                </a:solidFill>
              </a:rPr>
              <a:t>/* </a:t>
            </a:r>
            <a:r>
              <a:rPr lang="zh-CN" altLang="en-US" sz="1800" b="0">
                <a:solidFill>
                  <a:schemeClr val="folHlink"/>
                </a:solidFill>
              </a:rPr>
              <a:t>定义两个结构变量 *</a:t>
            </a:r>
            <a:r>
              <a:rPr lang="en-US" altLang="zh-CN" sz="1800" b="0">
                <a:solidFill>
                  <a:schemeClr val="folHlink"/>
                </a:solidFill>
              </a:rPr>
              <a:t>/</a:t>
            </a:r>
          </a:p>
          <a:p>
            <a:pPr marL="914400" lvl="1" indent="-457200" eaLnBrk="1" hangingPunct="1">
              <a:buFont typeface="Wingdings" pitchFamily="2" charset="2"/>
              <a:buAutoNum type="arabicPeriod"/>
            </a:pPr>
            <a:r>
              <a:rPr lang="en-US" altLang="zh-CN" sz="1800" b="0">
                <a:solidFill>
                  <a:srgbClr val="0066FF"/>
                </a:solidFill>
              </a:rPr>
              <a:t>INTARRAY</a:t>
            </a:r>
            <a:r>
              <a:rPr lang="en-US" altLang="zh-CN" sz="1800" b="0"/>
              <a:t>  v1,v2; </a:t>
            </a:r>
            <a:r>
              <a:rPr lang="en-US" altLang="zh-CN" sz="1800" b="0">
                <a:solidFill>
                  <a:schemeClr val="folHlink"/>
                </a:solidFill>
              </a:rPr>
              <a:t>/* </a:t>
            </a:r>
            <a:r>
              <a:rPr lang="zh-CN" altLang="en-US" sz="1800" b="0">
                <a:solidFill>
                  <a:schemeClr val="folHlink"/>
                </a:solidFill>
              </a:rPr>
              <a:t>定义两个各含</a:t>
            </a:r>
            <a:r>
              <a:rPr lang="en-US" altLang="zh-CN" sz="1800" b="0">
                <a:solidFill>
                  <a:schemeClr val="folHlink"/>
                </a:solidFill>
              </a:rPr>
              <a:t>20</a:t>
            </a:r>
            <a:r>
              <a:rPr lang="zh-CN" altLang="en-US" sz="1800" b="0">
                <a:solidFill>
                  <a:schemeClr val="folHlink"/>
                </a:solidFill>
              </a:rPr>
              <a:t>个整数的数组 *</a:t>
            </a:r>
            <a:r>
              <a:rPr lang="en-US" altLang="zh-CN" sz="1800" b="0">
                <a:solidFill>
                  <a:schemeClr val="folHlink"/>
                </a:solidFill>
              </a:rPr>
              <a:t>/</a:t>
            </a:r>
          </a:p>
          <a:p>
            <a:pPr marL="914400" lvl="1" indent="-457200" eaLnBrk="1" hangingPunct="1">
              <a:buFont typeface="Wingdings" pitchFamily="2" charset="2"/>
              <a:buAutoNum type="arabicPeriod"/>
            </a:pPr>
            <a:r>
              <a:rPr lang="en-US" altLang="zh-CN" sz="1800" b="0">
                <a:solidFill>
                  <a:srgbClr val="0066FF"/>
                </a:solidFill>
              </a:rPr>
              <a:t>COLOR</a:t>
            </a:r>
            <a:r>
              <a:rPr lang="en-US" altLang="zh-CN" sz="1800" b="0"/>
              <a:t>     c1, c2;      </a:t>
            </a:r>
            <a:r>
              <a:rPr lang="en-US" altLang="zh-CN" sz="1800" b="0">
                <a:solidFill>
                  <a:schemeClr val="folHlink"/>
                </a:solidFill>
              </a:rPr>
              <a:t>/* </a:t>
            </a:r>
            <a:r>
              <a:rPr lang="zh-CN" altLang="en-US" sz="1800" b="0">
                <a:solidFill>
                  <a:schemeClr val="folHlink"/>
                </a:solidFill>
              </a:rPr>
              <a:t>定义两个枚举变量 *</a:t>
            </a:r>
            <a:r>
              <a:rPr lang="en-US" altLang="zh-CN" sz="1800" b="0">
                <a:solidFill>
                  <a:schemeClr val="folHlink"/>
                </a:solidFill>
              </a:rPr>
              <a:t>/</a:t>
            </a:r>
          </a:p>
        </p:txBody>
      </p:sp>
    </p:spTree>
    <p:extLst>
      <p:ext uri="{BB962C8B-B14F-4D97-AF65-F5344CB8AC3E}">
        <p14:creationId xmlns:p14="http://schemas.microsoft.com/office/powerpoint/2010/main" val="9671494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8257FC94-EBB7-D22E-D8C1-A6133A36BB85}"/>
              </a:ext>
            </a:extLst>
          </p:cNvPr>
          <p:cNvSpPr>
            <a:spLocks noGrp="1" noChangeArrowheads="1"/>
          </p:cNvSpPr>
          <p:nvPr>
            <p:ph type="title"/>
          </p:nvPr>
        </p:nvSpPr>
        <p:spPr/>
        <p:txBody>
          <a:bodyPr/>
          <a:lstStyle/>
          <a:p>
            <a:pPr eaLnBrk="1" hangingPunct="1"/>
            <a:r>
              <a:rPr lang="zh-CN" altLang="en-US"/>
              <a:t>数组类型的定义</a:t>
            </a:r>
          </a:p>
        </p:txBody>
      </p:sp>
      <p:sp>
        <p:nvSpPr>
          <p:cNvPr id="192515" name="Rectangle 3">
            <a:extLst>
              <a:ext uri="{FF2B5EF4-FFF2-40B4-BE49-F238E27FC236}">
                <a16:creationId xmlns:a16="http://schemas.microsoft.com/office/drawing/2014/main" id="{9FFA4DE1-709F-868B-EABE-7C91C87D9E87}"/>
              </a:ext>
            </a:extLst>
          </p:cNvPr>
          <p:cNvSpPr>
            <a:spLocks noGrp="1" noChangeArrowheads="1"/>
          </p:cNvSpPr>
          <p:nvPr>
            <p:ph type="body" idx="1"/>
          </p:nvPr>
        </p:nvSpPr>
        <p:spPr>
          <a:xfrm>
            <a:off x="827088" y="1772815"/>
            <a:ext cx="7866062" cy="4359697"/>
          </a:xfrm>
        </p:spPr>
        <p:txBody>
          <a:bodyPr/>
          <a:lstStyle/>
          <a:p>
            <a:pPr eaLnBrk="1" hangingPunct="1">
              <a:lnSpc>
                <a:spcPct val="150000"/>
              </a:lnSpc>
            </a:pPr>
            <a:r>
              <a:rPr lang="zh-CN" altLang="en-US" sz="2000" b="0"/>
              <a:t>在以上变量定义中，对于结构、枚举等类型，</a:t>
            </a:r>
            <a:r>
              <a:rPr lang="zh-CN" altLang="en-US" sz="2000" b="0">
                <a:solidFill>
                  <a:srgbClr val="0070C0"/>
                </a:solidFill>
              </a:rPr>
              <a:t>不必再冠相应的类型类别关键字</a:t>
            </a:r>
            <a:r>
              <a:rPr lang="zh-CN" altLang="en-US" sz="2000" b="0"/>
              <a:t>。</a:t>
            </a:r>
            <a:r>
              <a:rPr lang="zh-CN" altLang="en-US" sz="2000"/>
              <a:t>特别对于数组类型</a:t>
            </a:r>
            <a:r>
              <a:rPr lang="zh-CN" altLang="en-US" sz="2000" b="0"/>
              <a:t>，当有多个数组变量成分类型相同，数组元素个数也相同时，可先用 </a:t>
            </a:r>
            <a:r>
              <a:rPr lang="en-US" altLang="zh-CN" sz="2000" b="0"/>
              <a:t>typedef </a:t>
            </a:r>
            <a:r>
              <a:rPr lang="zh-CN" altLang="en-US" sz="2000" b="0"/>
              <a:t>定义一个数组类型，然后再定义数组变量。</a:t>
            </a:r>
          </a:p>
          <a:p>
            <a:pPr eaLnBrk="1" hangingPunct="1">
              <a:lnSpc>
                <a:spcPct val="150000"/>
              </a:lnSpc>
            </a:pPr>
            <a:r>
              <a:rPr lang="zh-CN" altLang="en-US" sz="2000" b="0"/>
              <a:t>如类型定义    </a:t>
            </a:r>
            <a:r>
              <a:rPr lang="en-US" altLang="zh-CN" sz="2000" b="0"/>
              <a:t>typedef  int  ARRAY[100];</a:t>
            </a:r>
            <a:br>
              <a:rPr lang="en-US" altLang="zh-CN" sz="2000" b="0"/>
            </a:br>
            <a:r>
              <a:rPr lang="zh-CN" altLang="en-US" sz="2000" b="0"/>
              <a:t>可用类型 </a:t>
            </a:r>
            <a:r>
              <a:rPr lang="en-US" altLang="zh-CN" sz="2000" b="0"/>
              <a:t>ARRAY </a:t>
            </a:r>
            <a:r>
              <a:rPr lang="zh-CN" altLang="en-US" sz="2000" b="0"/>
              <a:t>定义多个相同模式的数组。如    </a:t>
            </a:r>
          </a:p>
          <a:p>
            <a:pPr lvl="1" eaLnBrk="1" hangingPunct="1">
              <a:lnSpc>
                <a:spcPct val="150000"/>
              </a:lnSpc>
            </a:pPr>
            <a:r>
              <a:rPr lang="en-US" altLang="zh-CN" sz="1800" b="0"/>
              <a:t>ARRAY  x, y, z;</a:t>
            </a:r>
          </a:p>
          <a:p>
            <a:pPr eaLnBrk="1" hangingPunct="1">
              <a:lnSpc>
                <a:spcPct val="150000"/>
              </a:lnSpc>
            </a:pPr>
            <a:r>
              <a:rPr lang="zh-CN" altLang="en-US" sz="2000" b="0"/>
              <a:t>若不用由类型定义提供的类型名 </a:t>
            </a:r>
            <a:r>
              <a:rPr lang="en-US" altLang="zh-CN" sz="2000" b="0"/>
              <a:t>ARRAY</a:t>
            </a:r>
            <a:r>
              <a:rPr lang="zh-CN" altLang="en-US" sz="2000" b="0"/>
              <a:t>，等价的定义是</a:t>
            </a:r>
          </a:p>
          <a:p>
            <a:pPr lvl="1" eaLnBrk="1" hangingPunct="1">
              <a:lnSpc>
                <a:spcPct val="150000"/>
              </a:lnSpc>
            </a:pPr>
            <a:r>
              <a:rPr lang="en-US" altLang="zh-CN" sz="1800" b="0"/>
              <a:t>int  x[100], y[100], z[100];</a:t>
            </a:r>
          </a:p>
        </p:txBody>
      </p:sp>
    </p:spTree>
    <p:extLst>
      <p:ext uri="{BB962C8B-B14F-4D97-AF65-F5344CB8AC3E}">
        <p14:creationId xmlns:p14="http://schemas.microsoft.com/office/powerpoint/2010/main" val="26661455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a:extLst>
              <a:ext uri="{FF2B5EF4-FFF2-40B4-BE49-F238E27FC236}">
                <a16:creationId xmlns:a16="http://schemas.microsoft.com/office/drawing/2014/main" id="{D39B9F21-7494-B1CB-5547-6E560A708BC2}"/>
              </a:ext>
            </a:extLst>
          </p:cNvPr>
          <p:cNvSpPr>
            <a:spLocks noGrp="1" noChangeArrowheads="1"/>
          </p:cNvSpPr>
          <p:nvPr>
            <p:ph type="title"/>
          </p:nvPr>
        </p:nvSpPr>
        <p:spPr/>
        <p:txBody>
          <a:bodyPr/>
          <a:lstStyle/>
          <a:p>
            <a:pPr eaLnBrk="1" hangingPunct="1"/>
            <a:r>
              <a:rPr lang="zh-CN" altLang="en-US"/>
              <a:t>给已有类型定义别名</a:t>
            </a:r>
          </a:p>
        </p:txBody>
      </p:sp>
      <p:sp>
        <p:nvSpPr>
          <p:cNvPr id="193539" name="Rectangle 3">
            <a:extLst>
              <a:ext uri="{FF2B5EF4-FFF2-40B4-BE49-F238E27FC236}">
                <a16:creationId xmlns:a16="http://schemas.microsoft.com/office/drawing/2014/main" id="{543E20B7-E45E-CAF5-3665-0F3D26D422D3}"/>
              </a:ext>
            </a:extLst>
          </p:cNvPr>
          <p:cNvSpPr>
            <a:spLocks noGrp="1" noChangeArrowheads="1"/>
          </p:cNvSpPr>
          <p:nvPr>
            <p:ph type="body" idx="1"/>
          </p:nvPr>
        </p:nvSpPr>
        <p:spPr>
          <a:xfrm>
            <a:off x="827088" y="1772815"/>
            <a:ext cx="8128000" cy="4359697"/>
          </a:xfrm>
        </p:spPr>
        <p:txBody>
          <a:bodyPr/>
          <a:lstStyle/>
          <a:p>
            <a:pPr eaLnBrk="1" hangingPunct="1">
              <a:lnSpc>
                <a:spcPct val="150000"/>
              </a:lnSpc>
            </a:pPr>
            <a:r>
              <a:rPr lang="zh-CN" altLang="en-US" sz="2000" b="0"/>
              <a:t>用 </a:t>
            </a:r>
            <a:r>
              <a:rPr lang="en-US" altLang="zh-CN" sz="2000" b="0"/>
              <a:t>typedef </a:t>
            </a:r>
            <a:r>
              <a:rPr lang="zh-CN" altLang="en-US" sz="2000" b="0"/>
              <a:t>除能在定义新类型时给类型命名外，</a:t>
            </a:r>
            <a:r>
              <a:rPr lang="zh-CN" altLang="en-US" sz="2000" b="0">
                <a:solidFill>
                  <a:srgbClr val="0066FF"/>
                </a:solidFill>
              </a:rPr>
              <a:t>也可以给已有类型命名一个别名</a:t>
            </a:r>
            <a:r>
              <a:rPr lang="zh-CN" altLang="en-US" sz="2000" b="0"/>
              <a:t>。如类型定义</a:t>
            </a:r>
          </a:p>
          <a:p>
            <a:pPr lvl="1" eaLnBrk="1" hangingPunct="1">
              <a:lnSpc>
                <a:spcPct val="150000"/>
              </a:lnSpc>
            </a:pPr>
            <a:r>
              <a:rPr lang="zh-CN" altLang="en-US" sz="1800" b="0"/>
              <a:t>    </a:t>
            </a:r>
            <a:r>
              <a:rPr lang="en-US" altLang="zh-CN" sz="1800" b="0"/>
              <a:t>typedef  int    INTEGER;</a:t>
            </a:r>
          </a:p>
          <a:p>
            <a:pPr lvl="1" eaLnBrk="1" hangingPunct="1">
              <a:lnSpc>
                <a:spcPct val="150000"/>
              </a:lnSpc>
            </a:pPr>
            <a:r>
              <a:rPr lang="en-US" altLang="zh-CN" sz="1800" b="0"/>
              <a:t>    typedef  float  REAL;</a:t>
            </a:r>
          </a:p>
          <a:p>
            <a:pPr lvl="1" eaLnBrk="1" hangingPunct="1">
              <a:lnSpc>
                <a:spcPct val="150000"/>
              </a:lnSpc>
            </a:pPr>
            <a:r>
              <a:rPr lang="zh-CN" altLang="en-US" sz="1800" b="0"/>
              <a:t>给类型 </a:t>
            </a:r>
            <a:r>
              <a:rPr lang="en-US" altLang="zh-CN" sz="1800" b="0"/>
              <a:t>int </a:t>
            </a:r>
            <a:r>
              <a:rPr lang="zh-CN" altLang="en-US" sz="1800" b="0"/>
              <a:t>指定别名 </a:t>
            </a:r>
            <a:r>
              <a:rPr lang="en-US" altLang="zh-CN" sz="1800" b="0"/>
              <a:t>INTEGER</a:t>
            </a:r>
            <a:r>
              <a:rPr lang="zh-CN" altLang="en-US" sz="1800" b="0"/>
              <a:t>，给类型 </a:t>
            </a:r>
            <a:r>
              <a:rPr lang="en-US" altLang="zh-CN" sz="1800" b="0"/>
              <a:t>float </a:t>
            </a:r>
            <a:r>
              <a:rPr lang="zh-CN" altLang="en-US" sz="1800" b="0"/>
              <a:t>指定别名 </a:t>
            </a:r>
            <a:r>
              <a:rPr lang="en-US" altLang="zh-CN" sz="1800" b="0"/>
              <a:t>REAL</a:t>
            </a:r>
            <a:r>
              <a:rPr lang="zh-CN" altLang="en-US" sz="1800" b="0"/>
              <a:t>。在能用 </a:t>
            </a:r>
            <a:r>
              <a:rPr lang="en-US" altLang="zh-CN" sz="1800" b="0"/>
              <a:t>int </a:t>
            </a:r>
            <a:r>
              <a:rPr lang="zh-CN" altLang="en-US" sz="1800" b="0"/>
              <a:t>的地方可用 </a:t>
            </a:r>
            <a:r>
              <a:rPr lang="en-US" altLang="zh-CN" sz="1800" b="0"/>
              <a:t>INTEGER</a:t>
            </a:r>
            <a:r>
              <a:rPr lang="zh-CN" altLang="en-US" sz="1800" b="0"/>
              <a:t>，能用 </a:t>
            </a:r>
            <a:r>
              <a:rPr lang="en-US" altLang="zh-CN" sz="1800" b="0"/>
              <a:t>float </a:t>
            </a:r>
            <a:r>
              <a:rPr lang="zh-CN" altLang="en-US" sz="1800" b="0"/>
              <a:t>的地方可用 </a:t>
            </a:r>
            <a:r>
              <a:rPr lang="en-US" altLang="zh-CN" sz="1800" b="0"/>
              <a:t>REAL </a:t>
            </a:r>
            <a:r>
              <a:rPr lang="zh-CN" altLang="en-US" sz="1800" b="0"/>
              <a:t>代替。</a:t>
            </a:r>
          </a:p>
          <a:p>
            <a:pPr eaLnBrk="1" hangingPunct="1">
              <a:lnSpc>
                <a:spcPct val="150000"/>
              </a:lnSpc>
            </a:pPr>
            <a:r>
              <a:rPr lang="zh-CN" altLang="en-US" sz="2000" b="0"/>
              <a:t>如以下变量定义</a:t>
            </a:r>
          </a:p>
          <a:p>
            <a:pPr lvl="1" eaLnBrk="1" hangingPunct="1">
              <a:lnSpc>
                <a:spcPct val="150000"/>
              </a:lnSpc>
            </a:pPr>
            <a:r>
              <a:rPr lang="zh-CN" altLang="en-US" sz="1800" b="0"/>
              <a:t>    </a:t>
            </a:r>
            <a:r>
              <a:rPr lang="en-US" altLang="zh-CN" sz="1800" b="0"/>
              <a:t>int    n, m;    float  x, y;</a:t>
            </a:r>
          </a:p>
          <a:p>
            <a:pPr lvl="1" eaLnBrk="1" hangingPunct="1">
              <a:lnSpc>
                <a:spcPct val="150000"/>
              </a:lnSpc>
            </a:pPr>
            <a:r>
              <a:rPr lang="zh-CN" altLang="en-US" sz="1800" b="0"/>
              <a:t>可等价地用以下变量定义代替：</a:t>
            </a:r>
          </a:p>
          <a:p>
            <a:pPr lvl="1" eaLnBrk="1" hangingPunct="1">
              <a:lnSpc>
                <a:spcPct val="150000"/>
              </a:lnSpc>
            </a:pPr>
            <a:r>
              <a:rPr lang="zh-CN" altLang="en-US" sz="1800" b="0"/>
              <a:t>     </a:t>
            </a:r>
            <a:r>
              <a:rPr lang="en-US" altLang="zh-CN" sz="1800" b="0"/>
              <a:t>INTEGER  n, m;     REAL     x, y;</a:t>
            </a:r>
          </a:p>
        </p:txBody>
      </p:sp>
    </p:spTree>
    <p:extLst>
      <p:ext uri="{BB962C8B-B14F-4D97-AF65-F5344CB8AC3E}">
        <p14:creationId xmlns:p14="http://schemas.microsoft.com/office/powerpoint/2010/main" val="19436678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a:extLst>
              <a:ext uri="{FF2B5EF4-FFF2-40B4-BE49-F238E27FC236}">
                <a16:creationId xmlns:a16="http://schemas.microsoft.com/office/drawing/2014/main" id="{35C70A28-570D-9881-DF42-62DF9DE63F22}"/>
              </a:ext>
            </a:extLst>
          </p:cNvPr>
          <p:cNvSpPr>
            <a:spLocks noGrp="1" noChangeArrowheads="1"/>
          </p:cNvSpPr>
          <p:nvPr>
            <p:ph type="title"/>
          </p:nvPr>
        </p:nvSpPr>
        <p:spPr/>
        <p:txBody>
          <a:bodyPr/>
          <a:lstStyle/>
          <a:p>
            <a:pPr eaLnBrk="1" hangingPunct="1"/>
            <a:r>
              <a:rPr lang="zh-CN" altLang="en-US"/>
              <a:t>给已有类型定义别名</a:t>
            </a:r>
            <a:r>
              <a:rPr lang="en-US" altLang="zh-CN"/>
              <a:t>(</a:t>
            </a:r>
            <a:r>
              <a:rPr lang="zh-CN" altLang="en-US"/>
              <a:t>续</a:t>
            </a:r>
            <a:r>
              <a:rPr lang="en-US" altLang="zh-CN"/>
              <a:t>)</a:t>
            </a:r>
          </a:p>
        </p:txBody>
      </p:sp>
      <p:sp>
        <p:nvSpPr>
          <p:cNvPr id="194563" name="Rectangle 3">
            <a:extLst>
              <a:ext uri="{FF2B5EF4-FFF2-40B4-BE49-F238E27FC236}">
                <a16:creationId xmlns:a16="http://schemas.microsoft.com/office/drawing/2014/main" id="{5A734501-6676-044C-A068-9597A7433661}"/>
              </a:ext>
            </a:extLst>
          </p:cNvPr>
          <p:cNvSpPr>
            <a:spLocks noGrp="1" noChangeArrowheads="1"/>
          </p:cNvSpPr>
          <p:nvPr>
            <p:ph type="body" idx="1"/>
          </p:nvPr>
        </p:nvSpPr>
        <p:spPr>
          <a:xfrm>
            <a:off x="827088" y="1772815"/>
            <a:ext cx="7793037" cy="4359697"/>
          </a:xfrm>
        </p:spPr>
        <p:txBody>
          <a:bodyPr/>
          <a:lstStyle/>
          <a:p>
            <a:pPr eaLnBrk="1" hangingPunct="1">
              <a:lnSpc>
                <a:spcPct val="150000"/>
              </a:lnSpc>
            </a:pPr>
            <a:r>
              <a:rPr lang="zh-CN" altLang="en-US" sz="2000" b="0"/>
              <a:t>为已有类型定义别名是为了让程序员能使用更习惯的类型名。</a:t>
            </a:r>
            <a:r>
              <a:rPr lang="zh-CN" altLang="en-US" sz="2000" b="0">
                <a:solidFill>
                  <a:srgbClr val="0066FF"/>
                </a:solidFill>
              </a:rPr>
              <a:t>也有为类型定义别名，使类型名更能迎合该类型的意义。</a:t>
            </a:r>
            <a:endParaRPr lang="en-US" altLang="zh-CN" sz="2000" b="0">
              <a:solidFill>
                <a:srgbClr val="0066FF"/>
              </a:solidFill>
            </a:endParaRPr>
          </a:p>
          <a:p>
            <a:pPr eaLnBrk="1" hangingPunct="1">
              <a:lnSpc>
                <a:spcPct val="150000"/>
              </a:lnSpc>
            </a:pPr>
            <a:r>
              <a:rPr lang="zh-CN" altLang="en-US" sz="2000" b="0"/>
              <a:t>如程序中变量 </a:t>
            </a:r>
            <a:r>
              <a:rPr lang="en-US" altLang="zh-CN" sz="2000" b="0"/>
              <a:t>counter </a:t>
            </a:r>
            <a:r>
              <a:rPr lang="zh-CN" altLang="en-US" sz="2000" b="0"/>
              <a:t>用作计数，通过以下类型和变量定义，可能会更能反映变量 </a:t>
            </a:r>
            <a:r>
              <a:rPr lang="en-US" altLang="zh-CN" sz="2000" b="0"/>
              <a:t>counter </a:t>
            </a:r>
            <a:r>
              <a:rPr lang="zh-CN" altLang="en-US" sz="2000" b="0"/>
              <a:t>的意义。</a:t>
            </a:r>
          </a:p>
          <a:p>
            <a:pPr lvl="1" eaLnBrk="1" hangingPunct="1">
              <a:lnSpc>
                <a:spcPct val="150000"/>
              </a:lnSpc>
            </a:pPr>
            <a:r>
              <a:rPr lang="zh-CN" altLang="en-US" sz="1800" b="0"/>
              <a:t>    </a:t>
            </a:r>
            <a:r>
              <a:rPr lang="en-US" altLang="zh-CN" sz="1800" b="0"/>
              <a:t>typedef  int  </a:t>
            </a:r>
            <a:r>
              <a:rPr lang="en-US" altLang="zh-CN" sz="1800" b="0">
                <a:solidFill>
                  <a:srgbClr val="0066FF"/>
                </a:solidFill>
              </a:rPr>
              <a:t>COUNT</a:t>
            </a:r>
            <a:r>
              <a:rPr lang="en-US" altLang="zh-CN" sz="1800" b="0"/>
              <a:t>;</a:t>
            </a:r>
          </a:p>
          <a:p>
            <a:pPr lvl="1" eaLnBrk="1" hangingPunct="1">
              <a:lnSpc>
                <a:spcPct val="150000"/>
              </a:lnSpc>
            </a:pPr>
            <a:r>
              <a:rPr lang="en-US" altLang="zh-CN" sz="1800" b="0"/>
              <a:t>    COUNT    counter;</a:t>
            </a:r>
          </a:p>
        </p:txBody>
      </p:sp>
    </p:spTree>
    <p:extLst>
      <p:ext uri="{BB962C8B-B14F-4D97-AF65-F5344CB8AC3E}">
        <p14:creationId xmlns:p14="http://schemas.microsoft.com/office/powerpoint/2010/main" val="41258179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AEA37-741B-6082-5222-096E3EFBE5DE}"/>
            </a:ext>
          </a:extLst>
        </p:cNvPr>
        <p:cNvGrpSpPr/>
        <p:nvPr/>
      </p:nvGrpSpPr>
      <p:grpSpPr>
        <a:xfrm>
          <a:off x="0" y="0"/>
          <a:ext cx="0" cy="0"/>
          <a:chOff x="0" y="0"/>
          <a:chExt cx="0" cy="0"/>
        </a:xfrm>
      </p:grpSpPr>
      <p:sp>
        <p:nvSpPr>
          <p:cNvPr id="194562" name="Rectangle 2">
            <a:extLst>
              <a:ext uri="{FF2B5EF4-FFF2-40B4-BE49-F238E27FC236}">
                <a16:creationId xmlns:a16="http://schemas.microsoft.com/office/drawing/2014/main" id="{001191A7-9DE4-2983-4FB3-AA33A13B1172}"/>
              </a:ext>
            </a:extLst>
          </p:cNvPr>
          <p:cNvSpPr>
            <a:spLocks noGrp="1" noChangeArrowheads="1"/>
          </p:cNvSpPr>
          <p:nvPr>
            <p:ph type="title"/>
          </p:nvPr>
        </p:nvSpPr>
        <p:spPr/>
        <p:txBody>
          <a:bodyPr/>
          <a:lstStyle/>
          <a:p>
            <a:pPr eaLnBrk="1" hangingPunct="1"/>
            <a:r>
              <a:rPr lang="zh-CN" altLang="en-US"/>
              <a:t>给已有类型定义别名</a:t>
            </a:r>
            <a:r>
              <a:rPr lang="en-US" altLang="zh-CN"/>
              <a:t>(</a:t>
            </a:r>
            <a:r>
              <a:rPr lang="zh-CN" altLang="en-US"/>
              <a:t>续</a:t>
            </a:r>
            <a:r>
              <a:rPr lang="en-US" altLang="zh-CN"/>
              <a:t>)</a:t>
            </a:r>
          </a:p>
        </p:txBody>
      </p:sp>
      <p:sp>
        <p:nvSpPr>
          <p:cNvPr id="194563" name="Rectangle 3">
            <a:extLst>
              <a:ext uri="{FF2B5EF4-FFF2-40B4-BE49-F238E27FC236}">
                <a16:creationId xmlns:a16="http://schemas.microsoft.com/office/drawing/2014/main" id="{5B831F45-D3AD-A4B1-C25E-AAD69973FCFE}"/>
              </a:ext>
            </a:extLst>
          </p:cNvPr>
          <p:cNvSpPr>
            <a:spLocks noGrp="1" noChangeArrowheads="1"/>
          </p:cNvSpPr>
          <p:nvPr>
            <p:ph type="body" idx="1"/>
          </p:nvPr>
        </p:nvSpPr>
        <p:spPr>
          <a:xfrm>
            <a:off x="827088" y="1772815"/>
            <a:ext cx="7793037" cy="4359697"/>
          </a:xfrm>
        </p:spPr>
        <p:txBody>
          <a:bodyPr/>
          <a:lstStyle/>
          <a:p>
            <a:pPr eaLnBrk="1" hangingPunct="1">
              <a:lnSpc>
                <a:spcPct val="150000"/>
              </a:lnSpc>
            </a:pPr>
            <a:r>
              <a:rPr lang="zh-CN" altLang="en-US" sz="2000" b="0">
                <a:solidFill>
                  <a:srgbClr val="0066FF"/>
                </a:solidFill>
              </a:rPr>
              <a:t>给类型定义别名也能提高程序的可移植性。</a:t>
            </a:r>
          </a:p>
          <a:p>
            <a:pPr lvl="1" eaLnBrk="1" hangingPunct="1">
              <a:lnSpc>
                <a:spcPct val="150000"/>
              </a:lnSpc>
            </a:pPr>
            <a:r>
              <a:rPr lang="zh-CN" altLang="en-US" sz="1800" b="0"/>
              <a:t>如</a:t>
            </a:r>
            <a:r>
              <a:rPr lang="en-US" altLang="zh-CN" sz="1800" b="0"/>
              <a:t>A</a:t>
            </a:r>
            <a:r>
              <a:rPr lang="zh-CN" altLang="en-US" sz="1800" b="0"/>
              <a:t>计算机系统中，</a:t>
            </a:r>
            <a:r>
              <a:rPr lang="en-US" altLang="zh-CN" sz="1800" b="0"/>
              <a:t>int</a:t>
            </a:r>
            <a:r>
              <a:rPr lang="zh-CN" altLang="en-US" sz="1800" b="0"/>
              <a:t>型数据用</a:t>
            </a:r>
            <a:r>
              <a:rPr lang="en-US" altLang="zh-CN" sz="1800" b="0"/>
              <a:t>2</a:t>
            </a:r>
            <a:r>
              <a:rPr lang="zh-CN" altLang="en-US" sz="1800" b="0"/>
              <a:t>个字节，</a:t>
            </a:r>
            <a:r>
              <a:rPr lang="en-US" altLang="zh-CN" sz="1800" b="0"/>
              <a:t>long</a:t>
            </a:r>
            <a:r>
              <a:rPr lang="zh-CN" altLang="en-US" sz="1800" b="0"/>
              <a:t>型数据用</a:t>
            </a:r>
            <a:r>
              <a:rPr lang="en-US" altLang="zh-CN" sz="1800" b="0"/>
              <a:t>4</a:t>
            </a:r>
            <a:r>
              <a:rPr lang="zh-CN" altLang="en-US" sz="1800" b="0"/>
              <a:t>字节。</a:t>
            </a:r>
            <a:r>
              <a:rPr lang="en-US" altLang="zh-CN" sz="1800" b="0"/>
              <a:t>B</a:t>
            </a:r>
            <a:r>
              <a:rPr lang="zh-CN" altLang="en-US" sz="1800" b="0"/>
              <a:t>计算机系统中，</a:t>
            </a:r>
            <a:r>
              <a:rPr lang="en-US" altLang="zh-CN" sz="1800" b="0"/>
              <a:t>int</a:t>
            </a:r>
            <a:r>
              <a:rPr lang="zh-CN" altLang="en-US" sz="1800" b="0"/>
              <a:t>和</a:t>
            </a:r>
            <a:r>
              <a:rPr lang="en-US" altLang="zh-CN" sz="1800" b="0"/>
              <a:t>long</a:t>
            </a:r>
            <a:r>
              <a:rPr lang="zh-CN" altLang="en-US" sz="1800" b="0"/>
              <a:t>型数据都用</a:t>
            </a:r>
            <a:r>
              <a:rPr lang="en-US" altLang="zh-CN" sz="1800" b="0"/>
              <a:t>4</a:t>
            </a:r>
            <a:r>
              <a:rPr lang="zh-CN" altLang="en-US" sz="1800" b="0"/>
              <a:t>个字节。若将</a:t>
            </a:r>
            <a:r>
              <a:rPr lang="en-US" altLang="zh-CN" sz="1800" b="0"/>
              <a:t>B</a:t>
            </a:r>
            <a:r>
              <a:rPr lang="zh-CN" altLang="en-US" sz="1800" b="0"/>
              <a:t>系统上的Ｃ程序正确移植到</a:t>
            </a:r>
            <a:r>
              <a:rPr lang="en-US" altLang="zh-CN" sz="1800" b="0"/>
              <a:t>A</a:t>
            </a:r>
            <a:r>
              <a:rPr lang="zh-CN" altLang="en-US" sz="1800" b="0"/>
              <a:t>系统上，需要将程序中所有</a:t>
            </a:r>
            <a:r>
              <a:rPr lang="en-US" altLang="zh-CN" sz="1800" b="0"/>
              <a:t>int</a:t>
            </a:r>
            <a:r>
              <a:rPr lang="zh-CN" altLang="en-US" sz="1800" b="0"/>
              <a:t>改为</a:t>
            </a:r>
            <a:r>
              <a:rPr lang="en-US" altLang="zh-CN" sz="1800" b="0"/>
              <a:t>long</a:t>
            </a:r>
            <a:r>
              <a:rPr lang="zh-CN" altLang="en-US" sz="1800" b="0"/>
              <a:t>。</a:t>
            </a:r>
          </a:p>
          <a:p>
            <a:pPr eaLnBrk="1" hangingPunct="1">
              <a:lnSpc>
                <a:spcPct val="150000"/>
              </a:lnSpc>
            </a:pPr>
            <a:r>
              <a:rPr lang="zh-CN" altLang="en-US" sz="2000" b="0"/>
              <a:t>若原来的Ｃ程序有类型定义</a:t>
            </a:r>
          </a:p>
          <a:p>
            <a:pPr lvl="1" eaLnBrk="1" hangingPunct="1">
              <a:lnSpc>
                <a:spcPct val="150000"/>
              </a:lnSpc>
            </a:pPr>
            <a:r>
              <a:rPr lang="zh-CN" altLang="en-US" sz="1800" b="0"/>
              <a:t>    </a:t>
            </a:r>
            <a:r>
              <a:rPr lang="en-US" altLang="zh-CN" sz="1800" b="0"/>
              <a:t>typedef  int  INTEGER;</a:t>
            </a:r>
          </a:p>
          <a:p>
            <a:pPr lvl="1" eaLnBrk="1" hangingPunct="1">
              <a:lnSpc>
                <a:spcPct val="150000"/>
              </a:lnSpc>
            </a:pPr>
            <a:r>
              <a:rPr lang="zh-CN" altLang="en-US" sz="1800" b="0"/>
              <a:t>且程序中都用</a:t>
            </a:r>
            <a:r>
              <a:rPr lang="en-US" altLang="zh-CN" sz="1800" b="0"/>
              <a:t>INTEGER </a:t>
            </a:r>
            <a:r>
              <a:rPr lang="zh-CN" altLang="en-US" sz="1800" b="0"/>
              <a:t>定义整型变量，而没有用</a:t>
            </a:r>
            <a:r>
              <a:rPr lang="en-US" altLang="zh-CN" sz="1800" b="0"/>
              <a:t>int</a:t>
            </a:r>
            <a:r>
              <a:rPr lang="zh-CN" altLang="en-US" sz="1800" b="0"/>
              <a:t>。</a:t>
            </a:r>
            <a:r>
              <a:rPr lang="zh-CN" altLang="en-US" sz="1800" b="0" u="sng">
                <a:solidFill>
                  <a:srgbClr val="0070C0"/>
                </a:solidFill>
              </a:rPr>
              <a:t>则移植时只需修改关于类型 </a:t>
            </a:r>
            <a:r>
              <a:rPr lang="en-US" altLang="zh-CN" sz="1800" b="0" u="sng">
                <a:solidFill>
                  <a:srgbClr val="0070C0"/>
                </a:solidFill>
              </a:rPr>
              <a:t>INTEGER </a:t>
            </a:r>
            <a:r>
              <a:rPr lang="zh-CN" altLang="en-US" sz="1800" b="0" u="sng">
                <a:solidFill>
                  <a:srgbClr val="0070C0"/>
                </a:solidFill>
              </a:rPr>
              <a:t>的定义</a:t>
            </a:r>
            <a:r>
              <a:rPr lang="zh-CN" altLang="en-US" sz="1800" b="0"/>
              <a:t>，如改为</a:t>
            </a:r>
          </a:p>
          <a:p>
            <a:pPr lvl="1" eaLnBrk="1" hangingPunct="1">
              <a:lnSpc>
                <a:spcPct val="150000"/>
              </a:lnSpc>
            </a:pPr>
            <a:r>
              <a:rPr lang="zh-CN" altLang="en-US" sz="1800" b="0"/>
              <a:t>    </a:t>
            </a:r>
            <a:r>
              <a:rPr lang="en-US" altLang="zh-CN" sz="1800" b="0"/>
              <a:t>typedef  long  INTEGER;</a:t>
            </a:r>
          </a:p>
        </p:txBody>
      </p:sp>
    </p:spTree>
    <p:extLst>
      <p:ext uri="{BB962C8B-B14F-4D97-AF65-F5344CB8AC3E}">
        <p14:creationId xmlns:p14="http://schemas.microsoft.com/office/powerpoint/2010/main" val="16602326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B0AEF359-CE3B-0D2E-B8D7-D6325683EDF4}"/>
              </a:ext>
            </a:extLst>
          </p:cNvPr>
          <p:cNvSpPr>
            <a:spLocks noGrp="1" noChangeArrowheads="1"/>
          </p:cNvSpPr>
          <p:nvPr>
            <p:ph type="title"/>
          </p:nvPr>
        </p:nvSpPr>
        <p:spPr/>
        <p:txBody>
          <a:bodyPr/>
          <a:lstStyle/>
          <a:p>
            <a:pPr eaLnBrk="1" hangingPunct="1"/>
            <a:r>
              <a:rPr lang="zh-CN" altLang="en-US"/>
              <a:t>使用类型定义</a:t>
            </a:r>
          </a:p>
        </p:txBody>
      </p:sp>
      <p:sp>
        <p:nvSpPr>
          <p:cNvPr id="195587" name="Rectangle 3">
            <a:extLst>
              <a:ext uri="{FF2B5EF4-FFF2-40B4-BE49-F238E27FC236}">
                <a16:creationId xmlns:a16="http://schemas.microsoft.com/office/drawing/2014/main" id="{AB9DE04A-E18B-D4EA-CA0B-B5ABB36E4754}"/>
              </a:ext>
            </a:extLst>
          </p:cNvPr>
          <p:cNvSpPr>
            <a:spLocks noGrp="1" noChangeArrowheads="1"/>
          </p:cNvSpPr>
          <p:nvPr>
            <p:ph type="body" idx="1"/>
          </p:nvPr>
        </p:nvSpPr>
        <p:spPr>
          <a:xfrm>
            <a:off x="827088" y="1844823"/>
            <a:ext cx="7866062" cy="4287689"/>
          </a:xfrm>
        </p:spPr>
        <p:txBody>
          <a:bodyPr/>
          <a:lstStyle/>
          <a:p>
            <a:pPr eaLnBrk="1" hangingPunct="1">
              <a:lnSpc>
                <a:spcPct val="150000"/>
              </a:lnSpc>
            </a:pPr>
            <a:r>
              <a:rPr lang="zh-CN" altLang="en-US" sz="2400" b="0"/>
              <a:t>通常，</a:t>
            </a:r>
            <a:r>
              <a:rPr lang="zh-CN" altLang="en-US" sz="2400" b="0" u="sng"/>
              <a:t>在组织复杂的程序时</a:t>
            </a:r>
            <a:r>
              <a:rPr lang="zh-CN" altLang="en-US" sz="2400" b="0"/>
              <a:t>，不同源程序文件中用到的同一数据类型，如数组，结构，联合，指针等，</a:t>
            </a:r>
            <a:r>
              <a:rPr lang="zh-CN" altLang="en-US" sz="2400" b="0">
                <a:solidFill>
                  <a:srgbClr val="0066FF"/>
                </a:solidFill>
              </a:rPr>
              <a:t>常用</a:t>
            </a:r>
            <a:r>
              <a:rPr lang="en-US" altLang="zh-CN" sz="2400" b="0">
                <a:solidFill>
                  <a:srgbClr val="0066FF"/>
                </a:solidFill>
              </a:rPr>
              <a:t>typedef</a:t>
            </a:r>
            <a:r>
              <a:rPr lang="zh-CN" altLang="en-US" sz="2400" b="0">
                <a:solidFill>
                  <a:srgbClr val="0066FF"/>
                </a:solidFill>
              </a:rPr>
              <a:t>定义给有关数据类型命名，并将这些类型定义单独放在一个头文件中</a:t>
            </a:r>
            <a:r>
              <a:rPr lang="zh-CN" altLang="en-US" sz="2400" b="0"/>
              <a:t>，凡要用到它们的源文件，就用</a:t>
            </a:r>
            <a:r>
              <a:rPr lang="en-US" altLang="zh-CN" sz="2400" b="0"/>
              <a:t>#include</a:t>
            </a:r>
            <a:r>
              <a:rPr lang="zh-CN" altLang="en-US" sz="2400" b="0"/>
              <a:t>预处理命令将它包含进来。</a:t>
            </a:r>
          </a:p>
          <a:p>
            <a:pPr eaLnBrk="1" hangingPunct="1">
              <a:lnSpc>
                <a:spcPct val="150000"/>
              </a:lnSpc>
            </a:pPr>
            <a:r>
              <a:rPr lang="zh-CN" altLang="en-US" sz="2400" b="0"/>
              <a:t>Ｃ语言提供的</a:t>
            </a:r>
            <a:r>
              <a:rPr lang="en-US" altLang="zh-CN" sz="2400" b="0"/>
              <a:t>typedef</a:t>
            </a:r>
            <a:r>
              <a:rPr lang="zh-CN" altLang="en-US" sz="2400" b="0"/>
              <a:t>类型定义</a:t>
            </a:r>
            <a:r>
              <a:rPr lang="zh-CN" altLang="en-US" sz="2400" b="0">
                <a:solidFill>
                  <a:srgbClr val="0066FF"/>
                </a:solidFill>
              </a:rPr>
              <a:t>更重要的应用是为了清晰构造各种复杂的数据结构</a:t>
            </a:r>
            <a:r>
              <a:rPr lang="zh-CN" altLang="en-US" sz="2400" b="0"/>
              <a:t>。</a:t>
            </a:r>
          </a:p>
        </p:txBody>
      </p:sp>
    </p:spTree>
    <p:extLst>
      <p:ext uri="{BB962C8B-B14F-4D97-AF65-F5344CB8AC3E}">
        <p14:creationId xmlns:p14="http://schemas.microsoft.com/office/powerpoint/2010/main" val="30080288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DB2C1A21-8833-E0E1-C4C4-D4B9997E32FA}"/>
              </a:ext>
            </a:extLst>
          </p:cNvPr>
          <p:cNvSpPr>
            <a:spLocks noGrp="1" noChangeArrowheads="1"/>
          </p:cNvSpPr>
          <p:nvPr>
            <p:ph type="title"/>
          </p:nvPr>
        </p:nvSpPr>
        <p:spPr/>
        <p:txBody>
          <a:bodyPr/>
          <a:lstStyle/>
          <a:p>
            <a:pPr eaLnBrk="1" hangingPunct="1"/>
            <a:r>
              <a:rPr lang="zh-CN" altLang="en-US" sz="3600"/>
              <a:t>使用类型定义构造复杂的数据结构</a:t>
            </a:r>
          </a:p>
        </p:txBody>
      </p:sp>
      <p:sp>
        <p:nvSpPr>
          <p:cNvPr id="196611" name="Rectangle 3">
            <a:extLst>
              <a:ext uri="{FF2B5EF4-FFF2-40B4-BE49-F238E27FC236}">
                <a16:creationId xmlns:a16="http://schemas.microsoft.com/office/drawing/2014/main" id="{E2426F2C-98CE-034C-F77F-7CAD5B47DF0F}"/>
              </a:ext>
            </a:extLst>
          </p:cNvPr>
          <p:cNvSpPr>
            <a:spLocks noGrp="1" noChangeArrowheads="1"/>
          </p:cNvSpPr>
          <p:nvPr>
            <p:ph type="body" idx="1"/>
          </p:nvPr>
        </p:nvSpPr>
        <p:spPr>
          <a:xfrm>
            <a:off x="827088" y="1844823"/>
            <a:ext cx="7866062" cy="4287689"/>
          </a:xfrm>
        </p:spPr>
        <p:txBody>
          <a:bodyPr/>
          <a:lstStyle/>
          <a:p>
            <a:pPr eaLnBrk="1" hangingPunct="1">
              <a:lnSpc>
                <a:spcPct val="150000"/>
              </a:lnSpc>
            </a:pPr>
            <a:r>
              <a:rPr lang="zh-CN" altLang="en-US" sz="2000" b="0"/>
              <a:t>Ｃ语言提供了丰富的数据结构构造机制，并利用指针，通过反复应用这些构造手段，能构造各种复杂的数据结构，这确实为程序设计带来了很大方便。但是</a:t>
            </a:r>
            <a:r>
              <a:rPr lang="zh-CN" altLang="en-US" sz="2000" b="0">
                <a:solidFill>
                  <a:srgbClr val="C00000"/>
                </a:solidFill>
              </a:rPr>
              <a:t>在程序中如何清晰明了地定义复杂结构也是程序员在实际编程时应注意的问题</a:t>
            </a:r>
            <a:r>
              <a:rPr lang="zh-CN" altLang="en-US" sz="2000" b="0"/>
              <a:t>。</a:t>
            </a:r>
            <a:endParaRPr lang="en-US" altLang="zh-CN" sz="2000" b="0"/>
          </a:p>
          <a:p>
            <a:pPr eaLnBrk="1" hangingPunct="1">
              <a:lnSpc>
                <a:spcPct val="150000"/>
              </a:lnSpc>
            </a:pPr>
            <a:r>
              <a:rPr lang="zh-CN" altLang="en-US" sz="2000" b="0"/>
              <a:t>比如，程序中变量</a:t>
            </a:r>
            <a:r>
              <a:rPr lang="en-US" altLang="zh-CN" sz="2000" b="0"/>
              <a:t>apt</a:t>
            </a:r>
            <a:r>
              <a:rPr lang="zh-CN" altLang="en-US" sz="2000" b="0"/>
              <a:t>被定义为</a:t>
            </a:r>
          </a:p>
          <a:p>
            <a:pPr lvl="1" eaLnBrk="1" hangingPunct="1">
              <a:lnSpc>
                <a:spcPct val="150000"/>
              </a:lnSpc>
            </a:pPr>
            <a:r>
              <a:rPr lang="zh-CN" altLang="en-US" sz="1800" b="0"/>
              <a:t>     </a:t>
            </a:r>
            <a:r>
              <a:rPr lang="en-US" altLang="zh-CN" sz="1800" b="0"/>
              <a:t>char  (*(*(* apt)[5])())[6];</a:t>
            </a:r>
          </a:p>
          <a:p>
            <a:pPr eaLnBrk="1" hangingPunct="1">
              <a:lnSpc>
                <a:spcPct val="150000"/>
              </a:lnSpc>
            </a:pPr>
            <a:r>
              <a:rPr lang="zh-CN" altLang="en-US" sz="2000" b="0"/>
              <a:t>它表示 </a:t>
            </a:r>
            <a:r>
              <a:rPr lang="en-US" altLang="zh-CN" sz="2000" b="0"/>
              <a:t>apt </a:t>
            </a:r>
            <a:r>
              <a:rPr lang="zh-CN" altLang="en-US" sz="2000" b="0"/>
              <a:t>是一个指向指针数组的指针，其中指针数组有</a:t>
            </a:r>
            <a:r>
              <a:rPr lang="en-US" altLang="zh-CN" sz="2000" b="0"/>
              <a:t>5</a:t>
            </a:r>
            <a:r>
              <a:rPr lang="zh-CN" altLang="en-US" sz="2000" b="0"/>
              <a:t>个元素、元素是指向函数的指针，而它能指向的函数返回值类型是一种指针类型，指向有</a:t>
            </a:r>
            <a:r>
              <a:rPr lang="en-US" altLang="zh-CN" sz="2000" b="0"/>
              <a:t>6</a:t>
            </a:r>
            <a:r>
              <a:rPr lang="zh-CN" altLang="en-US" sz="2000" b="0"/>
              <a:t>个元素的字符数组。</a:t>
            </a:r>
          </a:p>
        </p:txBody>
      </p:sp>
    </p:spTree>
    <p:extLst>
      <p:ext uri="{BB962C8B-B14F-4D97-AF65-F5344CB8AC3E}">
        <p14:creationId xmlns:p14="http://schemas.microsoft.com/office/powerpoint/2010/main" val="5953816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80CEECA4-7940-47D7-5BAF-E278E5D8311D}"/>
              </a:ext>
            </a:extLst>
          </p:cNvPr>
          <p:cNvSpPr>
            <a:spLocks noGrp="1" noChangeArrowheads="1"/>
          </p:cNvSpPr>
          <p:nvPr>
            <p:ph type="title"/>
          </p:nvPr>
        </p:nvSpPr>
        <p:spPr/>
        <p:txBody>
          <a:bodyPr/>
          <a:lstStyle/>
          <a:p>
            <a:pPr eaLnBrk="1" hangingPunct="1"/>
            <a:r>
              <a:rPr lang="zh-CN" altLang="en-US" sz="4000"/>
              <a:t>利用已定义的类型，定义新类型</a:t>
            </a:r>
          </a:p>
        </p:txBody>
      </p:sp>
      <p:sp>
        <p:nvSpPr>
          <p:cNvPr id="197635" name="Rectangle 3">
            <a:extLst>
              <a:ext uri="{FF2B5EF4-FFF2-40B4-BE49-F238E27FC236}">
                <a16:creationId xmlns:a16="http://schemas.microsoft.com/office/drawing/2014/main" id="{3C3FDA47-5940-D820-F7A4-327834914047}"/>
              </a:ext>
            </a:extLst>
          </p:cNvPr>
          <p:cNvSpPr>
            <a:spLocks noGrp="1" noChangeArrowheads="1"/>
          </p:cNvSpPr>
          <p:nvPr>
            <p:ph type="body" idx="1"/>
          </p:nvPr>
        </p:nvSpPr>
        <p:spPr>
          <a:xfrm>
            <a:off x="827088" y="1772815"/>
            <a:ext cx="7793037" cy="4359697"/>
          </a:xfrm>
        </p:spPr>
        <p:txBody>
          <a:bodyPr/>
          <a:lstStyle/>
          <a:p>
            <a:pPr marL="533400" indent="-533400" eaLnBrk="1" hangingPunct="1"/>
            <a:r>
              <a:rPr lang="zh-CN" altLang="en-US" sz="2400" b="0"/>
              <a:t>这种通过</a:t>
            </a:r>
            <a:r>
              <a:rPr lang="zh-CN" altLang="en-US" sz="2400"/>
              <a:t>反复构造</a:t>
            </a:r>
            <a:r>
              <a:rPr lang="zh-CN" altLang="en-US" sz="2400" b="0"/>
              <a:t>构成的类型</a:t>
            </a:r>
            <a:r>
              <a:rPr lang="zh-CN" altLang="en-US" sz="2400" b="0">
                <a:solidFill>
                  <a:srgbClr val="C00000"/>
                </a:solidFill>
              </a:rPr>
              <a:t>比较难于直观理解</a:t>
            </a:r>
            <a:r>
              <a:rPr lang="zh-CN" altLang="en-US" sz="2400" b="0"/>
              <a:t>，若用类型定义，</a:t>
            </a:r>
            <a:r>
              <a:rPr lang="zh-CN" altLang="en-US" sz="2400" b="0">
                <a:solidFill>
                  <a:srgbClr val="0066FF"/>
                </a:solidFill>
              </a:rPr>
              <a:t>由已定义的类型定义新类型</a:t>
            </a:r>
            <a:r>
              <a:rPr lang="zh-CN" altLang="en-US" sz="2400" b="0"/>
              <a:t>，通过逐步定义就会比较好理解。如对上述定义可写成以下一系列的类型定义：</a:t>
            </a:r>
          </a:p>
          <a:p>
            <a:pPr marL="914400" lvl="1" indent="-457200" eaLnBrk="1" hangingPunct="1">
              <a:buFont typeface="Wingdings" pitchFamily="2" charset="2"/>
              <a:buAutoNum type="arabicPeriod"/>
            </a:pPr>
            <a:r>
              <a:rPr lang="en-US" altLang="zh-CN" sz="2000" b="0"/>
              <a:t>typedef char CHA[6];</a:t>
            </a:r>
            <a:r>
              <a:rPr lang="en-US" altLang="zh-CN" sz="2000" b="0">
                <a:solidFill>
                  <a:schemeClr val="folHlink"/>
                </a:solidFill>
              </a:rPr>
              <a:t>//</a:t>
            </a:r>
            <a:r>
              <a:rPr lang="zh-CN" altLang="en-US" sz="2000" b="0">
                <a:solidFill>
                  <a:schemeClr val="folHlink"/>
                </a:solidFill>
              </a:rPr>
              <a:t>有</a:t>
            </a:r>
            <a:r>
              <a:rPr lang="en-US" altLang="zh-CN" sz="2000" b="0">
                <a:solidFill>
                  <a:schemeClr val="folHlink"/>
                </a:solidFill>
              </a:rPr>
              <a:t>6</a:t>
            </a:r>
            <a:r>
              <a:rPr lang="zh-CN" altLang="en-US" sz="2000" b="0">
                <a:solidFill>
                  <a:schemeClr val="folHlink"/>
                </a:solidFill>
              </a:rPr>
              <a:t>个元素的字符数组类型</a:t>
            </a:r>
          </a:p>
          <a:p>
            <a:pPr marL="914400" lvl="1" indent="-457200" eaLnBrk="1" hangingPunct="1">
              <a:buFont typeface="Wingdings" pitchFamily="2" charset="2"/>
              <a:buAutoNum type="arabicPeriod"/>
            </a:pPr>
            <a:r>
              <a:rPr lang="en-US" altLang="zh-CN" sz="2000" b="0"/>
              <a:t>typedef CHA *CHAP; </a:t>
            </a:r>
            <a:r>
              <a:rPr lang="en-US" altLang="zh-CN" sz="2000" b="0">
                <a:solidFill>
                  <a:schemeClr val="folHlink"/>
                </a:solidFill>
              </a:rPr>
              <a:t>//</a:t>
            </a:r>
            <a:r>
              <a:rPr lang="zh-CN" altLang="en-US" sz="2000" b="0">
                <a:solidFill>
                  <a:schemeClr val="folHlink"/>
                </a:solidFill>
              </a:rPr>
              <a:t>指向</a:t>
            </a:r>
            <a:r>
              <a:rPr lang="en-US" altLang="zh-CN" sz="2000" b="0">
                <a:solidFill>
                  <a:schemeClr val="folHlink"/>
                </a:solidFill>
              </a:rPr>
              <a:t>CHA</a:t>
            </a:r>
            <a:r>
              <a:rPr lang="zh-CN" altLang="en-US" sz="2000" b="0">
                <a:solidFill>
                  <a:schemeClr val="folHlink"/>
                </a:solidFill>
              </a:rPr>
              <a:t>的指针类型</a:t>
            </a:r>
          </a:p>
          <a:p>
            <a:pPr marL="914400" lvl="1" indent="-457200" eaLnBrk="1" hangingPunct="1">
              <a:buFont typeface="Wingdings" pitchFamily="2" charset="2"/>
              <a:buAutoNum type="arabicPeriod"/>
            </a:pPr>
            <a:r>
              <a:rPr lang="en-US" altLang="zh-CN" sz="2000" b="0"/>
              <a:t>typedef CHAP CHAPF();</a:t>
            </a:r>
            <a:r>
              <a:rPr lang="en-US" altLang="zh-CN" sz="2000" b="0">
                <a:solidFill>
                  <a:schemeClr val="folHlink"/>
                </a:solidFill>
              </a:rPr>
              <a:t>//</a:t>
            </a:r>
            <a:r>
              <a:rPr lang="zh-CN" altLang="en-US" sz="2000" b="0">
                <a:solidFill>
                  <a:schemeClr val="folHlink"/>
                </a:solidFill>
              </a:rPr>
              <a:t>返回</a:t>
            </a:r>
            <a:r>
              <a:rPr lang="en-US" altLang="zh-CN" sz="2000" b="0">
                <a:solidFill>
                  <a:schemeClr val="folHlink"/>
                </a:solidFill>
              </a:rPr>
              <a:t>CHAP</a:t>
            </a:r>
            <a:r>
              <a:rPr lang="zh-CN" altLang="en-US" sz="2000" b="0">
                <a:solidFill>
                  <a:schemeClr val="folHlink"/>
                </a:solidFill>
              </a:rPr>
              <a:t>类型值的函数类型</a:t>
            </a:r>
          </a:p>
          <a:p>
            <a:pPr marL="914400" lvl="1" indent="-457200" eaLnBrk="1" hangingPunct="1">
              <a:buFont typeface="Wingdings" pitchFamily="2" charset="2"/>
              <a:buAutoNum type="arabicPeriod"/>
            </a:pPr>
            <a:r>
              <a:rPr lang="en-US" altLang="zh-CN" sz="2000" b="0"/>
              <a:t>typedef CHAPF *CHAPFP; </a:t>
            </a:r>
            <a:r>
              <a:rPr lang="en-US" altLang="zh-CN" sz="2000" b="0">
                <a:solidFill>
                  <a:schemeClr val="folHlink"/>
                </a:solidFill>
              </a:rPr>
              <a:t>//</a:t>
            </a:r>
            <a:r>
              <a:rPr lang="zh-CN" altLang="en-US" sz="2000" b="0">
                <a:solidFill>
                  <a:schemeClr val="folHlink"/>
                </a:solidFill>
              </a:rPr>
              <a:t>指向</a:t>
            </a:r>
            <a:r>
              <a:rPr lang="en-US" altLang="zh-CN" sz="2000" b="0">
                <a:solidFill>
                  <a:schemeClr val="folHlink"/>
                </a:solidFill>
              </a:rPr>
              <a:t>CHAOF</a:t>
            </a:r>
            <a:r>
              <a:rPr lang="zh-CN" altLang="en-US" sz="2000" b="0">
                <a:solidFill>
                  <a:schemeClr val="folHlink"/>
                </a:solidFill>
              </a:rPr>
              <a:t>的指针类型</a:t>
            </a:r>
          </a:p>
          <a:p>
            <a:pPr marL="914400" lvl="1" indent="-457200" eaLnBrk="1" hangingPunct="1">
              <a:buFont typeface="Wingdings" pitchFamily="2" charset="2"/>
              <a:buAutoNum type="arabicPeriod"/>
            </a:pPr>
            <a:r>
              <a:rPr lang="en-US" altLang="zh-CN" sz="2000" b="0"/>
              <a:t>typedef CHAPFP CHAPFPA[5]; </a:t>
            </a:r>
            <a:r>
              <a:rPr lang="en-US" altLang="zh-CN" sz="2000" b="0">
                <a:solidFill>
                  <a:schemeClr val="folHlink"/>
                </a:solidFill>
              </a:rPr>
              <a:t>/*</a:t>
            </a:r>
            <a:r>
              <a:rPr lang="zh-CN" altLang="en-US" sz="2000" b="0">
                <a:solidFill>
                  <a:schemeClr val="folHlink"/>
                </a:solidFill>
              </a:rPr>
              <a:t>元素类型为</a:t>
            </a:r>
            <a:r>
              <a:rPr lang="en-US" altLang="zh-CN" sz="2000" b="0">
                <a:solidFill>
                  <a:schemeClr val="folHlink"/>
                </a:solidFill>
              </a:rPr>
              <a:t>CHAPFP</a:t>
            </a:r>
            <a:r>
              <a:rPr lang="zh-CN" altLang="en-US" sz="2000" b="0">
                <a:solidFill>
                  <a:schemeClr val="folHlink"/>
                </a:solidFill>
              </a:rPr>
              <a:t>有</a:t>
            </a:r>
            <a:r>
              <a:rPr lang="en-US" altLang="zh-CN" sz="2000" b="0">
                <a:solidFill>
                  <a:schemeClr val="folHlink"/>
                </a:solidFill>
              </a:rPr>
              <a:t>5</a:t>
            </a:r>
            <a:r>
              <a:rPr lang="zh-CN" altLang="en-US" sz="2000" b="0">
                <a:solidFill>
                  <a:schemeClr val="folHlink"/>
                </a:solidFill>
              </a:rPr>
              <a:t>个元素的数组类型*</a:t>
            </a:r>
            <a:r>
              <a:rPr lang="en-US" altLang="zh-CN" sz="2000" b="0">
                <a:solidFill>
                  <a:schemeClr val="folHlink"/>
                </a:solidFill>
              </a:rPr>
              <a:t>/</a:t>
            </a:r>
          </a:p>
          <a:p>
            <a:pPr marL="914400" lvl="1" indent="-457200" eaLnBrk="1" hangingPunct="1">
              <a:buFont typeface="Wingdings" pitchFamily="2" charset="2"/>
              <a:buAutoNum type="arabicPeriod"/>
            </a:pPr>
            <a:r>
              <a:rPr lang="en-US" altLang="zh-CN" sz="2000" b="0"/>
              <a:t>typedef CHAPFPA *CHAPFPAP;</a:t>
            </a:r>
            <a:r>
              <a:rPr lang="en-US" altLang="zh-CN" sz="2000" b="0">
                <a:solidFill>
                  <a:schemeClr val="folHlink"/>
                </a:solidFill>
              </a:rPr>
              <a:t>//</a:t>
            </a:r>
            <a:r>
              <a:rPr lang="zh-CN" altLang="en-US" sz="2000" b="0">
                <a:solidFill>
                  <a:schemeClr val="folHlink"/>
                </a:solidFill>
              </a:rPr>
              <a:t>指向</a:t>
            </a:r>
            <a:r>
              <a:rPr lang="en-US" altLang="zh-CN" sz="2000" b="0">
                <a:solidFill>
                  <a:schemeClr val="folHlink"/>
                </a:solidFill>
              </a:rPr>
              <a:t>CHAPFPA</a:t>
            </a:r>
            <a:r>
              <a:rPr lang="zh-CN" altLang="en-US" sz="2000" b="0">
                <a:solidFill>
                  <a:schemeClr val="folHlink"/>
                </a:solidFill>
              </a:rPr>
              <a:t>指针类型</a:t>
            </a:r>
          </a:p>
          <a:p>
            <a:pPr marL="914400" lvl="1" indent="-457200" eaLnBrk="1" hangingPunct="1">
              <a:buFont typeface="Wingdings" pitchFamily="2" charset="2"/>
              <a:buAutoNum type="arabicPeriod"/>
            </a:pPr>
            <a:r>
              <a:rPr lang="en-US" altLang="zh-CN" sz="2000" b="0"/>
              <a:t>CHAPFPAP apt; </a:t>
            </a:r>
            <a:r>
              <a:rPr lang="en-US" altLang="zh-CN" sz="2000" b="0">
                <a:solidFill>
                  <a:schemeClr val="folHlink"/>
                </a:solidFill>
              </a:rPr>
              <a:t>//</a:t>
            </a:r>
            <a:r>
              <a:rPr lang="zh-CN" altLang="en-US" sz="2000" b="0">
                <a:solidFill>
                  <a:schemeClr val="folHlink"/>
                </a:solidFill>
              </a:rPr>
              <a:t>说明类型为</a:t>
            </a:r>
            <a:r>
              <a:rPr lang="en-US" altLang="zh-CN" sz="2000" b="0">
                <a:solidFill>
                  <a:schemeClr val="folHlink"/>
                </a:solidFill>
              </a:rPr>
              <a:t>CHAPFPAP</a:t>
            </a:r>
            <a:r>
              <a:rPr lang="zh-CN" altLang="en-US" sz="2000" b="0">
                <a:solidFill>
                  <a:schemeClr val="folHlink"/>
                </a:solidFill>
              </a:rPr>
              <a:t>的变量</a:t>
            </a:r>
          </a:p>
        </p:txBody>
      </p:sp>
    </p:spTree>
    <p:extLst>
      <p:ext uri="{BB962C8B-B14F-4D97-AF65-F5344CB8AC3E}">
        <p14:creationId xmlns:p14="http://schemas.microsoft.com/office/powerpoint/2010/main" val="6808701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52F0D9B5-CC4C-EED9-E46A-6918E6DC2C47}"/>
              </a:ext>
            </a:extLst>
          </p:cNvPr>
          <p:cNvSpPr>
            <a:spLocks noGrp="1" noChangeArrowheads="1"/>
          </p:cNvSpPr>
          <p:nvPr>
            <p:ph type="title"/>
          </p:nvPr>
        </p:nvSpPr>
        <p:spPr/>
        <p:txBody>
          <a:bodyPr/>
          <a:lstStyle/>
          <a:p>
            <a:pPr eaLnBrk="1" hangingPunct="1"/>
            <a:r>
              <a:rPr lang="zh-CN" altLang="en-US"/>
              <a:t>类型定义和内存分配</a:t>
            </a:r>
          </a:p>
        </p:txBody>
      </p:sp>
      <p:sp>
        <p:nvSpPr>
          <p:cNvPr id="198659" name="Rectangle 3">
            <a:extLst>
              <a:ext uri="{FF2B5EF4-FFF2-40B4-BE49-F238E27FC236}">
                <a16:creationId xmlns:a16="http://schemas.microsoft.com/office/drawing/2014/main" id="{C4C941AB-7CB2-F33E-5077-5C3BFC5648BB}"/>
              </a:ext>
            </a:extLst>
          </p:cNvPr>
          <p:cNvSpPr>
            <a:spLocks noGrp="1" noChangeArrowheads="1"/>
          </p:cNvSpPr>
          <p:nvPr>
            <p:ph type="body" idx="1"/>
          </p:nvPr>
        </p:nvSpPr>
        <p:spPr>
          <a:xfrm>
            <a:off x="827088" y="1844823"/>
            <a:ext cx="7866062" cy="4287689"/>
          </a:xfrm>
        </p:spPr>
        <p:txBody>
          <a:bodyPr/>
          <a:lstStyle/>
          <a:p>
            <a:pPr algn="just" eaLnBrk="1" hangingPunct="1">
              <a:lnSpc>
                <a:spcPct val="150000"/>
              </a:lnSpc>
            </a:pPr>
            <a:r>
              <a:rPr lang="zh-CN" altLang="en-US" sz="2800" b="0"/>
              <a:t>程序用</a:t>
            </a:r>
            <a:r>
              <a:rPr lang="en-US" altLang="zh-CN" sz="2800" b="0"/>
              <a:t>typedef</a:t>
            </a:r>
            <a:r>
              <a:rPr lang="zh-CN" altLang="en-US" sz="2800" b="0"/>
              <a:t>定义类型，只是为类型命名，或为已有类型命名别名。</a:t>
            </a:r>
            <a:r>
              <a:rPr lang="zh-CN" altLang="en-US" sz="2800" b="0">
                <a:solidFill>
                  <a:srgbClr val="0066FF"/>
                </a:solidFill>
              </a:rPr>
              <a:t>作为类型定义，它只定义数据结构样板，并不要求分配存储单元</a:t>
            </a:r>
            <a:r>
              <a:rPr lang="zh-CN" altLang="en-US" sz="2800" b="0"/>
              <a:t>。</a:t>
            </a:r>
          </a:p>
          <a:p>
            <a:pPr algn="just" eaLnBrk="1" hangingPunct="1">
              <a:lnSpc>
                <a:spcPct val="150000"/>
              </a:lnSpc>
            </a:pPr>
            <a:r>
              <a:rPr lang="zh-CN" altLang="en-US" sz="2800" b="0"/>
              <a:t>用</a:t>
            </a:r>
            <a:r>
              <a:rPr lang="en-US" altLang="zh-CN" sz="2800" b="0"/>
              <a:t>typedef</a:t>
            </a:r>
            <a:r>
              <a:rPr lang="zh-CN" altLang="en-US" sz="2800" b="0"/>
              <a:t>定义的类型名来定义变量与直接写出变量的类型再定义变量具有完全相同的效果。</a:t>
            </a:r>
          </a:p>
          <a:p>
            <a:pPr algn="just" eaLnBrk="1" hangingPunct="1">
              <a:lnSpc>
                <a:spcPct val="150000"/>
              </a:lnSpc>
            </a:pPr>
            <a:endParaRPr lang="en-US" altLang="zh-CN" sz="2800" b="0"/>
          </a:p>
        </p:txBody>
      </p:sp>
    </p:spTree>
    <p:extLst>
      <p:ext uri="{BB962C8B-B14F-4D97-AF65-F5344CB8AC3E}">
        <p14:creationId xmlns:p14="http://schemas.microsoft.com/office/powerpoint/2010/main" val="19904163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FF8BA43-13B4-95AF-0275-8500546BEA76}"/>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E95B341-91D6-D88E-356D-0A9B0130FDCD}"/>
              </a:ext>
            </a:extLst>
          </p:cNvPr>
          <p:cNvSpPr>
            <a:spLocks noGrp="1" noChangeArrowheads="1"/>
          </p:cNvSpPr>
          <p:nvPr>
            <p:ph type="ctrTitle"/>
          </p:nvPr>
        </p:nvSpPr>
        <p:spPr/>
        <p:txBody>
          <a:bodyPr/>
          <a:lstStyle/>
          <a:p>
            <a:pPr eaLnBrk="1" hangingPunct="1"/>
            <a:r>
              <a:rPr lang="zh-CN" altLang="en-US"/>
              <a:t>链表及其应用</a:t>
            </a:r>
            <a:r>
              <a:rPr lang="en-US" altLang="zh-CN"/>
              <a:t>(</a:t>
            </a:r>
            <a:r>
              <a:rPr lang="zh-CN" altLang="en-US"/>
              <a:t>重点</a:t>
            </a:r>
            <a:r>
              <a:rPr lang="en-US" altLang="zh-CN"/>
              <a:t>)</a:t>
            </a:r>
            <a:endParaRPr lang="zh-CN" altLang="en-US" sz="4000" b="1">
              <a:solidFill>
                <a:srgbClr val="FF0000"/>
              </a:solidFill>
            </a:endParaRPr>
          </a:p>
        </p:txBody>
      </p:sp>
    </p:spTree>
    <p:extLst>
      <p:ext uri="{BB962C8B-B14F-4D97-AF65-F5344CB8AC3E}">
        <p14:creationId xmlns:p14="http://schemas.microsoft.com/office/powerpoint/2010/main" val="35916427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A1042ED8-FCC2-35F8-8443-06F6ABDF5B00}"/>
              </a:ext>
            </a:extLst>
          </p:cNvPr>
          <p:cNvSpPr>
            <a:spLocks noGrp="1" noChangeArrowheads="1"/>
          </p:cNvSpPr>
          <p:nvPr>
            <p:ph type="title"/>
          </p:nvPr>
        </p:nvSpPr>
        <p:spPr/>
        <p:txBody>
          <a:bodyPr/>
          <a:lstStyle/>
          <a:p>
            <a:pPr eaLnBrk="1" hangingPunct="1"/>
            <a:r>
              <a:rPr lang="zh-CN" altLang="en-US" sz="4000"/>
              <a:t>设定变量的静态方法和动态方法</a:t>
            </a:r>
            <a:endParaRPr lang="zh-CN" altLang="en-US" sz="3600" i="1" u="sng"/>
          </a:p>
        </p:txBody>
      </p:sp>
      <p:sp>
        <p:nvSpPr>
          <p:cNvPr id="120835" name="Rectangle 3">
            <a:extLst>
              <a:ext uri="{FF2B5EF4-FFF2-40B4-BE49-F238E27FC236}">
                <a16:creationId xmlns:a16="http://schemas.microsoft.com/office/drawing/2014/main" id="{B9CB70CA-A5D0-39E0-203E-F3AB5352902E}"/>
              </a:ext>
            </a:extLst>
          </p:cNvPr>
          <p:cNvSpPr>
            <a:spLocks noGrp="1" noChangeArrowheads="1"/>
          </p:cNvSpPr>
          <p:nvPr>
            <p:ph type="body" idx="1"/>
          </p:nvPr>
        </p:nvSpPr>
        <p:spPr>
          <a:xfrm>
            <a:off x="827088" y="1844823"/>
            <a:ext cx="7866062" cy="4287689"/>
          </a:xfrm>
        </p:spPr>
        <p:txBody>
          <a:bodyPr/>
          <a:lstStyle/>
          <a:p>
            <a:pPr eaLnBrk="1" hangingPunct="1">
              <a:lnSpc>
                <a:spcPct val="150000"/>
              </a:lnSpc>
            </a:pPr>
            <a:r>
              <a:rPr lang="zh-CN" altLang="en-US" sz="2000" b="0"/>
              <a:t>程序主要用变量表示问题中的数据对象，本章之前所列举的程序中，变量通过变量定义引入。</a:t>
            </a:r>
            <a:r>
              <a:rPr lang="zh-CN" altLang="en-US" sz="2000" b="0">
                <a:solidFill>
                  <a:srgbClr val="C00000"/>
                </a:solidFill>
              </a:rPr>
              <a:t>程序执行时，不能显式地用语句随意生成变量和消去变量，并且变量之间的关系也不能由变量本身的成分来表达。</a:t>
            </a:r>
            <a:endParaRPr lang="en-US" altLang="zh-CN" sz="2000" b="0">
              <a:solidFill>
                <a:srgbClr val="C00000"/>
              </a:solidFill>
            </a:endParaRPr>
          </a:p>
          <a:p>
            <a:pPr eaLnBrk="1" hangingPunct="1">
              <a:lnSpc>
                <a:spcPct val="150000"/>
              </a:lnSpc>
            </a:pPr>
            <a:r>
              <a:rPr lang="zh-CN" altLang="en-US" sz="2000" b="0"/>
              <a:t>但在现实问题中，问题所包含的数据对象的</a:t>
            </a:r>
            <a:r>
              <a:rPr lang="zh-CN" altLang="en-US" sz="2000" b="0">
                <a:solidFill>
                  <a:srgbClr val="C00000"/>
                </a:solidFill>
              </a:rPr>
              <a:t>个数可能是变化着的</a:t>
            </a:r>
            <a:r>
              <a:rPr lang="zh-CN" altLang="en-US" sz="2000" b="0"/>
              <a:t>，数据对象之间的</a:t>
            </a:r>
            <a:r>
              <a:rPr lang="zh-CN" altLang="en-US" sz="2000" b="0">
                <a:solidFill>
                  <a:srgbClr val="C00000"/>
                </a:solidFill>
              </a:rPr>
              <a:t>关系也可能是不断地变化着的</a:t>
            </a:r>
            <a:r>
              <a:rPr lang="zh-CN" altLang="en-US" sz="2000" b="0"/>
              <a:t>。</a:t>
            </a:r>
          </a:p>
          <a:p>
            <a:pPr eaLnBrk="1" hangingPunct="1">
              <a:lnSpc>
                <a:spcPct val="150000"/>
              </a:lnSpc>
            </a:pPr>
            <a:r>
              <a:rPr lang="zh-CN" altLang="en-US" sz="2000" b="0"/>
              <a:t>按数据对象</a:t>
            </a:r>
            <a:r>
              <a:rPr lang="zh-CN" altLang="en-US" sz="2000" b="0" u="sng">
                <a:solidFill>
                  <a:srgbClr val="0066FF"/>
                </a:solidFill>
              </a:rPr>
              <a:t>可能最多情况</a:t>
            </a:r>
            <a:r>
              <a:rPr lang="zh-CN" altLang="en-US" sz="2000" b="0"/>
              <a:t>来设定变量，习惯称这种实现方法为</a:t>
            </a:r>
            <a:r>
              <a:rPr lang="zh-CN" altLang="en-US" sz="2000" b="0" i="1" u="sng">
                <a:solidFill>
                  <a:srgbClr val="0066FF"/>
                </a:solidFill>
              </a:rPr>
              <a:t>静态方法</a:t>
            </a:r>
            <a:r>
              <a:rPr lang="zh-CN" altLang="en-US" sz="2000" b="0"/>
              <a:t>。</a:t>
            </a:r>
            <a:r>
              <a:rPr lang="zh-CN" altLang="en-US" sz="2000" b="0" u="sng">
                <a:solidFill>
                  <a:srgbClr val="0066FF"/>
                </a:solidFill>
              </a:rPr>
              <a:t>按需要</a:t>
            </a:r>
            <a:r>
              <a:rPr lang="zh-CN" altLang="en-US" sz="2000" b="0"/>
              <a:t>用语句显式地生成和消去数据对象，数据之间的关系也能由程序随时设定和改变，称这种实现方法为</a:t>
            </a:r>
            <a:r>
              <a:rPr lang="zh-CN" altLang="en-US" sz="2000" b="0" i="1" u="sng">
                <a:solidFill>
                  <a:srgbClr val="0066FF"/>
                </a:solidFill>
              </a:rPr>
              <a:t>动态方法</a:t>
            </a:r>
            <a:r>
              <a:rPr lang="zh-CN" altLang="en-US" sz="2000" b="0"/>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A0F496FD-7558-9ED5-2E93-8C354E95907A}"/>
              </a:ext>
            </a:extLst>
          </p:cNvPr>
          <p:cNvSpPr>
            <a:spLocks noGrp="1" noChangeArrowheads="1"/>
          </p:cNvSpPr>
          <p:nvPr>
            <p:ph type="title"/>
          </p:nvPr>
        </p:nvSpPr>
        <p:spPr/>
        <p:txBody>
          <a:bodyPr/>
          <a:lstStyle/>
          <a:p>
            <a:pPr eaLnBrk="1" hangingPunct="1"/>
            <a:r>
              <a:rPr lang="zh-CN" altLang="en-US"/>
              <a:t>动态数据结构</a:t>
            </a:r>
          </a:p>
        </p:txBody>
      </p:sp>
      <p:sp>
        <p:nvSpPr>
          <p:cNvPr id="121859" name="Rectangle 3">
            <a:extLst>
              <a:ext uri="{FF2B5EF4-FFF2-40B4-BE49-F238E27FC236}">
                <a16:creationId xmlns:a16="http://schemas.microsoft.com/office/drawing/2014/main" id="{F03D3DAF-47C8-5C2E-1792-34749DD36883}"/>
              </a:ext>
            </a:extLst>
          </p:cNvPr>
          <p:cNvSpPr>
            <a:spLocks noGrp="1" noChangeArrowheads="1"/>
          </p:cNvSpPr>
          <p:nvPr>
            <p:ph type="body" idx="1"/>
          </p:nvPr>
        </p:nvSpPr>
        <p:spPr>
          <a:xfrm>
            <a:off x="827088" y="1844823"/>
            <a:ext cx="7793037" cy="4287689"/>
          </a:xfrm>
        </p:spPr>
        <p:txBody>
          <a:bodyPr/>
          <a:lstStyle/>
          <a:p>
            <a:pPr marL="533400" indent="-533400" eaLnBrk="1" hangingPunct="1">
              <a:lnSpc>
                <a:spcPct val="150000"/>
              </a:lnSpc>
            </a:pPr>
            <a:r>
              <a:rPr lang="zh-CN" altLang="en-US" sz="2800" b="0"/>
              <a:t>采用动态方法实现的数据结构被称为</a:t>
            </a:r>
            <a:r>
              <a:rPr lang="zh-CN" altLang="en-US" sz="2800" b="0">
                <a:solidFill>
                  <a:srgbClr val="0066FF"/>
                </a:solidFill>
              </a:rPr>
              <a:t>动态数据结构</a:t>
            </a:r>
            <a:r>
              <a:rPr lang="zh-CN" altLang="en-US" sz="2800" b="0"/>
              <a:t>。</a:t>
            </a:r>
          </a:p>
          <a:p>
            <a:pPr marL="533400" indent="-533400" eaLnBrk="1" hangingPunct="1">
              <a:lnSpc>
                <a:spcPct val="150000"/>
              </a:lnSpc>
            </a:pPr>
            <a:r>
              <a:rPr lang="zh-CN" altLang="en-US" sz="2800" b="0"/>
              <a:t>一种典型的动态数据结构中的数据对象是结构变量，它除有一些数据信息成分外，还有指针类型的成分，并且这些指针成分能指向与自身同样类型的结构。</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43789939-EB80-190E-5D6B-12561895ECF9}"/>
              </a:ext>
            </a:extLst>
          </p:cNvPr>
          <p:cNvSpPr>
            <a:spLocks noGrp="1" noChangeArrowheads="1"/>
          </p:cNvSpPr>
          <p:nvPr>
            <p:ph type="title"/>
          </p:nvPr>
        </p:nvSpPr>
        <p:spPr/>
        <p:txBody>
          <a:bodyPr/>
          <a:lstStyle/>
          <a:p>
            <a:pPr eaLnBrk="1" hangingPunct="1"/>
            <a:r>
              <a:rPr lang="zh-CN" altLang="en-US"/>
              <a:t>自引用结构</a:t>
            </a:r>
            <a:endParaRPr lang="zh-CN" altLang="en-US" sz="4000" i="1" u="sng"/>
          </a:p>
        </p:txBody>
      </p:sp>
      <p:sp>
        <p:nvSpPr>
          <p:cNvPr id="122883" name="Rectangle 3">
            <a:extLst>
              <a:ext uri="{FF2B5EF4-FFF2-40B4-BE49-F238E27FC236}">
                <a16:creationId xmlns:a16="http://schemas.microsoft.com/office/drawing/2014/main" id="{DBCF9EFF-C062-B68C-13B0-86E54A9E54E3}"/>
              </a:ext>
            </a:extLst>
          </p:cNvPr>
          <p:cNvSpPr>
            <a:spLocks noGrp="1" noChangeArrowheads="1"/>
          </p:cNvSpPr>
          <p:nvPr>
            <p:ph type="body" idx="1"/>
          </p:nvPr>
        </p:nvSpPr>
        <p:spPr>
          <a:xfrm>
            <a:off x="827088" y="1772815"/>
            <a:ext cx="7866062" cy="4359697"/>
          </a:xfrm>
        </p:spPr>
        <p:txBody>
          <a:bodyPr/>
          <a:lstStyle/>
          <a:p>
            <a:pPr eaLnBrk="1" hangingPunct="1"/>
            <a:r>
              <a:rPr lang="zh-CN" altLang="en-US" sz="2000" b="0"/>
              <a:t>例如下面的结构类型定义：</a:t>
            </a:r>
          </a:p>
          <a:p>
            <a:pPr lvl="1" eaLnBrk="1" hangingPunct="1">
              <a:buFont typeface="Wingdings" pitchFamily="2" charset="2"/>
              <a:buAutoNum type="arabicPeriod"/>
            </a:pPr>
            <a:r>
              <a:rPr lang="zh-CN" altLang="en-US" sz="1800" b="0"/>
              <a:t> </a:t>
            </a:r>
            <a:r>
              <a:rPr lang="en-US" altLang="zh-CN" sz="1800" b="0"/>
              <a:t>struct  intNode  {   </a:t>
            </a:r>
            <a:r>
              <a:rPr lang="en-US" altLang="zh-CN" sz="1800" b="0">
                <a:solidFill>
                  <a:schemeClr val="folHlink"/>
                </a:solidFill>
              </a:rPr>
              <a:t>//</a:t>
            </a:r>
            <a:r>
              <a:rPr lang="zh-CN" altLang="en-US" sz="1800" b="0">
                <a:solidFill>
                  <a:schemeClr val="folHlink"/>
                </a:solidFill>
              </a:rPr>
              <a:t>整数链表“表元”类型</a:t>
            </a:r>
          </a:p>
          <a:p>
            <a:pPr lvl="1" eaLnBrk="1" hangingPunct="1">
              <a:buFont typeface="Wingdings" pitchFamily="2" charset="2"/>
              <a:buAutoNum type="arabicPeriod"/>
            </a:pPr>
            <a:r>
              <a:rPr lang="zh-CN" altLang="en-US" sz="1800" b="0"/>
              <a:t>   </a:t>
            </a:r>
            <a:r>
              <a:rPr lang="en-US" altLang="zh-CN" sz="1800" b="0"/>
              <a:t>int  value ;     		</a:t>
            </a:r>
            <a:r>
              <a:rPr lang="en-US" altLang="zh-CN" sz="1800" b="0">
                <a:solidFill>
                  <a:schemeClr val="folHlink"/>
                </a:solidFill>
              </a:rPr>
              <a:t>//</a:t>
            </a:r>
            <a:r>
              <a:rPr lang="zh-CN" altLang="en-US" sz="1800" b="0">
                <a:solidFill>
                  <a:schemeClr val="folHlink"/>
                </a:solidFill>
              </a:rPr>
              <a:t>存放整数</a:t>
            </a:r>
          </a:p>
          <a:p>
            <a:pPr lvl="1" eaLnBrk="1" hangingPunct="1">
              <a:buFont typeface="Wingdings" pitchFamily="2" charset="2"/>
              <a:buAutoNum type="arabicPeriod"/>
            </a:pPr>
            <a:r>
              <a:rPr lang="zh-CN" altLang="en-US" sz="1800" b="0"/>
              <a:t>   </a:t>
            </a:r>
            <a:r>
              <a:rPr lang="en-US" altLang="zh-CN" sz="1800" b="0"/>
              <a:t>struct  intNode  *next ; 	</a:t>
            </a:r>
            <a:r>
              <a:rPr lang="en-US" altLang="zh-CN" sz="1800" b="0">
                <a:solidFill>
                  <a:schemeClr val="folHlink"/>
                </a:solidFill>
              </a:rPr>
              <a:t>//</a:t>
            </a:r>
            <a:r>
              <a:rPr lang="zh-CN" altLang="en-US" sz="1800" b="0">
                <a:solidFill>
                  <a:schemeClr val="folHlink"/>
                </a:solidFill>
              </a:rPr>
              <a:t>存放后继表元的指针</a:t>
            </a:r>
          </a:p>
          <a:p>
            <a:pPr lvl="1" eaLnBrk="1" hangingPunct="1">
              <a:buFont typeface="Wingdings" pitchFamily="2" charset="2"/>
              <a:buAutoNum type="arabicPeriod"/>
            </a:pPr>
            <a:r>
              <a:rPr lang="zh-CN" altLang="en-US" sz="1800" b="0"/>
              <a:t>  </a:t>
            </a:r>
            <a:r>
              <a:rPr lang="en-US" altLang="zh-CN" sz="1800" b="0"/>
              <a:t>};</a:t>
            </a:r>
          </a:p>
          <a:p>
            <a:pPr eaLnBrk="1" hangingPunct="1">
              <a:lnSpc>
                <a:spcPct val="150000"/>
              </a:lnSpc>
              <a:spcBef>
                <a:spcPts val="0"/>
              </a:spcBef>
            </a:pPr>
            <a:r>
              <a:rPr lang="zh-CN" altLang="en-US" sz="2000" b="0"/>
              <a:t>类型</a:t>
            </a:r>
            <a:r>
              <a:rPr lang="en-US" altLang="zh-CN" sz="2000" b="0"/>
              <a:t>struct intNode</a:t>
            </a:r>
            <a:r>
              <a:rPr lang="zh-CN" altLang="en-US" sz="2000" b="0"/>
              <a:t>有两个成分：</a:t>
            </a:r>
          </a:p>
          <a:p>
            <a:pPr lvl="1" eaLnBrk="1" hangingPunct="1">
              <a:lnSpc>
                <a:spcPct val="150000"/>
              </a:lnSpc>
              <a:spcBef>
                <a:spcPts val="0"/>
              </a:spcBef>
            </a:pPr>
            <a:r>
              <a:rPr lang="en-US" altLang="zh-CN" sz="1800" b="0"/>
              <a:t>int</a:t>
            </a:r>
            <a:r>
              <a:rPr lang="zh-CN" altLang="en-US" sz="1800" b="0"/>
              <a:t>类型的</a:t>
            </a:r>
            <a:r>
              <a:rPr lang="en-US" altLang="zh-CN" sz="1800" b="0"/>
              <a:t>value</a:t>
            </a:r>
          </a:p>
          <a:p>
            <a:pPr lvl="1" eaLnBrk="1" hangingPunct="1">
              <a:lnSpc>
                <a:spcPct val="150000"/>
              </a:lnSpc>
              <a:spcBef>
                <a:spcPts val="0"/>
              </a:spcBef>
            </a:pPr>
            <a:r>
              <a:rPr lang="zh-CN" altLang="en-US" sz="1800" b="0"/>
              <a:t>指针</a:t>
            </a:r>
            <a:r>
              <a:rPr lang="en-US" altLang="zh-CN" sz="1800" b="0"/>
              <a:t>next</a:t>
            </a:r>
          </a:p>
          <a:p>
            <a:pPr eaLnBrk="1" hangingPunct="1">
              <a:lnSpc>
                <a:spcPct val="150000"/>
              </a:lnSpc>
              <a:spcBef>
                <a:spcPts val="0"/>
              </a:spcBef>
            </a:pPr>
            <a:r>
              <a:rPr lang="zh-CN" altLang="en-US" sz="2000" b="0"/>
              <a:t>其中指针</a:t>
            </a:r>
            <a:r>
              <a:rPr lang="en-US" altLang="zh-CN" sz="2000" b="0"/>
              <a:t>next</a:t>
            </a:r>
            <a:r>
              <a:rPr lang="zh-CN" altLang="en-US" sz="2000" b="0"/>
              <a:t>能指向的结构的类型正是定义中的</a:t>
            </a:r>
            <a:r>
              <a:rPr lang="en-US" altLang="zh-CN" sz="2000" b="0"/>
              <a:t>struct intNode</a:t>
            </a:r>
            <a:r>
              <a:rPr lang="zh-CN" altLang="en-US" sz="2000" b="0"/>
              <a:t>。所以这种结构又称为</a:t>
            </a:r>
            <a:r>
              <a:rPr lang="zh-CN" altLang="en-US" sz="2000" b="0" i="1" u="sng">
                <a:solidFill>
                  <a:srgbClr val="0066FF"/>
                </a:solidFill>
              </a:rPr>
              <a:t>自引用结构</a:t>
            </a:r>
            <a:r>
              <a:rPr lang="zh-CN" altLang="en-US" sz="2000" b="0"/>
              <a:t>。</a:t>
            </a:r>
            <a:r>
              <a:rPr lang="zh-CN" altLang="en-US" sz="2000" b="0" u="sng"/>
              <a:t>利用成分</a:t>
            </a:r>
            <a:r>
              <a:rPr lang="en-US" altLang="zh-CN" sz="2000" b="0" u="sng"/>
              <a:t>next</a:t>
            </a:r>
            <a:r>
              <a:rPr lang="zh-CN" altLang="en-US" sz="2000" b="0" u="sng"/>
              <a:t>可把一个</a:t>
            </a:r>
            <a:r>
              <a:rPr lang="en-US" altLang="zh-CN" sz="2000" b="0" u="sng"/>
              <a:t>struct intNode</a:t>
            </a:r>
            <a:r>
              <a:rPr lang="zh-CN" altLang="en-US" sz="2000" b="0" u="sng"/>
              <a:t>类型的结构与另一个同类型的结构链在一起</a:t>
            </a:r>
            <a:r>
              <a:rPr lang="zh-CN" altLang="en-US" sz="2000" b="0"/>
              <a:t>，用于描述动态数据结构中两数据对象之间的</a:t>
            </a:r>
            <a:r>
              <a:rPr lang="zh-CN" altLang="en-US" sz="2000" b="0">
                <a:solidFill>
                  <a:srgbClr val="0066FF"/>
                </a:solidFill>
              </a:rPr>
              <a:t>关系</a:t>
            </a:r>
            <a:r>
              <a:rPr lang="zh-CN" altLang="en-US" sz="2000" b="0"/>
              <a: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114B20F8-A652-1A56-54B3-6059F5A778F3}"/>
              </a:ext>
            </a:extLst>
          </p:cNvPr>
          <p:cNvSpPr>
            <a:spLocks noGrp="1" noChangeArrowheads="1"/>
          </p:cNvSpPr>
          <p:nvPr>
            <p:ph type="title"/>
          </p:nvPr>
        </p:nvSpPr>
        <p:spPr/>
        <p:txBody>
          <a:bodyPr/>
          <a:lstStyle/>
          <a:p>
            <a:pPr eaLnBrk="1" hangingPunct="1"/>
            <a:r>
              <a:rPr lang="en-US" altLang="zh-CN" sz="4000"/>
              <a:t>7.4.1 </a:t>
            </a:r>
            <a:r>
              <a:rPr lang="zh-CN" altLang="en-US" sz="4000"/>
              <a:t>内存动态分配和释放库函数</a:t>
            </a:r>
          </a:p>
        </p:txBody>
      </p:sp>
      <p:sp>
        <p:nvSpPr>
          <p:cNvPr id="123907" name="Rectangle 3">
            <a:extLst>
              <a:ext uri="{FF2B5EF4-FFF2-40B4-BE49-F238E27FC236}">
                <a16:creationId xmlns:a16="http://schemas.microsoft.com/office/drawing/2014/main" id="{8E2C2ECA-A7FF-0A36-1353-640211F05123}"/>
              </a:ext>
            </a:extLst>
          </p:cNvPr>
          <p:cNvSpPr>
            <a:spLocks noGrp="1" noChangeArrowheads="1"/>
          </p:cNvSpPr>
          <p:nvPr>
            <p:ph type="body" idx="1"/>
          </p:nvPr>
        </p:nvSpPr>
        <p:spPr>
          <a:xfrm>
            <a:off x="827088" y="1844823"/>
            <a:ext cx="7866062" cy="4287689"/>
          </a:xfrm>
        </p:spPr>
        <p:txBody>
          <a:bodyPr/>
          <a:lstStyle/>
          <a:p>
            <a:pPr eaLnBrk="1" hangingPunct="1">
              <a:lnSpc>
                <a:spcPct val="150000"/>
              </a:lnSpc>
            </a:pPr>
            <a:r>
              <a:rPr lang="zh-CN" altLang="en-US" sz="2400" b="0"/>
              <a:t>因动态数据结构中的数据对象可按需要由程序语句动态生成和消去，所以建立和维护动态数据需要</a:t>
            </a:r>
            <a:r>
              <a:rPr lang="zh-CN" altLang="en-US" sz="2400" b="0">
                <a:solidFill>
                  <a:srgbClr val="0066FF"/>
                </a:solidFill>
              </a:rPr>
              <a:t>内存动态分配和释放</a:t>
            </a:r>
            <a:r>
              <a:rPr lang="zh-CN" altLang="en-US" sz="2400" b="0"/>
              <a:t>。</a:t>
            </a:r>
            <a:endParaRPr lang="en-US" altLang="zh-CN" sz="2400" b="0"/>
          </a:p>
          <a:p>
            <a:pPr eaLnBrk="1" hangingPunct="1">
              <a:lnSpc>
                <a:spcPct val="150000"/>
              </a:lnSpc>
            </a:pPr>
            <a:r>
              <a:rPr lang="zh-CN" altLang="en-US" sz="2400" b="0"/>
              <a:t>Ｃ系统的函数库提供了程序动态申请和释放存储单元的库函数。其中最经常使用的库函数包括：</a:t>
            </a:r>
          </a:p>
          <a:p>
            <a:pPr lvl="1" eaLnBrk="1" hangingPunct="1">
              <a:lnSpc>
                <a:spcPct val="150000"/>
              </a:lnSpc>
            </a:pPr>
            <a:r>
              <a:rPr lang="en-US" altLang="zh-CN" sz="2000" b="0"/>
              <a:t>void  * malloc(unsigned size)</a:t>
            </a:r>
          </a:p>
          <a:p>
            <a:pPr lvl="1" eaLnBrk="1" hangingPunct="1">
              <a:lnSpc>
                <a:spcPct val="150000"/>
              </a:lnSpc>
            </a:pPr>
            <a:r>
              <a:rPr lang="en-US" altLang="zh-CN" sz="2000" b="0"/>
              <a:t>void  * calloc(unsigned nelm, unsigned elsize)</a:t>
            </a:r>
          </a:p>
          <a:p>
            <a:pPr lvl="1" eaLnBrk="1" hangingPunct="1">
              <a:lnSpc>
                <a:spcPct val="150000"/>
              </a:lnSpc>
            </a:pPr>
            <a:r>
              <a:rPr lang="en-US" altLang="zh-CN" sz="2000" b="0"/>
              <a:t>void  free(void  *ptr)</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1AD454C0-4486-6673-A9B4-D70768EF11C2}"/>
              </a:ext>
            </a:extLst>
          </p:cNvPr>
          <p:cNvSpPr>
            <a:spLocks noGrp="1" noChangeArrowheads="1"/>
          </p:cNvSpPr>
          <p:nvPr>
            <p:ph type="title"/>
          </p:nvPr>
        </p:nvSpPr>
        <p:spPr/>
        <p:txBody>
          <a:bodyPr/>
          <a:lstStyle/>
          <a:p>
            <a:pPr eaLnBrk="1" hangingPunct="1"/>
            <a:r>
              <a:rPr lang="en-US" altLang="zh-CN"/>
              <a:t>malloc()</a:t>
            </a:r>
            <a:r>
              <a:rPr lang="zh-CN" altLang="en-US"/>
              <a:t>函数</a:t>
            </a:r>
          </a:p>
        </p:txBody>
      </p:sp>
      <p:sp>
        <p:nvSpPr>
          <p:cNvPr id="124931" name="Rectangle 3">
            <a:extLst>
              <a:ext uri="{FF2B5EF4-FFF2-40B4-BE49-F238E27FC236}">
                <a16:creationId xmlns:a16="http://schemas.microsoft.com/office/drawing/2014/main" id="{29120BD8-D72E-987E-9A53-D1EBC6CA8B9A}"/>
              </a:ext>
            </a:extLst>
          </p:cNvPr>
          <p:cNvSpPr>
            <a:spLocks noGrp="1" noChangeArrowheads="1"/>
          </p:cNvSpPr>
          <p:nvPr>
            <p:ph type="body" idx="1"/>
          </p:nvPr>
        </p:nvSpPr>
        <p:spPr>
          <a:xfrm>
            <a:off x="827088" y="1700807"/>
            <a:ext cx="7866062" cy="4431705"/>
          </a:xfrm>
        </p:spPr>
        <p:txBody>
          <a:bodyPr/>
          <a:lstStyle/>
          <a:p>
            <a:pPr eaLnBrk="1" hangingPunct="1">
              <a:lnSpc>
                <a:spcPct val="150000"/>
              </a:lnSpc>
            </a:pPr>
            <a:r>
              <a:rPr lang="zh-CN" altLang="en-US" sz="1800" b="0"/>
              <a:t>（</a:t>
            </a:r>
            <a:r>
              <a:rPr lang="en-US" altLang="zh-CN" sz="1800" b="0"/>
              <a:t>1</a:t>
            </a:r>
            <a:r>
              <a:rPr lang="zh-CN" altLang="en-US" sz="1800" b="0"/>
              <a:t>）</a:t>
            </a:r>
            <a:r>
              <a:rPr lang="en-US" altLang="zh-CN" sz="1800" b="0"/>
              <a:t>void  * malloc(unsigned size)</a:t>
            </a:r>
          </a:p>
          <a:p>
            <a:pPr lvl="1" eaLnBrk="1" hangingPunct="1">
              <a:lnSpc>
                <a:spcPct val="150000"/>
              </a:lnSpc>
            </a:pPr>
            <a:r>
              <a:rPr lang="zh-CN" altLang="en-US" sz="1600" b="0"/>
              <a:t>函数调用</a:t>
            </a:r>
            <a:r>
              <a:rPr lang="en-US" altLang="zh-CN" sz="1600" b="0"/>
              <a:t>malloc(size)</a:t>
            </a:r>
            <a:r>
              <a:rPr lang="zh-CN" altLang="en-US" sz="1600" b="0"/>
              <a:t>向系统申请内存，从系统提供的动态存储（</a:t>
            </a:r>
            <a:r>
              <a:rPr lang="zh-CN" altLang="en-US" sz="1600" b="0">
                <a:solidFill>
                  <a:srgbClr val="0066FF"/>
                </a:solidFill>
              </a:rPr>
              <a:t>堆内存</a:t>
            </a:r>
            <a:r>
              <a:rPr lang="zh-CN" altLang="en-US" sz="1600" b="0"/>
              <a:t>）区域中分配至少</a:t>
            </a:r>
            <a:r>
              <a:rPr lang="en-US" altLang="zh-CN" sz="1600" b="0"/>
              <a:t>size</a:t>
            </a:r>
            <a:r>
              <a:rPr lang="zh-CN" altLang="en-US" sz="1600" b="0"/>
              <a:t>个字节的连续空间，函数返回该连续空间的开始地址。</a:t>
            </a:r>
            <a:r>
              <a:rPr lang="zh-CN" altLang="en-US" sz="1600" b="0">
                <a:solidFill>
                  <a:srgbClr val="C00000"/>
                </a:solidFill>
              </a:rPr>
              <a:t>如果因动态存储区域已分配完，而不能满足这次申请要求，函数将返回</a:t>
            </a:r>
            <a:r>
              <a:rPr lang="en-US" altLang="zh-CN" sz="1600" b="0">
                <a:solidFill>
                  <a:srgbClr val="C00000"/>
                </a:solidFill>
              </a:rPr>
              <a:t>0(NULL)</a:t>
            </a:r>
            <a:r>
              <a:rPr lang="zh-CN" altLang="en-US" sz="1600" b="0"/>
              <a:t>。</a:t>
            </a:r>
          </a:p>
          <a:p>
            <a:pPr eaLnBrk="1" hangingPunct="1">
              <a:lnSpc>
                <a:spcPct val="150000"/>
              </a:lnSpc>
            </a:pPr>
            <a:r>
              <a:rPr lang="zh-CN" altLang="en-US" sz="1800" b="0"/>
              <a:t>因函数</a:t>
            </a:r>
            <a:r>
              <a:rPr lang="en-US" altLang="zh-CN" sz="1800" b="0"/>
              <a:t>malloc()</a:t>
            </a:r>
            <a:r>
              <a:rPr lang="zh-CN" altLang="en-US" sz="1800" b="0"/>
              <a:t>的</a:t>
            </a:r>
            <a:r>
              <a:rPr lang="zh-CN" altLang="en-US" sz="1800" b="0">
                <a:solidFill>
                  <a:srgbClr val="0066FF"/>
                </a:solidFill>
              </a:rPr>
              <a:t>返回值是无类型指针值</a:t>
            </a:r>
            <a:r>
              <a:rPr lang="zh-CN" altLang="en-US" sz="1800" b="0"/>
              <a:t>，程序可将该返回值</a:t>
            </a:r>
            <a:r>
              <a:rPr lang="zh-CN" altLang="en-US" sz="1800" b="0">
                <a:solidFill>
                  <a:srgbClr val="0066FF"/>
                </a:solidFill>
              </a:rPr>
              <a:t>强制转换</a:t>
            </a:r>
            <a:r>
              <a:rPr lang="zh-CN" altLang="en-US" sz="1800" b="0"/>
              <a:t>成某种特定的指针类型。如有变量定义</a:t>
            </a:r>
            <a:r>
              <a:rPr lang="en-US" altLang="zh-CN" sz="1800" b="0"/>
              <a:t>:</a:t>
            </a:r>
          </a:p>
          <a:p>
            <a:pPr lvl="1" eaLnBrk="1" hangingPunct="1">
              <a:lnSpc>
                <a:spcPct val="150000"/>
              </a:lnSpc>
            </a:pPr>
            <a:r>
              <a:rPr lang="en-US" altLang="zh-CN" sz="1600" b="0"/>
              <a:t>  struct intNode *p;</a:t>
            </a:r>
          </a:p>
          <a:p>
            <a:pPr eaLnBrk="1" hangingPunct="1">
              <a:lnSpc>
                <a:spcPct val="150000"/>
              </a:lnSpc>
            </a:pPr>
            <a:r>
              <a:rPr lang="zh-CN" altLang="en-US" sz="1800" b="0"/>
              <a:t>代码：</a:t>
            </a:r>
          </a:p>
          <a:p>
            <a:pPr lvl="1" eaLnBrk="1" hangingPunct="1">
              <a:lnSpc>
                <a:spcPct val="150000"/>
              </a:lnSpc>
            </a:pPr>
            <a:r>
              <a:rPr lang="zh-CN" altLang="en-US" sz="1600" b="0"/>
              <a:t>  </a:t>
            </a:r>
            <a:r>
              <a:rPr lang="en-US" altLang="zh-CN" sz="1600" b="0"/>
              <a:t>p = (struct intNode *)malloc(sizeof(struct intNode));</a:t>
            </a:r>
          </a:p>
          <a:p>
            <a:pPr eaLnBrk="1" hangingPunct="1">
              <a:lnSpc>
                <a:spcPct val="150000"/>
              </a:lnSpc>
            </a:pPr>
            <a:r>
              <a:rPr lang="zh-CN" altLang="en-US" sz="1800" b="0"/>
              <a:t>实现向系统申请能存储类型为</a:t>
            </a:r>
            <a:r>
              <a:rPr lang="en-US" altLang="zh-CN" sz="1800" b="0"/>
              <a:t>struct intNode</a:t>
            </a:r>
            <a:r>
              <a:rPr lang="zh-CN" altLang="en-US" sz="1800" b="0"/>
              <a:t>的一个内存空间，并将该内存空间的起始地址赋给指针变量</a:t>
            </a:r>
            <a:r>
              <a:rPr lang="en-US" altLang="zh-CN" sz="1800" b="0"/>
              <a:t>p</a:t>
            </a:r>
            <a:r>
              <a:rPr lang="zh-CN" altLang="en-US" sz="1800" b="0"/>
              <a:t>中。</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D37FCDD6-70FB-255D-A0BE-18580796AC71}"/>
              </a:ext>
            </a:extLst>
          </p:cNvPr>
          <p:cNvSpPr>
            <a:spLocks noGrp="1" noChangeArrowheads="1"/>
          </p:cNvSpPr>
          <p:nvPr>
            <p:ph type="title"/>
          </p:nvPr>
        </p:nvSpPr>
        <p:spPr/>
        <p:txBody>
          <a:bodyPr/>
          <a:lstStyle/>
          <a:p>
            <a:pPr eaLnBrk="1" hangingPunct="1"/>
            <a:r>
              <a:rPr lang="en-US" altLang="zh-CN"/>
              <a:t>calloc()</a:t>
            </a:r>
            <a:r>
              <a:rPr lang="zh-CN" altLang="en-US"/>
              <a:t>函数</a:t>
            </a:r>
          </a:p>
        </p:txBody>
      </p:sp>
      <p:sp>
        <p:nvSpPr>
          <p:cNvPr id="125955" name="Rectangle 3">
            <a:extLst>
              <a:ext uri="{FF2B5EF4-FFF2-40B4-BE49-F238E27FC236}">
                <a16:creationId xmlns:a16="http://schemas.microsoft.com/office/drawing/2014/main" id="{7D5C6ED1-5D14-49C9-1F30-3D62EFDBB329}"/>
              </a:ext>
            </a:extLst>
          </p:cNvPr>
          <p:cNvSpPr>
            <a:spLocks noGrp="1" noChangeArrowheads="1"/>
          </p:cNvSpPr>
          <p:nvPr>
            <p:ph type="body" idx="1"/>
          </p:nvPr>
        </p:nvSpPr>
        <p:spPr>
          <a:xfrm>
            <a:off x="827088" y="1700807"/>
            <a:ext cx="7866062" cy="4431705"/>
          </a:xfrm>
        </p:spPr>
        <p:txBody>
          <a:bodyPr/>
          <a:lstStyle/>
          <a:p>
            <a:pPr algn="just" eaLnBrk="1" hangingPunct="1">
              <a:lnSpc>
                <a:spcPct val="150000"/>
              </a:lnSpc>
            </a:pPr>
            <a:r>
              <a:rPr lang="zh-CN" altLang="en-US" sz="2000" b="0"/>
              <a:t>（</a:t>
            </a:r>
            <a:r>
              <a:rPr lang="en-US" altLang="zh-CN" sz="2000" b="0"/>
              <a:t>2</a:t>
            </a:r>
            <a:r>
              <a:rPr lang="zh-CN" altLang="en-US" sz="2000" b="0"/>
              <a:t>）</a:t>
            </a:r>
            <a:r>
              <a:rPr lang="en-US" altLang="zh-CN" sz="2000" b="0"/>
              <a:t>void  * calloc(unsigned nelm, unsigned elsize)</a:t>
            </a:r>
          </a:p>
          <a:p>
            <a:pPr lvl="1" algn="just" eaLnBrk="1" hangingPunct="1">
              <a:lnSpc>
                <a:spcPct val="150000"/>
              </a:lnSpc>
            </a:pPr>
            <a:r>
              <a:rPr lang="zh-CN" altLang="en-US" sz="1800" b="0"/>
              <a:t>函数调用</a:t>
            </a:r>
            <a:r>
              <a:rPr lang="en-US" altLang="zh-CN" sz="1800" b="0"/>
              <a:t>calloc(nelm, elsize)</a:t>
            </a:r>
            <a:r>
              <a:rPr lang="zh-CN" altLang="en-US" sz="1800" b="0"/>
              <a:t>也可用来向系统申请内存单元，在动态存储区中分配</a:t>
            </a:r>
            <a:r>
              <a:rPr lang="en-US" altLang="zh-CN" sz="1800" b="0">
                <a:solidFill>
                  <a:srgbClr val="0066FF"/>
                </a:solidFill>
              </a:rPr>
              <a:t>nelm*elsize</a:t>
            </a:r>
            <a:r>
              <a:rPr lang="zh-CN" altLang="en-US" sz="1800" b="0">
                <a:solidFill>
                  <a:srgbClr val="0066FF"/>
                </a:solidFill>
              </a:rPr>
              <a:t>个字节</a:t>
            </a:r>
            <a:r>
              <a:rPr lang="zh-CN" altLang="en-US" sz="1800" b="0"/>
              <a:t>的连续空间，并将该空间的内容</a:t>
            </a:r>
            <a:r>
              <a:rPr lang="zh-CN" altLang="en-US" sz="1800" b="0">
                <a:solidFill>
                  <a:srgbClr val="0066FF"/>
                </a:solidFill>
              </a:rPr>
              <a:t>清</a:t>
            </a:r>
            <a:r>
              <a:rPr lang="en-US" altLang="zh-CN" sz="1800" b="0">
                <a:solidFill>
                  <a:srgbClr val="0066FF"/>
                </a:solidFill>
              </a:rPr>
              <a:t>0</a:t>
            </a:r>
            <a:r>
              <a:rPr lang="zh-CN" altLang="en-US" sz="1800" b="0"/>
              <a:t>。函数返回该连续空间的开始地址；</a:t>
            </a:r>
            <a:r>
              <a:rPr lang="zh-CN" altLang="en-US" sz="1800" b="0">
                <a:solidFill>
                  <a:srgbClr val="C00000"/>
                </a:solidFill>
              </a:rPr>
              <a:t>如果分配不成功，则返回</a:t>
            </a:r>
            <a:r>
              <a:rPr lang="en-US" altLang="zh-CN" sz="1800" b="0">
                <a:solidFill>
                  <a:srgbClr val="C00000"/>
                </a:solidFill>
              </a:rPr>
              <a:t>0(NULL)</a:t>
            </a:r>
            <a:r>
              <a:rPr lang="zh-CN" altLang="en-US" sz="1800" b="0"/>
              <a:t>。</a:t>
            </a:r>
          </a:p>
          <a:p>
            <a:pPr algn="just" eaLnBrk="1" hangingPunct="1">
              <a:lnSpc>
                <a:spcPct val="150000"/>
              </a:lnSpc>
            </a:pPr>
            <a:r>
              <a:rPr lang="zh-CN" altLang="en-US" sz="2000" b="0"/>
              <a:t>如以下函数调用都返回能存储</a:t>
            </a:r>
            <a:r>
              <a:rPr lang="en-US" altLang="zh-CN" sz="2000" b="0"/>
              <a:t>100</a:t>
            </a:r>
            <a:r>
              <a:rPr lang="zh-CN" altLang="en-US" sz="2000" b="0"/>
              <a:t>个整数的存储块，利用函数返回的存储块的首地址，可像数组一样访问这存储块中的</a:t>
            </a:r>
            <a:r>
              <a:rPr lang="en-US" altLang="zh-CN" sz="2000" b="0"/>
              <a:t>100</a:t>
            </a:r>
            <a:r>
              <a:rPr lang="zh-CN" altLang="en-US" sz="2000" b="0"/>
              <a:t>个元素。</a:t>
            </a:r>
          </a:p>
          <a:p>
            <a:pPr lvl="1" algn="just" eaLnBrk="1" hangingPunct="1">
              <a:lnSpc>
                <a:spcPct val="150000"/>
              </a:lnSpc>
            </a:pPr>
            <a:r>
              <a:rPr lang="zh-CN" altLang="en-US" sz="1800" b="0"/>
              <a:t>      </a:t>
            </a:r>
            <a:r>
              <a:rPr lang="en-US" altLang="zh-CN" sz="1800" b="0"/>
              <a:t>p = (int *) malloc(100 * sizeof(int));</a:t>
            </a:r>
          </a:p>
          <a:p>
            <a:pPr lvl="1" algn="just" eaLnBrk="1" hangingPunct="1">
              <a:lnSpc>
                <a:spcPct val="150000"/>
              </a:lnSpc>
            </a:pPr>
            <a:r>
              <a:rPr lang="en-US" altLang="zh-CN" sz="1800" b="0"/>
              <a:t>      q = (int *) calloc(100, sizeof(int));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44ABBF7A-D430-1369-E355-D983D4F2DFB3}"/>
              </a:ext>
            </a:extLst>
          </p:cNvPr>
          <p:cNvSpPr>
            <a:spLocks noGrp="1" noChangeArrowheads="1"/>
          </p:cNvSpPr>
          <p:nvPr>
            <p:ph type="title"/>
          </p:nvPr>
        </p:nvSpPr>
        <p:spPr/>
        <p:txBody>
          <a:bodyPr/>
          <a:lstStyle/>
          <a:p>
            <a:pPr eaLnBrk="1" hangingPunct="1"/>
            <a:r>
              <a:rPr lang="en-US" altLang="zh-CN"/>
              <a:t>free()</a:t>
            </a:r>
            <a:r>
              <a:rPr lang="zh-CN" altLang="en-US"/>
              <a:t>函数</a:t>
            </a:r>
          </a:p>
        </p:txBody>
      </p:sp>
      <p:sp>
        <p:nvSpPr>
          <p:cNvPr id="126979" name="Rectangle 3">
            <a:extLst>
              <a:ext uri="{FF2B5EF4-FFF2-40B4-BE49-F238E27FC236}">
                <a16:creationId xmlns:a16="http://schemas.microsoft.com/office/drawing/2014/main" id="{332CE5EE-ADD9-8760-0575-9921F5435FBE}"/>
              </a:ext>
            </a:extLst>
          </p:cNvPr>
          <p:cNvSpPr>
            <a:spLocks noGrp="1" noChangeArrowheads="1"/>
          </p:cNvSpPr>
          <p:nvPr>
            <p:ph type="body" idx="1"/>
          </p:nvPr>
        </p:nvSpPr>
        <p:spPr>
          <a:xfrm>
            <a:off x="827088" y="1772815"/>
            <a:ext cx="7793037" cy="4359697"/>
          </a:xfrm>
        </p:spPr>
        <p:txBody>
          <a:bodyPr/>
          <a:lstStyle/>
          <a:p>
            <a:pPr eaLnBrk="1" hangingPunct="1">
              <a:lnSpc>
                <a:spcPct val="150000"/>
              </a:lnSpc>
            </a:pPr>
            <a:r>
              <a:rPr lang="zh-CN" altLang="en-US" sz="2400" b="0"/>
              <a:t>（</a:t>
            </a:r>
            <a:r>
              <a:rPr lang="en-US" altLang="zh-CN" sz="2400" b="0"/>
              <a:t>3</a:t>
            </a:r>
            <a:r>
              <a:rPr lang="zh-CN" altLang="en-US" sz="2400" b="0"/>
              <a:t>） </a:t>
            </a:r>
            <a:r>
              <a:rPr lang="en-US" altLang="zh-CN" sz="2400" b="0"/>
              <a:t>void  free(void  *ptr)</a:t>
            </a:r>
            <a:r>
              <a:rPr lang="en-US" altLang="zh-CN" sz="2400" b="0">
                <a:latin typeface="Arial" panose="020B0604020202020204" pitchFamily="34" charset="0"/>
              </a:rPr>
              <a:t> </a:t>
            </a:r>
            <a:endParaRPr lang="en-US" altLang="zh-CN" sz="2400" b="0"/>
          </a:p>
          <a:p>
            <a:pPr lvl="1" eaLnBrk="1" hangingPunct="1">
              <a:lnSpc>
                <a:spcPct val="150000"/>
              </a:lnSpc>
            </a:pPr>
            <a:r>
              <a:rPr lang="zh-CN" altLang="en-US" sz="2000" b="0"/>
              <a:t>函数调用</a:t>
            </a:r>
            <a:r>
              <a:rPr lang="en-US" altLang="zh-CN" sz="2000" b="0"/>
              <a:t>free(ptr)</a:t>
            </a:r>
            <a:r>
              <a:rPr lang="zh-CN" altLang="en-US" sz="2000" b="0"/>
              <a:t>释放由</a:t>
            </a:r>
            <a:r>
              <a:rPr lang="en-US" altLang="zh-CN" sz="2000" b="0"/>
              <a:t>ptr</a:t>
            </a:r>
            <a:r>
              <a:rPr lang="zh-CN" altLang="en-US" sz="2000" b="0"/>
              <a:t>所指向的存储块。</a:t>
            </a:r>
            <a:r>
              <a:rPr lang="zh-CN" altLang="en-US" sz="2000" b="0" u="sng"/>
              <a:t>限制</a:t>
            </a:r>
            <a:r>
              <a:rPr lang="en-US" altLang="zh-CN" sz="2000" b="0" u="sng"/>
              <a:t>ptr</a:t>
            </a:r>
            <a:r>
              <a:rPr lang="zh-CN" altLang="en-US" sz="2000" b="0" u="sng"/>
              <a:t>的值是调用函数</a:t>
            </a:r>
            <a:r>
              <a:rPr lang="en-US" altLang="zh-CN" sz="2000" b="0" u="sng"/>
              <a:t>malloc()</a:t>
            </a:r>
            <a:r>
              <a:rPr lang="zh-CN" altLang="en-US" sz="2000" b="0" u="sng"/>
              <a:t>或</a:t>
            </a:r>
            <a:r>
              <a:rPr lang="en-US" altLang="zh-CN" sz="2000" b="0" u="sng"/>
              <a:t>calloc()</a:t>
            </a:r>
            <a:r>
              <a:rPr lang="zh-CN" altLang="en-US" sz="2000" b="0" u="sng"/>
              <a:t>申请到的连续存储空间中的地址</a:t>
            </a:r>
            <a:r>
              <a:rPr lang="zh-CN" altLang="en-US" sz="2000" b="0"/>
              <a:t>。</a:t>
            </a:r>
            <a:endParaRPr lang="en-US" altLang="zh-CN" sz="2000" b="0"/>
          </a:p>
          <a:p>
            <a:pPr lvl="1" eaLnBrk="1" hangingPunct="1">
              <a:lnSpc>
                <a:spcPct val="150000"/>
              </a:lnSpc>
            </a:pPr>
            <a:r>
              <a:rPr lang="zh-CN" altLang="en-US" sz="2000" b="0"/>
              <a:t>如果</a:t>
            </a:r>
            <a:r>
              <a:rPr lang="en-US" altLang="zh-CN" sz="2000" b="0"/>
              <a:t>prt</a:t>
            </a:r>
            <a:r>
              <a:rPr lang="zh-CN" altLang="en-US" sz="2000" b="0"/>
              <a:t>是</a:t>
            </a:r>
            <a:r>
              <a:rPr lang="en-US" altLang="zh-CN" sz="2000" b="0"/>
              <a:t>NULL</a:t>
            </a:r>
            <a:r>
              <a:rPr lang="zh-CN" altLang="en-US" sz="2000" b="0"/>
              <a:t>（空指针），</a:t>
            </a:r>
            <a:r>
              <a:rPr lang="en-US" altLang="zh-CN" sz="2000" b="0"/>
              <a:t>free</a:t>
            </a:r>
            <a:r>
              <a:rPr lang="zh-CN" altLang="en-US" sz="2000" b="0"/>
              <a:t>什么也不做。所以，</a:t>
            </a:r>
            <a:r>
              <a:rPr lang="zh-CN" altLang="en-US" sz="2000" b="0">
                <a:solidFill>
                  <a:srgbClr val="0066FF"/>
                </a:solidFill>
              </a:rPr>
              <a:t>不需要在</a:t>
            </a:r>
            <a:r>
              <a:rPr lang="en-US" altLang="zh-CN" sz="2000" b="0">
                <a:solidFill>
                  <a:srgbClr val="0066FF"/>
                </a:solidFill>
              </a:rPr>
              <a:t>free</a:t>
            </a:r>
            <a:r>
              <a:rPr lang="zh-CN" altLang="en-US" sz="2000" b="0">
                <a:solidFill>
                  <a:srgbClr val="0066FF"/>
                </a:solidFill>
              </a:rPr>
              <a:t>之前判断</a:t>
            </a:r>
            <a:r>
              <a:rPr lang="en-US" altLang="zh-CN" sz="2000" b="0">
                <a:solidFill>
                  <a:srgbClr val="0066FF"/>
                </a:solidFill>
              </a:rPr>
              <a:t>prt</a:t>
            </a:r>
            <a:r>
              <a:rPr lang="zh-CN" altLang="en-US" sz="2000" b="0">
                <a:solidFill>
                  <a:srgbClr val="0066FF"/>
                </a:solidFill>
              </a:rPr>
              <a:t>是否为</a:t>
            </a:r>
            <a:r>
              <a:rPr lang="en-US" altLang="zh-CN" sz="2000" b="0">
                <a:solidFill>
                  <a:srgbClr val="0066FF"/>
                </a:solidFill>
              </a:rPr>
              <a:t>NULL</a:t>
            </a:r>
            <a:r>
              <a:rPr lang="zh-CN" altLang="en-US" sz="2000" b="0"/>
              <a:t>。</a:t>
            </a:r>
            <a:endParaRPr lang="en-US" altLang="zh-CN" sz="2000" b="0"/>
          </a:p>
          <a:p>
            <a:pPr lvl="1" eaLnBrk="1" hangingPunct="1">
              <a:lnSpc>
                <a:spcPct val="150000"/>
              </a:lnSpc>
            </a:pPr>
            <a:r>
              <a:rPr lang="zh-CN" altLang="en-US" sz="2000" b="0"/>
              <a:t>建议：</a:t>
            </a:r>
            <a:r>
              <a:rPr lang="zh-CN" altLang="en-US" sz="2000" b="0">
                <a:solidFill>
                  <a:srgbClr val="C00000"/>
                </a:solidFill>
              </a:rPr>
              <a:t>在</a:t>
            </a:r>
            <a:r>
              <a:rPr lang="en-US" altLang="zh-CN" sz="2000" b="0">
                <a:solidFill>
                  <a:srgbClr val="C00000"/>
                </a:solidFill>
              </a:rPr>
              <a:t>free</a:t>
            </a:r>
            <a:r>
              <a:rPr lang="zh-CN" altLang="en-US" sz="2000" b="0">
                <a:solidFill>
                  <a:srgbClr val="C00000"/>
                </a:solidFill>
              </a:rPr>
              <a:t>完后，建议手动赋值 </a:t>
            </a:r>
            <a:r>
              <a:rPr lang="en-US" altLang="zh-CN" sz="2000" b="0">
                <a:solidFill>
                  <a:srgbClr val="0066FF"/>
                </a:solidFill>
              </a:rPr>
              <a:t>ptr</a:t>
            </a:r>
            <a:r>
              <a:rPr lang="zh-CN" altLang="en-US" sz="2000" b="0">
                <a:solidFill>
                  <a:srgbClr val="0066FF"/>
                </a:solidFill>
              </a:rPr>
              <a:t> </a:t>
            </a:r>
            <a:r>
              <a:rPr lang="en-US" altLang="zh-CN" sz="2000" b="0">
                <a:solidFill>
                  <a:srgbClr val="0066FF"/>
                </a:solidFill>
              </a:rPr>
              <a:t>=</a:t>
            </a:r>
            <a:r>
              <a:rPr lang="zh-CN" altLang="en-US" sz="2000" b="0">
                <a:solidFill>
                  <a:srgbClr val="0066FF"/>
                </a:solidFill>
              </a:rPr>
              <a:t> </a:t>
            </a:r>
            <a:r>
              <a:rPr lang="en-US" altLang="zh-CN" sz="2000" b="0">
                <a:solidFill>
                  <a:srgbClr val="0066FF"/>
                </a:solidFill>
              </a:rPr>
              <a:t>NULL;</a:t>
            </a:r>
            <a:r>
              <a:rPr lang="zh-CN" altLang="en-US" sz="2000" b="0">
                <a:solidFill>
                  <a:srgbClr val="0066FF"/>
                </a:solidFill>
              </a:rPr>
              <a:t> </a:t>
            </a:r>
            <a:r>
              <a:rPr lang="zh-CN" altLang="en-US" sz="2000" b="0"/>
              <a:t>以避免“悬空指针”的情况。</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07107FF0-C739-77B6-51F9-9504C71494C9}"/>
              </a:ext>
            </a:extLst>
          </p:cNvPr>
          <p:cNvSpPr>
            <a:spLocks noGrp="1" noChangeArrowheads="1"/>
          </p:cNvSpPr>
          <p:nvPr>
            <p:ph type="title"/>
          </p:nvPr>
        </p:nvSpPr>
        <p:spPr/>
        <p:txBody>
          <a:bodyPr/>
          <a:lstStyle/>
          <a:p>
            <a:pPr eaLnBrk="1" hangingPunct="1"/>
            <a:r>
              <a:rPr lang="zh-CN" altLang="en-US"/>
              <a:t>三个函数的小结</a:t>
            </a:r>
          </a:p>
        </p:txBody>
      </p:sp>
      <p:sp>
        <p:nvSpPr>
          <p:cNvPr id="128003" name="Rectangle 3">
            <a:extLst>
              <a:ext uri="{FF2B5EF4-FFF2-40B4-BE49-F238E27FC236}">
                <a16:creationId xmlns:a16="http://schemas.microsoft.com/office/drawing/2014/main" id="{83EB4EE0-3CA0-4A46-E9A2-F286EEF8DF49}"/>
              </a:ext>
            </a:extLst>
          </p:cNvPr>
          <p:cNvSpPr>
            <a:spLocks noGrp="1" noChangeArrowheads="1"/>
          </p:cNvSpPr>
          <p:nvPr>
            <p:ph type="body" idx="1"/>
          </p:nvPr>
        </p:nvSpPr>
        <p:spPr>
          <a:xfrm>
            <a:off x="827088" y="1844823"/>
            <a:ext cx="7793037" cy="4287689"/>
          </a:xfrm>
        </p:spPr>
        <p:txBody>
          <a:bodyPr/>
          <a:lstStyle/>
          <a:p>
            <a:pPr algn="just" eaLnBrk="1" hangingPunct="1">
              <a:lnSpc>
                <a:spcPct val="150000"/>
              </a:lnSpc>
            </a:pPr>
            <a:r>
              <a:rPr lang="zh-CN" altLang="en-US" sz="2000" b="0"/>
              <a:t>以上三个函数中，形参</a:t>
            </a:r>
            <a:r>
              <a:rPr lang="en-US" altLang="zh-CN" sz="2000" b="0"/>
              <a:t>size</a:t>
            </a:r>
            <a:r>
              <a:rPr lang="zh-CN" altLang="en-US" sz="2000" b="0"/>
              <a:t>、</a:t>
            </a:r>
            <a:r>
              <a:rPr lang="en-US" altLang="zh-CN" sz="2000" b="0"/>
              <a:t>nelm</a:t>
            </a:r>
            <a:r>
              <a:rPr lang="zh-CN" altLang="en-US" sz="2000" b="0"/>
              <a:t>和</a:t>
            </a:r>
            <a:r>
              <a:rPr lang="en-US" altLang="zh-CN" sz="2000" b="0"/>
              <a:t>elsize</a:t>
            </a:r>
            <a:r>
              <a:rPr lang="zh-CN" altLang="en-US" sz="2000" b="0"/>
              <a:t>为</a:t>
            </a:r>
            <a:r>
              <a:rPr lang="en-US" altLang="zh-CN" sz="2000" b="0"/>
              <a:t>unsigned</a:t>
            </a:r>
            <a:r>
              <a:rPr lang="zh-CN" altLang="en-US" sz="2000" b="0"/>
              <a:t>类型，</a:t>
            </a:r>
            <a:r>
              <a:rPr lang="en-US" altLang="zh-CN" sz="2000" b="0"/>
              <a:t>ptr</a:t>
            </a:r>
            <a:r>
              <a:rPr lang="zh-CN" altLang="en-US" sz="2000" b="0"/>
              <a:t>为某种指针类型。</a:t>
            </a:r>
          </a:p>
          <a:p>
            <a:pPr algn="just" eaLnBrk="1" hangingPunct="1">
              <a:lnSpc>
                <a:spcPct val="150000"/>
              </a:lnSpc>
            </a:pPr>
            <a:r>
              <a:rPr lang="zh-CN" altLang="en-US" sz="2000" b="0"/>
              <a:t>函数</a:t>
            </a:r>
            <a:r>
              <a:rPr lang="en-US" altLang="zh-CN" sz="2000" b="0"/>
              <a:t>malloc()</a:t>
            </a:r>
            <a:r>
              <a:rPr lang="zh-CN" altLang="en-US" sz="2000" b="0"/>
              <a:t>和</a:t>
            </a:r>
            <a:r>
              <a:rPr lang="en-US" altLang="zh-CN" sz="2000" b="0"/>
              <a:t>calloc()</a:t>
            </a:r>
            <a:r>
              <a:rPr lang="zh-CN" altLang="en-US" sz="2000" b="0"/>
              <a:t>返回的是系统分配的</a:t>
            </a:r>
            <a:r>
              <a:rPr lang="zh-CN" altLang="en-US" sz="2000" b="0">
                <a:solidFill>
                  <a:srgbClr val="C00000"/>
                </a:solidFill>
              </a:rPr>
              <a:t>（逻辑上）</a:t>
            </a:r>
            <a:r>
              <a:rPr lang="zh-CN" altLang="en-US" sz="2000" b="0"/>
              <a:t>连续存储空间的首地址，</a:t>
            </a:r>
            <a:r>
              <a:rPr lang="zh-CN" altLang="en-US" sz="2000" b="0">
                <a:solidFill>
                  <a:srgbClr val="0066FF"/>
                </a:solidFill>
              </a:rPr>
              <a:t>其类型为</a:t>
            </a:r>
            <a:r>
              <a:rPr lang="en-US" altLang="zh-CN" sz="2000" b="0">
                <a:solidFill>
                  <a:srgbClr val="0066FF"/>
                </a:solidFill>
              </a:rPr>
              <a:t>void</a:t>
            </a:r>
            <a:r>
              <a:rPr lang="zh-CN" altLang="en-US" sz="2000" b="0">
                <a:solidFill>
                  <a:srgbClr val="0066FF"/>
                </a:solidFill>
              </a:rPr>
              <a:t> </a:t>
            </a:r>
            <a:r>
              <a:rPr lang="en-US" altLang="zh-CN" sz="2000" b="0">
                <a:solidFill>
                  <a:srgbClr val="0066FF"/>
                </a:solidFill>
              </a:rPr>
              <a:t>*</a:t>
            </a:r>
            <a:r>
              <a:rPr lang="zh-CN" altLang="en-US" sz="2000" b="0">
                <a:solidFill>
                  <a:srgbClr val="0066FF"/>
                </a:solidFill>
              </a:rPr>
              <a:t>的</a:t>
            </a:r>
            <a:r>
              <a:rPr lang="zh-CN" altLang="en-US" sz="2000" b="0"/>
              <a:t>，程序将该返回值赋给某个指针变量（根据需要做强制类型转换），然后用该指针变量间接引用存储空间的相应成分。</a:t>
            </a:r>
          </a:p>
          <a:p>
            <a:pPr algn="just" eaLnBrk="1" hangingPunct="1">
              <a:lnSpc>
                <a:spcPct val="150000"/>
              </a:lnSpc>
            </a:pPr>
            <a:r>
              <a:rPr lang="zh-CN" altLang="en-US" sz="2000" b="0"/>
              <a:t>需要</a:t>
            </a:r>
            <a:r>
              <a:rPr lang="en-US" altLang="zh-CN" sz="2000" b="0">
                <a:solidFill>
                  <a:srgbClr val="0066FF"/>
                </a:solidFill>
              </a:rPr>
              <a:t>stdlib.h</a:t>
            </a:r>
            <a:r>
              <a:rPr lang="zh-CN" altLang="en-US" sz="2000" b="0">
                <a:solidFill>
                  <a:srgbClr val="0066FF"/>
                </a:solidFill>
              </a:rPr>
              <a:t>或</a:t>
            </a:r>
            <a:r>
              <a:rPr lang="en-US" altLang="zh-CN" sz="2000" b="0">
                <a:solidFill>
                  <a:srgbClr val="0066FF"/>
                </a:solidFill>
              </a:rPr>
              <a:t>malloc.h</a:t>
            </a:r>
            <a:r>
              <a:rPr lang="zh-CN" altLang="en-US" sz="2000" b="0"/>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1425CC8A-BC73-D977-343C-60C113B57954}"/>
              </a:ext>
            </a:extLst>
          </p:cNvPr>
          <p:cNvSpPr>
            <a:spLocks noGrp="1" noChangeArrowheads="1"/>
          </p:cNvSpPr>
          <p:nvPr>
            <p:ph type="title"/>
          </p:nvPr>
        </p:nvSpPr>
        <p:spPr/>
        <p:txBody>
          <a:bodyPr/>
          <a:lstStyle/>
          <a:p>
            <a:pPr eaLnBrk="1" hangingPunct="1"/>
            <a:r>
              <a:rPr lang="en-US" altLang="zh-CN" sz="3600"/>
              <a:t>7.4.2  </a:t>
            </a:r>
            <a:r>
              <a:rPr lang="zh-CN" altLang="en-US" sz="3600"/>
              <a:t>用链表实现的线性表</a:t>
            </a:r>
          </a:p>
        </p:txBody>
      </p:sp>
      <p:sp>
        <p:nvSpPr>
          <p:cNvPr id="129027" name="Rectangle 3">
            <a:extLst>
              <a:ext uri="{FF2B5EF4-FFF2-40B4-BE49-F238E27FC236}">
                <a16:creationId xmlns:a16="http://schemas.microsoft.com/office/drawing/2014/main" id="{78345266-AFD1-2961-0155-50D4BA1171FB}"/>
              </a:ext>
            </a:extLst>
          </p:cNvPr>
          <p:cNvSpPr>
            <a:spLocks noGrp="1" noChangeArrowheads="1"/>
          </p:cNvSpPr>
          <p:nvPr>
            <p:ph type="body" idx="1"/>
          </p:nvPr>
        </p:nvSpPr>
        <p:spPr>
          <a:xfrm>
            <a:off x="827088" y="1772815"/>
            <a:ext cx="7866062" cy="4359697"/>
          </a:xfrm>
        </p:spPr>
        <p:txBody>
          <a:bodyPr/>
          <a:lstStyle/>
          <a:p>
            <a:pPr algn="just" eaLnBrk="1" hangingPunct="1">
              <a:lnSpc>
                <a:spcPct val="150000"/>
              </a:lnSpc>
            </a:pPr>
            <a:r>
              <a:rPr lang="zh-CN" altLang="en-US" sz="2000" b="0"/>
              <a:t>线性表</a:t>
            </a:r>
          </a:p>
          <a:p>
            <a:pPr lvl="1" algn="just" eaLnBrk="1" hangingPunct="1">
              <a:lnSpc>
                <a:spcPct val="150000"/>
              </a:lnSpc>
            </a:pPr>
            <a:r>
              <a:rPr lang="zh-CN" altLang="en-US" sz="1800" b="0">
                <a:solidFill>
                  <a:srgbClr val="0066FF"/>
                </a:solidFill>
              </a:rPr>
              <a:t>线性表</a:t>
            </a:r>
            <a:r>
              <a:rPr lang="zh-CN" altLang="en-US" sz="1800" b="0"/>
              <a:t>是最简单又是最常使用的一种数据结构。线性表是</a:t>
            </a:r>
            <a:r>
              <a:rPr lang="zh-CN" altLang="en-US" sz="1800" u="sng"/>
              <a:t>由相同类型的结点组成</a:t>
            </a:r>
            <a:r>
              <a:rPr lang="zh-CN" altLang="en-US" sz="1800" b="0"/>
              <a:t>的有限序列，线性表中的结点习惯称为</a:t>
            </a:r>
            <a:r>
              <a:rPr lang="zh-CN" altLang="en-US" sz="1800" b="0">
                <a:solidFill>
                  <a:srgbClr val="0066FF"/>
                </a:solidFill>
              </a:rPr>
              <a:t>元素</a:t>
            </a:r>
            <a:r>
              <a:rPr lang="zh-CN" altLang="en-US" sz="1800" b="0"/>
              <a:t>或</a:t>
            </a:r>
            <a:r>
              <a:rPr lang="zh-CN" altLang="en-US" sz="1800" b="0">
                <a:solidFill>
                  <a:srgbClr val="0066FF"/>
                </a:solidFill>
              </a:rPr>
              <a:t>表元</a:t>
            </a:r>
            <a:r>
              <a:rPr lang="zh-CN" altLang="en-US" sz="1800" b="0"/>
              <a:t>。一个有</a:t>
            </a:r>
            <a:r>
              <a:rPr lang="en-US" altLang="zh-CN" sz="1800" b="0"/>
              <a:t>n</a:t>
            </a:r>
            <a:r>
              <a:rPr lang="zh-CN" altLang="en-US" sz="1800" b="0"/>
              <a:t>个表元</a:t>
            </a:r>
            <a:r>
              <a:rPr lang="en-US" altLang="zh-CN" sz="1800" b="0"/>
              <a:t>e0</a:t>
            </a:r>
            <a:r>
              <a:rPr lang="zh-CN" altLang="en-US" sz="1800" b="0"/>
              <a:t>、</a:t>
            </a:r>
            <a:r>
              <a:rPr lang="en-US" altLang="zh-CN" sz="1800" b="0"/>
              <a:t>e1</a:t>
            </a:r>
            <a:r>
              <a:rPr lang="zh-CN" altLang="en-US" sz="1800" b="0"/>
              <a:t>、</a:t>
            </a:r>
            <a:r>
              <a:rPr lang="en-US" altLang="zh-CN" sz="1800" b="0">
                <a:latin typeface="Arial" panose="020B0604020202020204" pitchFamily="34" charset="0"/>
              </a:rPr>
              <a:t>…</a:t>
            </a:r>
            <a:r>
              <a:rPr lang="zh-CN" altLang="en-US" sz="1800" b="0"/>
              <a:t>、</a:t>
            </a:r>
            <a:r>
              <a:rPr lang="en-US" altLang="zh-CN" sz="1800" b="0"/>
              <a:t>en-1</a:t>
            </a:r>
            <a:r>
              <a:rPr lang="zh-CN" altLang="en-US" sz="1800" b="0"/>
              <a:t>组成的线性表记为 </a:t>
            </a:r>
          </a:p>
          <a:p>
            <a:pPr lvl="2" algn="just" eaLnBrk="1" hangingPunct="1">
              <a:lnSpc>
                <a:spcPct val="150000"/>
              </a:lnSpc>
            </a:pPr>
            <a:r>
              <a:rPr lang="zh-CN" altLang="en-US" sz="1600" b="0"/>
              <a:t>（</a:t>
            </a:r>
            <a:r>
              <a:rPr lang="en-US" altLang="zh-CN" sz="1600" b="0"/>
              <a:t>e0</a:t>
            </a:r>
            <a:r>
              <a:rPr lang="zh-CN" altLang="en-US" sz="1600" b="0"/>
              <a:t>、</a:t>
            </a:r>
            <a:r>
              <a:rPr lang="en-US" altLang="zh-CN" sz="1600" b="0"/>
              <a:t>e1</a:t>
            </a:r>
            <a:r>
              <a:rPr lang="zh-CN" altLang="en-US" sz="1600" b="0"/>
              <a:t>、</a:t>
            </a:r>
            <a:r>
              <a:rPr lang="en-US" altLang="zh-CN" sz="1600" b="0">
                <a:latin typeface="Arial" panose="020B0604020202020204" pitchFamily="34" charset="0"/>
              </a:rPr>
              <a:t>…</a:t>
            </a:r>
            <a:r>
              <a:rPr lang="zh-CN" altLang="en-US" sz="1600" b="0"/>
              <a:t>、</a:t>
            </a:r>
            <a:r>
              <a:rPr lang="en-US" altLang="zh-CN" sz="1600" b="0"/>
              <a:t>en-1</a:t>
            </a:r>
            <a:r>
              <a:rPr lang="zh-CN" altLang="en-US" sz="1600" b="0"/>
              <a:t>）</a:t>
            </a:r>
          </a:p>
          <a:p>
            <a:pPr algn="just" eaLnBrk="1" hangingPunct="1">
              <a:lnSpc>
                <a:spcPct val="150000"/>
              </a:lnSpc>
            </a:pPr>
            <a:r>
              <a:rPr lang="zh-CN" altLang="en-US" sz="2000" b="0"/>
              <a:t>线性表的表元个数称为线性表的</a:t>
            </a:r>
            <a:r>
              <a:rPr lang="zh-CN" altLang="en-US" sz="2000"/>
              <a:t>长度</a:t>
            </a:r>
            <a:r>
              <a:rPr lang="zh-CN" altLang="en-US" sz="2000" b="0"/>
              <a:t>，长度为</a:t>
            </a:r>
            <a:r>
              <a:rPr lang="en-US" altLang="zh-CN" sz="2000" b="0"/>
              <a:t>0</a:t>
            </a:r>
            <a:r>
              <a:rPr lang="zh-CN" altLang="en-US" sz="2000" b="0"/>
              <a:t>的线性表称为</a:t>
            </a:r>
            <a:r>
              <a:rPr lang="zh-CN" altLang="en-US" sz="2000"/>
              <a:t>空表</a:t>
            </a:r>
            <a:r>
              <a:rPr lang="zh-CN" altLang="en-US" sz="2000" b="0"/>
              <a:t>。线性表中表元之间的关系由表元在线性表中的位置所确定，用相邻表元构成的偶</a:t>
            </a:r>
          </a:p>
          <a:p>
            <a:pPr lvl="1" algn="just" eaLnBrk="1" hangingPunct="1">
              <a:lnSpc>
                <a:spcPct val="150000"/>
              </a:lnSpc>
            </a:pPr>
            <a:r>
              <a:rPr lang="zh-CN" altLang="en-US" sz="1800" b="0"/>
              <a:t>           </a:t>
            </a:r>
            <a:r>
              <a:rPr lang="en-US" altLang="zh-CN" sz="1800" b="0"/>
              <a:t>(ei,ei+1)</a:t>
            </a:r>
            <a:r>
              <a:rPr lang="zh-CN" altLang="en-US" sz="1800" b="0"/>
              <a:t>（</a:t>
            </a:r>
            <a:r>
              <a:rPr lang="en-US" altLang="zh-CN" sz="1800" b="0"/>
              <a:t>0 &lt;= i &lt;=n-2</a:t>
            </a:r>
            <a:r>
              <a:rPr lang="zh-CN" altLang="en-US" sz="1800" b="0"/>
              <a:t>）</a:t>
            </a:r>
          </a:p>
          <a:p>
            <a:pPr lvl="1" algn="just" eaLnBrk="1" hangingPunct="1">
              <a:lnSpc>
                <a:spcPct val="150000"/>
              </a:lnSpc>
              <a:buFont typeface="Wingdings" pitchFamily="2" charset="2"/>
              <a:buNone/>
            </a:pPr>
            <a:r>
              <a:rPr lang="zh-CN" altLang="en-US" sz="1800" b="0"/>
              <a:t>表示线性表上存在的线性关系。</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21A00434-AC73-0CAF-CA1F-19C3E7947D52}"/>
              </a:ext>
            </a:extLst>
          </p:cNvPr>
          <p:cNvSpPr>
            <a:spLocks noGrp="1" noChangeArrowheads="1"/>
          </p:cNvSpPr>
          <p:nvPr>
            <p:ph type="title"/>
          </p:nvPr>
        </p:nvSpPr>
        <p:spPr/>
        <p:txBody>
          <a:bodyPr/>
          <a:lstStyle/>
          <a:p>
            <a:pPr eaLnBrk="1" hangingPunct="1"/>
            <a:r>
              <a:rPr lang="zh-CN" altLang="en-US" sz="3600"/>
              <a:t>线性表</a:t>
            </a:r>
            <a:r>
              <a:rPr lang="en-US" altLang="zh-CN" sz="3600"/>
              <a:t>(</a:t>
            </a:r>
            <a:r>
              <a:rPr lang="zh-CN" altLang="en-US" sz="3600"/>
              <a:t>续</a:t>
            </a:r>
            <a:r>
              <a:rPr lang="en-US" altLang="zh-CN" sz="3600"/>
              <a:t>)</a:t>
            </a:r>
          </a:p>
        </p:txBody>
      </p:sp>
      <p:sp>
        <p:nvSpPr>
          <p:cNvPr id="130051" name="Rectangle 3">
            <a:extLst>
              <a:ext uri="{FF2B5EF4-FFF2-40B4-BE49-F238E27FC236}">
                <a16:creationId xmlns:a16="http://schemas.microsoft.com/office/drawing/2014/main" id="{68017D75-3E68-227A-3C3F-4FF1934B7A87}"/>
              </a:ext>
            </a:extLst>
          </p:cNvPr>
          <p:cNvSpPr>
            <a:spLocks noGrp="1" noChangeArrowheads="1"/>
          </p:cNvSpPr>
          <p:nvPr>
            <p:ph type="body" idx="1"/>
          </p:nvPr>
        </p:nvSpPr>
        <p:spPr>
          <a:xfrm>
            <a:off x="827088" y="1844823"/>
            <a:ext cx="7866062" cy="4287689"/>
          </a:xfrm>
        </p:spPr>
        <p:txBody>
          <a:bodyPr/>
          <a:lstStyle/>
          <a:p>
            <a:pPr algn="just" eaLnBrk="1" hangingPunct="1">
              <a:lnSpc>
                <a:spcPct val="150000"/>
              </a:lnSpc>
            </a:pPr>
            <a:r>
              <a:rPr lang="zh-CN" altLang="en-US" sz="1800" b="0"/>
              <a:t>如果两个线性表有相同的表元集合，但它们的表元在线性表中出现的顺序不同，则它们是两个不相同的线性表。</a:t>
            </a:r>
          </a:p>
          <a:p>
            <a:pPr algn="just" eaLnBrk="1" hangingPunct="1">
              <a:lnSpc>
                <a:spcPct val="150000"/>
              </a:lnSpc>
            </a:pPr>
            <a:r>
              <a:rPr lang="zh-CN" altLang="en-US" sz="1800" b="0"/>
              <a:t>线性表的表元可以由多个成分组成，如线性表有</a:t>
            </a:r>
            <a:r>
              <a:rPr lang="zh-CN" altLang="en-US" sz="1800" u="sng"/>
              <a:t>能唯一确定一个表元</a:t>
            </a:r>
            <a:r>
              <a:rPr lang="zh-CN" altLang="en-US" sz="1800" b="0"/>
              <a:t>的成分或成分组存在，则该成分或成分组称为该线性表的</a:t>
            </a:r>
            <a:r>
              <a:rPr lang="zh-CN" altLang="en-US" sz="1800" b="0">
                <a:solidFill>
                  <a:srgbClr val="0066FF"/>
                </a:solidFill>
              </a:rPr>
              <a:t>关键字</a:t>
            </a:r>
            <a:r>
              <a:rPr lang="zh-CN" altLang="en-US" sz="1800" b="0"/>
              <a:t>，简称</a:t>
            </a:r>
            <a:r>
              <a:rPr lang="zh-CN" altLang="en-US" sz="1800" b="0">
                <a:solidFill>
                  <a:srgbClr val="0066FF"/>
                </a:solidFill>
              </a:rPr>
              <a:t>键</a:t>
            </a:r>
            <a:r>
              <a:rPr lang="zh-CN" altLang="en-US" sz="1800" b="0"/>
              <a:t>。</a:t>
            </a:r>
          </a:p>
          <a:p>
            <a:pPr lvl="1" algn="just" eaLnBrk="1" hangingPunct="1">
              <a:lnSpc>
                <a:spcPct val="150000"/>
              </a:lnSpc>
            </a:pPr>
            <a:r>
              <a:rPr lang="zh-CN" altLang="en-US" sz="1600" b="0"/>
              <a:t>为了一般性地讨论线性表，也为了简便，往往只考虑表元的关键字，而忽略表元的其它成分。</a:t>
            </a:r>
          </a:p>
          <a:p>
            <a:pPr algn="just" eaLnBrk="1" hangingPunct="1">
              <a:lnSpc>
                <a:spcPct val="150000"/>
              </a:lnSpc>
            </a:pPr>
            <a:endParaRPr lang="zh-CN" altLang="en-US" sz="1800" b="0"/>
          </a:p>
          <a:p>
            <a:pPr algn="just" eaLnBrk="1" hangingPunct="1">
              <a:lnSpc>
                <a:spcPct val="150000"/>
              </a:lnSpc>
            </a:pPr>
            <a:r>
              <a:rPr lang="zh-CN" altLang="en-US" sz="1800" b="0"/>
              <a:t>线性表可以用</a:t>
            </a:r>
            <a:r>
              <a:rPr lang="zh-CN" altLang="en-US" sz="1800" b="0">
                <a:solidFill>
                  <a:srgbClr val="0066FF"/>
                </a:solidFill>
              </a:rPr>
              <a:t>顺序存储的数组</a:t>
            </a:r>
            <a:r>
              <a:rPr lang="zh-CN" altLang="en-US" sz="1800" b="0"/>
              <a:t>实现，也可采用</a:t>
            </a:r>
            <a:r>
              <a:rPr lang="zh-CN" altLang="en-US" sz="1800" b="0">
                <a:solidFill>
                  <a:srgbClr val="0066FF"/>
                </a:solidFill>
              </a:rPr>
              <a:t>链接存储的链表</a:t>
            </a:r>
            <a:r>
              <a:rPr lang="zh-CN" altLang="en-US" sz="1800" b="0"/>
              <a:t>实现。</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6" name="Rectangle 2">
            <a:extLst>
              <a:ext uri="{FF2B5EF4-FFF2-40B4-BE49-F238E27FC236}">
                <a16:creationId xmlns:a16="http://schemas.microsoft.com/office/drawing/2014/main" id="{E29D8FC3-5056-443A-B5A2-E24E705DB272}"/>
              </a:ext>
            </a:extLst>
          </p:cNvPr>
          <p:cNvSpPr>
            <a:spLocks noGrp="1" noChangeArrowheads="1"/>
          </p:cNvSpPr>
          <p:nvPr>
            <p:ph type="title"/>
          </p:nvPr>
        </p:nvSpPr>
        <p:spPr/>
        <p:txBody>
          <a:bodyPr/>
          <a:lstStyle/>
          <a:p>
            <a:pPr eaLnBrk="1" hangingPunct="1"/>
            <a:r>
              <a:rPr lang="zh-CN" altLang="en-US"/>
              <a:t>链表概述</a:t>
            </a:r>
            <a:endParaRPr lang="zh-CN" altLang="en-US" b="0">
              <a:solidFill>
                <a:srgbClr val="FF0000"/>
              </a:solidFill>
              <a:effectLst>
                <a:outerShdw blurRad="38100" dist="38100" dir="2700000" algn="tl">
                  <a:srgbClr val="C0C0C0"/>
                </a:outerShdw>
              </a:effectLst>
              <a:latin typeface="Times New Roman" panose="02020603050405020304" pitchFamily="18" charset="0"/>
            </a:endParaRPr>
          </a:p>
        </p:txBody>
      </p:sp>
      <p:sp>
        <p:nvSpPr>
          <p:cNvPr id="131075" name="Rectangle 3">
            <a:extLst>
              <a:ext uri="{FF2B5EF4-FFF2-40B4-BE49-F238E27FC236}">
                <a16:creationId xmlns:a16="http://schemas.microsoft.com/office/drawing/2014/main" id="{50F11019-B570-D907-3019-48C4E01BC023}"/>
              </a:ext>
            </a:extLst>
          </p:cNvPr>
          <p:cNvSpPr>
            <a:spLocks noGrp="1" noChangeArrowheads="1"/>
          </p:cNvSpPr>
          <p:nvPr>
            <p:ph type="body" idx="1"/>
          </p:nvPr>
        </p:nvSpPr>
        <p:spPr/>
        <p:txBody>
          <a:bodyPr/>
          <a:lstStyle/>
          <a:p>
            <a:pPr eaLnBrk="1" hangingPunct="1">
              <a:lnSpc>
                <a:spcPct val="90000"/>
              </a:lnSpc>
            </a:pPr>
            <a:r>
              <a:rPr lang="zh-CN" altLang="en-US" sz="2000" b="0"/>
              <a:t>图</a:t>
            </a:r>
            <a:r>
              <a:rPr lang="en-US" altLang="zh-CN" sz="2000" b="0"/>
              <a:t>7-2 </a:t>
            </a:r>
            <a:r>
              <a:rPr lang="zh-CN" altLang="en-US" sz="2000" b="0"/>
              <a:t>表示最简单的一种链表结构。</a:t>
            </a:r>
          </a:p>
          <a:p>
            <a:pPr lvl="1" eaLnBrk="1" hangingPunct="1">
              <a:lnSpc>
                <a:spcPct val="90000"/>
              </a:lnSpc>
            </a:pPr>
            <a:r>
              <a:rPr lang="zh-CN" altLang="en-US" sz="1800" b="0"/>
              <a:t>有一个指针指向链表的第一个表元，习惯称该指针为</a:t>
            </a:r>
            <a:r>
              <a:rPr lang="zh-CN" altLang="en-US" sz="1800" b="0">
                <a:latin typeface="Arial" panose="020B0604020202020204" pitchFamily="34" charset="0"/>
              </a:rPr>
              <a:t>“</a:t>
            </a:r>
            <a:r>
              <a:rPr lang="zh-CN" altLang="en-US" sz="1800" b="0">
                <a:solidFill>
                  <a:srgbClr val="0066FF"/>
                </a:solidFill>
              </a:rPr>
              <a:t>头指针</a:t>
            </a:r>
            <a:r>
              <a:rPr lang="zh-CN" altLang="en-US" sz="1800" b="0">
                <a:latin typeface="Arial" panose="020B0604020202020204" pitchFamily="34" charset="0"/>
              </a:rPr>
              <a:t>”</a:t>
            </a:r>
            <a:r>
              <a:rPr lang="zh-CN" altLang="en-US" sz="1800" b="0"/>
              <a:t>或</a:t>
            </a:r>
            <a:r>
              <a:rPr lang="zh-CN" altLang="en-US" sz="1800" b="0">
                <a:latin typeface="Arial" panose="020B0604020202020204" pitchFamily="34" charset="0"/>
              </a:rPr>
              <a:t>“</a:t>
            </a:r>
            <a:r>
              <a:rPr lang="zh-CN" altLang="en-US" sz="1800" b="0">
                <a:solidFill>
                  <a:srgbClr val="0066FF"/>
                </a:solidFill>
              </a:rPr>
              <a:t>链表头</a:t>
            </a:r>
            <a:r>
              <a:rPr lang="zh-CN" altLang="en-US" sz="1800" b="0">
                <a:latin typeface="Arial" panose="020B0604020202020204" pitchFamily="34" charset="0"/>
              </a:rPr>
              <a:t>”</a:t>
            </a:r>
            <a:r>
              <a:rPr lang="zh-CN" altLang="en-US" sz="1800" b="0"/>
              <a:t>。</a:t>
            </a:r>
          </a:p>
          <a:p>
            <a:pPr lvl="1" eaLnBrk="1" hangingPunct="1">
              <a:lnSpc>
                <a:spcPct val="90000"/>
              </a:lnSpc>
            </a:pPr>
            <a:r>
              <a:rPr lang="zh-CN" altLang="en-US" sz="1800" b="0"/>
              <a:t>链表中的每个表元都包含</a:t>
            </a:r>
            <a:r>
              <a:rPr lang="zh-CN" altLang="en-US" sz="1800" b="0">
                <a:solidFill>
                  <a:srgbClr val="0066FF"/>
                </a:solidFill>
              </a:rPr>
              <a:t>两部分内容</a:t>
            </a:r>
            <a:r>
              <a:rPr lang="zh-CN" altLang="en-US" sz="1800" b="0"/>
              <a:t>，它们是表元的</a:t>
            </a:r>
            <a:r>
              <a:rPr lang="zh-CN" altLang="en-US" sz="1800" u="sng"/>
              <a:t>实际数据信息</a:t>
            </a:r>
            <a:r>
              <a:rPr lang="zh-CN" altLang="en-US" sz="1800" b="0"/>
              <a:t>和</a:t>
            </a:r>
            <a:r>
              <a:rPr lang="zh-CN" altLang="en-US" sz="1800" u="sng"/>
              <a:t>后继表元指针</a:t>
            </a:r>
            <a:r>
              <a:rPr lang="zh-CN" altLang="en-US" sz="1800" b="0"/>
              <a:t>。</a:t>
            </a:r>
          </a:p>
          <a:p>
            <a:pPr lvl="1" eaLnBrk="1" hangingPunct="1">
              <a:lnSpc>
                <a:spcPct val="90000"/>
              </a:lnSpc>
            </a:pPr>
            <a:r>
              <a:rPr lang="zh-CN" altLang="en-US" sz="1800" b="0"/>
              <a:t>在图</a:t>
            </a:r>
            <a:r>
              <a:rPr lang="en-US" altLang="zh-CN" sz="1800" b="0"/>
              <a:t>7-2</a:t>
            </a:r>
            <a:r>
              <a:rPr lang="zh-CN" altLang="en-US" sz="1800" b="0"/>
              <a:t>中，头指针</a:t>
            </a:r>
            <a:r>
              <a:rPr lang="en-US" altLang="zh-CN" sz="1800" b="0"/>
              <a:t>head</a:t>
            </a:r>
            <a:r>
              <a:rPr lang="zh-CN" altLang="en-US" sz="1800" b="0"/>
              <a:t>指向第一个表元，第一个表元又指向第二个表元，</a:t>
            </a:r>
            <a:r>
              <a:rPr lang="en-US" altLang="zh-CN" sz="1800" b="0">
                <a:latin typeface="Arial" panose="020B0604020202020204" pitchFamily="34" charset="0"/>
              </a:rPr>
              <a:t>……</a:t>
            </a:r>
            <a:r>
              <a:rPr lang="zh-CN" altLang="en-US" sz="1800" b="0"/>
              <a:t>，直到最后一个表元，该表元不再指向其他表元，习惯称链表的最后一个表元为</a:t>
            </a:r>
            <a:r>
              <a:rPr lang="zh-CN" altLang="en-US" sz="1800" b="0">
                <a:latin typeface="Arial" panose="020B0604020202020204" pitchFamily="34" charset="0"/>
              </a:rPr>
              <a:t>“</a:t>
            </a:r>
            <a:r>
              <a:rPr lang="zh-CN" altLang="en-US" sz="1800" b="0"/>
              <a:t>表尾</a:t>
            </a:r>
            <a:r>
              <a:rPr lang="zh-CN" altLang="en-US" sz="1800" b="0">
                <a:latin typeface="Arial" panose="020B0604020202020204" pitchFamily="34" charset="0"/>
              </a:rPr>
              <a:t>”</a:t>
            </a:r>
            <a:r>
              <a:rPr lang="zh-CN" altLang="en-US" sz="1800" b="0"/>
              <a:t>。</a:t>
            </a:r>
          </a:p>
          <a:p>
            <a:pPr eaLnBrk="1" hangingPunct="1">
              <a:lnSpc>
                <a:spcPct val="90000"/>
              </a:lnSpc>
              <a:buFont typeface="Wingdings" pitchFamily="2" charset="2"/>
              <a:buNone/>
            </a:pPr>
            <a:r>
              <a:rPr lang="zh-CN" altLang="en-US" sz="2000"/>
              <a:t>  </a:t>
            </a:r>
          </a:p>
          <a:p>
            <a:pPr eaLnBrk="1" hangingPunct="1">
              <a:lnSpc>
                <a:spcPct val="90000"/>
              </a:lnSpc>
              <a:buFont typeface="Wingdings" pitchFamily="2" charset="2"/>
              <a:buNone/>
            </a:pPr>
            <a:endParaRPr lang="zh-CN" altLang="en-US" sz="1800"/>
          </a:p>
          <a:p>
            <a:pPr eaLnBrk="1" hangingPunct="1">
              <a:lnSpc>
                <a:spcPct val="90000"/>
              </a:lnSpc>
              <a:buFont typeface="Wingdings" pitchFamily="2" charset="2"/>
              <a:buNone/>
            </a:pPr>
            <a:r>
              <a:rPr lang="zh-CN" altLang="en-US" sz="1800"/>
              <a:t>                        </a:t>
            </a:r>
            <a:r>
              <a:rPr lang="en-US" altLang="zh-CN" sz="2000"/>
              <a:t>12              16             20  </a:t>
            </a:r>
          </a:p>
          <a:p>
            <a:pPr eaLnBrk="1" hangingPunct="1">
              <a:lnSpc>
                <a:spcPct val="90000"/>
              </a:lnSpc>
              <a:buFont typeface="Wingdings" pitchFamily="2" charset="2"/>
              <a:buNone/>
            </a:pPr>
            <a:r>
              <a:rPr lang="en-US" altLang="zh-CN" sz="2000"/>
              <a:t>                                                       NULL                         NULL</a:t>
            </a:r>
          </a:p>
          <a:p>
            <a:pPr eaLnBrk="1" hangingPunct="1">
              <a:lnSpc>
                <a:spcPct val="90000"/>
              </a:lnSpc>
              <a:buFont typeface="Wingdings" pitchFamily="2" charset="2"/>
              <a:buNone/>
            </a:pPr>
            <a:r>
              <a:rPr lang="en-US" altLang="zh-CN" sz="2000"/>
              <a:t>    head                                                                             head</a:t>
            </a:r>
          </a:p>
          <a:p>
            <a:pPr eaLnBrk="1" hangingPunct="1">
              <a:lnSpc>
                <a:spcPct val="90000"/>
              </a:lnSpc>
              <a:buFont typeface="Wingdings" pitchFamily="2" charset="2"/>
              <a:buNone/>
            </a:pPr>
            <a:endParaRPr lang="en-US" altLang="zh-CN" sz="2000"/>
          </a:p>
          <a:p>
            <a:pPr eaLnBrk="1" hangingPunct="1">
              <a:lnSpc>
                <a:spcPct val="90000"/>
              </a:lnSpc>
              <a:buFont typeface="Wingdings" pitchFamily="2" charset="2"/>
              <a:buNone/>
            </a:pPr>
            <a:r>
              <a:rPr lang="en-US" altLang="zh-CN" sz="1800"/>
              <a:t>                     (a) </a:t>
            </a:r>
            <a:r>
              <a:rPr lang="zh-CN" altLang="en-US" sz="1800"/>
              <a:t>一个非空链表                                              </a:t>
            </a:r>
            <a:r>
              <a:rPr lang="en-US" altLang="zh-CN" sz="1800"/>
              <a:t>(b)</a:t>
            </a:r>
            <a:r>
              <a:rPr lang="zh-CN" altLang="en-US" sz="1800"/>
              <a:t>一个空链表</a:t>
            </a:r>
          </a:p>
          <a:p>
            <a:pPr eaLnBrk="1" hangingPunct="1">
              <a:lnSpc>
                <a:spcPct val="90000"/>
              </a:lnSpc>
              <a:buFont typeface="Wingdings" pitchFamily="2" charset="2"/>
              <a:buNone/>
            </a:pPr>
            <a:r>
              <a:rPr lang="zh-CN" altLang="en-US" sz="1800"/>
              <a:t>                                           </a:t>
            </a:r>
            <a:endParaRPr lang="en-US" altLang="zh-CN" sz="1800"/>
          </a:p>
          <a:p>
            <a:pPr eaLnBrk="1" hangingPunct="1">
              <a:lnSpc>
                <a:spcPct val="90000"/>
              </a:lnSpc>
              <a:buFont typeface="Wingdings" pitchFamily="2" charset="2"/>
              <a:buNone/>
            </a:pPr>
            <a:r>
              <a:rPr lang="zh-CN" altLang="en-US" sz="1800"/>
              <a:t>                                             图</a:t>
            </a:r>
            <a:r>
              <a:rPr lang="en-US" altLang="zh-CN" sz="1800"/>
              <a:t>7-2 </a:t>
            </a:r>
            <a:r>
              <a:rPr lang="zh-CN" altLang="en-US" sz="1800"/>
              <a:t>链表结构示意图</a:t>
            </a:r>
          </a:p>
          <a:p>
            <a:pPr eaLnBrk="1" hangingPunct="1">
              <a:lnSpc>
                <a:spcPct val="90000"/>
              </a:lnSpc>
              <a:buFont typeface="Wingdings" pitchFamily="2" charset="2"/>
              <a:buNone/>
            </a:pPr>
            <a:endParaRPr lang="en-US" altLang="zh-CN" sz="1800"/>
          </a:p>
        </p:txBody>
      </p:sp>
      <p:grpSp>
        <p:nvGrpSpPr>
          <p:cNvPr id="131076" name="Group 4">
            <a:extLst>
              <a:ext uri="{FF2B5EF4-FFF2-40B4-BE49-F238E27FC236}">
                <a16:creationId xmlns:a16="http://schemas.microsoft.com/office/drawing/2014/main" id="{07A939C2-9986-B068-0080-3BF379EFB189}"/>
              </a:ext>
            </a:extLst>
          </p:cNvPr>
          <p:cNvGrpSpPr>
            <a:grpSpLocks/>
          </p:cNvGrpSpPr>
          <p:nvPr/>
        </p:nvGrpSpPr>
        <p:grpSpPr bwMode="auto">
          <a:xfrm>
            <a:off x="1219200" y="4267200"/>
            <a:ext cx="7010400" cy="990600"/>
            <a:chOff x="240" y="2304"/>
            <a:chExt cx="4800" cy="672"/>
          </a:xfrm>
        </p:grpSpPr>
        <p:sp>
          <p:nvSpPr>
            <p:cNvPr id="131077" name="Line 5">
              <a:extLst>
                <a:ext uri="{FF2B5EF4-FFF2-40B4-BE49-F238E27FC236}">
                  <a16:creationId xmlns:a16="http://schemas.microsoft.com/office/drawing/2014/main" id="{FAAC6691-629B-FFCC-2AC1-78A35C8D12DC}"/>
                </a:ext>
              </a:extLst>
            </p:cNvPr>
            <p:cNvSpPr>
              <a:spLocks noChangeShapeType="1"/>
            </p:cNvSpPr>
            <p:nvPr/>
          </p:nvSpPr>
          <p:spPr bwMode="auto">
            <a:xfrm>
              <a:off x="240" y="2688"/>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78" name="Line 6">
              <a:extLst>
                <a:ext uri="{FF2B5EF4-FFF2-40B4-BE49-F238E27FC236}">
                  <a16:creationId xmlns:a16="http://schemas.microsoft.com/office/drawing/2014/main" id="{96621ECA-408A-C788-19C9-D4D5E4B220A4}"/>
                </a:ext>
              </a:extLst>
            </p:cNvPr>
            <p:cNvSpPr>
              <a:spLocks noChangeShapeType="1"/>
            </p:cNvSpPr>
            <p:nvPr/>
          </p:nvSpPr>
          <p:spPr bwMode="auto">
            <a:xfrm>
              <a:off x="768" y="268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79" name="Line 7">
              <a:extLst>
                <a:ext uri="{FF2B5EF4-FFF2-40B4-BE49-F238E27FC236}">
                  <a16:creationId xmlns:a16="http://schemas.microsoft.com/office/drawing/2014/main" id="{7B6AF27E-083B-8D1B-90BF-0CF56E889688}"/>
                </a:ext>
              </a:extLst>
            </p:cNvPr>
            <p:cNvSpPr>
              <a:spLocks noChangeShapeType="1"/>
            </p:cNvSpPr>
            <p:nvPr/>
          </p:nvSpPr>
          <p:spPr bwMode="auto">
            <a:xfrm flipH="1">
              <a:off x="240" y="2976"/>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80" name="Line 8">
              <a:extLst>
                <a:ext uri="{FF2B5EF4-FFF2-40B4-BE49-F238E27FC236}">
                  <a16:creationId xmlns:a16="http://schemas.microsoft.com/office/drawing/2014/main" id="{4A52BE3D-61A9-0AC6-3F0A-99B8B15E604F}"/>
                </a:ext>
              </a:extLst>
            </p:cNvPr>
            <p:cNvSpPr>
              <a:spLocks noChangeShapeType="1"/>
            </p:cNvSpPr>
            <p:nvPr/>
          </p:nvSpPr>
          <p:spPr bwMode="auto">
            <a:xfrm flipV="1">
              <a:off x="240" y="268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81" name="Line 9">
              <a:extLst>
                <a:ext uri="{FF2B5EF4-FFF2-40B4-BE49-F238E27FC236}">
                  <a16:creationId xmlns:a16="http://schemas.microsoft.com/office/drawing/2014/main" id="{63AC5E34-FF94-7D07-AF7A-EA945596C50F}"/>
                </a:ext>
              </a:extLst>
            </p:cNvPr>
            <p:cNvSpPr>
              <a:spLocks noChangeShapeType="1"/>
            </p:cNvSpPr>
            <p:nvPr/>
          </p:nvSpPr>
          <p:spPr bwMode="auto">
            <a:xfrm>
              <a:off x="1056" y="230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82" name="Line 10">
              <a:extLst>
                <a:ext uri="{FF2B5EF4-FFF2-40B4-BE49-F238E27FC236}">
                  <a16:creationId xmlns:a16="http://schemas.microsoft.com/office/drawing/2014/main" id="{20B49F33-C4E8-43DC-0692-157361ED5BFC}"/>
                </a:ext>
              </a:extLst>
            </p:cNvPr>
            <p:cNvSpPr>
              <a:spLocks noChangeShapeType="1"/>
            </p:cNvSpPr>
            <p:nvPr/>
          </p:nvSpPr>
          <p:spPr bwMode="auto">
            <a:xfrm>
              <a:off x="1056" y="2304"/>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83" name="Line 11">
              <a:extLst>
                <a:ext uri="{FF2B5EF4-FFF2-40B4-BE49-F238E27FC236}">
                  <a16:creationId xmlns:a16="http://schemas.microsoft.com/office/drawing/2014/main" id="{C5B7773E-06BB-1F9D-C140-18AA6EC71888}"/>
                </a:ext>
              </a:extLst>
            </p:cNvPr>
            <p:cNvSpPr>
              <a:spLocks noChangeShapeType="1"/>
            </p:cNvSpPr>
            <p:nvPr/>
          </p:nvSpPr>
          <p:spPr bwMode="auto">
            <a:xfrm>
              <a:off x="1584" y="230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84" name="Line 12">
              <a:extLst>
                <a:ext uri="{FF2B5EF4-FFF2-40B4-BE49-F238E27FC236}">
                  <a16:creationId xmlns:a16="http://schemas.microsoft.com/office/drawing/2014/main" id="{C6B00F56-E4BC-D553-057E-15B68C370EA7}"/>
                </a:ext>
              </a:extLst>
            </p:cNvPr>
            <p:cNvSpPr>
              <a:spLocks noChangeShapeType="1"/>
            </p:cNvSpPr>
            <p:nvPr/>
          </p:nvSpPr>
          <p:spPr bwMode="auto">
            <a:xfrm flipH="1">
              <a:off x="1056" y="2976"/>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85" name="Line 13">
              <a:extLst>
                <a:ext uri="{FF2B5EF4-FFF2-40B4-BE49-F238E27FC236}">
                  <a16:creationId xmlns:a16="http://schemas.microsoft.com/office/drawing/2014/main" id="{EFFAF79E-1133-B837-3BAD-B2CF05094235}"/>
                </a:ext>
              </a:extLst>
            </p:cNvPr>
            <p:cNvSpPr>
              <a:spLocks noChangeShapeType="1"/>
            </p:cNvSpPr>
            <p:nvPr/>
          </p:nvSpPr>
          <p:spPr bwMode="auto">
            <a:xfrm>
              <a:off x="1056" y="2688"/>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86" name="Line 14">
              <a:extLst>
                <a:ext uri="{FF2B5EF4-FFF2-40B4-BE49-F238E27FC236}">
                  <a16:creationId xmlns:a16="http://schemas.microsoft.com/office/drawing/2014/main" id="{04C6A99A-E3C4-6FCF-2634-3832F23BCDA1}"/>
                </a:ext>
              </a:extLst>
            </p:cNvPr>
            <p:cNvSpPr>
              <a:spLocks noChangeShapeType="1"/>
            </p:cNvSpPr>
            <p:nvPr/>
          </p:nvSpPr>
          <p:spPr bwMode="auto">
            <a:xfrm>
              <a:off x="1920" y="230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87" name="Line 15">
              <a:extLst>
                <a:ext uri="{FF2B5EF4-FFF2-40B4-BE49-F238E27FC236}">
                  <a16:creationId xmlns:a16="http://schemas.microsoft.com/office/drawing/2014/main" id="{9DDCCF8A-F689-1EA4-7318-F86E9B0E7B96}"/>
                </a:ext>
              </a:extLst>
            </p:cNvPr>
            <p:cNvSpPr>
              <a:spLocks noChangeShapeType="1"/>
            </p:cNvSpPr>
            <p:nvPr/>
          </p:nvSpPr>
          <p:spPr bwMode="auto">
            <a:xfrm>
              <a:off x="1920" y="2304"/>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88" name="Line 16">
              <a:extLst>
                <a:ext uri="{FF2B5EF4-FFF2-40B4-BE49-F238E27FC236}">
                  <a16:creationId xmlns:a16="http://schemas.microsoft.com/office/drawing/2014/main" id="{ECD6177F-342F-F09C-B63F-F332E1739E98}"/>
                </a:ext>
              </a:extLst>
            </p:cNvPr>
            <p:cNvSpPr>
              <a:spLocks noChangeShapeType="1"/>
            </p:cNvSpPr>
            <p:nvPr/>
          </p:nvSpPr>
          <p:spPr bwMode="auto">
            <a:xfrm>
              <a:off x="2496" y="230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89" name="Line 17">
              <a:extLst>
                <a:ext uri="{FF2B5EF4-FFF2-40B4-BE49-F238E27FC236}">
                  <a16:creationId xmlns:a16="http://schemas.microsoft.com/office/drawing/2014/main" id="{63C7554E-C997-4143-F726-C35C05701EF5}"/>
                </a:ext>
              </a:extLst>
            </p:cNvPr>
            <p:cNvSpPr>
              <a:spLocks noChangeShapeType="1"/>
            </p:cNvSpPr>
            <p:nvPr/>
          </p:nvSpPr>
          <p:spPr bwMode="auto">
            <a:xfrm flipH="1">
              <a:off x="1920" y="2976"/>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0" name="Line 18">
              <a:extLst>
                <a:ext uri="{FF2B5EF4-FFF2-40B4-BE49-F238E27FC236}">
                  <a16:creationId xmlns:a16="http://schemas.microsoft.com/office/drawing/2014/main" id="{48688203-2D59-EDE2-9178-FE8C257AE8E4}"/>
                </a:ext>
              </a:extLst>
            </p:cNvPr>
            <p:cNvSpPr>
              <a:spLocks noChangeShapeType="1"/>
            </p:cNvSpPr>
            <p:nvPr/>
          </p:nvSpPr>
          <p:spPr bwMode="auto">
            <a:xfrm>
              <a:off x="1920" y="2688"/>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1" name="Line 19">
              <a:extLst>
                <a:ext uri="{FF2B5EF4-FFF2-40B4-BE49-F238E27FC236}">
                  <a16:creationId xmlns:a16="http://schemas.microsoft.com/office/drawing/2014/main" id="{81AD8B30-E26B-4A73-9C71-94BD47D0A865}"/>
                </a:ext>
              </a:extLst>
            </p:cNvPr>
            <p:cNvSpPr>
              <a:spLocks noChangeShapeType="1"/>
            </p:cNvSpPr>
            <p:nvPr/>
          </p:nvSpPr>
          <p:spPr bwMode="auto">
            <a:xfrm>
              <a:off x="2784" y="230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2" name="Line 20">
              <a:extLst>
                <a:ext uri="{FF2B5EF4-FFF2-40B4-BE49-F238E27FC236}">
                  <a16:creationId xmlns:a16="http://schemas.microsoft.com/office/drawing/2014/main" id="{C0B2BFD4-D8C9-CCEA-67B7-E17767F60F3D}"/>
                </a:ext>
              </a:extLst>
            </p:cNvPr>
            <p:cNvSpPr>
              <a:spLocks noChangeShapeType="1"/>
            </p:cNvSpPr>
            <p:nvPr/>
          </p:nvSpPr>
          <p:spPr bwMode="auto">
            <a:xfrm>
              <a:off x="2784" y="2304"/>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3" name="Line 21">
              <a:extLst>
                <a:ext uri="{FF2B5EF4-FFF2-40B4-BE49-F238E27FC236}">
                  <a16:creationId xmlns:a16="http://schemas.microsoft.com/office/drawing/2014/main" id="{BB029CDE-143A-5ABC-7BC8-AD803BA4319B}"/>
                </a:ext>
              </a:extLst>
            </p:cNvPr>
            <p:cNvSpPr>
              <a:spLocks noChangeShapeType="1"/>
            </p:cNvSpPr>
            <p:nvPr/>
          </p:nvSpPr>
          <p:spPr bwMode="auto">
            <a:xfrm>
              <a:off x="3312" y="230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4" name="Line 22">
              <a:extLst>
                <a:ext uri="{FF2B5EF4-FFF2-40B4-BE49-F238E27FC236}">
                  <a16:creationId xmlns:a16="http://schemas.microsoft.com/office/drawing/2014/main" id="{55EDB429-9DE9-FF93-EDE6-A8B11EC9F897}"/>
                </a:ext>
              </a:extLst>
            </p:cNvPr>
            <p:cNvSpPr>
              <a:spLocks noChangeShapeType="1"/>
            </p:cNvSpPr>
            <p:nvPr/>
          </p:nvSpPr>
          <p:spPr bwMode="auto">
            <a:xfrm flipH="1">
              <a:off x="2784" y="2976"/>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5" name="Line 23">
              <a:extLst>
                <a:ext uri="{FF2B5EF4-FFF2-40B4-BE49-F238E27FC236}">
                  <a16:creationId xmlns:a16="http://schemas.microsoft.com/office/drawing/2014/main" id="{C50AD1F0-BA3D-53DE-79CB-EC981C1857BF}"/>
                </a:ext>
              </a:extLst>
            </p:cNvPr>
            <p:cNvSpPr>
              <a:spLocks noChangeShapeType="1"/>
            </p:cNvSpPr>
            <p:nvPr/>
          </p:nvSpPr>
          <p:spPr bwMode="auto">
            <a:xfrm>
              <a:off x="2784" y="2688"/>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6" name="Line 24">
              <a:extLst>
                <a:ext uri="{FF2B5EF4-FFF2-40B4-BE49-F238E27FC236}">
                  <a16:creationId xmlns:a16="http://schemas.microsoft.com/office/drawing/2014/main" id="{94F36F0A-2153-EB0D-EB77-CA9D053018B9}"/>
                </a:ext>
              </a:extLst>
            </p:cNvPr>
            <p:cNvSpPr>
              <a:spLocks noChangeShapeType="1"/>
            </p:cNvSpPr>
            <p:nvPr/>
          </p:nvSpPr>
          <p:spPr bwMode="auto">
            <a:xfrm>
              <a:off x="4512" y="2712"/>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7" name="Line 25">
              <a:extLst>
                <a:ext uri="{FF2B5EF4-FFF2-40B4-BE49-F238E27FC236}">
                  <a16:creationId xmlns:a16="http://schemas.microsoft.com/office/drawing/2014/main" id="{17CA8DB7-BDB1-8251-559A-9DD93F3E2562}"/>
                </a:ext>
              </a:extLst>
            </p:cNvPr>
            <p:cNvSpPr>
              <a:spLocks noChangeShapeType="1"/>
            </p:cNvSpPr>
            <p:nvPr/>
          </p:nvSpPr>
          <p:spPr bwMode="auto">
            <a:xfrm>
              <a:off x="4512" y="271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8" name="Line 26">
              <a:extLst>
                <a:ext uri="{FF2B5EF4-FFF2-40B4-BE49-F238E27FC236}">
                  <a16:creationId xmlns:a16="http://schemas.microsoft.com/office/drawing/2014/main" id="{6C94E2D7-CF56-7C0D-0CE8-53F66676DD8F}"/>
                </a:ext>
              </a:extLst>
            </p:cNvPr>
            <p:cNvSpPr>
              <a:spLocks noChangeShapeType="1"/>
            </p:cNvSpPr>
            <p:nvPr/>
          </p:nvSpPr>
          <p:spPr bwMode="auto">
            <a:xfrm>
              <a:off x="4512" y="2952"/>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9" name="Line 27">
              <a:extLst>
                <a:ext uri="{FF2B5EF4-FFF2-40B4-BE49-F238E27FC236}">
                  <a16:creationId xmlns:a16="http://schemas.microsoft.com/office/drawing/2014/main" id="{F1F9B0EB-6E22-3B79-C108-FCD1BE7EE1FB}"/>
                </a:ext>
              </a:extLst>
            </p:cNvPr>
            <p:cNvSpPr>
              <a:spLocks noChangeShapeType="1"/>
            </p:cNvSpPr>
            <p:nvPr/>
          </p:nvSpPr>
          <p:spPr bwMode="auto">
            <a:xfrm flipV="1">
              <a:off x="5040" y="271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0" name="Line 28">
              <a:extLst>
                <a:ext uri="{FF2B5EF4-FFF2-40B4-BE49-F238E27FC236}">
                  <a16:creationId xmlns:a16="http://schemas.microsoft.com/office/drawing/2014/main" id="{A1331790-4047-7549-D729-6C6F85C67F90}"/>
                </a:ext>
              </a:extLst>
            </p:cNvPr>
            <p:cNvSpPr>
              <a:spLocks noChangeShapeType="1"/>
            </p:cNvSpPr>
            <p:nvPr/>
          </p:nvSpPr>
          <p:spPr bwMode="auto">
            <a:xfrm>
              <a:off x="528" y="2832"/>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1" name="Line 29">
              <a:extLst>
                <a:ext uri="{FF2B5EF4-FFF2-40B4-BE49-F238E27FC236}">
                  <a16:creationId xmlns:a16="http://schemas.microsoft.com/office/drawing/2014/main" id="{2745F824-736E-9B77-22B7-98B5C0D7E496}"/>
                </a:ext>
              </a:extLst>
            </p:cNvPr>
            <p:cNvSpPr>
              <a:spLocks noChangeShapeType="1"/>
            </p:cNvSpPr>
            <p:nvPr/>
          </p:nvSpPr>
          <p:spPr bwMode="auto">
            <a:xfrm flipV="1">
              <a:off x="912" y="2304"/>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2" name="Line 30">
              <a:extLst>
                <a:ext uri="{FF2B5EF4-FFF2-40B4-BE49-F238E27FC236}">
                  <a16:creationId xmlns:a16="http://schemas.microsoft.com/office/drawing/2014/main" id="{C66D0F26-2D39-B821-F23C-102B66612E52}"/>
                </a:ext>
              </a:extLst>
            </p:cNvPr>
            <p:cNvSpPr>
              <a:spLocks noChangeShapeType="1"/>
            </p:cNvSpPr>
            <p:nvPr/>
          </p:nvSpPr>
          <p:spPr bwMode="auto">
            <a:xfrm>
              <a:off x="912" y="2304"/>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3" name="Line 31">
              <a:extLst>
                <a:ext uri="{FF2B5EF4-FFF2-40B4-BE49-F238E27FC236}">
                  <a16:creationId xmlns:a16="http://schemas.microsoft.com/office/drawing/2014/main" id="{59C402B8-6FA7-66D6-9CCC-487AB01ECE1C}"/>
                </a:ext>
              </a:extLst>
            </p:cNvPr>
            <p:cNvSpPr>
              <a:spLocks noChangeShapeType="1"/>
            </p:cNvSpPr>
            <p:nvPr/>
          </p:nvSpPr>
          <p:spPr bwMode="auto">
            <a:xfrm>
              <a:off x="1344" y="2832"/>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4" name="Line 32">
              <a:extLst>
                <a:ext uri="{FF2B5EF4-FFF2-40B4-BE49-F238E27FC236}">
                  <a16:creationId xmlns:a16="http://schemas.microsoft.com/office/drawing/2014/main" id="{CD1DBCB3-ECE9-CCD5-A2C8-6F6D9FBC6CEA}"/>
                </a:ext>
              </a:extLst>
            </p:cNvPr>
            <p:cNvSpPr>
              <a:spLocks noChangeShapeType="1"/>
            </p:cNvSpPr>
            <p:nvPr/>
          </p:nvSpPr>
          <p:spPr bwMode="auto">
            <a:xfrm flipV="1">
              <a:off x="1728" y="2304"/>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5" name="Line 33">
              <a:extLst>
                <a:ext uri="{FF2B5EF4-FFF2-40B4-BE49-F238E27FC236}">
                  <a16:creationId xmlns:a16="http://schemas.microsoft.com/office/drawing/2014/main" id="{89FFF977-C6B1-F677-C6BE-82628D5405F9}"/>
                </a:ext>
              </a:extLst>
            </p:cNvPr>
            <p:cNvSpPr>
              <a:spLocks noChangeShapeType="1"/>
            </p:cNvSpPr>
            <p:nvPr/>
          </p:nvSpPr>
          <p:spPr bwMode="auto">
            <a:xfrm>
              <a:off x="1728" y="2304"/>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6" name="Line 34">
              <a:extLst>
                <a:ext uri="{FF2B5EF4-FFF2-40B4-BE49-F238E27FC236}">
                  <a16:creationId xmlns:a16="http://schemas.microsoft.com/office/drawing/2014/main" id="{62A93EE3-4E88-13B8-AD4A-F94E3D298ED7}"/>
                </a:ext>
              </a:extLst>
            </p:cNvPr>
            <p:cNvSpPr>
              <a:spLocks noChangeShapeType="1"/>
            </p:cNvSpPr>
            <p:nvPr/>
          </p:nvSpPr>
          <p:spPr bwMode="auto">
            <a:xfrm>
              <a:off x="2256" y="2832"/>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7" name="Line 35">
              <a:extLst>
                <a:ext uri="{FF2B5EF4-FFF2-40B4-BE49-F238E27FC236}">
                  <a16:creationId xmlns:a16="http://schemas.microsoft.com/office/drawing/2014/main" id="{11D05F3D-7E35-92C3-678E-F5FE4E96629B}"/>
                </a:ext>
              </a:extLst>
            </p:cNvPr>
            <p:cNvSpPr>
              <a:spLocks noChangeShapeType="1"/>
            </p:cNvSpPr>
            <p:nvPr/>
          </p:nvSpPr>
          <p:spPr bwMode="auto">
            <a:xfrm flipV="1">
              <a:off x="2640" y="2304"/>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8" name="Line 36">
              <a:extLst>
                <a:ext uri="{FF2B5EF4-FFF2-40B4-BE49-F238E27FC236}">
                  <a16:creationId xmlns:a16="http://schemas.microsoft.com/office/drawing/2014/main" id="{8B411854-0C8E-E0B7-A8B1-9EA2429B32EE}"/>
                </a:ext>
              </a:extLst>
            </p:cNvPr>
            <p:cNvSpPr>
              <a:spLocks noChangeShapeType="1"/>
            </p:cNvSpPr>
            <p:nvPr/>
          </p:nvSpPr>
          <p:spPr bwMode="auto">
            <a:xfrm>
              <a:off x="2640" y="2304"/>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A8C918D7-ACA5-D383-F4F3-15936D814B87}"/>
              </a:ext>
            </a:extLst>
          </p:cNvPr>
          <p:cNvSpPr>
            <a:spLocks noGrp="1" noChangeArrowheads="1"/>
          </p:cNvSpPr>
          <p:nvPr>
            <p:ph type="title"/>
          </p:nvPr>
        </p:nvSpPr>
        <p:spPr/>
        <p:txBody>
          <a:bodyPr/>
          <a:lstStyle/>
          <a:p>
            <a:pPr eaLnBrk="1" hangingPunct="1"/>
            <a:r>
              <a:rPr lang="zh-CN" altLang="en-US"/>
              <a:t>图</a:t>
            </a:r>
            <a:r>
              <a:rPr lang="en-US" altLang="zh-CN"/>
              <a:t>7-2</a:t>
            </a:r>
            <a:r>
              <a:rPr lang="zh-CN" altLang="en-US"/>
              <a:t>中链表的说明</a:t>
            </a:r>
          </a:p>
        </p:txBody>
      </p:sp>
      <p:sp>
        <p:nvSpPr>
          <p:cNvPr id="133123" name="Rectangle 3">
            <a:extLst>
              <a:ext uri="{FF2B5EF4-FFF2-40B4-BE49-F238E27FC236}">
                <a16:creationId xmlns:a16="http://schemas.microsoft.com/office/drawing/2014/main" id="{996B2451-9FDC-2D94-445A-AF0606FCCDA6}"/>
              </a:ext>
            </a:extLst>
          </p:cNvPr>
          <p:cNvSpPr>
            <a:spLocks noGrp="1" noChangeArrowheads="1"/>
          </p:cNvSpPr>
          <p:nvPr>
            <p:ph type="body" idx="1"/>
          </p:nvPr>
        </p:nvSpPr>
        <p:spPr>
          <a:xfrm>
            <a:off x="827088" y="1844823"/>
            <a:ext cx="7866062" cy="4287689"/>
          </a:xfrm>
        </p:spPr>
        <p:txBody>
          <a:bodyPr/>
          <a:lstStyle/>
          <a:p>
            <a:pPr marL="533400" indent="-533400" algn="just" eaLnBrk="1" hangingPunct="1">
              <a:lnSpc>
                <a:spcPct val="150000"/>
              </a:lnSpc>
            </a:pPr>
            <a:r>
              <a:rPr lang="zh-CN" altLang="en-US" sz="2000" b="0"/>
              <a:t>图</a:t>
            </a:r>
            <a:r>
              <a:rPr lang="en-US" altLang="zh-CN" sz="2000" b="0"/>
              <a:t>7-2</a:t>
            </a:r>
            <a:r>
              <a:rPr lang="zh-CN" altLang="en-US" sz="2000" b="0"/>
              <a:t>的</a:t>
            </a:r>
            <a:r>
              <a:rPr lang="en-US" altLang="zh-CN" sz="2000" b="0"/>
              <a:t>(a)</a:t>
            </a:r>
            <a:r>
              <a:rPr lang="zh-CN" altLang="en-US" sz="2000" b="0"/>
              <a:t>也是一个有三个表元的整数链表，该链表的表元类型就可用前述的类型</a:t>
            </a:r>
            <a:r>
              <a:rPr lang="en-US" altLang="zh-CN" sz="2000" b="0"/>
              <a:t>struct  intNode</a:t>
            </a:r>
            <a:r>
              <a:rPr lang="zh-CN" altLang="en-US" sz="2000" b="0"/>
              <a:t>来描述。</a:t>
            </a:r>
          </a:p>
          <a:p>
            <a:pPr marL="533400" indent="-533400" algn="just" eaLnBrk="1" hangingPunct="1">
              <a:lnSpc>
                <a:spcPct val="150000"/>
              </a:lnSpc>
            </a:pPr>
            <a:r>
              <a:rPr lang="zh-CN" altLang="en-US" sz="2000" b="0"/>
              <a:t>结构类型</a:t>
            </a:r>
            <a:r>
              <a:rPr lang="en-US" altLang="zh-CN" sz="2000" b="0"/>
              <a:t>struct intNode</a:t>
            </a:r>
            <a:r>
              <a:rPr lang="zh-CN" altLang="en-US" sz="2000" b="0"/>
              <a:t>中有</a:t>
            </a:r>
            <a:r>
              <a:rPr lang="zh-CN" altLang="en-US" sz="2000" u="sng"/>
              <a:t>成分</a:t>
            </a:r>
            <a:r>
              <a:rPr lang="en-US" altLang="zh-CN" sz="2000" u="sng"/>
              <a:t>next</a:t>
            </a:r>
            <a:r>
              <a:rPr lang="zh-CN" altLang="en-US" sz="2000" b="0"/>
              <a:t>是指针类型的，它能指向类型</a:t>
            </a:r>
            <a:r>
              <a:rPr lang="en-US" altLang="zh-CN" sz="2000" b="0"/>
              <a:t>struct intNode</a:t>
            </a:r>
            <a:r>
              <a:rPr lang="zh-CN" altLang="en-US" sz="2000" b="0"/>
              <a:t>的结构。在结构类型</a:t>
            </a:r>
            <a:r>
              <a:rPr lang="en-US" altLang="zh-CN" sz="2000" b="0"/>
              <a:t>struct intNode</a:t>
            </a:r>
            <a:r>
              <a:rPr lang="zh-CN" altLang="en-US" sz="2000" b="0"/>
              <a:t>的定义中，为定义成分</a:t>
            </a:r>
            <a:r>
              <a:rPr lang="en-US" altLang="zh-CN" sz="2000" b="0"/>
              <a:t>next</a:t>
            </a:r>
            <a:r>
              <a:rPr lang="zh-CN" altLang="en-US" sz="2000" b="0"/>
              <a:t>类型，使用了</a:t>
            </a:r>
            <a:r>
              <a:rPr lang="zh-CN" altLang="en-US" sz="2000" b="0" u="sng"/>
              <a:t>还未完全定义的</a:t>
            </a:r>
            <a:r>
              <a:rPr lang="zh-CN" altLang="en-US" sz="2000" b="0"/>
              <a:t>类型，并且正是自已要定义的类型（</a:t>
            </a:r>
            <a:r>
              <a:rPr lang="zh-CN" altLang="en-US" sz="2000"/>
              <a:t>自引用</a:t>
            </a:r>
            <a:r>
              <a:rPr lang="zh-CN" altLang="en-US" sz="2000" b="0"/>
              <a:t>）。</a:t>
            </a:r>
          </a:p>
          <a:p>
            <a:pPr marL="533400" indent="-533400" algn="just" eaLnBrk="1" hangingPunct="1">
              <a:lnSpc>
                <a:spcPct val="150000"/>
              </a:lnSpc>
            </a:pPr>
            <a:r>
              <a:rPr lang="zh-CN" altLang="en-US" sz="2000" b="0">
                <a:solidFill>
                  <a:srgbClr val="C00000"/>
                </a:solidFill>
              </a:rPr>
              <a:t>在有成分引用自身结构类型的定义中，限制此成分的类型只能是</a:t>
            </a:r>
            <a:r>
              <a:rPr lang="zh-CN" altLang="en-US" sz="2000">
                <a:solidFill>
                  <a:srgbClr val="C00000"/>
                </a:solidFill>
              </a:rPr>
              <a:t>指针类型</a:t>
            </a:r>
            <a:r>
              <a:rPr lang="zh-CN" altLang="en-US" sz="2000" b="0">
                <a:solidFill>
                  <a:srgbClr val="C00000"/>
                </a:solidFill>
              </a:rPr>
              <a: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7BF26933-2201-0996-B055-E90B7735C6BE}"/>
              </a:ext>
            </a:extLst>
          </p:cNvPr>
          <p:cNvSpPr>
            <a:spLocks noGrp="1" noChangeArrowheads="1"/>
          </p:cNvSpPr>
          <p:nvPr>
            <p:ph type="title"/>
          </p:nvPr>
        </p:nvSpPr>
        <p:spPr/>
        <p:txBody>
          <a:bodyPr/>
          <a:lstStyle/>
          <a:p>
            <a:pPr eaLnBrk="1" hangingPunct="1"/>
            <a:r>
              <a:rPr lang="en-US" altLang="zh-CN"/>
              <a:t>“</a:t>
            </a:r>
            <a:r>
              <a:rPr lang="zh-CN" altLang="en-US"/>
              <a:t>不完整的”结构定义举例</a:t>
            </a:r>
          </a:p>
        </p:txBody>
      </p:sp>
      <p:sp>
        <p:nvSpPr>
          <p:cNvPr id="134147" name="Rectangle 3">
            <a:extLst>
              <a:ext uri="{FF2B5EF4-FFF2-40B4-BE49-F238E27FC236}">
                <a16:creationId xmlns:a16="http://schemas.microsoft.com/office/drawing/2014/main" id="{B812BF78-0172-756C-9A6D-0355FB83CEDC}"/>
              </a:ext>
            </a:extLst>
          </p:cNvPr>
          <p:cNvSpPr>
            <a:spLocks noGrp="1" noChangeArrowheads="1"/>
          </p:cNvSpPr>
          <p:nvPr>
            <p:ph type="body" idx="1"/>
          </p:nvPr>
        </p:nvSpPr>
        <p:spPr>
          <a:xfrm>
            <a:off x="827088" y="1844823"/>
            <a:ext cx="7866062" cy="4287689"/>
          </a:xfrm>
        </p:spPr>
        <p:txBody>
          <a:bodyPr/>
          <a:lstStyle/>
          <a:p>
            <a:pPr eaLnBrk="1" hangingPunct="1">
              <a:lnSpc>
                <a:spcPct val="150000"/>
              </a:lnSpc>
            </a:pPr>
            <a:r>
              <a:rPr lang="zh-CN" altLang="en-US" sz="1800" b="0"/>
              <a:t>如类型 </a:t>
            </a:r>
            <a:r>
              <a:rPr lang="en-US" altLang="zh-CN" sz="1800" b="0"/>
              <a:t>T1</a:t>
            </a:r>
            <a:r>
              <a:rPr lang="zh-CN" altLang="en-US" sz="1800" b="0"/>
              <a:t>中有成分</a:t>
            </a:r>
            <a:r>
              <a:rPr lang="en-US" altLang="zh-CN" sz="1800" b="0"/>
              <a:t>t1</a:t>
            </a:r>
            <a:r>
              <a:rPr lang="zh-CN" altLang="en-US" sz="1800" b="0"/>
              <a:t>引用类型</a:t>
            </a:r>
            <a:r>
              <a:rPr lang="en-US" altLang="zh-CN" sz="1800" b="0"/>
              <a:t>T2</a:t>
            </a:r>
            <a:r>
              <a:rPr lang="zh-CN" altLang="en-US" sz="1800" b="0"/>
              <a:t>，</a:t>
            </a:r>
            <a:r>
              <a:rPr lang="en-US" altLang="zh-CN" sz="1800" b="0"/>
              <a:t>T2</a:t>
            </a:r>
            <a:r>
              <a:rPr lang="zh-CN" altLang="en-US" sz="1800" b="0"/>
              <a:t>类型中有成分</a:t>
            </a:r>
            <a:r>
              <a:rPr lang="en-US" altLang="zh-CN" sz="1800" b="0"/>
              <a:t>t2</a:t>
            </a:r>
            <a:r>
              <a:rPr lang="zh-CN" altLang="en-US" sz="1800" b="0"/>
              <a:t>引用类型</a:t>
            </a:r>
            <a:r>
              <a:rPr lang="en-US" altLang="zh-CN" sz="1800" b="0"/>
              <a:t>T1</a:t>
            </a:r>
            <a:r>
              <a:rPr lang="zh-CN" altLang="en-US" sz="1800" b="0"/>
              <a:t>，其中</a:t>
            </a:r>
            <a:r>
              <a:rPr lang="en-US" altLang="zh-CN" sz="1800" b="0"/>
              <a:t>t1</a:t>
            </a:r>
            <a:r>
              <a:rPr lang="zh-CN" altLang="en-US" sz="1800" b="0"/>
              <a:t>和</a:t>
            </a:r>
            <a:r>
              <a:rPr lang="en-US" altLang="zh-CN" sz="1800" b="0"/>
              <a:t>t2</a:t>
            </a:r>
            <a:r>
              <a:rPr lang="zh-CN" altLang="en-US" sz="1800" b="0"/>
              <a:t>都是指针类型。为了定义类型</a:t>
            </a:r>
            <a:r>
              <a:rPr lang="en-US" altLang="zh-CN" sz="1800" b="0"/>
              <a:t>T1</a:t>
            </a:r>
            <a:r>
              <a:rPr lang="zh-CN" altLang="en-US" sz="1800" b="0"/>
              <a:t>和</a:t>
            </a:r>
            <a:r>
              <a:rPr lang="en-US" altLang="zh-CN" sz="1800" b="0"/>
              <a:t>T2</a:t>
            </a:r>
            <a:r>
              <a:rPr lang="zh-CN" altLang="en-US" sz="1800" b="0"/>
              <a:t>，</a:t>
            </a:r>
            <a:r>
              <a:rPr lang="zh-CN" altLang="en-US" sz="1800" b="0">
                <a:solidFill>
                  <a:srgbClr val="0066FF"/>
                </a:solidFill>
              </a:rPr>
              <a:t>需要引入不完整的结构类型说明</a:t>
            </a:r>
            <a:r>
              <a:rPr lang="zh-CN" altLang="en-US" sz="1800" b="0"/>
              <a:t>。如：</a:t>
            </a:r>
          </a:p>
          <a:p>
            <a:pPr lvl="1" eaLnBrk="1" hangingPunct="1">
              <a:buFont typeface="Wingdings" pitchFamily="2" charset="2"/>
              <a:buAutoNum type="arabicPeriod"/>
            </a:pPr>
            <a:r>
              <a:rPr lang="zh-CN" altLang="en-US" sz="1600" b="0"/>
              <a:t>      </a:t>
            </a:r>
            <a:r>
              <a:rPr lang="en-US" altLang="zh-CN" sz="1600" b="0"/>
              <a:t>struct T1  {</a:t>
            </a:r>
          </a:p>
          <a:p>
            <a:pPr lvl="1" eaLnBrk="1" hangingPunct="1">
              <a:buFont typeface="Wingdings" pitchFamily="2" charset="2"/>
              <a:buAutoNum type="arabicPeriod"/>
            </a:pPr>
            <a:r>
              <a:rPr lang="en-US" altLang="zh-CN" sz="1600" b="0"/>
              <a:t>          int       ival;</a:t>
            </a:r>
          </a:p>
          <a:p>
            <a:pPr lvl="1" eaLnBrk="1" hangingPunct="1">
              <a:buFont typeface="Wingdings" pitchFamily="2" charset="2"/>
              <a:buAutoNum type="arabicPeriod"/>
            </a:pPr>
            <a:r>
              <a:rPr lang="en-US" altLang="zh-CN" sz="1600" b="0"/>
              <a:t>          struct T2 *t1;</a:t>
            </a:r>
          </a:p>
          <a:p>
            <a:pPr lvl="1" eaLnBrk="1" hangingPunct="1">
              <a:buFont typeface="Wingdings" pitchFamily="2" charset="2"/>
              <a:buAutoNum type="arabicPeriod"/>
            </a:pPr>
            <a:r>
              <a:rPr lang="en-US" altLang="zh-CN" sz="1600" b="0"/>
              <a:t>      };</a:t>
            </a:r>
          </a:p>
          <a:p>
            <a:pPr lvl="1" eaLnBrk="1" hangingPunct="1">
              <a:buFont typeface="Wingdings" pitchFamily="2" charset="2"/>
              <a:buAutoNum type="arabicPeriod"/>
            </a:pPr>
            <a:r>
              <a:rPr lang="en-US" altLang="zh-CN" sz="1600" b="0"/>
              <a:t>      struct T2  {  </a:t>
            </a:r>
          </a:p>
          <a:p>
            <a:pPr lvl="1" eaLnBrk="1" hangingPunct="1">
              <a:buFont typeface="Wingdings" pitchFamily="2" charset="2"/>
              <a:buAutoNum type="arabicPeriod"/>
            </a:pPr>
            <a:r>
              <a:rPr lang="en-US" altLang="zh-CN" sz="1600" b="0"/>
              <a:t>         char      cval;</a:t>
            </a:r>
          </a:p>
          <a:p>
            <a:pPr lvl="1" eaLnBrk="1" hangingPunct="1">
              <a:buFont typeface="Wingdings" pitchFamily="2" charset="2"/>
              <a:buAutoNum type="arabicPeriod"/>
            </a:pPr>
            <a:r>
              <a:rPr lang="en-US" altLang="zh-CN" sz="1600" b="0"/>
              <a:t>         struct T1 *t2;</a:t>
            </a:r>
          </a:p>
          <a:p>
            <a:pPr lvl="1" eaLnBrk="1" hangingPunct="1">
              <a:buFont typeface="Wingdings" pitchFamily="2" charset="2"/>
              <a:buAutoNum type="arabicPeriod"/>
            </a:pPr>
            <a:r>
              <a:rPr lang="en-US" altLang="zh-CN" sz="1600" b="0"/>
              <a:t>      };</a:t>
            </a:r>
          </a:p>
          <a:p>
            <a:pPr eaLnBrk="1" hangingPunct="1">
              <a:lnSpc>
                <a:spcPct val="150000"/>
              </a:lnSpc>
            </a:pPr>
            <a:r>
              <a:rPr lang="zh-CN" altLang="en-US" sz="1800" b="0"/>
              <a:t>其中类型</a:t>
            </a:r>
            <a:r>
              <a:rPr lang="en-US" altLang="zh-CN" sz="1800" b="0"/>
              <a:t>struct T1</a:t>
            </a:r>
            <a:r>
              <a:rPr lang="zh-CN" altLang="en-US" sz="1800" b="0"/>
              <a:t>定义中的成分</a:t>
            </a:r>
            <a:r>
              <a:rPr lang="en-US" altLang="zh-CN" sz="1800" b="0"/>
              <a:t>struct T2 *t1</a:t>
            </a:r>
            <a:r>
              <a:rPr lang="zh-CN" altLang="en-US" sz="1800" b="0"/>
              <a:t>就包含不完整的结构类型</a:t>
            </a:r>
            <a:r>
              <a:rPr lang="en-US" altLang="zh-CN" sz="1800" b="0"/>
              <a:t>struct T2</a:t>
            </a:r>
            <a:r>
              <a:rPr lang="zh-CN" altLang="en-US" sz="1800" b="0"/>
              <a: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CE9E2CE9-6994-4388-BF14-ECAB29C8FD4C}"/>
              </a:ext>
            </a:extLst>
          </p:cNvPr>
          <p:cNvSpPr>
            <a:spLocks noGrp="1" noChangeArrowheads="1"/>
          </p:cNvSpPr>
          <p:nvPr>
            <p:ph type="title"/>
          </p:nvPr>
        </p:nvSpPr>
        <p:spPr/>
        <p:txBody>
          <a:bodyPr/>
          <a:lstStyle/>
          <a:p>
            <a:pPr eaLnBrk="1" hangingPunct="1"/>
            <a:r>
              <a:rPr lang="zh-CN" altLang="en-US"/>
              <a:t>单向链表和双向链表</a:t>
            </a:r>
            <a:endParaRPr lang="zh-CN" altLang="en-US" sz="4000" i="1" u="sng"/>
          </a:p>
        </p:txBody>
      </p:sp>
      <p:sp>
        <p:nvSpPr>
          <p:cNvPr id="132099" name="Rectangle 3">
            <a:extLst>
              <a:ext uri="{FF2B5EF4-FFF2-40B4-BE49-F238E27FC236}">
                <a16:creationId xmlns:a16="http://schemas.microsoft.com/office/drawing/2014/main" id="{8ED17E5E-600C-8087-FD7E-AB45037EBFB5}"/>
              </a:ext>
            </a:extLst>
          </p:cNvPr>
          <p:cNvSpPr>
            <a:spLocks noGrp="1" noChangeArrowheads="1"/>
          </p:cNvSpPr>
          <p:nvPr>
            <p:ph type="body" idx="1"/>
          </p:nvPr>
        </p:nvSpPr>
        <p:spPr>
          <a:xfrm>
            <a:off x="827088" y="1844823"/>
            <a:ext cx="7866062" cy="4287689"/>
          </a:xfrm>
        </p:spPr>
        <p:txBody>
          <a:bodyPr/>
          <a:lstStyle/>
          <a:p>
            <a:pPr algn="just" eaLnBrk="1" hangingPunct="1">
              <a:lnSpc>
                <a:spcPct val="150000"/>
              </a:lnSpc>
            </a:pPr>
            <a:r>
              <a:rPr lang="zh-CN" altLang="en-US" sz="1800" b="0"/>
              <a:t>表元的后继表元位置由表元所包含的指针所指明，</a:t>
            </a:r>
            <a:r>
              <a:rPr lang="zh-CN" altLang="en-US" sz="1800" b="0" u="sng"/>
              <a:t>链表中各表元在内存中的存放位置是可以任意的</a:t>
            </a:r>
            <a:r>
              <a:rPr lang="zh-CN" altLang="en-US" sz="1800" b="0"/>
              <a:t>。如要</a:t>
            </a:r>
            <a:r>
              <a:rPr lang="zh-CN" altLang="en-US" sz="1800" b="0">
                <a:solidFill>
                  <a:srgbClr val="0066FF"/>
                </a:solidFill>
              </a:rPr>
              <a:t>查找</a:t>
            </a:r>
            <a:r>
              <a:rPr lang="zh-CN" altLang="en-US" sz="1800" b="0"/>
              <a:t>链表中的某表元，必须由链表头指针所指的</a:t>
            </a:r>
            <a:r>
              <a:rPr lang="zh-CN" altLang="en-US" sz="1800" b="0">
                <a:solidFill>
                  <a:srgbClr val="0066FF"/>
                </a:solidFill>
              </a:rPr>
              <a:t>第一个表元开始、顺序查找</a:t>
            </a:r>
            <a:r>
              <a:rPr lang="zh-CN" altLang="en-US" sz="1800" b="0"/>
              <a:t>。</a:t>
            </a:r>
          </a:p>
          <a:p>
            <a:pPr algn="just" eaLnBrk="1" hangingPunct="1">
              <a:lnSpc>
                <a:spcPct val="150000"/>
              </a:lnSpc>
            </a:pPr>
            <a:r>
              <a:rPr lang="zh-CN" altLang="en-US" sz="1800" b="0"/>
              <a:t>图</a:t>
            </a:r>
            <a:r>
              <a:rPr lang="en-US" altLang="zh-CN" sz="1800" b="0"/>
              <a:t>7-2</a:t>
            </a:r>
            <a:r>
              <a:rPr lang="zh-CN" altLang="en-US" sz="1800" b="0"/>
              <a:t>所示的链表结构是</a:t>
            </a:r>
            <a:r>
              <a:rPr lang="zh-CN" altLang="en-US" sz="1800" b="0" i="1" u="sng">
                <a:solidFill>
                  <a:srgbClr val="0066FF"/>
                </a:solidFill>
              </a:rPr>
              <a:t>单向链表</a:t>
            </a:r>
            <a:r>
              <a:rPr lang="zh-CN" altLang="en-US" sz="1800" b="0"/>
              <a:t>，即每个表元只知道它的后继表元位置，而不能知道它的</a:t>
            </a:r>
            <a:r>
              <a:rPr lang="zh-CN" altLang="en-US" sz="1800" b="0" u="sng"/>
              <a:t>前驱表元</a:t>
            </a:r>
            <a:r>
              <a:rPr lang="zh-CN" altLang="en-US" sz="1800" b="0"/>
              <a:t>。</a:t>
            </a:r>
          </a:p>
          <a:p>
            <a:pPr algn="just" eaLnBrk="1" hangingPunct="1">
              <a:lnSpc>
                <a:spcPct val="150000"/>
              </a:lnSpc>
            </a:pPr>
            <a:r>
              <a:rPr lang="zh-CN" altLang="en-US" sz="1800" b="0"/>
              <a:t>在某些应用中，要求链表的每个表元都能方便地知道它的</a:t>
            </a:r>
            <a:r>
              <a:rPr lang="zh-CN" altLang="en-US" sz="1800" b="0" u="sng"/>
              <a:t>前驱表元</a:t>
            </a:r>
            <a:r>
              <a:rPr lang="zh-CN" altLang="en-US" sz="1800" b="0"/>
              <a:t>和</a:t>
            </a:r>
            <a:r>
              <a:rPr lang="zh-CN" altLang="en-US" sz="1800" b="0" u="sng"/>
              <a:t>后继表元</a:t>
            </a:r>
            <a:r>
              <a:rPr lang="zh-CN" altLang="en-US" sz="1800" b="0"/>
              <a:t>，这种链表的表元应设有</a:t>
            </a:r>
            <a:r>
              <a:rPr lang="zh-CN" altLang="en-US" sz="1800" b="0">
                <a:solidFill>
                  <a:srgbClr val="0066FF"/>
                </a:solidFill>
              </a:rPr>
              <a:t>两个指针成分</a:t>
            </a:r>
            <a:r>
              <a:rPr lang="zh-CN" altLang="en-US" sz="1800" b="0"/>
              <a:t>，分别指向它的前驱和后继表元，这种链表称为</a:t>
            </a:r>
            <a:r>
              <a:rPr lang="zh-CN" altLang="en-US" sz="1800" b="0" i="1" u="sng">
                <a:solidFill>
                  <a:srgbClr val="0066FF"/>
                </a:solidFill>
              </a:rPr>
              <a:t>双向链表</a:t>
            </a:r>
            <a:r>
              <a:rPr lang="zh-CN" altLang="en-US" sz="1800" b="0"/>
              <a:t>。</a:t>
            </a:r>
          </a:p>
          <a:p>
            <a:pPr algn="just" eaLnBrk="1" hangingPunct="1">
              <a:lnSpc>
                <a:spcPct val="150000"/>
              </a:lnSpc>
            </a:pPr>
            <a:endParaRPr lang="zh-CN" altLang="en-US" sz="1800" b="0"/>
          </a:p>
          <a:p>
            <a:pPr algn="just" eaLnBrk="1" hangingPunct="1">
              <a:lnSpc>
                <a:spcPct val="150000"/>
              </a:lnSpc>
            </a:pPr>
            <a:r>
              <a:rPr lang="zh-CN" altLang="en-US" sz="1800" b="0"/>
              <a:t>为适应不同问题的特定要求，链表结构可以有多种变形形式。</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Rectangle 2">
            <a:extLst>
              <a:ext uri="{FF2B5EF4-FFF2-40B4-BE49-F238E27FC236}">
                <a16:creationId xmlns:a16="http://schemas.microsoft.com/office/drawing/2014/main" id="{6588E0E8-0112-42EE-94E2-5507425C4A9E}"/>
              </a:ext>
            </a:extLst>
          </p:cNvPr>
          <p:cNvSpPr>
            <a:spLocks noGrp="1" noChangeArrowheads="1"/>
          </p:cNvSpPr>
          <p:nvPr>
            <p:ph type="title"/>
          </p:nvPr>
        </p:nvSpPr>
        <p:spPr/>
        <p:txBody>
          <a:bodyPr/>
          <a:lstStyle/>
          <a:p>
            <a:pPr eaLnBrk="1" hangingPunct="1"/>
            <a:r>
              <a:rPr lang="en-US" altLang="zh-CN"/>
              <a:t>7.4.3  </a:t>
            </a:r>
            <a:r>
              <a:rPr lang="zh-CN" altLang="en-US"/>
              <a:t>链表的基本操作</a:t>
            </a:r>
            <a:endParaRPr lang="zh-CN" altLang="en-US" sz="2800">
              <a:solidFill>
                <a:srgbClr val="FF0000"/>
              </a:solidFill>
              <a:effectLst>
                <a:outerShdw blurRad="38100" dist="38100" dir="2700000" algn="tl">
                  <a:srgbClr val="C0C0C0"/>
                </a:outerShdw>
              </a:effectLst>
              <a:latin typeface="Times New Roman" panose="02020603050405020304" pitchFamily="18" charset="0"/>
            </a:endParaRPr>
          </a:p>
        </p:txBody>
      </p:sp>
      <p:sp>
        <p:nvSpPr>
          <p:cNvPr id="136195" name="Rectangle 3">
            <a:extLst>
              <a:ext uri="{FF2B5EF4-FFF2-40B4-BE49-F238E27FC236}">
                <a16:creationId xmlns:a16="http://schemas.microsoft.com/office/drawing/2014/main" id="{EB0B01F5-E26E-4E3D-EC1E-CE2D5F51ECB7}"/>
              </a:ext>
            </a:extLst>
          </p:cNvPr>
          <p:cNvSpPr>
            <a:spLocks noGrp="1" noChangeArrowheads="1"/>
          </p:cNvSpPr>
          <p:nvPr>
            <p:ph type="body" idx="1"/>
          </p:nvPr>
        </p:nvSpPr>
        <p:spPr>
          <a:xfrm>
            <a:off x="827088" y="1844823"/>
            <a:ext cx="7866062" cy="4287689"/>
          </a:xfrm>
        </p:spPr>
        <p:txBody>
          <a:bodyPr/>
          <a:lstStyle/>
          <a:p>
            <a:pPr algn="just" eaLnBrk="1" hangingPunct="1">
              <a:lnSpc>
                <a:spcPct val="150000"/>
              </a:lnSpc>
            </a:pPr>
            <a:r>
              <a:rPr lang="zh-CN" altLang="en-US" sz="2000" b="0"/>
              <a:t>链表的基本操作主要包括</a:t>
            </a:r>
            <a:r>
              <a:rPr lang="zh-CN" altLang="en-US" sz="2000" b="0">
                <a:solidFill>
                  <a:srgbClr val="CC0000"/>
                </a:solidFill>
              </a:rPr>
              <a:t>建立空链表</a:t>
            </a:r>
            <a:r>
              <a:rPr lang="zh-CN" altLang="en-US" sz="2000" b="0"/>
              <a:t>、</a:t>
            </a:r>
            <a:r>
              <a:rPr lang="zh-CN" altLang="en-US" sz="2000" b="0">
                <a:solidFill>
                  <a:srgbClr val="CC0000"/>
                </a:solidFill>
              </a:rPr>
              <a:t>生成指定值的新表元</a:t>
            </a:r>
            <a:r>
              <a:rPr lang="zh-CN" altLang="en-US" sz="2000" b="0"/>
              <a:t>、</a:t>
            </a:r>
            <a:r>
              <a:rPr lang="zh-CN" altLang="en-US" sz="2000" b="0">
                <a:solidFill>
                  <a:srgbClr val="CC0000"/>
                </a:solidFill>
              </a:rPr>
              <a:t>插入一个表元</a:t>
            </a:r>
            <a:r>
              <a:rPr lang="zh-CN" altLang="en-US" sz="2000" b="0"/>
              <a:t>、</a:t>
            </a:r>
            <a:r>
              <a:rPr lang="zh-CN" altLang="en-US" sz="2000" b="0">
                <a:solidFill>
                  <a:srgbClr val="CC0000"/>
                </a:solidFill>
              </a:rPr>
              <a:t>遍历</a:t>
            </a:r>
            <a:r>
              <a:rPr lang="zh-CN" altLang="en-US" sz="2000" b="0"/>
              <a:t>、</a:t>
            </a:r>
            <a:r>
              <a:rPr lang="zh-CN" altLang="en-US" sz="2000" b="0">
                <a:solidFill>
                  <a:srgbClr val="CC0000"/>
                </a:solidFill>
              </a:rPr>
              <a:t>查找</a:t>
            </a:r>
            <a:r>
              <a:rPr lang="zh-CN" altLang="en-US" sz="2000" b="0"/>
              <a:t>和</a:t>
            </a:r>
            <a:r>
              <a:rPr lang="zh-CN" altLang="en-US" sz="2000" b="0">
                <a:solidFill>
                  <a:srgbClr val="CC0000"/>
                </a:solidFill>
              </a:rPr>
              <a:t>删除</a:t>
            </a:r>
            <a:r>
              <a:rPr lang="zh-CN" altLang="en-US" sz="2000" b="0"/>
              <a:t>一个表元等。</a:t>
            </a:r>
          </a:p>
          <a:p>
            <a:pPr algn="just" eaLnBrk="1" hangingPunct="1">
              <a:lnSpc>
                <a:spcPct val="150000"/>
              </a:lnSpc>
            </a:pPr>
            <a:r>
              <a:rPr lang="zh-CN" altLang="en-US" sz="2000" b="0"/>
              <a:t>这些操作都有固定的模式，利用它们，并结合循环等控制结构能实现各种有关链表的复杂操作。</a:t>
            </a:r>
          </a:p>
          <a:p>
            <a:pPr algn="just" eaLnBrk="1" hangingPunct="1">
              <a:lnSpc>
                <a:spcPct val="150000"/>
              </a:lnSpc>
            </a:pPr>
            <a:endParaRPr lang="zh-CN" altLang="en-US" sz="2000" b="0"/>
          </a:p>
          <a:p>
            <a:pPr algn="just" eaLnBrk="1" hangingPunct="1">
              <a:lnSpc>
                <a:spcPct val="150000"/>
              </a:lnSpc>
            </a:pPr>
            <a:r>
              <a:rPr lang="zh-CN" altLang="en-US" sz="2000" b="0"/>
              <a:t>下面以</a:t>
            </a:r>
            <a:r>
              <a:rPr lang="zh-CN" altLang="en-US" sz="2000">
                <a:solidFill>
                  <a:srgbClr val="0066FF"/>
                </a:solidFill>
              </a:rPr>
              <a:t>整数单向链表</a:t>
            </a:r>
            <a:r>
              <a:rPr lang="zh-CN" altLang="en-US" sz="2000" b="0"/>
              <a:t>为例，说明各种操作的实现。假定链表表元类型是前面定义的</a:t>
            </a:r>
            <a:r>
              <a:rPr lang="en-US" altLang="zh-CN" sz="2000" b="0">
                <a:solidFill>
                  <a:srgbClr val="0066FF"/>
                </a:solidFill>
              </a:rPr>
              <a:t>struct intNode</a:t>
            </a:r>
            <a:r>
              <a:rPr lang="zh-CN" altLang="en-US" sz="2000" b="0"/>
              <a:t>类型，并另有以下变量说明：</a:t>
            </a:r>
          </a:p>
          <a:p>
            <a:pPr lvl="1" algn="just" eaLnBrk="1" hangingPunct="1">
              <a:lnSpc>
                <a:spcPct val="150000"/>
              </a:lnSpc>
            </a:pPr>
            <a:r>
              <a:rPr lang="en-US" altLang="zh-CN" sz="1800" b="0"/>
              <a:t>struct intNode *head, *p, *q, *u, *v, *w;</a:t>
            </a:r>
          </a:p>
          <a:p>
            <a:pPr lvl="1" algn="just" eaLnBrk="1" hangingPunct="1">
              <a:lnSpc>
                <a:spcPct val="150000"/>
              </a:lnSpc>
            </a:pPr>
            <a:r>
              <a:rPr lang="zh-CN" altLang="en-US" sz="1800" b="0"/>
              <a:t>其中变量</a:t>
            </a:r>
            <a:r>
              <a:rPr lang="en-US" altLang="zh-CN" sz="1800" b="0"/>
              <a:t>head</a:t>
            </a:r>
            <a:r>
              <a:rPr lang="zh-CN" altLang="en-US" sz="1800" b="0"/>
              <a:t>是整数链表的头指针，其余变量是工作指针。</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32F5C18B-F0B6-1D35-05E3-F8DF549B9A94}"/>
              </a:ext>
            </a:extLst>
          </p:cNvPr>
          <p:cNvSpPr>
            <a:spLocks noGrp="1" noChangeArrowheads="1"/>
          </p:cNvSpPr>
          <p:nvPr>
            <p:ph type="title"/>
          </p:nvPr>
        </p:nvSpPr>
        <p:spPr/>
        <p:txBody>
          <a:bodyPr/>
          <a:lstStyle/>
          <a:p>
            <a:pPr eaLnBrk="1" hangingPunct="1"/>
            <a:r>
              <a:rPr lang="zh-CN" altLang="en-US"/>
              <a:t>建立空链表</a:t>
            </a:r>
          </a:p>
        </p:txBody>
      </p:sp>
      <p:sp>
        <p:nvSpPr>
          <p:cNvPr id="137219" name="Rectangle 3">
            <a:extLst>
              <a:ext uri="{FF2B5EF4-FFF2-40B4-BE49-F238E27FC236}">
                <a16:creationId xmlns:a16="http://schemas.microsoft.com/office/drawing/2014/main" id="{39C1B6F6-0FEC-2737-A8A8-D35FAE3BFB5F}"/>
              </a:ext>
            </a:extLst>
          </p:cNvPr>
          <p:cNvSpPr>
            <a:spLocks noGrp="1" noChangeArrowheads="1"/>
          </p:cNvSpPr>
          <p:nvPr>
            <p:ph type="body" idx="1"/>
          </p:nvPr>
        </p:nvSpPr>
        <p:spPr>
          <a:xfrm>
            <a:off x="827088" y="1844823"/>
            <a:ext cx="7793037" cy="4287689"/>
          </a:xfrm>
        </p:spPr>
        <p:txBody>
          <a:bodyPr/>
          <a:lstStyle/>
          <a:p>
            <a:pPr eaLnBrk="1" hangingPunct="1">
              <a:lnSpc>
                <a:spcPct val="150000"/>
              </a:lnSpc>
            </a:pPr>
            <a:r>
              <a:rPr lang="zh-CN" altLang="en-US" sz="2800" b="0" u="sng"/>
              <a:t>链表的建立过程</a:t>
            </a:r>
            <a:r>
              <a:rPr lang="zh-CN" altLang="en-US" sz="2800" b="0"/>
              <a:t>是从空链表</a:t>
            </a:r>
            <a:r>
              <a:rPr lang="en-US" altLang="zh-CN" sz="2800" b="0"/>
              <a:t>(</a:t>
            </a:r>
            <a:r>
              <a:rPr lang="zh-CN" altLang="en-US" sz="2800" b="0"/>
              <a:t>没有链表表元</a:t>
            </a:r>
            <a:r>
              <a:rPr lang="en-US" altLang="zh-CN" sz="2800" b="0"/>
              <a:t>)</a:t>
            </a:r>
            <a:r>
              <a:rPr lang="zh-CN" altLang="en-US" sz="2800" b="0"/>
              <a:t>开始，逐渐插入链表新表元的过程。</a:t>
            </a:r>
          </a:p>
          <a:p>
            <a:pPr eaLnBrk="1" hangingPunct="1">
              <a:lnSpc>
                <a:spcPct val="150000"/>
              </a:lnSpc>
            </a:pPr>
            <a:r>
              <a:rPr lang="zh-CN" altLang="en-US" sz="2800" b="0"/>
              <a:t>要使以变量</a:t>
            </a:r>
            <a:r>
              <a:rPr lang="en-US" altLang="zh-CN" sz="2800" b="0"/>
              <a:t>head</a:t>
            </a:r>
            <a:r>
              <a:rPr lang="zh-CN" altLang="en-US" sz="2800" b="0"/>
              <a:t>为头指针的链表为空链表，让</a:t>
            </a:r>
            <a:r>
              <a:rPr lang="en-US" altLang="zh-CN" sz="2800" b="0"/>
              <a:t>head</a:t>
            </a:r>
            <a:r>
              <a:rPr lang="zh-CN" altLang="en-US" sz="2800" b="0"/>
              <a:t>取</a:t>
            </a:r>
            <a:r>
              <a:rPr lang="en-US" altLang="zh-CN" sz="2800" b="0"/>
              <a:t>NULL</a:t>
            </a:r>
            <a:r>
              <a:rPr lang="zh-CN" altLang="en-US" sz="2800" b="0"/>
              <a:t>值即可。所以语句：</a:t>
            </a:r>
          </a:p>
          <a:p>
            <a:pPr lvl="1" eaLnBrk="1" hangingPunct="1">
              <a:lnSpc>
                <a:spcPct val="150000"/>
              </a:lnSpc>
            </a:pPr>
            <a:r>
              <a:rPr lang="zh-CN" altLang="en-US" sz="2400" b="0"/>
              <a:t>   </a:t>
            </a:r>
            <a:r>
              <a:rPr lang="en-US" altLang="zh-CN" sz="2400" b="0"/>
              <a:t>head = NULL;</a:t>
            </a:r>
          </a:p>
          <a:p>
            <a:pPr eaLnBrk="1" hangingPunct="1">
              <a:lnSpc>
                <a:spcPct val="150000"/>
              </a:lnSpc>
              <a:buFont typeface="Wingdings" pitchFamily="2" charset="2"/>
              <a:buNone/>
            </a:pPr>
            <a:r>
              <a:rPr lang="en-US" altLang="zh-CN" sz="2800" b="0"/>
              <a:t>   </a:t>
            </a:r>
            <a:r>
              <a:rPr lang="zh-CN" altLang="en-US" sz="2800" b="0"/>
              <a:t>就建立了以</a:t>
            </a:r>
            <a:r>
              <a:rPr lang="en-US" altLang="zh-CN" sz="2800" b="0"/>
              <a:t>head</a:t>
            </a:r>
            <a:r>
              <a:rPr lang="zh-CN" altLang="en-US" sz="2800" b="0"/>
              <a:t>为链表头指针的空链表。</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834AC4D7-2E41-063C-D14A-8FA6E470DC9A}"/>
              </a:ext>
            </a:extLst>
          </p:cNvPr>
          <p:cNvSpPr>
            <a:spLocks noGrp="1" noChangeArrowheads="1"/>
          </p:cNvSpPr>
          <p:nvPr>
            <p:ph type="title"/>
          </p:nvPr>
        </p:nvSpPr>
        <p:spPr/>
        <p:txBody>
          <a:bodyPr/>
          <a:lstStyle/>
          <a:p>
            <a:pPr eaLnBrk="1" hangingPunct="1"/>
            <a:r>
              <a:rPr lang="zh-CN" altLang="en-US"/>
              <a:t>生成指定值的新表元</a:t>
            </a:r>
          </a:p>
        </p:txBody>
      </p:sp>
      <p:sp>
        <p:nvSpPr>
          <p:cNvPr id="138243" name="Rectangle 3">
            <a:extLst>
              <a:ext uri="{FF2B5EF4-FFF2-40B4-BE49-F238E27FC236}">
                <a16:creationId xmlns:a16="http://schemas.microsoft.com/office/drawing/2014/main" id="{4E203B95-B668-2D39-E679-C06E4A87ED0A}"/>
              </a:ext>
            </a:extLst>
          </p:cNvPr>
          <p:cNvSpPr>
            <a:spLocks noGrp="1" noChangeArrowheads="1"/>
          </p:cNvSpPr>
          <p:nvPr>
            <p:ph type="body" idx="1"/>
          </p:nvPr>
        </p:nvSpPr>
        <p:spPr>
          <a:xfrm>
            <a:off x="827088" y="1844823"/>
            <a:ext cx="7793037" cy="4287689"/>
          </a:xfrm>
        </p:spPr>
        <p:txBody>
          <a:bodyPr/>
          <a:lstStyle/>
          <a:p>
            <a:pPr marL="533400" indent="-533400" algn="just" eaLnBrk="1" hangingPunct="1">
              <a:lnSpc>
                <a:spcPct val="150000"/>
              </a:lnSpc>
            </a:pPr>
            <a:r>
              <a:rPr lang="zh-CN" altLang="en-US" sz="2000" b="0"/>
              <a:t>要</a:t>
            </a:r>
            <a:r>
              <a:rPr lang="zh-CN" altLang="en-US" sz="2000" b="0" u="sng"/>
              <a:t>生成</a:t>
            </a:r>
            <a:r>
              <a:rPr lang="zh-CN" altLang="en-US" sz="2000" u="sng">
                <a:solidFill>
                  <a:srgbClr val="0066FF"/>
                </a:solidFill>
              </a:rPr>
              <a:t>值为</a:t>
            </a:r>
            <a:r>
              <a:rPr lang="en-US" altLang="zh-CN" sz="2000" u="sng">
                <a:solidFill>
                  <a:srgbClr val="0066FF"/>
                </a:solidFill>
              </a:rPr>
              <a:t>kx</a:t>
            </a:r>
            <a:r>
              <a:rPr lang="zh-CN" altLang="en-US" sz="2000" b="0" u="sng"/>
              <a:t>的新表元</a:t>
            </a:r>
            <a:r>
              <a:rPr lang="zh-CN" altLang="en-US" sz="2000" b="0"/>
              <a:t>，先向系统申请一个表元大小的存储块，然后将指定值填入即可。如以下代码所示：</a:t>
            </a:r>
          </a:p>
          <a:p>
            <a:pPr marL="914400" lvl="1" indent="-457200" algn="just" eaLnBrk="1" hangingPunct="1">
              <a:lnSpc>
                <a:spcPct val="150000"/>
              </a:lnSpc>
              <a:buFont typeface="Wingdings" pitchFamily="2" charset="2"/>
              <a:buAutoNum type="arabicPeriod"/>
            </a:pPr>
            <a:r>
              <a:rPr lang="zh-CN" altLang="en-US" sz="1800" b="0"/>
              <a:t>  </a:t>
            </a:r>
            <a:r>
              <a:rPr lang="en-US" altLang="zh-CN" sz="1800" b="0"/>
              <a:t>p = (struct intNode *)malloc(sizeof(struct intNode));</a:t>
            </a:r>
          </a:p>
          <a:p>
            <a:pPr marL="914400" lvl="1" indent="-457200" algn="just" eaLnBrk="1" hangingPunct="1">
              <a:lnSpc>
                <a:spcPct val="150000"/>
              </a:lnSpc>
              <a:buFont typeface="Wingdings" pitchFamily="2" charset="2"/>
              <a:buAutoNum type="arabicPeriod"/>
            </a:pPr>
            <a:r>
              <a:rPr lang="en-US" altLang="zh-CN" sz="1800" b="0"/>
              <a:t>  p-&gt;value = kx;</a:t>
            </a:r>
          </a:p>
          <a:p>
            <a:pPr marL="533400" indent="-533400" algn="just" eaLnBrk="1" hangingPunct="1">
              <a:lnSpc>
                <a:spcPct val="150000"/>
              </a:lnSpc>
            </a:pPr>
            <a:r>
              <a:rPr lang="zh-CN" altLang="en-US" sz="2000" b="0"/>
              <a:t>函数调用</a:t>
            </a:r>
            <a:r>
              <a:rPr lang="en-US" altLang="zh-CN" sz="2000" b="0"/>
              <a:t>malloc()</a:t>
            </a:r>
            <a:r>
              <a:rPr lang="zh-CN" altLang="en-US" sz="2000" b="0"/>
              <a:t>返回分配给新表元的存储空间的开始地址。</a:t>
            </a:r>
          </a:p>
          <a:p>
            <a:pPr marL="533400" indent="-533400" algn="just" eaLnBrk="1" hangingPunct="1">
              <a:lnSpc>
                <a:spcPct val="150000"/>
              </a:lnSpc>
            </a:pPr>
            <a:r>
              <a:rPr lang="zh-CN" altLang="en-US" sz="2000" b="0"/>
              <a:t>申请获得的存储空间开始地址</a:t>
            </a:r>
            <a:r>
              <a:rPr lang="zh-CN" altLang="en-US" sz="2000" b="0">
                <a:solidFill>
                  <a:srgbClr val="0066FF"/>
                </a:solidFill>
              </a:rPr>
              <a:t>需转换成存储对象类型的指针类型</a:t>
            </a:r>
            <a:r>
              <a:rPr lang="zh-CN" altLang="en-US" sz="2000" b="0"/>
              <a:t>。例如，对函数</a:t>
            </a:r>
            <a:r>
              <a:rPr lang="en-US" altLang="zh-CN" sz="2000" b="0"/>
              <a:t>malloc()</a:t>
            </a:r>
            <a:r>
              <a:rPr lang="zh-CN" altLang="en-US" sz="2000" b="0"/>
              <a:t>调用的返回值</a:t>
            </a:r>
            <a:r>
              <a:rPr lang="en-US" altLang="zh-CN" sz="2000" b="0"/>
              <a:t>(void *)</a:t>
            </a:r>
            <a:r>
              <a:rPr lang="zh-CN" altLang="en-US" sz="2000" b="0"/>
              <a:t>作强制类型转换</a:t>
            </a:r>
            <a:r>
              <a:rPr lang="en-US" altLang="zh-CN" sz="2000" b="0"/>
              <a:t>(struct intNode *)</a:t>
            </a:r>
            <a:r>
              <a:rPr lang="zh-CN" altLang="en-US" sz="2000" b="0"/>
              <a:t>，以便通过转换后的指针值引用成分</a:t>
            </a:r>
            <a:r>
              <a:rPr lang="en-US" altLang="zh-CN" sz="2000" b="0"/>
              <a:t>value</a:t>
            </a:r>
            <a:r>
              <a:rPr lang="zh-CN" altLang="en-US" sz="2000" b="0"/>
              <a:t>或</a:t>
            </a:r>
            <a:r>
              <a:rPr lang="en-US" altLang="zh-CN" sz="2000" b="0"/>
              <a:t>next</a:t>
            </a:r>
            <a:r>
              <a:rPr lang="zh-CN" altLang="en-US" sz="2000" b="0"/>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21AD1600-D878-F68F-C0C1-6A57CFDEA801}"/>
              </a:ext>
            </a:extLst>
          </p:cNvPr>
          <p:cNvSpPr>
            <a:spLocks noGrp="1" noChangeArrowheads="1"/>
          </p:cNvSpPr>
          <p:nvPr>
            <p:ph type="title"/>
          </p:nvPr>
        </p:nvSpPr>
        <p:spPr/>
        <p:txBody>
          <a:bodyPr/>
          <a:lstStyle/>
          <a:p>
            <a:pPr eaLnBrk="1" hangingPunct="1"/>
            <a:r>
              <a:rPr lang="zh-CN" altLang="en-US"/>
              <a:t>向链表插入一个新表元</a:t>
            </a:r>
          </a:p>
        </p:txBody>
      </p:sp>
      <p:sp>
        <p:nvSpPr>
          <p:cNvPr id="139267" name="Rectangle 3">
            <a:extLst>
              <a:ext uri="{FF2B5EF4-FFF2-40B4-BE49-F238E27FC236}">
                <a16:creationId xmlns:a16="http://schemas.microsoft.com/office/drawing/2014/main" id="{8858BC18-65DB-8F8E-0F7E-02FB0572B9DC}"/>
              </a:ext>
            </a:extLst>
          </p:cNvPr>
          <p:cNvSpPr>
            <a:spLocks noGrp="1" noChangeArrowheads="1"/>
          </p:cNvSpPr>
          <p:nvPr>
            <p:ph type="body" idx="1"/>
          </p:nvPr>
        </p:nvSpPr>
        <p:spPr>
          <a:xfrm>
            <a:off x="827088" y="1844823"/>
            <a:ext cx="7793037" cy="4287689"/>
          </a:xfrm>
        </p:spPr>
        <p:txBody>
          <a:bodyPr/>
          <a:lstStyle/>
          <a:p>
            <a:pPr marL="609600" indent="-609600" algn="just" eaLnBrk="1" hangingPunct="1">
              <a:lnSpc>
                <a:spcPct val="150000"/>
              </a:lnSpc>
            </a:pPr>
            <a:r>
              <a:rPr lang="zh-CN" altLang="en-US" sz="2000" b="0" u="sng"/>
              <a:t>向链表插入一个新表元</a:t>
            </a:r>
            <a:r>
              <a:rPr lang="zh-CN" altLang="en-US" sz="2000" b="0"/>
              <a:t>是建立链表的主要操作之一，它又可按新表元要插入位置不同分以下</a:t>
            </a:r>
            <a:r>
              <a:rPr lang="zh-CN" altLang="en-US" sz="2000" b="0">
                <a:solidFill>
                  <a:srgbClr val="0066FF"/>
                </a:solidFill>
              </a:rPr>
              <a:t>几种不同情况</a:t>
            </a:r>
            <a:r>
              <a:rPr lang="zh-CN" altLang="en-US" sz="2000" b="0"/>
              <a:t>：</a:t>
            </a:r>
          </a:p>
          <a:p>
            <a:pPr marL="609600" indent="-609600" algn="just" eaLnBrk="1" hangingPunct="1">
              <a:lnSpc>
                <a:spcPct val="150000"/>
              </a:lnSpc>
            </a:pPr>
            <a:r>
              <a:rPr lang="zh-CN" altLang="en-US" sz="2000"/>
              <a:t>（</a:t>
            </a:r>
            <a:r>
              <a:rPr lang="en-US" altLang="zh-CN" sz="2000"/>
              <a:t>1</a:t>
            </a:r>
            <a:r>
              <a:rPr lang="zh-CN" altLang="en-US" sz="2000"/>
              <a:t>）在首表元之前插入新表元</a:t>
            </a:r>
          </a:p>
          <a:p>
            <a:pPr marL="609600" indent="-609600" algn="just" eaLnBrk="1" hangingPunct="1">
              <a:lnSpc>
                <a:spcPct val="150000"/>
              </a:lnSpc>
            </a:pPr>
            <a:r>
              <a:rPr lang="zh-CN" altLang="en-US" sz="2000" b="0"/>
              <a:t> 在首表元之前插入新表元，插入后将使新表元成为新的首表元。这个工作包括将原链表的首表元接在新表元的后面，和修改链表首指针，使链表的首指针指向新表元。设新表元由指针</a:t>
            </a:r>
            <a:r>
              <a:rPr lang="en-US" altLang="zh-CN" sz="2000" b="0"/>
              <a:t>p</a:t>
            </a:r>
            <a:r>
              <a:rPr lang="zh-CN" altLang="en-US" sz="2000" b="0"/>
              <a:t>所指，下面是实现这个功能的代码：  </a:t>
            </a:r>
          </a:p>
          <a:p>
            <a:pPr marL="990600" lvl="1" indent="-533400" algn="just" eaLnBrk="1" hangingPunct="1">
              <a:lnSpc>
                <a:spcPct val="150000"/>
              </a:lnSpc>
              <a:buFont typeface="Wingdings" pitchFamily="2" charset="2"/>
              <a:buAutoNum type="arabicPeriod"/>
            </a:pPr>
            <a:r>
              <a:rPr lang="en-US" altLang="zh-CN" sz="1800" b="0"/>
              <a:t>p-&gt;next = head;      </a:t>
            </a:r>
          </a:p>
          <a:p>
            <a:pPr marL="990600" lvl="1" indent="-533400" algn="just" eaLnBrk="1" hangingPunct="1">
              <a:lnSpc>
                <a:spcPct val="150000"/>
              </a:lnSpc>
              <a:buFont typeface="Wingdings" pitchFamily="2" charset="2"/>
              <a:buAutoNum type="arabicPeriod"/>
            </a:pPr>
            <a:r>
              <a:rPr lang="en-US" altLang="zh-CN" sz="1800" b="0"/>
              <a:t>head = p;</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4049A3F1-4867-3A8A-803A-F9C9C0C7ECA7}"/>
              </a:ext>
            </a:extLst>
          </p:cNvPr>
          <p:cNvSpPr>
            <a:spLocks noGrp="1" noChangeArrowheads="1"/>
          </p:cNvSpPr>
          <p:nvPr>
            <p:ph type="title"/>
          </p:nvPr>
        </p:nvSpPr>
        <p:spPr/>
        <p:txBody>
          <a:bodyPr/>
          <a:lstStyle/>
          <a:p>
            <a:pPr eaLnBrk="1" hangingPunct="1"/>
            <a:r>
              <a:rPr lang="zh-CN" altLang="en-US" sz="4000"/>
              <a:t>动画：在首表元之前插入新表元</a:t>
            </a:r>
          </a:p>
        </p:txBody>
      </p:sp>
      <p:sp>
        <p:nvSpPr>
          <p:cNvPr id="140291" name="Rectangle 3">
            <a:extLst>
              <a:ext uri="{FF2B5EF4-FFF2-40B4-BE49-F238E27FC236}">
                <a16:creationId xmlns:a16="http://schemas.microsoft.com/office/drawing/2014/main" id="{35B3C31C-AA4D-E73B-FABF-2BD8057F6B61}"/>
              </a:ext>
            </a:extLst>
          </p:cNvPr>
          <p:cNvSpPr>
            <a:spLocks noChangeArrowheads="1"/>
          </p:cNvSpPr>
          <p:nvPr/>
        </p:nvSpPr>
        <p:spPr bwMode="auto">
          <a:xfrm>
            <a:off x="2124075" y="2492375"/>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40292" name="Rectangle 4">
            <a:extLst>
              <a:ext uri="{FF2B5EF4-FFF2-40B4-BE49-F238E27FC236}">
                <a16:creationId xmlns:a16="http://schemas.microsoft.com/office/drawing/2014/main" id="{E7CFA337-D90D-C71E-EBF1-1F6B0FB719BF}"/>
              </a:ext>
            </a:extLst>
          </p:cNvPr>
          <p:cNvSpPr>
            <a:spLocks noChangeArrowheads="1"/>
          </p:cNvSpPr>
          <p:nvPr/>
        </p:nvSpPr>
        <p:spPr bwMode="auto">
          <a:xfrm>
            <a:off x="4140200" y="2492375"/>
            <a:ext cx="1296988" cy="7191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40293" name="Rectangle 5">
            <a:extLst>
              <a:ext uri="{FF2B5EF4-FFF2-40B4-BE49-F238E27FC236}">
                <a16:creationId xmlns:a16="http://schemas.microsoft.com/office/drawing/2014/main" id="{42CCA799-12CA-6D33-C32E-B62C3A607590}"/>
              </a:ext>
            </a:extLst>
          </p:cNvPr>
          <p:cNvSpPr>
            <a:spLocks noChangeArrowheads="1"/>
          </p:cNvSpPr>
          <p:nvPr/>
        </p:nvSpPr>
        <p:spPr bwMode="auto">
          <a:xfrm>
            <a:off x="4140200" y="3213100"/>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793606" name="Line 6">
            <a:extLst>
              <a:ext uri="{FF2B5EF4-FFF2-40B4-BE49-F238E27FC236}">
                <a16:creationId xmlns:a16="http://schemas.microsoft.com/office/drawing/2014/main" id="{8357CB49-FD89-BEF9-4191-E56EE73EA184}"/>
              </a:ext>
            </a:extLst>
          </p:cNvPr>
          <p:cNvSpPr>
            <a:spLocks noChangeShapeType="1"/>
          </p:cNvSpPr>
          <p:nvPr/>
        </p:nvSpPr>
        <p:spPr bwMode="auto">
          <a:xfrm>
            <a:off x="2987675" y="2779713"/>
            <a:ext cx="1152525"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0295" name="Rectangle 7">
            <a:extLst>
              <a:ext uri="{FF2B5EF4-FFF2-40B4-BE49-F238E27FC236}">
                <a16:creationId xmlns:a16="http://schemas.microsoft.com/office/drawing/2014/main" id="{AB94D9E8-B714-DDED-CD01-D533EF6A2AFA}"/>
              </a:ext>
            </a:extLst>
          </p:cNvPr>
          <p:cNvSpPr>
            <a:spLocks noChangeArrowheads="1"/>
          </p:cNvSpPr>
          <p:nvPr/>
        </p:nvSpPr>
        <p:spPr bwMode="auto">
          <a:xfrm>
            <a:off x="4140200" y="4797425"/>
            <a:ext cx="1296988" cy="71913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40296" name="Rectangle 8">
            <a:extLst>
              <a:ext uri="{FF2B5EF4-FFF2-40B4-BE49-F238E27FC236}">
                <a16:creationId xmlns:a16="http://schemas.microsoft.com/office/drawing/2014/main" id="{96280C98-9C41-BB5C-2BB3-6A42C7A2D6CA}"/>
              </a:ext>
            </a:extLst>
          </p:cNvPr>
          <p:cNvSpPr>
            <a:spLocks noChangeArrowheads="1"/>
          </p:cNvSpPr>
          <p:nvPr/>
        </p:nvSpPr>
        <p:spPr bwMode="auto">
          <a:xfrm>
            <a:off x="4140200" y="5518150"/>
            <a:ext cx="1295400" cy="50323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140297" name="AutoShape 9">
            <a:extLst>
              <a:ext uri="{FF2B5EF4-FFF2-40B4-BE49-F238E27FC236}">
                <a16:creationId xmlns:a16="http://schemas.microsoft.com/office/drawing/2014/main" id="{0E1A7681-DD03-3F1D-8FE0-6D82C00B1820}"/>
              </a:ext>
            </a:extLst>
          </p:cNvPr>
          <p:cNvCxnSpPr>
            <a:cxnSpLocks noChangeShapeType="1"/>
            <a:stCxn id="140293" idx="3"/>
          </p:cNvCxnSpPr>
          <p:nvPr/>
        </p:nvCxnSpPr>
        <p:spPr bwMode="auto">
          <a:xfrm flipV="1">
            <a:off x="5449888" y="2708275"/>
            <a:ext cx="792162" cy="757238"/>
          </a:xfrm>
          <a:prstGeom prst="curvedConnector3">
            <a:avLst>
              <a:gd name="adj1" fmla="val 49898"/>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0298" name="Rectangle 10">
            <a:extLst>
              <a:ext uri="{FF2B5EF4-FFF2-40B4-BE49-F238E27FC236}">
                <a16:creationId xmlns:a16="http://schemas.microsoft.com/office/drawing/2014/main" id="{EB5C3A36-DAA4-5EC2-C86C-D00BAA32FAB9}"/>
              </a:ext>
            </a:extLst>
          </p:cNvPr>
          <p:cNvSpPr>
            <a:spLocks noChangeArrowheads="1"/>
          </p:cNvSpPr>
          <p:nvPr/>
        </p:nvSpPr>
        <p:spPr bwMode="auto">
          <a:xfrm>
            <a:off x="6229350" y="2492375"/>
            <a:ext cx="1296988" cy="7191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40299" name="Rectangle 11">
            <a:extLst>
              <a:ext uri="{FF2B5EF4-FFF2-40B4-BE49-F238E27FC236}">
                <a16:creationId xmlns:a16="http://schemas.microsoft.com/office/drawing/2014/main" id="{28A6B666-252F-B727-9A44-47D340419031}"/>
              </a:ext>
            </a:extLst>
          </p:cNvPr>
          <p:cNvSpPr>
            <a:spLocks noChangeArrowheads="1"/>
          </p:cNvSpPr>
          <p:nvPr/>
        </p:nvSpPr>
        <p:spPr bwMode="auto">
          <a:xfrm>
            <a:off x="6229350" y="3213100"/>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140300" name="AutoShape 12">
            <a:extLst>
              <a:ext uri="{FF2B5EF4-FFF2-40B4-BE49-F238E27FC236}">
                <a16:creationId xmlns:a16="http://schemas.microsoft.com/office/drawing/2014/main" id="{1D2DB1BE-15FC-F6AC-C957-BB6046E54BDD}"/>
              </a:ext>
            </a:extLst>
          </p:cNvPr>
          <p:cNvCxnSpPr>
            <a:cxnSpLocks noChangeShapeType="1"/>
            <a:stCxn id="140299" idx="3"/>
          </p:cNvCxnSpPr>
          <p:nvPr/>
        </p:nvCxnSpPr>
        <p:spPr bwMode="auto">
          <a:xfrm flipV="1">
            <a:off x="7539038" y="2708275"/>
            <a:ext cx="792162" cy="757238"/>
          </a:xfrm>
          <a:prstGeom prst="curvedConnector3">
            <a:avLst>
              <a:gd name="adj1" fmla="val 49898"/>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0301" name="Text Box 13">
            <a:extLst>
              <a:ext uri="{FF2B5EF4-FFF2-40B4-BE49-F238E27FC236}">
                <a16:creationId xmlns:a16="http://schemas.microsoft.com/office/drawing/2014/main" id="{9EA0C2F4-3FE5-4BB8-EFF2-72D9DFC8B680}"/>
              </a:ext>
            </a:extLst>
          </p:cNvPr>
          <p:cNvSpPr txBox="1">
            <a:spLocks noChangeArrowheads="1"/>
          </p:cNvSpPr>
          <p:nvPr/>
        </p:nvSpPr>
        <p:spPr bwMode="auto">
          <a:xfrm>
            <a:off x="1116013" y="2492375"/>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head</a:t>
            </a:r>
          </a:p>
        </p:txBody>
      </p:sp>
      <p:sp>
        <p:nvSpPr>
          <p:cNvPr id="140302" name="Text Box 14">
            <a:extLst>
              <a:ext uri="{FF2B5EF4-FFF2-40B4-BE49-F238E27FC236}">
                <a16:creationId xmlns:a16="http://schemas.microsoft.com/office/drawing/2014/main" id="{F8886BDF-7448-7949-E349-A224F39BD92B}"/>
              </a:ext>
            </a:extLst>
          </p:cNvPr>
          <p:cNvSpPr txBox="1">
            <a:spLocks noChangeArrowheads="1"/>
          </p:cNvSpPr>
          <p:nvPr/>
        </p:nvSpPr>
        <p:spPr bwMode="auto">
          <a:xfrm>
            <a:off x="4068763" y="6165850"/>
            <a:ext cx="1439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zh-CN" altLang="en-US" sz="2400" b="0" i="0">
                <a:latin typeface="Arial Narrow" panose="020B0604020202020204" pitchFamily="34" charset="0"/>
                <a:ea typeface="华文中宋" panose="02010600040101010101" pitchFamily="2" charset="-122"/>
              </a:rPr>
              <a:t>新的节点</a:t>
            </a:r>
          </a:p>
        </p:txBody>
      </p:sp>
      <p:cxnSp>
        <p:nvCxnSpPr>
          <p:cNvPr id="793615" name="AutoShape 15">
            <a:extLst>
              <a:ext uri="{FF2B5EF4-FFF2-40B4-BE49-F238E27FC236}">
                <a16:creationId xmlns:a16="http://schemas.microsoft.com/office/drawing/2014/main" id="{3CF18AB0-BBC2-3870-AE80-D97547F68B1B}"/>
              </a:ext>
            </a:extLst>
          </p:cNvPr>
          <p:cNvCxnSpPr>
            <a:cxnSpLocks noChangeShapeType="1"/>
            <a:stCxn id="140296" idx="3"/>
            <a:endCxn id="140292" idx="1"/>
          </p:cNvCxnSpPr>
          <p:nvPr/>
        </p:nvCxnSpPr>
        <p:spPr bwMode="auto">
          <a:xfrm flipH="1" flipV="1">
            <a:off x="4125913" y="2852738"/>
            <a:ext cx="1323975" cy="2917825"/>
          </a:xfrm>
          <a:prstGeom prst="curvedConnector5">
            <a:avLst>
              <a:gd name="adj1" fmla="val -16185"/>
              <a:gd name="adj2" fmla="val 48204"/>
              <a:gd name="adj3" fmla="val 116185"/>
            </a:avLst>
          </a:prstGeom>
          <a:noFill/>
          <a:ln w="28575">
            <a:solidFill>
              <a:schemeClr val="accent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3616" name="AutoShape 16">
            <a:extLst>
              <a:ext uri="{FF2B5EF4-FFF2-40B4-BE49-F238E27FC236}">
                <a16:creationId xmlns:a16="http://schemas.microsoft.com/office/drawing/2014/main" id="{2702DCC8-BB58-E119-9198-B439A84E7D5A}"/>
              </a:ext>
            </a:extLst>
          </p:cNvPr>
          <p:cNvCxnSpPr>
            <a:cxnSpLocks noChangeShapeType="1"/>
            <a:stCxn id="140291" idx="3"/>
            <a:endCxn id="140295" idx="1"/>
          </p:cNvCxnSpPr>
          <p:nvPr/>
        </p:nvCxnSpPr>
        <p:spPr bwMode="auto">
          <a:xfrm>
            <a:off x="3433763" y="2744788"/>
            <a:ext cx="692150" cy="2413000"/>
          </a:xfrm>
          <a:prstGeom prst="curvedConnector3">
            <a:avLst>
              <a:gd name="adj1" fmla="val 50000"/>
            </a:avLst>
          </a:prstGeom>
          <a:noFill/>
          <a:ln w="28575">
            <a:solidFill>
              <a:schemeClr val="accent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0305" name="Rectangle 17">
            <a:extLst>
              <a:ext uri="{FF2B5EF4-FFF2-40B4-BE49-F238E27FC236}">
                <a16:creationId xmlns:a16="http://schemas.microsoft.com/office/drawing/2014/main" id="{1717AB7A-3310-46CD-E869-EF98A7374326}"/>
              </a:ext>
            </a:extLst>
          </p:cNvPr>
          <p:cNvSpPr>
            <a:spLocks noChangeArrowheads="1"/>
          </p:cNvSpPr>
          <p:nvPr/>
        </p:nvSpPr>
        <p:spPr bwMode="auto">
          <a:xfrm>
            <a:off x="2051050" y="4894263"/>
            <a:ext cx="1295400" cy="503237"/>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40306" name="Line 18">
            <a:extLst>
              <a:ext uri="{FF2B5EF4-FFF2-40B4-BE49-F238E27FC236}">
                <a16:creationId xmlns:a16="http://schemas.microsoft.com/office/drawing/2014/main" id="{A57C309D-7343-3789-5A5F-60D582188FB4}"/>
              </a:ext>
            </a:extLst>
          </p:cNvPr>
          <p:cNvSpPr>
            <a:spLocks noChangeShapeType="1"/>
          </p:cNvSpPr>
          <p:nvPr/>
        </p:nvSpPr>
        <p:spPr bwMode="auto">
          <a:xfrm>
            <a:off x="2987675" y="5183188"/>
            <a:ext cx="1152525"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0307" name="Text Box 19">
            <a:extLst>
              <a:ext uri="{FF2B5EF4-FFF2-40B4-BE49-F238E27FC236}">
                <a16:creationId xmlns:a16="http://schemas.microsoft.com/office/drawing/2014/main" id="{41A36372-6566-1365-D920-5F28405982B8}"/>
              </a:ext>
            </a:extLst>
          </p:cNvPr>
          <p:cNvSpPr txBox="1">
            <a:spLocks noChangeArrowheads="1"/>
          </p:cNvSpPr>
          <p:nvPr/>
        </p:nvSpPr>
        <p:spPr bwMode="auto">
          <a:xfrm>
            <a:off x="1476375" y="4868863"/>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p</a:t>
            </a:r>
          </a:p>
        </p:txBody>
      </p:sp>
      <p:sp>
        <p:nvSpPr>
          <p:cNvPr id="793620" name="Text Box 20">
            <a:extLst>
              <a:ext uri="{FF2B5EF4-FFF2-40B4-BE49-F238E27FC236}">
                <a16:creationId xmlns:a16="http://schemas.microsoft.com/office/drawing/2014/main" id="{C8703B1F-4D18-4AE0-DCBC-4B636A2F4946}"/>
              </a:ext>
            </a:extLst>
          </p:cNvPr>
          <p:cNvSpPr txBox="1">
            <a:spLocks noChangeArrowheads="1"/>
          </p:cNvSpPr>
          <p:nvPr/>
        </p:nvSpPr>
        <p:spPr bwMode="auto">
          <a:xfrm>
            <a:off x="5832475" y="4868863"/>
            <a:ext cx="3311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p-&gt;next = head;</a:t>
            </a:r>
          </a:p>
        </p:txBody>
      </p:sp>
      <p:sp>
        <p:nvSpPr>
          <p:cNvPr id="793621" name="Text Box 21">
            <a:extLst>
              <a:ext uri="{FF2B5EF4-FFF2-40B4-BE49-F238E27FC236}">
                <a16:creationId xmlns:a16="http://schemas.microsoft.com/office/drawing/2014/main" id="{B1E5D373-B18C-9DEE-4870-69373DD81CEC}"/>
              </a:ext>
            </a:extLst>
          </p:cNvPr>
          <p:cNvSpPr txBox="1">
            <a:spLocks noChangeArrowheads="1"/>
          </p:cNvSpPr>
          <p:nvPr/>
        </p:nvSpPr>
        <p:spPr bwMode="auto">
          <a:xfrm>
            <a:off x="5832475" y="5445125"/>
            <a:ext cx="3311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head = p;</a:t>
            </a:r>
          </a:p>
        </p:txBody>
      </p:sp>
      <p:sp>
        <p:nvSpPr>
          <p:cNvPr id="140310" name="Text Box 22">
            <a:extLst>
              <a:ext uri="{FF2B5EF4-FFF2-40B4-BE49-F238E27FC236}">
                <a16:creationId xmlns:a16="http://schemas.microsoft.com/office/drawing/2014/main" id="{7EE0F43E-A4E7-E3E9-8D75-F74A09A45F61}"/>
              </a:ext>
            </a:extLst>
          </p:cNvPr>
          <p:cNvSpPr txBox="1">
            <a:spLocks noChangeArrowheads="1"/>
          </p:cNvSpPr>
          <p:nvPr/>
        </p:nvSpPr>
        <p:spPr bwMode="auto">
          <a:xfrm>
            <a:off x="4572000" y="2565400"/>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bg1"/>
                </a:solidFill>
                <a:latin typeface="Arial Narrow" panose="020B0604020202020204" pitchFamily="34" charset="0"/>
                <a:ea typeface="宋体" panose="02010600030101010101" pitchFamily="2" charset="-122"/>
              </a:rPr>
              <a:t>2</a:t>
            </a:r>
          </a:p>
        </p:txBody>
      </p:sp>
      <p:sp>
        <p:nvSpPr>
          <p:cNvPr id="140311" name="Text Box 23">
            <a:extLst>
              <a:ext uri="{FF2B5EF4-FFF2-40B4-BE49-F238E27FC236}">
                <a16:creationId xmlns:a16="http://schemas.microsoft.com/office/drawing/2014/main" id="{2B687763-3CAC-893B-59E7-C27DC4D2D110}"/>
              </a:ext>
            </a:extLst>
          </p:cNvPr>
          <p:cNvSpPr txBox="1">
            <a:spLocks noChangeArrowheads="1"/>
          </p:cNvSpPr>
          <p:nvPr/>
        </p:nvSpPr>
        <p:spPr bwMode="auto">
          <a:xfrm>
            <a:off x="4573588" y="4941888"/>
            <a:ext cx="503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1</a:t>
            </a:r>
          </a:p>
        </p:txBody>
      </p:sp>
      <p:sp>
        <p:nvSpPr>
          <p:cNvPr id="140312" name="Text Box 24">
            <a:extLst>
              <a:ext uri="{FF2B5EF4-FFF2-40B4-BE49-F238E27FC236}">
                <a16:creationId xmlns:a16="http://schemas.microsoft.com/office/drawing/2014/main" id="{D78FE6D4-67FA-090D-75BB-6BFBDE188E41}"/>
              </a:ext>
            </a:extLst>
          </p:cNvPr>
          <p:cNvSpPr txBox="1">
            <a:spLocks noChangeArrowheads="1"/>
          </p:cNvSpPr>
          <p:nvPr/>
        </p:nvSpPr>
        <p:spPr bwMode="auto">
          <a:xfrm>
            <a:off x="6661150" y="2611438"/>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bg1"/>
                </a:solidFill>
                <a:latin typeface="Arial Narrow" panose="020B0604020202020204" pitchFamily="34" charset="0"/>
                <a:ea typeface="宋体" panose="02010600030101010101" pitchFamily="2" charset="-122"/>
              </a:rPr>
              <a:t>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93620"/>
                                        </p:tgtEl>
                                        <p:attrNameLst>
                                          <p:attrName>style.visibility</p:attrName>
                                        </p:attrNameLst>
                                      </p:cBhvr>
                                      <p:to>
                                        <p:strVal val="visible"/>
                                      </p:to>
                                    </p:set>
                                    <p:animEffect transition="in" filter="box(in)">
                                      <p:cBhvr>
                                        <p:cTn id="7" dur="500"/>
                                        <p:tgtEl>
                                          <p:spTgt spid="793620"/>
                                        </p:tgtEl>
                                      </p:cBhvr>
                                    </p:animEffect>
                                  </p:childTnLst>
                                </p:cTn>
                              </p:par>
                            </p:childTnLst>
                          </p:cTn>
                        </p:par>
                        <p:par>
                          <p:cTn id="8" fill="hold" nodeType="afterGroup">
                            <p:stCondLst>
                              <p:cond delay="500"/>
                            </p:stCondLst>
                            <p:childTnLst>
                              <p:par>
                                <p:cTn id="9" presetID="15" presetClass="entr" presetSubtype="0" fill="hold" nodeType="afterEffect">
                                  <p:stCondLst>
                                    <p:cond delay="0"/>
                                  </p:stCondLst>
                                  <p:childTnLst>
                                    <p:set>
                                      <p:cBhvr>
                                        <p:cTn id="10" dur="1" fill="hold">
                                          <p:stCondLst>
                                            <p:cond delay="0"/>
                                          </p:stCondLst>
                                        </p:cTn>
                                        <p:tgtEl>
                                          <p:spTgt spid="793615"/>
                                        </p:tgtEl>
                                        <p:attrNameLst>
                                          <p:attrName>style.visibility</p:attrName>
                                        </p:attrNameLst>
                                      </p:cBhvr>
                                      <p:to>
                                        <p:strVal val="visible"/>
                                      </p:to>
                                    </p:set>
                                    <p:anim calcmode="lin" valueType="num">
                                      <p:cBhvr>
                                        <p:cTn id="11" dur="1000" fill="hold"/>
                                        <p:tgtEl>
                                          <p:spTgt spid="793615"/>
                                        </p:tgtEl>
                                        <p:attrNameLst>
                                          <p:attrName>ppt_w</p:attrName>
                                        </p:attrNameLst>
                                      </p:cBhvr>
                                      <p:tavLst>
                                        <p:tav tm="0">
                                          <p:val>
                                            <p:fltVal val="0"/>
                                          </p:val>
                                        </p:tav>
                                        <p:tav tm="100000">
                                          <p:val>
                                            <p:strVal val="#ppt_w"/>
                                          </p:val>
                                        </p:tav>
                                      </p:tavLst>
                                    </p:anim>
                                    <p:anim calcmode="lin" valueType="num">
                                      <p:cBhvr>
                                        <p:cTn id="12" dur="1000" fill="hold"/>
                                        <p:tgtEl>
                                          <p:spTgt spid="793615"/>
                                        </p:tgtEl>
                                        <p:attrNameLst>
                                          <p:attrName>ppt_h</p:attrName>
                                        </p:attrNameLst>
                                      </p:cBhvr>
                                      <p:tavLst>
                                        <p:tav tm="0">
                                          <p:val>
                                            <p:fltVal val="0"/>
                                          </p:val>
                                        </p:tav>
                                        <p:tav tm="100000">
                                          <p:val>
                                            <p:strVal val="#ppt_h"/>
                                          </p:val>
                                        </p:tav>
                                      </p:tavLst>
                                    </p:anim>
                                    <p:anim calcmode="lin" valueType="num">
                                      <p:cBhvr>
                                        <p:cTn id="13" dur="1000" fill="hold"/>
                                        <p:tgtEl>
                                          <p:spTgt spid="793615"/>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79361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793621"/>
                                        </p:tgtEl>
                                        <p:attrNameLst>
                                          <p:attrName>style.visibility</p:attrName>
                                        </p:attrNameLst>
                                      </p:cBhvr>
                                      <p:to>
                                        <p:strVal val="visible"/>
                                      </p:to>
                                    </p:set>
                                    <p:animEffect transition="in" filter="box(in)">
                                      <p:cBhvr>
                                        <p:cTn id="19" dur="500"/>
                                        <p:tgtEl>
                                          <p:spTgt spid="793621"/>
                                        </p:tgtEl>
                                      </p:cBhvr>
                                    </p:animEffect>
                                  </p:childTnLst>
                                </p:cTn>
                              </p:par>
                            </p:childTnLst>
                          </p:cTn>
                        </p:par>
                        <p:par>
                          <p:cTn id="20" fill="hold" nodeType="afterGroup">
                            <p:stCondLst>
                              <p:cond delay="500"/>
                            </p:stCondLst>
                            <p:childTnLst>
                              <p:par>
                                <p:cTn id="21" presetID="35" presetClass="exit" presetSubtype="0" fill="hold" nodeType="afterEffect">
                                  <p:stCondLst>
                                    <p:cond delay="0"/>
                                  </p:stCondLst>
                                  <p:childTnLst>
                                    <p:animEffect transition="out" filter="fade">
                                      <p:cBhvr>
                                        <p:cTn id="22" dur="2000"/>
                                        <p:tgtEl>
                                          <p:spTgt spid="793606"/>
                                        </p:tgtEl>
                                      </p:cBhvr>
                                    </p:animEffect>
                                    <p:anim calcmode="lin" valueType="num">
                                      <p:cBhvr>
                                        <p:cTn id="23" dur="2000"/>
                                        <p:tgtEl>
                                          <p:spTgt spid="793606"/>
                                        </p:tgtEl>
                                        <p:attrNameLst>
                                          <p:attrName>style.rotation</p:attrName>
                                        </p:attrNameLst>
                                      </p:cBhvr>
                                      <p:tavLst>
                                        <p:tav tm="0">
                                          <p:val>
                                            <p:fltVal val="0"/>
                                          </p:val>
                                        </p:tav>
                                        <p:tav tm="100000">
                                          <p:val>
                                            <p:fltVal val="720"/>
                                          </p:val>
                                        </p:tav>
                                      </p:tavLst>
                                    </p:anim>
                                    <p:anim calcmode="lin" valueType="num">
                                      <p:cBhvr>
                                        <p:cTn id="24" dur="2000"/>
                                        <p:tgtEl>
                                          <p:spTgt spid="793606"/>
                                        </p:tgtEl>
                                        <p:attrNameLst>
                                          <p:attrName>ppt_h</p:attrName>
                                        </p:attrNameLst>
                                      </p:cBhvr>
                                      <p:tavLst>
                                        <p:tav tm="0">
                                          <p:val>
                                            <p:strVal val="ppt_h"/>
                                          </p:val>
                                        </p:tav>
                                        <p:tav tm="100000">
                                          <p:val>
                                            <p:fltVal val="0"/>
                                          </p:val>
                                        </p:tav>
                                      </p:tavLst>
                                    </p:anim>
                                    <p:anim calcmode="lin" valueType="num">
                                      <p:cBhvr>
                                        <p:cTn id="25" dur="2000"/>
                                        <p:tgtEl>
                                          <p:spTgt spid="793606"/>
                                        </p:tgtEl>
                                        <p:attrNameLst>
                                          <p:attrName>ppt_w</p:attrName>
                                        </p:attrNameLst>
                                      </p:cBhvr>
                                      <p:tavLst>
                                        <p:tav tm="0">
                                          <p:val>
                                            <p:strVal val="ppt_w"/>
                                          </p:val>
                                        </p:tav>
                                        <p:tav tm="100000">
                                          <p:val>
                                            <p:fltVal val="0"/>
                                          </p:val>
                                        </p:tav>
                                      </p:tavLst>
                                    </p:anim>
                                    <p:set>
                                      <p:cBhvr>
                                        <p:cTn id="26" dur="1" fill="hold">
                                          <p:stCondLst>
                                            <p:cond delay="1999"/>
                                          </p:stCondLst>
                                        </p:cTn>
                                        <p:tgtEl>
                                          <p:spTgt spid="793606"/>
                                        </p:tgtEl>
                                        <p:attrNameLst>
                                          <p:attrName>style.visibility</p:attrName>
                                        </p:attrNameLst>
                                      </p:cBhvr>
                                      <p:to>
                                        <p:strVal val="hidden"/>
                                      </p:to>
                                    </p:set>
                                  </p:childTnLst>
                                </p:cTn>
                              </p:par>
                            </p:childTnLst>
                          </p:cTn>
                        </p:par>
                        <p:par>
                          <p:cTn id="27" fill="hold" nodeType="afterGroup">
                            <p:stCondLst>
                              <p:cond delay="2500"/>
                            </p:stCondLst>
                            <p:childTnLst>
                              <p:par>
                                <p:cTn id="28" presetID="15" presetClass="entr" presetSubtype="0" fill="hold" nodeType="afterEffect">
                                  <p:stCondLst>
                                    <p:cond delay="0"/>
                                  </p:stCondLst>
                                  <p:childTnLst>
                                    <p:set>
                                      <p:cBhvr>
                                        <p:cTn id="29" dur="1" fill="hold">
                                          <p:stCondLst>
                                            <p:cond delay="0"/>
                                          </p:stCondLst>
                                        </p:cTn>
                                        <p:tgtEl>
                                          <p:spTgt spid="793616"/>
                                        </p:tgtEl>
                                        <p:attrNameLst>
                                          <p:attrName>style.visibility</p:attrName>
                                        </p:attrNameLst>
                                      </p:cBhvr>
                                      <p:to>
                                        <p:strVal val="visible"/>
                                      </p:to>
                                    </p:set>
                                    <p:anim calcmode="lin" valueType="num">
                                      <p:cBhvr>
                                        <p:cTn id="30" dur="1000" fill="hold"/>
                                        <p:tgtEl>
                                          <p:spTgt spid="793616"/>
                                        </p:tgtEl>
                                        <p:attrNameLst>
                                          <p:attrName>ppt_w</p:attrName>
                                        </p:attrNameLst>
                                      </p:cBhvr>
                                      <p:tavLst>
                                        <p:tav tm="0">
                                          <p:val>
                                            <p:fltVal val="0"/>
                                          </p:val>
                                        </p:tav>
                                        <p:tav tm="100000">
                                          <p:val>
                                            <p:strVal val="#ppt_w"/>
                                          </p:val>
                                        </p:tav>
                                      </p:tavLst>
                                    </p:anim>
                                    <p:anim calcmode="lin" valueType="num">
                                      <p:cBhvr>
                                        <p:cTn id="31" dur="1000" fill="hold"/>
                                        <p:tgtEl>
                                          <p:spTgt spid="793616"/>
                                        </p:tgtEl>
                                        <p:attrNameLst>
                                          <p:attrName>ppt_h</p:attrName>
                                        </p:attrNameLst>
                                      </p:cBhvr>
                                      <p:tavLst>
                                        <p:tav tm="0">
                                          <p:val>
                                            <p:fltVal val="0"/>
                                          </p:val>
                                        </p:tav>
                                        <p:tav tm="100000">
                                          <p:val>
                                            <p:strVal val="#ppt_h"/>
                                          </p:val>
                                        </p:tav>
                                      </p:tavLst>
                                    </p:anim>
                                    <p:anim calcmode="lin" valueType="num">
                                      <p:cBhvr>
                                        <p:cTn id="32" dur="1000" fill="hold"/>
                                        <p:tgtEl>
                                          <p:spTgt spid="793616"/>
                                        </p:tgtEl>
                                        <p:attrNameLst>
                                          <p:attrName>ppt_x</p:attrName>
                                        </p:attrNameLst>
                                      </p:cBhvr>
                                      <p:tavLst>
                                        <p:tav tm="0" fmla="#ppt_x+(cos(-2*pi*(1-$))*-#ppt_x-sin(-2*pi*(1-$))*(1-#ppt_y))*(1-$)">
                                          <p:val>
                                            <p:fltVal val="0"/>
                                          </p:val>
                                        </p:tav>
                                        <p:tav tm="100000">
                                          <p:val>
                                            <p:fltVal val="1"/>
                                          </p:val>
                                        </p:tav>
                                      </p:tavLst>
                                    </p:anim>
                                    <p:anim calcmode="lin" valueType="num">
                                      <p:cBhvr>
                                        <p:cTn id="33" dur="1000" fill="hold"/>
                                        <p:tgtEl>
                                          <p:spTgt spid="79361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20" grpId="0"/>
      <p:bldP spid="793621"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A3AB618C-3E99-3F1A-E9F4-BE970AF3CDE3}"/>
              </a:ext>
            </a:extLst>
          </p:cNvPr>
          <p:cNvSpPr>
            <a:spLocks noGrp="1" noChangeArrowheads="1"/>
          </p:cNvSpPr>
          <p:nvPr>
            <p:ph type="title"/>
          </p:nvPr>
        </p:nvSpPr>
        <p:spPr/>
        <p:txBody>
          <a:bodyPr/>
          <a:lstStyle/>
          <a:p>
            <a:pPr eaLnBrk="1" hangingPunct="1"/>
            <a:r>
              <a:rPr lang="zh-CN" altLang="en-US"/>
              <a:t>向链表插入一个新表元</a:t>
            </a:r>
            <a:r>
              <a:rPr lang="en-US" altLang="zh-CN"/>
              <a:t>(</a:t>
            </a:r>
            <a:r>
              <a:rPr lang="zh-CN" altLang="en-US"/>
              <a:t>续</a:t>
            </a:r>
            <a:r>
              <a:rPr lang="en-US" altLang="zh-CN"/>
              <a:t>)</a:t>
            </a:r>
          </a:p>
        </p:txBody>
      </p:sp>
      <p:sp>
        <p:nvSpPr>
          <p:cNvPr id="141315" name="Rectangle 3">
            <a:extLst>
              <a:ext uri="{FF2B5EF4-FFF2-40B4-BE49-F238E27FC236}">
                <a16:creationId xmlns:a16="http://schemas.microsoft.com/office/drawing/2014/main" id="{575B3D5A-B9FD-420D-AD49-B51A0AB5410C}"/>
              </a:ext>
            </a:extLst>
          </p:cNvPr>
          <p:cNvSpPr>
            <a:spLocks noGrp="1" noChangeArrowheads="1"/>
          </p:cNvSpPr>
          <p:nvPr>
            <p:ph type="body" idx="1"/>
          </p:nvPr>
        </p:nvSpPr>
        <p:spPr>
          <a:xfrm>
            <a:off x="827088" y="1700809"/>
            <a:ext cx="7866062" cy="4968552"/>
          </a:xfrm>
        </p:spPr>
        <p:txBody>
          <a:bodyPr/>
          <a:lstStyle/>
          <a:p>
            <a:pPr marL="533400" indent="-533400" algn="just" eaLnBrk="1" hangingPunct="1">
              <a:lnSpc>
                <a:spcPct val="150000"/>
              </a:lnSpc>
            </a:pPr>
            <a:r>
              <a:rPr lang="zh-CN" altLang="en-US" sz="1600"/>
              <a:t>（</a:t>
            </a:r>
            <a:r>
              <a:rPr lang="en-US" altLang="zh-CN" sz="1600"/>
              <a:t>2</a:t>
            </a:r>
            <a:r>
              <a:rPr lang="zh-CN" altLang="en-US" sz="1600"/>
              <a:t>）在某指针所指的表元</a:t>
            </a:r>
            <a:r>
              <a:rPr lang="zh-CN" altLang="en-US" sz="1600">
                <a:solidFill>
                  <a:srgbClr val="0066FF"/>
                </a:solidFill>
              </a:rPr>
              <a:t>之后</a:t>
            </a:r>
            <a:r>
              <a:rPr lang="zh-CN" altLang="en-US" sz="1600"/>
              <a:t>插入新表元</a:t>
            </a:r>
          </a:p>
          <a:p>
            <a:pPr marL="533400" indent="-533400" algn="just" eaLnBrk="1" hangingPunct="1">
              <a:lnSpc>
                <a:spcPct val="150000"/>
              </a:lnSpc>
            </a:pPr>
            <a:r>
              <a:rPr lang="zh-CN" altLang="en-US" sz="1600" b="0"/>
              <a:t>对于单向链表，因为一个表元的前驱表元不是直接可引用的，所以新表元一般要求插在某已知表元之后。</a:t>
            </a:r>
            <a:endParaRPr lang="en-US" altLang="zh-CN" sz="1600" b="0"/>
          </a:p>
          <a:p>
            <a:pPr marL="533400" indent="-533400" algn="just" eaLnBrk="1" hangingPunct="1">
              <a:lnSpc>
                <a:spcPct val="150000"/>
              </a:lnSpc>
            </a:pPr>
            <a:r>
              <a:rPr lang="zh-CN" altLang="en-US" sz="1600" b="0"/>
              <a:t>设</a:t>
            </a:r>
            <a:r>
              <a:rPr lang="zh-CN" altLang="en-US" sz="1600" b="0" u="sng"/>
              <a:t>已知表元由指针</a:t>
            </a:r>
            <a:r>
              <a:rPr lang="en-US" altLang="zh-CN" sz="1600" b="0" u="sng"/>
              <a:t>w</a:t>
            </a:r>
            <a:r>
              <a:rPr lang="zh-CN" altLang="en-US" sz="1600" b="0" u="sng"/>
              <a:t>所指</a:t>
            </a:r>
            <a:r>
              <a:rPr lang="zh-CN" altLang="en-US" sz="1600" b="0"/>
              <a:t>，且</a:t>
            </a:r>
            <a:r>
              <a:rPr lang="en-US" altLang="zh-CN" sz="1600" b="0"/>
              <a:t>w</a:t>
            </a:r>
            <a:r>
              <a:rPr lang="zh-CN" altLang="en-US" sz="1600" b="0"/>
              <a:t>的值不是</a:t>
            </a:r>
            <a:r>
              <a:rPr lang="en-US" altLang="zh-CN" sz="1600" b="0"/>
              <a:t>NULL</a:t>
            </a:r>
            <a:r>
              <a:rPr lang="zh-CN" altLang="en-US" sz="1600" b="0"/>
              <a:t>，而待插入的</a:t>
            </a:r>
            <a:r>
              <a:rPr lang="zh-CN" altLang="en-US" sz="1600" b="0" u="sng"/>
              <a:t>新表元由指针</a:t>
            </a:r>
            <a:r>
              <a:rPr lang="en-US" altLang="zh-CN" sz="1600" b="0" u="sng"/>
              <a:t>p</a:t>
            </a:r>
            <a:r>
              <a:rPr lang="zh-CN" altLang="en-US" sz="1600" b="0" u="sng"/>
              <a:t>所指</a:t>
            </a:r>
            <a:r>
              <a:rPr lang="zh-CN" altLang="en-US" sz="1600" b="0"/>
              <a:t>，插入前的状态如图</a:t>
            </a:r>
            <a:r>
              <a:rPr lang="en-US" altLang="zh-CN" sz="1600" b="0"/>
              <a:t>7-3</a:t>
            </a:r>
            <a:r>
              <a:rPr lang="zh-CN" altLang="en-US" sz="1600" b="0"/>
              <a:t>所示。插入后的状态如图</a:t>
            </a:r>
            <a:r>
              <a:rPr lang="en-US" altLang="zh-CN" sz="1600" b="0"/>
              <a:t>7-4</a:t>
            </a:r>
            <a:r>
              <a:rPr lang="zh-CN" altLang="en-US" sz="1600" b="0"/>
              <a:t>所示。插入工作</a:t>
            </a:r>
            <a:r>
              <a:rPr lang="zh-CN" altLang="en-US" sz="1600" b="0">
                <a:solidFill>
                  <a:srgbClr val="0066FF"/>
                </a:solidFill>
              </a:rPr>
              <a:t>包含两个基本动作</a:t>
            </a:r>
            <a:r>
              <a:rPr lang="zh-CN" altLang="en-US" sz="1600" b="0"/>
              <a:t>：</a:t>
            </a:r>
          </a:p>
          <a:p>
            <a:pPr marL="914400" lvl="1" indent="-457200" algn="just" eaLnBrk="1" hangingPunct="1">
              <a:lnSpc>
                <a:spcPct val="150000"/>
              </a:lnSpc>
              <a:buFont typeface="Wingdings" pitchFamily="2" charset="2"/>
              <a:buAutoNum type="arabicPeriod"/>
            </a:pPr>
            <a:r>
              <a:rPr lang="zh-CN" altLang="en-US" sz="1400" b="0"/>
              <a:t>首先将</a:t>
            </a:r>
            <a:r>
              <a:rPr lang="en-US" altLang="zh-CN" sz="1400" b="0"/>
              <a:t>w</a:t>
            </a:r>
            <a:r>
              <a:rPr lang="zh-CN" altLang="en-US" sz="1400" b="0"/>
              <a:t>所指表元的后继表元指针复制给</a:t>
            </a:r>
            <a:r>
              <a:rPr lang="en-US" altLang="zh-CN" sz="1400" b="0"/>
              <a:t>p</a:t>
            </a:r>
            <a:r>
              <a:rPr lang="zh-CN" altLang="en-US" sz="1400" b="0"/>
              <a:t>所指表元的后继指针域，即原先</a:t>
            </a:r>
            <a:r>
              <a:rPr lang="en-US" altLang="zh-CN" sz="1400" b="0"/>
              <a:t>w</a:t>
            </a:r>
            <a:r>
              <a:rPr lang="zh-CN" altLang="en-US" sz="1400" b="0"/>
              <a:t>所指表元的后继表元成为</a:t>
            </a:r>
            <a:r>
              <a:rPr lang="en-US" altLang="zh-CN" sz="1400" b="0"/>
              <a:t>p</a:t>
            </a:r>
            <a:r>
              <a:rPr lang="zh-CN" altLang="en-US" sz="1400" b="0"/>
              <a:t>所指表元的后继表元，这可用代码</a:t>
            </a:r>
            <a:r>
              <a:rPr lang="en-US" altLang="zh-CN" sz="1400" b="0"/>
              <a:t>p-&gt;next = w-&gt;next</a:t>
            </a:r>
            <a:r>
              <a:rPr lang="zh-CN" altLang="en-US" sz="1400" b="0"/>
              <a:t>实现。</a:t>
            </a:r>
          </a:p>
          <a:p>
            <a:pPr marL="914400" lvl="1" indent="-457200" algn="just" eaLnBrk="1" hangingPunct="1">
              <a:lnSpc>
                <a:spcPct val="150000"/>
              </a:lnSpc>
              <a:buFont typeface="Wingdings" pitchFamily="2" charset="2"/>
              <a:buAutoNum type="arabicPeriod"/>
            </a:pPr>
            <a:r>
              <a:rPr lang="zh-CN" altLang="en-US" sz="1400" b="0"/>
              <a:t>然后是将</a:t>
            </a:r>
            <a:r>
              <a:rPr lang="en-US" altLang="zh-CN" sz="1400" b="0"/>
              <a:t>p</a:t>
            </a:r>
            <a:r>
              <a:rPr lang="zh-CN" altLang="en-US" sz="1400" b="0"/>
              <a:t>的值复制给</a:t>
            </a:r>
            <a:r>
              <a:rPr lang="en-US" altLang="zh-CN" sz="1400" b="0"/>
              <a:t>w</a:t>
            </a:r>
            <a:r>
              <a:rPr lang="zh-CN" altLang="en-US" sz="1400" b="0"/>
              <a:t>所指表元的后继指针域，即让</a:t>
            </a:r>
            <a:r>
              <a:rPr lang="en-US" altLang="zh-CN" sz="1400" b="0"/>
              <a:t>p</a:t>
            </a:r>
            <a:r>
              <a:rPr lang="zh-CN" altLang="en-US" sz="1400" b="0"/>
              <a:t>所指表元成为</a:t>
            </a:r>
            <a:r>
              <a:rPr lang="en-US" altLang="zh-CN" sz="1400" b="0"/>
              <a:t>w</a:t>
            </a:r>
            <a:r>
              <a:rPr lang="zh-CN" altLang="en-US" sz="1400" b="0"/>
              <a:t>所指表元的后继表元，这可用代码</a:t>
            </a:r>
            <a:r>
              <a:rPr lang="en-US" altLang="zh-CN" sz="1400" b="0"/>
              <a:t>w-&gt;next = p</a:t>
            </a:r>
            <a:r>
              <a:rPr lang="zh-CN" altLang="en-US" sz="1400" b="0"/>
              <a:t>实现。</a:t>
            </a:r>
          </a:p>
          <a:p>
            <a:pPr marL="533400" indent="-533400" algn="just" eaLnBrk="1" hangingPunct="1">
              <a:lnSpc>
                <a:spcPct val="150000"/>
              </a:lnSpc>
            </a:pPr>
            <a:r>
              <a:rPr lang="zh-CN" altLang="en-US" sz="1600" b="0"/>
              <a:t>这样以下代码就能实现在</a:t>
            </a:r>
            <a:r>
              <a:rPr lang="en-US" altLang="zh-CN" sz="1600" b="0"/>
              <a:t>w</a:t>
            </a:r>
            <a:r>
              <a:rPr lang="zh-CN" altLang="en-US" sz="1600" b="0"/>
              <a:t>所指表元之后插入</a:t>
            </a:r>
            <a:r>
              <a:rPr lang="en-US" altLang="zh-CN" sz="1600" b="0"/>
              <a:t>p</a:t>
            </a:r>
            <a:r>
              <a:rPr lang="zh-CN" altLang="en-US" sz="1600" b="0"/>
              <a:t>所指表元：</a:t>
            </a:r>
          </a:p>
          <a:p>
            <a:pPr marL="914400" lvl="1" indent="-457200" algn="just" eaLnBrk="1" hangingPunct="1">
              <a:lnSpc>
                <a:spcPct val="150000"/>
              </a:lnSpc>
              <a:buFont typeface="Wingdings" pitchFamily="2" charset="2"/>
              <a:buAutoNum type="arabicPeriod"/>
            </a:pPr>
            <a:r>
              <a:rPr lang="en-US" altLang="zh-CN" sz="1400" b="0"/>
              <a:t>p-&gt;next = w-&gt;next;        </a:t>
            </a:r>
          </a:p>
          <a:p>
            <a:pPr marL="914400" lvl="1" indent="-457200" algn="just" eaLnBrk="1" hangingPunct="1">
              <a:lnSpc>
                <a:spcPct val="150000"/>
              </a:lnSpc>
              <a:buFont typeface="Wingdings" pitchFamily="2" charset="2"/>
              <a:buAutoNum type="arabicPeriod"/>
            </a:pPr>
            <a:r>
              <a:rPr lang="en-US" altLang="zh-CN" sz="1400" b="0"/>
              <a:t>w-&gt;next = p;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6CE97257-C387-AAED-9FD3-F75FA5744B96}"/>
              </a:ext>
            </a:extLst>
          </p:cNvPr>
          <p:cNvSpPr>
            <a:spLocks noGrp="1" noChangeArrowheads="1"/>
          </p:cNvSpPr>
          <p:nvPr>
            <p:ph type="title"/>
          </p:nvPr>
        </p:nvSpPr>
        <p:spPr/>
        <p:txBody>
          <a:bodyPr/>
          <a:lstStyle/>
          <a:p>
            <a:pPr eaLnBrk="1" hangingPunct="1"/>
            <a:r>
              <a:rPr lang="zh-CN" altLang="en-US" sz="4000"/>
              <a:t>动画：在某指针所指的表元之后插入新表元</a:t>
            </a:r>
          </a:p>
        </p:txBody>
      </p:sp>
      <p:sp>
        <p:nvSpPr>
          <p:cNvPr id="142339" name="Text Box 3">
            <a:extLst>
              <a:ext uri="{FF2B5EF4-FFF2-40B4-BE49-F238E27FC236}">
                <a16:creationId xmlns:a16="http://schemas.microsoft.com/office/drawing/2014/main" id="{AE489A0A-4FDE-A617-7A6D-081E2E641789}"/>
              </a:ext>
            </a:extLst>
          </p:cNvPr>
          <p:cNvSpPr txBox="1">
            <a:spLocks noChangeArrowheads="1"/>
          </p:cNvSpPr>
          <p:nvPr/>
        </p:nvSpPr>
        <p:spPr bwMode="auto">
          <a:xfrm>
            <a:off x="4536281" y="1680369"/>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w</a:t>
            </a:r>
          </a:p>
        </p:txBody>
      </p:sp>
      <p:sp>
        <p:nvSpPr>
          <p:cNvPr id="142340" name="Text Box 4">
            <a:extLst>
              <a:ext uri="{FF2B5EF4-FFF2-40B4-BE49-F238E27FC236}">
                <a16:creationId xmlns:a16="http://schemas.microsoft.com/office/drawing/2014/main" id="{673C5CB3-941D-D7AC-A593-A1CF8DD9E774}"/>
              </a:ext>
            </a:extLst>
          </p:cNvPr>
          <p:cNvSpPr txBox="1">
            <a:spLocks noChangeArrowheads="1"/>
          </p:cNvSpPr>
          <p:nvPr/>
        </p:nvSpPr>
        <p:spPr bwMode="auto">
          <a:xfrm>
            <a:off x="1476375" y="4868863"/>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p</a:t>
            </a:r>
          </a:p>
        </p:txBody>
      </p:sp>
      <p:sp>
        <p:nvSpPr>
          <p:cNvPr id="795653" name="Text Box 5">
            <a:extLst>
              <a:ext uri="{FF2B5EF4-FFF2-40B4-BE49-F238E27FC236}">
                <a16:creationId xmlns:a16="http://schemas.microsoft.com/office/drawing/2014/main" id="{F672370C-F316-6CD2-4DEA-2BB3C0F8ACED}"/>
              </a:ext>
            </a:extLst>
          </p:cNvPr>
          <p:cNvSpPr txBox="1">
            <a:spLocks noChangeArrowheads="1"/>
          </p:cNvSpPr>
          <p:nvPr/>
        </p:nvSpPr>
        <p:spPr bwMode="auto">
          <a:xfrm>
            <a:off x="5832475" y="4868863"/>
            <a:ext cx="3311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p-&gt;next = w-&gt;next;</a:t>
            </a:r>
          </a:p>
        </p:txBody>
      </p:sp>
      <p:sp>
        <p:nvSpPr>
          <p:cNvPr id="795654" name="Text Box 6">
            <a:extLst>
              <a:ext uri="{FF2B5EF4-FFF2-40B4-BE49-F238E27FC236}">
                <a16:creationId xmlns:a16="http://schemas.microsoft.com/office/drawing/2014/main" id="{6C498DFC-41FE-9BB1-EF78-70201F95A30F}"/>
              </a:ext>
            </a:extLst>
          </p:cNvPr>
          <p:cNvSpPr txBox="1">
            <a:spLocks noChangeArrowheads="1"/>
          </p:cNvSpPr>
          <p:nvPr/>
        </p:nvSpPr>
        <p:spPr bwMode="auto">
          <a:xfrm>
            <a:off x="5832475" y="5445125"/>
            <a:ext cx="3311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w-&gt;next = p;</a:t>
            </a:r>
          </a:p>
        </p:txBody>
      </p:sp>
      <p:sp>
        <p:nvSpPr>
          <p:cNvPr id="142343" name="Rectangle 7">
            <a:extLst>
              <a:ext uri="{FF2B5EF4-FFF2-40B4-BE49-F238E27FC236}">
                <a16:creationId xmlns:a16="http://schemas.microsoft.com/office/drawing/2014/main" id="{7A08719F-39A1-19ED-0931-1459FBBBEE93}"/>
              </a:ext>
            </a:extLst>
          </p:cNvPr>
          <p:cNvSpPr>
            <a:spLocks noChangeArrowheads="1"/>
          </p:cNvSpPr>
          <p:nvPr/>
        </p:nvSpPr>
        <p:spPr bwMode="auto">
          <a:xfrm>
            <a:off x="2124075" y="2492375"/>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42344" name="Rectangle 8">
            <a:extLst>
              <a:ext uri="{FF2B5EF4-FFF2-40B4-BE49-F238E27FC236}">
                <a16:creationId xmlns:a16="http://schemas.microsoft.com/office/drawing/2014/main" id="{CC536E82-A943-03B5-AFF9-DB80C13B87CE}"/>
              </a:ext>
            </a:extLst>
          </p:cNvPr>
          <p:cNvSpPr>
            <a:spLocks noChangeArrowheads="1"/>
          </p:cNvSpPr>
          <p:nvPr/>
        </p:nvSpPr>
        <p:spPr bwMode="auto">
          <a:xfrm>
            <a:off x="4140200" y="2492375"/>
            <a:ext cx="1296988" cy="7191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Tx/>
              <a:buNone/>
            </a:pPr>
            <a:r>
              <a:rPr kumimoji="1" lang="en-US" altLang="zh-CN" sz="2400" b="0" i="0">
                <a:solidFill>
                  <a:schemeClr val="bg1"/>
                </a:solidFill>
                <a:latin typeface="Arial Narrow" panose="020B0604020202020204" pitchFamily="34" charset="0"/>
                <a:ea typeface="宋体" panose="02010600030101010101" pitchFamily="2" charset="-122"/>
              </a:rPr>
              <a:t>4</a:t>
            </a:r>
          </a:p>
        </p:txBody>
      </p:sp>
      <p:sp>
        <p:nvSpPr>
          <p:cNvPr id="142345" name="Rectangle 9">
            <a:extLst>
              <a:ext uri="{FF2B5EF4-FFF2-40B4-BE49-F238E27FC236}">
                <a16:creationId xmlns:a16="http://schemas.microsoft.com/office/drawing/2014/main" id="{F592D28F-CF51-5204-E6EB-9FA8050D9FCB}"/>
              </a:ext>
            </a:extLst>
          </p:cNvPr>
          <p:cNvSpPr>
            <a:spLocks noChangeArrowheads="1"/>
          </p:cNvSpPr>
          <p:nvPr/>
        </p:nvSpPr>
        <p:spPr bwMode="auto">
          <a:xfrm>
            <a:off x="4140200" y="3213100"/>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42346" name="Rectangle 11">
            <a:extLst>
              <a:ext uri="{FF2B5EF4-FFF2-40B4-BE49-F238E27FC236}">
                <a16:creationId xmlns:a16="http://schemas.microsoft.com/office/drawing/2014/main" id="{B5F617A6-52D6-4B82-BB8C-3D7143525AA1}"/>
              </a:ext>
            </a:extLst>
          </p:cNvPr>
          <p:cNvSpPr>
            <a:spLocks noChangeArrowheads="1"/>
          </p:cNvSpPr>
          <p:nvPr/>
        </p:nvSpPr>
        <p:spPr bwMode="auto">
          <a:xfrm>
            <a:off x="4140200" y="4797425"/>
            <a:ext cx="1296988" cy="71913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42347" name="Rectangle 12">
            <a:extLst>
              <a:ext uri="{FF2B5EF4-FFF2-40B4-BE49-F238E27FC236}">
                <a16:creationId xmlns:a16="http://schemas.microsoft.com/office/drawing/2014/main" id="{A2CFD5E6-5AB4-FB17-E703-A5AA9A9D0F25}"/>
              </a:ext>
            </a:extLst>
          </p:cNvPr>
          <p:cNvSpPr>
            <a:spLocks noChangeArrowheads="1"/>
          </p:cNvSpPr>
          <p:nvPr/>
        </p:nvSpPr>
        <p:spPr bwMode="auto">
          <a:xfrm>
            <a:off x="4140200" y="5518150"/>
            <a:ext cx="1295400" cy="50323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795661" name="AutoShape 13">
            <a:extLst>
              <a:ext uri="{FF2B5EF4-FFF2-40B4-BE49-F238E27FC236}">
                <a16:creationId xmlns:a16="http://schemas.microsoft.com/office/drawing/2014/main" id="{FA8C69FF-1DCB-9911-FE60-E5A072996BD3}"/>
              </a:ext>
            </a:extLst>
          </p:cNvPr>
          <p:cNvCxnSpPr>
            <a:cxnSpLocks noChangeShapeType="1"/>
            <a:stCxn id="142345" idx="3"/>
            <a:endCxn id="142349" idx="1"/>
          </p:cNvCxnSpPr>
          <p:nvPr/>
        </p:nvCxnSpPr>
        <p:spPr bwMode="auto">
          <a:xfrm flipV="1">
            <a:off x="5449888" y="2852738"/>
            <a:ext cx="765175" cy="612775"/>
          </a:xfrm>
          <a:prstGeom prst="curvedConnector3">
            <a:avLst>
              <a:gd name="adj1" fmla="val 50000"/>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349" name="Rectangle 14">
            <a:extLst>
              <a:ext uri="{FF2B5EF4-FFF2-40B4-BE49-F238E27FC236}">
                <a16:creationId xmlns:a16="http://schemas.microsoft.com/office/drawing/2014/main" id="{E280B082-35EB-95B9-A9F0-F5B5FFCEB2E6}"/>
              </a:ext>
            </a:extLst>
          </p:cNvPr>
          <p:cNvSpPr>
            <a:spLocks noChangeArrowheads="1"/>
          </p:cNvSpPr>
          <p:nvPr/>
        </p:nvSpPr>
        <p:spPr bwMode="auto">
          <a:xfrm>
            <a:off x="6229350" y="2492375"/>
            <a:ext cx="1296988" cy="7191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42350" name="Rectangle 15">
            <a:extLst>
              <a:ext uri="{FF2B5EF4-FFF2-40B4-BE49-F238E27FC236}">
                <a16:creationId xmlns:a16="http://schemas.microsoft.com/office/drawing/2014/main" id="{1178C3AB-640C-5CD6-281A-474C58F2AEBC}"/>
              </a:ext>
            </a:extLst>
          </p:cNvPr>
          <p:cNvSpPr>
            <a:spLocks noChangeArrowheads="1"/>
          </p:cNvSpPr>
          <p:nvPr/>
        </p:nvSpPr>
        <p:spPr bwMode="auto">
          <a:xfrm>
            <a:off x="6229350" y="3213100"/>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142351" name="AutoShape 16">
            <a:extLst>
              <a:ext uri="{FF2B5EF4-FFF2-40B4-BE49-F238E27FC236}">
                <a16:creationId xmlns:a16="http://schemas.microsoft.com/office/drawing/2014/main" id="{5C2034D0-DF59-8317-4F4E-FA02D955AD34}"/>
              </a:ext>
            </a:extLst>
          </p:cNvPr>
          <p:cNvCxnSpPr>
            <a:cxnSpLocks noChangeShapeType="1"/>
            <a:stCxn id="142350" idx="3"/>
          </p:cNvCxnSpPr>
          <p:nvPr/>
        </p:nvCxnSpPr>
        <p:spPr bwMode="auto">
          <a:xfrm flipV="1">
            <a:off x="7539038" y="2708275"/>
            <a:ext cx="792162" cy="757238"/>
          </a:xfrm>
          <a:prstGeom prst="curvedConnector3">
            <a:avLst>
              <a:gd name="adj1" fmla="val 49898"/>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352" name="Text Box 17">
            <a:extLst>
              <a:ext uri="{FF2B5EF4-FFF2-40B4-BE49-F238E27FC236}">
                <a16:creationId xmlns:a16="http://schemas.microsoft.com/office/drawing/2014/main" id="{396ED7BA-7571-B8B3-794F-AEB18F178E13}"/>
              </a:ext>
            </a:extLst>
          </p:cNvPr>
          <p:cNvSpPr txBox="1">
            <a:spLocks noChangeArrowheads="1"/>
          </p:cNvSpPr>
          <p:nvPr/>
        </p:nvSpPr>
        <p:spPr bwMode="auto">
          <a:xfrm>
            <a:off x="4068763" y="6165850"/>
            <a:ext cx="1439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zh-CN" altLang="en-US" sz="2400" b="0" i="0">
                <a:latin typeface="Arial Narrow" panose="020B0604020202020204" pitchFamily="34" charset="0"/>
                <a:ea typeface="华文中宋" panose="02010600040101010101" pitchFamily="2" charset="-122"/>
              </a:rPr>
              <a:t>新的节点</a:t>
            </a:r>
          </a:p>
        </p:txBody>
      </p:sp>
      <p:cxnSp>
        <p:nvCxnSpPr>
          <p:cNvPr id="795666" name="AutoShape 18">
            <a:extLst>
              <a:ext uri="{FF2B5EF4-FFF2-40B4-BE49-F238E27FC236}">
                <a16:creationId xmlns:a16="http://schemas.microsoft.com/office/drawing/2014/main" id="{92F41AC5-1824-6A8D-B310-D938081A1702}"/>
              </a:ext>
            </a:extLst>
          </p:cNvPr>
          <p:cNvCxnSpPr>
            <a:cxnSpLocks noChangeShapeType="1"/>
            <a:stCxn id="142347" idx="3"/>
            <a:endCxn id="142349" idx="1"/>
          </p:cNvCxnSpPr>
          <p:nvPr/>
        </p:nvCxnSpPr>
        <p:spPr bwMode="auto">
          <a:xfrm flipV="1">
            <a:off x="5449888" y="2852738"/>
            <a:ext cx="765175" cy="2917825"/>
          </a:xfrm>
          <a:prstGeom prst="curvedConnector3">
            <a:avLst>
              <a:gd name="adj1" fmla="val 50000"/>
            </a:avLst>
          </a:prstGeom>
          <a:noFill/>
          <a:ln w="28575">
            <a:solidFill>
              <a:schemeClr val="accent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5667" name="AutoShape 19">
            <a:extLst>
              <a:ext uri="{FF2B5EF4-FFF2-40B4-BE49-F238E27FC236}">
                <a16:creationId xmlns:a16="http://schemas.microsoft.com/office/drawing/2014/main" id="{5B83CF7A-853D-03BE-F04A-9987507CE973}"/>
              </a:ext>
            </a:extLst>
          </p:cNvPr>
          <p:cNvCxnSpPr>
            <a:cxnSpLocks noChangeShapeType="1"/>
            <a:stCxn id="142345" idx="3"/>
            <a:endCxn id="142346" idx="1"/>
          </p:cNvCxnSpPr>
          <p:nvPr/>
        </p:nvCxnSpPr>
        <p:spPr bwMode="auto">
          <a:xfrm flipH="1">
            <a:off x="4125913" y="3465513"/>
            <a:ext cx="1323975" cy="1692275"/>
          </a:xfrm>
          <a:prstGeom prst="curvedConnector5">
            <a:avLst>
              <a:gd name="adj1" fmla="val -16185"/>
              <a:gd name="adj2" fmla="val 46718"/>
              <a:gd name="adj3" fmla="val 116185"/>
            </a:avLst>
          </a:prstGeom>
          <a:noFill/>
          <a:ln w="28575">
            <a:solidFill>
              <a:schemeClr val="accent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355" name="Rectangle 20">
            <a:extLst>
              <a:ext uri="{FF2B5EF4-FFF2-40B4-BE49-F238E27FC236}">
                <a16:creationId xmlns:a16="http://schemas.microsoft.com/office/drawing/2014/main" id="{7C1458A2-61DA-8C5D-2918-622A6BE7E9C4}"/>
              </a:ext>
            </a:extLst>
          </p:cNvPr>
          <p:cNvSpPr>
            <a:spLocks noChangeArrowheads="1"/>
          </p:cNvSpPr>
          <p:nvPr/>
        </p:nvSpPr>
        <p:spPr bwMode="auto">
          <a:xfrm>
            <a:off x="2051050" y="4894263"/>
            <a:ext cx="1295400" cy="503237"/>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42356" name="Line 21">
            <a:extLst>
              <a:ext uri="{FF2B5EF4-FFF2-40B4-BE49-F238E27FC236}">
                <a16:creationId xmlns:a16="http://schemas.microsoft.com/office/drawing/2014/main" id="{6E03290B-DAAC-5CFB-A33F-9D584E039107}"/>
              </a:ext>
            </a:extLst>
          </p:cNvPr>
          <p:cNvSpPr>
            <a:spLocks noChangeShapeType="1"/>
          </p:cNvSpPr>
          <p:nvPr/>
        </p:nvSpPr>
        <p:spPr bwMode="auto">
          <a:xfrm>
            <a:off x="2987675" y="5183188"/>
            <a:ext cx="1152525"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2357" name="Text Box 22">
            <a:extLst>
              <a:ext uri="{FF2B5EF4-FFF2-40B4-BE49-F238E27FC236}">
                <a16:creationId xmlns:a16="http://schemas.microsoft.com/office/drawing/2014/main" id="{DAF03385-5FE6-D0C7-A73C-1E5FF0793EA4}"/>
              </a:ext>
            </a:extLst>
          </p:cNvPr>
          <p:cNvSpPr txBox="1">
            <a:spLocks noChangeArrowheads="1"/>
          </p:cNvSpPr>
          <p:nvPr/>
        </p:nvSpPr>
        <p:spPr bwMode="auto">
          <a:xfrm>
            <a:off x="4573588" y="4941888"/>
            <a:ext cx="503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5</a:t>
            </a:r>
          </a:p>
        </p:txBody>
      </p:sp>
      <p:sp>
        <p:nvSpPr>
          <p:cNvPr id="142358" name="Text Box 23">
            <a:extLst>
              <a:ext uri="{FF2B5EF4-FFF2-40B4-BE49-F238E27FC236}">
                <a16:creationId xmlns:a16="http://schemas.microsoft.com/office/drawing/2014/main" id="{FCB2FBB7-EF7B-FFB5-F650-F1D6FAA7813B}"/>
              </a:ext>
            </a:extLst>
          </p:cNvPr>
          <p:cNvSpPr txBox="1">
            <a:spLocks noChangeArrowheads="1"/>
          </p:cNvSpPr>
          <p:nvPr/>
        </p:nvSpPr>
        <p:spPr bwMode="auto">
          <a:xfrm>
            <a:off x="6661150" y="2611438"/>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bg1"/>
                </a:solidFill>
                <a:latin typeface="Arial Narrow" panose="020B0604020202020204" pitchFamily="34" charset="0"/>
                <a:ea typeface="宋体" panose="02010600030101010101" pitchFamily="2" charset="-122"/>
              </a:rPr>
              <a:t>6</a:t>
            </a:r>
          </a:p>
        </p:txBody>
      </p:sp>
      <p:sp>
        <p:nvSpPr>
          <p:cNvPr id="142359" name="Rectangle 24">
            <a:extLst>
              <a:ext uri="{FF2B5EF4-FFF2-40B4-BE49-F238E27FC236}">
                <a16:creationId xmlns:a16="http://schemas.microsoft.com/office/drawing/2014/main" id="{65F89F2E-97AE-1DD4-5B50-2199B2EA2472}"/>
              </a:ext>
            </a:extLst>
          </p:cNvPr>
          <p:cNvSpPr>
            <a:spLocks noChangeArrowheads="1"/>
          </p:cNvSpPr>
          <p:nvPr/>
        </p:nvSpPr>
        <p:spPr bwMode="auto">
          <a:xfrm>
            <a:off x="2124075" y="2492375"/>
            <a:ext cx="1296988" cy="7191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Tx/>
              <a:buNone/>
            </a:pPr>
            <a:endParaRPr kumimoji="1" lang="zh-CN" altLang="zh-CN" sz="2400" b="0" i="0">
              <a:latin typeface="Arial Narrow" panose="020B0604020202020204" pitchFamily="34" charset="0"/>
              <a:ea typeface="宋体" panose="02010600030101010101" pitchFamily="2" charset="-122"/>
            </a:endParaRPr>
          </a:p>
        </p:txBody>
      </p:sp>
      <p:sp>
        <p:nvSpPr>
          <p:cNvPr id="142360" name="Rectangle 25">
            <a:extLst>
              <a:ext uri="{FF2B5EF4-FFF2-40B4-BE49-F238E27FC236}">
                <a16:creationId xmlns:a16="http://schemas.microsoft.com/office/drawing/2014/main" id="{B13735AF-132C-4962-352F-F7B196F12288}"/>
              </a:ext>
            </a:extLst>
          </p:cNvPr>
          <p:cNvSpPr>
            <a:spLocks noChangeArrowheads="1"/>
          </p:cNvSpPr>
          <p:nvPr/>
        </p:nvSpPr>
        <p:spPr bwMode="auto">
          <a:xfrm>
            <a:off x="2124075" y="3213100"/>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142361" name="AutoShape 26">
            <a:extLst>
              <a:ext uri="{FF2B5EF4-FFF2-40B4-BE49-F238E27FC236}">
                <a16:creationId xmlns:a16="http://schemas.microsoft.com/office/drawing/2014/main" id="{B1511E12-A317-DEC4-312C-734017F63F3C}"/>
              </a:ext>
            </a:extLst>
          </p:cNvPr>
          <p:cNvCxnSpPr>
            <a:cxnSpLocks noChangeShapeType="1"/>
            <a:stCxn id="142360" idx="3"/>
            <a:endCxn id="142344" idx="1"/>
          </p:cNvCxnSpPr>
          <p:nvPr/>
        </p:nvCxnSpPr>
        <p:spPr bwMode="auto">
          <a:xfrm flipV="1">
            <a:off x="3433763" y="2852738"/>
            <a:ext cx="692150" cy="612775"/>
          </a:xfrm>
          <a:prstGeom prst="curvedConnector3">
            <a:avLst>
              <a:gd name="adj1" fmla="val 50000"/>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Line 21">
            <a:extLst>
              <a:ext uri="{FF2B5EF4-FFF2-40B4-BE49-F238E27FC236}">
                <a16:creationId xmlns:a16="http://schemas.microsoft.com/office/drawing/2014/main" id="{2BB57050-0B34-1138-F3F7-6626A304E607}"/>
              </a:ext>
            </a:extLst>
          </p:cNvPr>
          <p:cNvSpPr>
            <a:spLocks noChangeShapeType="1"/>
          </p:cNvSpPr>
          <p:nvPr/>
        </p:nvSpPr>
        <p:spPr bwMode="auto">
          <a:xfrm>
            <a:off x="4788024" y="2132014"/>
            <a:ext cx="0" cy="358774"/>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95653"/>
                                        </p:tgtEl>
                                        <p:attrNameLst>
                                          <p:attrName>style.visibility</p:attrName>
                                        </p:attrNameLst>
                                      </p:cBhvr>
                                      <p:to>
                                        <p:strVal val="visible"/>
                                      </p:to>
                                    </p:set>
                                    <p:animEffect transition="in" filter="box(in)">
                                      <p:cBhvr>
                                        <p:cTn id="7" dur="500"/>
                                        <p:tgtEl>
                                          <p:spTgt spid="795653"/>
                                        </p:tgtEl>
                                      </p:cBhvr>
                                    </p:animEffect>
                                  </p:childTnLst>
                                </p:cTn>
                              </p:par>
                            </p:childTnLst>
                          </p:cTn>
                        </p:par>
                        <p:par>
                          <p:cTn id="8" fill="hold" nodeType="afterGroup">
                            <p:stCondLst>
                              <p:cond delay="500"/>
                            </p:stCondLst>
                            <p:childTnLst>
                              <p:par>
                                <p:cTn id="9" presetID="15" presetClass="entr" presetSubtype="0" fill="hold" nodeType="afterEffect">
                                  <p:stCondLst>
                                    <p:cond delay="0"/>
                                  </p:stCondLst>
                                  <p:childTnLst>
                                    <p:set>
                                      <p:cBhvr>
                                        <p:cTn id="10" dur="1" fill="hold">
                                          <p:stCondLst>
                                            <p:cond delay="0"/>
                                          </p:stCondLst>
                                        </p:cTn>
                                        <p:tgtEl>
                                          <p:spTgt spid="795666"/>
                                        </p:tgtEl>
                                        <p:attrNameLst>
                                          <p:attrName>style.visibility</p:attrName>
                                        </p:attrNameLst>
                                      </p:cBhvr>
                                      <p:to>
                                        <p:strVal val="visible"/>
                                      </p:to>
                                    </p:set>
                                    <p:anim calcmode="lin" valueType="num">
                                      <p:cBhvr>
                                        <p:cTn id="11" dur="1000" fill="hold"/>
                                        <p:tgtEl>
                                          <p:spTgt spid="795666"/>
                                        </p:tgtEl>
                                        <p:attrNameLst>
                                          <p:attrName>ppt_w</p:attrName>
                                        </p:attrNameLst>
                                      </p:cBhvr>
                                      <p:tavLst>
                                        <p:tav tm="0">
                                          <p:val>
                                            <p:fltVal val="0"/>
                                          </p:val>
                                        </p:tav>
                                        <p:tav tm="100000">
                                          <p:val>
                                            <p:strVal val="#ppt_w"/>
                                          </p:val>
                                        </p:tav>
                                      </p:tavLst>
                                    </p:anim>
                                    <p:anim calcmode="lin" valueType="num">
                                      <p:cBhvr>
                                        <p:cTn id="12" dur="1000" fill="hold"/>
                                        <p:tgtEl>
                                          <p:spTgt spid="795666"/>
                                        </p:tgtEl>
                                        <p:attrNameLst>
                                          <p:attrName>ppt_h</p:attrName>
                                        </p:attrNameLst>
                                      </p:cBhvr>
                                      <p:tavLst>
                                        <p:tav tm="0">
                                          <p:val>
                                            <p:fltVal val="0"/>
                                          </p:val>
                                        </p:tav>
                                        <p:tav tm="100000">
                                          <p:val>
                                            <p:strVal val="#ppt_h"/>
                                          </p:val>
                                        </p:tav>
                                      </p:tavLst>
                                    </p:anim>
                                    <p:anim calcmode="lin" valueType="num">
                                      <p:cBhvr>
                                        <p:cTn id="13" dur="1000" fill="hold"/>
                                        <p:tgtEl>
                                          <p:spTgt spid="795666"/>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79566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795654"/>
                                        </p:tgtEl>
                                        <p:attrNameLst>
                                          <p:attrName>style.visibility</p:attrName>
                                        </p:attrNameLst>
                                      </p:cBhvr>
                                      <p:to>
                                        <p:strVal val="visible"/>
                                      </p:to>
                                    </p:set>
                                    <p:animEffect transition="in" filter="box(in)">
                                      <p:cBhvr>
                                        <p:cTn id="19" dur="500"/>
                                        <p:tgtEl>
                                          <p:spTgt spid="795654"/>
                                        </p:tgtEl>
                                      </p:cBhvr>
                                    </p:animEffect>
                                  </p:childTnLst>
                                </p:cTn>
                              </p:par>
                            </p:childTnLst>
                          </p:cTn>
                        </p:par>
                        <p:par>
                          <p:cTn id="20" fill="hold" nodeType="afterGroup">
                            <p:stCondLst>
                              <p:cond delay="500"/>
                            </p:stCondLst>
                            <p:childTnLst>
                              <p:par>
                                <p:cTn id="21" presetID="35" presetClass="exit" presetSubtype="0" fill="hold" nodeType="afterEffect">
                                  <p:stCondLst>
                                    <p:cond delay="0"/>
                                  </p:stCondLst>
                                  <p:childTnLst>
                                    <p:animEffect transition="out" filter="fade">
                                      <p:cBhvr>
                                        <p:cTn id="22" dur="2000"/>
                                        <p:tgtEl>
                                          <p:spTgt spid="795661"/>
                                        </p:tgtEl>
                                      </p:cBhvr>
                                    </p:animEffect>
                                    <p:anim calcmode="lin" valueType="num">
                                      <p:cBhvr>
                                        <p:cTn id="23" dur="2000"/>
                                        <p:tgtEl>
                                          <p:spTgt spid="795661"/>
                                        </p:tgtEl>
                                        <p:attrNameLst>
                                          <p:attrName>style.rotation</p:attrName>
                                        </p:attrNameLst>
                                      </p:cBhvr>
                                      <p:tavLst>
                                        <p:tav tm="0">
                                          <p:val>
                                            <p:fltVal val="0"/>
                                          </p:val>
                                        </p:tav>
                                        <p:tav tm="100000">
                                          <p:val>
                                            <p:fltVal val="720"/>
                                          </p:val>
                                        </p:tav>
                                      </p:tavLst>
                                    </p:anim>
                                    <p:anim calcmode="lin" valueType="num">
                                      <p:cBhvr>
                                        <p:cTn id="24" dur="2000"/>
                                        <p:tgtEl>
                                          <p:spTgt spid="795661"/>
                                        </p:tgtEl>
                                        <p:attrNameLst>
                                          <p:attrName>ppt_h</p:attrName>
                                        </p:attrNameLst>
                                      </p:cBhvr>
                                      <p:tavLst>
                                        <p:tav tm="0">
                                          <p:val>
                                            <p:strVal val="ppt_h"/>
                                          </p:val>
                                        </p:tav>
                                        <p:tav tm="100000">
                                          <p:val>
                                            <p:fltVal val="0"/>
                                          </p:val>
                                        </p:tav>
                                      </p:tavLst>
                                    </p:anim>
                                    <p:anim calcmode="lin" valueType="num">
                                      <p:cBhvr>
                                        <p:cTn id="25" dur="2000"/>
                                        <p:tgtEl>
                                          <p:spTgt spid="795661"/>
                                        </p:tgtEl>
                                        <p:attrNameLst>
                                          <p:attrName>ppt_w</p:attrName>
                                        </p:attrNameLst>
                                      </p:cBhvr>
                                      <p:tavLst>
                                        <p:tav tm="0">
                                          <p:val>
                                            <p:strVal val="ppt_w"/>
                                          </p:val>
                                        </p:tav>
                                        <p:tav tm="100000">
                                          <p:val>
                                            <p:fltVal val="0"/>
                                          </p:val>
                                        </p:tav>
                                      </p:tavLst>
                                    </p:anim>
                                    <p:set>
                                      <p:cBhvr>
                                        <p:cTn id="26" dur="1" fill="hold">
                                          <p:stCondLst>
                                            <p:cond delay="1999"/>
                                          </p:stCondLst>
                                        </p:cTn>
                                        <p:tgtEl>
                                          <p:spTgt spid="795661"/>
                                        </p:tgtEl>
                                        <p:attrNameLst>
                                          <p:attrName>style.visibility</p:attrName>
                                        </p:attrNameLst>
                                      </p:cBhvr>
                                      <p:to>
                                        <p:strVal val="hidden"/>
                                      </p:to>
                                    </p:set>
                                  </p:childTnLst>
                                </p:cTn>
                              </p:par>
                            </p:childTnLst>
                          </p:cTn>
                        </p:par>
                        <p:par>
                          <p:cTn id="27" fill="hold" nodeType="afterGroup">
                            <p:stCondLst>
                              <p:cond delay="2500"/>
                            </p:stCondLst>
                            <p:childTnLst>
                              <p:par>
                                <p:cTn id="28" presetID="15" presetClass="entr" presetSubtype="0" fill="hold" nodeType="afterEffect">
                                  <p:stCondLst>
                                    <p:cond delay="0"/>
                                  </p:stCondLst>
                                  <p:childTnLst>
                                    <p:set>
                                      <p:cBhvr>
                                        <p:cTn id="29" dur="1" fill="hold">
                                          <p:stCondLst>
                                            <p:cond delay="0"/>
                                          </p:stCondLst>
                                        </p:cTn>
                                        <p:tgtEl>
                                          <p:spTgt spid="795667"/>
                                        </p:tgtEl>
                                        <p:attrNameLst>
                                          <p:attrName>style.visibility</p:attrName>
                                        </p:attrNameLst>
                                      </p:cBhvr>
                                      <p:to>
                                        <p:strVal val="visible"/>
                                      </p:to>
                                    </p:set>
                                    <p:anim calcmode="lin" valueType="num">
                                      <p:cBhvr>
                                        <p:cTn id="30" dur="1000" fill="hold"/>
                                        <p:tgtEl>
                                          <p:spTgt spid="795667"/>
                                        </p:tgtEl>
                                        <p:attrNameLst>
                                          <p:attrName>ppt_w</p:attrName>
                                        </p:attrNameLst>
                                      </p:cBhvr>
                                      <p:tavLst>
                                        <p:tav tm="0">
                                          <p:val>
                                            <p:fltVal val="0"/>
                                          </p:val>
                                        </p:tav>
                                        <p:tav tm="100000">
                                          <p:val>
                                            <p:strVal val="#ppt_w"/>
                                          </p:val>
                                        </p:tav>
                                      </p:tavLst>
                                    </p:anim>
                                    <p:anim calcmode="lin" valueType="num">
                                      <p:cBhvr>
                                        <p:cTn id="31" dur="1000" fill="hold"/>
                                        <p:tgtEl>
                                          <p:spTgt spid="795667"/>
                                        </p:tgtEl>
                                        <p:attrNameLst>
                                          <p:attrName>ppt_h</p:attrName>
                                        </p:attrNameLst>
                                      </p:cBhvr>
                                      <p:tavLst>
                                        <p:tav tm="0">
                                          <p:val>
                                            <p:fltVal val="0"/>
                                          </p:val>
                                        </p:tav>
                                        <p:tav tm="100000">
                                          <p:val>
                                            <p:strVal val="#ppt_h"/>
                                          </p:val>
                                        </p:tav>
                                      </p:tavLst>
                                    </p:anim>
                                    <p:anim calcmode="lin" valueType="num">
                                      <p:cBhvr>
                                        <p:cTn id="32" dur="1000" fill="hold"/>
                                        <p:tgtEl>
                                          <p:spTgt spid="795667"/>
                                        </p:tgtEl>
                                        <p:attrNameLst>
                                          <p:attrName>ppt_x</p:attrName>
                                        </p:attrNameLst>
                                      </p:cBhvr>
                                      <p:tavLst>
                                        <p:tav tm="0" fmla="#ppt_x+(cos(-2*pi*(1-$))*-#ppt_x-sin(-2*pi*(1-$))*(1-#ppt_y))*(1-$)">
                                          <p:val>
                                            <p:fltVal val="0"/>
                                          </p:val>
                                        </p:tav>
                                        <p:tav tm="100000">
                                          <p:val>
                                            <p:fltVal val="1"/>
                                          </p:val>
                                        </p:tav>
                                      </p:tavLst>
                                    </p:anim>
                                    <p:anim calcmode="lin" valueType="num">
                                      <p:cBhvr>
                                        <p:cTn id="33" dur="1000" fill="hold"/>
                                        <p:tgtEl>
                                          <p:spTgt spid="79566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5653" grpId="0"/>
      <p:bldP spid="795654"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02CBA-AC39-CE05-2F9A-86FB5B896D2E}"/>
            </a:ext>
          </a:extLst>
        </p:cNvPr>
        <p:cNvGrpSpPr/>
        <p:nvPr/>
      </p:nvGrpSpPr>
      <p:grpSpPr>
        <a:xfrm>
          <a:off x="0" y="0"/>
          <a:ext cx="0" cy="0"/>
          <a:chOff x="0" y="0"/>
          <a:chExt cx="0" cy="0"/>
        </a:xfrm>
      </p:grpSpPr>
      <p:sp>
        <p:nvSpPr>
          <p:cNvPr id="141314" name="Rectangle 2">
            <a:extLst>
              <a:ext uri="{FF2B5EF4-FFF2-40B4-BE49-F238E27FC236}">
                <a16:creationId xmlns:a16="http://schemas.microsoft.com/office/drawing/2014/main" id="{A0590F9A-DE3C-1EFC-7DB8-A2F30791C048}"/>
              </a:ext>
            </a:extLst>
          </p:cNvPr>
          <p:cNvSpPr>
            <a:spLocks noGrp="1" noChangeArrowheads="1"/>
          </p:cNvSpPr>
          <p:nvPr>
            <p:ph type="title"/>
          </p:nvPr>
        </p:nvSpPr>
        <p:spPr/>
        <p:txBody>
          <a:bodyPr/>
          <a:lstStyle/>
          <a:p>
            <a:pPr eaLnBrk="1" hangingPunct="1"/>
            <a:r>
              <a:rPr lang="zh-CN" altLang="en-US"/>
              <a:t>向链表插入一个新表元</a:t>
            </a:r>
            <a:r>
              <a:rPr lang="en-US" altLang="zh-CN"/>
              <a:t>(</a:t>
            </a:r>
            <a:r>
              <a:rPr lang="zh-CN" altLang="en-US"/>
              <a:t>续</a:t>
            </a:r>
            <a:r>
              <a:rPr lang="en-US" altLang="zh-CN"/>
              <a:t>)</a:t>
            </a:r>
          </a:p>
        </p:txBody>
      </p:sp>
      <p:sp>
        <p:nvSpPr>
          <p:cNvPr id="141315" name="Rectangle 3">
            <a:extLst>
              <a:ext uri="{FF2B5EF4-FFF2-40B4-BE49-F238E27FC236}">
                <a16:creationId xmlns:a16="http://schemas.microsoft.com/office/drawing/2014/main" id="{3BDCDB15-8DBC-E8CA-D82E-2B1A107B2DF1}"/>
              </a:ext>
            </a:extLst>
          </p:cNvPr>
          <p:cNvSpPr>
            <a:spLocks noGrp="1" noChangeArrowheads="1"/>
          </p:cNvSpPr>
          <p:nvPr>
            <p:ph type="body" idx="1"/>
          </p:nvPr>
        </p:nvSpPr>
        <p:spPr>
          <a:xfrm>
            <a:off x="827088" y="1700809"/>
            <a:ext cx="7866062" cy="4968552"/>
          </a:xfrm>
        </p:spPr>
        <p:txBody>
          <a:bodyPr/>
          <a:lstStyle/>
          <a:p>
            <a:pPr marL="533400" indent="-533400" algn="just" eaLnBrk="1" hangingPunct="1">
              <a:lnSpc>
                <a:spcPct val="150000"/>
              </a:lnSpc>
            </a:pPr>
            <a:r>
              <a:rPr lang="zh-CN" altLang="en-US" sz="1600"/>
              <a:t>（</a:t>
            </a:r>
            <a:r>
              <a:rPr lang="en-US" altLang="zh-CN" sz="1600"/>
              <a:t>3</a:t>
            </a:r>
            <a:r>
              <a:rPr lang="zh-CN" altLang="en-US" sz="1600"/>
              <a:t>）在某指针所指的表元</a:t>
            </a:r>
            <a:r>
              <a:rPr lang="zh-CN" altLang="en-US" sz="1600">
                <a:solidFill>
                  <a:srgbClr val="0066FF"/>
                </a:solidFill>
              </a:rPr>
              <a:t>之前</a:t>
            </a:r>
            <a:r>
              <a:rPr lang="zh-CN" altLang="en-US" sz="1600"/>
              <a:t>插入新表元</a:t>
            </a:r>
          </a:p>
          <a:p>
            <a:pPr marL="533400" indent="-533400" algn="just" eaLnBrk="1" hangingPunct="1">
              <a:lnSpc>
                <a:spcPct val="150000"/>
              </a:lnSpc>
            </a:pPr>
            <a:r>
              <a:rPr lang="zh-CN" altLang="en-US" sz="1600" b="0"/>
              <a:t>先思考，结合后面的介绍实现</a:t>
            </a:r>
            <a:endParaRPr lang="en-US" altLang="zh-CN" sz="1600" b="0"/>
          </a:p>
        </p:txBody>
      </p:sp>
    </p:spTree>
    <p:extLst>
      <p:ext uri="{BB962C8B-B14F-4D97-AF65-F5344CB8AC3E}">
        <p14:creationId xmlns:p14="http://schemas.microsoft.com/office/powerpoint/2010/main" val="199233068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DDD4D3B8-A470-C9B5-6CFF-B94C4FDC7330}"/>
              </a:ext>
            </a:extLst>
          </p:cNvPr>
          <p:cNvSpPr>
            <a:spLocks noGrp="1" noChangeArrowheads="1"/>
          </p:cNvSpPr>
          <p:nvPr>
            <p:ph type="title"/>
          </p:nvPr>
        </p:nvSpPr>
        <p:spPr/>
        <p:txBody>
          <a:bodyPr/>
          <a:lstStyle/>
          <a:p>
            <a:pPr eaLnBrk="1" hangingPunct="1"/>
            <a:r>
              <a:rPr lang="zh-CN" altLang="en-US"/>
              <a:t>遍历链表</a:t>
            </a:r>
          </a:p>
        </p:txBody>
      </p:sp>
      <p:sp>
        <p:nvSpPr>
          <p:cNvPr id="143363" name="Rectangle 3">
            <a:extLst>
              <a:ext uri="{FF2B5EF4-FFF2-40B4-BE49-F238E27FC236}">
                <a16:creationId xmlns:a16="http://schemas.microsoft.com/office/drawing/2014/main" id="{F1D1B26F-786C-CC29-7C64-E154A8641558}"/>
              </a:ext>
            </a:extLst>
          </p:cNvPr>
          <p:cNvSpPr>
            <a:spLocks noGrp="1" noChangeArrowheads="1"/>
          </p:cNvSpPr>
          <p:nvPr>
            <p:ph type="body" idx="1"/>
          </p:nvPr>
        </p:nvSpPr>
        <p:spPr>
          <a:xfrm>
            <a:off x="827088" y="1772815"/>
            <a:ext cx="7866062" cy="4359697"/>
          </a:xfrm>
        </p:spPr>
        <p:txBody>
          <a:bodyPr/>
          <a:lstStyle/>
          <a:p>
            <a:pPr marL="533400" indent="-533400" eaLnBrk="1" hangingPunct="1"/>
            <a:r>
              <a:rPr lang="zh-CN" altLang="en-US" sz="2000" b="0"/>
              <a:t>要求：从链表的首表元开始，沿着链表表元的链接顺序逐一考察每个表元，直至链表结束。</a:t>
            </a:r>
          </a:p>
          <a:p>
            <a:pPr marL="533400" indent="-533400" eaLnBrk="1" hangingPunct="1"/>
            <a:r>
              <a:rPr lang="zh-CN" altLang="en-US" sz="2000" b="0"/>
              <a:t>方法：用工作指针</a:t>
            </a:r>
            <a:r>
              <a:rPr lang="en-US" altLang="zh-CN" sz="2000" b="0"/>
              <a:t>p</a:t>
            </a:r>
            <a:r>
              <a:rPr lang="zh-CN" altLang="en-US" sz="2000" b="0"/>
              <a:t>遍历整个链表，访问表元只做输出表元值的工作。</a:t>
            </a:r>
            <a:r>
              <a:rPr lang="en-US" altLang="zh-CN" sz="2000" b="0"/>
              <a:t>p</a:t>
            </a:r>
            <a:r>
              <a:rPr lang="zh-CN" altLang="en-US" sz="2000" b="0"/>
              <a:t>的初值为链表头指针，在</a:t>
            </a:r>
            <a:r>
              <a:rPr lang="en-US" altLang="zh-CN" sz="2000" b="0"/>
              <a:t>p</a:t>
            </a:r>
            <a:r>
              <a:rPr lang="zh-CN" altLang="en-US" sz="2000" b="0"/>
              <a:t>不等于</a:t>
            </a:r>
            <a:r>
              <a:rPr lang="en-US" altLang="zh-CN" sz="2000" b="0"/>
              <a:t>NULL</a:t>
            </a:r>
            <a:r>
              <a:rPr lang="zh-CN" altLang="en-US" sz="2000" b="0"/>
              <a:t>值时循环，输出</a:t>
            </a:r>
            <a:r>
              <a:rPr lang="en-US" altLang="zh-CN" sz="2000" b="0"/>
              <a:t>p</a:t>
            </a:r>
            <a:r>
              <a:rPr lang="zh-CN" altLang="en-US" sz="2000" b="0"/>
              <a:t>所指表元的值，并准备考察下一个表元</a:t>
            </a:r>
            <a:r>
              <a:rPr lang="en-US" altLang="zh-CN" sz="2000" b="0"/>
              <a:t>(</a:t>
            </a:r>
            <a:r>
              <a:rPr lang="zh-CN" altLang="en-US" sz="2000" b="0"/>
              <a:t>即</a:t>
            </a:r>
            <a:r>
              <a:rPr lang="en-US" altLang="zh-CN" sz="2000" b="0"/>
              <a:t>p = p-&gt;next)</a:t>
            </a:r>
            <a:r>
              <a:rPr lang="zh-CN" altLang="en-US" sz="2000" b="0"/>
              <a:t>。下面是遍历链表并打印每个节点值的函数：</a:t>
            </a:r>
          </a:p>
          <a:p>
            <a:pPr marL="914400" lvl="1" indent="-457200" eaLnBrk="1" hangingPunct="1">
              <a:buFont typeface="Wingdings" pitchFamily="2" charset="2"/>
              <a:buAutoNum type="arabicPeriod"/>
            </a:pPr>
            <a:r>
              <a:rPr lang="zh-CN" altLang="en-US" sz="1800" b="0"/>
              <a:t>   </a:t>
            </a:r>
            <a:r>
              <a:rPr lang="en-US" altLang="zh-CN" sz="1800" b="0"/>
              <a:t>void travelLink(struct intNode *h){</a:t>
            </a:r>
          </a:p>
          <a:p>
            <a:pPr marL="914400" lvl="1" indent="-457200" eaLnBrk="1" hangingPunct="1">
              <a:buFont typeface="Wingdings" pitchFamily="2" charset="2"/>
              <a:buAutoNum type="arabicPeriod"/>
            </a:pPr>
            <a:r>
              <a:rPr lang="en-US" altLang="zh-CN" sz="1800" b="0"/>
              <a:t>        struct intNode *</a:t>
            </a:r>
            <a:r>
              <a:rPr lang="en-US" altLang="zh-CN" sz="1800" b="0">
                <a:solidFill>
                  <a:srgbClr val="0066FF"/>
                </a:solidFill>
              </a:rPr>
              <a:t>p = h</a:t>
            </a:r>
            <a:r>
              <a:rPr lang="en-US" altLang="zh-CN" sz="1800" b="0"/>
              <a:t>;</a:t>
            </a:r>
          </a:p>
          <a:p>
            <a:pPr marL="914400" lvl="1" indent="-457200" eaLnBrk="1" hangingPunct="1">
              <a:buFont typeface="Wingdings" pitchFamily="2" charset="2"/>
              <a:buAutoNum type="arabicPeriod"/>
            </a:pPr>
            <a:r>
              <a:rPr lang="en-US" altLang="zh-CN" sz="1800" b="0"/>
              <a:t>        while ( </a:t>
            </a:r>
            <a:r>
              <a:rPr lang="en-US" altLang="zh-CN" sz="1800" b="0">
                <a:solidFill>
                  <a:srgbClr val="0066FF"/>
                </a:solidFill>
              </a:rPr>
              <a:t>p != NULL </a:t>
            </a:r>
            <a:r>
              <a:rPr lang="en-US" altLang="zh-CN" sz="1800" b="0"/>
              <a:t>) {  </a:t>
            </a:r>
          </a:p>
          <a:p>
            <a:pPr marL="914400" lvl="1" indent="-457200" eaLnBrk="1" hangingPunct="1">
              <a:buFont typeface="Wingdings" pitchFamily="2" charset="2"/>
              <a:buAutoNum type="arabicPeriod"/>
            </a:pPr>
            <a:r>
              <a:rPr lang="en-US" altLang="zh-CN" sz="1800" b="0"/>
              <a:t>            printf(</a:t>
            </a:r>
            <a:r>
              <a:rPr lang="en-US" altLang="zh-CN" sz="1800" b="0">
                <a:latin typeface="Arial" panose="020B0604020202020204" pitchFamily="34" charset="0"/>
              </a:rPr>
              <a:t>”</a:t>
            </a:r>
            <a:r>
              <a:rPr lang="en-US" altLang="zh-CN" sz="1800" b="0"/>
              <a:t>%4d </a:t>
            </a:r>
            <a:r>
              <a:rPr lang="en-US" altLang="zh-CN" sz="1800" b="0">
                <a:latin typeface="Arial" panose="020B0604020202020204" pitchFamily="34" charset="0"/>
              </a:rPr>
              <a:t>”</a:t>
            </a:r>
            <a:r>
              <a:rPr lang="en-US" altLang="zh-CN" sz="1800" b="0"/>
              <a:t>, p-&gt;value); </a:t>
            </a:r>
            <a:r>
              <a:rPr lang="en-US" altLang="zh-CN" sz="1800" b="0">
                <a:solidFill>
                  <a:schemeClr val="folHlink"/>
                </a:solidFill>
              </a:rPr>
              <a:t>//</a:t>
            </a:r>
            <a:r>
              <a:rPr lang="zh-CN" altLang="en-US" sz="1800" b="0">
                <a:solidFill>
                  <a:schemeClr val="folHlink"/>
                </a:solidFill>
              </a:rPr>
              <a:t>输出表元的值</a:t>
            </a:r>
          </a:p>
          <a:p>
            <a:pPr marL="914400" lvl="1" indent="-457200" eaLnBrk="1" hangingPunct="1">
              <a:buFont typeface="Wingdings" pitchFamily="2" charset="2"/>
              <a:buAutoNum type="arabicPeriod"/>
            </a:pPr>
            <a:r>
              <a:rPr lang="zh-CN" altLang="en-US" sz="1800" b="0"/>
              <a:t>            </a:t>
            </a:r>
            <a:r>
              <a:rPr lang="en-US" altLang="zh-CN" sz="1800" b="0">
                <a:solidFill>
                  <a:srgbClr val="0066FF"/>
                </a:solidFill>
              </a:rPr>
              <a:t>p = p-&gt;next;  </a:t>
            </a:r>
            <a:r>
              <a:rPr lang="en-US" altLang="zh-CN" sz="1800" b="0">
                <a:solidFill>
                  <a:schemeClr val="folHlink"/>
                </a:solidFill>
              </a:rPr>
              <a:t>//</a:t>
            </a:r>
            <a:r>
              <a:rPr lang="zh-CN" altLang="en-US" sz="1800" b="0">
                <a:solidFill>
                  <a:schemeClr val="folHlink"/>
                </a:solidFill>
              </a:rPr>
              <a:t>准备访问下一个表元</a:t>
            </a:r>
          </a:p>
          <a:p>
            <a:pPr marL="914400" lvl="1" indent="-457200" eaLnBrk="1" hangingPunct="1">
              <a:buFont typeface="Wingdings" pitchFamily="2" charset="2"/>
              <a:buAutoNum type="arabicPeriod"/>
            </a:pPr>
            <a:r>
              <a:rPr lang="zh-CN" altLang="en-US" sz="1800" b="0"/>
              <a:t>        </a:t>
            </a:r>
            <a:r>
              <a:rPr lang="en-US" altLang="zh-CN" sz="1800" b="0"/>
              <a:t>}</a:t>
            </a:r>
          </a:p>
          <a:p>
            <a:pPr marL="914400" lvl="1" indent="-457200" eaLnBrk="1" hangingPunct="1">
              <a:buFont typeface="Wingdings" pitchFamily="2" charset="2"/>
              <a:buAutoNum type="arabicPeriod"/>
            </a:pPr>
            <a:r>
              <a:rPr lang="en-US" altLang="zh-CN" sz="1800" b="0"/>
              <a:t>        printf(</a:t>
            </a:r>
            <a:r>
              <a:rPr lang="en-US" altLang="zh-CN" sz="1800" b="0">
                <a:latin typeface="Arial" panose="020B0604020202020204" pitchFamily="34" charset="0"/>
              </a:rPr>
              <a:t>”</a:t>
            </a:r>
            <a:r>
              <a:rPr lang="en-US" altLang="zh-CN" sz="1800" b="0"/>
              <a:t>\n</a:t>
            </a:r>
            <a:r>
              <a:rPr lang="en-US" altLang="zh-CN" sz="1800" b="0">
                <a:latin typeface="Arial" panose="020B0604020202020204" pitchFamily="34" charset="0"/>
              </a:rPr>
              <a:t>”</a:t>
            </a:r>
            <a:r>
              <a:rPr lang="en-US" altLang="zh-CN" sz="1800" b="0"/>
              <a:t>);</a:t>
            </a:r>
          </a:p>
          <a:p>
            <a:pPr marL="914400" lvl="1" indent="-457200" eaLnBrk="1" hangingPunct="1">
              <a:buFont typeface="Wingdings" pitchFamily="2" charset="2"/>
              <a:buAutoNum type="arabicPeriod"/>
            </a:pPr>
            <a:r>
              <a:rPr lang="en-US" altLang="zh-CN" sz="1800" b="0"/>
              <a:t>   }</a:t>
            </a:r>
            <a:r>
              <a:rPr lang="en-US" altLang="zh-CN" sz="1800" b="0">
                <a:solidFill>
                  <a:schemeClr val="folHlink"/>
                </a:solidFill>
              </a:rPr>
              <a:t>//</a:t>
            </a:r>
            <a:r>
              <a:rPr lang="zh-CN" altLang="en-US" sz="1800" b="0">
                <a:solidFill>
                  <a:schemeClr val="folHlink"/>
                </a:solidFill>
              </a:rPr>
              <a:t>本例中局部变量</a:t>
            </a:r>
            <a:r>
              <a:rPr lang="en-US" altLang="zh-CN" sz="1800" b="0">
                <a:solidFill>
                  <a:schemeClr val="folHlink"/>
                </a:solidFill>
              </a:rPr>
              <a:t>p</a:t>
            </a:r>
            <a:r>
              <a:rPr lang="zh-CN" altLang="en-US" sz="1800" b="0">
                <a:solidFill>
                  <a:schemeClr val="folHlink"/>
                </a:solidFill>
              </a:rPr>
              <a:t>不是必须的，后例同</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BEF150EB-A52A-F2A8-9DC4-0741CBBE6CF2}"/>
              </a:ext>
            </a:extLst>
          </p:cNvPr>
          <p:cNvSpPr>
            <a:spLocks noGrp="1" noChangeArrowheads="1"/>
          </p:cNvSpPr>
          <p:nvPr>
            <p:ph type="title"/>
          </p:nvPr>
        </p:nvSpPr>
        <p:spPr/>
        <p:txBody>
          <a:bodyPr/>
          <a:lstStyle/>
          <a:p>
            <a:pPr eaLnBrk="1" hangingPunct="1"/>
            <a:r>
              <a:rPr lang="zh-CN" altLang="en-US"/>
              <a:t>在链表中查找指定值的表元</a:t>
            </a:r>
          </a:p>
        </p:txBody>
      </p:sp>
      <p:sp>
        <p:nvSpPr>
          <p:cNvPr id="144387" name="Rectangle 3">
            <a:extLst>
              <a:ext uri="{FF2B5EF4-FFF2-40B4-BE49-F238E27FC236}">
                <a16:creationId xmlns:a16="http://schemas.microsoft.com/office/drawing/2014/main" id="{7757190E-1A7C-05B0-B8C5-9B13B7D4456F}"/>
              </a:ext>
            </a:extLst>
          </p:cNvPr>
          <p:cNvSpPr>
            <a:spLocks noGrp="1" noChangeArrowheads="1"/>
          </p:cNvSpPr>
          <p:nvPr>
            <p:ph type="body" idx="1"/>
          </p:nvPr>
        </p:nvSpPr>
        <p:spPr>
          <a:xfrm>
            <a:off x="827088" y="1772815"/>
            <a:ext cx="7866062" cy="4359697"/>
          </a:xfrm>
        </p:spPr>
        <p:txBody>
          <a:bodyPr/>
          <a:lstStyle/>
          <a:p>
            <a:pPr algn="just" eaLnBrk="1" hangingPunct="1">
              <a:lnSpc>
                <a:spcPct val="150000"/>
              </a:lnSpc>
            </a:pPr>
            <a:r>
              <a:rPr lang="zh-CN" altLang="en-US" sz="2400" b="0"/>
              <a:t>在链表中查找指定值表元可能有不同目的：</a:t>
            </a:r>
          </a:p>
          <a:p>
            <a:pPr lvl="1" algn="just" eaLnBrk="1" hangingPunct="1">
              <a:lnSpc>
                <a:spcPct val="150000"/>
              </a:lnSpc>
            </a:pPr>
            <a:r>
              <a:rPr lang="zh-CN" altLang="en-US" sz="2000" b="0"/>
              <a:t>找到后以获取该表元的详细信息，称为</a:t>
            </a:r>
            <a:r>
              <a:rPr lang="zh-CN" altLang="en-US" sz="2000" b="0">
                <a:solidFill>
                  <a:srgbClr val="0066FF"/>
                </a:solidFill>
              </a:rPr>
              <a:t>简单查找</a:t>
            </a:r>
            <a:r>
              <a:rPr lang="zh-CN" altLang="en-US" sz="2000" b="0"/>
              <a:t>。</a:t>
            </a:r>
          </a:p>
          <a:p>
            <a:pPr lvl="1" algn="just" eaLnBrk="1" hangingPunct="1">
              <a:lnSpc>
                <a:spcPct val="150000"/>
              </a:lnSpc>
            </a:pPr>
            <a:r>
              <a:rPr lang="zh-CN" altLang="en-US" sz="2000" b="0"/>
              <a:t>为了进一步对链表的修改，或将查到的表元</a:t>
            </a:r>
            <a:r>
              <a:rPr lang="zh-CN" altLang="en-US" sz="2000" b="0" u="sng">
                <a:solidFill>
                  <a:srgbClr val="C00000"/>
                </a:solidFill>
              </a:rPr>
              <a:t>删除</a:t>
            </a:r>
            <a:r>
              <a:rPr lang="zh-CN" altLang="en-US" sz="2000" b="0"/>
              <a:t>，或在查到的表元</a:t>
            </a:r>
            <a:r>
              <a:rPr lang="zh-CN" altLang="en-US" sz="2000" b="0" u="sng">
                <a:solidFill>
                  <a:srgbClr val="C00000"/>
                </a:solidFill>
              </a:rPr>
              <a:t>之前插入</a:t>
            </a:r>
            <a:r>
              <a:rPr lang="zh-CN" altLang="en-US" sz="2000" b="0"/>
              <a:t>一个新表元等，称为</a:t>
            </a:r>
            <a:r>
              <a:rPr lang="zh-CN" altLang="en-US" sz="2000" b="0">
                <a:solidFill>
                  <a:srgbClr val="0066FF"/>
                </a:solidFill>
              </a:rPr>
              <a:t>动态查找</a:t>
            </a:r>
            <a:r>
              <a:rPr lang="zh-CN" altLang="en-US" sz="2000" b="0"/>
              <a:t>。</a:t>
            </a:r>
          </a:p>
          <a:p>
            <a:pPr algn="just" eaLnBrk="1" hangingPunct="1">
              <a:lnSpc>
                <a:spcPct val="150000"/>
              </a:lnSpc>
            </a:pPr>
            <a:r>
              <a:rPr lang="zh-CN" altLang="en-US" sz="2400" b="0"/>
              <a:t>另外，查找过程的实现又</a:t>
            </a:r>
            <a:r>
              <a:rPr lang="zh-CN" altLang="en-US" sz="2400" b="0">
                <a:solidFill>
                  <a:srgbClr val="0066FF"/>
                </a:solidFill>
              </a:rPr>
              <a:t>可分两种情况</a:t>
            </a:r>
            <a:r>
              <a:rPr lang="zh-CN" altLang="en-US" sz="2400" b="0"/>
              <a:t>，</a:t>
            </a:r>
          </a:p>
          <a:p>
            <a:pPr lvl="1" algn="just" eaLnBrk="1" hangingPunct="1">
              <a:lnSpc>
                <a:spcPct val="150000"/>
              </a:lnSpc>
            </a:pPr>
            <a:r>
              <a:rPr lang="zh-CN" altLang="en-US" sz="2000" b="0"/>
              <a:t>一是</a:t>
            </a:r>
            <a:r>
              <a:rPr lang="zh-CN" altLang="en-US" sz="2000" b="0">
                <a:solidFill>
                  <a:srgbClr val="0066FF"/>
                </a:solidFill>
              </a:rPr>
              <a:t>无序</a:t>
            </a:r>
            <a:r>
              <a:rPr lang="zh-CN" altLang="en-US" sz="2000" b="0"/>
              <a:t>链表上的查找</a:t>
            </a:r>
          </a:p>
          <a:p>
            <a:pPr lvl="1" algn="just" eaLnBrk="1" hangingPunct="1">
              <a:lnSpc>
                <a:spcPct val="150000"/>
              </a:lnSpc>
            </a:pPr>
            <a:r>
              <a:rPr lang="zh-CN" altLang="en-US" sz="2000" b="0"/>
              <a:t>二是</a:t>
            </a:r>
            <a:r>
              <a:rPr lang="zh-CN" altLang="en-US" sz="2000" b="0">
                <a:solidFill>
                  <a:srgbClr val="0066FF"/>
                </a:solidFill>
              </a:rPr>
              <a:t>有序</a:t>
            </a:r>
            <a:r>
              <a:rPr lang="zh-CN" altLang="en-US" sz="2000" b="0"/>
              <a:t>链表上的查找</a:t>
            </a:r>
          </a:p>
          <a:p>
            <a:pPr algn="just" eaLnBrk="1" hangingPunct="1">
              <a:lnSpc>
                <a:spcPct val="150000"/>
              </a:lnSpc>
            </a:pPr>
            <a:endParaRPr lang="en-US" altLang="zh-CN" sz="2400" b="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8F308476-F6BE-A8CB-B0FD-738138372DBA}"/>
              </a:ext>
            </a:extLst>
          </p:cNvPr>
          <p:cNvSpPr>
            <a:spLocks noGrp="1" noChangeArrowheads="1"/>
          </p:cNvSpPr>
          <p:nvPr>
            <p:ph type="title"/>
          </p:nvPr>
        </p:nvSpPr>
        <p:spPr/>
        <p:txBody>
          <a:bodyPr/>
          <a:lstStyle/>
          <a:p>
            <a:pPr eaLnBrk="1" hangingPunct="1"/>
            <a:r>
              <a:rPr lang="zh-CN" altLang="en-US"/>
              <a:t>无序链表上的简单查找</a:t>
            </a:r>
          </a:p>
        </p:txBody>
      </p:sp>
      <p:sp>
        <p:nvSpPr>
          <p:cNvPr id="145411" name="Rectangle 3">
            <a:extLst>
              <a:ext uri="{FF2B5EF4-FFF2-40B4-BE49-F238E27FC236}">
                <a16:creationId xmlns:a16="http://schemas.microsoft.com/office/drawing/2014/main" id="{81AA8519-BE74-9806-5229-CF1485CE9821}"/>
              </a:ext>
            </a:extLst>
          </p:cNvPr>
          <p:cNvSpPr>
            <a:spLocks noGrp="1" noChangeArrowheads="1"/>
          </p:cNvSpPr>
          <p:nvPr>
            <p:ph type="body" idx="1"/>
          </p:nvPr>
        </p:nvSpPr>
        <p:spPr>
          <a:xfrm>
            <a:off x="827088" y="1844823"/>
            <a:ext cx="7866062" cy="4287689"/>
          </a:xfrm>
        </p:spPr>
        <p:txBody>
          <a:bodyPr/>
          <a:lstStyle/>
          <a:p>
            <a:pPr marL="533400" indent="-533400" eaLnBrk="1" hangingPunct="1"/>
            <a:r>
              <a:rPr lang="zh-CN" altLang="en-US" sz="2000" b="0"/>
              <a:t>无序链表上的简单查找过程是从链表头指针所指的第一个表元出发，</a:t>
            </a:r>
            <a:r>
              <a:rPr lang="zh-CN" altLang="en-US" sz="2000" b="0">
                <a:solidFill>
                  <a:srgbClr val="0066FF"/>
                </a:solidFill>
              </a:rPr>
              <a:t>顺序查找</a:t>
            </a:r>
            <a:r>
              <a:rPr lang="zh-CN" altLang="en-US" sz="2000" b="0"/>
              <a:t>。或发现有指定值的表元，</a:t>
            </a:r>
            <a:r>
              <a:rPr lang="zh-CN" altLang="en-US" sz="2000" b="0" u="sng"/>
              <a:t>以指向该表元的指针值为查找结果</a:t>
            </a:r>
            <a:r>
              <a:rPr lang="zh-CN" altLang="en-US" sz="2000" b="0"/>
              <a:t>；或查找至链表末尾，未发现有指定值的表元，</a:t>
            </a:r>
            <a:r>
              <a:rPr lang="zh-CN" altLang="en-US" sz="2000" b="0" u="sng"/>
              <a:t>查找结果为</a:t>
            </a:r>
            <a:r>
              <a:rPr lang="en-US" altLang="zh-CN" sz="2000" b="0" u="sng"/>
              <a:t>NULL</a:t>
            </a:r>
            <a:r>
              <a:rPr lang="zh-CN" altLang="en-US" sz="2000" b="0"/>
              <a:t>，表示链表中没有指定值的表元。</a:t>
            </a:r>
          </a:p>
          <a:p>
            <a:pPr marL="914400" lvl="1" indent="-457200" eaLnBrk="1" hangingPunct="1">
              <a:buFont typeface="Wingdings" pitchFamily="2" charset="2"/>
              <a:buAutoNum type="arabicPeriod"/>
            </a:pPr>
            <a:r>
              <a:rPr lang="en-US" altLang="zh-CN" sz="1800" b="0"/>
              <a:t>struct intNode * searchSLink(struct intNode *h,  int key){</a:t>
            </a:r>
          </a:p>
          <a:p>
            <a:pPr marL="914400" lvl="1" indent="-457200" eaLnBrk="1" hangingPunct="1">
              <a:buFont typeface="Wingdings" pitchFamily="2" charset="2"/>
              <a:buAutoNum type="arabicPeriod"/>
            </a:pPr>
            <a:r>
              <a:rPr lang="en-US" altLang="zh-CN" sz="1800" b="0"/>
              <a:t>    struct intNode *v = h;</a:t>
            </a:r>
          </a:p>
          <a:p>
            <a:pPr marL="914400" lvl="1" indent="-457200" eaLnBrk="1" hangingPunct="1">
              <a:buFont typeface="Wingdings" pitchFamily="2" charset="2"/>
              <a:buAutoNum type="arabicPeriod"/>
            </a:pPr>
            <a:r>
              <a:rPr lang="en-US" altLang="zh-CN" sz="1800" b="0"/>
              <a:t>     while (( v != NULL ) &amp;&amp; ( v-&gt;value != key))</a:t>
            </a:r>
          </a:p>
          <a:p>
            <a:pPr marL="914400" lvl="1" indent="-457200" eaLnBrk="1" hangingPunct="1">
              <a:buFont typeface="Wingdings" pitchFamily="2" charset="2"/>
              <a:buAutoNum type="arabicPeriod"/>
            </a:pPr>
            <a:r>
              <a:rPr lang="en-US" altLang="zh-CN" sz="1800" b="0"/>
              <a:t>            v = v-&gt;next;</a:t>
            </a:r>
          </a:p>
          <a:p>
            <a:pPr marL="914400" lvl="1" indent="-457200" eaLnBrk="1" hangingPunct="1">
              <a:buFont typeface="Wingdings" pitchFamily="2" charset="2"/>
              <a:buAutoNum type="arabicPeriod"/>
            </a:pPr>
            <a:r>
              <a:rPr lang="en-US" altLang="zh-CN" sz="1800" b="0"/>
              <a:t>     return  v;</a:t>
            </a:r>
          </a:p>
          <a:p>
            <a:pPr marL="914400" lvl="1" indent="-457200" eaLnBrk="1" hangingPunct="1">
              <a:buFont typeface="Wingdings" pitchFamily="2" charset="2"/>
              <a:buAutoNum type="arabicPeriod"/>
            </a:pPr>
            <a:r>
              <a:rPr lang="en-US" altLang="zh-CN" sz="1800" b="0"/>
              <a:t> }</a:t>
            </a:r>
          </a:p>
          <a:p>
            <a:pPr marL="533400" indent="-533400" eaLnBrk="1" hangingPunct="1"/>
            <a:r>
              <a:rPr lang="zh-CN" altLang="en-US" sz="2000" b="0"/>
              <a:t>形参 </a:t>
            </a:r>
            <a:r>
              <a:rPr lang="en-US" altLang="zh-CN" sz="2000" b="0">
                <a:solidFill>
                  <a:srgbClr val="0066FF"/>
                </a:solidFill>
              </a:rPr>
              <a:t>h</a:t>
            </a:r>
            <a:r>
              <a:rPr lang="zh-CN" altLang="en-US" sz="2000" b="0">
                <a:solidFill>
                  <a:srgbClr val="0066FF"/>
                </a:solidFill>
              </a:rPr>
              <a:t> </a:t>
            </a:r>
            <a:r>
              <a:rPr lang="zh-CN" altLang="en-US" sz="2000" b="0"/>
              <a:t>是已知链表的头指针，形参 </a:t>
            </a:r>
            <a:r>
              <a:rPr lang="en-US" altLang="zh-CN" sz="2000" b="0">
                <a:solidFill>
                  <a:srgbClr val="0066FF"/>
                </a:solidFill>
              </a:rPr>
              <a:t>key</a:t>
            </a:r>
            <a:r>
              <a:rPr lang="zh-CN" altLang="en-US" sz="2000" b="0">
                <a:solidFill>
                  <a:srgbClr val="0066FF"/>
                </a:solidFill>
              </a:rPr>
              <a:t> </a:t>
            </a:r>
            <a:r>
              <a:rPr lang="zh-CN" altLang="en-US" sz="2000" b="0"/>
              <a:t>是要找表元的值。函数使用指向链表表元的工作指针变量</a:t>
            </a:r>
            <a:r>
              <a:rPr lang="en-US" altLang="zh-CN" sz="2000" b="0"/>
              <a:t>v</a:t>
            </a:r>
            <a:r>
              <a:rPr lang="zh-CN" altLang="en-US" sz="2000" b="0"/>
              <a:t>，它的初值为链表头指针。在</a:t>
            </a:r>
            <a:r>
              <a:rPr lang="en-US" altLang="zh-CN" sz="2000" b="0"/>
              <a:t>v</a:t>
            </a:r>
            <a:r>
              <a:rPr lang="zh-CN" altLang="en-US" sz="2000" b="0"/>
              <a:t>不等于</a:t>
            </a:r>
            <a:r>
              <a:rPr lang="en-US" altLang="zh-CN" sz="2000" b="0"/>
              <a:t>NULL</a:t>
            </a:r>
            <a:r>
              <a:rPr lang="zh-CN" altLang="en-US" sz="2000" b="0"/>
              <a:t>值，且</a:t>
            </a:r>
            <a:r>
              <a:rPr lang="en-US" altLang="zh-CN" sz="2000" b="0"/>
              <a:t>v</a:t>
            </a:r>
            <a:r>
              <a:rPr lang="zh-CN" altLang="en-US" sz="2000" b="0"/>
              <a:t>所指表元的值不等于指定值情况下，考察下一个表元</a:t>
            </a:r>
            <a:r>
              <a:rPr lang="en-US" altLang="zh-CN" sz="2000" b="0"/>
              <a:t>(</a:t>
            </a:r>
            <a:r>
              <a:rPr lang="zh-CN" altLang="en-US" sz="2000" b="0"/>
              <a:t>即</a:t>
            </a:r>
            <a:r>
              <a:rPr lang="en-US" altLang="zh-CN" sz="2000" b="0"/>
              <a:t>v = v-&gt;next)</a:t>
            </a:r>
            <a:r>
              <a:rPr lang="zh-CN" altLang="en-US" sz="2000" b="0"/>
              <a: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728EE334-0FEF-2525-F186-58967196D516}"/>
              </a:ext>
            </a:extLst>
          </p:cNvPr>
          <p:cNvSpPr>
            <a:spLocks noGrp="1" noChangeArrowheads="1"/>
          </p:cNvSpPr>
          <p:nvPr>
            <p:ph type="title"/>
          </p:nvPr>
        </p:nvSpPr>
        <p:spPr/>
        <p:txBody>
          <a:bodyPr/>
          <a:lstStyle/>
          <a:p>
            <a:pPr eaLnBrk="1" hangingPunct="1"/>
            <a:r>
              <a:rPr lang="zh-CN" altLang="en-US"/>
              <a:t>有序链表上的简单查找</a:t>
            </a:r>
          </a:p>
        </p:txBody>
      </p:sp>
      <p:sp>
        <p:nvSpPr>
          <p:cNvPr id="146435" name="Rectangle 3">
            <a:extLst>
              <a:ext uri="{FF2B5EF4-FFF2-40B4-BE49-F238E27FC236}">
                <a16:creationId xmlns:a16="http://schemas.microsoft.com/office/drawing/2014/main" id="{3009F37B-4BC6-9D4C-0FCF-4D2E02B6AE74}"/>
              </a:ext>
            </a:extLst>
          </p:cNvPr>
          <p:cNvSpPr>
            <a:spLocks noGrp="1" noChangeArrowheads="1"/>
          </p:cNvSpPr>
          <p:nvPr>
            <p:ph type="body" idx="1"/>
          </p:nvPr>
        </p:nvSpPr>
        <p:spPr>
          <a:xfrm>
            <a:off x="539552" y="1844824"/>
            <a:ext cx="7992888" cy="4287688"/>
          </a:xfrm>
        </p:spPr>
        <p:txBody>
          <a:bodyPr/>
          <a:lstStyle/>
          <a:p>
            <a:pPr marL="533400" indent="-533400" algn="just" eaLnBrk="1" hangingPunct="1"/>
            <a:r>
              <a:rPr lang="zh-CN" altLang="en-US" sz="2000" b="0"/>
              <a:t>如链表的表元是</a:t>
            </a:r>
            <a:r>
              <a:rPr lang="zh-CN" altLang="en-US" sz="2000" u="sng"/>
              <a:t>按值从小到大</a:t>
            </a:r>
            <a:r>
              <a:rPr lang="zh-CN" altLang="en-US" sz="2000" b="0"/>
              <a:t>顺序链接的，则在</a:t>
            </a:r>
            <a:r>
              <a:rPr lang="zh-CN" altLang="en-US" sz="2000" b="0">
                <a:solidFill>
                  <a:srgbClr val="0066FF"/>
                </a:solidFill>
              </a:rPr>
              <a:t>顺序考察</a:t>
            </a:r>
            <a:r>
              <a:rPr lang="zh-CN" altLang="en-US" sz="2000" b="0"/>
              <a:t>链表表元的查找循环中，当发现还有表元，并且该表元的值比</a:t>
            </a:r>
            <a:r>
              <a:rPr lang="en-US" altLang="zh-CN" sz="2000" b="0"/>
              <a:t>key</a:t>
            </a:r>
            <a:r>
              <a:rPr lang="zh-CN" altLang="en-US" sz="2000" b="0"/>
              <a:t>小时，应继续查找。反之，若不再有表元，或当前表元值不比</a:t>
            </a:r>
            <a:r>
              <a:rPr lang="en-US" altLang="zh-CN" sz="2000" b="0"/>
              <a:t>key</a:t>
            </a:r>
            <a:r>
              <a:rPr lang="zh-CN" altLang="en-US" sz="2000" b="0"/>
              <a:t>值小，则应结束查找。</a:t>
            </a:r>
            <a:endParaRPr lang="en-US" altLang="zh-CN" sz="2000" b="0"/>
          </a:p>
          <a:p>
            <a:pPr marL="533400" indent="-533400" algn="just" eaLnBrk="1" hangingPunct="1"/>
            <a:r>
              <a:rPr lang="zh-CN" altLang="en-US" sz="2000" b="0"/>
              <a:t>查找循环结束后，仅当还有表元，且表元的值与</a:t>
            </a:r>
            <a:r>
              <a:rPr lang="en-US" altLang="zh-CN" sz="2000" b="0"/>
              <a:t>key</a:t>
            </a:r>
            <a:r>
              <a:rPr lang="zh-CN" altLang="en-US" sz="2000" b="0"/>
              <a:t>值相同情况下，才找到，函数返回当前表元的指针。否则，链表中没有值为</a:t>
            </a:r>
            <a:r>
              <a:rPr lang="en-US" altLang="zh-CN" sz="2000" b="0"/>
              <a:t>key</a:t>
            </a:r>
            <a:r>
              <a:rPr lang="zh-CN" altLang="en-US" sz="2000" b="0"/>
              <a:t>的表元，函数返回</a:t>
            </a:r>
            <a:r>
              <a:rPr lang="en-US" altLang="zh-CN" sz="2000" b="0"/>
              <a:t>NULL</a:t>
            </a:r>
            <a:r>
              <a:rPr lang="zh-CN" altLang="en-US" sz="2000" b="0"/>
              <a:t>值。</a:t>
            </a:r>
          </a:p>
          <a:p>
            <a:pPr marL="914400" lvl="1" indent="-457200" algn="just" eaLnBrk="1" hangingPunct="1">
              <a:buFont typeface="Wingdings" pitchFamily="2" charset="2"/>
              <a:buAutoNum type="arabicPeriod"/>
            </a:pPr>
            <a:r>
              <a:rPr lang="en-US" altLang="zh-CN" sz="1800" b="0"/>
              <a:t>struct intNode *searchSOLink(struct intNode *h, int key){</a:t>
            </a:r>
          </a:p>
          <a:p>
            <a:pPr marL="914400" lvl="1" indent="-457200" algn="just" eaLnBrk="1" hangingPunct="1">
              <a:buFont typeface="Wingdings" pitchFamily="2" charset="2"/>
              <a:buAutoNum type="arabicPeriod"/>
            </a:pPr>
            <a:r>
              <a:rPr lang="en-US" altLang="zh-CN" sz="1800" b="0"/>
              <a:t>       struct intNode *v = h;</a:t>
            </a:r>
          </a:p>
          <a:p>
            <a:pPr marL="914400" lvl="1" indent="-457200" algn="just" eaLnBrk="1" hangingPunct="1">
              <a:buFont typeface="Wingdings" pitchFamily="2" charset="2"/>
              <a:buAutoNum type="arabicPeriod"/>
            </a:pPr>
            <a:r>
              <a:rPr lang="en-US" altLang="zh-CN" sz="1800" b="0"/>
              <a:t>        while (( v != NULL ) &amp;&amp; ( v-&gt;value &lt; key))</a:t>
            </a:r>
          </a:p>
          <a:p>
            <a:pPr marL="914400" lvl="1" indent="-457200" algn="just" eaLnBrk="1" hangingPunct="1">
              <a:buFont typeface="Wingdings" pitchFamily="2" charset="2"/>
              <a:buAutoNum type="arabicPeriod"/>
            </a:pPr>
            <a:r>
              <a:rPr lang="en-US" altLang="zh-CN" sz="1800" b="0"/>
              <a:t>            v = v-&gt;next;</a:t>
            </a:r>
          </a:p>
          <a:p>
            <a:pPr marL="914400" lvl="1" indent="-457200" algn="just" eaLnBrk="1" hangingPunct="1">
              <a:buFont typeface="Wingdings" pitchFamily="2" charset="2"/>
              <a:buAutoNum type="arabicPeriod"/>
            </a:pPr>
            <a:r>
              <a:rPr lang="en-US" altLang="zh-CN" sz="1800" b="0"/>
              <a:t>        return  (v != NULL &amp;&amp; v-&gt;value == key) ? v : NULL;</a:t>
            </a:r>
          </a:p>
          <a:p>
            <a:pPr marL="914400" lvl="1" indent="-457200" algn="just" eaLnBrk="1" hangingPunct="1">
              <a:buFont typeface="Wingdings" pitchFamily="2" charset="2"/>
              <a:buAutoNum type="arabicPeriod"/>
            </a:pPr>
            <a:r>
              <a:rPr lang="en-US" altLang="zh-CN" sz="1800" b="0"/>
              <a:t> }</a:t>
            </a:r>
            <a:r>
              <a:rPr lang="en-US" altLang="zh-CN" sz="1800" b="0">
                <a:solidFill>
                  <a:schemeClr val="folHlink"/>
                </a:solidFill>
              </a:rPr>
              <a:t>/*</a:t>
            </a:r>
            <a:r>
              <a:rPr lang="zh-CN" altLang="en-US" sz="1800" b="0">
                <a:solidFill>
                  <a:schemeClr val="folHlink"/>
                </a:solidFill>
              </a:rPr>
              <a:t>注意，上行中的</a:t>
            </a:r>
            <a:r>
              <a:rPr lang="zh-CN" altLang="en-US" sz="1800" b="0">
                <a:solidFill>
                  <a:schemeClr val="folHlink"/>
                </a:solidFill>
                <a:latin typeface="Arial" panose="020B0604020202020204" pitchFamily="34" charset="0"/>
              </a:rPr>
              <a:t>“</a:t>
            </a:r>
            <a:r>
              <a:rPr lang="en-US" altLang="zh-CN" sz="1800" b="0">
                <a:solidFill>
                  <a:schemeClr val="folHlink"/>
                </a:solidFill>
              </a:rPr>
              <a:t>v != NULL</a:t>
            </a:r>
            <a:r>
              <a:rPr lang="en-US" altLang="zh-CN" sz="1800" b="0">
                <a:solidFill>
                  <a:schemeClr val="folHlink"/>
                </a:solidFill>
                <a:latin typeface="Arial" panose="020B0604020202020204" pitchFamily="34" charset="0"/>
              </a:rPr>
              <a:t>”</a:t>
            </a:r>
            <a:r>
              <a:rPr lang="zh-CN" altLang="en-US" sz="1800" b="0">
                <a:solidFill>
                  <a:schemeClr val="folHlink"/>
                </a:solidFill>
              </a:rPr>
              <a:t>判断条件不可少，否则可能会造成程序运行时异常中止。后例同。*</a:t>
            </a:r>
            <a:r>
              <a:rPr lang="en-US" altLang="zh-CN" sz="1800" b="0">
                <a:solidFill>
                  <a:schemeClr val="folHlink"/>
                </a:solidFill>
              </a:rPr>
              <a: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154A381B-644B-AA01-71C8-BC29FF694193}"/>
              </a:ext>
            </a:extLst>
          </p:cNvPr>
          <p:cNvSpPr>
            <a:spLocks noGrp="1" noChangeArrowheads="1"/>
          </p:cNvSpPr>
          <p:nvPr>
            <p:ph type="title"/>
          </p:nvPr>
        </p:nvSpPr>
        <p:spPr/>
        <p:txBody>
          <a:bodyPr/>
          <a:lstStyle/>
          <a:p>
            <a:pPr eaLnBrk="1" hangingPunct="1"/>
            <a:r>
              <a:rPr lang="zh-CN" altLang="en-US"/>
              <a:t>无序链表上的动态查找</a:t>
            </a:r>
          </a:p>
        </p:txBody>
      </p:sp>
      <p:sp>
        <p:nvSpPr>
          <p:cNvPr id="147459" name="Rectangle 3">
            <a:extLst>
              <a:ext uri="{FF2B5EF4-FFF2-40B4-BE49-F238E27FC236}">
                <a16:creationId xmlns:a16="http://schemas.microsoft.com/office/drawing/2014/main" id="{FB277AA9-F907-F1C5-54C5-16DC8713A837}"/>
              </a:ext>
            </a:extLst>
          </p:cNvPr>
          <p:cNvSpPr>
            <a:spLocks noGrp="1" noChangeArrowheads="1"/>
          </p:cNvSpPr>
          <p:nvPr>
            <p:ph type="body" idx="1"/>
          </p:nvPr>
        </p:nvSpPr>
        <p:spPr>
          <a:xfrm>
            <a:off x="827088" y="1772815"/>
            <a:ext cx="7866062" cy="4359697"/>
          </a:xfrm>
        </p:spPr>
        <p:txBody>
          <a:bodyPr/>
          <a:lstStyle/>
          <a:p>
            <a:pPr marL="533400" indent="-533400" algn="just" eaLnBrk="1" hangingPunct="1"/>
            <a:r>
              <a:rPr lang="zh-CN" altLang="en-US" sz="1800" b="0"/>
              <a:t>动态查找应为插入或删除做好必要的准备工作。由于是单向链表，函数除要回答查找结束时的当前表元的指针外，还应回答该表元的</a:t>
            </a:r>
            <a:r>
              <a:rPr lang="zh-CN" altLang="en-US" sz="1800" b="0">
                <a:solidFill>
                  <a:srgbClr val="0066FF"/>
                </a:solidFill>
              </a:rPr>
              <a:t>前驱表元指针</a:t>
            </a:r>
            <a:r>
              <a:rPr lang="zh-CN" altLang="en-US" sz="1800" b="0"/>
              <a:t>。</a:t>
            </a:r>
          </a:p>
          <a:p>
            <a:pPr marL="533400" indent="-533400" algn="just" eaLnBrk="1" hangingPunct="1"/>
            <a:r>
              <a:rPr lang="zh-CN" altLang="en-US" sz="1800" b="0"/>
              <a:t>令函数的</a:t>
            </a:r>
            <a:r>
              <a:rPr lang="zh-CN" altLang="en-US" sz="1800" b="0">
                <a:solidFill>
                  <a:srgbClr val="0066FF"/>
                </a:solidFill>
              </a:rPr>
              <a:t>返回值</a:t>
            </a:r>
            <a:r>
              <a:rPr lang="zh-CN" altLang="en-US" sz="1800" b="0"/>
              <a:t>是查找结束时的当前表元的指针，函数另设一个指针形参，将找到的</a:t>
            </a:r>
            <a:r>
              <a:rPr lang="zh-CN" altLang="en-US" sz="1800" b="0">
                <a:solidFill>
                  <a:srgbClr val="0066FF"/>
                </a:solidFill>
              </a:rPr>
              <a:t>前驱表元的指针</a:t>
            </a:r>
            <a:r>
              <a:rPr lang="zh-CN" altLang="en-US" sz="1800" b="0"/>
              <a:t>存于环境中的某指针变量中，所以该形参的类型是</a:t>
            </a:r>
            <a:r>
              <a:rPr lang="en-US" altLang="zh-CN" sz="1800" b="0"/>
              <a:t>intNode**</a:t>
            </a:r>
            <a:r>
              <a:rPr lang="zh-CN" altLang="en-US" sz="1800" b="0"/>
              <a:t>的。</a:t>
            </a:r>
          </a:p>
          <a:p>
            <a:pPr marL="914400" lvl="1" indent="-457200" algn="just" eaLnBrk="1" hangingPunct="1">
              <a:buFont typeface="Wingdings" pitchFamily="2" charset="2"/>
              <a:buAutoNum type="arabicPeriod"/>
            </a:pPr>
            <a:r>
              <a:rPr lang="en-US" altLang="zh-CN" sz="1600" b="0"/>
              <a:t>struct intNode *searchDSLink(struct intNode *h, int key</a:t>
            </a:r>
            <a:r>
              <a:rPr lang="zh-CN" altLang="en-US" sz="1600" b="0"/>
              <a:t>，</a:t>
            </a:r>
            <a:br>
              <a:rPr lang="zh-CN" altLang="en-US" sz="1600" b="0"/>
            </a:br>
            <a:r>
              <a:rPr lang="zh-CN" altLang="en-US" sz="1600" b="0"/>
              <a:t> </a:t>
            </a:r>
            <a:r>
              <a:rPr lang="en-US" altLang="zh-CN" sz="1600" b="0"/>
              <a:t>struct intNode ** pp){</a:t>
            </a:r>
          </a:p>
          <a:p>
            <a:pPr marL="914400" lvl="1" indent="-457200" algn="just" eaLnBrk="1" hangingPunct="1">
              <a:buFont typeface="Wingdings" pitchFamily="2" charset="2"/>
              <a:buAutoNum type="arabicPeriod"/>
            </a:pPr>
            <a:r>
              <a:rPr lang="en-US" altLang="zh-CN" sz="1600" b="0"/>
              <a:t>       struct intNode *v = h, </a:t>
            </a:r>
            <a:r>
              <a:rPr lang="en-US" altLang="zh-CN" sz="1600" b="0">
                <a:solidFill>
                  <a:srgbClr val="CC0000"/>
                </a:solidFill>
              </a:rPr>
              <a:t>*u = NULL</a:t>
            </a:r>
            <a:r>
              <a:rPr lang="en-US" altLang="zh-CN" sz="1600" b="0"/>
              <a:t>;</a:t>
            </a:r>
          </a:p>
          <a:p>
            <a:pPr marL="914400" lvl="1" indent="-457200" algn="just" eaLnBrk="1" hangingPunct="1">
              <a:buFont typeface="Wingdings" pitchFamily="2" charset="2"/>
              <a:buAutoNum type="arabicPeriod"/>
            </a:pPr>
            <a:r>
              <a:rPr lang="en-US" altLang="zh-CN" sz="1600" b="0"/>
              <a:t>        while (( v != NULL ) &amp;&amp; ( v-&gt;value != key)) {</a:t>
            </a:r>
          </a:p>
          <a:p>
            <a:pPr marL="914400" lvl="1" indent="-457200" algn="just" eaLnBrk="1" hangingPunct="1">
              <a:buFont typeface="Wingdings" pitchFamily="2" charset="2"/>
              <a:buAutoNum type="arabicPeriod"/>
            </a:pPr>
            <a:r>
              <a:rPr lang="en-US" altLang="zh-CN" sz="1600" b="0"/>
              <a:t>            </a:t>
            </a:r>
            <a:r>
              <a:rPr lang="en-US" altLang="zh-CN" sz="1600" b="0">
                <a:solidFill>
                  <a:srgbClr val="CC0000"/>
                </a:solidFill>
              </a:rPr>
              <a:t>u = v ;</a:t>
            </a:r>
            <a:r>
              <a:rPr lang="en-US" altLang="zh-CN" sz="1600" b="0"/>
              <a:t>   </a:t>
            </a:r>
          </a:p>
          <a:p>
            <a:pPr marL="914400" lvl="1" indent="-457200" algn="just" eaLnBrk="1" hangingPunct="1">
              <a:buFont typeface="Wingdings" pitchFamily="2" charset="2"/>
              <a:buAutoNum type="arabicPeriod"/>
            </a:pPr>
            <a:r>
              <a:rPr lang="en-US" altLang="zh-CN" sz="1600" b="0"/>
              <a:t>            v = v-&gt;next; </a:t>
            </a:r>
            <a:r>
              <a:rPr lang="en-US" altLang="zh-CN" sz="1600" b="0">
                <a:solidFill>
                  <a:schemeClr val="folHlink"/>
                </a:solidFill>
              </a:rPr>
              <a:t>//</a:t>
            </a:r>
            <a:r>
              <a:rPr lang="zh-CN" altLang="en-US" sz="1600" b="0">
                <a:solidFill>
                  <a:schemeClr val="folHlink"/>
                </a:solidFill>
              </a:rPr>
              <a:t>后继表元成为当前表元</a:t>
            </a:r>
          </a:p>
          <a:p>
            <a:pPr marL="914400" lvl="1" indent="-457200" algn="just" eaLnBrk="1" hangingPunct="1">
              <a:buFont typeface="Wingdings" pitchFamily="2" charset="2"/>
              <a:buAutoNum type="arabicPeriod"/>
            </a:pPr>
            <a:r>
              <a:rPr lang="zh-CN" altLang="en-US" sz="1600" b="0"/>
              <a:t>        </a:t>
            </a:r>
            <a:r>
              <a:rPr lang="en-US" altLang="zh-CN" sz="1600" b="0"/>
              <a:t>}</a:t>
            </a:r>
          </a:p>
          <a:p>
            <a:pPr marL="914400" lvl="1" indent="-457200" algn="just" eaLnBrk="1" hangingPunct="1">
              <a:buFont typeface="Wingdings" pitchFamily="2" charset="2"/>
              <a:buAutoNum type="arabicPeriod"/>
            </a:pPr>
            <a:r>
              <a:rPr lang="en-US" altLang="zh-CN" sz="1600" b="0">
                <a:solidFill>
                  <a:srgbClr val="CC0000"/>
                </a:solidFill>
              </a:rPr>
              <a:t>        *pp = u;  </a:t>
            </a:r>
          </a:p>
          <a:p>
            <a:pPr marL="914400" lvl="1" indent="-457200" algn="just" eaLnBrk="1" hangingPunct="1">
              <a:buFont typeface="Wingdings" pitchFamily="2" charset="2"/>
              <a:buAutoNum type="arabicPeriod"/>
            </a:pPr>
            <a:r>
              <a:rPr lang="en-US" altLang="zh-CN" sz="1600" b="0"/>
              <a:t>         return  v;</a:t>
            </a:r>
          </a:p>
          <a:p>
            <a:pPr marL="914400" lvl="1" indent="-457200" algn="just" eaLnBrk="1" hangingPunct="1">
              <a:buFont typeface="Wingdings" pitchFamily="2" charset="2"/>
              <a:buAutoNum type="arabicPeriod"/>
            </a:pPr>
            <a:r>
              <a:rPr lang="en-US" altLang="zh-CN" sz="1600" b="0"/>
              <a: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8727DD00-F6D8-178A-16EA-BD8DE1C4B32B}"/>
              </a:ext>
            </a:extLst>
          </p:cNvPr>
          <p:cNvSpPr>
            <a:spLocks noGrp="1" noChangeArrowheads="1"/>
          </p:cNvSpPr>
          <p:nvPr>
            <p:ph type="title"/>
          </p:nvPr>
        </p:nvSpPr>
        <p:spPr/>
        <p:txBody>
          <a:bodyPr/>
          <a:lstStyle/>
          <a:p>
            <a:pPr eaLnBrk="1" hangingPunct="1"/>
            <a:r>
              <a:rPr lang="zh-CN" altLang="en-US"/>
              <a:t>有序链表上的动态查找</a:t>
            </a:r>
          </a:p>
        </p:txBody>
      </p:sp>
      <p:sp>
        <p:nvSpPr>
          <p:cNvPr id="148483" name="Rectangle 3">
            <a:extLst>
              <a:ext uri="{FF2B5EF4-FFF2-40B4-BE49-F238E27FC236}">
                <a16:creationId xmlns:a16="http://schemas.microsoft.com/office/drawing/2014/main" id="{696AB2AC-7017-BE1C-5466-33636CD3F594}"/>
              </a:ext>
            </a:extLst>
          </p:cNvPr>
          <p:cNvSpPr>
            <a:spLocks noGrp="1" noChangeArrowheads="1"/>
          </p:cNvSpPr>
          <p:nvPr>
            <p:ph type="body" idx="1"/>
          </p:nvPr>
        </p:nvSpPr>
        <p:spPr>
          <a:xfrm>
            <a:off x="827088" y="1844823"/>
            <a:ext cx="7793037" cy="4896545"/>
          </a:xfrm>
        </p:spPr>
        <p:txBody>
          <a:bodyPr/>
          <a:lstStyle/>
          <a:p>
            <a:pPr marL="533400" indent="-533400" eaLnBrk="1" hangingPunct="1"/>
            <a:r>
              <a:rPr lang="zh-CN" altLang="en-US" sz="2400" b="0"/>
              <a:t>设链表的表元按值从小到大顺序链接，与无序链表上的动态查找类似，但查找循环当发现查找值不比链表当前表元的值小时，就应提早结束查找循环。</a:t>
            </a:r>
          </a:p>
          <a:p>
            <a:pPr marL="914400" lvl="1" indent="-457200" eaLnBrk="1" hangingPunct="1">
              <a:buFont typeface="Wingdings" pitchFamily="2" charset="2"/>
              <a:buAutoNum type="arabicPeriod"/>
            </a:pPr>
            <a:r>
              <a:rPr lang="zh-CN" altLang="en-US" sz="2000" b="0"/>
              <a:t> </a:t>
            </a:r>
            <a:r>
              <a:rPr lang="en-US" altLang="zh-CN" sz="2000" b="0"/>
              <a:t>struct intNode * searchDOLink(struct intNode *h,</a:t>
            </a:r>
            <a:br>
              <a:rPr lang="en-US" altLang="zh-CN" sz="2000" b="0"/>
            </a:br>
            <a:r>
              <a:rPr lang="en-US" altLang="zh-CN" sz="2000" b="0"/>
              <a:t>                       int key</a:t>
            </a:r>
            <a:r>
              <a:rPr lang="zh-CN" altLang="en-US" sz="2000" b="0"/>
              <a:t>， </a:t>
            </a:r>
            <a:r>
              <a:rPr lang="en-US" altLang="zh-CN" sz="2000" b="0"/>
              <a:t>struct intNode ** pp){</a:t>
            </a:r>
          </a:p>
          <a:p>
            <a:pPr marL="914400" lvl="1" indent="-457200" eaLnBrk="1" hangingPunct="1">
              <a:buFont typeface="Wingdings" pitchFamily="2" charset="2"/>
              <a:buAutoNum type="arabicPeriod"/>
            </a:pPr>
            <a:r>
              <a:rPr lang="en-US" altLang="zh-CN" sz="2000" b="0"/>
              <a:t>       struct intNode *v = h, *u = NULL;</a:t>
            </a:r>
          </a:p>
          <a:p>
            <a:pPr marL="914400" lvl="1" indent="-457200" eaLnBrk="1" hangingPunct="1">
              <a:buFont typeface="Wingdings" pitchFamily="2" charset="2"/>
              <a:buAutoNum type="arabicPeriod"/>
            </a:pPr>
            <a:r>
              <a:rPr lang="en-US" altLang="zh-CN" sz="2000" b="0"/>
              <a:t>        while (( v != NULL ) &amp;&amp; ( v-&gt;value &lt; key)) {</a:t>
            </a:r>
          </a:p>
          <a:p>
            <a:pPr marL="914400" lvl="1" indent="-457200" eaLnBrk="1" hangingPunct="1">
              <a:buFont typeface="Wingdings" pitchFamily="2" charset="2"/>
              <a:buAutoNum type="arabicPeriod"/>
            </a:pPr>
            <a:r>
              <a:rPr lang="en-US" altLang="zh-CN" sz="2000" b="0"/>
              <a:t>            u = v;     </a:t>
            </a:r>
          </a:p>
          <a:p>
            <a:pPr marL="914400" lvl="1" indent="-457200" eaLnBrk="1" hangingPunct="1">
              <a:buFont typeface="Wingdings" pitchFamily="2" charset="2"/>
              <a:buAutoNum type="arabicPeriod"/>
            </a:pPr>
            <a:r>
              <a:rPr lang="en-US" altLang="zh-CN" sz="2000" b="0"/>
              <a:t>            v = v-&gt;next;</a:t>
            </a:r>
          </a:p>
          <a:p>
            <a:pPr marL="914400" lvl="1" indent="-457200" eaLnBrk="1" hangingPunct="1">
              <a:buFont typeface="Wingdings" pitchFamily="2" charset="2"/>
              <a:buAutoNum type="arabicPeriod"/>
            </a:pPr>
            <a:r>
              <a:rPr lang="en-US" altLang="zh-CN" sz="2000" b="0"/>
              <a:t>        }</a:t>
            </a:r>
          </a:p>
          <a:p>
            <a:pPr marL="914400" lvl="1" indent="-457200" eaLnBrk="1" hangingPunct="1">
              <a:buFont typeface="Wingdings" pitchFamily="2" charset="2"/>
              <a:buAutoNum type="arabicPeriod"/>
            </a:pPr>
            <a:r>
              <a:rPr lang="en-US" altLang="zh-CN" sz="2000" b="0"/>
              <a:t>        *pp = u; </a:t>
            </a:r>
          </a:p>
          <a:p>
            <a:pPr marL="914400" lvl="1" indent="-457200" eaLnBrk="1" hangingPunct="1">
              <a:buFont typeface="Wingdings" pitchFamily="2" charset="2"/>
              <a:buAutoNum type="arabicPeriod"/>
            </a:pPr>
            <a:r>
              <a:rPr lang="en-US" altLang="zh-CN" sz="2000" b="0"/>
              <a:t>        return  v;</a:t>
            </a:r>
            <a:endParaRPr lang="en-US" altLang="zh-CN" sz="2000" b="0">
              <a:solidFill>
                <a:schemeClr val="accent1"/>
              </a:solidFill>
            </a:endParaRPr>
          </a:p>
          <a:p>
            <a:pPr marL="914400" lvl="1" indent="-457200" eaLnBrk="1" hangingPunct="1">
              <a:buFont typeface="Wingdings" pitchFamily="2" charset="2"/>
              <a:buAutoNum type="arabicPeriod"/>
            </a:pPr>
            <a:r>
              <a:rPr lang="en-US" altLang="zh-CN" sz="2000" b="0"/>
              <a:t> }</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11404DC3-C961-06E7-A416-6AFF27DB8EC6}"/>
              </a:ext>
            </a:extLst>
          </p:cNvPr>
          <p:cNvSpPr>
            <a:spLocks noGrp="1" noChangeArrowheads="1"/>
          </p:cNvSpPr>
          <p:nvPr>
            <p:ph type="title"/>
          </p:nvPr>
        </p:nvSpPr>
        <p:spPr/>
        <p:txBody>
          <a:bodyPr/>
          <a:lstStyle/>
          <a:p>
            <a:pPr eaLnBrk="1" hangingPunct="1"/>
            <a:r>
              <a:rPr lang="zh-CN" altLang="en-US"/>
              <a:t>有序链表上的动态查找</a:t>
            </a:r>
            <a:r>
              <a:rPr lang="en-US" altLang="zh-CN"/>
              <a:t>(</a:t>
            </a:r>
            <a:r>
              <a:rPr lang="zh-CN" altLang="en-US"/>
              <a:t>续</a:t>
            </a:r>
            <a:r>
              <a:rPr lang="en-US" altLang="zh-CN"/>
              <a:t>)</a:t>
            </a:r>
          </a:p>
        </p:txBody>
      </p:sp>
      <p:sp>
        <p:nvSpPr>
          <p:cNvPr id="149507" name="Rectangle 3">
            <a:extLst>
              <a:ext uri="{FF2B5EF4-FFF2-40B4-BE49-F238E27FC236}">
                <a16:creationId xmlns:a16="http://schemas.microsoft.com/office/drawing/2014/main" id="{62ECF034-F59E-71E9-1904-B7CB6A36635D}"/>
              </a:ext>
            </a:extLst>
          </p:cNvPr>
          <p:cNvSpPr>
            <a:spLocks noGrp="1" noChangeArrowheads="1"/>
          </p:cNvSpPr>
          <p:nvPr>
            <p:ph type="body" idx="1"/>
          </p:nvPr>
        </p:nvSpPr>
        <p:spPr>
          <a:xfrm>
            <a:off x="827088" y="1772815"/>
            <a:ext cx="7866062" cy="4359697"/>
          </a:xfrm>
        </p:spPr>
        <p:txBody>
          <a:bodyPr/>
          <a:lstStyle/>
          <a:p>
            <a:pPr eaLnBrk="1" hangingPunct="1"/>
            <a:r>
              <a:rPr lang="zh-CN" altLang="en-US" sz="2000" b="0"/>
              <a:t>如在头指针为</a:t>
            </a:r>
            <a:r>
              <a:rPr lang="en-US" altLang="zh-CN" sz="2000" b="0"/>
              <a:t>head</a:t>
            </a:r>
            <a:r>
              <a:rPr lang="zh-CN" altLang="en-US" sz="2000" b="0"/>
              <a:t>的有序链表上找值为 </a:t>
            </a:r>
            <a:r>
              <a:rPr lang="en-US" altLang="zh-CN" sz="2000" b="0"/>
              <a:t>5</a:t>
            </a:r>
            <a:r>
              <a:rPr lang="zh-CN" altLang="en-US" sz="2000" b="0"/>
              <a:t> 的表元，并要求找到时，值为 </a:t>
            </a:r>
            <a:r>
              <a:rPr lang="en-US" altLang="zh-CN" sz="2000" b="0"/>
              <a:t>5</a:t>
            </a:r>
            <a:r>
              <a:rPr lang="zh-CN" altLang="en-US" sz="2000" b="0"/>
              <a:t> 表元的指针存于指针变量 </a:t>
            </a:r>
            <a:r>
              <a:rPr lang="en-US" altLang="zh-CN" sz="2000" b="0"/>
              <a:t>p</a:t>
            </a:r>
            <a:r>
              <a:rPr lang="zh-CN" altLang="en-US" sz="2000" b="0"/>
              <a:t>，而前驱表元的指针存于指针变量 </a:t>
            </a:r>
            <a:r>
              <a:rPr lang="en-US" altLang="zh-CN" sz="2000" b="0"/>
              <a:t>q</a:t>
            </a:r>
            <a:r>
              <a:rPr lang="zh-CN" altLang="en-US" sz="2000" b="0"/>
              <a:t>，则函数的调用形式为</a:t>
            </a:r>
          </a:p>
          <a:p>
            <a:pPr lvl="1" eaLnBrk="1" hangingPunct="1"/>
            <a:r>
              <a:rPr lang="zh-CN" altLang="en-US" sz="1800" b="0"/>
              <a:t>   </a:t>
            </a:r>
            <a:r>
              <a:rPr lang="en-US" altLang="zh-CN" sz="1800" b="0"/>
              <a:t>p = searchDOLink(head, 5, </a:t>
            </a:r>
            <a:r>
              <a:rPr lang="en-US" altLang="zh-CN" sz="1800" b="0">
                <a:solidFill>
                  <a:srgbClr val="0066FF"/>
                </a:solidFill>
              </a:rPr>
              <a:t>&amp;q</a:t>
            </a:r>
            <a:r>
              <a:rPr lang="en-US" altLang="zh-CN" sz="1800" b="0"/>
              <a:t>);</a:t>
            </a:r>
          </a:p>
          <a:p>
            <a:pPr eaLnBrk="1" hangingPunct="1"/>
            <a:r>
              <a:rPr lang="zh-CN" altLang="en-US" sz="2000" b="0"/>
              <a:t>函数返回后，根据</a:t>
            </a:r>
            <a:r>
              <a:rPr lang="en-US" altLang="zh-CN" sz="2000" b="0"/>
              <a:t>p</a:t>
            </a:r>
            <a:r>
              <a:rPr lang="zh-CN" altLang="en-US" sz="2000" b="0"/>
              <a:t>和</a:t>
            </a:r>
            <a:r>
              <a:rPr lang="en-US" altLang="zh-CN" sz="2000" b="0"/>
              <a:t>q</a:t>
            </a:r>
            <a:r>
              <a:rPr lang="zh-CN" altLang="en-US" sz="2000" b="0"/>
              <a:t>的值，可分出以下多种不同情况：</a:t>
            </a:r>
          </a:p>
          <a:p>
            <a:pPr lvl="1" eaLnBrk="1" hangingPunct="1"/>
            <a:r>
              <a:rPr lang="en-US" altLang="zh-CN" sz="1800" b="0"/>
              <a:t>A. </a:t>
            </a:r>
            <a:r>
              <a:rPr lang="zh-CN" altLang="en-US" sz="1800" b="0"/>
              <a:t>若</a:t>
            </a:r>
            <a:r>
              <a:rPr lang="en-US" altLang="zh-CN" sz="1800" b="0"/>
              <a:t>q == NULL</a:t>
            </a:r>
            <a:r>
              <a:rPr lang="zh-CN" altLang="en-US" sz="1800" b="0"/>
              <a:t>，且</a:t>
            </a:r>
            <a:r>
              <a:rPr lang="en-US" altLang="zh-CN" sz="1800" b="0"/>
              <a:t>p == NULL</a:t>
            </a:r>
            <a:r>
              <a:rPr lang="zh-CN" altLang="en-US" sz="1800" b="0"/>
              <a:t>，则链表是空链表；</a:t>
            </a:r>
          </a:p>
          <a:p>
            <a:pPr lvl="1" eaLnBrk="1" hangingPunct="1"/>
            <a:r>
              <a:rPr lang="en-US" altLang="zh-CN" sz="1800" b="0"/>
              <a:t>B. </a:t>
            </a:r>
            <a:r>
              <a:rPr lang="zh-CN" altLang="en-US" sz="1800" b="0"/>
              <a:t>若</a:t>
            </a:r>
            <a:r>
              <a:rPr lang="en-US" altLang="zh-CN" sz="1800" b="0"/>
              <a:t>q == NULL</a:t>
            </a:r>
            <a:r>
              <a:rPr lang="zh-CN" altLang="en-US" sz="1800" b="0"/>
              <a:t>，且</a:t>
            </a:r>
            <a:r>
              <a:rPr lang="en-US" altLang="zh-CN" sz="1800" b="0"/>
              <a:t>p != NULL</a:t>
            </a:r>
            <a:r>
              <a:rPr lang="zh-CN" altLang="en-US" sz="1800" b="0"/>
              <a:t>，则在考察链表的首表元时，就结束查找，是否找到由表达式</a:t>
            </a:r>
            <a:r>
              <a:rPr lang="en-US" altLang="zh-CN" sz="1800" b="0"/>
              <a:t>p-&gt;value == key</a:t>
            </a:r>
            <a:r>
              <a:rPr lang="zh-CN" altLang="en-US" sz="1800" b="0"/>
              <a:t>为真确定。</a:t>
            </a:r>
          </a:p>
          <a:p>
            <a:pPr lvl="1" eaLnBrk="1" hangingPunct="1"/>
            <a:r>
              <a:rPr lang="en-US" altLang="zh-CN" sz="1800" b="0"/>
              <a:t>C</a:t>
            </a:r>
            <a:r>
              <a:rPr lang="zh-CN" altLang="en-US" sz="1800" b="0"/>
              <a:t>．若</a:t>
            </a:r>
            <a:r>
              <a:rPr lang="en-US" altLang="zh-CN" sz="1800" b="0"/>
              <a:t>q != NULL</a:t>
            </a:r>
            <a:r>
              <a:rPr lang="zh-CN" altLang="en-US" sz="1800" b="0"/>
              <a:t>，且</a:t>
            </a:r>
            <a:r>
              <a:rPr lang="en-US" altLang="zh-CN" sz="1800" b="0"/>
              <a:t>p == NULL</a:t>
            </a:r>
            <a:r>
              <a:rPr lang="zh-CN" altLang="en-US" sz="1800" b="0"/>
              <a:t>，则链表中没有要找的表元，</a:t>
            </a:r>
            <a:r>
              <a:rPr lang="en-US" altLang="zh-CN" sz="1800" b="0"/>
              <a:t>q</a:t>
            </a:r>
            <a:r>
              <a:rPr lang="zh-CN" altLang="en-US" sz="1800" b="0"/>
              <a:t>指向链表的末表元；</a:t>
            </a:r>
          </a:p>
          <a:p>
            <a:pPr lvl="1" eaLnBrk="1" hangingPunct="1"/>
            <a:r>
              <a:rPr lang="en-US" altLang="zh-CN" sz="1800" b="0"/>
              <a:t>D</a:t>
            </a:r>
            <a:r>
              <a:rPr lang="zh-CN" altLang="en-US" sz="1800" b="0"/>
              <a:t>．若</a:t>
            </a:r>
            <a:r>
              <a:rPr lang="en-US" altLang="zh-CN" sz="1800" b="0"/>
              <a:t>q != NULL</a:t>
            </a:r>
            <a:r>
              <a:rPr lang="zh-CN" altLang="en-US" sz="1800" b="0"/>
              <a:t>，且</a:t>
            </a:r>
            <a:r>
              <a:rPr lang="en-US" altLang="zh-CN" sz="1800" b="0"/>
              <a:t>p != NULL</a:t>
            </a:r>
            <a:r>
              <a:rPr lang="zh-CN" altLang="en-US" sz="1800" b="0"/>
              <a:t>，则在考察链表的中间表元时，就结束查找，是否找到也由表达式</a:t>
            </a:r>
            <a:r>
              <a:rPr lang="en-US" altLang="zh-CN" sz="1800" b="0"/>
              <a:t>p-&gt;value == key</a:t>
            </a:r>
            <a:r>
              <a:rPr lang="zh-CN" altLang="en-US" sz="1800" b="0"/>
              <a:t>为真确定。 </a:t>
            </a:r>
            <a:endParaRPr lang="zh-CN" altLang="en-US" sz="1800" b="0">
              <a:solidFill>
                <a:schemeClr val="accent1"/>
              </a:solidFill>
            </a:endParaRPr>
          </a:p>
        </p:txBody>
      </p:sp>
      <p:sp>
        <p:nvSpPr>
          <p:cNvPr id="802820" name="Text Box 4">
            <a:extLst>
              <a:ext uri="{FF2B5EF4-FFF2-40B4-BE49-F238E27FC236}">
                <a16:creationId xmlns:a16="http://schemas.microsoft.com/office/drawing/2014/main" id="{E00A5CF7-496D-3789-4A24-4242979D2885}"/>
              </a:ext>
            </a:extLst>
          </p:cNvPr>
          <p:cNvSpPr txBox="1">
            <a:spLocks noChangeArrowheads="1"/>
          </p:cNvSpPr>
          <p:nvPr/>
        </p:nvSpPr>
        <p:spPr bwMode="auto">
          <a:xfrm>
            <a:off x="1403648" y="5659437"/>
            <a:ext cx="741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lnSpc>
                <a:spcPct val="80000"/>
              </a:lnSpc>
              <a:buClr>
                <a:srgbClr val="FFFF00"/>
              </a:buClr>
              <a:buSzPct val="80000"/>
              <a:buFont typeface="Wingdings" pitchFamily="2" charset="2"/>
              <a:buChar char="®"/>
            </a:pPr>
            <a:r>
              <a:rPr kumimoji="1" lang="zh-CN" altLang="en-US" sz="2000" b="0" i="0">
                <a:solidFill>
                  <a:srgbClr val="CC0000"/>
                </a:solidFill>
                <a:latin typeface="Arial Narrow" panose="020B0604020202020204" pitchFamily="34" charset="0"/>
                <a:ea typeface="宋体" panose="02010600030101010101" pitchFamily="2" charset="-122"/>
              </a:rPr>
              <a:t>思考：如把函数</a:t>
            </a:r>
            <a:r>
              <a:rPr kumimoji="1" lang="en-US" altLang="zh-CN" sz="2000" b="0" i="0">
                <a:solidFill>
                  <a:srgbClr val="CC0000"/>
                </a:solidFill>
                <a:latin typeface="Arial Narrow" panose="020B0604020202020204" pitchFamily="34" charset="0"/>
                <a:ea typeface="宋体" panose="02010600030101010101" pitchFamily="2" charset="-122"/>
              </a:rPr>
              <a:t>searchDOLink()</a:t>
            </a:r>
            <a:r>
              <a:rPr kumimoji="1" lang="zh-CN" altLang="en-US" sz="2000" b="0" i="0">
                <a:solidFill>
                  <a:srgbClr val="CC0000"/>
                </a:solidFill>
                <a:latin typeface="Arial Narrow" panose="020B0604020202020204" pitchFamily="34" charset="0"/>
                <a:ea typeface="宋体" panose="02010600030101010101" pitchFamily="2" charset="-122"/>
              </a:rPr>
              <a:t>的</a:t>
            </a:r>
            <a:r>
              <a:rPr kumimoji="1" lang="en-US" altLang="zh-CN" sz="2000" b="0" i="0">
                <a:solidFill>
                  <a:srgbClr val="CC0000"/>
                </a:solidFill>
                <a:latin typeface="Arial Narrow" panose="020B0604020202020204" pitchFamily="34" charset="0"/>
                <a:ea typeface="宋体" panose="02010600030101010101" pitchFamily="2" charset="-122"/>
              </a:rPr>
              <a:t>return</a:t>
            </a:r>
            <a:r>
              <a:rPr kumimoji="1" lang="zh-CN" altLang="en-US" sz="2000" b="0" i="0">
                <a:solidFill>
                  <a:srgbClr val="CC0000"/>
                </a:solidFill>
                <a:latin typeface="Arial Narrow" panose="020B0604020202020204" pitchFamily="34" charset="0"/>
                <a:ea typeface="宋体" panose="02010600030101010101" pitchFamily="2" charset="-122"/>
              </a:rPr>
              <a:t>语句改为</a:t>
            </a:r>
          </a:p>
          <a:p>
            <a:pPr eaLnBrk="1" hangingPunct="1">
              <a:lnSpc>
                <a:spcPct val="80000"/>
              </a:lnSpc>
              <a:buClr>
                <a:srgbClr val="FFFF00"/>
              </a:buClr>
              <a:buSzPct val="80000"/>
              <a:buFont typeface="Wingdings" pitchFamily="2" charset="2"/>
              <a:buNone/>
            </a:pPr>
            <a:r>
              <a:rPr kumimoji="1" lang="zh-CN" altLang="en-US" sz="2000" b="0" i="0">
                <a:solidFill>
                  <a:srgbClr val="CC0000"/>
                </a:solidFill>
                <a:latin typeface="Arial Narrow" panose="020B0604020202020204" pitchFamily="34" charset="0"/>
                <a:ea typeface="宋体" panose="02010600030101010101" pitchFamily="2" charset="-122"/>
              </a:rPr>
              <a:t>	</a:t>
            </a:r>
            <a:r>
              <a:rPr kumimoji="1" lang="en-US" altLang="zh-CN" sz="2000" b="0" i="0">
                <a:solidFill>
                  <a:srgbClr val="CC0000"/>
                </a:solidFill>
                <a:latin typeface="Arial Narrow" panose="020B0604020202020204" pitchFamily="34" charset="0"/>
                <a:ea typeface="宋体" panose="02010600030101010101" pitchFamily="2" charset="-122"/>
              </a:rPr>
              <a:t>return (v != NULL &amp;&amp; v-&gt;value == key) ? v : NULL;</a:t>
            </a:r>
          </a:p>
          <a:p>
            <a:pPr eaLnBrk="1" hangingPunct="1">
              <a:lnSpc>
                <a:spcPct val="80000"/>
              </a:lnSpc>
              <a:buClr>
                <a:srgbClr val="FFFF00"/>
              </a:buClr>
              <a:buSzPct val="80000"/>
              <a:buFont typeface="Wingdings" pitchFamily="2" charset="2"/>
              <a:buNone/>
            </a:pPr>
            <a:r>
              <a:rPr kumimoji="1" lang="en-US" altLang="zh-CN" sz="2000" b="0" i="0">
                <a:solidFill>
                  <a:srgbClr val="CC0000"/>
                </a:solidFill>
                <a:latin typeface="Arial Narrow" panose="020B0604020202020204" pitchFamily="34" charset="0"/>
                <a:ea typeface="宋体" panose="02010600030101010101" pitchFamily="2" charset="-122"/>
              </a:rPr>
              <a:t>   </a:t>
            </a:r>
            <a:r>
              <a:rPr kumimoji="1" lang="zh-CN" altLang="en-US" sz="2000" b="0" i="0">
                <a:solidFill>
                  <a:srgbClr val="CC0000"/>
                </a:solidFill>
                <a:latin typeface="Arial Narrow" panose="020B0604020202020204" pitchFamily="34" charset="0"/>
                <a:ea typeface="宋体" panose="02010600030101010101" pitchFamily="2" charset="-122"/>
              </a:rPr>
              <a:t>上面的讨论有哪些变化？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2820"/>
                                        </p:tgtEl>
                                        <p:attrNameLst>
                                          <p:attrName>style.visibility</p:attrName>
                                        </p:attrNameLst>
                                      </p:cBhvr>
                                      <p:to>
                                        <p:strVal val="visible"/>
                                      </p:to>
                                    </p:set>
                                    <p:anim calcmode="lin" valueType="num">
                                      <p:cBhvr additive="base">
                                        <p:cTn id="7" dur="500" fill="hold"/>
                                        <p:tgtEl>
                                          <p:spTgt spid="802820"/>
                                        </p:tgtEl>
                                        <p:attrNameLst>
                                          <p:attrName>ppt_x</p:attrName>
                                        </p:attrNameLst>
                                      </p:cBhvr>
                                      <p:tavLst>
                                        <p:tav tm="0">
                                          <p:val>
                                            <p:strVal val="#ppt_x"/>
                                          </p:val>
                                        </p:tav>
                                        <p:tav tm="100000">
                                          <p:val>
                                            <p:strVal val="#ppt_x"/>
                                          </p:val>
                                        </p:tav>
                                      </p:tavLst>
                                    </p:anim>
                                    <p:anim calcmode="lin" valueType="num">
                                      <p:cBhvr additive="base">
                                        <p:cTn id="8" dur="500" fill="hold"/>
                                        <p:tgtEl>
                                          <p:spTgt spid="8028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20"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0BE4DFFA-4888-EF1E-7AE5-C38476B19E98}"/>
              </a:ext>
            </a:extLst>
          </p:cNvPr>
          <p:cNvSpPr>
            <a:spLocks noGrp="1" noChangeArrowheads="1"/>
          </p:cNvSpPr>
          <p:nvPr>
            <p:ph type="title"/>
          </p:nvPr>
        </p:nvSpPr>
        <p:spPr/>
        <p:txBody>
          <a:bodyPr/>
          <a:lstStyle/>
          <a:p>
            <a:pPr eaLnBrk="1" hangingPunct="1"/>
            <a:r>
              <a:rPr lang="zh-CN" altLang="en-US" sz="4000"/>
              <a:t>铺垫</a:t>
            </a:r>
            <a:r>
              <a:rPr lang="en-US" altLang="zh-CN" sz="4000"/>
              <a:t>1</a:t>
            </a:r>
            <a:r>
              <a:rPr lang="zh-CN" altLang="en-US" sz="4000"/>
              <a:t>：从链表删除指定表元的后继表元</a:t>
            </a:r>
          </a:p>
        </p:txBody>
      </p:sp>
      <p:sp>
        <p:nvSpPr>
          <p:cNvPr id="150531" name="Rectangle 3">
            <a:extLst>
              <a:ext uri="{FF2B5EF4-FFF2-40B4-BE49-F238E27FC236}">
                <a16:creationId xmlns:a16="http://schemas.microsoft.com/office/drawing/2014/main" id="{61420CB1-4FB6-3134-6DAA-F4105054E5EE}"/>
              </a:ext>
            </a:extLst>
          </p:cNvPr>
          <p:cNvSpPr>
            <a:spLocks noGrp="1" noChangeArrowheads="1"/>
          </p:cNvSpPr>
          <p:nvPr>
            <p:ph type="body" idx="1"/>
          </p:nvPr>
        </p:nvSpPr>
        <p:spPr>
          <a:xfrm>
            <a:off x="827088" y="1628775"/>
            <a:ext cx="7866062" cy="4503738"/>
          </a:xfrm>
        </p:spPr>
        <p:txBody>
          <a:bodyPr/>
          <a:lstStyle/>
          <a:p>
            <a:pPr marL="533400" indent="-533400" algn="just" eaLnBrk="1" hangingPunct="1">
              <a:lnSpc>
                <a:spcPct val="150000"/>
              </a:lnSpc>
            </a:pPr>
            <a:r>
              <a:rPr lang="zh-CN" altLang="en-US" sz="1800" b="0"/>
              <a:t>在动态数据结构的应用中，除产生新表元和插入到动态数据结构中的操作以外，还有改变动态数据结构中表元之间的关系、删除原动态数据结构中的表元等基本操作。</a:t>
            </a:r>
          </a:p>
          <a:p>
            <a:pPr marL="533400" indent="-533400" algn="just" eaLnBrk="1" hangingPunct="1">
              <a:lnSpc>
                <a:spcPct val="150000"/>
              </a:lnSpc>
            </a:pPr>
            <a:r>
              <a:rPr lang="zh-CN" altLang="en-US" sz="1800" b="0"/>
              <a:t>设要</a:t>
            </a:r>
            <a:r>
              <a:rPr lang="zh-CN" altLang="en-US" sz="1800" b="0">
                <a:solidFill>
                  <a:srgbClr val="0066FF"/>
                </a:solidFill>
              </a:rPr>
              <a:t>删除链表中由指针变量 </a:t>
            </a:r>
            <a:r>
              <a:rPr lang="en-US" altLang="zh-CN" sz="1800" b="0">
                <a:solidFill>
                  <a:srgbClr val="0066FF"/>
                </a:solidFill>
              </a:rPr>
              <a:t>w</a:t>
            </a:r>
            <a:r>
              <a:rPr lang="zh-CN" altLang="en-US" sz="1800" b="0">
                <a:solidFill>
                  <a:srgbClr val="0066FF"/>
                </a:solidFill>
              </a:rPr>
              <a:t> 所指表元的后继表元</a:t>
            </a:r>
            <a:r>
              <a:rPr lang="zh-CN" altLang="en-US" sz="1800" b="0"/>
              <a:t>。如图</a:t>
            </a:r>
            <a:r>
              <a:rPr lang="en-US" altLang="zh-CN" sz="1800" b="0"/>
              <a:t>7-5</a:t>
            </a:r>
            <a:r>
              <a:rPr lang="zh-CN" altLang="en-US" sz="1800" b="0"/>
              <a:t>所示，欲删去值为</a:t>
            </a:r>
            <a:r>
              <a:rPr lang="en-US" altLang="zh-CN" sz="1800" b="0"/>
              <a:t>5</a:t>
            </a:r>
            <a:r>
              <a:rPr lang="zh-CN" altLang="en-US" sz="1800" b="0"/>
              <a:t>的表元。经删除后，</a:t>
            </a:r>
            <a:r>
              <a:rPr lang="en-US" altLang="zh-CN" sz="1800" b="0"/>
              <a:t>w</a:t>
            </a:r>
            <a:r>
              <a:rPr lang="zh-CN" altLang="en-US" sz="1800" b="0"/>
              <a:t> 所指表元的后继表元变为值为</a:t>
            </a:r>
            <a:r>
              <a:rPr lang="en-US" altLang="zh-CN" sz="1800" b="0"/>
              <a:t>6</a:t>
            </a:r>
            <a:r>
              <a:rPr lang="zh-CN" altLang="en-US" sz="1800" b="0"/>
              <a:t>的表元。完成这样的删除操作，可用以下语句实现：</a:t>
            </a:r>
          </a:p>
          <a:p>
            <a:pPr marL="914400" lvl="1" indent="-457200" algn="just" eaLnBrk="1" hangingPunct="1">
              <a:lnSpc>
                <a:spcPct val="150000"/>
              </a:lnSpc>
              <a:buFont typeface="Wingdings" pitchFamily="2" charset="2"/>
              <a:buAutoNum type="arabicPeriod"/>
            </a:pPr>
            <a:r>
              <a:rPr lang="en-US" altLang="zh-CN" sz="1600" b="0"/>
              <a:t>p            = w-&gt;next;</a:t>
            </a:r>
          </a:p>
          <a:p>
            <a:pPr marL="914400" lvl="1" indent="-457200" algn="just" eaLnBrk="1" hangingPunct="1">
              <a:lnSpc>
                <a:spcPct val="150000"/>
              </a:lnSpc>
              <a:buFont typeface="Wingdings" pitchFamily="2" charset="2"/>
              <a:buAutoNum type="arabicPeriod"/>
            </a:pPr>
            <a:r>
              <a:rPr lang="en-US" altLang="zh-CN" sz="1600" b="0"/>
              <a:t>w-&gt;next = p-&gt;next; </a:t>
            </a:r>
            <a:r>
              <a:rPr lang="en-US" altLang="zh-CN" sz="1600" b="0">
                <a:solidFill>
                  <a:schemeClr val="folHlink"/>
                </a:solidFill>
              </a:rPr>
              <a:t>// w-&gt;next = w-&gt;next-&gt;next;</a:t>
            </a:r>
          </a:p>
          <a:p>
            <a:pPr marL="914400" lvl="1" indent="-457200" algn="just" eaLnBrk="1" hangingPunct="1">
              <a:lnSpc>
                <a:spcPct val="150000"/>
              </a:lnSpc>
              <a:buFont typeface="Wingdings" pitchFamily="2" charset="2"/>
              <a:buAutoNum type="arabicPeriod"/>
            </a:pPr>
            <a:r>
              <a:rPr lang="en-US" altLang="zh-CN" sz="1600" b="0"/>
              <a:t>p-&gt;next = NULL;</a:t>
            </a:r>
          </a:p>
          <a:p>
            <a:pPr marL="533400" indent="-533400" algn="just" eaLnBrk="1" hangingPunct="1">
              <a:lnSpc>
                <a:spcPct val="150000"/>
              </a:lnSpc>
            </a:pPr>
            <a:r>
              <a:rPr lang="zh-CN" altLang="en-US" sz="1800" b="0"/>
              <a:t>从链表删除的表元通常</a:t>
            </a:r>
            <a:r>
              <a:rPr lang="zh-CN" altLang="en-US" sz="1800" b="0">
                <a:solidFill>
                  <a:srgbClr val="0066FF"/>
                </a:solidFill>
              </a:rPr>
              <a:t>有两种不同的处理</a:t>
            </a:r>
            <a:r>
              <a:rPr lang="zh-CN" altLang="en-US" sz="1800" b="0"/>
              <a:t>：或调用函数</a:t>
            </a:r>
            <a:r>
              <a:rPr lang="en-US" altLang="zh-CN" sz="1800" b="0"/>
              <a:t>free()</a:t>
            </a:r>
            <a:r>
              <a:rPr lang="zh-CN" altLang="en-US" sz="1800" b="0"/>
              <a:t>回收删除表元所占的存储单元；或将删除表元插入到其他链表等。</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4586559E-6BAD-B82A-6812-5A206D3C023B}"/>
              </a:ext>
            </a:extLst>
          </p:cNvPr>
          <p:cNvSpPr>
            <a:spLocks noGrp="1" noChangeArrowheads="1"/>
          </p:cNvSpPr>
          <p:nvPr>
            <p:ph type="title"/>
          </p:nvPr>
        </p:nvSpPr>
        <p:spPr/>
        <p:txBody>
          <a:bodyPr/>
          <a:lstStyle/>
          <a:p>
            <a:pPr eaLnBrk="1" hangingPunct="1"/>
            <a:r>
              <a:rPr lang="zh-CN" altLang="en-US"/>
              <a:t>图</a:t>
            </a:r>
            <a:r>
              <a:rPr lang="en-US" altLang="zh-CN"/>
              <a:t>7-5</a:t>
            </a:r>
          </a:p>
        </p:txBody>
      </p:sp>
      <p:sp>
        <p:nvSpPr>
          <p:cNvPr id="151555" name="Rectangle 3">
            <a:extLst>
              <a:ext uri="{FF2B5EF4-FFF2-40B4-BE49-F238E27FC236}">
                <a16:creationId xmlns:a16="http://schemas.microsoft.com/office/drawing/2014/main" id="{A2265BC9-8AFC-B175-B1DE-2A5B4D70D718}"/>
              </a:ext>
            </a:extLst>
          </p:cNvPr>
          <p:cNvSpPr>
            <a:spLocks noGrp="1" noChangeArrowheads="1"/>
          </p:cNvSpPr>
          <p:nvPr>
            <p:ph type="body" idx="1"/>
          </p:nvPr>
        </p:nvSpPr>
        <p:spPr/>
        <p:txBody>
          <a:bodyPr/>
          <a:lstStyle/>
          <a:p>
            <a:pPr algn="just" eaLnBrk="1" hangingPunct="1">
              <a:lnSpc>
                <a:spcPct val="90000"/>
              </a:lnSpc>
              <a:buFont typeface="Wingdings" pitchFamily="2" charset="2"/>
              <a:buNone/>
            </a:pPr>
            <a:endParaRPr lang="en-US" altLang="zh-CN" sz="1800"/>
          </a:p>
          <a:p>
            <a:pPr algn="just" eaLnBrk="1" hangingPunct="1">
              <a:lnSpc>
                <a:spcPct val="90000"/>
              </a:lnSpc>
              <a:buFont typeface="Wingdings" pitchFamily="2" charset="2"/>
              <a:buNone/>
            </a:pPr>
            <a:r>
              <a:rPr lang="en-US" altLang="zh-CN" sz="1800"/>
              <a:t>                                       4                           5                          6</a:t>
            </a:r>
          </a:p>
          <a:p>
            <a:pPr algn="just" eaLnBrk="1" hangingPunct="1">
              <a:lnSpc>
                <a:spcPct val="90000"/>
              </a:lnSpc>
              <a:buFont typeface="Wingdings" pitchFamily="2" charset="2"/>
              <a:buNone/>
            </a:pPr>
            <a:r>
              <a:rPr lang="en-US" altLang="zh-CN" sz="1800"/>
              <a:t>          w</a:t>
            </a:r>
          </a:p>
          <a:p>
            <a:pPr algn="just" eaLnBrk="1" hangingPunct="1">
              <a:lnSpc>
                <a:spcPct val="90000"/>
              </a:lnSpc>
              <a:buFont typeface="Wingdings" pitchFamily="2" charset="2"/>
              <a:buNone/>
            </a:pPr>
            <a:endParaRPr lang="en-US" altLang="zh-CN" sz="1800"/>
          </a:p>
          <a:p>
            <a:pPr eaLnBrk="1" hangingPunct="1">
              <a:lnSpc>
                <a:spcPct val="90000"/>
              </a:lnSpc>
              <a:buFont typeface="Wingdings" pitchFamily="2" charset="2"/>
              <a:buNone/>
            </a:pPr>
            <a:r>
              <a:rPr lang="en-US" altLang="zh-CN" sz="1800"/>
              <a:t>                                                (a) </a:t>
            </a:r>
            <a:r>
              <a:rPr lang="zh-CN" altLang="zh-CN" sz="1800"/>
              <a:t>删除前</a:t>
            </a:r>
            <a:endParaRPr lang="zh-CN" altLang="en-US" sz="1800"/>
          </a:p>
          <a:p>
            <a:pPr algn="just" eaLnBrk="1" hangingPunct="1">
              <a:lnSpc>
                <a:spcPct val="90000"/>
              </a:lnSpc>
              <a:buFont typeface="Wingdings" pitchFamily="2" charset="2"/>
              <a:buNone/>
            </a:pPr>
            <a:endParaRPr lang="zh-CN" altLang="en-US" sz="1800"/>
          </a:p>
          <a:p>
            <a:pPr algn="just" eaLnBrk="1" hangingPunct="1">
              <a:lnSpc>
                <a:spcPct val="90000"/>
              </a:lnSpc>
              <a:buFont typeface="Wingdings" pitchFamily="2" charset="2"/>
              <a:buNone/>
            </a:pPr>
            <a:r>
              <a:rPr lang="zh-CN" altLang="en-US" sz="1800"/>
              <a:t>                                      </a:t>
            </a:r>
            <a:r>
              <a:rPr lang="en-US" altLang="zh-CN" sz="1800"/>
              <a:t>4                                                        6</a:t>
            </a:r>
          </a:p>
          <a:p>
            <a:pPr algn="just" eaLnBrk="1" hangingPunct="1">
              <a:lnSpc>
                <a:spcPct val="90000"/>
              </a:lnSpc>
              <a:buFont typeface="Wingdings" pitchFamily="2" charset="2"/>
              <a:buNone/>
            </a:pPr>
            <a:r>
              <a:rPr lang="en-US" altLang="zh-CN" sz="1800"/>
              <a:t>          w</a:t>
            </a:r>
          </a:p>
          <a:p>
            <a:pPr algn="just" eaLnBrk="1" hangingPunct="1">
              <a:lnSpc>
                <a:spcPct val="90000"/>
              </a:lnSpc>
              <a:buFont typeface="Wingdings" pitchFamily="2" charset="2"/>
              <a:buNone/>
            </a:pPr>
            <a:endParaRPr lang="en-US" altLang="zh-CN" sz="1800"/>
          </a:p>
          <a:p>
            <a:pPr algn="just" eaLnBrk="1" hangingPunct="1">
              <a:lnSpc>
                <a:spcPct val="90000"/>
              </a:lnSpc>
              <a:buFont typeface="Wingdings" pitchFamily="2" charset="2"/>
              <a:buNone/>
            </a:pPr>
            <a:r>
              <a:rPr lang="en-US" altLang="zh-CN" sz="1800"/>
              <a:t>                                p                                  5</a:t>
            </a:r>
          </a:p>
          <a:p>
            <a:pPr algn="just" eaLnBrk="1" hangingPunct="1">
              <a:lnSpc>
                <a:spcPct val="90000"/>
              </a:lnSpc>
              <a:buFont typeface="Wingdings" pitchFamily="2" charset="2"/>
              <a:buNone/>
            </a:pPr>
            <a:r>
              <a:rPr lang="en-US" altLang="zh-CN" sz="1800"/>
              <a:t>                                                                 NULL</a:t>
            </a:r>
          </a:p>
          <a:p>
            <a:pPr algn="just" eaLnBrk="1" hangingPunct="1">
              <a:lnSpc>
                <a:spcPct val="90000"/>
              </a:lnSpc>
              <a:buFont typeface="Wingdings" pitchFamily="2" charset="2"/>
              <a:buNone/>
            </a:pPr>
            <a:r>
              <a:rPr lang="en-US" altLang="zh-CN" sz="1800"/>
              <a:t>                            </a:t>
            </a:r>
          </a:p>
          <a:p>
            <a:pPr eaLnBrk="1" hangingPunct="1">
              <a:lnSpc>
                <a:spcPct val="90000"/>
              </a:lnSpc>
              <a:buFont typeface="Wingdings" pitchFamily="2" charset="2"/>
              <a:buNone/>
            </a:pPr>
            <a:r>
              <a:rPr lang="en-US" altLang="zh-CN" sz="1800"/>
              <a:t>                                               (b)</a:t>
            </a:r>
            <a:r>
              <a:rPr lang="zh-CN" altLang="zh-CN" sz="1800"/>
              <a:t>删除后</a:t>
            </a:r>
          </a:p>
          <a:p>
            <a:pPr algn="just" eaLnBrk="1" hangingPunct="1">
              <a:lnSpc>
                <a:spcPct val="90000"/>
              </a:lnSpc>
              <a:buFont typeface="Wingdings" pitchFamily="2" charset="2"/>
              <a:buNone/>
            </a:pPr>
            <a:endParaRPr lang="zh-CN" altLang="en-US" sz="1800"/>
          </a:p>
          <a:p>
            <a:pPr algn="ctr" eaLnBrk="1" hangingPunct="1">
              <a:lnSpc>
                <a:spcPct val="90000"/>
              </a:lnSpc>
              <a:buFont typeface="Wingdings" pitchFamily="2" charset="2"/>
              <a:buNone/>
            </a:pPr>
            <a:r>
              <a:rPr lang="zh-CN" altLang="en-US" sz="1600"/>
              <a:t>图</a:t>
            </a:r>
            <a:r>
              <a:rPr lang="en-US" altLang="zh-CN" sz="1600"/>
              <a:t>7-5 </a:t>
            </a:r>
            <a:r>
              <a:rPr lang="zh-CN" altLang="en-US" sz="1600"/>
              <a:t>删除链表中</a:t>
            </a:r>
            <a:r>
              <a:rPr lang="en-US" altLang="zh-CN" sz="1600"/>
              <a:t>w</a:t>
            </a:r>
            <a:r>
              <a:rPr lang="zh-CN" altLang="en-US" sz="1600"/>
              <a:t>所指表无的后继表元状态变化图</a:t>
            </a:r>
            <a:endParaRPr lang="zh-CN" altLang="en-US" sz="1800"/>
          </a:p>
        </p:txBody>
      </p:sp>
      <p:grpSp>
        <p:nvGrpSpPr>
          <p:cNvPr id="151556" name="Group 4">
            <a:extLst>
              <a:ext uri="{FF2B5EF4-FFF2-40B4-BE49-F238E27FC236}">
                <a16:creationId xmlns:a16="http://schemas.microsoft.com/office/drawing/2014/main" id="{CE1DFAB7-AC95-5A96-A55A-65A7C7CAB5F6}"/>
              </a:ext>
            </a:extLst>
          </p:cNvPr>
          <p:cNvGrpSpPr>
            <a:grpSpLocks/>
          </p:cNvGrpSpPr>
          <p:nvPr/>
        </p:nvGrpSpPr>
        <p:grpSpPr bwMode="auto">
          <a:xfrm>
            <a:off x="1524000" y="3471863"/>
            <a:ext cx="6858000" cy="566737"/>
            <a:chOff x="720" y="720"/>
            <a:chExt cx="4560" cy="624"/>
          </a:xfrm>
        </p:grpSpPr>
        <p:sp>
          <p:nvSpPr>
            <p:cNvPr id="151600" name="Line 5">
              <a:extLst>
                <a:ext uri="{FF2B5EF4-FFF2-40B4-BE49-F238E27FC236}">
                  <a16:creationId xmlns:a16="http://schemas.microsoft.com/office/drawing/2014/main" id="{057CAD5F-C2D5-B7FA-9E49-0FE77D203A9C}"/>
                </a:ext>
              </a:extLst>
            </p:cNvPr>
            <p:cNvSpPr>
              <a:spLocks noChangeShapeType="1"/>
            </p:cNvSpPr>
            <p:nvPr/>
          </p:nvSpPr>
          <p:spPr bwMode="auto">
            <a:xfrm>
              <a:off x="720" y="72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01" name="Line 6">
              <a:extLst>
                <a:ext uri="{FF2B5EF4-FFF2-40B4-BE49-F238E27FC236}">
                  <a16:creationId xmlns:a16="http://schemas.microsoft.com/office/drawing/2014/main" id="{671B691B-2BE5-C781-78AD-2B5D69156760}"/>
                </a:ext>
              </a:extLst>
            </p:cNvPr>
            <p:cNvSpPr>
              <a:spLocks noChangeShapeType="1"/>
            </p:cNvSpPr>
            <p:nvPr/>
          </p:nvSpPr>
          <p:spPr bwMode="auto">
            <a:xfrm>
              <a:off x="1296" y="72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02" name="Line 7">
              <a:extLst>
                <a:ext uri="{FF2B5EF4-FFF2-40B4-BE49-F238E27FC236}">
                  <a16:creationId xmlns:a16="http://schemas.microsoft.com/office/drawing/2014/main" id="{D12080C5-7A4D-0ACB-5D36-58984FF97A67}"/>
                </a:ext>
              </a:extLst>
            </p:cNvPr>
            <p:cNvSpPr>
              <a:spLocks noChangeShapeType="1"/>
            </p:cNvSpPr>
            <p:nvPr/>
          </p:nvSpPr>
          <p:spPr bwMode="auto">
            <a:xfrm flipH="1">
              <a:off x="720" y="1008"/>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03" name="Line 8">
              <a:extLst>
                <a:ext uri="{FF2B5EF4-FFF2-40B4-BE49-F238E27FC236}">
                  <a16:creationId xmlns:a16="http://schemas.microsoft.com/office/drawing/2014/main" id="{90F2A2EE-8761-A1C3-C832-13D95719DBB1}"/>
                </a:ext>
              </a:extLst>
            </p:cNvPr>
            <p:cNvSpPr>
              <a:spLocks noChangeShapeType="1"/>
            </p:cNvSpPr>
            <p:nvPr/>
          </p:nvSpPr>
          <p:spPr bwMode="auto">
            <a:xfrm flipV="1">
              <a:off x="720" y="72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04" name="Line 9">
              <a:extLst>
                <a:ext uri="{FF2B5EF4-FFF2-40B4-BE49-F238E27FC236}">
                  <a16:creationId xmlns:a16="http://schemas.microsoft.com/office/drawing/2014/main" id="{48BE7858-60B9-F2BF-4822-CFF4CC44352C}"/>
                </a:ext>
              </a:extLst>
            </p:cNvPr>
            <p:cNvSpPr>
              <a:spLocks noChangeShapeType="1"/>
            </p:cNvSpPr>
            <p:nvPr/>
          </p:nvSpPr>
          <p:spPr bwMode="auto">
            <a:xfrm flipV="1">
              <a:off x="1776" y="720"/>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05" name="Line 10">
              <a:extLst>
                <a:ext uri="{FF2B5EF4-FFF2-40B4-BE49-F238E27FC236}">
                  <a16:creationId xmlns:a16="http://schemas.microsoft.com/office/drawing/2014/main" id="{EFED5D10-2547-926F-1FAE-5E43656F6293}"/>
                </a:ext>
              </a:extLst>
            </p:cNvPr>
            <p:cNvSpPr>
              <a:spLocks noChangeShapeType="1"/>
            </p:cNvSpPr>
            <p:nvPr/>
          </p:nvSpPr>
          <p:spPr bwMode="auto">
            <a:xfrm>
              <a:off x="2448" y="72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06" name="Line 11">
              <a:extLst>
                <a:ext uri="{FF2B5EF4-FFF2-40B4-BE49-F238E27FC236}">
                  <a16:creationId xmlns:a16="http://schemas.microsoft.com/office/drawing/2014/main" id="{9960655B-33F1-BB0C-B864-026B2D3E97F6}"/>
                </a:ext>
              </a:extLst>
            </p:cNvPr>
            <p:cNvSpPr>
              <a:spLocks noChangeShapeType="1"/>
            </p:cNvSpPr>
            <p:nvPr/>
          </p:nvSpPr>
          <p:spPr bwMode="auto">
            <a:xfrm flipH="1">
              <a:off x="1776" y="1344"/>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07" name="Line 12">
              <a:extLst>
                <a:ext uri="{FF2B5EF4-FFF2-40B4-BE49-F238E27FC236}">
                  <a16:creationId xmlns:a16="http://schemas.microsoft.com/office/drawing/2014/main" id="{4FD5EF69-C33F-AE29-71A7-11B07E2BBF40}"/>
                </a:ext>
              </a:extLst>
            </p:cNvPr>
            <p:cNvSpPr>
              <a:spLocks noChangeShapeType="1"/>
            </p:cNvSpPr>
            <p:nvPr/>
          </p:nvSpPr>
          <p:spPr bwMode="auto">
            <a:xfrm flipV="1">
              <a:off x="1776" y="72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08" name="Line 13">
              <a:extLst>
                <a:ext uri="{FF2B5EF4-FFF2-40B4-BE49-F238E27FC236}">
                  <a16:creationId xmlns:a16="http://schemas.microsoft.com/office/drawing/2014/main" id="{1EAD3D36-D551-2DF0-4E4A-2F65D2B16A09}"/>
                </a:ext>
              </a:extLst>
            </p:cNvPr>
            <p:cNvSpPr>
              <a:spLocks noChangeShapeType="1"/>
            </p:cNvSpPr>
            <p:nvPr/>
          </p:nvSpPr>
          <p:spPr bwMode="auto">
            <a:xfrm>
              <a:off x="1776" y="1008"/>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09" name="Line 14">
              <a:extLst>
                <a:ext uri="{FF2B5EF4-FFF2-40B4-BE49-F238E27FC236}">
                  <a16:creationId xmlns:a16="http://schemas.microsoft.com/office/drawing/2014/main" id="{6ABC1E4B-1D98-CA2E-35DA-F3B1EF6DA226}"/>
                </a:ext>
              </a:extLst>
            </p:cNvPr>
            <p:cNvSpPr>
              <a:spLocks noChangeShapeType="1"/>
            </p:cNvSpPr>
            <p:nvPr/>
          </p:nvSpPr>
          <p:spPr bwMode="auto">
            <a:xfrm>
              <a:off x="4224" y="72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10" name="Line 15">
              <a:extLst>
                <a:ext uri="{FF2B5EF4-FFF2-40B4-BE49-F238E27FC236}">
                  <a16:creationId xmlns:a16="http://schemas.microsoft.com/office/drawing/2014/main" id="{AD603AB8-3036-9459-F8B0-070689AF1FCB}"/>
                </a:ext>
              </a:extLst>
            </p:cNvPr>
            <p:cNvSpPr>
              <a:spLocks noChangeShapeType="1"/>
            </p:cNvSpPr>
            <p:nvPr/>
          </p:nvSpPr>
          <p:spPr bwMode="auto">
            <a:xfrm>
              <a:off x="4224" y="1344"/>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11" name="Line 16">
              <a:extLst>
                <a:ext uri="{FF2B5EF4-FFF2-40B4-BE49-F238E27FC236}">
                  <a16:creationId xmlns:a16="http://schemas.microsoft.com/office/drawing/2014/main" id="{E2BA781C-4BC3-9FEA-8430-4A6C1A8AE23D}"/>
                </a:ext>
              </a:extLst>
            </p:cNvPr>
            <p:cNvSpPr>
              <a:spLocks noChangeShapeType="1"/>
            </p:cNvSpPr>
            <p:nvPr/>
          </p:nvSpPr>
          <p:spPr bwMode="auto">
            <a:xfrm flipV="1">
              <a:off x="4848" y="72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12" name="Line 17">
              <a:extLst>
                <a:ext uri="{FF2B5EF4-FFF2-40B4-BE49-F238E27FC236}">
                  <a16:creationId xmlns:a16="http://schemas.microsoft.com/office/drawing/2014/main" id="{24B9C22B-C69D-3E31-196F-D328C944EE4A}"/>
                </a:ext>
              </a:extLst>
            </p:cNvPr>
            <p:cNvSpPr>
              <a:spLocks noChangeShapeType="1"/>
            </p:cNvSpPr>
            <p:nvPr/>
          </p:nvSpPr>
          <p:spPr bwMode="auto">
            <a:xfrm flipH="1">
              <a:off x="4224" y="720"/>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13" name="Line 18">
              <a:extLst>
                <a:ext uri="{FF2B5EF4-FFF2-40B4-BE49-F238E27FC236}">
                  <a16:creationId xmlns:a16="http://schemas.microsoft.com/office/drawing/2014/main" id="{64D1A871-D984-C801-A70F-F2F9B9C50A7F}"/>
                </a:ext>
              </a:extLst>
            </p:cNvPr>
            <p:cNvSpPr>
              <a:spLocks noChangeShapeType="1"/>
            </p:cNvSpPr>
            <p:nvPr/>
          </p:nvSpPr>
          <p:spPr bwMode="auto">
            <a:xfrm>
              <a:off x="4224" y="1056"/>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14" name="Line 19">
              <a:extLst>
                <a:ext uri="{FF2B5EF4-FFF2-40B4-BE49-F238E27FC236}">
                  <a16:creationId xmlns:a16="http://schemas.microsoft.com/office/drawing/2014/main" id="{A15C7B22-2CBA-A21A-3E67-F3EFB2103749}"/>
                </a:ext>
              </a:extLst>
            </p:cNvPr>
            <p:cNvSpPr>
              <a:spLocks noChangeShapeType="1"/>
            </p:cNvSpPr>
            <p:nvPr/>
          </p:nvSpPr>
          <p:spPr bwMode="auto">
            <a:xfrm>
              <a:off x="1056" y="864"/>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15" name="Line 20">
              <a:extLst>
                <a:ext uri="{FF2B5EF4-FFF2-40B4-BE49-F238E27FC236}">
                  <a16:creationId xmlns:a16="http://schemas.microsoft.com/office/drawing/2014/main" id="{D840B2D5-6B75-21CF-CE12-853411D38302}"/>
                </a:ext>
              </a:extLst>
            </p:cNvPr>
            <p:cNvSpPr>
              <a:spLocks noChangeShapeType="1"/>
            </p:cNvSpPr>
            <p:nvPr/>
          </p:nvSpPr>
          <p:spPr bwMode="auto">
            <a:xfrm>
              <a:off x="2304" y="1200"/>
              <a:ext cx="16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16" name="Line 21">
              <a:extLst>
                <a:ext uri="{FF2B5EF4-FFF2-40B4-BE49-F238E27FC236}">
                  <a16:creationId xmlns:a16="http://schemas.microsoft.com/office/drawing/2014/main" id="{3C617B7B-5054-1EA3-9041-C5AD50495480}"/>
                </a:ext>
              </a:extLst>
            </p:cNvPr>
            <p:cNvSpPr>
              <a:spLocks noChangeShapeType="1"/>
            </p:cNvSpPr>
            <p:nvPr/>
          </p:nvSpPr>
          <p:spPr bwMode="auto">
            <a:xfrm flipV="1">
              <a:off x="3984" y="720"/>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17" name="Line 22">
              <a:extLst>
                <a:ext uri="{FF2B5EF4-FFF2-40B4-BE49-F238E27FC236}">
                  <a16:creationId xmlns:a16="http://schemas.microsoft.com/office/drawing/2014/main" id="{F2F876CC-8120-B928-5D5E-A0BBC057B255}"/>
                </a:ext>
              </a:extLst>
            </p:cNvPr>
            <p:cNvSpPr>
              <a:spLocks noChangeShapeType="1"/>
            </p:cNvSpPr>
            <p:nvPr/>
          </p:nvSpPr>
          <p:spPr bwMode="auto">
            <a:xfrm>
              <a:off x="3984" y="720"/>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18" name="Line 23">
              <a:extLst>
                <a:ext uri="{FF2B5EF4-FFF2-40B4-BE49-F238E27FC236}">
                  <a16:creationId xmlns:a16="http://schemas.microsoft.com/office/drawing/2014/main" id="{6992627C-9316-52E1-F324-2A19638D06EE}"/>
                </a:ext>
              </a:extLst>
            </p:cNvPr>
            <p:cNvSpPr>
              <a:spLocks noChangeShapeType="1"/>
            </p:cNvSpPr>
            <p:nvPr/>
          </p:nvSpPr>
          <p:spPr bwMode="auto">
            <a:xfrm>
              <a:off x="4608" y="1200"/>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19" name="Line 24">
              <a:extLst>
                <a:ext uri="{FF2B5EF4-FFF2-40B4-BE49-F238E27FC236}">
                  <a16:creationId xmlns:a16="http://schemas.microsoft.com/office/drawing/2014/main" id="{A7D5FA60-51F3-500B-BFA2-5BDC9D8042D1}"/>
                </a:ext>
              </a:extLst>
            </p:cNvPr>
            <p:cNvSpPr>
              <a:spLocks noChangeShapeType="1"/>
            </p:cNvSpPr>
            <p:nvPr/>
          </p:nvSpPr>
          <p:spPr bwMode="auto">
            <a:xfrm flipV="1">
              <a:off x="5088" y="720"/>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620" name="Line 25">
              <a:extLst>
                <a:ext uri="{FF2B5EF4-FFF2-40B4-BE49-F238E27FC236}">
                  <a16:creationId xmlns:a16="http://schemas.microsoft.com/office/drawing/2014/main" id="{161BEE73-D45E-3EAE-D088-AA9A2F4FCE4F}"/>
                </a:ext>
              </a:extLst>
            </p:cNvPr>
            <p:cNvSpPr>
              <a:spLocks noChangeShapeType="1"/>
            </p:cNvSpPr>
            <p:nvPr/>
          </p:nvSpPr>
          <p:spPr bwMode="auto">
            <a:xfrm>
              <a:off x="5088" y="720"/>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1557" name="Group 26">
            <a:extLst>
              <a:ext uri="{FF2B5EF4-FFF2-40B4-BE49-F238E27FC236}">
                <a16:creationId xmlns:a16="http://schemas.microsoft.com/office/drawing/2014/main" id="{BCCEC2BB-99F7-B2C3-4618-95B1BC00CEF0}"/>
              </a:ext>
            </a:extLst>
          </p:cNvPr>
          <p:cNvGrpSpPr>
            <a:grpSpLocks/>
          </p:cNvGrpSpPr>
          <p:nvPr/>
        </p:nvGrpSpPr>
        <p:grpSpPr bwMode="auto">
          <a:xfrm>
            <a:off x="3348038" y="4419600"/>
            <a:ext cx="2671762" cy="566738"/>
            <a:chOff x="1920" y="1680"/>
            <a:chExt cx="1776" cy="624"/>
          </a:xfrm>
        </p:grpSpPr>
        <p:sp>
          <p:nvSpPr>
            <p:cNvPr id="151588" name="Line 27">
              <a:extLst>
                <a:ext uri="{FF2B5EF4-FFF2-40B4-BE49-F238E27FC236}">
                  <a16:creationId xmlns:a16="http://schemas.microsoft.com/office/drawing/2014/main" id="{40DB3EC0-771A-2712-C3E7-B2296F099C03}"/>
                </a:ext>
              </a:extLst>
            </p:cNvPr>
            <p:cNvSpPr>
              <a:spLocks noChangeShapeType="1"/>
            </p:cNvSpPr>
            <p:nvPr/>
          </p:nvSpPr>
          <p:spPr bwMode="auto">
            <a:xfrm>
              <a:off x="3024" y="168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89" name="Line 28">
              <a:extLst>
                <a:ext uri="{FF2B5EF4-FFF2-40B4-BE49-F238E27FC236}">
                  <a16:creationId xmlns:a16="http://schemas.microsoft.com/office/drawing/2014/main" id="{6F52DC61-2AD3-12B2-4B09-BE01D6432E68}"/>
                </a:ext>
              </a:extLst>
            </p:cNvPr>
            <p:cNvSpPr>
              <a:spLocks noChangeShapeType="1"/>
            </p:cNvSpPr>
            <p:nvPr/>
          </p:nvSpPr>
          <p:spPr bwMode="auto">
            <a:xfrm>
              <a:off x="3024" y="2304"/>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90" name="Line 29">
              <a:extLst>
                <a:ext uri="{FF2B5EF4-FFF2-40B4-BE49-F238E27FC236}">
                  <a16:creationId xmlns:a16="http://schemas.microsoft.com/office/drawing/2014/main" id="{33FFBBBB-3735-FED3-0B20-2CA8DA900824}"/>
                </a:ext>
              </a:extLst>
            </p:cNvPr>
            <p:cNvSpPr>
              <a:spLocks noChangeShapeType="1"/>
            </p:cNvSpPr>
            <p:nvPr/>
          </p:nvSpPr>
          <p:spPr bwMode="auto">
            <a:xfrm flipV="1">
              <a:off x="3696" y="168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91" name="Line 30">
              <a:extLst>
                <a:ext uri="{FF2B5EF4-FFF2-40B4-BE49-F238E27FC236}">
                  <a16:creationId xmlns:a16="http://schemas.microsoft.com/office/drawing/2014/main" id="{2DA730E7-1DF2-FDB1-E7B9-3E0EB1CB15D2}"/>
                </a:ext>
              </a:extLst>
            </p:cNvPr>
            <p:cNvSpPr>
              <a:spLocks noChangeShapeType="1"/>
            </p:cNvSpPr>
            <p:nvPr/>
          </p:nvSpPr>
          <p:spPr bwMode="auto">
            <a:xfrm flipH="1">
              <a:off x="3024" y="1680"/>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92" name="Line 31">
              <a:extLst>
                <a:ext uri="{FF2B5EF4-FFF2-40B4-BE49-F238E27FC236}">
                  <a16:creationId xmlns:a16="http://schemas.microsoft.com/office/drawing/2014/main" id="{982ACAD7-E12B-7B6D-4062-766B2DB30A8D}"/>
                </a:ext>
              </a:extLst>
            </p:cNvPr>
            <p:cNvSpPr>
              <a:spLocks noChangeShapeType="1"/>
            </p:cNvSpPr>
            <p:nvPr/>
          </p:nvSpPr>
          <p:spPr bwMode="auto">
            <a:xfrm>
              <a:off x="3024" y="201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93" name="Line 32">
              <a:extLst>
                <a:ext uri="{FF2B5EF4-FFF2-40B4-BE49-F238E27FC236}">
                  <a16:creationId xmlns:a16="http://schemas.microsoft.com/office/drawing/2014/main" id="{E801335F-1C4D-92C4-72A6-542F1CDBD7B7}"/>
                </a:ext>
              </a:extLst>
            </p:cNvPr>
            <p:cNvSpPr>
              <a:spLocks noChangeShapeType="1"/>
            </p:cNvSpPr>
            <p:nvPr/>
          </p:nvSpPr>
          <p:spPr bwMode="auto">
            <a:xfrm>
              <a:off x="1920" y="1824"/>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94" name="Line 33">
              <a:extLst>
                <a:ext uri="{FF2B5EF4-FFF2-40B4-BE49-F238E27FC236}">
                  <a16:creationId xmlns:a16="http://schemas.microsoft.com/office/drawing/2014/main" id="{D5E4E0D1-620A-CE8C-1AB8-C9BECC0BEBF9}"/>
                </a:ext>
              </a:extLst>
            </p:cNvPr>
            <p:cNvSpPr>
              <a:spLocks noChangeShapeType="1"/>
            </p:cNvSpPr>
            <p:nvPr/>
          </p:nvSpPr>
          <p:spPr bwMode="auto">
            <a:xfrm>
              <a:off x="1920" y="182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95" name="Line 34">
              <a:extLst>
                <a:ext uri="{FF2B5EF4-FFF2-40B4-BE49-F238E27FC236}">
                  <a16:creationId xmlns:a16="http://schemas.microsoft.com/office/drawing/2014/main" id="{6F9BE4A7-464C-6D0E-D625-44A4E8C52B92}"/>
                </a:ext>
              </a:extLst>
            </p:cNvPr>
            <p:cNvSpPr>
              <a:spLocks noChangeShapeType="1"/>
            </p:cNvSpPr>
            <p:nvPr/>
          </p:nvSpPr>
          <p:spPr bwMode="auto">
            <a:xfrm flipV="1">
              <a:off x="1920" y="211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96" name="Line 35">
              <a:extLst>
                <a:ext uri="{FF2B5EF4-FFF2-40B4-BE49-F238E27FC236}">
                  <a16:creationId xmlns:a16="http://schemas.microsoft.com/office/drawing/2014/main" id="{AB2A4289-418D-56FC-861C-1A0CFB90850F}"/>
                </a:ext>
              </a:extLst>
            </p:cNvPr>
            <p:cNvSpPr>
              <a:spLocks noChangeShapeType="1"/>
            </p:cNvSpPr>
            <p:nvPr/>
          </p:nvSpPr>
          <p:spPr bwMode="auto">
            <a:xfrm flipV="1">
              <a:off x="2544" y="182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97" name="Line 36">
              <a:extLst>
                <a:ext uri="{FF2B5EF4-FFF2-40B4-BE49-F238E27FC236}">
                  <a16:creationId xmlns:a16="http://schemas.microsoft.com/office/drawing/2014/main" id="{F49BFF15-2A53-9D18-7E08-BDD37FBA0495}"/>
                </a:ext>
              </a:extLst>
            </p:cNvPr>
            <p:cNvSpPr>
              <a:spLocks noChangeShapeType="1"/>
            </p:cNvSpPr>
            <p:nvPr/>
          </p:nvSpPr>
          <p:spPr bwMode="auto">
            <a:xfrm>
              <a:off x="2784" y="1680"/>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98" name="Line 37">
              <a:extLst>
                <a:ext uri="{FF2B5EF4-FFF2-40B4-BE49-F238E27FC236}">
                  <a16:creationId xmlns:a16="http://schemas.microsoft.com/office/drawing/2014/main" id="{BFFE1D2A-3D6C-7FBE-CC41-F263DC50ABFC}"/>
                </a:ext>
              </a:extLst>
            </p:cNvPr>
            <p:cNvSpPr>
              <a:spLocks noChangeShapeType="1"/>
            </p:cNvSpPr>
            <p:nvPr/>
          </p:nvSpPr>
          <p:spPr bwMode="auto">
            <a:xfrm>
              <a:off x="2352" y="1968"/>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99" name="Line 38">
              <a:extLst>
                <a:ext uri="{FF2B5EF4-FFF2-40B4-BE49-F238E27FC236}">
                  <a16:creationId xmlns:a16="http://schemas.microsoft.com/office/drawing/2014/main" id="{CB2EBAB6-247B-D62A-2BE8-D4F5DBAD2278}"/>
                </a:ext>
              </a:extLst>
            </p:cNvPr>
            <p:cNvSpPr>
              <a:spLocks noChangeShapeType="1"/>
            </p:cNvSpPr>
            <p:nvPr/>
          </p:nvSpPr>
          <p:spPr bwMode="auto">
            <a:xfrm flipV="1">
              <a:off x="2784" y="168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1558" name="Group 39">
            <a:extLst>
              <a:ext uri="{FF2B5EF4-FFF2-40B4-BE49-F238E27FC236}">
                <a16:creationId xmlns:a16="http://schemas.microsoft.com/office/drawing/2014/main" id="{4D467784-4172-757A-1480-2964250D42BD}"/>
              </a:ext>
            </a:extLst>
          </p:cNvPr>
          <p:cNvGrpSpPr>
            <a:grpSpLocks/>
          </p:cNvGrpSpPr>
          <p:nvPr/>
        </p:nvGrpSpPr>
        <p:grpSpPr bwMode="auto">
          <a:xfrm>
            <a:off x="1524000" y="1981200"/>
            <a:ext cx="6858000" cy="609600"/>
            <a:chOff x="720" y="720"/>
            <a:chExt cx="4560" cy="672"/>
          </a:xfrm>
        </p:grpSpPr>
        <p:sp>
          <p:nvSpPr>
            <p:cNvPr id="151559" name="Line 40">
              <a:extLst>
                <a:ext uri="{FF2B5EF4-FFF2-40B4-BE49-F238E27FC236}">
                  <a16:creationId xmlns:a16="http://schemas.microsoft.com/office/drawing/2014/main" id="{D77C7AC9-AEA6-85FF-4327-1A06C6EB8542}"/>
                </a:ext>
              </a:extLst>
            </p:cNvPr>
            <p:cNvSpPr>
              <a:spLocks noChangeShapeType="1"/>
            </p:cNvSpPr>
            <p:nvPr/>
          </p:nvSpPr>
          <p:spPr bwMode="auto">
            <a:xfrm>
              <a:off x="720" y="72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60" name="Line 41">
              <a:extLst>
                <a:ext uri="{FF2B5EF4-FFF2-40B4-BE49-F238E27FC236}">
                  <a16:creationId xmlns:a16="http://schemas.microsoft.com/office/drawing/2014/main" id="{C2FCCF82-FBC1-4346-DE5D-528D4A39F199}"/>
                </a:ext>
              </a:extLst>
            </p:cNvPr>
            <p:cNvSpPr>
              <a:spLocks noChangeShapeType="1"/>
            </p:cNvSpPr>
            <p:nvPr/>
          </p:nvSpPr>
          <p:spPr bwMode="auto">
            <a:xfrm>
              <a:off x="1296" y="72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61" name="Line 42">
              <a:extLst>
                <a:ext uri="{FF2B5EF4-FFF2-40B4-BE49-F238E27FC236}">
                  <a16:creationId xmlns:a16="http://schemas.microsoft.com/office/drawing/2014/main" id="{CA84A1F5-0D9A-37EB-12EA-74FD51560E2E}"/>
                </a:ext>
              </a:extLst>
            </p:cNvPr>
            <p:cNvSpPr>
              <a:spLocks noChangeShapeType="1"/>
            </p:cNvSpPr>
            <p:nvPr/>
          </p:nvSpPr>
          <p:spPr bwMode="auto">
            <a:xfrm flipH="1">
              <a:off x="720" y="1008"/>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62" name="Line 43">
              <a:extLst>
                <a:ext uri="{FF2B5EF4-FFF2-40B4-BE49-F238E27FC236}">
                  <a16:creationId xmlns:a16="http://schemas.microsoft.com/office/drawing/2014/main" id="{1A515F0B-F02E-E013-D37F-39A62C8BC79F}"/>
                </a:ext>
              </a:extLst>
            </p:cNvPr>
            <p:cNvSpPr>
              <a:spLocks noChangeShapeType="1"/>
            </p:cNvSpPr>
            <p:nvPr/>
          </p:nvSpPr>
          <p:spPr bwMode="auto">
            <a:xfrm flipV="1">
              <a:off x="720" y="72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63" name="Line 44">
              <a:extLst>
                <a:ext uri="{FF2B5EF4-FFF2-40B4-BE49-F238E27FC236}">
                  <a16:creationId xmlns:a16="http://schemas.microsoft.com/office/drawing/2014/main" id="{D1574FAB-688C-8441-547A-AEC2D0326C4F}"/>
                </a:ext>
              </a:extLst>
            </p:cNvPr>
            <p:cNvSpPr>
              <a:spLocks noChangeShapeType="1"/>
            </p:cNvSpPr>
            <p:nvPr/>
          </p:nvSpPr>
          <p:spPr bwMode="auto">
            <a:xfrm flipV="1">
              <a:off x="1776" y="720"/>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64" name="Line 45">
              <a:extLst>
                <a:ext uri="{FF2B5EF4-FFF2-40B4-BE49-F238E27FC236}">
                  <a16:creationId xmlns:a16="http://schemas.microsoft.com/office/drawing/2014/main" id="{D2BD9DA3-14FC-00A9-55FC-CDDDA00A4177}"/>
                </a:ext>
              </a:extLst>
            </p:cNvPr>
            <p:cNvSpPr>
              <a:spLocks noChangeShapeType="1"/>
            </p:cNvSpPr>
            <p:nvPr/>
          </p:nvSpPr>
          <p:spPr bwMode="auto">
            <a:xfrm>
              <a:off x="2448" y="720"/>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65" name="Line 46">
              <a:extLst>
                <a:ext uri="{FF2B5EF4-FFF2-40B4-BE49-F238E27FC236}">
                  <a16:creationId xmlns:a16="http://schemas.microsoft.com/office/drawing/2014/main" id="{0FF46790-607C-600C-AEAC-0997CD46A8AD}"/>
                </a:ext>
              </a:extLst>
            </p:cNvPr>
            <p:cNvSpPr>
              <a:spLocks noChangeShapeType="1"/>
            </p:cNvSpPr>
            <p:nvPr/>
          </p:nvSpPr>
          <p:spPr bwMode="auto">
            <a:xfrm flipH="1">
              <a:off x="1776" y="1392"/>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66" name="Line 47">
              <a:extLst>
                <a:ext uri="{FF2B5EF4-FFF2-40B4-BE49-F238E27FC236}">
                  <a16:creationId xmlns:a16="http://schemas.microsoft.com/office/drawing/2014/main" id="{1C9EC060-8501-ABC5-9E92-B26E6C7C8B1E}"/>
                </a:ext>
              </a:extLst>
            </p:cNvPr>
            <p:cNvSpPr>
              <a:spLocks noChangeShapeType="1"/>
            </p:cNvSpPr>
            <p:nvPr/>
          </p:nvSpPr>
          <p:spPr bwMode="auto">
            <a:xfrm flipV="1">
              <a:off x="1776" y="720"/>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67" name="Line 48">
              <a:extLst>
                <a:ext uri="{FF2B5EF4-FFF2-40B4-BE49-F238E27FC236}">
                  <a16:creationId xmlns:a16="http://schemas.microsoft.com/office/drawing/2014/main" id="{E3285917-0D08-C701-9E04-15A5C437E838}"/>
                </a:ext>
              </a:extLst>
            </p:cNvPr>
            <p:cNvSpPr>
              <a:spLocks noChangeShapeType="1"/>
            </p:cNvSpPr>
            <p:nvPr/>
          </p:nvSpPr>
          <p:spPr bwMode="auto">
            <a:xfrm>
              <a:off x="1776" y="105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68" name="Line 49">
              <a:extLst>
                <a:ext uri="{FF2B5EF4-FFF2-40B4-BE49-F238E27FC236}">
                  <a16:creationId xmlns:a16="http://schemas.microsoft.com/office/drawing/2014/main" id="{5F58C99C-5504-CB14-B933-40B5C5F1ED05}"/>
                </a:ext>
              </a:extLst>
            </p:cNvPr>
            <p:cNvSpPr>
              <a:spLocks noChangeShapeType="1"/>
            </p:cNvSpPr>
            <p:nvPr/>
          </p:nvSpPr>
          <p:spPr bwMode="auto">
            <a:xfrm>
              <a:off x="3024" y="720"/>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69" name="Line 50">
              <a:extLst>
                <a:ext uri="{FF2B5EF4-FFF2-40B4-BE49-F238E27FC236}">
                  <a16:creationId xmlns:a16="http://schemas.microsoft.com/office/drawing/2014/main" id="{4E6E7789-4B4B-C04B-7539-4FEFAC0B6D58}"/>
                </a:ext>
              </a:extLst>
            </p:cNvPr>
            <p:cNvSpPr>
              <a:spLocks noChangeShapeType="1"/>
            </p:cNvSpPr>
            <p:nvPr/>
          </p:nvSpPr>
          <p:spPr bwMode="auto">
            <a:xfrm>
              <a:off x="3024" y="1392"/>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70" name="Line 51">
              <a:extLst>
                <a:ext uri="{FF2B5EF4-FFF2-40B4-BE49-F238E27FC236}">
                  <a16:creationId xmlns:a16="http://schemas.microsoft.com/office/drawing/2014/main" id="{06BE6370-A927-72EA-C0B6-8CB07CAC0226}"/>
                </a:ext>
              </a:extLst>
            </p:cNvPr>
            <p:cNvSpPr>
              <a:spLocks noChangeShapeType="1"/>
            </p:cNvSpPr>
            <p:nvPr/>
          </p:nvSpPr>
          <p:spPr bwMode="auto">
            <a:xfrm flipV="1">
              <a:off x="3696" y="720"/>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71" name="Line 52">
              <a:extLst>
                <a:ext uri="{FF2B5EF4-FFF2-40B4-BE49-F238E27FC236}">
                  <a16:creationId xmlns:a16="http://schemas.microsoft.com/office/drawing/2014/main" id="{BDBDC105-5906-9BAF-484D-889F8ECA98E6}"/>
                </a:ext>
              </a:extLst>
            </p:cNvPr>
            <p:cNvSpPr>
              <a:spLocks noChangeShapeType="1"/>
            </p:cNvSpPr>
            <p:nvPr/>
          </p:nvSpPr>
          <p:spPr bwMode="auto">
            <a:xfrm flipH="1">
              <a:off x="3024" y="720"/>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72" name="Line 53">
              <a:extLst>
                <a:ext uri="{FF2B5EF4-FFF2-40B4-BE49-F238E27FC236}">
                  <a16:creationId xmlns:a16="http://schemas.microsoft.com/office/drawing/2014/main" id="{88DA2676-0D17-E600-F002-CBEDCAE82202}"/>
                </a:ext>
              </a:extLst>
            </p:cNvPr>
            <p:cNvSpPr>
              <a:spLocks noChangeShapeType="1"/>
            </p:cNvSpPr>
            <p:nvPr/>
          </p:nvSpPr>
          <p:spPr bwMode="auto">
            <a:xfrm>
              <a:off x="3024" y="105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73" name="Line 54">
              <a:extLst>
                <a:ext uri="{FF2B5EF4-FFF2-40B4-BE49-F238E27FC236}">
                  <a16:creationId xmlns:a16="http://schemas.microsoft.com/office/drawing/2014/main" id="{B7EB994D-FF8D-6C62-F653-0F7381A86CAD}"/>
                </a:ext>
              </a:extLst>
            </p:cNvPr>
            <p:cNvSpPr>
              <a:spLocks noChangeShapeType="1"/>
            </p:cNvSpPr>
            <p:nvPr/>
          </p:nvSpPr>
          <p:spPr bwMode="auto">
            <a:xfrm>
              <a:off x="4224" y="720"/>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74" name="Line 55">
              <a:extLst>
                <a:ext uri="{FF2B5EF4-FFF2-40B4-BE49-F238E27FC236}">
                  <a16:creationId xmlns:a16="http://schemas.microsoft.com/office/drawing/2014/main" id="{8C9D825F-756F-AB78-6FF0-C417DCE8ECFE}"/>
                </a:ext>
              </a:extLst>
            </p:cNvPr>
            <p:cNvSpPr>
              <a:spLocks noChangeShapeType="1"/>
            </p:cNvSpPr>
            <p:nvPr/>
          </p:nvSpPr>
          <p:spPr bwMode="auto">
            <a:xfrm>
              <a:off x="4224" y="139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75" name="Line 56">
              <a:extLst>
                <a:ext uri="{FF2B5EF4-FFF2-40B4-BE49-F238E27FC236}">
                  <a16:creationId xmlns:a16="http://schemas.microsoft.com/office/drawing/2014/main" id="{68F68A6D-FBB2-E6D9-F6CB-B47527C87459}"/>
                </a:ext>
              </a:extLst>
            </p:cNvPr>
            <p:cNvSpPr>
              <a:spLocks noChangeShapeType="1"/>
            </p:cNvSpPr>
            <p:nvPr/>
          </p:nvSpPr>
          <p:spPr bwMode="auto">
            <a:xfrm flipV="1">
              <a:off x="4848" y="720"/>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76" name="Line 57">
              <a:extLst>
                <a:ext uri="{FF2B5EF4-FFF2-40B4-BE49-F238E27FC236}">
                  <a16:creationId xmlns:a16="http://schemas.microsoft.com/office/drawing/2014/main" id="{A1191651-22D9-BF46-A309-C9EA4D5CB838}"/>
                </a:ext>
              </a:extLst>
            </p:cNvPr>
            <p:cNvSpPr>
              <a:spLocks noChangeShapeType="1"/>
            </p:cNvSpPr>
            <p:nvPr/>
          </p:nvSpPr>
          <p:spPr bwMode="auto">
            <a:xfrm flipH="1">
              <a:off x="4224" y="720"/>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77" name="Line 58">
              <a:extLst>
                <a:ext uri="{FF2B5EF4-FFF2-40B4-BE49-F238E27FC236}">
                  <a16:creationId xmlns:a16="http://schemas.microsoft.com/office/drawing/2014/main" id="{0D852FF0-188C-57CD-62CA-0A937F2312DF}"/>
                </a:ext>
              </a:extLst>
            </p:cNvPr>
            <p:cNvSpPr>
              <a:spLocks noChangeShapeType="1"/>
            </p:cNvSpPr>
            <p:nvPr/>
          </p:nvSpPr>
          <p:spPr bwMode="auto">
            <a:xfrm>
              <a:off x="4224" y="1056"/>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78" name="Line 59">
              <a:extLst>
                <a:ext uri="{FF2B5EF4-FFF2-40B4-BE49-F238E27FC236}">
                  <a16:creationId xmlns:a16="http://schemas.microsoft.com/office/drawing/2014/main" id="{8755E561-D59D-18ED-760E-2BD3ED89A2DC}"/>
                </a:ext>
              </a:extLst>
            </p:cNvPr>
            <p:cNvSpPr>
              <a:spLocks noChangeShapeType="1"/>
            </p:cNvSpPr>
            <p:nvPr/>
          </p:nvSpPr>
          <p:spPr bwMode="auto">
            <a:xfrm>
              <a:off x="1056" y="864"/>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79" name="Line 60">
              <a:extLst>
                <a:ext uri="{FF2B5EF4-FFF2-40B4-BE49-F238E27FC236}">
                  <a16:creationId xmlns:a16="http://schemas.microsoft.com/office/drawing/2014/main" id="{FC511AA1-E14B-A9D1-4334-8B8DD53AFF6F}"/>
                </a:ext>
              </a:extLst>
            </p:cNvPr>
            <p:cNvSpPr>
              <a:spLocks noChangeShapeType="1"/>
            </p:cNvSpPr>
            <p:nvPr/>
          </p:nvSpPr>
          <p:spPr bwMode="auto">
            <a:xfrm>
              <a:off x="2256" y="1248"/>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80" name="Line 61">
              <a:extLst>
                <a:ext uri="{FF2B5EF4-FFF2-40B4-BE49-F238E27FC236}">
                  <a16:creationId xmlns:a16="http://schemas.microsoft.com/office/drawing/2014/main" id="{65E8FBB0-493F-6D4D-B6CD-6E3DF626D5BD}"/>
                </a:ext>
              </a:extLst>
            </p:cNvPr>
            <p:cNvSpPr>
              <a:spLocks noChangeShapeType="1"/>
            </p:cNvSpPr>
            <p:nvPr/>
          </p:nvSpPr>
          <p:spPr bwMode="auto">
            <a:xfrm flipV="1">
              <a:off x="2688" y="720"/>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81" name="Line 62">
              <a:extLst>
                <a:ext uri="{FF2B5EF4-FFF2-40B4-BE49-F238E27FC236}">
                  <a16:creationId xmlns:a16="http://schemas.microsoft.com/office/drawing/2014/main" id="{BEC297BB-9BFB-B91F-F889-34E4DCF6F1D3}"/>
                </a:ext>
              </a:extLst>
            </p:cNvPr>
            <p:cNvSpPr>
              <a:spLocks noChangeShapeType="1"/>
            </p:cNvSpPr>
            <p:nvPr/>
          </p:nvSpPr>
          <p:spPr bwMode="auto">
            <a:xfrm>
              <a:off x="2688" y="720"/>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82" name="Line 63">
              <a:extLst>
                <a:ext uri="{FF2B5EF4-FFF2-40B4-BE49-F238E27FC236}">
                  <a16:creationId xmlns:a16="http://schemas.microsoft.com/office/drawing/2014/main" id="{97FC6AA0-2386-05BB-066D-F98C74FB25E9}"/>
                </a:ext>
              </a:extLst>
            </p:cNvPr>
            <p:cNvSpPr>
              <a:spLocks noChangeShapeType="1"/>
            </p:cNvSpPr>
            <p:nvPr/>
          </p:nvSpPr>
          <p:spPr bwMode="auto">
            <a:xfrm>
              <a:off x="3456" y="1248"/>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83" name="Line 64">
              <a:extLst>
                <a:ext uri="{FF2B5EF4-FFF2-40B4-BE49-F238E27FC236}">
                  <a16:creationId xmlns:a16="http://schemas.microsoft.com/office/drawing/2014/main" id="{3936C907-1916-B3AB-BE0E-B59825A70650}"/>
                </a:ext>
              </a:extLst>
            </p:cNvPr>
            <p:cNvSpPr>
              <a:spLocks noChangeShapeType="1"/>
            </p:cNvSpPr>
            <p:nvPr/>
          </p:nvSpPr>
          <p:spPr bwMode="auto">
            <a:xfrm flipV="1">
              <a:off x="3984" y="720"/>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84" name="Line 65">
              <a:extLst>
                <a:ext uri="{FF2B5EF4-FFF2-40B4-BE49-F238E27FC236}">
                  <a16:creationId xmlns:a16="http://schemas.microsoft.com/office/drawing/2014/main" id="{BF5461A9-13C9-6739-213C-BA146BEE9063}"/>
                </a:ext>
              </a:extLst>
            </p:cNvPr>
            <p:cNvSpPr>
              <a:spLocks noChangeShapeType="1"/>
            </p:cNvSpPr>
            <p:nvPr/>
          </p:nvSpPr>
          <p:spPr bwMode="auto">
            <a:xfrm>
              <a:off x="3984" y="720"/>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85" name="Line 66">
              <a:extLst>
                <a:ext uri="{FF2B5EF4-FFF2-40B4-BE49-F238E27FC236}">
                  <a16:creationId xmlns:a16="http://schemas.microsoft.com/office/drawing/2014/main" id="{CDC55873-50E6-05CB-EF81-03A15E1FE32D}"/>
                </a:ext>
              </a:extLst>
            </p:cNvPr>
            <p:cNvSpPr>
              <a:spLocks noChangeShapeType="1"/>
            </p:cNvSpPr>
            <p:nvPr/>
          </p:nvSpPr>
          <p:spPr bwMode="auto">
            <a:xfrm>
              <a:off x="4608" y="1248"/>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86" name="Line 67">
              <a:extLst>
                <a:ext uri="{FF2B5EF4-FFF2-40B4-BE49-F238E27FC236}">
                  <a16:creationId xmlns:a16="http://schemas.microsoft.com/office/drawing/2014/main" id="{A8D845A0-454E-0EF1-2BE1-E7B8F77B1E6A}"/>
                </a:ext>
              </a:extLst>
            </p:cNvPr>
            <p:cNvSpPr>
              <a:spLocks noChangeShapeType="1"/>
            </p:cNvSpPr>
            <p:nvPr/>
          </p:nvSpPr>
          <p:spPr bwMode="auto">
            <a:xfrm flipV="1">
              <a:off x="5088" y="720"/>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87" name="Line 68">
              <a:extLst>
                <a:ext uri="{FF2B5EF4-FFF2-40B4-BE49-F238E27FC236}">
                  <a16:creationId xmlns:a16="http://schemas.microsoft.com/office/drawing/2014/main" id="{5CD490AE-6125-A8C3-6D88-CAF90BE9E7C2}"/>
                </a:ext>
              </a:extLst>
            </p:cNvPr>
            <p:cNvSpPr>
              <a:spLocks noChangeShapeType="1"/>
            </p:cNvSpPr>
            <p:nvPr/>
          </p:nvSpPr>
          <p:spPr bwMode="auto">
            <a:xfrm>
              <a:off x="5088" y="720"/>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866BD8B7-87DF-8538-F002-6E3956C1B71D}"/>
              </a:ext>
            </a:extLst>
          </p:cNvPr>
          <p:cNvSpPr>
            <a:spLocks noGrp="1" noChangeArrowheads="1"/>
          </p:cNvSpPr>
          <p:nvPr>
            <p:ph type="title"/>
          </p:nvPr>
        </p:nvSpPr>
        <p:spPr/>
        <p:txBody>
          <a:bodyPr/>
          <a:lstStyle/>
          <a:p>
            <a:pPr eaLnBrk="1" hangingPunct="1"/>
            <a:r>
              <a:rPr lang="zh-CN" altLang="en-US" sz="4000"/>
              <a:t>动画：从链表删除指定表元的后继表元</a:t>
            </a:r>
          </a:p>
        </p:txBody>
      </p:sp>
      <p:sp>
        <p:nvSpPr>
          <p:cNvPr id="805891" name="Text Box 3">
            <a:extLst>
              <a:ext uri="{FF2B5EF4-FFF2-40B4-BE49-F238E27FC236}">
                <a16:creationId xmlns:a16="http://schemas.microsoft.com/office/drawing/2014/main" id="{10B42F5A-5302-0AC4-F841-F83D9AB91629}"/>
              </a:ext>
            </a:extLst>
          </p:cNvPr>
          <p:cNvSpPr txBox="1">
            <a:spLocks noChangeArrowheads="1"/>
          </p:cNvSpPr>
          <p:nvPr/>
        </p:nvSpPr>
        <p:spPr bwMode="auto">
          <a:xfrm>
            <a:off x="900113" y="2420938"/>
            <a:ext cx="503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w</a:t>
            </a:r>
          </a:p>
        </p:txBody>
      </p:sp>
      <p:sp>
        <p:nvSpPr>
          <p:cNvPr id="805892" name="Text Box 4">
            <a:extLst>
              <a:ext uri="{FF2B5EF4-FFF2-40B4-BE49-F238E27FC236}">
                <a16:creationId xmlns:a16="http://schemas.microsoft.com/office/drawing/2014/main" id="{556850CA-5E9C-BD89-C568-584B9550B9BC}"/>
              </a:ext>
            </a:extLst>
          </p:cNvPr>
          <p:cNvSpPr txBox="1">
            <a:spLocks noChangeArrowheads="1"/>
          </p:cNvSpPr>
          <p:nvPr/>
        </p:nvSpPr>
        <p:spPr bwMode="auto">
          <a:xfrm>
            <a:off x="1476375" y="4868863"/>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p</a:t>
            </a:r>
          </a:p>
        </p:txBody>
      </p:sp>
      <p:sp>
        <p:nvSpPr>
          <p:cNvPr id="805893" name="Text Box 5">
            <a:extLst>
              <a:ext uri="{FF2B5EF4-FFF2-40B4-BE49-F238E27FC236}">
                <a16:creationId xmlns:a16="http://schemas.microsoft.com/office/drawing/2014/main" id="{6A82086D-773A-325C-D9B5-DE5A0EF085C2}"/>
              </a:ext>
            </a:extLst>
          </p:cNvPr>
          <p:cNvSpPr txBox="1">
            <a:spLocks noChangeArrowheads="1"/>
          </p:cNvSpPr>
          <p:nvPr/>
        </p:nvSpPr>
        <p:spPr bwMode="auto">
          <a:xfrm>
            <a:off x="5832475" y="4868863"/>
            <a:ext cx="3311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p = w-&gt;next;</a:t>
            </a:r>
          </a:p>
        </p:txBody>
      </p:sp>
      <p:sp>
        <p:nvSpPr>
          <p:cNvPr id="805894" name="Text Box 6">
            <a:extLst>
              <a:ext uri="{FF2B5EF4-FFF2-40B4-BE49-F238E27FC236}">
                <a16:creationId xmlns:a16="http://schemas.microsoft.com/office/drawing/2014/main" id="{E5FE9AF7-8C58-85EB-D051-266878BD80BE}"/>
              </a:ext>
            </a:extLst>
          </p:cNvPr>
          <p:cNvSpPr txBox="1">
            <a:spLocks noChangeArrowheads="1"/>
          </p:cNvSpPr>
          <p:nvPr/>
        </p:nvSpPr>
        <p:spPr bwMode="auto">
          <a:xfrm>
            <a:off x="5832475" y="5445125"/>
            <a:ext cx="3311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w-&gt;next = p-&gt;next;</a:t>
            </a:r>
          </a:p>
        </p:txBody>
      </p:sp>
      <p:sp>
        <p:nvSpPr>
          <p:cNvPr id="805895" name="Rectangle 7">
            <a:extLst>
              <a:ext uri="{FF2B5EF4-FFF2-40B4-BE49-F238E27FC236}">
                <a16:creationId xmlns:a16="http://schemas.microsoft.com/office/drawing/2014/main" id="{FE34FCF1-9DF8-A06F-B6FC-226C48B7F72D}"/>
              </a:ext>
            </a:extLst>
          </p:cNvPr>
          <p:cNvSpPr>
            <a:spLocks noChangeArrowheads="1"/>
          </p:cNvSpPr>
          <p:nvPr/>
        </p:nvSpPr>
        <p:spPr bwMode="auto">
          <a:xfrm>
            <a:off x="1403350" y="2492375"/>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805896" name="Rectangle 8">
            <a:extLst>
              <a:ext uri="{FF2B5EF4-FFF2-40B4-BE49-F238E27FC236}">
                <a16:creationId xmlns:a16="http://schemas.microsoft.com/office/drawing/2014/main" id="{2D58E11C-5DA0-A4EE-568E-267808A77A06}"/>
              </a:ext>
            </a:extLst>
          </p:cNvPr>
          <p:cNvSpPr>
            <a:spLocks noChangeArrowheads="1"/>
          </p:cNvSpPr>
          <p:nvPr/>
        </p:nvSpPr>
        <p:spPr bwMode="auto">
          <a:xfrm>
            <a:off x="3203575" y="2492375"/>
            <a:ext cx="1296988" cy="7191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Tx/>
              <a:buNone/>
            </a:pPr>
            <a:r>
              <a:rPr kumimoji="1" lang="en-US" altLang="zh-CN" sz="2400" b="0" i="0">
                <a:latin typeface="Arial Narrow" panose="020B0604020202020204" pitchFamily="34" charset="0"/>
                <a:ea typeface="宋体" panose="02010600030101010101" pitchFamily="2" charset="-122"/>
              </a:rPr>
              <a:t>4</a:t>
            </a:r>
          </a:p>
        </p:txBody>
      </p:sp>
      <p:sp>
        <p:nvSpPr>
          <p:cNvPr id="805897" name="Rectangle 9">
            <a:extLst>
              <a:ext uri="{FF2B5EF4-FFF2-40B4-BE49-F238E27FC236}">
                <a16:creationId xmlns:a16="http://schemas.microsoft.com/office/drawing/2014/main" id="{B4A49596-4619-1F06-2EF5-C3BB1F31B0D1}"/>
              </a:ext>
            </a:extLst>
          </p:cNvPr>
          <p:cNvSpPr>
            <a:spLocks noChangeArrowheads="1"/>
          </p:cNvSpPr>
          <p:nvPr/>
        </p:nvSpPr>
        <p:spPr bwMode="auto">
          <a:xfrm>
            <a:off x="3203575" y="3213100"/>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805898" name="Rectangle 10">
            <a:extLst>
              <a:ext uri="{FF2B5EF4-FFF2-40B4-BE49-F238E27FC236}">
                <a16:creationId xmlns:a16="http://schemas.microsoft.com/office/drawing/2014/main" id="{E302FB8C-6E5B-D5D2-FD14-292322947218}"/>
              </a:ext>
            </a:extLst>
          </p:cNvPr>
          <p:cNvSpPr>
            <a:spLocks noChangeArrowheads="1"/>
          </p:cNvSpPr>
          <p:nvPr/>
        </p:nvSpPr>
        <p:spPr bwMode="auto">
          <a:xfrm>
            <a:off x="5148263" y="2492375"/>
            <a:ext cx="1296987" cy="71913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805899" name="Rectangle 11">
            <a:extLst>
              <a:ext uri="{FF2B5EF4-FFF2-40B4-BE49-F238E27FC236}">
                <a16:creationId xmlns:a16="http://schemas.microsoft.com/office/drawing/2014/main" id="{CF185A69-5D52-A064-2233-08D6E13CC756}"/>
              </a:ext>
            </a:extLst>
          </p:cNvPr>
          <p:cNvSpPr>
            <a:spLocks noChangeArrowheads="1"/>
          </p:cNvSpPr>
          <p:nvPr/>
        </p:nvSpPr>
        <p:spPr bwMode="auto">
          <a:xfrm>
            <a:off x="5148263" y="3213100"/>
            <a:ext cx="1295400" cy="50323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805900" name="AutoShape 12">
            <a:extLst>
              <a:ext uri="{FF2B5EF4-FFF2-40B4-BE49-F238E27FC236}">
                <a16:creationId xmlns:a16="http://schemas.microsoft.com/office/drawing/2014/main" id="{837137DE-0DB8-8D61-F01F-2A3D7D8C01E6}"/>
              </a:ext>
            </a:extLst>
          </p:cNvPr>
          <p:cNvCxnSpPr>
            <a:cxnSpLocks noChangeShapeType="1"/>
            <a:stCxn id="805897" idx="3"/>
            <a:endCxn id="805901" idx="1"/>
          </p:cNvCxnSpPr>
          <p:nvPr/>
        </p:nvCxnSpPr>
        <p:spPr bwMode="auto">
          <a:xfrm flipV="1">
            <a:off x="4513263" y="2852738"/>
            <a:ext cx="2492375" cy="612775"/>
          </a:xfrm>
          <a:prstGeom prst="curvedConnector3">
            <a:avLst>
              <a:gd name="adj1" fmla="val 50000"/>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5901" name="Rectangle 13">
            <a:extLst>
              <a:ext uri="{FF2B5EF4-FFF2-40B4-BE49-F238E27FC236}">
                <a16:creationId xmlns:a16="http://schemas.microsoft.com/office/drawing/2014/main" id="{69381BE2-E933-B4DB-52B7-516D61A25C5C}"/>
              </a:ext>
            </a:extLst>
          </p:cNvPr>
          <p:cNvSpPr>
            <a:spLocks noChangeArrowheads="1"/>
          </p:cNvSpPr>
          <p:nvPr/>
        </p:nvSpPr>
        <p:spPr bwMode="auto">
          <a:xfrm>
            <a:off x="7019925" y="2492375"/>
            <a:ext cx="1296988" cy="7191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805902" name="Rectangle 14">
            <a:extLst>
              <a:ext uri="{FF2B5EF4-FFF2-40B4-BE49-F238E27FC236}">
                <a16:creationId xmlns:a16="http://schemas.microsoft.com/office/drawing/2014/main" id="{93C1EB81-636A-8B0E-CE99-B8B620D6869E}"/>
              </a:ext>
            </a:extLst>
          </p:cNvPr>
          <p:cNvSpPr>
            <a:spLocks noChangeArrowheads="1"/>
          </p:cNvSpPr>
          <p:nvPr/>
        </p:nvSpPr>
        <p:spPr bwMode="auto">
          <a:xfrm>
            <a:off x="7019925" y="3213100"/>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805903" name="AutoShape 15">
            <a:extLst>
              <a:ext uri="{FF2B5EF4-FFF2-40B4-BE49-F238E27FC236}">
                <a16:creationId xmlns:a16="http://schemas.microsoft.com/office/drawing/2014/main" id="{DE0F9108-AB93-6D43-5554-91CF82B0D91E}"/>
              </a:ext>
            </a:extLst>
          </p:cNvPr>
          <p:cNvCxnSpPr>
            <a:cxnSpLocks noChangeShapeType="1"/>
            <a:stCxn id="805902" idx="3"/>
          </p:cNvCxnSpPr>
          <p:nvPr/>
        </p:nvCxnSpPr>
        <p:spPr bwMode="auto">
          <a:xfrm flipV="1">
            <a:off x="8329613" y="2708275"/>
            <a:ext cx="792162" cy="757238"/>
          </a:xfrm>
          <a:prstGeom prst="curvedConnector3">
            <a:avLst>
              <a:gd name="adj1" fmla="val 49898"/>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5904" name="Text Box 16">
            <a:extLst>
              <a:ext uri="{FF2B5EF4-FFF2-40B4-BE49-F238E27FC236}">
                <a16:creationId xmlns:a16="http://schemas.microsoft.com/office/drawing/2014/main" id="{61F7DC2E-320D-CDEC-8F1C-044B708329A2}"/>
              </a:ext>
            </a:extLst>
          </p:cNvPr>
          <p:cNvSpPr txBox="1">
            <a:spLocks noChangeArrowheads="1"/>
          </p:cNvSpPr>
          <p:nvPr/>
        </p:nvSpPr>
        <p:spPr bwMode="auto">
          <a:xfrm>
            <a:off x="4859338" y="3860800"/>
            <a:ext cx="1873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zh-CN" altLang="en-US" sz="1800" b="0" i="0">
                <a:latin typeface="Arial Narrow" panose="020B0604020202020204" pitchFamily="34" charset="0"/>
                <a:ea typeface="华文中宋" panose="02010600040101010101" pitchFamily="2" charset="-122"/>
              </a:rPr>
              <a:t>要删除的节点</a:t>
            </a:r>
          </a:p>
        </p:txBody>
      </p:sp>
      <p:cxnSp>
        <p:nvCxnSpPr>
          <p:cNvPr id="805905" name="AutoShape 17">
            <a:extLst>
              <a:ext uri="{FF2B5EF4-FFF2-40B4-BE49-F238E27FC236}">
                <a16:creationId xmlns:a16="http://schemas.microsoft.com/office/drawing/2014/main" id="{96FB3509-D152-5304-56A3-51F806A1E21C}"/>
              </a:ext>
            </a:extLst>
          </p:cNvPr>
          <p:cNvCxnSpPr>
            <a:cxnSpLocks noChangeShapeType="1"/>
            <a:stCxn id="805899" idx="3"/>
            <a:endCxn id="805901" idx="1"/>
          </p:cNvCxnSpPr>
          <p:nvPr/>
        </p:nvCxnSpPr>
        <p:spPr bwMode="auto">
          <a:xfrm flipV="1">
            <a:off x="6457950" y="2852738"/>
            <a:ext cx="547688" cy="612775"/>
          </a:xfrm>
          <a:prstGeom prst="curvedConnector3">
            <a:avLst>
              <a:gd name="adj1" fmla="val 49856"/>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5906" name="AutoShape 18">
            <a:extLst>
              <a:ext uri="{FF2B5EF4-FFF2-40B4-BE49-F238E27FC236}">
                <a16:creationId xmlns:a16="http://schemas.microsoft.com/office/drawing/2014/main" id="{9C40D8E9-4363-D7E1-B465-F98D1167F85C}"/>
              </a:ext>
            </a:extLst>
          </p:cNvPr>
          <p:cNvCxnSpPr>
            <a:cxnSpLocks noChangeShapeType="1"/>
            <a:stCxn id="805897" idx="3"/>
            <a:endCxn id="805898" idx="1"/>
          </p:cNvCxnSpPr>
          <p:nvPr/>
        </p:nvCxnSpPr>
        <p:spPr bwMode="auto">
          <a:xfrm flipV="1">
            <a:off x="4513263" y="2852738"/>
            <a:ext cx="620712" cy="612775"/>
          </a:xfrm>
          <a:prstGeom prst="curvedConnector3">
            <a:avLst>
              <a:gd name="adj1" fmla="val 49870"/>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5907" name="Rectangle 19">
            <a:extLst>
              <a:ext uri="{FF2B5EF4-FFF2-40B4-BE49-F238E27FC236}">
                <a16:creationId xmlns:a16="http://schemas.microsoft.com/office/drawing/2014/main" id="{34956C6C-7396-7F60-9842-7A78BB533C71}"/>
              </a:ext>
            </a:extLst>
          </p:cNvPr>
          <p:cNvSpPr>
            <a:spLocks noChangeArrowheads="1"/>
          </p:cNvSpPr>
          <p:nvPr/>
        </p:nvSpPr>
        <p:spPr bwMode="auto">
          <a:xfrm>
            <a:off x="2051050" y="4894263"/>
            <a:ext cx="1295400" cy="503237"/>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805908" name="Text Box 20">
            <a:extLst>
              <a:ext uri="{FF2B5EF4-FFF2-40B4-BE49-F238E27FC236}">
                <a16:creationId xmlns:a16="http://schemas.microsoft.com/office/drawing/2014/main" id="{E7311362-7CC0-6ACF-2DF4-1809F795022A}"/>
              </a:ext>
            </a:extLst>
          </p:cNvPr>
          <p:cNvSpPr txBox="1">
            <a:spLocks noChangeArrowheads="1"/>
          </p:cNvSpPr>
          <p:nvPr/>
        </p:nvSpPr>
        <p:spPr bwMode="auto">
          <a:xfrm>
            <a:off x="5581650" y="2636838"/>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5</a:t>
            </a:r>
          </a:p>
        </p:txBody>
      </p:sp>
      <p:sp>
        <p:nvSpPr>
          <p:cNvPr id="805909" name="Text Box 21">
            <a:extLst>
              <a:ext uri="{FF2B5EF4-FFF2-40B4-BE49-F238E27FC236}">
                <a16:creationId xmlns:a16="http://schemas.microsoft.com/office/drawing/2014/main" id="{43D32226-2A94-7D00-8E33-7348A53C75F6}"/>
              </a:ext>
            </a:extLst>
          </p:cNvPr>
          <p:cNvSpPr txBox="1">
            <a:spLocks noChangeArrowheads="1"/>
          </p:cNvSpPr>
          <p:nvPr/>
        </p:nvSpPr>
        <p:spPr bwMode="auto">
          <a:xfrm>
            <a:off x="7451725" y="2611438"/>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6</a:t>
            </a:r>
          </a:p>
        </p:txBody>
      </p:sp>
      <p:cxnSp>
        <p:nvCxnSpPr>
          <p:cNvPr id="805910" name="AutoShape 22">
            <a:extLst>
              <a:ext uri="{FF2B5EF4-FFF2-40B4-BE49-F238E27FC236}">
                <a16:creationId xmlns:a16="http://schemas.microsoft.com/office/drawing/2014/main" id="{3BCF914C-402A-B97C-95A5-F95E5AB3760C}"/>
              </a:ext>
            </a:extLst>
          </p:cNvPr>
          <p:cNvCxnSpPr>
            <a:cxnSpLocks noChangeShapeType="1"/>
            <a:stCxn id="805895" idx="3"/>
            <a:endCxn id="805896" idx="1"/>
          </p:cNvCxnSpPr>
          <p:nvPr/>
        </p:nvCxnSpPr>
        <p:spPr bwMode="auto">
          <a:xfrm>
            <a:off x="2713038" y="2744788"/>
            <a:ext cx="476250" cy="107950"/>
          </a:xfrm>
          <a:prstGeom prst="curvedConnector3">
            <a:avLst>
              <a:gd name="adj1" fmla="val 50000"/>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5911" name="AutoShape 23">
            <a:extLst>
              <a:ext uri="{FF2B5EF4-FFF2-40B4-BE49-F238E27FC236}">
                <a16:creationId xmlns:a16="http://schemas.microsoft.com/office/drawing/2014/main" id="{C5788BAD-132B-24FE-11F5-5079AF69D115}"/>
              </a:ext>
            </a:extLst>
          </p:cNvPr>
          <p:cNvCxnSpPr>
            <a:cxnSpLocks noChangeShapeType="1"/>
            <a:stCxn id="805907" idx="3"/>
            <a:endCxn id="805898" idx="1"/>
          </p:cNvCxnSpPr>
          <p:nvPr/>
        </p:nvCxnSpPr>
        <p:spPr bwMode="auto">
          <a:xfrm flipV="1">
            <a:off x="3360738" y="2852738"/>
            <a:ext cx="1773237" cy="2293937"/>
          </a:xfrm>
          <a:prstGeom prst="curvedConnector3">
            <a:avLst>
              <a:gd name="adj1" fmla="val 87019"/>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5912" name="Text Box 24">
            <a:extLst>
              <a:ext uri="{FF2B5EF4-FFF2-40B4-BE49-F238E27FC236}">
                <a16:creationId xmlns:a16="http://schemas.microsoft.com/office/drawing/2014/main" id="{935AA50E-A3A3-E5DA-0A28-7B3C2D0861BE}"/>
              </a:ext>
            </a:extLst>
          </p:cNvPr>
          <p:cNvSpPr txBox="1">
            <a:spLocks noChangeArrowheads="1"/>
          </p:cNvSpPr>
          <p:nvPr/>
        </p:nvSpPr>
        <p:spPr bwMode="auto">
          <a:xfrm>
            <a:off x="5832475" y="6021388"/>
            <a:ext cx="2771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p-&gt;next = NULL;</a:t>
            </a:r>
          </a:p>
        </p:txBody>
      </p:sp>
      <p:sp>
        <p:nvSpPr>
          <p:cNvPr id="805913" name="Text Box 25">
            <a:extLst>
              <a:ext uri="{FF2B5EF4-FFF2-40B4-BE49-F238E27FC236}">
                <a16:creationId xmlns:a16="http://schemas.microsoft.com/office/drawing/2014/main" id="{35039557-101B-E8DF-B87F-EA112045907A}"/>
              </a:ext>
            </a:extLst>
          </p:cNvPr>
          <p:cNvSpPr txBox="1">
            <a:spLocks noChangeArrowheads="1"/>
          </p:cNvSpPr>
          <p:nvPr/>
        </p:nvSpPr>
        <p:spPr bwMode="auto">
          <a:xfrm>
            <a:off x="5291138" y="3284538"/>
            <a:ext cx="1009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en-US" altLang="zh-CN" sz="1800" b="0" i="0">
                <a:latin typeface="Arial Narrow" panose="020B0604020202020204" pitchFamily="34" charset="0"/>
                <a:ea typeface="华文中宋" panose="02010600040101010101" pitchFamily="2" charset="-122"/>
              </a:rPr>
              <a:t>NULL</a:t>
            </a:r>
          </a:p>
        </p:txBody>
      </p:sp>
      <p:grpSp>
        <p:nvGrpSpPr>
          <p:cNvPr id="805914" name="Group 26">
            <a:extLst>
              <a:ext uri="{FF2B5EF4-FFF2-40B4-BE49-F238E27FC236}">
                <a16:creationId xmlns:a16="http://schemas.microsoft.com/office/drawing/2014/main" id="{308E21F2-DE55-3B7D-59AE-1E98332A6659}"/>
              </a:ext>
            </a:extLst>
          </p:cNvPr>
          <p:cNvGrpSpPr>
            <a:grpSpLocks/>
          </p:cNvGrpSpPr>
          <p:nvPr/>
        </p:nvGrpSpPr>
        <p:grpSpPr bwMode="auto">
          <a:xfrm>
            <a:off x="900113" y="2420938"/>
            <a:ext cx="8221662" cy="4111625"/>
            <a:chOff x="567" y="1525"/>
            <a:chExt cx="5179" cy="2590"/>
          </a:xfrm>
        </p:grpSpPr>
        <p:sp>
          <p:nvSpPr>
            <p:cNvPr id="152603" name="Text Box 27">
              <a:extLst>
                <a:ext uri="{FF2B5EF4-FFF2-40B4-BE49-F238E27FC236}">
                  <a16:creationId xmlns:a16="http://schemas.microsoft.com/office/drawing/2014/main" id="{A0725BC4-B606-1D1B-9B1D-5E4C2F2B0FB7}"/>
                </a:ext>
              </a:extLst>
            </p:cNvPr>
            <p:cNvSpPr txBox="1">
              <a:spLocks noChangeArrowheads="1"/>
            </p:cNvSpPr>
            <p:nvPr/>
          </p:nvSpPr>
          <p:spPr bwMode="auto">
            <a:xfrm>
              <a:off x="567" y="1525"/>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w</a:t>
              </a:r>
            </a:p>
          </p:txBody>
        </p:sp>
        <p:sp>
          <p:nvSpPr>
            <p:cNvPr id="152604" name="Text Box 28">
              <a:extLst>
                <a:ext uri="{FF2B5EF4-FFF2-40B4-BE49-F238E27FC236}">
                  <a16:creationId xmlns:a16="http://schemas.microsoft.com/office/drawing/2014/main" id="{D517073C-14A7-75BE-ED28-999F4CAB3668}"/>
                </a:ext>
              </a:extLst>
            </p:cNvPr>
            <p:cNvSpPr txBox="1">
              <a:spLocks noChangeArrowheads="1"/>
            </p:cNvSpPr>
            <p:nvPr/>
          </p:nvSpPr>
          <p:spPr bwMode="auto">
            <a:xfrm>
              <a:off x="930" y="3067"/>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p</a:t>
              </a:r>
            </a:p>
          </p:txBody>
        </p:sp>
        <p:sp>
          <p:nvSpPr>
            <p:cNvPr id="152605" name="Rectangle 29">
              <a:extLst>
                <a:ext uri="{FF2B5EF4-FFF2-40B4-BE49-F238E27FC236}">
                  <a16:creationId xmlns:a16="http://schemas.microsoft.com/office/drawing/2014/main" id="{2E6630B9-D4BE-3B09-5833-9D8DEB44C944}"/>
                </a:ext>
              </a:extLst>
            </p:cNvPr>
            <p:cNvSpPr>
              <a:spLocks noChangeArrowheads="1"/>
            </p:cNvSpPr>
            <p:nvPr/>
          </p:nvSpPr>
          <p:spPr bwMode="auto">
            <a:xfrm>
              <a:off x="884" y="1570"/>
              <a:ext cx="816" cy="317"/>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52606" name="Rectangle 30">
              <a:extLst>
                <a:ext uri="{FF2B5EF4-FFF2-40B4-BE49-F238E27FC236}">
                  <a16:creationId xmlns:a16="http://schemas.microsoft.com/office/drawing/2014/main" id="{E8DC169B-7E4E-D24A-05AB-AF3576FB6AE0}"/>
                </a:ext>
              </a:extLst>
            </p:cNvPr>
            <p:cNvSpPr>
              <a:spLocks noChangeArrowheads="1"/>
            </p:cNvSpPr>
            <p:nvPr/>
          </p:nvSpPr>
          <p:spPr bwMode="auto">
            <a:xfrm>
              <a:off x="2018" y="1570"/>
              <a:ext cx="817" cy="453"/>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Tx/>
                <a:buNone/>
              </a:pPr>
              <a:r>
                <a:rPr kumimoji="1" lang="en-US" altLang="zh-CN" sz="2400" b="0" i="0">
                  <a:solidFill>
                    <a:schemeClr val="bg1"/>
                  </a:solidFill>
                  <a:latin typeface="Arial Narrow" panose="020B0604020202020204" pitchFamily="34" charset="0"/>
                  <a:ea typeface="宋体" panose="02010600030101010101" pitchFamily="2" charset="-122"/>
                </a:rPr>
                <a:t>4</a:t>
              </a:r>
            </a:p>
          </p:txBody>
        </p:sp>
        <p:sp>
          <p:nvSpPr>
            <p:cNvPr id="152607" name="Rectangle 31">
              <a:extLst>
                <a:ext uri="{FF2B5EF4-FFF2-40B4-BE49-F238E27FC236}">
                  <a16:creationId xmlns:a16="http://schemas.microsoft.com/office/drawing/2014/main" id="{D62DA522-BFAA-4E8D-5BB8-6CEF94D4857F}"/>
                </a:ext>
              </a:extLst>
            </p:cNvPr>
            <p:cNvSpPr>
              <a:spLocks noChangeArrowheads="1"/>
            </p:cNvSpPr>
            <p:nvPr/>
          </p:nvSpPr>
          <p:spPr bwMode="auto">
            <a:xfrm>
              <a:off x="2018" y="2024"/>
              <a:ext cx="816" cy="317"/>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52608" name="Rectangle 32">
              <a:extLst>
                <a:ext uri="{FF2B5EF4-FFF2-40B4-BE49-F238E27FC236}">
                  <a16:creationId xmlns:a16="http://schemas.microsoft.com/office/drawing/2014/main" id="{54014716-6FF8-04AB-E2CE-6AEAB830DEED}"/>
                </a:ext>
              </a:extLst>
            </p:cNvPr>
            <p:cNvSpPr>
              <a:spLocks noChangeArrowheads="1"/>
            </p:cNvSpPr>
            <p:nvPr/>
          </p:nvSpPr>
          <p:spPr bwMode="auto">
            <a:xfrm>
              <a:off x="2563" y="3022"/>
              <a:ext cx="817" cy="453"/>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52609" name="Rectangle 33">
              <a:extLst>
                <a:ext uri="{FF2B5EF4-FFF2-40B4-BE49-F238E27FC236}">
                  <a16:creationId xmlns:a16="http://schemas.microsoft.com/office/drawing/2014/main" id="{65B1D794-9A39-6A44-42E3-FEEC4BD6C54E}"/>
                </a:ext>
              </a:extLst>
            </p:cNvPr>
            <p:cNvSpPr>
              <a:spLocks noChangeArrowheads="1"/>
            </p:cNvSpPr>
            <p:nvPr/>
          </p:nvSpPr>
          <p:spPr bwMode="auto">
            <a:xfrm>
              <a:off x="2563" y="3476"/>
              <a:ext cx="816" cy="317"/>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152610" name="AutoShape 34">
              <a:extLst>
                <a:ext uri="{FF2B5EF4-FFF2-40B4-BE49-F238E27FC236}">
                  <a16:creationId xmlns:a16="http://schemas.microsoft.com/office/drawing/2014/main" id="{3DE6C59A-FDF8-73CF-107C-0BC6A8AE1D9C}"/>
                </a:ext>
              </a:extLst>
            </p:cNvPr>
            <p:cNvCxnSpPr>
              <a:cxnSpLocks noChangeShapeType="1"/>
              <a:stCxn id="152607" idx="3"/>
              <a:endCxn id="152611" idx="1"/>
            </p:cNvCxnSpPr>
            <p:nvPr/>
          </p:nvCxnSpPr>
          <p:spPr bwMode="auto">
            <a:xfrm flipV="1">
              <a:off x="2843" y="1797"/>
              <a:ext cx="1570" cy="386"/>
            </a:xfrm>
            <a:prstGeom prst="curvedConnector3">
              <a:avLst>
                <a:gd name="adj1" fmla="val 50000"/>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611" name="Rectangle 35">
              <a:extLst>
                <a:ext uri="{FF2B5EF4-FFF2-40B4-BE49-F238E27FC236}">
                  <a16:creationId xmlns:a16="http://schemas.microsoft.com/office/drawing/2014/main" id="{44B070BE-37DA-D79F-2917-269394A88BDE}"/>
                </a:ext>
              </a:extLst>
            </p:cNvPr>
            <p:cNvSpPr>
              <a:spLocks noChangeArrowheads="1"/>
            </p:cNvSpPr>
            <p:nvPr/>
          </p:nvSpPr>
          <p:spPr bwMode="auto">
            <a:xfrm>
              <a:off x="4422" y="1570"/>
              <a:ext cx="817" cy="453"/>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52612" name="Rectangle 36">
              <a:extLst>
                <a:ext uri="{FF2B5EF4-FFF2-40B4-BE49-F238E27FC236}">
                  <a16:creationId xmlns:a16="http://schemas.microsoft.com/office/drawing/2014/main" id="{32A2216C-4D4E-79ED-8A6C-21802E226791}"/>
                </a:ext>
              </a:extLst>
            </p:cNvPr>
            <p:cNvSpPr>
              <a:spLocks noChangeArrowheads="1"/>
            </p:cNvSpPr>
            <p:nvPr/>
          </p:nvSpPr>
          <p:spPr bwMode="auto">
            <a:xfrm>
              <a:off x="4422" y="2024"/>
              <a:ext cx="816" cy="317"/>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152613" name="AutoShape 37">
              <a:extLst>
                <a:ext uri="{FF2B5EF4-FFF2-40B4-BE49-F238E27FC236}">
                  <a16:creationId xmlns:a16="http://schemas.microsoft.com/office/drawing/2014/main" id="{B833EDDC-1F31-19BF-C313-6B79CD80619A}"/>
                </a:ext>
              </a:extLst>
            </p:cNvPr>
            <p:cNvCxnSpPr>
              <a:cxnSpLocks noChangeShapeType="1"/>
              <a:stCxn id="152612" idx="3"/>
            </p:cNvCxnSpPr>
            <p:nvPr/>
          </p:nvCxnSpPr>
          <p:spPr bwMode="auto">
            <a:xfrm flipV="1">
              <a:off x="5247" y="1706"/>
              <a:ext cx="499" cy="477"/>
            </a:xfrm>
            <a:prstGeom prst="curvedConnector3">
              <a:avLst>
                <a:gd name="adj1" fmla="val 49898"/>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614" name="Text Box 38">
              <a:extLst>
                <a:ext uri="{FF2B5EF4-FFF2-40B4-BE49-F238E27FC236}">
                  <a16:creationId xmlns:a16="http://schemas.microsoft.com/office/drawing/2014/main" id="{DEEC2095-3C07-15BA-04B0-5E84A51F1D17}"/>
                </a:ext>
              </a:extLst>
            </p:cNvPr>
            <p:cNvSpPr txBox="1">
              <a:spLocks noChangeArrowheads="1"/>
            </p:cNvSpPr>
            <p:nvPr/>
          </p:nvSpPr>
          <p:spPr bwMode="auto">
            <a:xfrm>
              <a:off x="2381" y="3884"/>
              <a:ext cx="1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zh-CN" altLang="en-US" sz="1800" b="0" i="0">
                  <a:latin typeface="Arial Narrow" panose="020B0604020202020204" pitchFamily="34" charset="0"/>
                  <a:ea typeface="华文中宋" panose="02010600040101010101" pitchFamily="2" charset="-122"/>
                </a:rPr>
                <a:t>要删除的节点</a:t>
              </a:r>
            </a:p>
          </p:txBody>
        </p:sp>
        <p:sp>
          <p:nvSpPr>
            <p:cNvPr id="152615" name="Rectangle 39">
              <a:extLst>
                <a:ext uri="{FF2B5EF4-FFF2-40B4-BE49-F238E27FC236}">
                  <a16:creationId xmlns:a16="http://schemas.microsoft.com/office/drawing/2014/main" id="{16CCB708-47BD-42CD-1C42-7318C2FF8FDB}"/>
                </a:ext>
              </a:extLst>
            </p:cNvPr>
            <p:cNvSpPr>
              <a:spLocks noChangeArrowheads="1"/>
            </p:cNvSpPr>
            <p:nvPr/>
          </p:nvSpPr>
          <p:spPr bwMode="auto">
            <a:xfrm>
              <a:off x="1292" y="3083"/>
              <a:ext cx="816" cy="317"/>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52616" name="Text Box 40">
              <a:extLst>
                <a:ext uri="{FF2B5EF4-FFF2-40B4-BE49-F238E27FC236}">
                  <a16:creationId xmlns:a16="http://schemas.microsoft.com/office/drawing/2014/main" id="{E23AF405-4DFB-504A-F19D-C6CC218C72FB}"/>
                </a:ext>
              </a:extLst>
            </p:cNvPr>
            <p:cNvSpPr txBox="1">
              <a:spLocks noChangeArrowheads="1"/>
            </p:cNvSpPr>
            <p:nvPr/>
          </p:nvSpPr>
          <p:spPr bwMode="auto">
            <a:xfrm>
              <a:off x="2836" y="3113"/>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5</a:t>
              </a:r>
            </a:p>
          </p:txBody>
        </p:sp>
        <p:sp>
          <p:nvSpPr>
            <p:cNvPr id="152617" name="Text Box 41">
              <a:extLst>
                <a:ext uri="{FF2B5EF4-FFF2-40B4-BE49-F238E27FC236}">
                  <a16:creationId xmlns:a16="http://schemas.microsoft.com/office/drawing/2014/main" id="{2429A29A-BFAF-4130-D533-E1D7C50A3142}"/>
                </a:ext>
              </a:extLst>
            </p:cNvPr>
            <p:cNvSpPr txBox="1">
              <a:spLocks noChangeArrowheads="1"/>
            </p:cNvSpPr>
            <p:nvPr/>
          </p:nvSpPr>
          <p:spPr bwMode="auto">
            <a:xfrm>
              <a:off x="4694" y="1645"/>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bg1"/>
                  </a:solidFill>
                  <a:latin typeface="Arial Narrow" panose="020B0604020202020204" pitchFamily="34" charset="0"/>
                  <a:ea typeface="宋体" panose="02010600030101010101" pitchFamily="2" charset="-122"/>
                </a:rPr>
                <a:t>6</a:t>
              </a:r>
            </a:p>
          </p:txBody>
        </p:sp>
        <p:cxnSp>
          <p:nvCxnSpPr>
            <p:cNvPr id="152618" name="AutoShape 42">
              <a:extLst>
                <a:ext uri="{FF2B5EF4-FFF2-40B4-BE49-F238E27FC236}">
                  <a16:creationId xmlns:a16="http://schemas.microsoft.com/office/drawing/2014/main" id="{7B5542BA-025A-8E4C-5F21-97A4A182E98F}"/>
                </a:ext>
              </a:extLst>
            </p:cNvPr>
            <p:cNvCxnSpPr>
              <a:cxnSpLocks noChangeShapeType="1"/>
              <a:stCxn id="152605" idx="3"/>
              <a:endCxn id="152606" idx="1"/>
            </p:cNvCxnSpPr>
            <p:nvPr/>
          </p:nvCxnSpPr>
          <p:spPr bwMode="auto">
            <a:xfrm>
              <a:off x="1709" y="1729"/>
              <a:ext cx="300" cy="68"/>
            </a:xfrm>
            <a:prstGeom prst="curvedConnector3">
              <a:avLst>
                <a:gd name="adj1" fmla="val 50000"/>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2619" name="AutoShape 43">
              <a:extLst>
                <a:ext uri="{FF2B5EF4-FFF2-40B4-BE49-F238E27FC236}">
                  <a16:creationId xmlns:a16="http://schemas.microsoft.com/office/drawing/2014/main" id="{59B1438F-6E9D-59D1-41AE-59B770D10FD0}"/>
                </a:ext>
              </a:extLst>
            </p:cNvPr>
            <p:cNvCxnSpPr>
              <a:cxnSpLocks noChangeShapeType="1"/>
              <a:stCxn id="152615" idx="3"/>
              <a:endCxn id="152608" idx="1"/>
            </p:cNvCxnSpPr>
            <p:nvPr/>
          </p:nvCxnSpPr>
          <p:spPr bwMode="auto">
            <a:xfrm>
              <a:off x="2117" y="3242"/>
              <a:ext cx="437" cy="7"/>
            </a:xfrm>
            <a:prstGeom prst="curvedConnector3">
              <a:avLst>
                <a:gd name="adj1" fmla="val 49884"/>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620" name="Text Box 44">
              <a:extLst>
                <a:ext uri="{FF2B5EF4-FFF2-40B4-BE49-F238E27FC236}">
                  <a16:creationId xmlns:a16="http://schemas.microsoft.com/office/drawing/2014/main" id="{2F94B058-6334-E319-F855-6EC530C45E61}"/>
                </a:ext>
              </a:extLst>
            </p:cNvPr>
            <p:cNvSpPr txBox="1">
              <a:spLocks noChangeArrowheads="1"/>
            </p:cNvSpPr>
            <p:nvPr/>
          </p:nvSpPr>
          <p:spPr bwMode="auto">
            <a:xfrm>
              <a:off x="3674" y="3793"/>
              <a:ext cx="17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p-&gt;next = NULL;</a:t>
              </a:r>
            </a:p>
          </p:txBody>
        </p:sp>
        <p:sp>
          <p:nvSpPr>
            <p:cNvPr id="152621" name="Text Box 45">
              <a:extLst>
                <a:ext uri="{FF2B5EF4-FFF2-40B4-BE49-F238E27FC236}">
                  <a16:creationId xmlns:a16="http://schemas.microsoft.com/office/drawing/2014/main" id="{F3F4F6B7-37C1-9451-A946-A559439572EC}"/>
                </a:ext>
              </a:extLst>
            </p:cNvPr>
            <p:cNvSpPr txBox="1">
              <a:spLocks noChangeArrowheads="1"/>
            </p:cNvSpPr>
            <p:nvPr/>
          </p:nvSpPr>
          <p:spPr bwMode="auto">
            <a:xfrm>
              <a:off x="2653" y="3521"/>
              <a:ext cx="6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en-US" altLang="zh-CN" sz="1800" b="0" i="0">
                  <a:latin typeface="Arial Narrow" panose="020B0604020202020204" pitchFamily="34" charset="0"/>
                  <a:ea typeface="华文中宋" panose="02010600040101010101" pitchFamily="2" charset="-122"/>
                </a:rPr>
                <a:t>NULL</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05893"/>
                                        </p:tgtEl>
                                        <p:attrNameLst>
                                          <p:attrName>style.visibility</p:attrName>
                                        </p:attrNameLst>
                                      </p:cBhvr>
                                      <p:to>
                                        <p:strVal val="visible"/>
                                      </p:to>
                                    </p:set>
                                    <p:animEffect transition="in" filter="box(in)">
                                      <p:cBhvr>
                                        <p:cTn id="7" dur="500"/>
                                        <p:tgtEl>
                                          <p:spTgt spid="805893"/>
                                        </p:tgtEl>
                                      </p:cBhvr>
                                    </p:animEffect>
                                  </p:childTnLst>
                                </p:cTn>
                              </p:par>
                            </p:childTnLst>
                          </p:cTn>
                        </p:par>
                        <p:par>
                          <p:cTn id="8" fill="hold" nodeType="afterGroup">
                            <p:stCondLst>
                              <p:cond delay="500"/>
                            </p:stCondLst>
                            <p:childTnLst>
                              <p:par>
                                <p:cTn id="9" presetID="2" presetClass="entr" presetSubtype="4" fill="hold" nodeType="afterEffect">
                                  <p:stCondLst>
                                    <p:cond delay="0"/>
                                  </p:stCondLst>
                                  <p:childTnLst>
                                    <p:set>
                                      <p:cBhvr>
                                        <p:cTn id="10" dur="1" fill="hold">
                                          <p:stCondLst>
                                            <p:cond delay="0"/>
                                          </p:stCondLst>
                                        </p:cTn>
                                        <p:tgtEl>
                                          <p:spTgt spid="805911"/>
                                        </p:tgtEl>
                                        <p:attrNameLst>
                                          <p:attrName>style.visibility</p:attrName>
                                        </p:attrNameLst>
                                      </p:cBhvr>
                                      <p:to>
                                        <p:strVal val="visible"/>
                                      </p:to>
                                    </p:set>
                                    <p:anim calcmode="lin" valueType="num">
                                      <p:cBhvr additive="base">
                                        <p:cTn id="11" dur="500" fill="hold"/>
                                        <p:tgtEl>
                                          <p:spTgt spid="805911"/>
                                        </p:tgtEl>
                                        <p:attrNameLst>
                                          <p:attrName>ppt_x</p:attrName>
                                        </p:attrNameLst>
                                      </p:cBhvr>
                                      <p:tavLst>
                                        <p:tav tm="0">
                                          <p:val>
                                            <p:strVal val="#ppt_x"/>
                                          </p:val>
                                        </p:tav>
                                        <p:tav tm="100000">
                                          <p:val>
                                            <p:strVal val="#ppt_x"/>
                                          </p:val>
                                        </p:tav>
                                      </p:tavLst>
                                    </p:anim>
                                    <p:anim calcmode="lin" valueType="num">
                                      <p:cBhvr additive="base">
                                        <p:cTn id="12" dur="500" fill="hold"/>
                                        <p:tgtEl>
                                          <p:spTgt spid="805911"/>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05894"/>
                                        </p:tgtEl>
                                        <p:attrNameLst>
                                          <p:attrName>style.visibility</p:attrName>
                                        </p:attrNameLst>
                                      </p:cBhvr>
                                      <p:to>
                                        <p:strVal val="visible"/>
                                      </p:to>
                                    </p:set>
                                    <p:animEffect transition="in" filter="box(in)">
                                      <p:cBhvr>
                                        <p:cTn id="17" dur="500"/>
                                        <p:tgtEl>
                                          <p:spTgt spid="805894"/>
                                        </p:tgtEl>
                                      </p:cBhvr>
                                    </p:animEffect>
                                  </p:childTnLst>
                                </p:cTn>
                              </p:par>
                            </p:childTnLst>
                          </p:cTn>
                        </p:par>
                        <p:par>
                          <p:cTn id="18" fill="hold" nodeType="afterGroup">
                            <p:stCondLst>
                              <p:cond delay="500"/>
                            </p:stCondLst>
                            <p:childTnLst>
                              <p:par>
                                <p:cTn id="19" presetID="35" presetClass="exit" presetSubtype="0" fill="hold" nodeType="afterEffect">
                                  <p:stCondLst>
                                    <p:cond delay="0"/>
                                  </p:stCondLst>
                                  <p:childTnLst>
                                    <p:animEffect transition="out" filter="fade">
                                      <p:cBhvr>
                                        <p:cTn id="20" dur="2000"/>
                                        <p:tgtEl>
                                          <p:spTgt spid="805906"/>
                                        </p:tgtEl>
                                      </p:cBhvr>
                                    </p:animEffect>
                                    <p:anim calcmode="lin" valueType="num">
                                      <p:cBhvr>
                                        <p:cTn id="21" dur="2000"/>
                                        <p:tgtEl>
                                          <p:spTgt spid="805906"/>
                                        </p:tgtEl>
                                        <p:attrNameLst>
                                          <p:attrName>style.rotation</p:attrName>
                                        </p:attrNameLst>
                                      </p:cBhvr>
                                      <p:tavLst>
                                        <p:tav tm="0">
                                          <p:val>
                                            <p:fltVal val="0"/>
                                          </p:val>
                                        </p:tav>
                                        <p:tav tm="100000">
                                          <p:val>
                                            <p:fltVal val="720"/>
                                          </p:val>
                                        </p:tav>
                                      </p:tavLst>
                                    </p:anim>
                                    <p:anim calcmode="lin" valueType="num">
                                      <p:cBhvr>
                                        <p:cTn id="22" dur="2000"/>
                                        <p:tgtEl>
                                          <p:spTgt spid="805906"/>
                                        </p:tgtEl>
                                        <p:attrNameLst>
                                          <p:attrName>ppt_h</p:attrName>
                                        </p:attrNameLst>
                                      </p:cBhvr>
                                      <p:tavLst>
                                        <p:tav tm="0">
                                          <p:val>
                                            <p:strVal val="ppt_h"/>
                                          </p:val>
                                        </p:tav>
                                        <p:tav tm="100000">
                                          <p:val>
                                            <p:fltVal val="0"/>
                                          </p:val>
                                        </p:tav>
                                      </p:tavLst>
                                    </p:anim>
                                    <p:anim calcmode="lin" valueType="num">
                                      <p:cBhvr>
                                        <p:cTn id="23" dur="2000"/>
                                        <p:tgtEl>
                                          <p:spTgt spid="805906"/>
                                        </p:tgtEl>
                                        <p:attrNameLst>
                                          <p:attrName>ppt_w</p:attrName>
                                        </p:attrNameLst>
                                      </p:cBhvr>
                                      <p:tavLst>
                                        <p:tav tm="0">
                                          <p:val>
                                            <p:strVal val="ppt_w"/>
                                          </p:val>
                                        </p:tav>
                                        <p:tav tm="100000">
                                          <p:val>
                                            <p:fltVal val="0"/>
                                          </p:val>
                                        </p:tav>
                                      </p:tavLst>
                                    </p:anim>
                                    <p:set>
                                      <p:cBhvr>
                                        <p:cTn id="24" dur="1" fill="hold">
                                          <p:stCondLst>
                                            <p:cond delay="1999"/>
                                          </p:stCondLst>
                                        </p:cTn>
                                        <p:tgtEl>
                                          <p:spTgt spid="805906"/>
                                        </p:tgtEl>
                                        <p:attrNameLst>
                                          <p:attrName>style.visibility</p:attrName>
                                        </p:attrNameLst>
                                      </p:cBhvr>
                                      <p:to>
                                        <p:strVal val="hidden"/>
                                      </p:to>
                                    </p:set>
                                  </p:childTnLst>
                                </p:cTn>
                              </p:par>
                            </p:childTnLst>
                          </p:cTn>
                        </p:par>
                        <p:par>
                          <p:cTn id="25" fill="hold" nodeType="afterGroup">
                            <p:stCondLst>
                              <p:cond delay="2500"/>
                            </p:stCondLst>
                            <p:childTnLst>
                              <p:par>
                                <p:cTn id="26" presetID="8" presetClass="entr" presetSubtype="16" fill="hold" nodeType="afterEffect">
                                  <p:stCondLst>
                                    <p:cond delay="0"/>
                                  </p:stCondLst>
                                  <p:childTnLst>
                                    <p:set>
                                      <p:cBhvr>
                                        <p:cTn id="27" dur="1" fill="hold">
                                          <p:stCondLst>
                                            <p:cond delay="0"/>
                                          </p:stCondLst>
                                        </p:cTn>
                                        <p:tgtEl>
                                          <p:spTgt spid="805900"/>
                                        </p:tgtEl>
                                        <p:attrNameLst>
                                          <p:attrName>style.visibility</p:attrName>
                                        </p:attrNameLst>
                                      </p:cBhvr>
                                      <p:to>
                                        <p:strVal val="visible"/>
                                      </p:to>
                                    </p:set>
                                    <p:animEffect transition="in" filter="diamond(in)">
                                      <p:cBhvr>
                                        <p:cTn id="28" dur="2000"/>
                                        <p:tgtEl>
                                          <p:spTgt spid="80590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805912"/>
                                        </p:tgtEl>
                                        <p:attrNameLst>
                                          <p:attrName>style.visibility</p:attrName>
                                        </p:attrNameLst>
                                      </p:cBhvr>
                                      <p:to>
                                        <p:strVal val="visible"/>
                                      </p:to>
                                    </p:set>
                                    <p:animEffect transition="in" filter="box(in)">
                                      <p:cBhvr>
                                        <p:cTn id="33" dur="500"/>
                                        <p:tgtEl>
                                          <p:spTgt spid="805912"/>
                                        </p:tgtEl>
                                      </p:cBhvr>
                                    </p:animEffect>
                                  </p:childTnLst>
                                </p:cTn>
                              </p:par>
                            </p:childTnLst>
                          </p:cTn>
                        </p:par>
                        <p:par>
                          <p:cTn id="34" fill="hold" nodeType="afterGroup">
                            <p:stCondLst>
                              <p:cond delay="500"/>
                            </p:stCondLst>
                            <p:childTnLst>
                              <p:par>
                                <p:cTn id="35" presetID="35" presetClass="exit" presetSubtype="0" fill="hold" nodeType="afterEffect">
                                  <p:stCondLst>
                                    <p:cond delay="0"/>
                                  </p:stCondLst>
                                  <p:childTnLst>
                                    <p:animEffect transition="out" filter="fade">
                                      <p:cBhvr>
                                        <p:cTn id="36" dur="2000"/>
                                        <p:tgtEl>
                                          <p:spTgt spid="805905"/>
                                        </p:tgtEl>
                                      </p:cBhvr>
                                    </p:animEffect>
                                    <p:anim calcmode="lin" valueType="num">
                                      <p:cBhvr>
                                        <p:cTn id="37" dur="2000"/>
                                        <p:tgtEl>
                                          <p:spTgt spid="805905"/>
                                        </p:tgtEl>
                                        <p:attrNameLst>
                                          <p:attrName>style.rotation</p:attrName>
                                        </p:attrNameLst>
                                      </p:cBhvr>
                                      <p:tavLst>
                                        <p:tav tm="0">
                                          <p:val>
                                            <p:fltVal val="0"/>
                                          </p:val>
                                        </p:tav>
                                        <p:tav tm="100000">
                                          <p:val>
                                            <p:fltVal val="720"/>
                                          </p:val>
                                        </p:tav>
                                      </p:tavLst>
                                    </p:anim>
                                    <p:anim calcmode="lin" valueType="num">
                                      <p:cBhvr>
                                        <p:cTn id="38" dur="2000"/>
                                        <p:tgtEl>
                                          <p:spTgt spid="805905"/>
                                        </p:tgtEl>
                                        <p:attrNameLst>
                                          <p:attrName>ppt_h</p:attrName>
                                        </p:attrNameLst>
                                      </p:cBhvr>
                                      <p:tavLst>
                                        <p:tav tm="0">
                                          <p:val>
                                            <p:strVal val="ppt_h"/>
                                          </p:val>
                                        </p:tav>
                                        <p:tav tm="100000">
                                          <p:val>
                                            <p:fltVal val="0"/>
                                          </p:val>
                                        </p:tav>
                                      </p:tavLst>
                                    </p:anim>
                                    <p:anim calcmode="lin" valueType="num">
                                      <p:cBhvr>
                                        <p:cTn id="39" dur="2000"/>
                                        <p:tgtEl>
                                          <p:spTgt spid="805905"/>
                                        </p:tgtEl>
                                        <p:attrNameLst>
                                          <p:attrName>ppt_w</p:attrName>
                                        </p:attrNameLst>
                                      </p:cBhvr>
                                      <p:tavLst>
                                        <p:tav tm="0">
                                          <p:val>
                                            <p:strVal val="ppt_w"/>
                                          </p:val>
                                        </p:tav>
                                        <p:tav tm="100000">
                                          <p:val>
                                            <p:fltVal val="0"/>
                                          </p:val>
                                        </p:tav>
                                      </p:tavLst>
                                    </p:anim>
                                    <p:set>
                                      <p:cBhvr>
                                        <p:cTn id="40" dur="1" fill="hold">
                                          <p:stCondLst>
                                            <p:cond delay="1999"/>
                                          </p:stCondLst>
                                        </p:cTn>
                                        <p:tgtEl>
                                          <p:spTgt spid="805905"/>
                                        </p:tgtEl>
                                        <p:attrNameLst>
                                          <p:attrName>style.visibility</p:attrName>
                                        </p:attrNameLst>
                                      </p:cBhvr>
                                      <p:to>
                                        <p:strVal val="hidden"/>
                                      </p:to>
                                    </p:set>
                                  </p:childTnLst>
                                </p:cTn>
                              </p:par>
                            </p:childTnLst>
                          </p:cTn>
                        </p:par>
                        <p:par>
                          <p:cTn id="41" fill="hold" nodeType="afterGroup">
                            <p:stCondLst>
                              <p:cond delay="2500"/>
                            </p:stCondLst>
                            <p:childTnLst>
                              <p:par>
                                <p:cTn id="42" presetID="5" presetClass="entr" presetSubtype="10" fill="hold" grpId="0" nodeType="afterEffect">
                                  <p:stCondLst>
                                    <p:cond delay="0"/>
                                  </p:stCondLst>
                                  <p:childTnLst>
                                    <p:set>
                                      <p:cBhvr>
                                        <p:cTn id="43" dur="1" fill="hold">
                                          <p:stCondLst>
                                            <p:cond delay="0"/>
                                          </p:stCondLst>
                                        </p:cTn>
                                        <p:tgtEl>
                                          <p:spTgt spid="805913"/>
                                        </p:tgtEl>
                                        <p:attrNameLst>
                                          <p:attrName>style.visibility</p:attrName>
                                        </p:attrNameLst>
                                      </p:cBhvr>
                                      <p:to>
                                        <p:strVal val="visible"/>
                                      </p:to>
                                    </p:set>
                                    <p:animEffect transition="in" filter="checkerboard(across)">
                                      <p:cBhvr>
                                        <p:cTn id="44" dur="500"/>
                                        <p:tgtEl>
                                          <p:spTgt spid="80591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xit" presetSubtype="10" fill="hold" grpId="0" nodeType="clickEffect">
                                  <p:stCondLst>
                                    <p:cond delay="0"/>
                                  </p:stCondLst>
                                  <p:childTnLst>
                                    <p:animEffect transition="out" filter="blinds(horizontal)">
                                      <p:cBhvr>
                                        <p:cTn id="48" dur="500"/>
                                        <p:tgtEl>
                                          <p:spTgt spid="805891"/>
                                        </p:tgtEl>
                                      </p:cBhvr>
                                    </p:animEffect>
                                    <p:set>
                                      <p:cBhvr>
                                        <p:cTn id="49" dur="1" fill="hold">
                                          <p:stCondLst>
                                            <p:cond delay="499"/>
                                          </p:stCondLst>
                                        </p:cTn>
                                        <p:tgtEl>
                                          <p:spTgt spid="805891"/>
                                        </p:tgtEl>
                                        <p:attrNameLst>
                                          <p:attrName>style.visibility</p:attrName>
                                        </p:attrNameLst>
                                      </p:cBhvr>
                                      <p:to>
                                        <p:strVal val="hidden"/>
                                      </p:to>
                                    </p:set>
                                  </p:childTnLst>
                                </p:cTn>
                              </p:par>
                              <p:par>
                                <p:cTn id="50" presetID="3" presetClass="exit" presetSubtype="10" fill="hold" grpId="0" nodeType="withEffect">
                                  <p:stCondLst>
                                    <p:cond delay="0"/>
                                  </p:stCondLst>
                                  <p:childTnLst>
                                    <p:animEffect transition="out" filter="blinds(horizontal)">
                                      <p:cBhvr>
                                        <p:cTn id="51" dur="500"/>
                                        <p:tgtEl>
                                          <p:spTgt spid="805892"/>
                                        </p:tgtEl>
                                      </p:cBhvr>
                                    </p:animEffect>
                                    <p:set>
                                      <p:cBhvr>
                                        <p:cTn id="52" dur="1" fill="hold">
                                          <p:stCondLst>
                                            <p:cond delay="499"/>
                                          </p:stCondLst>
                                        </p:cTn>
                                        <p:tgtEl>
                                          <p:spTgt spid="805892"/>
                                        </p:tgtEl>
                                        <p:attrNameLst>
                                          <p:attrName>style.visibility</p:attrName>
                                        </p:attrNameLst>
                                      </p:cBhvr>
                                      <p:to>
                                        <p:strVal val="hidden"/>
                                      </p:to>
                                    </p:set>
                                  </p:childTnLst>
                                </p:cTn>
                              </p:par>
                              <p:par>
                                <p:cTn id="53" presetID="3" presetClass="exit" presetSubtype="10" fill="hold" grpId="1" nodeType="withEffect">
                                  <p:stCondLst>
                                    <p:cond delay="0"/>
                                  </p:stCondLst>
                                  <p:childTnLst>
                                    <p:animEffect transition="out" filter="blinds(horizontal)">
                                      <p:cBhvr>
                                        <p:cTn id="54" dur="500"/>
                                        <p:tgtEl>
                                          <p:spTgt spid="805893"/>
                                        </p:tgtEl>
                                      </p:cBhvr>
                                    </p:animEffect>
                                    <p:set>
                                      <p:cBhvr>
                                        <p:cTn id="55" dur="1" fill="hold">
                                          <p:stCondLst>
                                            <p:cond delay="499"/>
                                          </p:stCondLst>
                                        </p:cTn>
                                        <p:tgtEl>
                                          <p:spTgt spid="805893"/>
                                        </p:tgtEl>
                                        <p:attrNameLst>
                                          <p:attrName>style.visibility</p:attrName>
                                        </p:attrNameLst>
                                      </p:cBhvr>
                                      <p:to>
                                        <p:strVal val="hidden"/>
                                      </p:to>
                                    </p:set>
                                  </p:childTnLst>
                                </p:cTn>
                              </p:par>
                              <p:par>
                                <p:cTn id="56" presetID="3" presetClass="exit" presetSubtype="10" fill="hold" grpId="1" nodeType="withEffect">
                                  <p:stCondLst>
                                    <p:cond delay="0"/>
                                  </p:stCondLst>
                                  <p:childTnLst>
                                    <p:animEffect transition="out" filter="blinds(horizontal)">
                                      <p:cBhvr>
                                        <p:cTn id="57" dur="500"/>
                                        <p:tgtEl>
                                          <p:spTgt spid="805894"/>
                                        </p:tgtEl>
                                      </p:cBhvr>
                                    </p:animEffect>
                                    <p:set>
                                      <p:cBhvr>
                                        <p:cTn id="58" dur="1" fill="hold">
                                          <p:stCondLst>
                                            <p:cond delay="499"/>
                                          </p:stCondLst>
                                        </p:cTn>
                                        <p:tgtEl>
                                          <p:spTgt spid="805894"/>
                                        </p:tgtEl>
                                        <p:attrNameLst>
                                          <p:attrName>style.visibility</p:attrName>
                                        </p:attrNameLst>
                                      </p:cBhvr>
                                      <p:to>
                                        <p:strVal val="hidden"/>
                                      </p:to>
                                    </p:set>
                                  </p:childTnLst>
                                </p:cTn>
                              </p:par>
                              <p:par>
                                <p:cTn id="59" presetID="3" presetClass="exit" presetSubtype="10" fill="hold" grpId="0" nodeType="withEffect">
                                  <p:stCondLst>
                                    <p:cond delay="0"/>
                                  </p:stCondLst>
                                  <p:childTnLst>
                                    <p:animEffect transition="out" filter="blinds(horizontal)">
                                      <p:cBhvr>
                                        <p:cTn id="60" dur="500"/>
                                        <p:tgtEl>
                                          <p:spTgt spid="805895"/>
                                        </p:tgtEl>
                                      </p:cBhvr>
                                    </p:animEffect>
                                    <p:set>
                                      <p:cBhvr>
                                        <p:cTn id="61" dur="1" fill="hold">
                                          <p:stCondLst>
                                            <p:cond delay="499"/>
                                          </p:stCondLst>
                                        </p:cTn>
                                        <p:tgtEl>
                                          <p:spTgt spid="805895"/>
                                        </p:tgtEl>
                                        <p:attrNameLst>
                                          <p:attrName>style.visibility</p:attrName>
                                        </p:attrNameLst>
                                      </p:cBhvr>
                                      <p:to>
                                        <p:strVal val="hidden"/>
                                      </p:to>
                                    </p:set>
                                  </p:childTnLst>
                                </p:cTn>
                              </p:par>
                              <p:par>
                                <p:cTn id="62" presetID="3" presetClass="exit" presetSubtype="10" fill="hold" grpId="0" nodeType="withEffect">
                                  <p:stCondLst>
                                    <p:cond delay="0"/>
                                  </p:stCondLst>
                                  <p:childTnLst>
                                    <p:animEffect transition="out" filter="blinds(horizontal)">
                                      <p:cBhvr>
                                        <p:cTn id="63" dur="500"/>
                                        <p:tgtEl>
                                          <p:spTgt spid="805896"/>
                                        </p:tgtEl>
                                      </p:cBhvr>
                                    </p:animEffect>
                                    <p:set>
                                      <p:cBhvr>
                                        <p:cTn id="64" dur="1" fill="hold">
                                          <p:stCondLst>
                                            <p:cond delay="499"/>
                                          </p:stCondLst>
                                        </p:cTn>
                                        <p:tgtEl>
                                          <p:spTgt spid="805896"/>
                                        </p:tgtEl>
                                        <p:attrNameLst>
                                          <p:attrName>style.visibility</p:attrName>
                                        </p:attrNameLst>
                                      </p:cBhvr>
                                      <p:to>
                                        <p:strVal val="hidden"/>
                                      </p:to>
                                    </p:set>
                                  </p:childTnLst>
                                </p:cTn>
                              </p:par>
                              <p:par>
                                <p:cTn id="65" presetID="3" presetClass="exit" presetSubtype="10" fill="hold" grpId="0" nodeType="withEffect">
                                  <p:stCondLst>
                                    <p:cond delay="0"/>
                                  </p:stCondLst>
                                  <p:childTnLst>
                                    <p:animEffect transition="out" filter="blinds(horizontal)">
                                      <p:cBhvr>
                                        <p:cTn id="66" dur="500"/>
                                        <p:tgtEl>
                                          <p:spTgt spid="805897"/>
                                        </p:tgtEl>
                                      </p:cBhvr>
                                    </p:animEffect>
                                    <p:set>
                                      <p:cBhvr>
                                        <p:cTn id="67" dur="1" fill="hold">
                                          <p:stCondLst>
                                            <p:cond delay="499"/>
                                          </p:stCondLst>
                                        </p:cTn>
                                        <p:tgtEl>
                                          <p:spTgt spid="805897"/>
                                        </p:tgtEl>
                                        <p:attrNameLst>
                                          <p:attrName>style.visibility</p:attrName>
                                        </p:attrNameLst>
                                      </p:cBhvr>
                                      <p:to>
                                        <p:strVal val="hidden"/>
                                      </p:to>
                                    </p:set>
                                  </p:childTnLst>
                                </p:cTn>
                              </p:par>
                              <p:par>
                                <p:cTn id="68" presetID="3" presetClass="exit" presetSubtype="10" fill="hold" grpId="0" nodeType="withEffect">
                                  <p:stCondLst>
                                    <p:cond delay="0"/>
                                  </p:stCondLst>
                                  <p:childTnLst>
                                    <p:animEffect transition="out" filter="blinds(horizontal)">
                                      <p:cBhvr>
                                        <p:cTn id="69" dur="500"/>
                                        <p:tgtEl>
                                          <p:spTgt spid="805898"/>
                                        </p:tgtEl>
                                      </p:cBhvr>
                                    </p:animEffect>
                                    <p:set>
                                      <p:cBhvr>
                                        <p:cTn id="70" dur="1" fill="hold">
                                          <p:stCondLst>
                                            <p:cond delay="499"/>
                                          </p:stCondLst>
                                        </p:cTn>
                                        <p:tgtEl>
                                          <p:spTgt spid="805898"/>
                                        </p:tgtEl>
                                        <p:attrNameLst>
                                          <p:attrName>style.visibility</p:attrName>
                                        </p:attrNameLst>
                                      </p:cBhvr>
                                      <p:to>
                                        <p:strVal val="hidden"/>
                                      </p:to>
                                    </p:set>
                                  </p:childTnLst>
                                </p:cTn>
                              </p:par>
                              <p:par>
                                <p:cTn id="71" presetID="3" presetClass="exit" presetSubtype="10" fill="hold" grpId="0" nodeType="withEffect">
                                  <p:stCondLst>
                                    <p:cond delay="0"/>
                                  </p:stCondLst>
                                  <p:childTnLst>
                                    <p:animEffect transition="out" filter="blinds(horizontal)">
                                      <p:cBhvr>
                                        <p:cTn id="72" dur="500"/>
                                        <p:tgtEl>
                                          <p:spTgt spid="805899"/>
                                        </p:tgtEl>
                                      </p:cBhvr>
                                    </p:animEffect>
                                    <p:set>
                                      <p:cBhvr>
                                        <p:cTn id="73" dur="1" fill="hold">
                                          <p:stCondLst>
                                            <p:cond delay="499"/>
                                          </p:stCondLst>
                                        </p:cTn>
                                        <p:tgtEl>
                                          <p:spTgt spid="805899"/>
                                        </p:tgtEl>
                                        <p:attrNameLst>
                                          <p:attrName>style.visibility</p:attrName>
                                        </p:attrNameLst>
                                      </p:cBhvr>
                                      <p:to>
                                        <p:strVal val="hidden"/>
                                      </p:to>
                                    </p:set>
                                  </p:childTnLst>
                                </p:cTn>
                              </p:par>
                              <p:par>
                                <p:cTn id="74" presetID="3" presetClass="exit" presetSubtype="10" fill="hold" nodeType="withEffect">
                                  <p:stCondLst>
                                    <p:cond delay="0"/>
                                  </p:stCondLst>
                                  <p:childTnLst>
                                    <p:animEffect transition="out" filter="blinds(horizontal)">
                                      <p:cBhvr>
                                        <p:cTn id="75" dur="500"/>
                                        <p:tgtEl>
                                          <p:spTgt spid="805900"/>
                                        </p:tgtEl>
                                      </p:cBhvr>
                                    </p:animEffect>
                                    <p:set>
                                      <p:cBhvr>
                                        <p:cTn id="76" dur="1" fill="hold">
                                          <p:stCondLst>
                                            <p:cond delay="499"/>
                                          </p:stCondLst>
                                        </p:cTn>
                                        <p:tgtEl>
                                          <p:spTgt spid="805900"/>
                                        </p:tgtEl>
                                        <p:attrNameLst>
                                          <p:attrName>style.visibility</p:attrName>
                                        </p:attrNameLst>
                                      </p:cBhvr>
                                      <p:to>
                                        <p:strVal val="hidden"/>
                                      </p:to>
                                    </p:set>
                                  </p:childTnLst>
                                </p:cTn>
                              </p:par>
                              <p:par>
                                <p:cTn id="77" presetID="3" presetClass="exit" presetSubtype="10" fill="hold" grpId="0" nodeType="withEffect">
                                  <p:stCondLst>
                                    <p:cond delay="0"/>
                                  </p:stCondLst>
                                  <p:childTnLst>
                                    <p:animEffect transition="out" filter="blinds(horizontal)">
                                      <p:cBhvr>
                                        <p:cTn id="78" dur="500"/>
                                        <p:tgtEl>
                                          <p:spTgt spid="805901"/>
                                        </p:tgtEl>
                                      </p:cBhvr>
                                    </p:animEffect>
                                    <p:set>
                                      <p:cBhvr>
                                        <p:cTn id="79" dur="1" fill="hold">
                                          <p:stCondLst>
                                            <p:cond delay="499"/>
                                          </p:stCondLst>
                                        </p:cTn>
                                        <p:tgtEl>
                                          <p:spTgt spid="805901"/>
                                        </p:tgtEl>
                                        <p:attrNameLst>
                                          <p:attrName>style.visibility</p:attrName>
                                        </p:attrNameLst>
                                      </p:cBhvr>
                                      <p:to>
                                        <p:strVal val="hidden"/>
                                      </p:to>
                                    </p:set>
                                  </p:childTnLst>
                                </p:cTn>
                              </p:par>
                              <p:par>
                                <p:cTn id="80" presetID="3" presetClass="exit" presetSubtype="10" fill="hold" grpId="0" nodeType="withEffect">
                                  <p:stCondLst>
                                    <p:cond delay="0"/>
                                  </p:stCondLst>
                                  <p:childTnLst>
                                    <p:animEffect transition="out" filter="blinds(horizontal)">
                                      <p:cBhvr>
                                        <p:cTn id="81" dur="500"/>
                                        <p:tgtEl>
                                          <p:spTgt spid="805902"/>
                                        </p:tgtEl>
                                      </p:cBhvr>
                                    </p:animEffect>
                                    <p:set>
                                      <p:cBhvr>
                                        <p:cTn id="82" dur="1" fill="hold">
                                          <p:stCondLst>
                                            <p:cond delay="499"/>
                                          </p:stCondLst>
                                        </p:cTn>
                                        <p:tgtEl>
                                          <p:spTgt spid="805902"/>
                                        </p:tgtEl>
                                        <p:attrNameLst>
                                          <p:attrName>style.visibility</p:attrName>
                                        </p:attrNameLst>
                                      </p:cBhvr>
                                      <p:to>
                                        <p:strVal val="hidden"/>
                                      </p:to>
                                    </p:set>
                                  </p:childTnLst>
                                </p:cTn>
                              </p:par>
                              <p:par>
                                <p:cTn id="83" presetID="3" presetClass="exit" presetSubtype="10" fill="hold" nodeType="withEffect">
                                  <p:stCondLst>
                                    <p:cond delay="0"/>
                                  </p:stCondLst>
                                  <p:childTnLst>
                                    <p:animEffect transition="out" filter="blinds(horizontal)">
                                      <p:cBhvr>
                                        <p:cTn id="84" dur="500"/>
                                        <p:tgtEl>
                                          <p:spTgt spid="805903"/>
                                        </p:tgtEl>
                                      </p:cBhvr>
                                    </p:animEffect>
                                    <p:set>
                                      <p:cBhvr>
                                        <p:cTn id="85" dur="1" fill="hold">
                                          <p:stCondLst>
                                            <p:cond delay="499"/>
                                          </p:stCondLst>
                                        </p:cTn>
                                        <p:tgtEl>
                                          <p:spTgt spid="805903"/>
                                        </p:tgtEl>
                                        <p:attrNameLst>
                                          <p:attrName>style.visibility</p:attrName>
                                        </p:attrNameLst>
                                      </p:cBhvr>
                                      <p:to>
                                        <p:strVal val="hidden"/>
                                      </p:to>
                                    </p:set>
                                  </p:childTnLst>
                                </p:cTn>
                              </p:par>
                              <p:par>
                                <p:cTn id="86" presetID="3" presetClass="exit" presetSubtype="10" fill="hold" grpId="0" nodeType="withEffect">
                                  <p:stCondLst>
                                    <p:cond delay="0"/>
                                  </p:stCondLst>
                                  <p:childTnLst>
                                    <p:animEffect transition="out" filter="blinds(horizontal)">
                                      <p:cBhvr>
                                        <p:cTn id="87" dur="500"/>
                                        <p:tgtEl>
                                          <p:spTgt spid="805904"/>
                                        </p:tgtEl>
                                      </p:cBhvr>
                                    </p:animEffect>
                                    <p:set>
                                      <p:cBhvr>
                                        <p:cTn id="88" dur="1" fill="hold">
                                          <p:stCondLst>
                                            <p:cond delay="499"/>
                                          </p:stCondLst>
                                        </p:cTn>
                                        <p:tgtEl>
                                          <p:spTgt spid="805904"/>
                                        </p:tgtEl>
                                        <p:attrNameLst>
                                          <p:attrName>style.visibility</p:attrName>
                                        </p:attrNameLst>
                                      </p:cBhvr>
                                      <p:to>
                                        <p:strVal val="hidden"/>
                                      </p:to>
                                    </p:set>
                                  </p:childTnLst>
                                </p:cTn>
                              </p:par>
                              <p:par>
                                <p:cTn id="89" presetID="3" presetClass="exit" presetSubtype="10" fill="hold" nodeType="withEffect">
                                  <p:stCondLst>
                                    <p:cond delay="0"/>
                                  </p:stCondLst>
                                  <p:childTnLst>
                                    <p:animEffect transition="out" filter="blinds(horizontal)">
                                      <p:cBhvr>
                                        <p:cTn id="90" dur="500"/>
                                        <p:tgtEl>
                                          <p:spTgt spid="805905"/>
                                        </p:tgtEl>
                                      </p:cBhvr>
                                    </p:animEffect>
                                    <p:set>
                                      <p:cBhvr>
                                        <p:cTn id="91" dur="1" fill="hold">
                                          <p:stCondLst>
                                            <p:cond delay="499"/>
                                          </p:stCondLst>
                                        </p:cTn>
                                        <p:tgtEl>
                                          <p:spTgt spid="805905"/>
                                        </p:tgtEl>
                                        <p:attrNameLst>
                                          <p:attrName>style.visibility</p:attrName>
                                        </p:attrNameLst>
                                      </p:cBhvr>
                                      <p:to>
                                        <p:strVal val="hidden"/>
                                      </p:to>
                                    </p:set>
                                  </p:childTnLst>
                                </p:cTn>
                              </p:par>
                              <p:par>
                                <p:cTn id="92" presetID="3" presetClass="exit" presetSubtype="10" fill="hold" nodeType="withEffect">
                                  <p:stCondLst>
                                    <p:cond delay="0"/>
                                  </p:stCondLst>
                                  <p:childTnLst>
                                    <p:animEffect transition="out" filter="blinds(horizontal)">
                                      <p:cBhvr>
                                        <p:cTn id="93" dur="500"/>
                                        <p:tgtEl>
                                          <p:spTgt spid="805906"/>
                                        </p:tgtEl>
                                      </p:cBhvr>
                                    </p:animEffect>
                                    <p:set>
                                      <p:cBhvr>
                                        <p:cTn id="94" dur="1" fill="hold">
                                          <p:stCondLst>
                                            <p:cond delay="499"/>
                                          </p:stCondLst>
                                        </p:cTn>
                                        <p:tgtEl>
                                          <p:spTgt spid="805906"/>
                                        </p:tgtEl>
                                        <p:attrNameLst>
                                          <p:attrName>style.visibility</p:attrName>
                                        </p:attrNameLst>
                                      </p:cBhvr>
                                      <p:to>
                                        <p:strVal val="hidden"/>
                                      </p:to>
                                    </p:set>
                                  </p:childTnLst>
                                </p:cTn>
                              </p:par>
                              <p:par>
                                <p:cTn id="95" presetID="3" presetClass="exit" presetSubtype="10" fill="hold" grpId="0" nodeType="withEffect">
                                  <p:stCondLst>
                                    <p:cond delay="0"/>
                                  </p:stCondLst>
                                  <p:childTnLst>
                                    <p:animEffect transition="out" filter="blinds(horizontal)">
                                      <p:cBhvr>
                                        <p:cTn id="96" dur="500"/>
                                        <p:tgtEl>
                                          <p:spTgt spid="805907"/>
                                        </p:tgtEl>
                                      </p:cBhvr>
                                    </p:animEffect>
                                    <p:set>
                                      <p:cBhvr>
                                        <p:cTn id="97" dur="1" fill="hold">
                                          <p:stCondLst>
                                            <p:cond delay="499"/>
                                          </p:stCondLst>
                                        </p:cTn>
                                        <p:tgtEl>
                                          <p:spTgt spid="805907"/>
                                        </p:tgtEl>
                                        <p:attrNameLst>
                                          <p:attrName>style.visibility</p:attrName>
                                        </p:attrNameLst>
                                      </p:cBhvr>
                                      <p:to>
                                        <p:strVal val="hidden"/>
                                      </p:to>
                                    </p:set>
                                  </p:childTnLst>
                                </p:cTn>
                              </p:par>
                              <p:par>
                                <p:cTn id="98" presetID="3" presetClass="exit" presetSubtype="10" fill="hold" grpId="0" nodeType="withEffect">
                                  <p:stCondLst>
                                    <p:cond delay="0"/>
                                  </p:stCondLst>
                                  <p:childTnLst>
                                    <p:animEffect transition="out" filter="blinds(horizontal)">
                                      <p:cBhvr>
                                        <p:cTn id="99" dur="500"/>
                                        <p:tgtEl>
                                          <p:spTgt spid="805908"/>
                                        </p:tgtEl>
                                      </p:cBhvr>
                                    </p:animEffect>
                                    <p:set>
                                      <p:cBhvr>
                                        <p:cTn id="100" dur="1" fill="hold">
                                          <p:stCondLst>
                                            <p:cond delay="499"/>
                                          </p:stCondLst>
                                        </p:cTn>
                                        <p:tgtEl>
                                          <p:spTgt spid="805908"/>
                                        </p:tgtEl>
                                        <p:attrNameLst>
                                          <p:attrName>style.visibility</p:attrName>
                                        </p:attrNameLst>
                                      </p:cBhvr>
                                      <p:to>
                                        <p:strVal val="hidden"/>
                                      </p:to>
                                    </p:set>
                                  </p:childTnLst>
                                </p:cTn>
                              </p:par>
                              <p:par>
                                <p:cTn id="101" presetID="3" presetClass="exit" presetSubtype="10" fill="hold" grpId="0" nodeType="withEffect">
                                  <p:stCondLst>
                                    <p:cond delay="0"/>
                                  </p:stCondLst>
                                  <p:childTnLst>
                                    <p:animEffect transition="out" filter="blinds(horizontal)">
                                      <p:cBhvr>
                                        <p:cTn id="102" dur="500"/>
                                        <p:tgtEl>
                                          <p:spTgt spid="805909"/>
                                        </p:tgtEl>
                                      </p:cBhvr>
                                    </p:animEffect>
                                    <p:set>
                                      <p:cBhvr>
                                        <p:cTn id="103" dur="1" fill="hold">
                                          <p:stCondLst>
                                            <p:cond delay="499"/>
                                          </p:stCondLst>
                                        </p:cTn>
                                        <p:tgtEl>
                                          <p:spTgt spid="805909"/>
                                        </p:tgtEl>
                                        <p:attrNameLst>
                                          <p:attrName>style.visibility</p:attrName>
                                        </p:attrNameLst>
                                      </p:cBhvr>
                                      <p:to>
                                        <p:strVal val="hidden"/>
                                      </p:to>
                                    </p:set>
                                  </p:childTnLst>
                                </p:cTn>
                              </p:par>
                              <p:par>
                                <p:cTn id="104" presetID="3" presetClass="exit" presetSubtype="10" fill="hold" nodeType="withEffect">
                                  <p:stCondLst>
                                    <p:cond delay="0"/>
                                  </p:stCondLst>
                                  <p:childTnLst>
                                    <p:animEffect transition="out" filter="blinds(horizontal)">
                                      <p:cBhvr>
                                        <p:cTn id="105" dur="500"/>
                                        <p:tgtEl>
                                          <p:spTgt spid="805910"/>
                                        </p:tgtEl>
                                      </p:cBhvr>
                                    </p:animEffect>
                                    <p:set>
                                      <p:cBhvr>
                                        <p:cTn id="106" dur="1" fill="hold">
                                          <p:stCondLst>
                                            <p:cond delay="499"/>
                                          </p:stCondLst>
                                        </p:cTn>
                                        <p:tgtEl>
                                          <p:spTgt spid="805910"/>
                                        </p:tgtEl>
                                        <p:attrNameLst>
                                          <p:attrName>style.visibility</p:attrName>
                                        </p:attrNameLst>
                                      </p:cBhvr>
                                      <p:to>
                                        <p:strVal val="hidden"/>
                                      </p:to>
                                    </p:set>
                                  </p:childTnLst>
                                </p:cTn>
                              </p:par>
                              <p:par>
                                <p:cTn id="107" presetID="3" presetClass="exit" presetSubtype="10" fill="hold" nodeType="withEffect">
                                  <p:stCondLst>
                                    <p:cond delay="0"/>
                                  </p:stCondLst>
                                  <p:childTnLst>
                                    <p:animEffect transition="out" filter="blinds(horizontal)">
                                      <p:cBhvr>
                                        <p:cTn id="108" dur="500"/>
                                        <p:tgtEl>
                                          <p:spTgt spid="805911"/>
                                        </p:tgtEl>
                                      </p:cBhvr>
                                    </p:animEffect>
                                    <p:set>
                                      <p:cBhvr>
                                        <p:cTn id="109" dur="1" fill="hold">
                                          <p:stCondLst>
                                            <p:cond delay="499"/>
                                          </p:stCondLst>
                                        </p:cTn>
                                        <p:tgtEl>
                                          <p:spTgt spid="805911"/>
                                        </p:tgtEl>
                                        <p:attrNameLst>
                                          <p:attrName>style.visibility</p:attrName>
                                        </p:attrNameLst>
                                      </p:cBhvr>
                                      <p:to>
                                        <p:strVal val="hidden"/>
                                      </p:to>
                                    </p:set>
                                  </p:childTnLst>
                                </p:cTn>
                              </p:par>
                              <p:par>
                                <p:cTn id="110" presetID="3" presetClass="exit" presetSubtype="10" fill="hold" grpId="1" nodeType="withEffect">
                                  <p:stCondLst>
                                    <p:cond delay="0"/>
                                  </p:stCondLst>
                                  <p:childTnLst>
                                    <p:animEffect transition="out" filter="blinds(horizontal)">
                                      <p:cBhvr>
                                        <p:cTn id="111" dur="500"/>
                                        <p:tgtEl>
                                          <p:spTgt spid="805912"/>
                                        </p:tgtEl>
                                      </p:cBhvr>
                                    </p:animEffect>
                                    <p:set>
                                      <p:cBhvr>
                                        <p:cTn id="112" dur="1" fill="hold">
                                          <p:stCondLst>
                                            <p:cond delay="499"/>
                                          </p:stCondLst>
                                        </p:cTn>
                                        <p:tgtEl>
                                          <p:spTgt spid="805912"/>
                                        </p:tgtEl>
                                        <p:attrNameLst>
                                          <p:attrName>style.visibility</p:attrName>
                                        </p:attrNameLst>
                                      </p:cBhvr>
                                      <p:to>
                                        <p:strVal val="hidden"/>
                                      </p:to>
                                    </p:set>
                                  </p:childTnLst>
                                </p:cTn>
                              </p:par>
                              <p:par>
                                <p:cTn id="113" presetID="3" presetClass="exit" presetSubtype="10" fill="hold" grpId="1" nodeType="withEffect">
                                  <p:stCondLst>
                                    <p:cond delay="0"/>
                                  </p:stCondLst>
                                  <p:childTnLst>
                                    <p:animEffect transition="out" filter="blinds(horizontal)">
                                      <p:cBhvr>
                                        <p:cTn id="114" dur="500"/>
                                        <p:tgtEl>
                                          <p:spTgt spid="805913"/>
                                        </p:tgtEl>
                                      </p:cBhvr>
                                    </p:animEffect>
                                    <p:set>
                                      <p:cBhvr>
                                        <p:cTn id="115" dur="1" fill="hold">
                                          <p:stCondLst>
                                            <p:cond delay="499"/>
                                          </p:stCondLst>
                                        </p:cTn>
                                        <p:tgtEl>
                                          <p:spTgt spid="805913"/>
                                        </p:tgtEl>
                                        <p:attrNameLst>
                                          <p:attrName>style.visibility</p:attrName>
                                        </p:attrNameLst>
                                      </p:cBhvr>
                                      <p:to>
                                        <p:strVal val="hidden"/>
                                      </p:to>
                                    </p:set>
                                  </p:childTnLst>
                                </p:cTn>
                              </p:par>
                              <p:par>
                                <p:cTn id="116" presetID="3" presetClass="entr" presetSubtype="10" fill="hold" nodeType="withEffect">
                                  <p:stCondLst>
                                    <p:cond delay="0"/>
                                  </p:stCondLst>
                                  <p:childTnLst>
                                    <p:set>
                                      <p:cBhvr>
                                        <p:cTn id="117" dur="1" fill="hold">
                                          <p:stCondLst>
                                            <p:cond delay="0"/>
                                          </p:stCondLst>
                                        </p:cTn>
                                        <p:tgtEl>
                                          <p:spTgt spid="805914"/>
                                        </p:tgtEl>
                                        <p:attrNameLst>
                                          <p:attrName>style.visibility</p:attrName>
                                        </p:attrNameLst>
                                      </p:cBhvr>
                                      <p:to>
                                        <p:strVal val="visible"/>
                                      </p:to>
                                    </p:set>
                                    <p:animEffect transition="in" filter="blinds(horizontal)">
                                      <p:cBhvr>
                                        <p:cTn id="118" dur="500"/>
                                        <p:tgtEl>
                                          <p:spTgt spid="805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891" grpId="0"/>
      <p:bldP spid="805892" grpId="0"/>
      <p:bldP spid="805893" grpId="0"/>
      <p:bldP spid="805893" grpId="1"/>
      <p:bldP spid="805894" grpId="0"/>
      <p:bldP spid="805894" grpId="1"/>
      <p:bldP spid="805895" grpId="0" animBg="1"/>
      <p:bldP spid="805896" grpId="0" animBg="1"/>
      <p:bldP spid="805897" grpId="0" animBg="1"/>
      <p:bldP spid="805898" grpId="0" animBg="1"/>
      <p:bldP spid="805899" grpId="0" animBg="1"/>
      <p:bldP spid="805901" grpId="0" animBg="1"/>
      <p:bldP spid="805902" grpId="0" animBg="1"/>
      <p:bldP spid="805904" grpId="0"/>
      <p:bldP spid="805907" grpId="0" animBg="1"/>
      <p:bldP spid="805908" grpId="0"/>
      <p:bldP spid="805909" grpId="0"/>
      <p:bldP spid="805912" grpId="0"/>
      <p:bldP spid="805912" grpId="1"/>
      <p:bldP spid="805913" grpId="0"/>
      <p:bldP spid="805913" grpId="1"/>
    </p:bld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127C3533-7EE1-D6BC-FD64-A271AB404511}"/>
              </a:ext>
            </a:extLst>
          </p:cNvPr>
          <p:cNvSpPr>
            <a:spLocks noGrp="1" noChangeArrowheads="1"/>
          </p:cNvSpPr>
          <p:nvPr>
            <p:ph type="title"/>
          </p:nvPr>
        </p:nvSpPr>
        <p:spPr/>
        <p:txBody>
          <a:bodyPr/>
          <a:lstStyle/>
          <a:p>
            <a:pPr eaLnBrk="1" hangingPunct="1"/>
            <a:r>
              <a:rPr lang="zh-CN" altLang="en-US"/>
              <a:t>铺垫</a:t>
            </a:r>
            <a:r>
              <a:rPr lang="en-US" altLang="zh-CN"/>
              <a:t>2</a:t>
            </a:r>
            <a:r>
              <a:rPr lang="zh-CN" altLang="en-US"/>
              <a:t>：删除链表的第一个表元</a:t>
            </a:r>
          </a:p>
        </p:txBody>
      </p:sp>
      <p:sp>
        <p:nvSpPr>
          <p:cNvPr id="806915" name="Rectangle 3">
            <a:extLst>
              <a:ext uri="{FF2B5EF4-FFF2-40B4-BE49-F238E27FC236}">
                <a16:creationId xmlns:a16="http://schemas.microsoft.com/office/drawing/2014/main" id="{B8D62E35-781B-2A9B-DD5B-89E6537317B7}"/>
              </a:ext>
            </a:extLst>
          </p:cNvPr>
          <p:cNvSpPr>
            <a:spLocks noGrp="1" noChangeArrowheads="1"/>
          </p:cNvSpPr>
          <p:nvPr>
            <p:ph type="body" idx="1"/>
          </p:nvPr>
        </p:nvSpPr>
        <p:spPr>
          <a:xfrm>
            <a:off x="827088" y="1844823"/>
            <a:ext cx="8128000" cy="4287689"/>
          </a:xfrm>
        </p:spPr>
        <p:txBody>
          <a:bodyPr/>
          <a:lstStyle/>
          <a:p>
            <a:pPr marL="609600" indent="-609600" eaLnBrk="1" hangingPunct="1">
              <a:lnSpc>
                <a:spcPct val="90000"/>
              </a:lnSpc>
            </a:pPr>
            <a:r>
              <a:rPr lang="zh-CN" altLang="en-US" sz="2800" b="0"/>
              <a:t>删除首节点</a:t>
            </a:r>
          </a:p>
          <a:p>
            <a:pPr marL="990600" lvl="1" indent="-533400" eaLnBrk="1" hangingPunct="1">
              <a:lnSpc>
                <a:spcPct val="90000"/>
              </a:lnSpc>
            </a:pPr>
            <a:r>
              <a:rPr lang="zh-CN" altLang="en-US" sz="2400" b="0"/>
              <a:t>一种简单的情况</a:t>
            </a:r>
          </a:p>
          <a:p>
            <a:pPr marL="990600" lvl="1" indent="-533400" eaLnBrk="1" hangingPunct="1">
              <a:lnSpc>
                <a:spcPct val="90000"/>
              </a:lnSpc>
            </a:pPr>
            <a:r>
              <a:rPr lang="zh-CN" altLang="en-US" sz="2400" b="0"/>
              <a:t>课本中没有提及</a:t>
            </a:r>
          </a:p>
          <a:p>
            <a:pPr marL="609600" indent="-609600" eaLnBrk="1" hangingPunct="1">
              <a:lnSpc>
                <a:spcPct val="90000"/>
              </a:lnSpc>
              <a:buFont typeface="Wingdings" pitchFamily="2" charset="2"/>
              <a:buNone/>
            </a:pPr>
            <a:r>
              <a:rPr lang="zh-CN" altLang="en-US" sz="2800" b="0"/>
              <a:t> </a:t>
            </a:r>
          </a:p>
          <a:p>
            <a:pPr marL="990600" lvl="1" indent="-533400" eaLnBrk="1" hangingPunct="1">
              <a:lnSpc>
                <a:spcPct val="90000"/>
              </a:lnSpc>
              <a:buFont typeface="Wingdings" pitchFamily="2" charset="2"/>
              <a:buAutoNum type="arabicPeriod"/>
            </a:pPr>
            <a:r>
              <a:rPr lang="en-US" altLang="zh-CN" sz="2400" b="0"/>
              <a:t>p=head;</a:t>
            </a:r>
          </a:p>
          <a:p>
            <a:pPr marL="990600" lvl="1" indent="-533400" eaLnBrk="1" hangingPunct="1">
              <a:lnSpc>
                <a:spcPct val="90000"/>
              </a:lnSpc>
              <a:buFont typeface="Wingdings" pitchFamily="2" charset="2"/>
              <a:buAutoNum type="arabicPeriod"/>
            </a:pPr>
            <a:r>
              <a:rPr lang="en-US" altLang="zh-CN" sz="2400" b="0"/>
              <a:t>head=p-&gt;next;  </a:t>
            </a:r>
            <a:r>
              <a:rPr lang="en-US" altLang="zh-CN" sz="2400" b="0">
                <a:solidFill>
                  <a:schemeClr val="folHlink"/>
                </a:solidFill>
              </a:rPr>
              <a:t>//head=head-&gt;next;</a:t>
            </a:r>
          </a:p>
          <a:p>
            <a:pPr marL="990600" lvl="1" indent="-533400" eaLnBrk="1" hangingPunct="1">
              <a:lnSpc>
                <a:spcPct val="90000"/>
              </a:lnSpc>
              <a:buFont typeface="Wingdings" pitchFamily="2" charset="2"/>
              <a:buAutoNum type="arabicPeriod"/>
            </a:pPr>
            <a:r>
              <a:rPr lang="en-US" altLang="zh-CN" sz="2400" b="0"/>
              <a:t>p-&gt;next=NULL;</a:t>
            </a:r>
          </a:p>
          <a:p>
            <a:pPr marL="990600" lvl="1" indent="-533400" eaLnBrk="1" hangingPunct="1">
              <a:lnSpc>
                <a:spcPct val="90000"/>
              </a:lnSpc>
              <a:buFont typeface="Wingdings" pitchFamily="2" charset="2"/>
              <a:buAutoNum type="arabicPeriod"/>
            </a:pPr>
            <a:endParaRPr lang="en-US" altLang="zh-CN" sz="2400" b="0"/>
          </a:p>
          <a:p>
            <a:pPr marL="609600" indent="-609600" eaLnBrk="1" hangingPunct="1">
              <a:lnSpc>
                <a:spcPct val="90000"/>
              </a:lnSpc>
            </a:pPr>
            <a:r>
              <a:rPr lang="zh-CN" altLang="en-US" sz="2800" b="0"/>
              <a:t>思考：删除尾节点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69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69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069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691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0691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0691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6915">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069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15"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A60F9F2E-FC3D-4A42-0B89-3E2512C5BD79}"/>
              </a:ext>
            </a:extLst>
          </p:cNvPr>
          <p:cNvSpPr>
            <a:spLocks noGrp="1" noChangeArrowheads="1"/>
          </p:cNvSpPr>
          <p:nvPr>
            <p:ph type="title"/>
          </p:nvPr>
        </p:nvSpPr>
        <p:spPr/>
        <p:txBody>
          <a:bodyPr/>
          <a:lstStyle/>
          <a:p>
            <a:pPr eaLnBrk="1" hangingPunct="1"/>
            <a:r>
              <a:rPr lang="zh-CN" altLang="en-US"/>
              <a:t>从链表删除指定值的表元</a:t>
            </a:r>
          </a:p>
        </p:txBody>
      </p:sp>
      <p:sp>
        <p:nvSpPr>
          <p:cNvPr id="154627" name="Rectangle 3">
            <a:extLst>
              <a:ext uri="{FF2B5EF4-FFF2-40B4-BE49-F238E27FC236}">
                <a16:creationId xmlns:a16="http://schemas.microsoft.com/office/drawing/2014/main" id="{0EB0277B-F082-191F-0CBC-298DEB4ED86B}"/>
              </a:ext>
            </a:extLst>
          </p:cNvPr>
          <p:cNvSpPr>
            <a:spLocks noGrp="1" noChangeArrowheads="1"/>
          </p:cNvSpPr>
          <p:nvPr>
            <p:ph type="body" idx="1"/>
          </p:nvPr>
        </p:nvSpPr>
        <p:spPr>
          <a:xfrm>
            <a:off x="539552" y="1844823"/>
            <a:ext cx="8352928" cy="4287689"/>
          </a:xfrm>
        </p:spPr>
        <p:txBody>
          <a:bodyPr/>
          <a:lstStyle/>
          <a:p>
            <a:pPr algn="just" eaLnBrk="1" hangingPunct="1">
              <a:lnSpc>
                <a:spcPct val="150000"/>
              </a:lnSpc>
            </a:pPr>
            <a:r>
              <a:rPr lang="zh-CN" altLang="en-US" sz="2400" b="0"/>
              <a:t>为能</a:t>
            </a:r>
            <a:r>
              <a:rPr lang="zh-CN" altLang="en-US" sz="2400" b="0">
                <a:solidFill>
                  <a:srgbClr val="0066FF"/>
                </a:solidFill>
              </a:rPr>
              <a:t>删除</a:t>
            </a:r>
            <a:r>
              <a:rPr lang="zh-CN" altLang="en-US" sz="2400" b="0"/>
              <a:t>指定值的表元，首先要查找指定值的表元。</a:t>
            </a:r>
            <a:r>
              <a:rPr lang="zh-CN" altLang="en-US" sz="2400" u="sng"/>
              <a:t>若未找到</a:t>
            </a:r>
            <a:r>
              <a:rPr lang="zh-CN" altLang="en-US" sz="2400" b="0"/>
              <a:t>，则不做删除工作；</a:t>
            </a:r>
            <a:r>
              <a:rPr lang="zh-CN" altLang="en-US" sz="2400" u="sng"/>
              <a:t>若找到</a:t>
            </a:r>
            <a:r>
              <a:rPr lang="zh-CN" altLang="en-US" sz="2400" b="0"/>
              <a:t>，则将它从链表中删除。</a:t>
            </a:r>
          </a:p>
          <a:p>
            <a:pPr algn="just" eaLnBrk="1" hangingPunct="1">
              <a:lnSpc>
                <a:spcPct val="150000"/>
              </a:lnSpc>
            </a:pPr>
            <a:r>
              <a:rPr lang="zh-CN" altLang="en-US" sz="2400" b="0"/>
              <a:t>删除时还要</a:t>
            </a:r>
            <a:r>
              <a:rPr lang="zh-CN" altLang="en-US" sz="2400" b="0">
                <a:solidFill>
                  <a:srgbClr val="0066FF"/>
                </a:solidFill>
              </a:rPr>
              <a:t>考虑两种不同情况</a:t>
            </a:r>
            <a:r>
              <a:rPr lang="zh-CN" altLang="en-US" sz="2400" b="0"/>
              <a:t>，（</a:t>
            </a:r>
            <a:r>
              <a:rPr lang="en-US" altLang="zh-CN" sz="2400" b="0"/>
              <a:t>1</a:t>
            </a:r>
            <a:r>
              <a:rPr lang="zh-CN" altLang="en-US" sz="2400" b="0"/>
              <a:t>）</a:t>
            </a:r>
            <a:r>
              <a:rPr lang="zh-CN" altLang="en-US" sz="2400" u="sng"/>
              <a:t>如删的是首表元</a:t>
            </a:r>
            <a:r>
              <a:rPr lang="zh-CN" altLang="en-US" sz="2400" b="0"/>
              <a:t>，要更改链表头指针；（</a:t>
            </a:r>
            <a:r>
              <a:rPr lang="en-US" altLang="zh-CN" sz="2400" b="0"/>
              <a:t>2</a:t>
            </a:r>
            <a:r>
              <a:rPr lang="zh-CN" altLang="en-US" sz="2400" b="0"/>
              <a:t>）</a:t>
            </a:r>
            <a:r>
              <a:rPr lang="zh-CN" altLang="en-US" sz="2400" u="sng"/>
              <a:t>否则</a:t>
            </a:r>
            <a:r>
              <a:rPr lang="zh-CN" altLang="en-US" sz="2400" b="0"/>
              <a:t>更改前驱表元的后继指针。</a:t>
            </a:r>
          </a:p>
          <a:p>
            <a:pPr algn="just" eaLnBrk="1" hangingPunct="1">
              <a:lnSpc>
                <a:spcPct val="150000"/>
              </a:lnSpc>
            </a:pPr>
            <a:r>
              <a:rPr lang="zh-CN" altLang="en-US" sz="2400" b="0"/>
              <a:t>下面是</a:t>
            </a:r>
            <a:r>
              <a:rPr lang="zh-CN" altLang="en-US" sz="2400" b="0">
                <a:solidFill>
                  <a:srgbClr val="0066FF"/>
                </a:solidFill>
              </a:rPr>
              <a:t>无序整数链表上删除指定值表元</a:t>
            </a:r>
            <a:r>
              <a:rPr lang="zh-CN" altLang="en-US" sz="2400" b="0"/>
              <a:t>的函数。</a:t>
            </a:r>
            <a:endParaRPr lang="en-US" altLang="zh-CN" sz="2400" b="0"/>
          </a:p>
          <a:p>
            <a:pPr lvl="1" algn="just" eaLnBrk="1" hangingPunct="1">
              <a:lnSpc>
                <a:spcPct val="150000"/>
              </a:lnSpc>
            </a:pPr>
            <a:r>
              <a:rPr lang="zh-CN" altLang="en-US" sz="1800" b="0"/>
              <a:t>因函数在删除链表首表元时，要修改链表的头指针。为此，函数将对应</a:t>
            </a:r>
            <a:r>
              <a:rPr lang="zh-CN" altLang="en-US" sz="1800" u="sng"/>
              <a:t>链表头指针</a:t>
            </a:r>
            <a:r>
              <a:rPr lang="zh-CN" altLang="en-US" sz="1800" b="0"/>
              <a:t>的形参类型说明为</a:t>
            </a:r>
            <a:r>
              <a:rPr lang="zh-CN" altLang="en-US" sz="1800" b="0">
                <a:solidFill>
                  <a:srgbClr val="0066FF"/>
                </a:solidFill>
              </a:rPr>
              <a:t>指向指针的指针</a:t>
            </a:r>
            <a:r>
              <a:rPr lang="zh-CN" altLang="en-US" sz="1800" b="0"/>
              <a:t>。</a:t>
            </a:r>
            <a:endParaRPr lang="en-US" altLang="zh-CN" sz="1800" b="0"/>
          </a:p>
          <a:p>
            <a:pPr lvl="1" algn="just" eaLnBrk="1" hangingPunct="1">
              <a:lnSpc>
                <a:spcPct val="150000"/>
              </a:lnSpc>
            </a:pPr>
            <a:r>
              <a:rPr lang="zh-CN" altLang="en-US" sz="1800" b="0" u="sng"/>
              <a:t>函数返回</a:t>
            </a:r>
            <a:r>
              <a:rPr lang="zh-CN" altLang="en-US" sz="1800" b="0"/>
              <a:t>删除表元的指针。</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08671747-6B29-E05E-022A-61D0FC672E02}"/>
              </a:ext>
            </a:extLst>
          </p:cNvPr>
          <p:cNvSpPr>
            <a:spLocks noGrp="1" noChangeArrowheads="1"/>
          </p:cNvSpPr>
          <p:nvPr>
            <p:ph type="title"/>
          </p:nvPr>
        </p:nvSpPr>
        <p:spPr/>
        <p:txBody>
          <a:bodyPr/>
          <a:lstStyle/>
          <a:p>
            <a:pPr eaLnBrk="1" hangingPunct="1"/>
            <a:r>
              <a:rPr lang="zh-CN" altLang="en-US"/>
              <a:t>从链表删除指定值的表元</a:t>
            </a:r>
            <a:r>
              <a:rPr lang="en-US" altLang="zh-CN"/>
              <a:t>(</a:t>
            </a:r>
            <a:r>
              <a:rPr lang="zh-CN" altLang="en-US"/>
              <a:t>续</a:t>
            </a:r>
            <a:r>
              <a:rPr lang="en-US" altLang="zh-CN"/>
              <a:t>)</a:t>
            </a:r>
          </a:p>
        </p:txBody>
      </p:sp>
      <p:sp>
        <p:nvSpPr>
          <p:cNvPr id="155651" name="Rectangle 3">
            <a:extLst>
              <a:ext uri="{FF2B5EF4-FFF2-40B4-BE49-F238E27FC236}">
                <a16:creationId xmlns:a16="http://schemas.microsoft.com/office/drawing/2014/main" id="{C316785E-306C-A108-624E-06A2E41C0E25}"/>
              </a:ext>
            </a:extLst>
          </p:cNvPr>
          <p:cNvSpPr>
            <a:spLocks noGrp="1" noChangeArrowheads="1"/>
          </p:cNvSpPr>
          <p:nvPr>
            <p:ph type="body" idx="1"/>
          </p:nvPr>
        </p:nvSpPr>
        <p:spPr/>
        <p:txBody>
          <a:bodyPr/>
          <a:lstStyle/>
          <a:p>
            <a:pPr marL="533400" indent="-533400" eaLnBrk="1" hangingPunct="1">
              <a:lnSpc>
                <a:spcPct val="90000"/>
              </a:lnSpc>
            </a:pPr>
            <a:r>
              <a:rPr lang="zh-CN" altLang="en-US" sz="2400" b="0">
                <a:solidFill>
                  <a:srgbClr val="0066FF"/>
                </a:solidFill>
              </a:rPr>
              <a:t>无序整数链表</a:t>
            </a:r>
            <a:r>
              <a:rPr lang="zh-CN" altLang="en-US" sz="2400" b="0"/>
              <a:t>上删除指定值表元的函数</a:t>
            </a:r>
          </a:p>
          <a:p>
            <a:pPr marL="914400" lvl="1" indent="-457200" eaLnBrk="1" hangingPunct="1">
              <a:lnSpc>
                <a:spcPct val="90000"/>
              </a:lnSpc>
              <a:buFont typeface="Wingdings" pitchFamily="2" charset="2"/>
              <a:buAutoNum type="arabicPeriod"/>
            </a:pPr>
            <a:r>
              <a:rPr lang="en-US" altLang="zh-CN" sz="1800" b="0"/>
              <a:t>struct intNode*sDelete(struct intNode </a:t>
            </a:r>
            <a:r>
              <a:rPr lang="en-US" altLang="zh-CN" sz="1800" b="0">
                <a:solidFill>
                  <a:srgbClr val="0066FF"/>
                </a:solidFill>
              </a:rPr>
              <a:t>**hpt</a:t>
            </a:r>
            <a:r>
              <a:rPr lang="en-US" altLang="zh-CN" sz="1800" b="0"/>
              <a:t>, int key){</a:t>
            </a:r>
          </a:p>
          <a:p>
            <a:pPr marL="914400" lvl="1" indent="-457200" eaLnBrk="1" hangingPunct="1">
              <a:lnSpc>
                <a:spcPct val="90000"/>
              </a:lnSpc>
              <a:buFont typeface="Wingdings" pitchFamily="2" charset="2"/>
              <a:buAutoNum type="arabicPeriod"/>
            </a:pPr>
            <a:r>
              <a:rPr lang="en-US" altLang="zh-CN" sz="1800" b="0"/>
              <a:t>    struct intNode  *u, *w;</a:t>
            </a:r>
          </a:p>
          <a:p>
            <a:pPr marL="914400" lvl="1" indent="-457200" eaLnBrk="1" hangingPunct="1">
              <a:lnSpc>
                <a:spcPct val="90000"/>
              </a:lnSpc>
              <a:buFont typeface="Wingdings" pitchFamily="2" charset="2"/>
              <a:buAutoNum type="arabicPeriod"/>
            </a:pPr>
            <a:r>
              <a:rPr lang="en-US" altLang="zh-CN" sz="1800" b="0"/>
              <a:t>    u = *hpt;    </a:t>
            </a:r>
            <a:r>
              <a:rPr lang="en-US" altLang="zh-CN" sz="1800" b="0">
                <a:solidFill>
                  <a:schemeClr val="folHlink"/>
                </a:solidFill>
              </a:rPr>
              <a:t>//</a:t>
            </a:r>
            <a:r>
              <a:rPr lang="zh-CN" altLang="en-US" sz="1800" b="0">
                <a:solidFill>
                  <a:schemeClr val="folHlink"/>
                </a:solidFill>
              </a:rPr>
              <a:t>让</a:t>
            </a:r>
            <a:r>
              <a:rPr lang="en-US" altLang="zh-CN" sz="1800" b="0">
                <a:solidFill>
                  <a:schemeClr val="folHlink"/>
                </a:solidFill>
              </a:rPr>
              <a:t>u</a:t>
            </a:r>
            <a:r>
              <a:rPr lang="zh-CN" altLang="en-US" sz="1800" b="0">
                <a:solidFill>
                  <a:schemeClr val="folHlink"/>
                </a:solidFill>
              </a:rPr>
              <a:t>指向链表的首表元</a:t>
            </a:r>
          </a:p>
          <a:p>
            <a:pPr marL="914400" lvl="1" indent="-457200" eaLnBrk="1" hangingPunct="1">
              <a:lnSpc>
                <a:spcPct val="90000"/>
              </a:lnSpc>
              <a:buFont typeface="Wingdings" pitchFamily="2" charset="2"/>
              <a:buAutoNum type="arabicPeriod"/>
            </a:pPr>
            <a:r>
              <a:rPr lang="zh-CN" altLang="en-US" sz="1800" b="0"/>
              <a:t>    </a:t>
            </a:r>
            <a:r>
              <a:rPr lang="en-US" altLang="zh-CN" sz="1800" b="0"/>
              <a:t>while ((u != NULL) &amp;&amp; (u-&gt;value != key)) {</a:t>
            </a:r>
          </a:p>
          <a:p>
            <a:pPr marL="914400" lvl="1" indent="-457200" eaLnBrk="1" hangingPunct="1">
              <a:lnSpc>
                <a:spcPct val="90000"/>
              </a:lnSpc>
              <a:buFont typeface="Wingdings" pitchFamily="2" charset="2"/>
              <a:buAutoNum type="arabicPeriod"/>
            </a:pPr>
            <a:r>
              <a:rPr lang="en-US" altLang="zh-CN" sz="1800" b="0"/>
              <a:t>       w = u;    u = u -&gt; next; </a:t>
            </a:r>
          </a:p>
          <a:p>
            <a:pPr marL="914400" lvl="1" indent="-457200" eaLnBrk="1" hangingPunct="1">
              <a:lnSpc>
                <a:spcPct val="90000"/>
              </a:lnSpc>
              <a:buFont typeface="Wingdings" pitchFamily="2" charset="2"/>
              <a:buAutoNum type="arabicPeriod"/>
            </a:pPr>
            <a:r>
              <a:rPr lang="en-US" altLang="zh-CN" sz="1800" b="0"/>
              <a:t>    }</a:t>
            </a:r>
          </a:p>
          <a:p>
            <a:pPr marL="914400" lvl="1" indent="-457200" eaLnBrk="1" hangingPunct="1">
              <a:lnSpc>
                <a:spcPct val="90000"/>
              </a:lnSpc>
              <a:buFont typeface="Wingdings" pitchFamily="2" charset="2"/>
              <a:buAutoNum type="arabicPeriod"/>
            </a:pPr>
            <a:r>
              <a:rPr lang="en-US" altLang="zh-CN" sz="1800" b="0"/>
              <a:t>    if (u != NULL){         </a:t>
            </a:r>
            <a:r>
              <a:rPr lang="en-US" altLang="zh-CN" sz="1800" b="0">
                <a:solidFill>
                  <a:schemeClr val="folHlink"/>
                </a:solidFill>
              </a:rPr>
              <a:t>//</a:t>
            </a:r>
            <a:r>
              <a:rPr lang="zh-CN" altLang="en-US" sz="1800" b="0">
                <a:solidFill>
                  <a:schemeClr val="folHlink"/>
                </a:solidFill>
              </a:rPr>
              <a:t>链表中有值为</a:t>
            </a:r>
            <a:r>
              <a:rPr lang="en-US" altLang="zh-CN" sz="1800" b="0">
                <a:solidFill>
                  <a:schemeClr val="folHlink"/>
                </a:solidFill>
              </a:rPr>
              <a:t>key</a:t>
            </a:r>
            <a:r>
              <a:rPr lang="zh-CN" altLang="en-US" sz="1800" b="0">
                <a:solidFill>
                  <a:schemeClr val="folHlink"/>
                </a:solidFill>
              </a:rPr>
              <a:t>的表元</a:t>
            </a:r>
          </a:p>
          <a:p>
            <a:pPr marL="914400" lvl="1" indent="-457200" eaLnBrk="1" hangingPunct="1">
              <a:lnSpc>
                <a:spcPct val="90000"/>
              </a:lnSpc>
              <a:buFont typeface="Wingdings" pitchFamily="2" charset="2"/>
              <a:buAutoNum type="arabicPeriod"/>
            </a:pPr>
            <a:r>
              <a:rPr lang="zh-CN" altLang="en-US" sz="1800" b="0"/>
              <a:t>       </a:t>
            </a:r>
            <a:r>
              <a:rPr lang="en-US" altLang="zh-CN" sz="1800" b="0"/>
              <a:t>if (</a:t>
            </a:r>
            <a:r>
              <a:rPr lang="en-US" altLang="zh-CN" sz="1800" b="0">
                <a:solidFill>
                  <a:srgbClr val="0066FF"/>
                </a:solidFill>
              </a:rPr>
              <a:t>u == *hpt</a:t>
            </a:r>
            <a:r>
              <a:rPr lang="en-US" altLang="zh-CN" sz="1800" b="0"/>
              <a:t>) *hpt = u-&gt;next; </a:t>
            </a:r>
            <a:r>
              <a:rPr lang="en-US" altLang="zh-CN" sz="1800" b="0">
                <a:solidFill>
                  <a:schemeClr val="folHlink"/>
                </a:solidFill>
              </a:rPr>
              <a:t>//</a:t>
            </a:r>
            <a:r>
              <a:rPr lang="zh-CN" altLang="en-US" sz="1800" b="0">
                <a:solidFill>
                  <a:schemeClr val="folHlink"/>
                </a:solidFill>
              </a:rPr>
              <a:t>修改链表头指针</a:t>
            </a:r>
          </a:p>
          <a:p>
            <a:pPr marL="914400" lvl="1" indent="-457200" eaLnBrk="1" hangingPunct="1">
              <a:lnSpc>
                <a:spcPct val="90000"/>
              </a:lnSpc>
              <a:buFont typeface="Wingdings" pitchFamily="2" charset="2"/>
              <a:buAutoNum type="arabicPeriod"/>
            </a:pPr>
            <a:r>
              <a:rPr lang="zh-CN" altLang="en-US" sz="1800" b="0"/>
              <a:t>       </a:t>
            </a:r>
            <a:r>
              <a:rPr lang="en-US" altLang="zh-CN" sz="1800" b="0"/>
              <a:t>else  w-&gt;next = u-&gt;next;</a:t>
            </a:r>
          </a:p>
          <a:p>
            <a:pPr marL="914400" lvl="1" indent="-457200" eaLnBrk="1" hangingPunct="1">
              <a:lnSpc>
                <a:spcPct val="90000"/>
              </a:lnSpc>
              <a:buFont typeface="Wingdings" pitchFamily="2" charset="2"/>
              <a:buAutoNum type="arabicPeriod"/>
            </a:pPr>
            <a:r>
              <a:rPr lang="en-US" altLang="zh-CN" sz="1800" b="0"/>
              <a:t>       u-&gt;next = NULL ;</a:t>
            </a:r>
          </a:p>
          <a:p>
            <a:pPr marL="914400" lvl="1" indent="-457200" eaLnBrk="1" hangingPunct="1">
              <a:lnSpc>
                <a:spcPct val="90000"/>
              </a:lnSpc>
              <a:buFont typeface="Wingdings" pitchFamily="2" charset="2"/>
              <a:buAutoNum type="arabicPeriod"/>
            </a:pPr>
            <a:r>
              <a:rPr lang="en-US" altLang="zh-CN" sz="1800" b="0"/>
              <a:t>    }</a:t>
            </a:r>
          </a:p>
          <a:p>
            <a:pPr marL="914400" lvl="1" indent="-457200" eaLnBrk="1" hangingPunct="1">
              <a:lnSpc>
                <a:spcPct val="90000"/>
              </a:lnSpc>
              <a:buFont typeface="Wingdings" pitchFamily="2" charset="2"/>
              <a:buAutoNum type="arabicPeriod"/>
            </a:pPr>
            <a:r>
              <a:rPr lang="en-US" altLang="zh-CN" sz="1800" b="0"/>
              <a:t>    return  u;</a:t>
            </a:r>
          </a:p>
          <a:p>
            <a:pPr marL="914400" lvl="1" indent="-457200" eaLnBrk="1" hangingPunct="1">
              <a:lnSpc>
                <a:spcPct val="90000"/>
              </a:lnSpc>
              <a:buFont typeface="Wingdings" pitchFamily="2" charset="2"/>
              <a:buAutoNum type="arabicPeriod"/>
            </a:pPr>
            <a:r>
              <a:rPr lang="en-US" altLang="zh-CN" sz="1800" b="0"/>
              <a:t>}</a:t>
            </a:r>
          </a:p>
          <a:p>
            <a:pPr marL="533400" indent="-533400" eaLnBrk="1" hangingPunct="1">
              <a:lnSpc>
                <a:spcPct val="90000"/>
              </a:lnSpc>
            </a:pPr>
            <a:r>
              <a:rPr lang="zh-CN" altLang="en-US" sz="2400" b="0"/>
              <a:t>如有某链表头指针为 </a:t>
            </a:r>
            <a:r>
              <a:rPr lang="en-US" altLang="zh-CN" sz="2400" b="0"/>
              <a:t>head</a:t>
            </a:r>
            <a:r>
              <a:rPr lang="zh-CN" altLang="en-US" sz="2400" b="0"/>
              <a:t>，要删除表元值为 </a:t>
            </a:r>
            <a:r>
              <a:rPr lang="en-US" altLang="zh-CN" sz="2400" b="0"/>
              <a:t>5 </a:t>
            </a:r>
            <a:r>
              <a:rPr lang="zh-CN" altLang="en-US" sz="2400" b="0"/>
              <a:t>的表元，可用代码</a:t>
            </a:r>
            <a:r>
              <a:rPr lang="en-US" altLang="zh-CN" sz="2400" b="0"/>
              <a:t>p = sDelete</a:t>
            </a:r>
            <a:r>
              <a:rPr lang="en-US" altLang="zh-CN" sz="2400" b="0">
                <a:solidFill>
                  <a:srgbClr val="0066FF"/>
                </a:solidFill>
              </a:rPr>
              <a:t>(&amp;head</a:t>
            </a:r>
            <a:r>
              <a:rPr lang="en-US" altLang="zh-CN" sz="2400" b="0"/>
              <a:t>, 5)</a:t>
            </a:r>
            <a:r>
              <a:rPr lang="zh-CN" altLang="en-US" sz="2400" b="0"/>
              <a:t>来实现。</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2B514D60-74EE-7725-29FC-E5ACEA8CB78C}"/>
              </a:ext>
            </a:extLst>
          </p:cNvPr>
          <p:cNvSpPr>
            <a:spLocks noGrp="1" noChangeArrowheads="1"/>
          </p:cNvSpPr>
          <p:nvPr>
            <p:ph type="title"/>
          </p:nvPr>
        </p:nvSpPr>
        <p:spPr/>
        <p:txBody>
          <a:bodyPr/>
          <a:lstStyle/>
          <a:p>
            <a:pPr eaLnBrk="1" hangingPunct="1"/>
            <a:r>
              <a:rPr lang="zh-CN" altLang="en-US"/>
              <a:t>从链表删除指定值的表元</a:t>
            </a:r>
            <a:r>
              <a:rPr lang="en-US" altLang="zh-CN"/>
              <a:t>(</a:t>
            </a:r>
            <a:r>
              <a:rPr lang="zh-CN" altLang="en-US"/>
              <a:t>续</a:t>
            </a:r>
            <a:r>
              <a:rPr lang="en-US" altLang="zh-CN"/>
              <a:t>)</a:t>
            </a:r>
          </a:p>
        </p:txBody>
      </p:sp>
      <p:sp>
        <p:nvSpPr>
          <p:cNvPr id="156675" name="Rectangle 3">
            <a:extLst>
              <a:ext uri="{FF2B5EF4-FFF2-40B4-BE49-F238E27FC236}">
                <a16:creationId xmlns:a16="http://schemas.microsoft.com/office/drawing/2014/main" id="{BBDC4CEA-070E-BAD9-41B4-FAC6FB46B39A}"/>
              </a:ext>
            </a:extLst>
          </p:cNvPr>
          <p:cNvSpPr>
            <a:spLocks noGrp="1" noChangeArrowheads="1"/>
          </p:cNvSpPr>
          <p:nvPr>
            <p:ph type="body" idx="1"/>
          </p:nvPr>
        </p:nvSpPr>
        <p:spPr>
          <a:xfrm>
            <a:off x="827088" y="1844823"/>
            <a:ext cx="7633344" cy="4287689"/>
          </a:xfrm>
        </p:spPr>
        <p:txBody>
          <a:bodyPr/>
          <a:lstStyle/>
          <a:p>
            <a:pPr marL="533400" indent="-533400" eaLnBrk="1" hangingPunct="1"/>
            <a:r>
              <a:rPr lang="zh-CN" altLang="en-US" sz="2400" b="0"/>
              <a:t>如利用前面所述的</a:t>
            </a:r>
            <a:r>
              <a:rPr lang="zh-CN" altLang="en-US" sz="2400" b="0">
                <a:solidFill>
                  <a:srgbClr val="0066FF"/>
                </a:solidFill>
              </a:rPr>
              <a:t>无序链表</a:t>
            </a:r>
            <a:r>
              <a:rPr lang="zh-CN" altLang="en-US" sz="2400" b="0"/>
              <a:t>的动态查找函数，上述函数又可改写为：</a:t>
            </a:r>
          </a:p>
          <a:p>
            <a:pPr marL="914400" lvl="1" indent="-457200" eaLnBrk="1" hangingPunct="1">
              <a:buFont typeface="Wingdings" pitchFamily="2" charset="2"/>
              <a:buAutoNum type="arabicPeriod"/>
            </a:pPr>
            <a:r>
              <a:rPr lang="en-US" altLang="zh-CN" sz="2000" b="0"/>
              <a:t>struct intNode *sDelete(struct intNode  </a:t>
            </a:r>
            <a:r>
              <a:rPr lang="en-US" altLang="zh-CN" sz="2000" b="0">
                <a:solidFill>
                  <a:srgbClr val="0066FF"/>
                </a:solidFill>
              </a:rPr>
              <a:t>** hpt</a:t>
            </a:r>
            <a:r>
              <a:rPr lang="en-US" altLang="zh-CN" sz="2000" b="0"/>
              <a:t>, int key){</a:t>
            </a:r>
          </a:p>
          <a:p>
            <a:pPr marL="914400" lvl="1" indent="-457200" eaLnBrk="1" hangingPunct="1">
              <a:buFont typeface="Wingdings" pitchFamily="2" charset="2"/>
              <a:buAutoNum type="arabicPeriod"/>
            </a:pPr>
            <a:r>
              <a:rPr lang="en-US" altLang="zh-CN" sz="2000" b="0"/>
              <a:t>   struct intNnode  *u, *w;</a:t>
            </a:r>
          </a:p>
          <a:p>
            <a:pPr marL="914400" lvl="1" indent="-457200" eaLnBrk="1" hangingPunct="1">
              <a:buFont typeface="Wingdings" pitchFamily="2" charset="2"/>
              <a:buAutoNum type="arabicPeriod"/>
            </a:pPr>
            <a:r>
              <a:rPr lang="en-US" altLang="zh-CN" sz="2000" b="0"/>
              <a:t>   if ((u = </a:t>
            </a:r>
            <a:r>
              <a:rPr lang="en-US" altLang="zh-CN" sz="2000" b="0">
                <a:solidFill>
                  <a:srgbClr val="0066FF"/>
                </a:solidFill>
              </a:rPr>
              <a:t>searchDSLink</a:t>
            </a:r>
            <a:r>
              <a:rPr lang="en-US" altLang="zh-CN" sz="2000" b="0"/>
              <a:t>(*hpt, key, &amp;w)) == NULL)    </a:t>
            </a:r>
          </a:p>
          <a:p>
            <a:pPr marL="914400" lvl="1" indent="-457200" eaLnBrk="1" hangingPunct="1">
              <a:buFont typeface="Wingdings" pitchFamily="2" charset="2"/>
              <a:buAutoNum type="arabicPeriod"/>
            </a:pPr>
            <a:r>
              <a:rPr lang="en-US" altLang="zh-CN" sz="2000" b="0"/>
              <a:t>       return NULL;</a:t>
            </a:r>
          </a:p>
          <a:p>
            <a:pPr marL="914400" lvl="1" indent="-457200" eaLnBrk="1" hangingPunct="1">
              <a:buFont typeface="Wingdings" pitchFamily="2" charset="2"/>
              <a:buAutoNum type="arabicPeriod"/>
            </a:pPr>
            <a:r>
              <a:rPr lang="en-US" altLang="zh-CN" sz="2000" b="0"/>
              <a:t>   if(</a:t>
            </a:r>
            <a:r>
              <a:rPr lang="en-US" altLang="zh-CN" sz="2000" b="0">
                <a:solidFill>
                  <a:srgbClr val="0066FF"/>
                </a:solidFill>
              </a:rPr>
              <a:t>w==NULL</a:t>
            </a:r>
            <a:r>
              <a:rPr lang="en-US" altLang="zh-CN" sz="2000" b="0"/>
              <a:t>)*hpt=u-&gt;next; </a:t>
            </a:r>
            <a:r>
              <a:rPr lang="en-US" altLang="zh-CN" sz="2000" b="0">
                <a:solidFill>
                  <a:schemeClr val="folHlink"/>
                </a:solidFill>
              </a:rPr>
              <a:t>//</a:t>
            </a:r>
            <a:r>
              <a:rPr lang="zh-CN" altLang="en-US" sz="2000" b="0">
                <a:solidFill>
                  <a:schemeClr val="folHlink"/>
                </a:solidFill>
              </a:rPr>
              <a:t>修改链表头指针</a:t>
            </a:r>
          </a:p>
          <a:p>
            <a:pPr marL="914400" lvl="1" indent="-457200" eaLnBrk="1" hangingPunct="1">
              <a:buFont typeface="Wingdings" pitchFamily="2" charset="2"/>
              <a:buAutoNum type="arabicPeriod"/>
            </a:pPr>
            <a:r>
              <a:rPr lang="zh-CN" altLang="en-US" sz="2000" b="0"/>
              <a:t>   </a:t>
            </a:r>
            <a:r>
              <a:rPr lang="en-US" altLang="zh-CN" sz="2000" b="0"/>
              <a:t>else w-&gt;next = u-&gt;next;</a:t>
            </a:r>
          </a:p>
          <a:p>
            <a:pPr marL="914400" lvl="1" indent="-457200" eaLnBrk="1" hangingPunct="1">
              <a:buFont typeface="Wingdings" pitchFamily="2" charset="2"/>
              <a:buAutoNum type="arabicPeriod"/>
            </a:pPr>
            <a:r>
              <a:rPr lang="en-US" altLang="zh-CN" sz="2000" b="0"/>
              <a:t>   u-&gt;next = NULL;</a:t>
            </a:r>
          </a:p>
          <a:p>
            <a:pPr marL="914400" lvl="1" indent="-457200" eaLnBrk="1" hangingPunct="1">
              <a:buFont typeface="Wingdings" pitchFamily="2" charset="2"/>
              <a:buAutoNum type="arabicPeriod"/>
            </a:pPr>
            <a:r>
              <a:rPr lang="en-US" altLang="zh-CN" sz="2000" b="0"/>
              <a:t>   return u;</a:t>
            </a:r>
          </a:p>
          <a:p>
            <a:pPr marL="914400" lvl="1" indent="-457200" eaLnBrk="1" hangingPunct="1">
              <a:buFont typeface="Wingdings" pitchFamily="2" charset="2"/>
              <a:buAutoNum type="arabicPeriod"/>
            </a:pPr>
            <a:r>
              <a:rPr lang="en-US" altLang="zh-CN" sz="2000" b="0"/>
              <a:t>}</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E2FE5D32-4C0A-7E25-6DF4-EE41402CEBB1}"/>
              </a:ext>
            </a:extLst>
          </p:cNvPr>
          <p:cNvSpPr>
            <a:spLocks noGrp="1" noChangeArrowheads="1"/>
          </p:cNvSpPr>
          <p:nvPr>
            <p:ph type="title"/>
          </p:nvPr>
        </p:nvSpPr>
        <p:spPr/>
        <p:txBody>
          <a:bodyPr/>
          <a:lstStyle/>
          <a:p>
            <a:pPr eaLnBrk="1" hangingPunct="1"/>
            <a:r>
              <a:rPr lang="zh-CN" altLang="en-US"/>
              <a:t>从链表删除指定值的表元</a:t>
            </a:r>
            <a:r>
              <a:rPr lang="en-US" altLang="zh-CN"/>
              <a:t>(</a:t>
            </a:r>
            <a:r>
              <a:rPr lang="zh-CN" altLang="en-US"/>
              <a:t>续</a:t>
            </a:r>
            <a:r>
              <a:rPr lang="en-US" altLang="zh-CN"/>
              <a:t>)</a:t>
            </a:r>
          </a:p>
        </p:txBody>
      </p:sp>
      <p:sp>
        <p:nvSpPr>
          <p:cNvPr id="157699" name="Rectangle 3">
            <a:extLst>
              <a:ext uri="{FF2B5EF4-FFF2-40B4-BE49-F238E27FC236}">
                <a16:creationId xmlns:a16="http://schemas.microsoft.com/office/drawing/2014/main" id="{5526E86E-C2C5-DF44-C096-3299AEB53254}"/>
              </a:ext>
            </a:extLst>
          </p:cNvPr>
          <p:cNvSpPr>
            <a:spLocks noGrp="1" noChangeArrowheads="1"/>
          </p:cNvSpPr>
          <p:nvPr>
            <p:ph type="body" idx="1"/>
          </p:nvPr>
        </p:nvSpPr>
        <p:spPr>
          <a:xfrm>
            <a:off x="827088" y="1844823"/>
            <a:ext cx="8128000" cy="4287689"/>
          </a:xfrm>
        </p:spPr>
        <p:txBody>
          <a:bodyPr/>
          <a:lstStyle/>
          <a:p>
            <a:pPr marL="533400" indent="-533400" eaLnBrk="1" hangingPunct="1"/>
            <a:r>
              <a:rPr lang="zh-CN" altLang="en-US" sz="2400" b="0"/>
              <a:t>对于</a:t>
            </a:r>
            <a:r>
              <a:rPr lang="zh-CN" altLang="en-US" sz="2400" b="0">
                <a:solidFill>
                  <a:srgbClr val="0066FF"/>
                </a:solidFill>
              </a:rPr>
              <a:t>有序链表</a:t>
            </a:r>
            <a:r>
              <a:rPr lang="zh-CN" altLang="en-US" sz="2400" b="0"/>
              <a:t>，利用有序链表的动态查找函数：</a:t>
            </a:r>
          </a:p>
          <a:p>
            <a:pPr marL="914400" lvl="1" indent="-457200" eaLnBrk="1" hangingPunct="1">
              <a:buFont typeface="Wingdings" pitchFamily="2" charset="2"/>
              <a:buAutoNum type="arabicPeriod"/>
            </a:pPr>
            <a:r>
              <a:rPr lang="en-US" altLang="zh-CN" sz="2000" b="0"/>
              <a:t>struct intNode *rDelete(struct intNode  ** hpt, int key){</a:t>
            </a:r>
          </a:p>
          <a:p>
            <a:pPr marL="914400" lvl="1" indent="-457200" eaLnBrk="1" hangingPunct="1">
              <a:buFont typeface="Wingdings" pitchFamily="2" charset="2"/>
              <a:buAutoNum type="arabicPeriod"/>
            </a:pPr>
            <a:r>
              <a:rPr lang="en-US" altLang="zh-CN" sz="2000" b="0"/>
              <a:t>   struct intNode  *u, *w;</a:t>
            </a:r>
          </a:p>
          <a:p>
            <a:pPr marL="914400" lvl="1" indent="-457200" eaLnBrk="1" hangingPunct="1">
              <a:buFont typeface="Wingdings" pitchFamily="2" charset="2"/>
              <a:buAutoNum type="arabicPeriod"/>
            </a:pPr>
            <a:r>
              <a:rPr lang="en-US" altLang="zh-CN" sz="2000" b="0"/>
              <a:t>   if ((u = </a:t>
            </a:r>
            <a:r>
              <a:rPr lang="en-US" altLang="zh-CN" sz="2000" b="0">
                <a:solidFill>
                  <a:srgbClr val="0066FF"/>
                </a:solidFill>
              </a:rPr>
              <a:t>searchDOLink</a:t>
            </a:r>
            <a:r>
              <a:rPr lang="en-US" altLang="zh-CN" sz="2000" b="0"/>
              <a:t>(*hpt, key, &amp;w)) == NULL</a:t>
            </a:r>
            <a:br>
              <a:rPr lang="en-US" altLang="zh-CN" sz="2000" b="0"/>
            </a:br>
            <a:r>
              <a:rPr lang="en-US" altLang="zh-CN" sz="2000" b="0"/>
              <a:t>         || </a:t>
            </a:r>
            <a:r>
              <a:rPr lang="en-US" altLang="zh-CN" sz="2000" b="0">
                <a:solidFill>
                  <a:srgbClr val="0066FF"/>
                </a:solidFill>
              </a:rPr>
              <a:t>u-&gt;value != key</a:t>
            </a:r>
            <a:r>
              <a:rPr lang="en-US" altLang="zh-CN" sz="2000" b="0"/>
              <a:t>) </a:t>
            </a:r>
          </a:p>
          <a:p>
            <a:pPr marL="914400" lvl="1" indent="-457200" eaLnBrk="1" hangingPunct="1">
              <a:buFont typeface="Wingdings" pitchFamily="2" charset="2"/>
              <a:buAutoNum type="arabicPeriod"/>
            </a:pPr>
            <a:r>
              <a:rPr lang="en-US" altLang="zh-CN" sz="2000" b="0"/>
              <a:t>             return NULL;</a:t>
            </a:r>
          </a:p>
          <a:p>
            <a:pPr marL="914400" lvl="1" indent="-457200" eaLnBrk="1" hangingPunct="1">
              <a:buFont typeface="Wingdings" pitchFamily="2" charset="2"/>
              <a:buAutoNum type="arabicPeriod"/>
            </a:pPr>
            <a:r>
              <a:rPr lang="en-US" altLang="zh-CN" sz="2000" b="0"/>
              <a:t>   if(</a:t>
            </a:r>
            <a:r>
              <a:rPr lang="en-US" altLang="zh-CN" sz="2000" b="0">
                <a:solidFill>
                  <a:srgbClr val="0066FF"/>
                </a:solidFill>
              </a:rPr>
              <a:t>w==NULL</a:t>
            </a:r>
            <a:r>
              <a:rPr lang="en-US" altLang="zh-CN" sz="2000" b="0"/>
              <a:t>)  *hpt=u-&gt;next; </a:t>
            </a:r>
            <a:r>
              <a:rPr lang="en-US" altLang="zh-CN" sz="2000" b="0">
                <a:solidFill>
                  <a:schemeClr val="folHlink"/>
                </a:solidFill>
              </a:rPr>
              <a:t>//</a:t>
            </a:r>
            <a:r>
              <a:rPr lang="zh-CN" altLang="en-US" sz="2000" b="0">
                <a:solidFill>
                  <a:schemeClr val="folHlink"/>
                </a:solidFill>
              </a:rPr>
              <a:t>修改链表头指针</a:t>
            </a:r>
          </a:p>
          <a:p>
            <a:pPr marL="914400" lvl="1" indent="-457200" eaLnBrk="1" hangingPunct="1">
              <a:buFont typeface="Wingdings" pitchFamily="2" charset="2"/>
              <a:buAutoNum type="arabicPeriod"/>
            </a:pPr>
            <a:r>
              <a:rPr lang="zh-CN" altLang="en-US" sz="2000" b="0"/>
              <a:t>   </a:t>
            </a:r>
            <a:r>
              <a:rPr lang="en-US" altLang="zh-CN" sz="2000" b="0"/>
              <a:t>else                w-&gt;next = u-&gt;next;</a:t>
            </a:r>
          </a:p>
          <a:p>
            <a:pPr marL="914400" lvl="1" indent="-457200" eaLnBrk="1" hangingPunct="1">
              <a:buFont typeface="Wingdings" pitchFamily="2" charset="2"/>
              <a:buAutoNum type="arabicPeriod"/>
            </a:pPr>
            <a:r>
              <a:rPr lang="en-US" altLang="zh-CN" sz="2000" b="0"/>
              <a:t>   u-&gt;next = NULL;</a:t>
            </a:r>
          </a:p>
          <a:p>
            <a:pPr marL="914400" lvl="1" indent="-457200" eaLnBrk="1" hangingPunct="1">
              <a:buFont typeface="Wingdings" pitchFamily="2" charset="2"/>
              <a:buAutoNum type="arabicPeriod"/>
            </a:pPr>
            <a:r>
              <a:rPr lang="en-US" altLang="zh-CN" sz="2000" b="0"/>
              <a:t>   return u;</a:t>
            </a:r>
          </a:p>
          <a:p>
            <a:pPr marL="914400" lvl="1" indent="-457200" eaLnBrk="1" hangingPunct="1">
              <a:buFont typeface="Wingdings" pitchFamily="2" charset="2"/>
              <a:buAutoNum type="arabicPeriod"/>
            </a:pPr>
            <a:r>
              <a:rPr lang="en-US" altLang="zh-CN" sz="2000" b="0"/>
              <a:t>}</a:t>
            </a:r>
          </a:p>
          <a:p>
            <a:pPr marL="533400" indent="-533400" eaLnBrk="1" hangingPunct="1"/>
            <a:endParaRPr lang="en-US" altLang="zh-CN" sz="2400" b="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9A0C81F1-720B-A57C-8D7B-50CCE77456A2}"/>
              </a:ext>
            </a:extLst>
          </p:cNvPr>
          <p:cNvSpPr>
            <a:spLocks noGrp="1" noChangeArrowheads="1"/>
          </p:cNvSpPr>
          <p:nvPr>
            <p:ph type="title"/>
          </p:nvPr>
        </p:nvSpPr>
        <p:spPr/>
        <p:txBody>
          <a:bodyPr/>
          <a:lstStyle/>
          <a:p>
            <a:pPr eaLnBrk="1" hangingPunct="1"/>
            <a:r>
              <a:rPr lang="zh-CN" altLang="en-US" sz="3600"/>
              <a:t>在有序链表中插入指定值的表元</a:t>
            </a:r>
            <a:r>
              <a:rPr lang="en-US" altLang="zh-CN" sz="3600"/>
              <a:t>(*)</a:t>
            </a:r>
          </a:p>
        </p:txBody>
      </p:sp>
      <p:sp>
        <p:nvSpPr>
          <p:cNvPr id="158723" name="Rectangle 3">
            <a:extLst>
              <a:ext uri="{FF2B5EF4-FFF2-40B4-BE49-F238E27FC236}">
                <a16:creationId xmlns:a16="http://schemas.microsoft.com/office/drawing/2014/main" id="{C20224F8-1B5A-ADC4-2B98-44A3C5DE1F81}"/>
              </a:ext>
            </a:extLst>
          </p:cNvPr>
          <p:cNvSpPr>
            <a:spLocks noGrp="1" noChangeArrowheads="1"/>
          </p:cNvSpPr>
          <p:nvPr>
            <p:ph type="body" idx="1"/>
          </p:nvPr>
        </p:nvSpPr>
        <p:spPr>
          <a:xfrm>
            <a:off x="827088" y="1628775"/>
            <a:ext cx="7866062" cy="4503738"/>
          </a:xfrm>
        </p:spPr>
        <p:txBody>
          <a:bodyPr/>
          <a:lstStyle/>
          <a:p>
            <a:pPr marL="533400" indent="-533400" eaLnBrk="1" hangingPunct="1"/>
            <a:r>
              <a:rPr lang="zh-CN" altLang="en-US" sz="1800" b="0"/>
              <a:t>寻找插入位置，比较插入处表元</a:t>
            </a:r>
            <a:r>
              <a:rPr lang="zh-CN" altLang="en-US" sz="1800" u="sng"/>
              <a:t>是否就是指定值的表元</a:t>
            </a:r>
            <a:r>
              <a:rPr lang="zh-CN" altLang="en-US" sz="1800" b="0"/>
              <a:t>。若是就不再插入；否则，生成新表元并插入之。</a:t>
            </a:r>
          </a:p>
          <a:p>
            <a:pPr marL="533400" indent="-533400" eaLnBrk="1" hangingPunct="1"/>
            <a:r>
              <a:rPr lang="zh-CN" altLang="en-US" sz="1800" b="0"/>
              <a:t>函数 </a:t>
            </a:r>
            <a:r>
              <a:rPr lang="en-US" altLang="zh-CN" sz="1800" b="0"/>
              <a:t>rInserte()</a:t>
            </a:r>
            <a:r>
              <a:rPr lang="zh-CN" altLang="en-US" sz="1800" b="0"/>
              <a:t>返回整型值，</a:t>
            </a:r>
            <a:r>
              <a:rPr lang="en-US" altLang="zh-CN" sz="1800" b="0"/>
              <a:t>1</a:t>
            </a:r>
            <a:r>
              <a:rPr lang="zh-CN" altLang="en-US" sz="1800" b="0"/>
              <a:t>表示链表中已有指定值的表示，本次函数调用未插入新表元；返回</a:t>
            </a:r>
            <a:r>
              <a:rPr lang="en-US" altLang="zh-CN" sz="1800" b="0"/>
              <a:t>0</a:t>
            </a:r>
            <a:r>
              <a:rPr lang="zh-CN" altLang="en-US" sz="1800" b="0"/>
              <a:t>，表示正确完成插入工作。</a:t>
            </a:r>
          </a:p>
          <a:p>
            <a:pPr marL="914400" lvl="1" indent="-457200" eaLnBrk="1" hangingPunct="1">
              <a:buFont typeface="Wingdings" pitchFamily="2" charset="2"/>
              <a:buAutoNum type="arabicPeriod"/>
            </a:pPr>
            <a:r>
              <a:rPr lang="en-US" altLang="zh-CN" sz="1600" b="0"/>
              <a:t>int rInserte(struct intNode  </a:t>
            </a:r>
            <a:r>
              <a:rPr lang="en-US" altLang="zh-CN" sz="1600" b="0">
                <a:solidFill>
                  <a:srgbClr val="0066FF"/>
                </a:solidFill>
              </a:rPr>
              <a:t>** hpt</a:t>
            </a:r>
            <a:r>
              <a:rPr lang="en-US" altLang="zh-CN" sz="1600" b="0"/>
              <a:t>, int key){</a:t>
            </a:r>
          </a:p>
          <a:p>
            <a:pPr marL="914400" lvl="1" indent="-457200" eaLnBrk="1" hangingPunct="1">
              <a:buFont typeface="Wingdings" pitchFamily="2" charset="2"/>
              <a:buAutoNum type="arabicPeriod"/>
            </a:pPr>
            <a:r>
              <a:rPr lang="en-US" altLang="zh-CN" sz="1600" b="0"/>
              <a:t>    struct intNode  *u, *w, *p;</a:t>
            </a:r>
          </a:p>
          <a:p>
            <a:pPr marL="914400" lvl="1" indent="-457200" eaLnBrk="1" hangingPunct="1">
              <a:buFont typeface="Wingdings" pitchFamily="2" charset="2"/>
              <a:buAutoNum type="arabicPeriod"/>
            </a:pPr>
            <a:r>
              <a:rPr lang="en-US" altLang="zh-CN" sz="1600" b="0"/>
              <a:t>    if ((u = searchDOLink(*hpt, key, &amp;w)) == NULL</a:t>
            </a:r>
            <a:br>
              <a:rPr lang="en-US" altLang="zh-CN" sz="1600" b="0"/>
            </a:br>
            <a:r>
              <a:rPr lang="en-US" altLang="zh-CN" sz="1600" b="0"/>
              <a:t>                || u-&gt;value != key) {</a:t>
            </a:r>
          </a:p>
          <a:p>
            <a:pPr marL="914400" lvl="1" indent="-457200" eaLnBrk="1" hangingPunct="1">
              <a:buFont typeface="Wingdings" pitchFamily="2" charset="2"/>
              <a:buAutoNum type="arabicPeriod"/>
            </a:pPr>
            <a:r>
              <a:rPr lang="en-US" altLang="zh-CN" sz="1600" b="0"/>
              <a:t>        p=(struct intNode*)</a:t>
            </a:r>
            <a:r>
              <a:rPr lang="en-US" altLang="zh-CN" sz="1600" b="0">
                <a:solidFill>
                  <a:srgbClr val="0066FF"/>
                </a:solidFill>
              </a:rPr>
              <a:t>malloc</a:t>
            </a:r>
            <a:r>
              <a:rPr lang="en-US" altLang="zh-CN" sz="1600" b="0"/>
              <a:t>(sizeof(struct intNode));</a:t>
            </a:r>
          </a:p>
          <a:p>
            <a:pPr marL="914400" lvl="1" indent="-457200" eaLnBrk="1" hangingPunct="1">
              <a:buFont typeface="Wingdings" pitchFamily="2" charset="2"/>
              <a:buAutoNum type="arabicPeriod"/>
            </a:pPr>
            <a:r>
              <a:rPr lang="en-US" altLang="zh-CN" sz="1600" b="0"/>
              <a:t>        p-&gt;value = key;</a:t>
            </a:r>
          </a:p>
          <a:p>
            <a:pPr marL="914400" lvl="1" indent="-457200" eaLnBrk="1" hangingPunct="1">
              <a:buFont typeface="Wingdings" pitchFamily="2" charset="2"/>
              <a:buAutoNum type="arabicPeriod"/>
            </a:pPr>
            <a:r>
              <a:rPr lang="en-US" altLang="zh-CN" sz="1600" b="0"/>
              <a:t>        p-&gt;next = u;</a:t>
            </a:r>
          </a:p>
          <a:p>
            <a:pPr marL="914400" lvl="1" indent="-457200" eaLnBrk="1" hangingPunct="1">
              <a:buFont typeface="Wingdings" pitchFamily="2" charset="2"/>
              <a:buAutoNum type="arabicPeriod"/>
            </a:pPr>
            <a:r>
              <a:rPr lang="en-US" altLang="zh-CN" sz="1600" b="0"/>
              <a:t>        if (</a:t>
            </a:r>
            <a:r>
              <a:rPr lang="en-US" altLang="zh-CN" sz="1600" b="0">
                <a:solidFill>
                  <a:srgbClr val="0066FF"/>
                </a:solidFill>
              </a:rPr>
              <a:t>w==NULL</a:t>
            </a:r>
            <a:r>
              <a:rPr lang="en-US" altLang="zh-CN" sz="1600" b="0"/>
              <a:t>) *hpt = p; </a:t>
            </a:r>
            <a:r>
              <a:rPr lang="en-US" altLang="zh-CN" sz="1600" b="0">
                <a:solidFill>
                  <a:schemeClr val="folHlink"/>
                </a:solidFill>
              </a:rPr>
              <a:t>//</a:t>
            </a:r>
            <a:r>
              <a:rPr lang="zh-CN" altLang="en-US" sz="1600" b="0">
                <a:solidFill>
                  <a:schemeClr val="folHlink"/>
                </a:solidFill>
              </a:rPr>
              <a:t>修改链表头指针</a:t>
            </a:r>
          </a:p>
          <a:p>
            <a:pPr marL="914400" lvl="1" indent="-457200" eaLnBrk="1" hangingPunct="1">
              <a:buFont typeface="Wingdings" pitchFamily="2" charset="2"/>
              <a:buAutoNum type="arabicPeriod"/>
            </a:pPr>
            <a:r>
              <a:rPr lang="zh-CN" altLang="en-US" sz="1600" b="0"/>
              <a:t>        </a:t>
            </a:r>
            <a:r>
              <a:rPr lang="en-US" altLang="zh-CN" sz="1600" b="0"/>
              <a:t>else w-&gt;next = p;</a:t>
            </a:r>
          </a:p>
          <a:p>
            <a:pPr marL="914400" lvl="1" indent="-457200" eaLnBrk="1" hangingPunct="1">
              <a:buFont typeface="Wingdings" pitchFamily="2" charset="2"/>
              <a:buAutoNum type="arabicPeriod"/>
            </a:pPr>
            <a:r>
              <a:rPr lang="en-US" altLang="zh-CN" sz="1600" b="0"/>
              <a:t>        return 0;  </a:t>
            </a:r>
            <a:r>
              <a:rPr lang="en-US" altLang="zh-CN" sz="1600" b="0">
                <a:solidFill>
                  <a:schemeClr val="folHlink"/>
                </a:solidFill>
              </a:rPr>
              <a:t>//</a:t>
            </a:r>
            <a:r>
              <a:rPr lang="zh-CN" altLang="en-US" sz="1600" b="0">
                <a:solidFill>
                  <a:schemeClr val="folHlink"/>
                </a:solidFill>
              </a:rPr>
              <a:t>插入新结点成功</a:t>
            </a:r>
          </a:p>
          <a:p>
            <a:pPr marL="914400" lvl="1" indent="-457200" eaLnBrk="1" hangingPunct="1">
              <a:buFont typeface="Wingdings" pitchFamily="2" charset="2"/>
              <a:buAutoNum type="arabicPeriod"/>
            </a:pPr>
            <a:r>
              <a:rPr lang="zh-CN" altLang="en-US" sz="1600" b="0"/>
              <a:t>    </a:t>
            </a:r>
            <a:r>
              <a:rPr lang="en-US" altLang="zh-CN" sz="1600" b="0"/>
              <a:t>}</a:t>
            </a:r>
          </a:p>
          <a:p>
            <a:pPr marL="914400" lvl="1" indent="-457200" eaLnBrk="1" hangingPunct="1">
              <a:buFont typeface="Wingdings" pitchFamily="2" charset="2"/>
              <a:buAutoNum type="arabicPeriod"/>
            </a:pPr>
            <a:r>
              <a:rPr lang="en-US" altLang="zh-CN" sz="1600" b="0"/>
              <a:t>    return 1; </a:t>
            </a:r>
            <a:r>
              <a:rPr lang="en-US" altLang="zh-CN" sz="1600" b="0">
                <a:solidFill>
                  <a:schemeClr val="folHlink"/>
                </a:solidFill>
              </a:rPr>
              <a:t>//</a:t>
            </a:r>
            <a:r>
              <a:rPr lang="zh-CN" altLang="en-US" sz="1600" b="0">
                <a:solidFill>
                  <a:schemeClr val="folHlink"/>
                </a:solidFill>
              </a:rPr>
              <a:t>链表已有值为</a:t>
            </a:r>
            <a:r>
              <a:rPr lang="en-US" altLang="zh-CN" sz="1600" b="0">
                <a:solidFill>
                  <a:schemeClr val="folHlink"/>
                </a:solidFill>
              </a:rPr>
              <a:t>key</a:t>
            </a:r>
            <a:r>
              <a:rPr lang="zh-CN" altLang="en-US" sz="1600" b="0">
                <a:solidFill>
                  <a:schemeClr val="folHlink"/>
                </a:solidFill>
              </a:rPr>
              <a:t>的表元</a:t>
            </a:r>
          </a:p>
          <a:p>
            <a:pPr marL="914400" lvl="1" indent="-457200" eaLnBrk="1" hangingPunct="1">
              <a:buFont typeface="Wingdings" pitchFamily="2" charset="2"/>
              <a:buAutoNum type="arabicPeriod"/>
            </a:pPr>
            <a:r>
              <a:rPr lang="en-US" altLang="zh-CN" sz="1600" b="0"/>
              <a: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F089E223-A29F-763D-850C-BA1F074B43F6}"/>
              </a:ext>
            </a:extLst>
          </p:cNvPr>
          <p:cNvSpPr>
            <a:spLocks noGrp="1" noChangeArrowheads="1"/>
          </p:cNvSpPr>
          <p:nvPr>
            <p:ph type="title"/>
          </p:nvPr>
        </p:nvSpPr>
        <p:spPr/>
        <p:txBody>
          <a:bodyPr/>
          <a:lstStyle/>
          <a:p>
            <a:pPr eaLnBrk="1" hangingPunct="1"/>
            <a:r>
              <a:rPr lang="zh-CN" altLang="en-US" sz="4000"/>
              <a:t>插入、删除时要考虑头指针</a:t>
            </a:r>
          </a:p>
        </p:txBody>
      </p:sp>
      <p:sp>
        <p:nvSpPr>
          <p:cNvPr id="159747" name="Rectangle 3">
            <a:extLst>
              <a:ext uri="{FF2B5EF4-FFF2-40B4-BE49-F238E27FC236}">
                <a16:creationId xmlns:a16="http://schemas.microsoft.com/office/drawing/2014/main" id="{81C025F8-2F43-CA77-9F18-A5431FB6C216}"/>
              </a:ext>
            </a:extLst>
          </p:cNvPr>
          <p:cNvSpPr>
            <a:spLocks noGrp="1" noChangeArrowheads="1"/>
          </p:cNvSpPr>
          <p:nvPr>
            <p:ph type="body" idx="1"/>
          </p:nvPr>
        </p:nvSpPr>
        <p:spPr>
          <a:xfrm>
            <a:off x="827088" y="1844823"/>
            <a:ext cx="7793037" cy="4287689"/>
          </a:xfrm>
        </p:spPr>
        <p:txBody>
          <a:bodyPr/>
          <a:lstStyle/>
          <a:p>
            <a:pPr eaLnBrk="1" hangingPunct="1">
              <a:lnSpc>
                <a:spcPct val="150000"/>
              </a:lnSpc>
            </a:pPr>
            <a:r>
              <a:rPr lang="zh-CN" altLang="en-US" sz="2400" b="0"/>
              <a:t>插入新表元要考虑插入在首表元之前，删除表元也要考虑删除链表首表元。并对这两种情况，都需</a:t>
            </a:r>
            <a:r>
              <a:rPr lang="zh-CN" altLang="en-US" sz="2400" b="0">
                <a:solidFill>
                  <a:srgbClr val="0066FF"/>
                </a:solidFill>
              </a:rPr>
              <a:t>修改链表头指针</a:t>
            </a:r>
            <a:r>
              <a:rPr lang="zh-CN" altLang="en-US" sz="2400" b="0"/>
              <a:t>。</a:t>
            </a:r>
          </a:p>
          <a:p>
            <a:pPr eaLnBrk="1" hangingPunct="1">
              <a:lnSpc>
                <a:spcPct val="150000"/>
              </a:lnSpc>
            </a:pPr>
            <a:r>
              <a:rPr lang="zh-CN" altLang="en-US" sz="2400" b="0">
                <a:solidFill>
                  <a:srgbClr val="0066FF"/>
                </a:solidFill>
              </a:rPr>
              <a:t>辅助表元方法</a:t>
            </a:r>
            <a:r>
              <a:rPr lang="zh-CN" altLang="en-US" sz="2400" b="0"/>
              <a:t>：为了</a:t>
            </a:r>
            <a:r>
              <a:rPr lang="zh-CN" altLang="en-US" sz="2400" u="sng"/>
              <a:t>避免判别是否是链表的首表元和修改链表头指针</a:t>
            </a:r>
            <a:r>
              <a:rPr lang="zh-CN" altLang="en-US" sz="2400" b="0"/>
              <a:t>，单链表通常增设一个</a:t>
            </a:r>
            <a:r>
              <a:rPr lang="zh-CN" altLang="en-US" sz="2400" b="0">
                <a:solidFill>
                  <a:srgbClr val="0066FF"/>
                </a:solidFill>
              </a:rPr>
              <a:t>辅助表元</a:t>
            </a:r>
            <a:r>
              <a:rPr lang="zh-CN" altLang="en-US" sz="2400" b="0"/>
              <a:t>，它出现在链表有效表元的首表元之前。</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024D7238-CB7C-D389-95BE-0616492EEC7D}"/>
              </a:ext>
            </a:extLst>
          </p:cNvPr>
          <p:cNvSpPr>
            <a:spLocks noGrp="1" noChangeArrowheads="1"/>
          </p:cNvSpPr>
          <p:nvPr>
            <p:ph type="title"/>
          </p:nvPr>
        </p:nvSpPr>
        <p:spPr/>
        <p:txBody>
          <a:bodyPr/>
          <a:lstStyle/>
          <a:p>
            <a:pPr eaLnBrk="1" hangingPunct="1"/>
            <a:r>
              <a:rPr lang="zh-CN" altLang="en-US"/>
              <a:t>图</a:t>
            </a:r>
            <a:r>
              <a:rPr lang="en-US" altLang="zh-CN"/>
              <a:t>7.6  </a:t>
            </a:r>
            <a:r>
              <a:rPr lang="zh-CN" altLang="en-US"/>
              <a:t>带辅助表元的链表</a:t>
            </a:r>
          </a:p>
        </p:txBody>
      </p:sp>
      <p:sp>
        <p:nvSpPr>
          <p:cNvPr id="814083" name="Rectangle 3">
            <a:extLst>
              <a:ext uri="{FF2B5EF4-FFF2-40B4-BE49-F238E27FC236}">
                <a16:creationId xmlns:a16="http://schemas.microsoft.com/office/drawing/2014/main" id="{297E0DFC-55F2-352F-ACEE-A1D898977F11}"/>
              </a:ext>
            </a:extLst>
          </p:cNvPr>
          <p:cNvSpPr>
            <a:spLocks noGrp="1" noChangeArrowheads="1"/>
          </p:cNvSpPr>
          <p:nvPr>
            <p:ph type="body" idx="1"/>
          </p:nvPr>
        </p:nvSpPr>
        <p:spPr>
          <a:xfrm>
            <a:off x="1066800" y="3810000"/>
            <a:ext cx="7626345" cy="2571750"/>
          </a:xfrm>
        </p:spPr>
        <p:txBody>
          <a:bodyPr/>
          <a:lstStyle/>
          <a:p>
            <a:pPr eaLnBrk="1" hangingPunct="1">
              <a:lnSpc>
                <a:spcPct val="90000"/>
              </a:lnSpc>
            </a:pPr>
            <a:endParaRPr lang="en-US" altLang="zh-CN" sz="2400" b="0"/>
          </a:p>
          <a:p>
            <a:pPr algn="just" eaLnBrk="1" hangingPunct="1">
              <a:lnSpc>
                <a:spcPct val="150000"/>
              </a:lnSpc>
            </a:pPr>
            <a:r>
              <a:rPr lang="zh-CN" altLang="en-US" sz="2000" b="0"/>
              <a:t>在带辅助表元链表上的插入或删除表元的操作，因总是在辅助表元之后进行，不再需要判别是否是链表的首表元，也不会对链表头指针作修改。</a:t>
            </a:r>
          </a:p>
          <a:p>
            <a:pPr algn="just" eaLnBrk="1" hangingPunct="1">
              <a:lnSpc>
                <a:spcPct val="150000"/>
              </a:lnSpc>
            </a:pPr>
            <a:r>
              <a:rPr lang="zh-CN" altLang="en-US" sz="2000"/>
              <a:t>*课外练习</a:t>
            </a:r>
            <a:r>
              <a:rPr lang="zh-CN" altLang="en-US" sz="2000" b="0"/>
              <a:t>：修改之前讨论的函数，使它们适应链表带辅助表元的情况。</a:t>
            </a:r>
          </a:p>
        </p:txBody>
      </p:sp>
      <p:grpSp>
        <p:nvGrpSpPr>
          <p:cNvPr id="160772" name="Group 4">
            <a:extLst>
              <a:ext uri="{FF2B5EF4-FFF2-40B4-BE49-F238E27FC236}">
                <a16:creationId xmlns:a16="http://schemas.microsoft.com/office/drawing/2014/main" id="{ECC94CEC-44A1-7CA8-1092-E2292B0F2E1C}"/>
              </a:ext>
            </a:extLst>
          </p:cNvPr>
          <p:cNvGrpSpPr>
            <a:grpSpLocks/>
          </p:cNvGrpSpPr>
          <p:nvPr/>
        </p:nvGrpSpPr>
        <p:grpSpPr bwMode="auto">
          <a:xfrm>
            <a:off x="762000" y="1676400"/>
            <a:ext cx="8077200" cy="2057400"/>
            <a:chOff x="61" y="397"/>
            <a:chExt cx="5699" cy="1667"/>
          </a:xfrm>
        </p:grpSpPr>
        <p:sp>
          <p:nvSpPr>
            <p:cNvPr id="160773" name="Line 5">
              <a:extLst>
                <a:ext uri="{FF2B5EF4-FFF2-40B4-BE49-F238E27FC236}">
                  <a16:creationId xmlns:a16="http://schemas.microsoft.com/office/drawing/2014/main" id="{DF268AB4-72A4-AF43-38A9-755503ABABD3}"/>
                </a:ext>
              </a:extLst>
            </p:cNvPr>
            <p:cNvSpPr>
              <a:spLocks noChangeShapeType="1"/>
            </p:cNvSpPr>
            <p:nvPr/>
          </p:nvSpPr>
          <p:spPr bwMode="auto">
            <a:xfrm>
              <a:off x="311" y="576"/>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74" name="Line 6">
              <a:extLst>
                <a:ext uri="{FF2B5EF4-FFF2-40B4-BE49-F238E27FC236}">
                  <a16:creationId xmlns:a16="http://schemas.microsoft.com/office/drawing/2014/main" id="{5EBAF5D8-2410-A960-1199-609486F73C25}"/>
                </a:ext>
              </a:extLst>
            </p:cNvPr>
            <p:cNvSpPr>
              <a:spLocks noChangeShapeType="1"/>
            </p:cNvSpPr>
            <p:nvPr/>
          </p:nvSpPr>
          <p:spPr bwMode="auto">
            <a:xfrm>
              <a:off x="887" y="57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75" name="Line 7">
              <a:extLst>
                <a:ext uri="{FF2B5EF4-FFF2-40B4-BE49-F238E27FC236}">
                  <a16:creationId xmlns:a16="http://schemas.microsoft.com/office/drawing/2014/main" id="{5DC818B8-505F-BA22-392F-42B4CFC3C6AA}"/>
                </a:ext>
              </a:extLst>
            </p:cNvPr>
            <p:cNvSpPr>
              <a:spLocks noChangeShapeType="1"/>
            </p:cNvSpPr>
            <p:nvPr/>
          </p:nvSpPr>
          <p:spPr bwMode="auto">
            <a:xfrm flipH="1">
              <a:off x="311" y="816"/>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76" name="Line 8">
              <a:extLst>
                <a:ext uri="{FF2B5EF4-FFF2-40B4-BE49-F238E27FC236}">
                  <a16:creationId xmlns:a16="http://schemas.microsoft.com/office/drawing/2014/main" id="{8B271B0F-EBA5-145E-0A89-94D1C1A6D410}"/>
                </a:ext>
              </a:extLst>
            </p:cNvPr>
            <p:cNvSpPr>
              <a:spLocks noChangeShapeType="1"/>
            </p:cNvSpPr>
            <p:nvPr/>
          </p:nvSpPr>
          <p:spPr bwMode="auto">
            <a:xfrm flipV="1">
              <a:off x="311" y="57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77" name="Line 9">
              <a:extLst>
                <a:ext uri="{FF2B5EF4-FFF2-40B4-BE49-F238E27FC236}">
                  <a16:creationId xmlns:a16="http://schemas.microsoft.com/office/drawing/2014/main" id="{BC2E6E04-2212-2A75-FE2C-160E24421CAF}"/>
                </a:ext>
              </a:extLst>
            </p:cNvPr>
            <p:cNvSpPr>
              <a:spLocks noChangeShapeType="1"/>
            </p:cNvSpPr>
            <p:nvPr/>
          </p:nvSpPr>
          <p:spPr bwMode="auto">
            <a:xfrm>
              <a:off x="1175" y="57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78" name="Line 10">
              <a:extLst>
                <a:ext uri="{FF2B5EF4-FFF2-40B4-BE49-F238E27FC236}">
                  <a16:creationId xmlns:a16="http://schemas.microsoft.com/office/drawing/2014/main" id="{CE73FA78-4804-ECA7-EDF6-DDBDBEADBDD9}"/>
                </a:ext>
              </a:extLst>
            </p:cNvPr>
            <p:cNvSpPr>
              <a:spLocks noChangeShapeType="1"/>
            </p:cNvSpPr>
            <p:nvPr/>
          </p:nvSpPr>
          <p:spPr bwMode="auto">
            <a:xfrm>
              <a:off x="1655" y="576"/>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79" name="Line 11">
              <a:extLst>
                <a:ext uri="{FF2B5EF4-FFF2-40B4-BE49-F238E27FC236}">
                  <a16:creationId xmlns:a16="http://schemas.microsoft.com/office/drawing/2014/main" id="{53B8C61D-F55A-53D2-B29A-429255411CB4}"/>
                </a:ext>
              </a:extLst>
            </p:cNvPr>
            <p:cNvSpPr>
              <a:spLocks noChangeShapeType="1"/>
            </p:cNvSpPr>
            <p:nvPr/>
          </p:nvSpPr>
          <p:spPr bwMode="auto">
            <a:xfrm flipH="1">
              <a:off x="1175" y="1200"/>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0" name="Line 12">
              <a:extLst>
                <a:ext uri="{FF2B5EF4-FFF2-40B4-BE49-F238E27FC236}">
                  <a16:creationId xmlns:a16="http://schemas.microsoft.com/office/drawing/2014/main" id="{1912CC3F-80C5-47AF-84B2-BC8C28A585CC}"/>
                </a:ext>
              </a:extLst>
            </p:cNvPr>
            <p:cNvSpPr>
              <a:spLocks noChangeShapeType="1"/>
            </p:cNvSpPr>
            <p:nvPr/>
          </p:nvSpPr>
          <p:spPr bwMode="auto">
            <a:xfrm flipV="1">
              <a:off x="1175" y="576"/>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1" name="Line 13">
              <a:extLst>
                <a:ext uri="{FF2B5EF4-FFF2-40B4-BE49-F238E27FC236}">
                  <a16:creationId xmlns:a16="http://schemas.microsoft.com/office/drawing/2014/main" id="{4B1F3A8A-EC5D-7F58-7133-D890FC7942D6}"/>
                </a:ext>
              </a:extLst>
            </p:cNvPr>
            <p:cNvSpPr>
              <a:spLocks noChangeShapeType="1"/>
            </p:cNvSpPr>
            <p:nvPr/>
          </p:nvSpPr>
          <p:spPr bwMode="auto">
            <a:xfrm>
              <a:off x="2039" y="576"/>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2" name="Line 14">
              <a:extLst>
                <a:ext uri="{FF2B5EF4-FFF2-40B4-BE49-F238E27FC236}">
                  <a16:creationId xmlns:a16="http://schemas.microsoft.com/office/drawing/2014/main" id="{02D13115-2B79-3AF1-F3A9-98037359AF12}"/>
                </a:ext>
              </a:extLst>
            </p:cNvPr>
            <p:cNvSpPr>
              <a:spLocks noChangeShapeType="1"/>
            </p:cNvSpPr>
            <p:nvPr/>
          </p:nvSpPr>
          <p:spPr bwMode="auto">
            <a:xfrm>
              <a:off x="2039" y="1200"/>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3" name="Line 15">
              <a:extLst>
                <a:ext uri="{FF2B5EF4-FFF2-40B4-BE49-F238E27FC236}">
                  <a16:creationId xmlns:a16="http://schemas.microsoft.com/office/drawing/2014/main" id="{39771B73-1805-A76D-C695-25374C208A25}"/>
                </a:ext>
              </a:extLst>
            </p:cNvPr>
            <p:cNvSpPr>
              <a:spLocks noChangeShapeType="1"/>
            </p:cNvSpPr>
            <p:nvPr/>
          </p:nvSpPr>
          <p:spPr bwMode="auto">
            <a:xfrm flipV="1">
              <a:off x="2519" y="576"/>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4" name="Line 16">
              <a:extLst>
                <a:ext uri="{FF2B5EF4-FFF2-40B4-BE49-F238E27FC236}">
                  <a16:creationId xmlns:a16="http://schemas.microsoft.com/office/drawing/2014/main" id="{A99FE4BE-F6EC-CF42-AF09-8A58C42BE06D}"/>
                </a:ext>
              </a:extLst>
            </p:cNvPr>
            <p:cNvSpPr>
              <a:spLocks noChangeShapeType="1"/>
            </p:cNvSpPr>
            <p:nvPr/>
          </p:nvSpPr>
          <p:spPr bwMode="auto">
            <a:xfrm flipH="1">
              <a:off x="2039" y="57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5" name="Line 17">
              <a:extLst>
                <a:ext uri="{FF2B5EF4-FFF2-40B4-BE49-F238E27FC236}">
                  <a16:creationId xmlns:a16="http://schemas.microsoft.com/office/drawing/2014/main" id="{33B0F737-FB83-B445-C678-BD721D7E2477}"/>
                </a:ext>
              </a:extLst>
            </p:cNvPr>
            <p:cNvSpPr>
              <a:spLocks noChangeShapeType="1"/>
            </p:cNvSpPr>
            <p:nvPr/>
          </p:nvSpPr>
          <p:spPr bwMode="auto">
            <a:xfrm>
              <a:off x="1175" y="912"/>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6" name="Line 18">
              <a:extLst>
                <a:ext uri="{FF2B5EF4-FFF2-40B4-BE49-F238E27FC236}">
                  <a16:creationId xmlns:a16="http://schemas.microsoft.com/office/drawing/2014/main" id="{614EBA2E-8600-9072-3DEE-F2D70F74E4DF}"/>
                </a:ext>
              </a:extLst>
            </p:cNvPr>
            <p:cNvSpPr>
              <a:spLocks noChangeShapeType="1"/>
            </p:cNvSpPr>
            <p:nvPr/>
          </p:nvSpPr>
          <p:spPr bwMode="auto">
            <a:xfrm>
              <a:off x="2039" y="912"/>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7" name="Line 19">
              <a:extLst>
                <a:ext uri="{FF2B5EF4-FFF2-40B4-BE49-F238E27FC236}">
                  <a16:creationId xmlns:a16="http://schemas.microsoft.com/office/drawing/2014/main" id="{E9CFEC3C-074C-BAAD-FAC9-61D78F4111CF}"/>
                </a:ext>
              </a:extLst>
            </p:cNvPr>
            <p:cNvSpPr>
              <a:spLocks noChangeShapeType="1"/>
            </p:cNvSpPr>
            <p:nvPr/>
          </p:nvSpPr>
          <p:spPr bwMode="auto">
            <a:xfrm>
              <a:off x="3479" y="576"/>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8" name="Line 20">
              <a:extLst>
                <a:ext uri="{FF2B5EF4-FFF2-40B4-BE49-F238E27FC236}">
                  <a16:creationId xmlns:a16="http://schemas.microsoft.com/office/drawing/2014/main" id="{70881182-FAB4-161A-9936-0862321F612D}"/>
                </a:ext>
              </a:extLst>
            </p:cNvPr>
            <p:cNvSpPr>
              <a:spLocks noChangeShapeType="1"/>
            </p:cNvSpPr>
            <p:nvPr/>
          </p:nvSpPr>
          <p:spPr bwMode="auto">
            <a:xfrm>
              <a:off x="3479" y="576"/>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9" name="Line 21">
              <a:extLst>
                <a:ext uri="{FF2B5EF4-FFF2-40B4-BE49-F238E27FC236}">
                  <a16:creationId xmlns:a16="http://schemas.microsoft.com/office/drawing/2014/main" id="{D9B734BA-498A-63C7-3F5A-F8B6BF1C9C88}"/>
                </a:ext>
              </a:extLst>
            </p:cNvPr>
            <p:cNvSpPr>
              <a:spLocks noChangeShapeType="1"/>
            </p:cNvSpPr>
            <p:nvPr/>
          </p:nvSpPr>
          <p:spPr bwMode="auto">
            <a:xfrm>
              <a:off x="4007" y="576"/>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90" name="Line 22">
              <a:extLst>
                <a:ext uri="{FF2B5EF4-FFF2-40B4-BE49-F238E27FC236}">
                  <a16:creationId xmlns:a16="http://schemas.microsoft.com/office/drawing/2014/main" id="{02D18B1E-15DB-B25D-F9AC-89152BC4EA3A}"/>
                </a:ext>
              </a:extLst>
            </p:cNvPr>
            <p:cNvSpPr>
              <a:spLocks noChangeShapeType="1"/>
            </p:cNvSpPr>
            <p:nvPr/>
          </p:nvSpPr>
          <p:spPr bwMode="auto">
            <a:xfrm flipH="1">
              <a:off x="3479" y="1200"/>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91" name="Line 23">
              <a:extLst>
                <a:ext uri="{FF2B5EF4-FFF2-40B4-BE49-F238E27FC236}">
                  <a16:creationId xmlns:a16="http://schemas.microsoft.com/office/drawing/2014/main" id="{08371EEA-872F-8945-792D-707618CF4D2A}"/>
                </a:ext>
              </a:extLst>
            </p:cNvPr>
            <p:cNvSpPr>
              <a:spLocks noChangeShapeType="1"/>
            </p:cNvSpPr>
            <p:nvPr/>
          </p:nvSpPr>
          <p:spPr bwMode="auto">
            <a:xfrm>
              <a:off x="3479" y="912"/>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92" name="Line 24">
              <a:extLst>
                <a:ext uri="{FF2B5EF4-FFF2-40B4-BE49-F238E27FC236}">
                  <a16:creationId xmlns:a16="http://schemas.microsoft.com/office/drawing/2014/main" id="{E3B21012-CDC7-72F3-1618-6A51EA59B762}"/>
                </a:ext>
              </a:extLst>
            </p:cNvPr>
            <p:cNvSpPr>
              <a:spLocks noChangeShapeType="1"/>
            </p:cNvSpPr>
            <p:nvPr/>
          </p:nvSpPr>
          <p:spPr bwMode="auto">
            <a:xfrm>
              <a:off x="695" y="67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93" name="Line 25">
              <a:extLst>
                <a:ext uri="{FF2B5EF4-FFF2-40B4-BE49-F238E27FC236}">
                  <a16:creationId xmlns:a16="http://schemas.microsoft.com/office/drawing/2014/main" id="{72323CF1-09B6-1303-2E5C-031549139166}"/>
                </a:ext>
              </a:extLst>
            </p:cNvPr>
            <p:cNvSpPr>
              <a:spLocks noChangeShapeType="1"/>
            </p:cNvSpPr>
            <p:nvPr/>
          </p:nvSpPr>
          <p:spPr bwMode="auto">
            <a:xfrm flipV="1">
              <a:off x="983" y="57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94" name="Line 26">
              <a:extLst>
                <a:ext uri="{FF2B5EF4-FFF2-40B4-BE49-F238E27FC236}">
                  <a16:creationId xmlns:a16="http://schemas.microsoft.com/office/drawing/2014/main" id="{4C41E8CE-CA83-8B06-FC98-E694B517EED2}"/>
                </a:ext>
              </a:extLst>
            </p:cNvPr>
            <p:cNvSpPr>
              <a:spLocks noChangeShapeType="1"/>
            </p:cNvSpPr>
            <p:nvPr/>
          </p:nvSpPr>
          <p:spPr bwMode="auto">
            <a:xfrm>
              <a:off x="983" y="576"/>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95" name="Line 27">
              <a:extLst>
                <a:ext uri="{FF2B5EF4-FFF2-40B4-BE49-F238E27FC236}">
                  <a16:creationId xmlns:a16="http://schemas.microsoft.com/office/drawing/2014/main" id="{8258ED4C-6C8A-2F86-9249-0A491FB98DB0}"/>
                </a:ext>
              </a:extLst>
            </p:cNvPr>
            <p:cNvSpPr>
              <a:spLocks noChangeShapeType="1"/>
            </p:cNvSpPr>
            <p:nvPr/>
          </p:nvSpPr>
          <p:spPr bwMode="auto">
            <a:xfrm>
              <a:off x="1463" y="105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96" name="Line 28">
              <a:extLst>
                <a:ext uri="{FF2B5EF4-FFF2-40B4-BE49-F238E27FC236}">
                  <a16:creationId xmlns:a16="http://schemas.microsoft.com/office/drawing/2014/main" id="{040FB134-5063-6F96-4226-EF542D50A91A}"/>
                </a:ext>
              </a:extLst>
            </p:cNvPr>
            <p:cNvSpPr>
              <a:spLocks noChangeShapeType="1"/>
            </p:cNvSpPr>
            <p:nvPr/>
          </p:nvSpPr>
          <p:spPr bwMode="auto">
            <a:xfrm>
              <a:off x="1751" y="1056"/>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97" name="Line 29">
              <a:extLst>
                <a:ext uri="{FF2B5EF4-FFF2-40B4-BE49-F238E27FC236}">
                  <a16:creationId xmlns:a16="http://schemas.microsoft.com/office/drawing/2014/main" id="{68C70887-C547-AFDB-3AD6-CEC9E0F4FA8B}"/>
                </a:ext>
              </a:extLst>
            </p:cNvPr>
            <p:cNvSpPr>
              <a:spLocks noChangeShapeType="1"/>
            </p:cNvSpPr>
            <p:nvPr/>
          </p:nvSpPr>
          <p:spPr bwMode="auto">
            <a:xfrm flipV="1">
              <a:off x="1799" y="576"/>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98" name="Line 30">
              <a:extLst>
                <a:ext uri="{FF2B5EF4-FFF2-40B4-BE49-F238E27FC236}">
                  <a16:creationId xmlns:a16="http://schemas.microsoft.com/office/drawing/2014/main" id="{A6F18EE7-5DB5-399A-2F3A-662C7FDFDA4F}"/>
                </a:ext>
              </a:extLst>
            </p:cNvPr>
            <p:cNvSpPr>
              <a:spLocks noChangeShapeType="1"/>
            </p:cNvSpPr>
            <p:nvPr/>
          </p:nvSpPr>
          <p:spPr bwMode="auto">
            <a:xfrm>
              <a:off x="1799" y="57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99" name="Line 31">
              <a:extLst>
                <a:ext uri="{FF2B5EF4-FFF2-40B4-BE49-F238E27FC236}">
                  <a16:creationId xmlns:a16="http://schemas.microsoft.com/office/drawing/2014/main" id="{0DDD18E9-97CA-5370-1550-B516919298E2}"/>
                </a:ext>
              </a:extLst>
            </p:cNvPr>
            <p:cNvSpPr>
              <a:spLocks noChangeShapeType="1"/>
            </p:cNvSpPr>
            <p:nvPr/>
          </p:nvSpPr>
          <p:spPr bwMode="auto">
            <a:xfrm>
              <a:off x="2327" y="105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0" name="Line 32">
              <a:extLst>
                <a:ext uri="{FF2B5EF4-FFF2-40B4-BE49-F238E27FC236}">
                  <a16:creationId xmlns:a16="http://schemas.microsoft.com/office/drawing/2014/main" id="{E34531D1-896A-3DC2-D403-8DADED0F1C87}"/>
                </a:ext>
              </a:extLst>
            </p:cNvPr>
            <p:cNvSpPr>
              <a:spLocks noChangeShapeType="1"/>
            </p:cNvSpPr>
            <p:nvPr/>
          </p:nvSpPr>
          <p:spPr bwMode="auto">
            <a:xfrm flipV="1">
              <a:off x="2663" y="576"/>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1" name="Line 33">
              <a:extLst>
                <a:ext uri="{FF2B5EF4-FFF2-40B4-BE49-F238E27FC236}">
                  <a16:creationId xmlns:a16="http://schemas.microsoft.com/office/drawing/2014/main" id="{4547B60F-02AC-AC20-6D4D-18AA11B085D1}"/>
                </a:ext>
              </a:extLst>
            </p:cNvPr>
            <p:cNvSpPr>
              <a:spLocks noChangeShapeType="1"/>
            </p:cNvSpPr>
            <p:nvPr/>
          </p:nvSpPr>
          <p:spPr bwMode="auto">
            <a:xfrm>
              <a:off x="2663" y="57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2" name="Line 34">
              <a:extLst>
                <a:ext uri="{FF2B5EF4-FFF2-40B4-BE49-F238E27FC236}">
                  <a16:creationId xmlns:a16="http://schemas.microsoft.com/office/drawing/2014/main" id="{009069CC-F8EA-948A-EA26-638FD7DC8758}"/>
                </a:ext>
              </a:extLst>
            </p:cNvPr>
            <p:cNvSpPr>
              <a:spLocks noChangeShapeType="1"/>
            </p:cNvSpPr>
            <p:nvPr/>
          </p:nvSpPr>
          <p:spPr bwMode="auto">
            <a:xfrm>
              <a:off x="3239" y="105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3" name="Line 35">
              <a:extLst>
                <a:ext uri="{FF2B5EF4-FFF2-40B4-BE49-F238E27FC236}">
                  <a16:creationId xmlns:a16="http://schemas.microsoft.com/office/drawing/2014/main" id="{9F3E0F9A-A426-B62C-8B10-908AF88B9472}"/>
                </a:ext>
              </a:extLst>
            </p:cNvPr>
            <p:cNvSpPr>
              <a:spLocks noChangeShapeType="1"/>
            </p:cNvSpPr>
            <p:nvPr/>
          </p:nvSpPr>
          <p:spPr bwMode="auto">
            <a:xfrm flipV="1">
              <a:off x="3335" y="576"/>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4" name="Line 36">
              <a:extLst>
                <a:ext uri="{FF2B5EF4-FFF2-40B4-BE49-F238E27FC236}">
                  <a16:creationId xmlns:a16="http://schemas.microsoft.com/office/drawing/2014/main" id="{49381D6C-E2B4-2025-4915-7B6107C9FCD0}"/>
                </a:ext>
              </a:extLst>
            </p:cNvPr>
            <p:cNvSpPr>
              <a:spLocks noChangeShapeType="1"/>
            </p:cNvSpPr>
            <p:nvPr/>
          </p:nvSpPr>
          <p:spPr bwMode="auto">
            <a:xfrm>
              <a:off x="3335" y="57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5" name="Line 37">
              <a:extLst>
                <a:ext uri="{FF2B5EF4-FFF2-40B4-BE49-F238E27FC236}">
                  <a16:creationId xmlns:a16="http://schemas.microsoft.com/office/drawing/2014/main" id="{9F44B805-49A7-7C3D-83D5-69C0E6D6CD56}"/>
                </a:ext>
              </a:extLst>
            </p:cNvPr>
            <p:cNvSpPr>
              <a:spLocks noChangeShapeType="1"/>
            </p:cNvSpPr>
            <p:nvPr/>
          </p:nvSpPr>
          <p:spPr bwMode="auto">
            <a:xfrm>
              <a:off x="311" y="144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6" name="Line 38">
              <a:extLst>
                <a:ext uri="{FF2B5EF4-FFF2-40B4-BE49-F238E27FC236}">
                  <a16:creationId xmlns:a16="http://schemas.microsoft.com/office/drawing/2014/main" id="{3FFB1B49-535B-70D0-0250-A408F9199559}"/>
                </a:ext>
              </a:extLst>
            </p:cNvPr>
            <p:cNvSpPr>
              <a:spLocks noChangeShapeType="1"/>
            </p:cNvSpPr>
            <p:nvPr/>
          </p:nvSpPr>
          <p:spPr bwMode="auto">
            <a:xfrm>
              <a:off x="887" y="1440"/>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7" name="Line 39">
              <a:extLst>
                <a:ext uri="{FF2B5EF4-FFF2-40B4-BE49-F238E27FC236}">
                  <a16:creationId xmlns:a16="http://schemas.microsoft.com/office/drawing/2014/main" id="{0256FEA6-6DB5-BED1-F49C-7DEC7BD6FD64}"/>
                </a:ext>
              </a:extLst>
            </p:cNvPr>
            <p:cNvSpPr>
              <a:spLocks noChangeShapeType="1"/>
            </p:cNvSpPr>
            <p:nvPr/>
          </p:nvSpPr>
          <p:spPr bwMode="auto">
            <a:xfrm flipH="1">
              <a:off x="311" y="168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8" name="Line 40">
              <a:extLst>
                <a:ext uri="{FF2B5EF4-FFF2-40B4-BE49-F238E27FC236}">
                  <a16:creationId xmlns:a16="http://schemas.microsoft.com/office/drawing/2014/main" id="{02AFF9F5-418B-7F5B-424A-66E2911FEBE9}"/>
                </a:ext>
              </a:extLst>
            </p:cNvPr>
            <p:cNvSpPr>
              <a:spLocks noChangeShapeType="1"/>
            </p:cNvSpPr>
            <p:nvPr/>
          </p:nvSpPr>
          <p:spPr bwMode="auto">
            <a:xfrm flipV="1">
              <a:off x="311" y="1440"/>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9" name="Line 41">
              <a:extLst>
                <a:ext uri="{FF2B5EF4-FFF2-40B4-BE49-F238E27FC236}">
                  <a16:creationId xmlns:a16="http://schemas.microsoft.com/office/drawing/2014/main" id="{E32C43F9-F459-2986-CFB7-991962065A9E}"/>
                </a:ext>
              </a:extLst>
            </p:cNvPr>
            <p:cNvSpPr>
              <a:spLocks noChangeShapeType="1"/>
            </p:cNvSpPr>
            <p:nvPr/>
          </p:nvSpPr>
          <p:spPr bwMode="auto">
            <a:xfrm>
              <a:off x="1175" y="1440"/>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10" name="Line 42">
              <a:extLst>
                <a:ext uri="{FF2B5EF4-FFF2-40B4-BE49-F238E27FC236}">
                  <a16:creationId xmlns:a16="http://schemas.microsoft.com/office/drawing/2014/main" id="{1550286C-E500-6314-62DE-82968EF873F4}"/>
                </a:ext>
              </a:extLst>
            </p:cNvPr>
            <p:cNvSpPr>
              <a:spLocks noChangeShapeType="1"/>
            </p:cNvSpPr>
            <p:nvPr/>
          </p:nvSpPr>
          <p:spPr bwMode="auto">
            <a:xfrm>
              <a:off x="1607" y="144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11" name="Line 43">
              <a:extLst>
                <a:ext uri="{FF2B5EF4-FFF2-40B4-BE49-F238E27FC236}">
                  <a16:creationId xmlns:a16="http://schemas.microsoft.com/office/drawing/2014/main" id="{5D812028-F81C-63F7-249B-A7B8B6422EE4}"/>
                </a:ext>
              </a:extLst>
            </p:cNvPr>
            <p:cNvSpPr>
              <a:spLocks noChangeShapeType="1"/>
            </p:cNvSpPr>
            <p:nvPr/>
          </p:nvSpPr>
          <p:spPr bwMode="auto">
            <a:xfrm flipH="1">
              <a:off x="1175" y="206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12" name="Line 44">
              <a:extLst>
                <a:ext uri="{FF2B5EF4-FFF2-40B4-BE49-F238E27FC236}">
                  <a16:creationId xmlns:a16="http://schemas.microsoft.com/office/drawing/2014/main" id="{1EF4FA44-916F-4DCB-3760-DC3FDC12A6C0}"/>
                </a:ext>
              </a:extLst>
            </p:cNvPr>
            <p:cNvSpPr>
              <a:spLocks noChangeShapeType="1"/>
            </p:cNvSpPr>
            <p:nvPr/>
          </p:nvSpPr>
          <p:spPr bwMode="auto">
            <a:xfrm flipV="1">
              <a:off x="1175" y="144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13" name="Line 45">
              <a:extLst>
                <a:ext uri="{FF2B5EF4-FFF2-40B4-BE49-F238E27FC236}">
                  <a16:creationId xmlns:a16="http://schemas.microsoft.com/office/drawing/2014/main" id="{FBAECEE5-9C9A-1913-B863-C6163801D1F4}"/>
                </a:ext>
              </a:extLst>
            </p:cNvPr>
            <p:cNvSpPr>
              <a:spLocks noChangeShapeType="1"/>
            </p:cNvSpPr>
            <p:nvPr/>
          </p:nvSpPr>
          <p:spPr bwMode="auto">
            <a:xfrm>
              <a:off x="1175" y="177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14" name="Line 46">
              <a:extLst>
                <a:ext uri="{FF2B5EF4-FFF2-40B4-BE49-F238E27FC236}">
                  <a16:creationId xmlns:a16="http://schemas.microsoft.com/office/drawing/2014/main" id="{B4E2C72D-6000-D85D-47E4-DAF9E7979046}"/>
                </a:ext>
              </a:extLst>
            </p:cNvPr>
            <p:cNvSpPr>
              <a:spLocks noChangeShapeType="1"/>
            </p:cNvSpPr>
            <p:nvPr/>
          </p:nvSpPr>
          <p:spPr bwMode="auto">
            <a:xfrm>
              <a:off x="695" y="15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15" name="Line 47">
              <a:extLst>
                <a:ext uri="{FF2B5EF4-FFF2-40B4-BE49-F238E27FC236}">
                  <a16:creationId xmlns:a16="http://schemas.microsoft.com/office/drawing/2014/main" id="{BF9B8986-F241-666C-01E0-F00C03C2A7AD}"/>
                </a:ext>
              </a:extLst>
            </p:cNvPr>
            <p:cNvSpPr>
              <a:spLocks noChangeShapeType="1"/>
            </p:cNvSpPr>
            <p:nvPr/>
          </p:nvSpPr>
          <p:spPr bwMode="auto">
            <a:xfrm flipV="1">
              <a:off x="983" y="1440"/>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16" name="Line 48">
              <a:extLst>
                <a:ext uri="{FF2B5EF4-FFF2-40B4-BE49-F238E27FC236}">
                  <a16:creationId xmlns:a16="http://schemas.microsoft.com/office/drawing/2014/main" id="{A6E34FCE-36C2-3C80-7502-AB7D34F457A2}"/>
                </a:ext>
              </a:extLst>
            </p:cNvPr>
            <p:cNvSpPr>
              <a:spLocks noChangeShapeType="1"/>
            </p:cNvSpPr>
            <p:nvPr/>
          </p:nvSpPr>
          <p:spPr bwMode="auto">
            <a:xfrm>
              <a:off x="983" y="1440"/>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17" name="Line 49">
              <a:extLst>
                <a:ext uri="{FF2B5EF4-FFF2-40B4-BE49-F238E27FC236}">
                  <a16:creationId xmlns:a16="http://schemas.microsoft.com/office/drawing/2014/main" id="{A07D2627-CE7C-4C03-771C-5512FCC2D582}"/>
                </a:ext>
              </a:extLst>
            </p:cNvPr>
            <p:cNvSpPr>
              <a:spLocks noChangeShapeType="1"/>
            </p:cNvSpPr>
            <p:nvPr/>
          </p:nvSpPr>
          <p:spPr bwMode="auto">
            <a:xfrm flipH="1">
              <a:off x="1223" y="624"/>
              <a:ext cx="19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18" name="Line 50">
              <a:extLst>
                <a:ext uri="{FF2B5EF4-FFF2-40B4-BE49-F238E27FC236}">
                  <a16:creationId xmlns:a16="http://schemas.microsoft.com/office/drawing/2014/main" id="{173BAF1A-A3CF-A427-8B4E-A8AD90EE4C07}"/>
                </a:ext>
              </a:extLst>
            </p:cNvPr>
            <p:cNvSpPr>
              <a:spLocks noChangeShapeType="1"/>
            </p:cNvSpPr>
            <p:nvPr/>
          </p:nvSpPr>
          <p:spPr bwMode="auto">
            <a:xfrm flipH="1">
              <a:off x="1415" y="672"/>
              <a:ext cx="19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19" name="Line 51">
              <a:extLst>
                <a:ext uri="{FF2B5EF4-FFF2-40B4-BE49-F238E27FC236}">
                  <a16:creationId xmlns:a16="http://schemas.microsoft.com/office/drawing/2014/main" id="{7A5B6CE8-8AB8-D87B-2BC3-470B06EC1C82}"/>
                </a:ext>
              </a:extLst>
            </p:cNvPr>
            <p:cNvSpPr>
              <a:spLocks noChangeShapeType="1"/>
            </p:cNvSpPr>
            <p:nvPr/>
          </p:nvSpPr>
          <p:spPr bwMode="auto">
            <a:xfrm flipH="1">
              <a:off x="1223" y="1488"/>
              <a:ext cx="144"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20" name="Line 52">
              <a:extLst>
                <a:ext uri="{FF2B5EF4-FFF2-40B4-BE49-F238E27FC236}">
                  <a16:creationId xmlns:a16="http://schemas.microsoft.com/office/drawing/2014/main" id="{9961C2DA-C04E-7134-FD46-F4F680A35D56}"/>
                </a:ext>
              </a:extLst>
            </p:cNvPr>
            <p:cNvSpPr>
              <a:spLocks noChangeShapeType="1"/>
            </p:cNvSpPr>
            <p:nvPr/>
          </p:nvSpPr>
          <p:spPr bwMode="auto">
            <a:xfrm flipH="1">
              <a:off x="1415" y="1584"/>
              <a:ext cx="144"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21" name="Line 53">
              <a:extLst>
                <a:ext uri="{FF2B5EF4-FFF2-40B4-BE49-F238E27FC236}">
                  <a16:creationId xmlns:a16="http://schemas.microsoft.com/office/drawing/2014/main" id="{63006B2D-69A5-2C4B-C23C-766F172AEB46}"/>
                </a:ext>
              </a:extLst>
            </p:cNvPr>
            <p:cNvSpPr>
              <a:spLocks noChangeShapeType="1"/>
            </p:cNvSpPr>
            <p:nvPr/>
          </p:nvSpPr>
          <p:spPr bwMode="auto">
            <a:xfrm flipH="1">
              <a:off x="1319" y="1488"/>
              <a:ext cx="144"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22" name="Line 54">
              <a:extLst>
                <a:ext uri="{FF2B5EF4-FFF2-40B4-BE49-F238E27FC236}">
                  <a16:creationId xmlns:a16="http://schemas.microsoft.com/office/drawing/2014/main" id="{63569D69-E37B-1E91-E1D9-4D0EB6A02022}"/>
                </a:ext>
              </a:extLst>
            </p:cNvPr>
            <p:cNvSpPr>
              <a:spLocks noChangeShapeType="1"/>
            </p:cNvSpPr>
            <p:nvPr/>
          </p:nvSpPr>
          <p:spPr bwMode="auto">
            <a:xfrm flipH="1">
              <a:off x="1271" y="624"/>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23" name="Text Box 55">
              <a:extLst>
                <a:ext uri="{FF2B5EF4-FFF2-40B4-BE49-F238E27FC236}">
                  <a16:creationId xmlns:a16="http://schemas.microsoft.com/office/drawing/2014/main" id="{46F90D1A-552E-1DC0-9FD0-384ACD8E5D30}"/>
                </a:ext>
              </a:extLst>
            </p:cNvPr>
            <p:cNvSpPr txBox="1">
              <a:spLocks noChangeArrowheads="1"/>
            </p:cNvSpPr>
            <p:nvPr/>
          </p:nvSpPr>
          <p:spPr bwMode="auto">
            <a:xfrm>
              <a:off x="4007" y="397"/>
              <a:ext cx="1753" cy="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Tx/>
                <a:buNone/>
              </a:pPr>
              <a:r>
                <a:rPr lang="en-US" altLang="zh-CN" sz="2400" b="0" i="0">
                  <a:latin typeface="Times New Roman" panose="02020603050405020304" pitchFamily="18" charset="0"/>
                  <a:ea typeface="宋体" panose="02010600030101010101" pitchFamily="2" charset="-122"/>
                </a:rPr>
                <a:t>                                                                                </a:t>
              </a:r>
              <a:r>
                <a:rPr lang="en-US" altLang="zh-CN" sz="2000" b="0" i="0">
                  <a:latin typeface="Times New Roman" panose="02020603050405020304" pitchFamily="18" charset="0"/>
                  <a:ea typeface="宋体" panose="02010600030101010101" pitchFamily="2" charset="-122"/>
                </a:rPr>
                <a:t> </a:t>
              </a:r>
              <a:r>
                <a:rPr lang="zh-CN" altLang="en-US" sz="2000" i="0">
                  <a:latin typeface="Times New Roman" panose="02020603050405020304" pitchFamily="18" charset="0"/>
                  <a:ea typeface="宋体" panose="02010600030101010101" pitchFamily="2" charset="-122"/>
                </a:rPr>
                <a:t>带辅助表元的非空链表</a:t>
              </a:r>
              <a:endParaRPr lang="zh-CN" altLang="en-US" sz="2400" b="0" i="0">
                <a:latin typeface="Times New Roman" panose="02020603050405020304" pitchFamily="18" charset="0"/>
                <a:ea typeface="宋体" panose="02010600030101010101" pitchFamily="2" charset="-122"/>
              </a:endParaRPr>
            </a:p>
          </p:txBody>
        </p:sp>
        <p:sp>
          <p:nvSpPr>
            <p:cNvPr id="160824" name="Text Box 56">
              <a:extLst>
                <a:ext uri="{FF2B5EF4-FFF2-40B4-BE49-F238E27FC236}">
                  <a16:creationId xmlns:a16="http://schemas.microsoft.com/office/drawing/2014/main" id="{27E46336-2CA3-D94B-AA91-EFDBD0BF680B}"/>
                </a:ext>
              </a:extLst>
            </p:cNvPr>
            <p:cNvSpPr txBox="1">
              <a:spLocks noChangeArrowheads="1"/>
            </p:cNvSpPr>
            <p:nvPr/>
          </p:nvSpPr>
          <p:spPr bwMode="auto">
            <a:xfrm>
              <a:off x="61" y="1420"/>
              <a:ext cx="3886"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Tx/>
                <a:buNone/>
              </a:pPr>
              <a:r>
                <a:rPr lang="en-US" altLang="zh-CN" sz="2400" b="0" i="0">
                  <a:latin typeface="Times New Roman" panose="02020603050405020304" pitchFamily="18" charset="0"/>
                  <a:ea typeface="宋体" panose="02010600030101010101" pitchFamily="2" charset="-122"/>
                </a:rPr>
                <a:t>                                  </a:t>
              </a:r>
              <a:r>
                <a:rPr lang="en-US" altLang="zh-CN" sz="2000" b="0" i="0">
                  <a:latin typeface="Times New Roman" panose="02020603050405020304" pitchFamily="18" charset="0"/>
                  <a:ea typeface="宋体" panose="02010600030101010101" pitchFamily="2" charset="-122"/>
                </a:rPr>
                <a:t> </a:t>
              </a:r>
              <a:r>
                <a:rPr lang="zh-CN" altLang="en-US" sz="2000" i="0">
                  <a:latin typeface="Times New Roman" panose="02020603050405020304" pitchFamily="18" charset="0"/>
                  <a:ea typeface="宋体" panose="02010600030101010101" pitchFamily="2" charset="-122"/>
                </a:rPr>
                <a:t>带辅助表元的空链表</a:t>
              </a:r>
              <a:r>
                <a:rPr lang="zh-CN" altLang="en-US" sz="2000" b="0" i="0">
                  <a:latin typeface="Times New Roman" panose="02020603050405020304" pitchFamily="18" charset="0"/>
                  <a:ea typeface="宋体" panose="02010600030101010101" pitchFamily="2" charset="-122"/>
                </a:rPr>
                <a:t> </a:t>
              </a:r>
              <a:r>
                <a:rPr lang="zh-CN" altLang="en-US" sz="2400" b="0" i="0">
                  <a:latin typeface="Times New Roman" panose="02020603050405020304" pitchFamily="18" charset="0"/>
                  <a:ea typeface="宋体" panose="02010600030101010101" pitchFamily="2" charset="-122"/>
                </a:rPr>
                <a:t>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40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40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4083"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2B2AC237-E862-3AFD-2DAE-F91433E2A015}"/>
              </a:ext>
            </a:extLst>
          </p:cNvPr>
          <p:cNvSpPr>
            <a:spLocks noGrp="1" noChangeArrowheads="1"/>
          </p:cNvSpPr>
          <p:nvPr>
            <p:ph type="title"/>
          </p:nvPr>
        </p:nvSpPr>
        <p:spPr/>
        <p:txBody>
          <a:bodyPr/>
          <a:lstStyle/>
          <a:p>
            <a:pPr eaLnBrk="1" hangingPunct="1"/>
            <a:r>
              <a:rPr lang="zh-CN" altLang="en-US"/>
              <a:t>链表 </a:t>
            </a:r>
            <a:r>
              <a:rPr lang="en-US" altLang="zh-CN" i="1"/>
              <a:t>vs.</a:t>
            </a:r>
            <a:r>
              <a:rPr lang="en-US" altLang="zh-CN"/>
              <a:t> </a:t>
            </a:r>
            <a:r>
              <a:rPr lang="zh-CN" altLang="en-US"/>
              <a:t>数组</a:t>
            </a:r>
            <a:endParaRPr lang="zh-CN" altLang="en-US" sz="4000"/>
          </a:p>
        </p:txBody>
      </p:sp>
      <p:sp>
        <p:nvSpPr>
          <p:cNvPr id="135171" name="Rectangle 3">
            <a:extLst>
              <a:ext uri="{FF2B5EF4-FFF2-40B4-BE49-F238E27FC236}">
                <a16:creationId xmlns:a16="http://schemas.microsoft.com/office/drawing/2014/main" id="{FDE816D5-B16F-3C1F-7DA1-C8BA3F78E60B}"/>
              </a:ext>
            </a:extLst>
          </p:cNvPr>
          <p:cNvSpPr>
            <a:spLocks noGrp="1" noChangeArrowheads="1"/>
          </p:cNvSpPr>
          <p:nvPr>
            <p:ph type="body" idx="1"/>
          </p:nvPr>
        </p:nvSpPr>
        <p:spPr>
          <a:xfrm>
            <a:off x="827088" y="1844823"/>
            <a:ext cx="7866062" cy="4287689"/>
          </a:xfrm>
        </p:spPr>
        <p:txBody>
          <a:bodyPr/>
          <a:lstStyle/>
          <a:p>
            <a:pPr marL="0" indent="0" algn="just" eaLnBrk="1" hangingPunct="1">
              <a:lnSpc>
                <a:spcPct val="150000"/>
              </a:lnSpc>
              <a:buNone/>
            </a:pPr>
            <a:r>
              <a:rPr lang="zh-CN" altLang="en-US" sz="2000" b="0"/>
              <a:t>链表与数组相比较，主要有以下几方面的</a:t>
            </a:r>
            <a:r>
              <a:rPr lang="zh-CN" altLang="en-US" sz="2000" b="0">
                <a:solidFill>
                  <a:srgbClr val="0066FF"/>
                </a:solidFill>
              </a:rPr>
              <a:t>区别</a:t>
            </a:r>
            <a:r>
              <a:rPr lang="zh-CN" altLang="en-US" sz="2000" b="0"/>
              <a:t>：</a:t>
            </a:r>
          </a:p>
          <a:p>
            <a:pPr algn="just" eaLnBrk="1" hangingPunct="1">
              <a:lnSpc>
                <a:spcPct val="150000"/>
              </a:lnSpc>
            </a:pPr>
            <a:r>
              <a:rPr lang="en-US" altLang="zh-CN" sz="1600"/>
              <a:t>(1)</a:t>
            </a:r>
            <a:r>
              <a:rPr lang="zh-CN" altLang="en-US" sz="1600"/>
              <a:t> 元素个数</a:t>
            </a:r>
            <a:r>
              <a:rPr lang="zh-CN" altLang="en-US" sz="1600" b="0"/>
              <a:t>：数组的元素个数是</a:t>
            </a:r>
            <a:r>
              <a:rPr lang="zh-CN" altLang="en-US" sz="1600" b="0">
                <a:solidFill>
                  <a:srgbClr val="0066FF"/>
                </a:solidFill>
              </a:rPr>
              <a:t>固定的</a:t>
            </a:r>
            <a:r>
              <a:rPr lang="zh-CN" altLang="en-US" sz="1600" b="0"/>
              <a:t>，而组成链表的表元个数可</a:t>
            </a:r>
            <a:r>
              <a:rPr lang="zh-CN" altLang="en-US" sz="1600" b="0">
                <a:solidFill>
                  <a:srgbClr val="0066FF"/>
                </a:solidFill>
              </a:rPr>
              <a:t>按需要增减</a:t>
            </a:r>
            <a:r>
              <a:rPr lang="zh-CN" altLang="en-US" sz="1600" b="0"/>
              <a:t>；</a:t>
            </a:r>
          </a:p>
          <a:p>
            <a:pPr algn="just" eaLnBrk="1" hangingPunct="1">
              <a:lnSpc>
                <a:spcPct val="150000"/>
              </a:lnSpc>
            </a:pPr>
            <a:r>
              <a:rPr lang="en-US" altLang="zh-CN" sz="1600"/>
              <a:t>(2)</a:t>
            </a:r>
            <a:r>
              <a:rPr lang="zh-CN" altLang="en-US" sz="1600"/>
              <a:t> 内存分配</a:t>
            </a:r>
            <a:r>
              <a:rPr lang="zh-CN" altLang="en-US" sz="1600" b="0"/>
              <a:t>：数组元素的存储单元在数组</a:t>
            </a:r>
            <a:r>
              <a:rPr lang="zh-CN" altLang="en-US" sz="1600" b="0">
                <a:solidFill>
                  <a:srgbClr val="0066FF"/>
                </a:solidFill>
              </a:rPr>
              <a:t>定义时分配</a:t>
            </a:r>
            <a:r>
              <a:rPr lang="zh-CN" altLang="en-US" sz="1600" b="0"/>
              <a:t>，链表表元的存储单元在程序</a:t>
            </a:r>
            <a:r>
              <a:rPr lang="zh-CN" altLang="en-US" sz="1600" b="0">
                <a:solidFill>
                  <a:srgbClr val="0066FF"/>
                </a:solidFill>
              </a:rPr>
              <a:t>执行时动态向系统申请</a:t>
            </a:r>
            <a:r>
              <a:rPr lang="zh-CN" altLang="en-US" sz="1600" b="0"/>
              <a:t>；</a:t>
            </a:r>
          </a:p>
          <a:p>
            <a:pPr algn="just" eaLnBrk="1" hangingPunct="1">
              <a:lnSpc>
                <a:spcPct val="150000"/>
              </a:lnSpc>
            </a:pPr>
            <a:r>
              <a:rPr lang="en-US" altLang="zh-CN" sz="1600"/>
              <a:t>(3)</a:t>
            </a:r>
            <a:r>
              <a:rPr lang="zh-CN" altLang="en-US" sz="1600"/>
              <a:t> 顺序关系</a:t>
            </a:r>
            <a:r>
              <a:rPr lang="zh-CN" altLang="en-US" sz="1600" b="0"/>
              <a:t>：数组元素的顺序关系由元素在数组中的</a:t>
            </a:r>
            <a:r>
              <a:rPr lang="zh-CN" altLang="en-US" sz="1600" b="0">
                <a:solidFill>
                  <a:srgbClr val="0066FF"/>
                </a:solidFill>
              </a:rPr>
              <a:t>位置或下标确定</a:t>
            </a:r>
            <a:r>
              <a:rPr lang="zh-CN" altLang="en-US" sz="1600" b="0"/>
              <a:t>，链表中的表元顺序关系由表元</a:t>
            </a:r>
            <a:r>
              <a:rPr lang="zh-CN" altLang="en-US" sz="1600" b="0">
                <a:solidFill>
                  <a:srgbClr val="0066FF"/>
                </a:solidFill>
              </a:rPr>
              <a:t>所包含的指针来体现</a:t>
            </a:r>
            <a:r>
              <a:rPr lang="zh-CN" altLang="en-US" sz="1600" b="0"/>
              <a:t>。</a:t>
            </a:r>
          </a:p>
          <a:p>
            <a:pPr algn="just" eaLnBrk="1" hangingPunct="1">
              <a:lnSpc>
                <a:spcPct val="150000"/>
              </a:lnSpc>
            </a:pPr>
            <a:r>
              <a:rPr lang="en-US" altLang="zh-CN" sz="1600"/>
              <a:t>(4)</a:t>
            </a:r>
            <a:r>
              <a:rPr lang="zh-CN" altLang="en-US" sz="1600"/>
              <a:t> 定义方式</a:t>
            </a:r>
            <a:r>
              <a:rPr lang="zh-CN" altLang="en-US" sz="1600" b="0"/>
              <a:t>：长度不固定的列表，用可能最大长度的数组来描述，会</a:t>
            </a:r>
            <a:r>
              <a:rPr lang="zh-CN" altLang="en-US" sz="1600" b="0">
                <a:solidFill>
                  <a:srgbClr val="0066FF"/>
                </a:solidFill>
              </a:rPr>
              <a:t>浪费</a:t>
            </a:r>
            <a:r>
              <a:rPr lang="zh-CN" altLang="en-US" sz="1600" b="0"/>
              <a:t>许多内存空间。用链表实现可</a:t>
            </a:r>
            <a:r>
              <a:rPr lang="zh-CN" altLang="en-US" sz="1600" b="0">
                <a:solidFill>
                  <a:srgbClr val="0066FF"/>
                </a:solidFill>
              </a:rPr>
              <a:t>按需</a:t>
            </a:r>
            <a:r>
              <a:rPr lang="zh-CN" altLang="en-US" sz="1600" b="0"/>
              <a:t>动态改变。</a:t>
            </a:r>
          </a:p>
          <a:p>
            <a:pPr algn="just" eaLnBrk="1" hangingPunct="1">
              <a:lnSpc>
                <a:spcPct val="150000"/>
              </a:lnSpc>
            </a:pPr>
            <a:r>
              <a:rPr lang="en-US" altLang="zh-CN" sz="1600"/>
              <a:t>(5)</a:t>
            </a:r>
            <a:r>
              <a:rPr lang="zh-CN" altLang="en-US" sz="1600"/>
              <a:t> 插入删除操作</a:t>
            </a:r>
            <a:r>
              <a:rPr lang="zh-CN" altLang="en-US" sz="1600" b="0"/>
              <a:t>：用数组实现列表，当有表元插入或删除时，要</a:t>
            </a:r>
            <a:r>
              <a:rPr lang="zh-CN" altLang="en-US" sz="1600" b="0">
                <a:solidFill>
                  <a:srgbClr val="0066FF"/>
                </a:solidFill>
              </a:rPr>
              <a:t>移动</a:t>
            </a:r>
            <a:r>
              <a:rPr lang="zh-CN" altLang="en-US" sz="1600" b="0"/>
              <a:t>部分表元的存储位置。用链表实现</a:t>
            </a:r>
            <a:r>
              <a:rPr lang="zh-CN" altLang="en-US" sz="1600" b="0">
                <a:solidFill>
                  <a:srgbClr val="0066FF"/>
                </a:solidFill>
              </a:rPr>
              <a:t>不需要移动</a:t>
            </a:r>
            <a:r>
              <a:rPr lang="zh-CN" altLang="en-US" sz="1600" b="0"/>
              <a:t>表元。</a:t>
            </a:r>
          </a:p>
        </p:txBody>
      </p:sp>
    </p:spTree>
    <p:extLst>
      <p:ext uri="{BB962C8B-B14F-4D97-AF65-F5344CB8AC3E}">
        <p14:creationId xmlns:p14="http://schemas.microsoft.com/office/powerpoint/2010/main" val="5540595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91CFB820-8E3F-A1EA-28B7-B68531879FE3}"/>
              </a:ext>
            </a:extLst>
          </p:cNvPr>
          <p:cNvSpPr>
            <a:spLocks noGrp="1" noChangeArrowheads="1"/>
          </p:cNvSpPr>
          <p:nvPr>
            <p:ph type="title"/>
          </p:nvPr>
        </p:nvSpPr>
        <p:spPr/>
        <p:txBody>
          <a:bodyPr/>
          <a:lstStyle/>
          <a:p>
            <a:pPr eaLnBrk="1" hangingPunct="1"/>
            <a:r>
              <a:rPr lang="en-US" altLang="zh-CN" sz="3600"/>
              <a:t>7.4.4  </a:t>
            </a:r>
            <a:r>
              <a:rPr lang="zh-CN" altLang="en-US" sz="3600"/>
              <a:t>链表程序设计实例</a:t>
            </a:r>
            <a:r>
              <a:rPr lang="en-US" altLang="zh-CN" sz="3600"/>
              <a:t>——</a:t>
            </a:r>
            <a:r>
              <a:rPr lang="zh-CN" altLang="en-US" sz="3600"/>
              <a:t>例</a:t>
            </a:r>
            <a:r>
              <a:rPr lang="en-US" altLang="zh-CN" sz="3600"/>
              <a:t>7.3</a:t>
            </a:r>
          </a:p>
        </p:txBody>
      </p:sp>
      <p:sp>
        <p:nvSpPr>
          <p:cNvPr id="161795" name="Rectangle 3">
            <a:extLst>
              <a:ext uri="{FF2B5EF4-FFF2-40B4-BE49-F238E27FC236}">
                <a16:creationId xmlns:a16="http://schemas.microsoft.com/office/drawing/2014/main" id="{680F8A96-F89F-DF04-B621-B7AC4B0A0A65}"/>
              </a:ext>
            </a:extLst>
          </p:cNvPr>
          <p:cNvSpPr>
            <a:spLocks noGrp="1" noChangeArrowheads="1"/>
          </p:cNvSpPr>
          <p:nvPr>
            <p:ph type="body" idx="1"/>
          </p:nvPr>
        </p:nvSpPr>
        <p:spPr>
          <a:xfrm>
            <a:off x="827584" y="1772816"/>
            <a:ext cx="7793037" cy="4751809"/>
          </a:xfrm>
        </p:spPr>
        <p:txBody>
          <a:bodyPr/>
          <a:lstStyle/>
          <a:p>
            <a:pPr algn="just" eaLnBrk="1" hangingPunct="1">
              <a:lnSpc>
                <a:spcPct val="150000"/>
              </a:lnSpc>
            </a:pPr>
            <a:r>
              <a:rPr lang="en-US" altLang="zh-CN" sz="2000" b="0" i="1"/>
              <a:t>【</a:t>
            </a:r>
            <a:r>
              <a:rPr lang="zh-CN" altLang="en-US" sz="2000" b="0" i="1"/>
              <a:t>例</a:t>
            </a:r>
            <a:r>
              <a:rPr lang="en-US" altLang="zh-CN" sz="2000" b="0" i="1"/>
              <a:t>7.3】</a:t>
            </a:r>
            <a:r>
              <a:rPr lang="zh-CN" altLang="en-US" sz="2000" b="0" i="1"/>
              <a:t>编写按整数输入顺序建立一个单向整数链表的函数。</a:t>
            </a:r>
          </a:p>
          <a:p>
            <a:pPr algn="just" eaLnBrk="1" hangingPunct="1">
              <a:lnSpc>
                <a:spcPct val="150000"/>
              </a:lnSpc>
            </a:pPr>
            <a:r>
              <a:rPr lang="zh-CN" altLang="en-US" sz="2000" b="0"/>
              <a:t>从空链表开始，每输入一个整数，向系统申请一个表元存储空间，将输入整数存入新表元并</a:t>
            </a:r>
            <a:r>
              <a:rPr lang="zh-CN" altLang="en-US" sz="2000" b="0">
                <a:solidFill>
                  <a:srgbClr val="0066FF"/>
                </a:solidFill>
              </a:rPr>
              <a:t>将新表元接在链表末尾</a:t>
            </a:r>
            <a:r>
              <a:rPr lang="zh-CN" altLang="en-US" sz="2000" b="0"/>
              <a:t>。当不再有整数输入时，函数返回生成的链表的头指针值。</a:t>
            </a:r>
          </a:p>
          <a:p>
            <a:pPr algn="just" eaLnBrk="1" hangingPunct="1">
              <a:lnSpc>
                <a:spcPct val="150000"/>
              </a:lnSpc>
            </a:pPr>
            <a:r>
              <a:rPr lang="zh-CN" altLang="en-US" sz="2000" b="0"/>
              <a:t>为使新表元能方便地接在链表的末尾，引入指向链表的</a:t>
            </a:r>
            <a:r>
              <a:rPr lang="zh-CN" altLang="en-US" sz="2000" u="sng"/>
              <a:t>末尾表元的指针变量 </a:t>
            </a:r>
            <a:r>
              <a:rPr lang="en-US" altLang="zh-CN" sz="2000" b="0">
                <a:solidFill>
                  <a:srgbClr val="0066FF"/>
                </a:solidFill>
              </a:rPr>
              <a:t>tail</a:t>
            </a:r>
            <a:r>
              <a:rPr lang="zh-CN" altLang="en-US" sz="2000" b="0"/>
              <a:t>。</a:t>
            </a:r>
            <a:endParaRPr lang="en-US" altLang="zh-CN" sz="2000" b="0"/>
          </a:p>
          <a:p>
            <a:pPr lvl="1" algn="just" eaLnBrk="1" hangingPunct="1">
              <a:lnSpc>
                <a:spcPct val="150000"/>
              </a:lnSpc>
            </a:pPr>
            <a:r>
              <a:rPr lang="zh-CN" altLang="en-US" sz="1600" b="0"/>
              <a:t>建立空链表时，头指针 </a:t>
            </a:r>
            <a:r>
              <a:rPr lang="en-US" altLang="zh-CN" sz="1600" b="0">
                <a:solidFill>
                  <a:srgbClr val="0066FF"/>
                </a:solidFill>
              </a:rPr>
              <a:t>h</a:t>
            </a:r>
            <a:r>
              <a:rPr lang="zh-CN" altLang="en-US" sz="1600" b="0"/>
              <a:t> 和末尾表元指针 </a:t>
            </a:r>
            <a:r>
              <a:rPr lang="en-US" altLang="zh-CN" sz="1600" b="0">
                <a:solidFill>
                  <a:srgbClr val="0066FF"/>
                </a:solidFill>
              </a:rPr>
              <a:t>tail</a:t>
            </a:r>
            <a:r>
              <a:rPr lang="zh-CN" altLang="en-US" sz="1600" b="0"/>
              <a:t> 都置值</a:t>
            </a:r>
            <a:r>
              <a:rPr lang="en-US" altLang="zh-CN" sz="1600" b="0"/>
              <a:t>NULL</a:t>
            </a:r>
            <a:r>
              <a:rPr lang="zh-CN" altLang="en-US" sz="1600" b="0"/>
              <a:t>。</a:t>
            </a:r>
            <a:endParaRPr lang="en-US" altLang="zh-CN" sz="1600" b="0"/>
          </a:p>
          <a:p>
            <a:pPr lvl="1" algn="just" eaLnBrk="1" hangingPunct="1">
              <a:lnSpc>
                <a:spcPct val="150000"/>
              </a:lnSpc>
            </a:pPr>
            <a:r>
              <a:rPr lang="zh-CN" altLang="en-US" sz="1600" b="0"/>
              <a:t>将新表元接在链表末尾的工作要</a:t>
            </a:r>
            <a:r>
              <a:rPr lang="zh-CN" altLang="en-US" sz="1600" b="0">
                <a:solidFill>
                  <a:srgbClr val="0066FF"/>
                </a:solidFill>
              </a:rPr>
              <a:t>分两种情况</a:t>
            </a:r>
            <a:r>
              <a:rPr lang="zh-CN" altLang="en-US" sz="1600" b="0"/>
              <a:t>。一是原链表为空链表；二是原链表有表元。图</a:t>
            </a:r>
            <a:r>
              <a:rPr lang="en-US" altLang="zh-CN" sz="1600" b="0"/>
              <a:t>7-7</a:t>
            </a:r>
            <a:r>
              <a:rPr lang="zh-CN" altLang="en-US" sz="1600" b="0"/>
              <a:t>是在链表末尾表元之后接一个表元的示意图，图中表元的整数用于区别不同表元。</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471569A4-B355-02B7-1140-F3B37E9E2D7B}"/>
              </a:ext>
            </a:extLst>
          </p:cNvPr>
          <p:cNvSpPr>
            <a:spLocks noGrp="1" noChangeArrowheads="1"/>
          </p:cNvSpPr>
          <p:nvPr>
            <p:ph type="title"/>
          </p:nvPr>
        </p:nvSpPr>
        <p:spPr/>
        <p:txBody>
          <a:bodyPr/>
          <a:lstStyle/>
          <a:p>
            <a:pPr eaLnBrk="1" hangingPunct="1"/>
            <a:r>
              <a:rPr lang="zh-CN" altLang="en-US"/>
              <a:t>例</a:t>
            </a:r>
            <a:r>
              <a:rPr lang="en-US" altLang="zh-CN"/>
              <a:t>7.3 (</a:t>
            </a:r>
            <a:r>
              <a:rPr lang="zh-CN" altLang="en-US"/>
              <a:t>续</a:t>
            </a:r>
            <a:r>
              <a:rPr lang="en-US" altLang="zh-CN"/>
              <a:t>)</a:t>
            </a:r>
          </a:p>
        </p:txBody>
      </p:sp>
      <p:sp>
        <p:nvSpPr>
          <p:cNvPr id="816131" name="Rectangle 3">
            <a:extLst>
              <a:ext uri="{FF2B5EF4-FFF2-40B4-BE49-F238E27FC236}">
                <a16:creationId xmlns:a16="http://schemas.microsoft.com/office/drawing/2014/main" id="{B6DF5470-8E8F-407B-A0E8-E2E859A506BC}"/>
              </a:ext>
            </a:extLst>
          </p:cNvPr>
          <p:cNvSpPr>
            <a:spLocks noGrp="1" noChangeArrowheads="1"/>
          </p:cNvSpPr>
          <p:nvPr>
            <p:ph type="body" idx="1"/>
          </p:nvPr>
        </p:nvSpPr>
        <p:spPr>
          <a:xfrm>
            <a:off x="755576" y="1628775"/>
            <a:ext cx="8128000" cy="4503738"/>
          </a:xfrm>
        </p:spPr>
        <p:txBody>
          <a:bodyPr/>
          <a:lstStyle/>
          <a:p>
            <a:pPr eaLnBrk="1" hangingPunct="1">
              <a:lnSpc>
                <a:spcPct val="90000"/>
              </a:lnSpc>
              <a:buFont typeface="Wingdings" pitchFamily="2" charset="2"/>
              <a:buNone/>
            </a:pPr>
            <a:r>
              <a:rPr lang="en-US" altLang="zh-CN" sz="1800" b="0">
                <a:effectLst>
                  <a:outerShdw blurRad="38100" dist="38100" dir="2700000" algn="tl">
                    <a:srgbClr val="C0C0C0"/>
                  </a:outerShdw>
                </a:effectLst>
              </a:rPr>
              <a:t>                                                       </a:t>
            </a:r>
            <a:r>
              <a:rPr lang="zh-CN" altLang="en-US" sz="1800" b="0">
                <a:effectLst>
                  <a:outerShdw blurRad="38100" dist="38100" dir="2700000" algn="tl">
                    <a:srgbClr val="C0C0C0"/>
                  </a:outerShdw>
                </a:effectLst>
              </a:rPr>
              <a:t>   </a:t>
            </a:r>
            <a:r>
              <a:rPr lang="en-US" altLang="zh-CN" sz="1800" b="0">
                <a:effectLst>
                  <a:outerShdw blurRad="38100" dist="38100" dir="2700000" algn="tl">
                    <a:srgbClr val="C0C0C0"/>
                  </a:outerShdw>
                </a:effectLst>
              </a:rPr>
              <a:t> p </a:t>
            </a:r>
          </a:p>
          <a:p>
            <a:pPr eaLnBrk="1" hangingPunct="1">
              <a:lnSpc>
                <a:spcPct val="90000"/>
              </a:lnSpc>
              <a:buFont typeface="Wingdings" pitchFamily="2" charset="2"/>
              <a:buNone/>
            </a:pPr>
            <a:r>
              <a:rPr lang="en-US" altLang="zh-CN" sz="1800" b="0">
                <a:effectLst>
                  <a:outerShdw blurRad="38100" dist="38100" dir="2700000" algn="tl">
                    <a:srgbClr val="C0C0C0"/>
                  </a:outerShdw>
                </a:effectLst>
              </a:rPr>
              <a:t>                             </a:t>
            </a:r>
            <a:r>
              <a:rPr lang="zh-CN" altLang="en-US" sz="1800" b="0">
                <a:effectLst>
                  <a:outerShdw blurRad="38100" dist="38100" dir="2700000" algn="tl">
                    <a:srgbClr val="C0C0C0"/>
                  </a:outerShdw>
                </a:effectLst>
              </a:rPr>
              <a:t>       </a:t>
            </a:r>
            <a:r>
              <a:rPr lang="en-US" altLang="zh-CN" sz="1800" b="0">
                <a:effectLst>
                  <a:outerShdw blurRad="38100" dist="38100" dir="2700000" algn="tl">
                    <a:srgbClr val="C0C0C0"/>
                  </a:outerShdw>
                </a:effectLst>
              </a:rPr>
              <a:t>1                    </a:t>
            </a:r>
          </a:p>
          <a:p>
            <a:pPr eaLnBrk="1" hangingPunct="1">
              <a:lnSpc>
                <a:spcPct val="90000"/>
              </a:lnSpc>
              <a:buFont typeface="Wingdings" pitchFamily="2" charset="2"/>
              <a:buNone/>
            </a:pPr>
            <a:r>
              <a:rPr lang="en-US" altLang="zh-CN" sz="1800" b="0">
                <a:effectLst>
                  <a:outerShdw blurRad="38100" dist="38100" dir="2700000" algn="tl">
                    <a:srgbClr val="C0C0C0"/>
                  </a:outerShdw>
                </a:effectLst>
              </a:rPr>
              <a:t>      h</a:t>
            </a:r>
          </a:p>
          <a:p>
            <a:pPr eaLnBrk="1" hangingPunct="1">
              <a:lnSpc>
                <a:spcPct val="90000"/>
              </a:lnSpc>
              <a:buFont typeface="Wingdings" pitchFamily="2" charset="2"/>
              <a:buNone/>
            </a:pPr>
            <a:r>
              <a:rPr lang="en-US" altLang="zh-CN" sz="1800" b="0">
                <a:effectLst>
                  <a:outerShdw blurRad="38100" dist="38100" dir="2700000" algn="tl">
                    <a:srgbClr val="C0C0C0"/>
                  </a:outerShdw>
                </a:effectLst>
              </a:rPr>
              <a:t>                                                                 </a:t>
            </a:r>
            <a:r>
              <a:rPr lang="zh-CN" altLang="en-US" sz="1800" b="0">
                <a:effectLst>
                  <a:outerShdw blurRad="38100" dist="38100" dir="2700000" algn="tl">
                    <a:srgbClr val="C0C0C0"/>
                  </a:outerShdw>
                </a:effectLst>
              </a:rPr>
              <a:t>  </a:t>
            </a:r>
            <a:r>
              <a:rPr lang="en-US" altLang="zh-CN" sz="1800" b="0">
                <a:effectLst>
                  <a:outerShdw blurRad="38100" dist="38100" dir="2700000" algn="tl">
                    <a:srgbClr val="C0C0C0"/>
                  </a:outerShdw>
                </a:effectLst>
              </a:rPr>
              <a:t>8                  9   </a:t>
            </a:r>
          </a:p>
          <a:p>
            <a:pPr eaLnBrk="1" hangingPunct="1">
              <a:lnSpc>
                <a:spcPct val="90000"/>
              </a:lnSpc>
              <a:buFont typeface="Wingdings" pitchFamily="2" charset="2"/>
              <a:buNone/>
            </a:pPr>
            <a:r>
              <a:rPr lang="en-US" altLang="zh-CN" sz="1800" b="0">
                <a:effectLst>
                  <a:outerShdw blurRad="38100" dist="38100" dir="2700000" algn="tl">
                    <a:srgbClr val="C0C0C0"/>
                  </a:outerShdw>
                </a:effectLst>
              </a:rPr>
              <a:t>                                                              </a:t>
            </a:r>
            <a:r>
              <a:rPr lang="zh-CN" altLang="en-US" sz="1800" b="0">
                <a:effectLst>
                  <a:outerShdw blurRad="38100" dist="38100" dir="2700000" algn="tl">
                    <a:srgbClr val="C0C0C0"/>
                  </a:outerShdw>
                </a:effectLst>
              </a:rPr>
              <a:t>  </a:t>
            </a:r>
            <a:r>
              <a:rPr lang="en-US" altLang="zh-CN" sz="1800" b="0">
                <a:effectLst>
                  <a:outerShdw blurRad="38100" dist="38100" dir="2700000" algn="tl">
                    <a:srgbClr val="C0C0C0"/>
                  </a:outerShdw>
                </a:effectLst>
              </a:rPr>
              <a:t>NULL        </a:t>
            </a:r>
            <a:r>
              <a:rPr lang="zh-CN" altLang="en-US" sz="1800" b="0">
                <a:effectLst>
                  <a:outerShdw blurRad="38100" dist="38100" dir="2700000" algn="tl">
                    <a:srgbClr val="C0C0C0"/>
                  </a:outerShdw>
                </a:effectLst>
              </a:rPr>
              <a:t>   </a:t>
            </a:r>
            <a:r>
              <a:rPr lang="en-US" altLang="zh-CN" sz="1800" b="0">
                <a:effectLst>
                  <a:outerShdw blurRad="38100" dist="38100" dir="2700000" algn="tl">
                    <a:srgbClr val="C0C0C0"/>
                  </a:outerShdw>
                </a:effectLst>
              </a:rPr>
              <a:t> NULL</a:t>
            </a:r>
          </a:p>
          <a:p>
            <a:pPr eaLnBrk="1" hangingPunct="1">
              <a:lnSpc>
                <a:spcPct val="90000"/>
              </a:lnSpc>
              <a:buFont typeface="Wingdings" pitchFamily="2" charset="2"/>
              <a:buNone/>
            </a:pPr>
            <a:r>
              <a:rPr lang="en-US" altLang="zh-CN" sz="1800" b="0">
                <a:effectLst>
                  <a:outerShdw blurRad="38100" dist="38100" dir="2700000" algn="tl">
                    <a:srgbClr val="C0C0C0"/>
                  </a:outerShdw>
                </a:effectLst>
              </a:rPr>
              <a:t>      tail                      </a:t>
            </a:r>
          </a:p>
          <a:p>
            <a:pPr eaLnBrk="1" hangingPunct="1">
              <a:lnSpc>
                <a:spcPct val="90000"/>
              </a:lnSpc>
              <a:buFont typeface="Wingdings" pitchFamily="2" charset="2"/>
              <a:buNone/>
            </a:pPr>
            <a:r>
              <a:rPr lang="en-US" altLang="zh-CN" sz="1800" b="0">
                <a:effectLst>
                  <a:outerShdw blurRad="38100" dist="38100" dir="2700000" algn="tl">
                    <a:srgbClr val="C0C0C0"/>
                  </a:outerShdw>
                </a:effectLst>
              </a:rPr>
              <a:t>                                     (a) </a:t>
            </a:r>
            <a:r>
              <a:rPr lang="zh-CN" altLang="en-US" sz="1800" b="0">
                <a:effectLst>
                  <a:outerShdw blurRad="38100" dist="38100" dir="2700000" algn="tl">
                    <a:srgbClr val="C0C0C0"/>
                  </a:outerShdw>
                </a:effectLst>
              </a:rPr>
              <a:t>接入前</a:t>
            </a:r>
          </a:p>
          <a:p>
            <a:pPr eaLnBrk="1" hangingPunct="1">
              <a:lnSpc>
                <a:spcPct val="90000"/>
              </a:lnSpc>
              <a:buFont typeface="Wingdings" pitchFamily="2" charset="2"/>
              <a:buNone/>
            </a:pPr>
            <a:endParaRPr lang="zh-CN" altLang="en-US" sz="1800" b="0">
              <a:effectLst>
                <a:outerShdw blurRad="38100" dist="38100" dir="2700000" algn="tl">
                  <a:srgbClr val="C0C0C0"/>
                </a:outerShdw>
              </a:effectLst>
            </a:endParaRPr>
          </a:p>
          <a:p>
            <a:pPr eaLnBrk="1" hangingPunct="1">
              <a:lnSpc>
                <a:spcPct val="90000"/>
              </a:lnSpc>
              <a:buFont typeface="Wingdings" pitchFamily="2" charset="2"/>
              <a:buNone/>
            </a:pPr>
            <a:endParaRPr lang="zh-CN" altLang="en-US" sz="1800" b="0">
              <a:effectLst>
                <a:outerShdw blurRad="38100" dist="38100" dir="2700000" algn="tl">
                  <a:srgbClr val="C0C0C0"/>
                </a:outerShdw>
              </a:effectLst>
            </a:endParaRPr>
          </a:p>
          <a:p>
            <a:pPr eaLnBrk="1" hangingPunct="1">
              <a:lnSpc>
                <a:spcPct val="90000"/>
              </a:lnSpc>
              <a:buFont typeface="Wingdings" pitchFamily="2" charset="2"/>
              <a:buNone/>
            </a:pPr>
            <a:r>
              <a:rPr lang="zh-CN" altLang="en-US" sz="1800" b="0">
                <a:effectLst>
                  <a:outerShdw blurRad="38100" dist="38100" dir="2700000" algn="tl">
                    <a:srgbClr val="C0C0C0"/>
                  </a:outerShdw>
                </a:effectLst>
              </a:rPr>
              <a:t>                                                           </a:t>
            </a:r>
            <a:r>
              <a:rPr lang="en-US" altLang="zh-CN" sz="1800" b="0">
                <a:effectLst>
                  <a:outerShdw blurRad="38100" dist="38100" dir="2700000" algn="tl">
                    <a:srgbClr val="C0C0C0"/>
                  </a:outerShdw>
                </a:effectLst>
              </a:rPr>
              <a:t>p </a:t>
            </a:r>
          </a:p>
          <a:p>
            <a:pPr eaLnBrk="1" hangingPunct="1">
              <a:lnSpc>
                <a:spcPct val="90000"/>
              </a:lnSpc>
              <a:buFont typeface="Wingdings" pitchFamily="2" charset="2"/>
              <a:buNone/>
            </a:pPr>
            <a:r>
              <a:rPr lang="en-US" altLang="zh-CN" sz="1800" b="0">
                <a:effectLst>
                  <a:outerShdw blurRad="38100" dist="38100" dir="2700000" algn="tl">
                    <a:srgbClr val="C0C0C0"/>
                  </a:outerShdw>
                </a:effectLst>
              </a:rPr>
              <a:t>                              </a:t>
            </a:r>
            <a:r>
              <a:rPr lang="zh-CN" altLang="en-US" sz="1800" b="0">
                <a:effectLst>
                  <a:outerShdw blurRad="38100" dist="38100" dir="2700000" algn="tl">
                    <a:srgbClr val="C0C0C0"/>
                  </a:outerShdw>
                </a:effectLst>
              </a:rPr>
              <a:t>     </a:t>
            </a:r>
            <a:r>
              <a:rPr lang="en-US" altLang="zh-CN" sz="1800" b="0">
                <a:effectLst>
                  <a:outerShdw blurRad="38100" dist="38100" dir="2700000" algn="tl">
                    <a:srgbClr val="C0C0C0"/>
                  </a:outerShdw>
                </a:effectLst>
              </a:rPr>
              <a:t>1                    </a:t>
            </a:r>
          </a:p>
          <a:p>
            <a:pPr eaLnBrk="1" hangingPunct="1">
              <a:lnSpc>
                <a:spcPct val="90000"/>
              </a:lnSpc>
              <a:buFont typeface="Wingdings" pitchFamily="2" charset="2"/>
              <a:buNone/>
            </a:pPr>
            <a:r>
              <a:rPr lang="en-US" altLang="zh-CN" sz="1800" b="0">
                <a:effectLst>
                  <a:outerShdw blurRad="38100" dist="38100" dir="2700000" algn="tl">
                    <a:srgbClr val="C0C0C0"/>
                  </a:outerShdw>
                </a:effectLst>
              </a:rPr>
              <a:t>      h</a:t>
            </a:r>
          </a:p>
          <a:p>
            <a:pPr eaLnBrk="1" hangingPunct="1">
              <a:lnSpc>
                <a:spcPct val="90000"/>
              </a:lnSpc>
              <a:buFont typeface="Wingdings" pitchFamily="2" charset="2"/>
              <a:buNone/>
            </a:pPr>
            <a:r>
              <a:rPr lang="en-US" altLang="zh-CN" sz="1800" b="0">
                <a:effectLst>
                  <a:outerShdw blurRad="38100" dist="38100" dir="2700000" algn="tl">
                    <a:srgbClr val="C0C0C0"/>
                  </a:outerShdw>
                </a:effectLst>
              </a:rPr>
              <a:t>                                                                 </a:t>
            </a:r>
            <a:r>
              <a:rPr lang="zh-CN" altLang="en-US" sz="1800" b="0">
                <a:effectLst>
                  <a:outerShdw blurRad="38100" dist="38100" dir="2700000" algn="tl">
                    <a:srgbClr val="C0C0C0"/>
                  </a:outerShdw>
                </a:effectLst>
              </a:rPr>
              <a:t>  </a:t>
            </a:r>
            <a:r>
              <a:rPr lang="en-US" altLang="zh-CN" sz="1800" b="0">
                <a:effectLst>
                  <a:outerShdw blurRad="38100" dist="38100" dir="2700000" algn="tl">
                    <a:srgbClr val="C0C0C0"/>
                  </a:outerShdw>
                </a:effectLst>
              </a:rPr>
              <a:t>8                 9   </a:t>
            </a:r>
          </a:p>
          <a:p>
            <a:pPr eaLnBrk="1" hangingPunct="1">
              <a:lnSpc>
                <a:spcPct val="90000"/>
              </a:lnSpc>
              <a:buFont typeface="Wingdings" pitchFamily="2" charset="2"/>
              <a:buNone/>
            </a:pPr>
            <a:r>
              <a:rPr lang="en-US" altLang="zh-CN" sz="1800" b="0">
                <a:effectLst>
                  <a:outerShdw blurRad="38100" dist="38100" dir="2700000" algn="tl">
                    <a:srgbClr val="C0C0C0"/>
                  </a:outerShdw>
                </a:effectLst>
              </a:rPr>
              <a:t>                                                                                   NULL</a:t>
            </a:r>
          </a:p>
          <a:p>
            <a:pPr eaLnBrk="1" hangingPunct="1">
              <a:lnSpc>
                <a:spcPct val="90000"/>
              </a:lnSpc>
              <a:buFont typeface="Wingdings" pitchFamily="2" charset="2"/>
              <a:buNone/>
            </a:pPr>
            <a:endParaRPr lang="en-US" altLang="zh-CN" sz="1800" b="0">
              <a:effectLst>
                <a:outerShdw blurRad="38100" dist="38100" dir="2700000" algn="tl">
                  <a:srgbClr val="C0C0C0"/>
                </a:outerShdw>
              </a:effectLst>
            </a:endParaRPr>
          </a:p>
          <a:p>
            <a:pPr eaLnBrk="1" hangingPunct="1">
              <a:lnSpc>
                <a:spcPct val="90000"/>
              </a:lnSpc>
              <a:buFont typeface="Wingdings" pitchFamily="2" charset="2"/>
              <a:buNone/>
            </a:pPr>
            <a:r>
              <a:rPr lang="en-US" altLang="zh-CN" sz="1800" b="0">
                <a:effectLst>
                  <a:outerShdw blurRad="38100" dist="38100" dir="2700000" algn="tl">
                    <a:srgbClr val="C0C0C0"/>
                  </a:outerShdw>
                </a:effectLst>
              </a:rPr>
              <a:t>      tail                   (a) </a:t>
            </a:r>
            <a:r>
              <a:rPr lang="zh-CN" altLang="en-US" sz="1800" b="0">
                <a:effectLst>
                  <a:outerShdw blurRad="38100" dist="38100" dir="2700000" algn="tl">
                    <a:srgbClr val="C0C0C0"/>
                  </a:outerShdw>
                </a:effectLst>
              </a:rPr>
              <a:t>接入后</a:t>
            </a:r>
          </a:p>
          <a:p>
            <a:pPr eaLnBrk="1" hangingPunct="1">
              <a:lnSpc>
                <a:spcPct val="90000"/>
              </a:lnSpc>
              <a:buFont typeface="Wingdings" pitchFamily="2" charset="2"/>
              <a:buNone/>
            </a:pPr>
            <a:r>
              <a:rPr lang="zh-CN" altLang="en-US" sz="2000" b="0">
                <a:effectLst>
                  <a:outerShdw blurRad="38100" dist="38100" dir="2700000" algn="tl">
                    <a:srgbClr val="C0C0C0"/>
                  </a:outerShdw>
                </a:effectLst>
                <a:latin typeface="Times New Roman" panose="02020603050405020304" pitchFamily="18" charset="0"/>
              </a:rPr>
              <a:t>                  图</a:t>
            </a:r>
            <a:r>
              <a:rPr lang="en-US" altLang="zh-CN" sz="2000" b="0">
                <a:effectLst>
                  <a:outerShdw blurRad="38100" dist="38100" dir="2700000" algn="tl">
                    <a:srgbClr val="C0C0C0"/>
                  </a:outerShdw>
                </a:effectLst>
                <a:latin typeface="Times New Roman" panose="02020603050405020304" pitchFamily="18" charset="0"/>
              </a:rPr>
              <a:t>7-7 </a:t>
            </a:r>
            <a:r>
              <a:rPr lang="zh-CN" altLang="en-US" sz="2000" b="0">
                <a:effectLst>
                  <a:outerShdw blurRad="38100" dist="38100" dir="2700000" algn="tl">
                    <a:srgbClr val="C0C0C0"/>
                  </a:outerShdw>
                </a:effectLst>
                <a:latin typeface="Times New Roman" panose="02020603050405020304" pitchFamily="18" charset="0"/>
              </a:rPr>
              <a:t>在链表末尾表元之后接一个新表元</a:t>
            </a:r>
            <a:endParaRPr lang="zh-CN" altLang="en-US" sz="2000" b="0">
              <a:effectLst>
                <a:outerShdw blurRad="38100" dist="38100" dir="2700000" algn="tl">
                  <a:srgbClr val="C0C0C0"/>
                </a:outerShdw>
              </a:effectLst>
            </a:endParaRPr>
          </a:p>
          <a:p>
            <a:pPr eaLnBrk="1" hangingPunct="1">
              <a:lnSpc>
                <a:spcPct val="90000"/>
              </a:lnSpc>
            </a:pPr>
            <a:endParaRPr lang="en-US" altLang="zh-CN" sz="2400"/>
          </a:p>
        </p:txBody>
      </p:sp>
      <p:grpSp>
        <p:nvGrpSpPr>
          <p:cNvPr id="162820" name="Group 4">
            <a:extLst>
              <a:ext uri="{FF2B5EF4-FFF2-40B4-BE49-F238E27FC236}">
                <a16:creationId xmlns:a16="http://schemas.microsoft.com/office/drawing/2014/main" id="{5AB208D3-439F-1A52-1DB1-2DEF892CCD34}"/>
              </a:ext>
            </a:extLst>
          </p:cNvPr>
          <p:cNvGrpSpPr>
            <a:grpSpLocks/>
          </p:cNvGrpSpPr>
          <p:nvPr/>
        </p:nvGrpSpPr>
        <p:grpSpPr bwMode="auto">
          <a:xfrm>
            <a:off x="1589112" y="1745704"/>
            <a:ext cx="5791200" cy="4419600"/>
            <a:chOff x="144" y="624"/>
            <a:chExt cx="3985" cy="3073"/>
          </a:xfrm>
        </p:grpSpPr>
        <p:sp>
          <p:nvSpPr>
            <p:cNvPr id="162821" name="Line 5">
              <a:extLst>
                <a:ext uri="{FF2B5EF4-FFF2-40B4-BE49-F238E27FC236}">
                  <a16:creationId xmlns:a16="http://schemas.microsoft.com/office/drawing/2014/main" id="{A97C51F3-462C-8B04-4C11-34B0FBCF5F15}"/>
                </a:ext>
              </a:extLst>
            </p:cNvPr>
            <p:cNvSpPr>
              <a:spLocks noChangeShapeType="1"/>
            </p:cNvSpPr>
            <p:nvPr/>
          </p:nvSpPr>
          <p:spPr bwMode="auto">
            <a:xfrm>
              <a:off x="144" y="768"/>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2" name="Line 6">
              <a:extLst>
                <a:ext uri="{FF2B5EF4-FFF2-40B4-BE49-F238E27FC236}">
                  <a16:creationId xmlns:a16="http://schemas.microsoft.com/office/drawing/2014/main" id="{2C1DD685-D806-0D17-ADA4-EE5021EA23D9}"/>
                </a:ext>
              </a:extLst>
            </p:cNvPr>
            <p:cNvSpPr>
              <a:spLocks noChangeShapeType="1"/>
            </p:cNvSpPr>
            <p:nvPr/>
          </p:nvSpPr>
          <p:spPr bwMode="auto">
            <a:xfrm>
              <a:off x="624" y="768"/>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3" name="Line 7">
              <a:extLst>
                <a:ext uri="{FF2B5EF4-FFF2-40B4-BE49-F238E27FC236}">
                  <a16:creationId xmlns:a16="http://schemas.microsoft.com/office/drawing/2014/main" id="{3ABF8FBA-946B-C617-E3ED-D7C30E055E5C}"/>
                </a:ext>
              </a:extLst>
            </p:cNvPr>
            <p:cNvSpPr>
              <a:spLocks noChangeShapeType="1"/>
            </p:cNvSpPr>
            <p:nvPr/>
          </p:nvSpPr>
          <p:spPr bwMode="auto">
            <a:xfrm flipH="1">
              <a:off x="144" y="960"/>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4" name="Line 8">
              <a:extLst>
                <a:ext uri="{FF2B5EF4-FFF2-40B4-BE49-F238E27FC236}">
                  <a16:creationId xmlns:a16="http://schemas.microsoft.com/office/drawing/2014/main" id="{C77710FC-4F0E-D9F5-982A-1C1252CB8717}"/>
                </a:ext>
              </a:extLst>
            </p:cNvPr>
            <p:cNvSpPr>
              <a:spLocks noChangeShapeType="1"/>
            </p:cNvSpPr>
            <p:nvPr/>
          </p:nvSpPr>
          <p:spPr bwMode="auto">
            <a:xfrm flipV="1">
              <a:off x="144" y="768"/>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5" name="Line 9">
              <a:extLst>
                <a:ext uri="{FF2B5EF4-FFF2-40B4-BE49-F238E27FC236}">
                  <a16:creationId xmlns:a16="http://schemas.microsoft.com/office/drawing/2014/main" id="{B7862DFB-1CF8-EF5A-10F3-CAF386F4C157}"/>
                </a:ext>
              </a:extLst>
            </p:cNvPr>
            <p:cNvSpPr>
              <a:spLocks noChangeShapeType="1"/>
            </p:cNvSpPr>
            <p:nvPr/>
          </p:nvSpPr>
          <p:spPr bwMode="auto">
            <a:xfrm>
              <a:off x="1200" y="720"/>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6" name="Line 10">
              <a:extLst>
                <a:ext uri="{FF2B5EF4-FFF2-40B4-BE49-F238E27FC236}">
                  <a16:creationId xmlns:a16="http://schemas.microsoft.com/office/drawing/2014/main" id="{D87F0B86-DC66-6E27-5796-EC53BC2F34E8}"/>
                </a:ext>
              </a:extLst>
            </p:cNvPr>
            <p:cNvSpPr>
              <a:spLocks noChangeShapeType="1"/>
            </p:cNvSpPr>
            <p:nvPr/>
          </p:nvSpPr>
          <p:spPr bwMode="auto">
            <a:xfrm>
              <a:off x="1200" y="720"/>
              <a:ext cx="1"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7" name="Line 11">
              <a:extLst>
                <a:ext uri="{FF2B5EF4-FFF2-40B4-BE49-F238E27FC236}">
                  <a16:creationId xmlns:a16="http://schemas.microsoft.com/office/drawing/2014/main" id="{B2656CAF-684F-E12A-3CC2-75F4CFFC2B36}"/>
                </a:ext>
              </a:extLst>
            </p:cNvPr>
            <p:cNvSpPr>
              <a:spLocks noChangeShapeType="1"/>
            </p:cNvSpPr>
            <p:nvPr/>
          </p:nvSpPr>
          <p:spPr bwMode="auto">
            <a:xfrm>
              <a:off x="1200" y="1152"/>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8" name="Line 12">
              <a:extLst>
                <a:ext uri="{FF2B5EF4-FFF2-40B4-BE49-F238E27FC236}">
                  <a16:creationId xmlns:a16="http://schemas.microsoft.com/office/drawing/2014/main" id="{56150BB4-180E-BD12-02F4-ED4592354E59}"/>
                </a:ext>
              </a:extLst>
            </p:cNvPr>
            <p:cNvSpPr>
              <a:spLocks noChangeShapeType="1"/>
            </p:cNvSpPr>
            <p:nvPr/>
          </p:nvSpPr>
          <p:spPr bwMode="auto">
            <a:xfrm flipV="1">
              <a:off x="1680" y="720"/>
              <a:ext cx="1"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9" name="Line 13">
              <a:extLst>
                <a:ext uri="{FF2B5EF4-FFF2-40B4-BE49-F238E27FC236}">
                  <a16:creationId xmlns:a16="http://schemas.microsoft.com/office/drawing/2014/main" id="{8F7BAFE9-48AE-759E-E71A-083D2E0ADFC2}"/>
                </a:ext>
              </a:extLst>
            </p:cNvPr>
            <p:cNvSpPr>
              <a:spLocks noChangeShapeType="1"/>
            </p:cNvSpPr>
            <p:nvPr/>
          </p:nvSpPr>
          <p:spPr bwMode="auto">
            <a:xfrm>
              <a:off x="1200" y="960"/>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0" name="Line 14">
              <a:extLst>
                <a:ext uri="{FF2B5EF4-FFF2-40B4-BE49-F238E27FC236}">
                  <a16:creationId xmlns:a16="http://schemas.microsoft.com/office/drawing/2014/main" id="{639CFE61-CB3D-12F1-D621-6D80D1CC6464}"/>
                </a:ext>
              </a:extLst>
            </p:cNvPr>
            <p:cNvSpPr>
              <a:spLocks noChangeShapeType="1"/>
            </p:cNvSpPr>
            <p:nvPr/>
          </p:nvSpPr>
          <p:spPr bwMode="auto">
            <a:xfrm>
              <a:off x="2736" y="624"/>
              <a:ext cx="38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1" name="Line 15">
              <a:extLst>
                <a:ext uri="{FF2B5EF4-FFF2-40B4-BE49-F238E27FC236}">
                  <a16:creationId xmlns:a16="http://schemas.microsoft.com/office/drawing/2014/main" id="{0052BBE9-3661-A307-8FE1-B574966B7CFD}"/>
                </a:ext>
              </a:extLst>
            </p:cNvPr>
            <p:cNvSpPr>
              <a:spLocks noChangeShapeType="1"/>
            </p:cNvSpPr>
            <p:nvPr/>
          </p:nvSpPr>
          <p:spPr bwMode="auto">
            <a:xfrm>
              <a:off x="3120" y="624"/>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2" name="Line 16">
              <a:extLst>
                <a:ext uri="{FF2B5EF4-FFF2-40B4-BE49-F238E27FC236}">
                  <a16:creationId xmlns:a16="http://schemas.microsoft.com/office/drawing/2014/main" id="{34BBF0E8-185B-0F9F-FA28-FCC0D3DBD3D0}"/>
                </a:ext>
              </a:extLst>
            </p:cNvPr>
            <p:cNvSpPr>
              <a:spLocks noChangeShapeType="1"/>
            </p:cNvSpPr>
            <p:nvPr/>
          </p:nvSpPr>
          <p:spPr bwMode="auto">
            <a:xfrm flipH="1">
              <a:off x="2736" y="816"/>
              <a:ext cx="38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3" name="Line 17">
              <a:extLst>
                <a:ext uri="{FF2B5EF4-FFF2-40B4-BE49-F238E27FC236}">
                  <a16:creationId xmlns:a16="http://schemas.microsoft.com/office/drawing/2014/main" id="{257A7716-D697-710F-D22B-CC8B213CEC1B}"/>
                </a:ext>
              </a:extLst>
            </p:cNvPr>
            <p:cNvSpPr>
              <a:spLocks noChangeShapeType="1"/>
            </p:cNvSpPr>
            <p:nvPr/>
          </p:nvSpPr>
          <p:spPr bwMode="auto">
            <a:xfrm flipV="1">
              <a:off x="2736" y="624"/>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4" name="Line 18">
              <a:extLst>
                <a:ext uri="{FF2B5EF4-FFF2-40B4-BE49-F238E27FC236}">
                  <a16:creationId xmlns:a16="http://schemas.microsoft.com/office/drawing/2014/main" id="{F2007D6B-EA26-30D8-F145-77E1856AB827}"/>
                </a:ext>
              </a:extLst>
            </p:cNvPr>
            <p:cNvSpPr>
              <a:spLocks noChangeShapeType="1"/>
            </p:cNvSpPr>
            <p:nvPr/>
          </p:nvSpPr>
          <p:spPr bwMode="auto">
            <a:xfrm>
              <a:off x="2736" y="1200"/>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5" name="Line 19">
              <a:extLst>
                <a:ext uri="{FF2B5EF4-FFF2-40B4-BE49-F238E27FC236}">
                  <a16:creationId xmlns:a16="http://schemas.microsoft.com/office/drawing/2014/main" id="{C7E6E689-F4E3-584E-3B89-F46FDDB8B8A3}"/>
                </a:ext>
              </a:extLst>
            </p:cNvPr>
            <p:cNvSpPr>
              <a:spLocks noChangeShapeType="1"/>
            </p:cNvSpPr>
            <p:nvPr/>
          </p:nvSpPr>
          <p:spPr bwMode="auto">
            <a:xfrm>
              <a:off x="3168" y="1200"/>
              <a:ext cx="1"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6" name="Line 20">
              <a:extLst>
                <a:ext uri="{FF2B5EF4-FFF2-40B4-BE49-F238E27FC236}">
                  <a16:creationId xmlns:a16="http://schemas.microsoft.com/office/drawing/2014/main" id="{188B2CE1-5056-9D9F-3D66-593BD6A5388D}"/>
                </a:ext>
              </a:extLst>
            </p:cNvPr>
            <p:cNvSpPr>
              <a:spLocks noChangeShapeType="1"/>
            </p:cNvSpPr>
            <p:nvPr/>
          </p:nvSpPr>
          <p:spPr bwMode="auto">
            <a:xfrm flipH="1">
              <a:off x="2736" y="1584"/>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7" name="Line 21">
              <a:extLst>
                <a:ext uri="{FF2B5EF4-FFF2-40B4-BE49-F238E27FC236}">
                  <a16:creationId xmlns:a16="http://schemas.microsoft.com/office/drawing/2014/main" id="{5D9C869C-7CD7-5DE8-F6AD-D745F630B3E1}"/>
                </a:ext>
              </a:extLst>
            </p:cNvPr>
            <p:cNvSpPr>
              <a:spLocks noChangeShapeType="1"/>
            </p:cNvSpPr>
            <p:nvPr/>
          </p:nvSpPr>
          <p:spPr bwMode="auto">
            <a:xfrm flipV="1">
              <a:off x="2736" y="1200"/>
              <a:ext cx="1"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8" name="Line 22">
              <a:extLst>
                <a:ext uri="{FF2B5EF4-FFF2-40B4-BE49-F238E27FC236}">
                  <a16:creationId xmlns:a16="http://schemas.microsoft.com/office/drawing/2014/main" id="{8706C189-3AC9-AA5B-16B5-2E9A69BAAF78}"/>
                </a:ext>
              </a:extLst>
            </p:cNvPr>
            <p:cNvSpPr>
              <a:spLocks noChangeShapeType="1"/>
            </p:cNvSpPr>
            <p:nvPr/>
          </p:nvSpPr>
          <p:spPr bwMode="auto">
            <a:xfrm>
              <a:off x="2736" y="1392"/>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9" name="Line 23">
              <a:extLst>
                <a:ext uri="{FF2B5EF4-FFF2-40B4-BE49-F238E27FC236}">
                  <a16:creationId xmlns:a16="http://schemas.microsoft.com/office/drawing/2014/main" id="{0A4E9BB2-B54F-71A4-EBD3-48C34CB7FE4B}"/>
                </a:ext>
              </a:extLst>
            </p:cNvPr>
            <p:cNvSpPr>
              <a:spLocks noChangeShapeType="1"/>
            </p:cNvSpPr>
            <p:nvPr/>
          </p:nvSpPr>
          <p:spPr bwMode="auto">
            <a:xfrm>
              <a:off x="3696" y="1200"/>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40" name="Line 24">
              <a:extLst>
                <a:ext uri="{FF2B5EF4-FFF2-40B4-BE49-F238E27FC236}">
                  <a16:creationId xmlns:a16="http://schemas.microsoft.com/office/drawing/2014/main" id="{62198E25-7525-2F9D-E546-8D3F23B2DF57}"/>
                </a:ext>
              </a:extLst>
            </p:cNvPr>
            <p:cNvSpPr>
              <a:spLocks noChangeShapeType="1"/>
            </p:cNvSpPr>
            <p:nvPr/>
          </p:nvSpPr>
          <p:spPr bwMode="auto">
            <a:xfrm>
              <a:off x="4128" y="1200"/>
              <a:ext cx="1"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41" name="Line 25">
              <a:extLst>
                <a:ext uri="{FF2B5EF4-FFF2-40B4-BE49-F238E27FC236}">
                  <a16:creationId xmlns:a16="http://schemas.microsoft.com/office/drawing/2014/main" id="{27D9C816-3E1C-3A22-8D73-0FE2600EC42E}"/>
                </a:ext>
              </a:extLst>
            </p:cNvPr>
            <p:cNvSpPr>
              <a:spLocks noChangeShapeType="1"/>
            </p:cNvSpPr>
            <p:nvPr/>
          </p:nvSpPr>
          <p:spPr bwMode="auto">
            <a:xfrm flipH="1">
              <a:off x="3696" y="1584"/>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42" name="Line 26">
              <a:extLst>
                <a:ext uri="{FF2B5EF4-FFF2-40B4-BE49-F238E27FC236}">
                  <a16:creationId xmlns:a16="http://schemas.microsoft.com/office/drawing/2014/main" id="{0723BEFD-ADF1-7C0F-683A-37A411B18FF2}"/>
                </a:ext>
              </a:extLst>
            </p:cNvPr>
            <p:cNvSpPr>
              <a:spLocks noChangeShapeType="1"/>
            </p:cNvSpPr>
            <p:nvPr/>
          </p:nvSpPr>
          <p:spPr bwMode="auto">
            <a:xfrm flipV="1">
              <a:off x="3696" y="1200"/>
              <a:ext cx="1"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43" name="Line 27">
              <a:extLst>
                <a:ext uri="{FF2B5EF4-FFF2-40B4-BE49-F238E27FC236}">
                  <a16:creationId xmlns:a16="http://schemas.microsoft.com/office/drawing/2014/main" id="{9D239E0F-27B3-3F19-5660-D35828BFBE27}"/>
                </a:ext>
              </a:extLst>
            </p:cNvPr>
            <p:cNvSpPr>
              <a:spLocks noChangeShapeType="1"/>
            </p:cNvSpPr>
            <p:nvPr/>
          </p:nvSpPr>
          <p:spPr bwMode="auto">
            <a:xfrm>
              <a:off x="3696" y="1392"/>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44" name="Line 28">
              <a:extLst>
                <a:ext uri="{FF2B5EF4-FFF2-40B4-BE49-F238E27FC236}">
                  <a16:creationId xmlns:a16="http://schemas.microsoft.com/office/drawing/2014/main" id="{69CD53C1-AC9F-5D9F-A1A0-F5D9894E232D}"/>
                </a:ext>
              </a:extLst>
            </p:cNvPr>
            <p:cNvSpPr>
              <a:spLocks noChangeShapeType="1"/>
            </p:cNvSpPr>
            <p:nvPr/>
          </p:nvSpPr>
          <p:spPr bwMode="auto">
            <a:xfrm>
              <a:off x="144" y="1440"/>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45" name="Line 29">
              <a:extLst>
                <a:ext uri="{FF2B5EF4-FFF2-40B4-BE49-F238E27FC236}">
                  <a16:creationId xmlns:a16="http://schemas.microsoft.com/office/drawing/2014/main" id="{8EA33AF2-5C16-891B-65BF-24600DF72231}"/>
                </a:ext>
              </a:extLst>
            </p:cNvPr>
            <p:cNvSpPr>
              <a:spLocks noChangeShapeType="1"/>
            </p:cNvSpPr>
            <p:nvPr/>
          </p:nvSpPr>
          <p:spPr bwMode="auto">
            <a:xfrm>
              <a:off x="624" y="1440"/>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46" name="Line 30">
              <a:extLst>
                <a:ext uri="{FF2B5EF4-FFF2-40B4-BE49-F238E27FC236}">
                  <a16:creationId xmlns:a16="http://schemas.microsoft.com/office/drawing/2014/main" id="{34A5B12A-59EF-5B6B-09F1-A3D93094CFF6}"/>
                </a:ext>
              </a:extLst>
            </p:cNvPr>
            <p:cNvSpPr>
              <a:spLocks noChangeShapeType="1"/>
            </p:cNvSpPr>
            <p:nvPr/>
          </p:nvSpPr>
          <p:spPr bwMode="auto">
            <a:xfrm flipH="1">
              <a:off x="144" y="1632"/>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47" name="Line 31">
              <a:extLst>
                <a:ext uri="{FF2B5EF4-FFF2-40B4-BE49-F238E27FC236}">
                  <a16:creationId xmlns:a16="http://schemas.microsoft.com/office/drawing/2014/main" id="{236649DA-62A0-4AEB-6109-8B0FC1EB6856}"/>
                </a:ext>
              </a:extLst>
            </p:cNvPr>
            <p:cNvSpPr>
              <a:spLocks noChangeShapeType="1"/>
            </p:cNvSpPr>
            <p:nvPr/>
          </p:nvSpPr>
          <p:spPr bwMode="auto">
            <a:xfrm flipV="1">
              <a:off x="144" y="1440"/>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48" name="Line 32">
              <a:extLst>
                <a:ext uri="{FF2B5EF4-FFF2-40B4-BE49-F238E27FC236}">
                  <a16:creationId xmlns:a16="http://schemas.microsoft.com/office/drawing/2014/main" id="{8B4C94C4-CB28-8B52-B8F8-1986A76A010D}"/>
                </a:ext>
              </a:extLst>
            </p:cNvPr>
            <p:cNvSpPr>
              <a:spLocks noChangeShapeType="1"/>
            </p:cNvSpPr>
            <p:nvPr/>
          </p:nvSpPr>
          <p:spPr bwMode="auto">
            <a:xfrm>
              <a:off x="480" y="1536"/>
              <a:ext cx="216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49" name="Line 33">
              <a:extLst>
                <a:ext uri="{FF2B5EF4-FFF2-40B4-BE49-F238E27FC236}">
                  <a16:creationId xmlns:a16="http://schemas.microsoft.com/office/drawing/2014/main" id="{E44A1987-826F-5136-1A98-8CBA6AC2F248}"/>
                </a:ext>
              </a:extLst>
            </p:cNvPr>
            <p:cNvSpPr>
              <a:spLocks noChangeShapeType="1"/>
            </p:cNvSpPr>
            <p:nvPr/>
          </p:nvSpPr>
          <p:spPr bwMode="auto">
            <a:xfrm flipV="1">
              <a:off x="2640" y="1200"/>
              <a:ext cx="1"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0" name="Line 34">
              <a:extLst>
                <a:ext uri="{FF2B5EF4-FFF2-40B4-BE49-F238E27FC236}">
                  <a16:creationId xmlns:a16="http://schemas.microsoft.com/office/drawing/2014/main" id="{C3849214-7F9B-0F97-02AA-A8707C6E04AA}"/>
                </a:ext>
              </a:extLst>
            </p:cNvPr>
            <p:cNvSpPr>
              <a:spLocks noChangeShapeType="1"/>
            </p:cNvSpPr>
            <p:nvPr/>
          </p:nvSpPr>
          <p:spPr bwMode="auto">
            <a:xfrm>
              <a:off x="2640" y="1200"/>
              <a:ext cx="96"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1" name="Line 35">
              <a:extLst>
                <a:ext uri="{FF2B5EF4-FFF2-40B4-BE49-F238E27FC236}">
                  <a16:creationId xmlns:a16="http://schemas.microsoft.com/office/drawing/2014/main" id="{1709F86C-A7CA-0BFE-3234-B19C5E5BBBDD}"/>
                </a:ext>
              </a:extLst>
            </p:cNvPr>
            <p:cNvSpPr>
              <a:spLocks noChangeShapeType="1"/>
            </p:cNvSpPr>
            <p:nvPr/>
          </p:nvSpPr>
          <p:spPr bwMode="auto">
            <a:xfrm>
              <a:off x="432" y="864"/>
              <a:ext cx="67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2" name="Line 36">
              <a:extLst>
                <a:ext uri="{FF2B5EF4-FFF2-40B4-BE49-F238E27FC236}">
                  <a16:creationId xmlns:a16="http://schemas.microsoft.com/office/drawing/2014/main" id="{EA4AE56E-8E62-9A14-C94F-E221386ECF05}"/>
                </a:ext>
              </a:extLst>
            </p:cNvPr>
            <p:cNvSpPr>
              <a:spLocks noChangeShapeType="1"/>
            </p:cNvSpPr>
            <p:nvPr/>
          </p:nvSpPr>
          <p:spPr bwMode="auto">
            <a:xfrm flipV="1">
              <a:off x="1104" y="720"/>
              <a:ext cx="1"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3" name="Line 37">
              <a:extLst>
                <a:ext uri="{FF2B5EF4-FFF2-40B4-BE49-F238E27FC236}">
                  <a16:creationId xmlns:a16="http://schemas.microsoft.com/office/drawing/2014/main" id="{7696C315-88B7-172F-CC76-1381CC6F618F}"/>
                </a:ext>
              </a:extLst>
            </p:cNvPr>
            <p:cNvSpPr>
              <a:spLocks noChangeShapeType="1"/>
            </p:cNvSpPr>
            <p:nvPr/>
          </p:nvSpPr>
          <p:spPr bwMode="auto">
            <a:xfrm>
              <a:off x="1104" y="720"/>
              <a:ext cx="96"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4" name="Line 38">
              <a:extLst>
                <a:ext uri="{FF2B5EF4-FFF2-40B4-BE49-F238E27FC236}">
                  <a16:creationId xmlns:a16="http://schemas.microsoft.com/office/drawing/2014/main" id="{8E1F5CD2-C4EF-EFB6-AE51-5398122654C9}"/>
                </a:ext>
              </a:extLst>
            </p:cNvPr>
            <p:cNvSpPr>
              <a:spLocks noChangeShapeType="1"/>
            </p:cNvSpPr>
            <p:nvPr/>
          </p:nvSpPr>
          <p:spPr bwMode="auto">
            <a:xfrm>
              <a:off x="1536" y="1056"/>
              <a:ext cx="288"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5" name="Line 39">
              <a:extLst>
                <a:ext uri="{FF2B5EF4-FFF2-40B4-BE49-F238E27FC236}">
                  <a16:creationId xmlns:a16="http://schemas.microsoft.com/office/drawing/2014/main" id="{40536B3B-C427-DCAA-95A2-4BA6D465DD4A}"/>
                </a:ext>
              </a:extLst>
            </p:cNvPr>
            <p:cNvSpPr>
              <a:spLocks noChangeShapeType="1"/>
            </p:cNvSpPr>
            <p:nvPr/>
          </p:nvSpPr>
          <p:spPr bwMode="auto">
            <a:xfrm flipV="1">
              <a:off x="1824" y="864"/>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6" name="Line 40">
              <a:extLst>
                <a:ext uri="{FF2B5EF4-FFF2-40B4-BE49-F238E27FC236}">
                  <a16:creationId xmlns:a16="http://schemas.microsoft.com/office/drawing/2014/main" id="{8B3BDC4F-FFCB-0E00-4194-D49288C66677}"/>
                </a:ext>
              </a:extLst>
            </p:cNvPr>
            <p:cNvSpPr>
              <a:spLocks noChangeShapeType="1"/>
            </p:cNvSpPr>
            <p:nvPr/>
          </p:nvSpPr>
          <p:spPr bwMode="auto">
            <a:xfrm>
              <a:off x="1824" y="864"/>
              <a:ext cx="192"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7" name="Line 41">
              <a:extLst>
                <a:ext uri="{FF2B5EF4-FFF2-40B4-BE49-F238E27FC236}">
                  <a16:creationId xmlns:a16="http://schemas.microsoft.com/office/drawing/2014/main" id="{0F22F895-C66E-ADBD-748B-F19AA765A045}"/>
                </a:ext>
              </a:extLst>
            </p:cNvPr>
            <p:cNvSpPr>
              <a:spLocks noChangeShapeType="1"/>
            </p:cNvSpPr>
            <p:nvPr/>
          </p:nvSpPr>
          <p:spPr bwMode="auto">
            <a:xfrm flipV="1">
              <a:off x="2544" y="1200"/>
              <a:ext cx="1"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8" name="Line 42">
              <a:extLst>
                <a:ext uri="{FF2B5EF4-FFF2-40B4-BE49-F238E27FC236}">
                  <a16:creationId xmlns:a16="http://schemas.microsoft.com/office/drawing/2014/main" id="{7DD2FBE1-29EC-9E54-1BDB-6F5F42EE2B3E}"/>
                </a:ext>
              </a:extLst>
            </p:cNvPr>
            <p:cNvSpPr>
              <a:spLocks noChangeShapeType="1"/>
            </p:cNvSpPr>
            <p:nvPr/>
          </p:nvSpPr>
          <p:spPr bwMode="auto">
            <a:xfrm>
              <a:off x="2544" y="1200"/>
              <a:ext cx="144"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9" name="Line 43">
              <a:extLst>
                <a:ext uri="{FF2B5EF4-FFF2-40B4-BE49-F238E27FC236}">
                  <a16:creationId xmlns:a16="http://schemas.microsoft.com/office/drawing/2014/main" id="{1CC55803-1290-3673-AB04-4A6AC371FC6D}"/>
                </a:ext>
              </a:extLst>
            </p:cNvPr>
            <p:cNvSpPr>
              <a:spLocks noChangeShapeType="1"/>
            </p:cNvSpPr>
            <p:nvPr/>
          </p:nvSpPr>
          <p:spPr bwMode="auto">
            <a:xfrm>
              <a:off x="2016" y="1056"/>
              <a:ext cx="336" cy="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60" name="Line 44">
              <a:extLst>
                <a:ext uri="{FF2B5EF4-FFF2-40B4-BE49-F238E27FC236}">
                  <a16:creationId xmlns:a16="http://schemas.microsoft.com/office/drawing/2014/main" id="{AA1182E8-20DD-3777-55DF-787AFF8048AB}"/>
                </a:ext>
              </a:extLst>
            </p:cNvPr>
            <p:cNvSpPr>
              <a:spLocks noChangeShapeType="1"/>
            </p:cNvSpPr>
            <p:nvPr/>
          </p:nvSpPr>
          <p:spPr bwMode="auto">
            <a:xfrm>
              <a:off x="2976" y="720"/>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61" name="Line 45">
              <a:extLst>
                <a:ext uri="{FF2B5EF4-FFF2-40B4-BE49-F238E27FC236}">
                  <a16:creationId xmlns:a16="http://schemas.microsoft.com/office/drawing/2014/main" id="{796FF1A8-840F-27FE-A3CE-F819FC882B14}"/>
                </a:ext>
              </a:extLst>
            </p:cNvPr>
            <p:cNvSpPr>
              <a:spLocks noChangeShapeType="1"/>
            </p:cNvSpPr>
            <p:nvPr/>
          </p:nvSpPr>
          <p:spPr bwMode="auto">
            <a:xfrm>
              <a:off x="3408" y="720"/>
              <a:ext cx="1"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62" name="Line 46">
              <a:extLst>
                <a:ext uri="{FF2B5EF4-FFF2-40B4-BE49-F238E27FC236}">
                  <a16:creationId xmlns:a16="http://schemas.microsoft.com/office/drawing/2014/main" id="{0ED71191-5BAE-E9A9-EE04-D5806570CBFF}"/>
                </a:ext>
              </a:extLst>
            </p:cNvPr>
            <p:cNvSpPr>
              <a:spLocks noChangeShapeType="1"/>
            </p:cNvSpPr>
            <p:nvPr/>
          </p:nvSpPr>
          <p:spPr bwMode="auto">
            <a:xfrm>
              <a:off x="3408" y="1200"/>
              <a:ext cx="288"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63" name="Line 47">
              <a:extLst>
                <a:ext uri="{FF2B5EF4-FFF2-40B4-BE49-F238E27FC236}">
                  <a16:creationId xmlns:a16="http://schemas.microsoft.com/office/drawing/2014/main" id="{A93B35C4-ECD6-D8F1-889C-B04B29D4B35C}"/>
                </a:ext>
              </a:extLst>
            </p:cNvPr>
            <p:cNvSpPr>
              <a:spLocks noChangeShapeType="1"/>
            </p:cNvSpPr>
            <p:nvPr/>
          </p:nvSpPr>
          <p:spPr bwMode="auto">
            <a:xfrm>
              <a:off x="144" y="2736"/>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64" name="Line 48">
              <a:extLst>
                <a:ext uri="{FF2B5EF4-FFF2-40B4-BE49-F238E27FC236}">
                  <a16:creationId xmlns:a16="http://schemas.microsoft.com/office/drawing/2014/main" id="{63D1CE35-9259-13C2-436D-14A6919157FF}"/>
                </a:ext>
              </a:extLst>
            </p:cNvPr>
            <p:cNvSpPr>
              <a:spLocks noChangeShapeType="1"/>
            </p:cNvSpPr>
            <p:nvPr/>
          </p:nvSpPr>
          <p:spPr bwMode="auto">
            <a:xfrm>
              <a:off x="576" y="2736"/>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65" name="Line 49">
              <a:extLst>
                <a:ext uri="{FF2B5EF4-FFF2-40B4-BE49-F238E27FC236}">
                  <a16:creationId xmlns:a16="http://schemas.microsoft.com/office/drawing/2014/main" id="{58CD1876-3F0E-1B64-6A23-2651E11D1ED0}"/>
                </a:ext>
              </a:extLst>
            </p:cNvPr>
            <p:cNvSpPr>
              <a:spLocks noChangeShapeType="1"/>
            </p:cNvSpPr>
            <p:nvPr/>
          </p:nvSpPr>
          <p:spPr bwMode="auto">
            <a:xfrm flipH="1">
              <a:off x="144" y="2928"/>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66" name="Line 50">
              <a:extLst>
                <a:ext uri="{FF2B5EF4-FFF2-40B4-BE49-F238E27FC236}">
                  <a16:creationId xmlns:a16="http://schemas.microsoft.com/office/drawing/2014/main" id="{77F1D4E2-E590-440F-0492-AB51584C66A4}"/>
                </a:ext>
              </a:extLst>
            </p:cNvPr>
            <p:cNvSpPr>
              <a:spLocks noChangeShapeType="1"/>
            </p:cNvSpPr>
            <p:nvPr/>
          </p:nvSpPr>
          <p:spPr bwMode="auto">
            <a:xfrm flipV="1">
              <a:off x="144" y="2736"/>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67" name="Line 51">
              <a:extLst>
                <a:ext uri="{FF2B5EF4-FFF2-40B4-BE49-F238E27FC236}">
                  <a16:creationId xmlns:a16="http://schemas.microsoft.com/office/drawing/2014/main" id="{3C498258-0612-17E9-77E6-50DC417AF145}"/>
                </a:ext>
              </a:extLst>
            </p:cNvPr>
            <p:cNvSpPr>
              <a:spLocks noChangeShapeType="1"/>
            </p:cNvSpPr>
            <p:nvPr/>
          </p:nvSpPr>
          <p:spPr bwMode="auto">
            <a:xfrm>
              <a:off x="1200" y="2688"/>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68" name="Line 52">
              <a:extLst>
                <a:ext uri="{FF2B5EF4-FFF2-40B4-BE49-F238E27FC236}">
                  <a16:creationId xmlns:a16="http://schemas.microsoft.com/office/drawing/2014/main" id="{ABC92B06-AC87-3FEC-0ECD-463895482F54}"/>
                </a:ext>
              </a:extLst>
            </p:cNvPr>
            <p:cNvSpPr>
              <a:spLocks noChangeShapeType="1"/>
            </p:cNvSpPr>
            <p:nvPr/>
          </p:nvSpPr>
          <p:spPr bwMode="auto">
            <a:xfrm>
              <a:off x="1680" y="2688"/>
              <a:ext cx="1"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69" name="Line 53">
              <a:extLst>
                <a:ext uri="{FF2B5EF4-FFF2-40B4-BE49-F238E27FC236}">
                  <a16:creationId xmlns:a16="http://schemas.microsoft.com/office/drawing/2014/main" id="{773F2E98-2032-8E64-9211-0E76B6F20B0D}"/>
                </a:ext>
              </a:extLst>
            </p:cNvPr>
            <p:cNvSpPr>
              <a:spLocks noChangeShapeType="1"/>
            </p:cNvSpPr>
            <p:nvPr/>
          </p:nvSpPr>
          <p:spPr bwMode="auto">
            <a:xfrm flipH="1">
              <a:off x="1200" y="3072"/>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0" name="Line 54">
              <a:extLst>
                <a:ext uri="{FF2B5EF4-FFF2-40B4-BE49-F238E27FC236}">
                  <a16:creationId xmlns:a16="http://schemas.microsoft.com/office/drawing/2014/main" id="{1DB07D72-161D-F9C2-9D3B-3DAAA0E5DEB1}"/>
                </a:ext>
              </a:extLst>
            </p:cNvPr>
            <p:cNvSpPr>
              <a:spLocks noChangeShapeType="1"/>
            </p:cNvSpPr>
            <p:nvPr/>
          </p:nvSpPr>
          <p:spPr bwMode="auto">
            <a:xfrm flipV="1">
              <a:off x="1200" y="2688"/>
              <a:ext cx="1"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1" name="Line 55">
              <a:extLst>
                <a:ext uri="{FF2B5EF4-FFF2-40B4-BE49-F238E27FC236}">
                  <a16:creationId xmlns:a16="http://schemas.microsoft.com/office/drawing/2014/main" id="{BC0F2DBF-72A0-5EFB-4DF6-D82974F3EE2D}"/>
                </a:ext>
              </a:extLst>
            </p:cNvPr>
            <p:cNvSpPr>
              <a:spLocks noChangeShapeType="1"/>
            </p:cNvSpPr>
            <p:nvPr/>
          </p:nvSpPr>
          <p:spPr bwMode="auto">
            <a:xfrm>
              <a:off x="1200" y="2880"/>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2" name="Line 56">
              <a:extLst>
                <a:ext uri="{FF2B5EF4-FFF2-40B4-BE49-F238E27FC236}">
                  <a16:creationId xmlns:a16="http://schemas.microsoft.com/office/drawing/2014/main" id="{E54D85F6-E60C-4BB4-548B-8EF091AB940F}"/>
                </a:ext>
              </a:extLst>
            </p:cNvPr>
            <p:cNvSpPr>
              <a:spLocks noChangeShapeType="1"/>
            </p:cNvSpPr>
            <p:nvPr/>
          </p:nvSpPr>
          <p:spPr bwMode="auto">
            <a:xfrm>
              <a:off x="2688" y="2496"/>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3" name="Line 57">
              <a:extLst>
                <a:ext uri="{FF2B5EF4-FFF2-40B4-BE49-F238E27FC236}">
                  <a16:creationId xmlns:a16="http://schemas.microsoft.com/office/drawing/2014/main" id="{30DF46AF-0D88-8FC2-D056-38A1949D263D}"/>
                </a:ext>
              </a:extLst>
            </p:cNvPr>
            <p:cNvSpPr>
              <a:spLocks noChangeShapeType="1"/>
            </p:cNvSpPr>
            <p:nvPr/>
          </p:nvSpPr>
          <p:spPr bwMode="auto">
            <a:xfrm>
              <a:off x="3120" y="2496"/>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4" name="Line 58">
              <a:extLst>
                <a:ext uri="{FF2B5EF4-FFF2-40B4-BE49-F238E27FC236}">
                  <a16:creationId xmlns:a16="http://schemas.microsoft.com/office/drawing/2014/main" id="{06E059E3-38E5-17AD-8197-8B032B4E6164}"/>
                </a:ext>
              </a:extLst>
            </p:cNvPr>
            <p:cNvSpPr>
              <a:spLocks noChangeShapeType="1"/>
            </p:cNvSpPr>
            <p:nvPr/>
          </p:nvSpPr>
          <p:spPr bwMode="auto">
            <a:xfrm flipH="1">
              <a:off x="2688" y="2688"/>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5" name="Line 59">
              <a:extLst>
                <a:ext uri="{FF2B5EF4-FFF2-40B4-BE49-F238E27FC236}">
                  <a16:creationId xmlns:a16="http://schemas.microsoft.com/office/drawing/2014/main" id="{4160885B-D55C-1E47-DEB9-D055B110B286}"/>
                </a:ext>
              </a:extLst>
            </p:cNvPr>
            <p:cNvSpPr>
              <a:spLocks noChangeShapeType="1"/>
            </p:cNvSpPr>
            <p:nvPr/>
          </p:nvSpPr>
          <p:spPr bwMode="auto">
            <a:xfrm flipV="1">
              <a:off x="2688" y="2496"/>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6" name="Line 60">
              <a:extLst>
                <a:ext uri="{FF2B5EF4-FFF2-40B4-BE49-F238E27FC236}">
                  <a16:creationId xmlns:a16="http://schemas.microsoft.com/office/drawing/2014/main" id="{9F345C09-6B05-8E5F-E9D0-A785007AF7E8}"/>
                </a:ext>
              </a:extLst>
            </p:cNvPr>
            <p:cNvSpPr>
              <a:spLocks noChangeShapeType="1"/>
            </p:cNvSpPr>
            <p:nvPr/>
          </p:nvSpPr>
          <p:spPr bwMode="auto">
            <a:xfrm>
              <a:off x="2736" y="3120"/>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7" name="Line 61">
              <a:extLst>
                <a:ext uri="{FF2B5EF4-FFF2-40B4-BE49-F238E27FC236}">
                  <a16:creationId xmlns:a16="http://schemas.microsoft.com/office/drawing/2014/main" id="{6590C11B-E4BF-2F6B-3632-B7A4E3D167EF}"/>
                </a:ext>
              </a:extLst>
            </p:cNvPr>
            <p:cNvSpPr>
              <a:spLocks noChangeShapeType="1"/>
            </p:cNvSpPr>
            <p:nvPr/>
          </p:nvSpPr>
          <p:spPr bwMode="auto">
            <a:xfrm>
              <a:off x="3216" y="3120"/>
              <a:ext cx="1"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8" name="Line 62">
              <a:extLst>
                <a:ext uri="{FF2B5EF4-FFF2-40B4-BE49-F238E27FC236}">
                  <a16:creationId xmlns:a16="http://schemas.microsoft.com/office/drawing/2014/main" id="{333B3764-FDAE-5FAE-8AD3-98C66105653C}"/>
                </a:ext>
              </a:extLst>
            </p:cNvPr>
            <p:cNvSpPr>
              <a:spLocks noChangeShapeType="1"/>
            </p:cNvSpPr>
            <p:nvPr/>
          </p:nvSpPr>
          <p:spPr bwMode="auto">
            <a:xfrm flipH="1">
              <a:off x="2736" y="3456"/>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9" name="Line 63">
              <a:extLst>
                <a:ext uri="{FF2B5EF4-FFF2-40B4-BE49-F238E27FC236}">
                  <a16:creationId xmlns:a16="http://schemas.microsoft.com/office/drawing/2014/main" id="{E5CEFE79-A69A-62CC-2B6F-9B5F658BB3FA}"/>
                </a:ext>
              </a:extLst>
            </p:cNvPr>
            <p:cNvSpPr>
              <a:spLocks noChangeShapeType="1"/>
            </p:cNvSpPr>
            <p:nvPr/>
          </p:nvSpPr>
          <p:spPr bwMode="auto">
            <a:xfrm flipV="1">
              <a:off x="2736" y="3120"/>
              <a:ext cx="1"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0" name="Line 64">
              <a:extLst>
                <a:ext uri="{FF2B5EF4-FFF2-40B4-BE49-F238E27FC236}">
                  <a16:creationId xmlns:a16="http://schemas.microsoft.com/office/drawing/2014/main" id="{9FAC14A1-34E7-3660-A1EE-9E08C02646EF}"/>
                </a:ext>
              </a:extLst>
            </p:cNvPr>
            <p:cNvSpPr>
              <a:spLocks noChangeShapeType="1"/>
            </p:cNvSpPr>
            <p:nvPr/>
          </p:nvSpPr>
          <p:spPr bwMode="auto">
            <a:xfrm>
              <a:off x="2736" y="3264"/>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1" name="Line 65">
              <a:extLst>
                <a:ext uri="{FF2B5EF4-FFF2-40B4-BE49-F238E27FC236}">
                  <a16:creationId xmlns:a16="http://schemas.microsoft.com/office/drawing/2014/main" id="{47981DDF-B3EF-0558-FB59-4667C9EE1B40}"/>
                </a:ext>
              </a:extLst>
            </p:cNvPr>
            <p:cNvSpPr>
              <a:spLocks noChangeShapeType="1"/>
            </p:cNvSpPr>
            <p:nvPr/>
          </p:nvSpPr>
          <p:spPr bwMode="auto">
            <a:xfrm>
              <a:off x="3648" y="3120"/>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2" name="Line 66">
              <a:extLst>
                <a:ext uri="{FF2B5EF4-FFF2-40B4-BE49-F238E27FC236}">
                  <a16:creationId xmlns:a16="http://schemas.microsoft.com/office/drawing/2014/main" id="{5B5140EB-A25C-8D72-DE42-BAB87466DD80}"/>
                </a:ext>
              </a:extLst>
            </p:cNvPr>
            <p:cNvSpPr>
              <a:spLocks noChangeShapeType="1"/>
            </p:cNvSpPr>
            <p:nvPr/>
          </p:nvSpPr>
          <p:spPr bwMode="auto">
            <a:xfrm>
              <a:off x="4128" y="3120"/>
              <a:ext cx="1"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3" name="Line 67">
              <a:extLst>
                <a:ext uri="{FF2B5EF4-FFF2-40B4-BE49-F238E27FC236}">
                  <a16:creationId xmlns:a16="http://schemas.microsoft.com/office/drawing/2014/main" id="{C8251055-EE01-2CFE-CCF5-B6CC592712C7}"/>
                </a:ext>
              </a:extLst>
            </p:cNvPr>
            <p:cNvSpPr>
              <a:spLocks noChangeShapeType="1"/>
            </p:cNvSpPr>
            <p:nvPr/>
          </p:nvSpPr>
          <p:spPr bwMode="auto">
            <a:xfrm flipH="1">
              <a:off x="3648" y="3456"/>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4" name="Line 68">
              <a:extLst>
                <a:ext uri="{FF2B5EF4-FFF2-40B4-BE49-F238E27FC236}">
                  <a16:creationId xmlns:a16="http://schemas.microsoft.com/office/drawing/2014/main" id="{8A08F996-87E2-7528-FD7F-C41C6D48D7A1}"/>
                </a:ext>
              </a:extLst>
            </p:cNvPr>
            <p:cNvSpPr>
              <a:spLocks noChangeShapeType="1"/>
            </p:cNvSpPr>
            <p:nvPr/>
          </p:nvSpPr>
          <p:spPr bwMode="auto">
            <a:xfrm flipV="1">
              <a:off x="3648" y="3120"/>
              <a:ext cx="1"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5" name="Line 69">
              <a:extLst>
                <a:ext uri="{FF2B5EF4-FFF2-40B4-BE49-F238E27FC236}">
                  <a16:creationId xmlns:a16="http://schemas.microsoft.com/office/drawing/2014/main" id="{B90257BE-AE35-DB37-376F-CD0875CCF19F}"/>
                </a:ext>
              </a:extLst>
            </p:cNvPr>
            <p:cNvSpPr>
              <a:spLocks noChangeShapeType="1"/>
            </p:cNvSpPr>
            <p:nvPr/>
          </p:nvSpPr>
          <p:spPr bwMode="auto">
            <a:xfrm>
              <a:off x="3648" y="3264"/>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6" name="Line 70">
              <a:extLst>
                <a:ext uri="{FF2B5EF4-FFF2-40B4-BE49-F238E27FC236}">
                  <a16:creationId xmlns:a16="http://schemas.microsoft.com/office/drawing/2014/main" id="{D08760FA-0522-FEDC-9572-1E4E1B8B2E9B}"/>
                </a:ext>
              </a:extLst>
            </p:cNvPr>
            <p:cNvSpPr>
              <a:spLocks noChangeShapeType="1"/>
            </p:cNvSpPr>
            <p:nvPr/>
          </p:nvSpPr>
          <p:spPr bwMode="auto">
            <a:xfrm>
              <a:off x="432" y="2832"/>
              <a:ext cx="62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7" name="Line 71">
              <a:extLst>
                <a:ext uri="{FF2B5EF4-FFF2-40B4-BE49-F238E27FC236}">
                  <a16:creationId xmlns:a16="http://schemas.microsoft.com/office/drawing/2014/main" id="{E525BA62-5BF5-B951-99F2-F9EA4162BFF9}"/>
                </a:ext>
              </a:extLst>
            </p:cNvPr>
            <p:cNvSpPr>
              <a:spLocks noChangeShapeType="1"/>
            </p:cNvSpPr>
            <p:nvPr/>
          </p:nvSpPr>
          <p:spPr bwMode="auto">
            <a:xfrm flipV="1">
              <a:off x="1056" y="2688"/>
              <a:ext cx="1"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8" name="Line 72">
              <a:extLst>
                <a:ext uri="{FF2B5EF4-FFF2-40B4-BE49-F238E27FC236}">
                  <a16:creationId xmlns:a16="http://schemas.microsoft.com/office/drawing/2014/main" id="{89A8F21D-9347-94AD-F395-0215F3B3EF85}"/>
                </a:ext>
              </a:extLst>
            </p:cNvPr>
            <p:cNvSpPr>
              <a:spLocks noChangeShapeType="1"/>
            </p:cNvSpPr>
            <p:nvPr/>
          </p:nvSpPr>
          <p:spPr bwMode="auto">
            <a:xfrm>
              <a:off x="1056" y="2688"/>
              <a:ext cx="144"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9" name="Line 73">
              <a:extLst>
                <a:ext uri="{FF2B5EF4-FFF2-40B4-BE49-F238E27FC236}">
                  <a16:creationId xmlns:a16="http://schemas.microsoft.com/office/drawing/2014/main" id="{F60700E6-2F75-DD83-3C0C-F00B6A85B53A}"/>
                </a:ext>
              </a:extLst>
            </p:cNvPr>
            <p:cNvSpPr>
              <a:spLocks noChangeShapeType="1"/>
            </p:cNvSpPr>
            <p:nvPr/>
          </p:nvSpPr>
          <p:spPr bwMode="auto">
            <a:xfrm>
              <a:off x="1488" y="2976"/>
              <a:ext cx="38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90" name="Line 74">
              <a:extLst>
                <a:ext uri="{FF2B5EF4-FFF2-40B4-BE49-F238E27FC236}">
                  <a16:creationId xmlns:a16="http://schemas.microsoft.com/office/drawing/2014/main" id="{BFD24CCA-37CB-886F-FE4A-C56B1A8E2D85}"/>
                </a:ext>
              </a:extLst>
            </p:cNvPr>
            <p:cNvSpPr>
              <a:spLocks noChangeShapeType="1"/>
            </p:cNvSpPr>
            <p:nvPr/>
          </p:nvSpPr>
          <p:spPr bwMode="auto">
            <a:xfrm flipV="1">
              <a:off x="1872" y="2784"/>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91" name="Line 75">
              <a:extLst>
                <a:ext uri="{FF2B5EF4-FFF2-40B4-BE49-F238E27FC236}">
                  <a16:creationId xmlns:a16="http://schemas.microsoft.com/office/drawing/2014/main" id="{F285CBE6-C97A-0D5E-BB65-635F7544A25A}"/>
                </a:ext>
              </a:extLst>
            </p:cNvPr>
            <p:cNvSpPr>
              <a:spLocks noChangeShapeType="1"/>
            </p:cNvSpPr>
            <p:nvPr/>
          </p:nvSpPr>
          <p:spPr bwMode="auto">
            <a:xfrm>
              <a:off x="1872" y="2784"/>
              <a:ext cx="144"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92" name="Line 76">
              <a:extLst>
                <a:ext uri="{FF2B5EF4-FFF2-40B4-BE49-F238E27FC236}">
                  <a16:creationId xmlns:a16="http://schemas.microsoft.com/office/drawing/2014/main" id="{548B71F0-1CEB-EB1F-8670-C035CF41D9A0}"/>
                </a:ext>
              </a:extLst>
            </p:cNvPr>
            <p:cNvSpPr>
              <a:spLocks noChangeShapeType="1"/>
            </p:cNvSpPr>
            <p:nvPr/>
          </p:nvSpPr>
          <p:spPr bwMode="auto">
            <a:xfrm>
              <a:off x="2064" y="2928"/>
              <a:ext cx="336" cy="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93" name="Line 77">
              <a:extLst>
                <a:ext uri="{FF2B5EF4-FFF2-40B4-BE49-F238E27FC236}">
                  <a16:creationId xmlns:a16="http://schemas.microsoft.com/office/drawing/2014/main" id="{E96B352D-124F-A40A-6A4F-6C6C7E83FE0A}"/>
                </a:ext>
              </a:extLst>
            </p:cNvPr>
            <p:cNvSpPr>
              <a:spLocks noChangeShapeType="1"/>
            </p:cNvSpPr>
            <p:nvPr/>
          </p:nvSpPr>
          <p:spPr bwMode="auto">
            <a:xfrm>
              <a:off x="2352" y="3312"/>
              <a:ext cx="24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94" name="Line 78">
              <a:extLst>
                <a:ext uri="{FF2B5EF4-FFF2-40B4-BE49-F238E27FC236}">
                  <a16:creationId xmlns:a16="http://schemas.microsoft.com/office/drawing/2014/main" id="{752BA205-72DF-876E-B6AF-E749735E7C6E}"/>
                </a:ext>
              </a:extLst>
            </p:cNvPr>
            <p:cNvSpPr>
              <a:spLocks noChangeShapeType="1"/>
            </p:cNvSpPr>
            <p:nvPr/>
          </p:nvSpPr>
          <p:spPr bwMode="auto">
            <a:xfrm flipH="1">
              <a:off x="2304" y="1440"/>
              <a:ext cx="24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95" name="Line 79">
              <a:extLst>
                <a:ext uri="{FF2B5EF4-FFF2-40B4-BE49-F238E27FC236}">
                  <a16:creationId xmlns:a16="http://schemas.microsoft.com/office/drawing/2014/main" id="{45D1D6A3-BDF4-3974-E476-15213ED0DDDE}"/>
                </a:ext>
              </a:extLst>
            </p:cNvPr>
            <p:cNvSpPr>
              <a:spLocks noChangeShapeType="1"/>
            </p:cNvSpPr>
            <p:nvPr/>
          </p:nvSpPr>
          <p:spPr bwMode="auto">
            <a:xfrm flipV="1">
              <a:off x="2592" y="3120"/>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96" name="Line 80">
              <a:extLst>
                <a:ext uri="{FF2B5EF4-FFF2-40B4-BE49-F238E27FC236}">
                  <a16:creationId xmlns:a16="http://schemas.microsoft.com/office/drawing/2014/main" id="{9C899444-49CB-5760-F874-3A25CC212F94}"/>
                </a:ext>
              </a:extLst>
            </p:cNvPr>
            <p:cNvSpPr>
              <a:spLocks noChangeShapeType="1"/>
            </p:cNvSpPr>
            <p:nvPr/>
          </p:nvSpPr>
          <p:spPr bwMode="auto">
            <a:xfrm>
              <a:off x="2592" y="3120"/>
              <a:ext cx="144"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97" name="Line 81">
              <a:extLst>
                <a:ext uri="{FF2B5EF4-FFF2-40B4-BE49-F238E27FC236}">
                  <a16:creationId xmlns:a16="http://schemas.microsoft.com/office/drawing/2014/main" id="{87B9F882-3582-02F8-ECF5-DEBF0F064F81}"/>
                </a:ext>
              </a:extLst>
            </p:cNvPr>
            <p:cNvSpPr>
              <a:spLocks noChangeShapeType="1"/>
            </p:cNvSpPr>
            <p:nvPr/>
          </p:nvSpPr>
          <p:spPr bwMode="auto">
            <a:xfrm>
              <a:off x="2976" y="2592"/>
              <a:ext cx="48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98" name="Line 82">
              <a:extLst>
                <a:ext uri="{FF2B5EF4-FFF2-40B4-BE49-F238E27FC236}">
                  <a16:creationId xmlns:a16="http://schemas.microsoft.com/office/drawing/2014/main" id="{EDD40F21-A28F-59BC-8593-96928C797B69}"/>
                </a:ext>
              </a:extLst>
            </p:cNvPr>
            <p:cNvSpPr>
              <a:spLocks noChangeShapeType="1"/>
            </p:cNvSpPr>
            <p:nvPr/>
          </p:nvSpPr>
          <p:spPr bwMode="auto">
            <a:xfrm>
              <a:off x="144" y="3504"/>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99" name="Line 83">
              <a:extLst>
                <a:ext uri="{FF2B5EF4-FFF2-40B4-BE49-F238E27FC236}">
                  <a16:creationId xmlns:a16="http://schemas.microsoft.com/office/drawing/2014/main" id="{77E0CAEA-98B5-ECCF-B179-79CC6CD79F93}"/>
                </a:ext>
              </a:extLst>
            </p:cNvPr>
            <p:cNvSpPr>
              <a:spLocks noChangeShapeType="1"/>
            </p:cNvSpPr>
            <p:nvPr/>
          </p:nvSpPr>
          <p:spPr bwMode="auto">
            <a:xfrm>
              <a:off x="576" y="3504"/>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900" name="Line 84">
              <a:extLst>
                <a:ext uri="{FF2B5EF4-FFF2-40B4-BE49-F238E27FC236}">
                  <a16:creationId xmlns:a16="http://schemas.microsoft.com/office/drawing/2014/main" id="{649BC25D-FEB7-45E1-864A-10D78D5DF83D}"/>
                </a:ext>
              </a:extLst>
            </p:cNvPr>
            <p:cNvSpPr>
              <a:spLocks noChangeShapeType="1"/>
            </p:cNvSpPr>
            <p:nvPr/>
          </p:nvSpPr>
          <p:spPr bwMode="auto">
            <a:xfrm flipH="1">
              <a:off x="144" y="3696"/>
              <a:ext cx="4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901" name="Line 85">
              <a:extLst>
                <a:ext uri="{FF2B5EF4-FFF2-40B4-BE49-F238E27FC236}">
                  <a16:creationId xmlns:a16="http://schemas.microsoft.com/office/drawing/2014/main" id="{ADBC807C-8676-7FF2-B254-20314EC0B38A}"/>
                </a:ext>
              </a:extLst>
            </p:cNvPr>
            <p:cNvSpPr>
              <a:spLocks noChangeShapeType="1"/>
            </p:cNvSpPr>
            <p:nvPr/>
          </p:nvSpPr>
          <p:spPr bwMode="auto">
            <a:xfrm flipV="1">
              <a:off x="144" y="3504"/>
              <a:ext cx="1"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902" name="Line 86">
              <a:extLst>
                <a:ext uri="{FF2B5EF4-FFF2-40B4-BE49-F238E27FC236}">
                  <a16:creationId xmlns:a16="http://schemas.microsoft.com/office/drawing/2014/main" id="{573F4913-2855-0309-33A0-E615EC946DBC}"/>
                </a:ext>
              </a:extLst>
            </p:cNvPr>
            <p:cNvSpPr>
              <a:spLocks noChangeShapeType="1"/>
            </p:cNvSpPr>
            <p:nvPr/>
          </p:nvSpPr>
          <p:spPr bwMode="auto">
            <a:xfrm>
              <a:off x="480" y="3600"/>
              <a:ext cx="2976"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903" name="Line 87">
              <a:extLst>
                <a:ext uri="{FF2B5EF4-FFF2-40B4-BE49-F238E27FC236}">
                  <a16:creationId xmlns:a16="http://schemas.microsoft.com/office/drawing/2014/main" id="{62BF092A-27D8-2243-2362-354A3ED903C0}"/>
                </a:ext>
              </a:extLst>
            </p:cNvPr>
            <p:cNvSpPr>
              <a:spLocks noChangeShapeType="1"/>
            </p:cNvSpPr>
            <p:nvPr/>
          </p:nvSpPr>
          <p:spPr bwMode="auto">
            <a:xfrm flipV="1">
              <a:off x="3456" y="2592"/>
              <a:ext cx="1" cy="10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904" name="Line 88">
              <a:extLst>
                <a:ext uri="{FF2B5EF4-FFF2-40B4-BE49-F238E27FC236}">
                  <a16:creationId xmlns:a16="http://schemas.microsoft.com/office/drawing/2014/main" id="{1DDAC7BF-4BC2-5B13-0EE2-7236A9737224}"/>
                </a:ext>
              </a:extLst>
            </p:cNvPr>
            <p:cNvSpPr>
              <a:spLocks noChangeShapeType="1"/>
            </p:cNvSpPr>
            <p:nvPr/>
          </p:nvSpPr>
          <p:spPr bwMode="auto">
            <a:xfrm>
              <a:off x="3120" y="3360"/>
              <a:ext cx="24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905" name="Line 89">
              <a:extLst>
                <a:ext uri="{FF2B5EF4-FFF2-40B4-BE49-F238E27FC236}">
                  <a16:creationId xmlns:a16="http://schemas.microsoft.com/office/drawing/2014/main" id="{4D3C1062-CCC0-517D-61B0-ECE5C1369BE6}"/>
                </a:ext>
              </a:extLst>
            </p:cNvPr>
            <p:cNvSpPr>
              <a:spLocks noChangeShapeType="1"/>
            </p:cNvSpPr>
            <p:nvPr/>
          </p:nvSpPr>
          <p:spPr bwMode="auto">
            <a:xfrm flipV="1">
              <a:off x="3360" y="3120"/>
              <a:ext cx="1"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906" name="Line 90">
              <a:extLst>
                <a:ext uri="{FF2B5EF4-FFF2-40B4-BE49-F238E27FC236}">
                  <a16:creationId xmlns:a16="http://schemas.microsoft.com/office/drawing/2014/main" id="{E1E318F6-82CE-1A9D-F8B1-56B67D61EBAC}"/>
                </a:ext>
              </a:extLst>
            </p:cNvPr>
            <p:cNvSpPr>
              <a:spLocks noChangeShapeType="1"/>
            </p:cNvSpPr>
            <p:nvPr/>
          </p:nvSpPr>
          <p:spPr bwMode="auto">
            <a:xfrm>
              <a:off x="3360" y="3120"/>
              <a:ext cx="288"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EACD224F-5711-9962-4970-15DCA2F8CA76}"/>
              </a:ext>
            </a:extLst>
          </p:cNvPr>
          <p:cNvSpPr>
            <a:spLocks noGrp="1" noChangeArrowheads="1"/>
          </p:cNvSpPr>
          <p:nvPr>
            <p:ph type="title"/>
          </p:nvPr>
        </p:nvSpPr>
        <p:spPr/>
        <p:txBody>
          <a:bodyPr/>
          <a:lstStyle/>
          <a:p>
            <a:pPr eaLnBrk="1" hangingPunct="1"/>
            <a:r>
              <a:rPr lang="zh-CN" altLang="en-US"/>
              <a:t>例</a:t>
            </a:r>
            <a:r>
              <a:rPr lang="en-US" altLang="zh-CN"/>
              <a:t>7.3 (</a:t>
            </a:r>
            <a:r>
              <a:rPr lang="zh-CN" altLang="en-US"/>
              <a:t>续</a:t>
            </a:r>
            <a:r>
              <a:rPr lang="en-US" altLang="zh-CN"/>
              <a:t>)</a:t>
            </a:r>
          </a:p>
        </p:txBody>
      </p:sp>
      <p:sp>
        <p:nvSpPr>
          <p:cNvPr id="163843" name="Rectangle 3">
            <a:extLst>
              <a:ext uri="{FF2B5EF4-FFF2-40B4-BE49-F238E27FC236}">
                <a16:creationId xmlns:a16="http://schemas.microsoft.com/office/drawing/2014/main" id="{C5D471E4-3298-83F1-49C1-C8A0E9FD2329}"/>
              </a:ext>
            </a:extLst>
          </p:cNvPr>
          <p:cNvSpPr>
            <a:spLocks noGrp="1" noChangeArrowheads="1"/>
          </p:cNvSpPr>
          <p:nvPr>
            <p:ph type="body" idx="1"/>
          </p:nvPr>
        </p:nvSpPr>
        <p:spPr/>
        <p:txBody>
          <a:bodyPr/>
          <a:lstStyle/>
          <a:p>
            <a:pPr marL="533400" indent="-533400" eaLnBrk="1" hangingPunct="1">
              <a:lnSpc>
                <a:spcPct val="90000"/>
              </a:lnSpc>
            </a:pPr>
            <a:r>
              <a:rPr lang="zh-CN" altLang="en-US" sz="2000" b="0"/>
              <a:t>设链表的表元类型为前面说明的</a:t>
            </a:r>
            <a:r>
              <a:rPr lang="en-US" altLang="zh-CN" sz="2000" b="0"/>
              <a:t>struct intNode</a:t>
            </a:r>
            <a:r>
              <a:rPr lang="zh-CN" altLang="en-US" sz="2000" b="0"/>
              <a:t>类型。按上述算法思想编写的函数：</a:t>
            </a:r>
          </a:p>
          <a:p>
            <a:pPr marL="914400" lvl="1" indent="-457200" eaLnBrk="1" hangingPunct="1">
              <a:lnSpc>
                <a:spcPct val="90000"/>
              </a:lnSpc>
              <a:buFont typeface="Wingdings" pitchFamily="2" charset="2"/>
              <a:buAutoNum type="arabicPeriod"/>
            </a:pPr>
            <a:r>
              <a:rPr lang="zh-CN" altLang="en-US" sz="1800" b="0"/>
              <a:t> </a:t>
            </a:r>
            <a:r>
              <a:rPr lang="en-US" altLang="zh-CN" sz="1800" b="0"/>
              <a:t>struct  intNode  *createList(){</a:t>
            </a:r>
          </a:p>
          <a:p>
            <a:pPr marL="914400" lvl="1" indent="-457200" eaLnBrk="1" hangingPunct="1">
              <a:lnSpc>
                <a:spcPct val="90000"/>
              </a:lnSpc>
              <a:buFont typeface="Wingdings" pitchFamily="2" charset="2"/>
              <a:buAutoNum type="arabicPeriod"/>
            </a:pPr>
            <a:r>
              <a:rPr lang="en-US" altLang="zh-CN" sz="1800" b="0"/>
              <a:t>      struct intNode </a:t>
            </a:r>
            <a:r>
              <a:rPr lang="en-US" altLang="zh-CN" sz="1800" b="0">
                <a:solidFill>
                  <a:srgbClr val="0066FF"/>
                </a:solidFill>
              </a:rPr>
              <a:t>*h=NULL</a:t>
            </a:r>
            <a:r>
              <a:rPr lang="en-US" altLang="zh-CN" sz="1800" b="0"/>
              <a:t>, </a:t>
            </a:r>
            <a:r>
              <a:rPr lang="en-US" altLang="zh-CN" sz="1800" b="0">
                <a:solidFill>
                  <a:schemeClr val="folHlink"/>
                </a:solidFill>
              </a:rPr>
              <a:t>//</a:t>
            </a:r>
            <a:r>
              <a:rPr lang="zh-CN" altLang="en-US" sz="1800" b="0">
                <a:solidFill>
                  <a:schemeClr val="folHlink"/>
                </a:solidFill>
              </a:rPr>
              <a:t>链表的头指针</a:t>
            </a:r>
          </a:p>
          <a:p>
            <a:pPr marL="914400" lvl="1" indent="-457200" eaLnBrk="1" hangingPunct="1">
              <a:lnSpc>
                <a:spcPct val="90000"/>
              </a:lnSpc>
              <a:buFont typeface="Wingdings" pitchFamily="2" charset="2"/>
              <a:buAutoNum type="arabicPeriod"/>
            </a:pPr>
            <a:r>
              <a:rPr lang="zh-CN" altLang="en-US" sz="1800" b="0"/>
              <a:t>              	</a:t>
            </a:r>
            <a:r>
              <a:rPr lang="zh-CN" altLang="en-US" sz="1800" b="0">
                <a:solidFill>
                  <a:srgbClr val="0066FF"/>
                </a:solidFill>
              </a:rPr>
              <a:t>*</a:t>
            </a:r>
            <a:r>
              <a:rPr lang="en-US" altLang="zh-CN" sz="1800" b="0">
                <a:solidFill>
                  <a:srgbClr val="0066FF"/>
                </a:solidFill>
              </a:rPr>
              <a:t>tail=NULL</a:t>
            </a:r>
            <a:r>
              <a:rPr lang="en-US" altLang="zh-CN" sz="1800" b="0"/>
              <a:t>, </a:t>
            </a:r>
            <a:r>
              <a:rPr lang="en-US" altLang="zh-CN" sz="1800" b="0">
                <a:solidFill>
                  <a:schemeClr val="folHlink"/>
                </a:solidFill>
              </a:rPr>
              <a:t>//</a:t>
            </a:r>
            <a:r>
              <a:rPr lang="zh-CN" altLang="en-US" sz="1800" b="0">
                <a:solidFill>
                  <a:schemeClr val="folHlink"/>
                </a:solidFill>
              </a:rPr>
              <a:t>链表未尾表元的指针</a:t>
            </a:r>
          </a:p>
          <a:p>
            <a:pPr marL="914400" lvl="1" indent="-457200" eaLnBrk="1" hangingPunct="1">
              <a:lnSpc>
                <a:spcPct val="90000"/>
              </a:lnSpc>
              <a:buFont typeface="Wingdings" pitchFamily="2" charset="2"/>
              <a:buAutoNum type="arabicPeriod"/>
            </a:pPr>
            <a:r>
              <a:rPr lang="zh-CN" altLang="en-US" sz="1800" b="0"/>
              <a:t>             	*</a:t>
            </a:r>
            <a:r>
              <a:rPr lang="en-US" altLang="zh-CN" sz="1800" b="0"/>
              <a:t>p;</a:t>
            </a:r>
          </a:p>
          <a:p>
            <a:pPr marL="914400" lvl="1" indent="-457200" eaLnBrk="1" hangingPunct="1">
              <a:lnSpc>
                <a:spcPct val="90000"/>
              </a:lnSpc>
              <a:buFont typeface="Wingdings" pitchFamily="2" charset="2"/>
              <a:buAutoNum type="arabicPeriod"/>
            </a:pPr>
            <a:r>
              <a:rPr lang="en-US" altLang="zh-CN" sz="1800" b="0"/>
              <a:t>       int  n;</a:t>
            </a:r>
          </a:p>
          <a:p>
            <a:pPr marL="914400" lvl="1" indent="-457200" eaLnBrk="1" hangingPunct="1">
              <a:lnSpc>
                <a:spcPct val="90000"/>
              </a:lnSpc>
              <a:buFont typeface="Wingdings" pitchFamily="2" charset="2"/>
              <a:buAutoNum type="arabicPeriod"/>
            </a:pPr>
            <a:r>
              <a:rPr lang="en-US" altLang="zh-CN" sz="1800" b="0"/>
              <a:t>       printf("Input data.\n");</a:t>
            </a:r>
          </a:p>
          <a:p>
            <a:pPr marL="914400" lvl="1" indent="-457200" eaLnBrk="1" hangingPunct="1">
              <a:lnSpc>
                <a:spcPct val="90000"/>
              </a:lnSpc>
              <a:buFont typeface="Wingdings" pitchFamily="2" charset="2"/>
              <a:buAutoNum type="arabicPeriod"/>
            </a:pPr>
            <a:r>
              <a:rPr lang="en-US" altLang="zh-CN" sz="1800" b="0"/>
              <a:t>       while (scanf("%d", &amp;n) &gt; 0)  { </a:t>
            </a:r>
            <a:r>
              <a:rPr lang="en-US" altLang="zh-CN" sz="1800" b="0">
                <a:solidFill>
                  <a:schemeClr val="folHlink"/>
                </a:solidFill>
              </a:rPr>
              <a:t>//</a:t>
            </a:r>
            <a:r>
              <a:rPr lang="zh-CN" altLang="en-US" sz="1800" b="0">
                <a:solidFill>
                  <a:schemeClr val="folHlink"/>
                </a:solidFill>
              </a:rPr>
              <a:t>有整数读入</a:t>
            </a:r>
          </a:p>
          <a:p>
            <a:pPr marL="914400" lvl="1" indent="-457200" eaLnBrk="1" hangingPunct="1">
              <a:lnSpc>
                <a:spcPct val="90000"/>
              </a:lnSpc>
              <a:buFont typeface="Wingdings" pitchFamily="2" charset="2"/>
              <a:buAutoNum type="arabicPeriod"/>
            </a:pPr>
            <a:r>
              <a:rPr lang="zh-CN" altLang="en-US" sz="1800" b="0"/>
              <a:t>           </a:t>
            </a:r>
            <a:r>
              <a:rPr lang="en-US" altLang="zh-CN" sz="1800" b="0"/>
              <a:t>p = (struct intNode *)</a:t>
            </a:r>
            <a:r>
              <a:rPr lang="en-US" altLang="zh-CN" sz="1800" b="0">
                <a:solidFill>
                  <a:srgbClr val="0066FF"/>
                </a:solidFill>
              </a:rPr>
              <a:t>malloc</a:t>
            </a:r>
            <a:r>
              <a:rPr lang="en-US" altLang="zh-CN" sz="1800" b="0"/>
              <a:t>(sizeof(struct intNode));</a:t>
            </a:r>
          </a:p>
          <a:p>
            <a:pPr marL="914400" lvl="1" indent="-457200" eaLnBrk="1" hangingPunct="1">
              <a:lnSpc>
                <a:spcPct val="90000"/>
              </a:lnSpc>
              <a:buFont typeface="Wingdings" pitchFamily="2" charset="2"/>
              <a:buAutoNum type="arabicPeriod"/>
            </a:pPr>
            <a:r>
              <a:rPr lang="en-US" altLang="zh-CN" sz="1800" b="0"/>
              <a:t>           p-&gt;value = n; </a:t>
            </a:r>
          </a:p>
          <a:p>
            <a:pPr marL="914400" lvl="1" indent="-457200" eaLnBrk="1" hangingPunct="1">
              <a:lnSpc>
                <a:spcPct val="90000"/>
              </a:lnSpc>
              <a:buFont typeface="Wingdings" pitchFamily="2" charset="2"/>
              <a:buAutoNum type="arabicPeriod"/>
            </a:pPr>
            <a:r>
              <a:rPr lang="en-US" altLang="zh-CN" sz="1800" b="0"/>
              <a:t>           p-&gt;next  = NULL;</a:t>
            </a:r>
          </a:p>
          <a:p>
            <a:pPr marL="914400" lvl="1" indent="-457200" eaLnBrk="1" hangingPunct="1">
              <a:lnSpc>
                <a:spcPct val="90000"/>
              </a:lnSpc>
              <a:buFont typeface="Wingdings" pitchFamily="2" charset="2"/>
              <a:buAutoNum type="arabicPeriod"/>
            </a:pPr>
            <a:r>
              <a:rPr lang="en-US" altLang="zh-CN" sz="1800" b="0"/>
              <a:t>           if (</a:t>
            </a:r>
            <a:r>
              <a:rPr lang="en-US" altLang="zh-CN" sz="1800" b="0">
                <a:solidFill>
                  <a:srgbClr val="0066FF"/>
                </a:solidFill>
              </a:rPr>
              <a:t>h == NULL</a:t>
            </a:r>
            <a:r>
              <a:rPr lang="en-US" altLang="zh-CN" sz="1800" b="0"/>
              <a:t>)  h = tail = p;</a:t>
            </a:r>
            <a:r>
              <a:rPr lang="zh-CN" altLang="en-US" sz="1800" b="0"/>
              <a:t> </a:t>
            </a:r>
            <a:r>
              <a:rPr lang="en-US" altLang="zh-CN" sz="1800" b="0">
                <a:solidFill>
                  <a:schemeClr val="folHlink"/>
                </a:solidFill>
              </a:rPr>
              <a:t>//</a:t>
            </a:r>
            <a:r>
              <a:rPr lang="zh-CN" altLang="en-US" sz="1800" b="0">
                <a:solidFill>
                  <a:schemeClr val="folHlink"/>
                </a:solidFill>
              </a:rPr>
              <a:t>空链表的情况</a:t>
            </a:r>
            <a:endParaRPr lang="en-US" altLang="zh-CN" sz="1800" b="0">
              <a:solidFill>
                <a:schemeClr val="folHlink"/>
              </a:solidFill>
            </a:endParaRPr>
          </a:p>
          <a:p>
            <a:pPr marL="914400" lvl="1" indent="-457200" eaLnBrk="1" hangingPunct="1">
              <a:lnSpc>
                <a:spcPct val="90000"/>
              </a:lnSpc>
              <a:buFont typeface="Wingdings" pitchFamily="2" charset="2"/>
              <a:buAutoNum type="arabicPeriod"/>
            </a:pPr>
            <a:r>
              <a:rPr lang="en-US" altLang="zh-CN" sz="1800" b="0"/>
              <a:t>           else  tail = tail-&gt;next = p;</a:t>
            </a:r>
          </a:p>
          <a:p>
            <a:pPr marL="914400" lvl="1" indent="-457200" eaLnBrk="1" hangingPunct="1">
              <a:lnSpc>
                <a:spcPct val="90000"/>
              </a:lnSpc>
              <a:buFont typeface="Wingdings" pitchFamily="2" charset="2"/>
              <a:buAutoNum type="arabicPeriod"/>
            </a:pPr>
            <a:r>
              <a:rPr lang="en-US" altLang="zh-CN" sz="1800" b="0"/>
              <a:t>       }</a:t>
            </a:r>
          </a:p>
          <a:p>
            <a:pPr marL="914400" lvl="1" indent="-457200" eaLnBrk="1" hangingPunct="1">
              <a:lnSpc>
                <a:spcPct val="90000"/>
              </a:lnSpc>
              <a:buFont typeface="Wingdings" pitchFamily="2" charset="2"/>
              <a:buAutoNum type="arabicPeriod"/>
            </a:pPr>
            <a:r>
              <a:rPr lang="en-US" altLang="zh-CN" sz="1800" b="0"/>
              <a:t>       return h;</a:t>
            </a:r>
          </a:p>
          <a:p>
            <a:pPr marL="914400" lvl="1" indent="-457200" eaLnBrk="1" hangingPunct="1">
              <a:lnSpc>
                <a:spcPct val="90000"/>
              </a:lnSpc>
              <a:buFont typeface="Wingdings" pitchFamily="2" charset="2"/>
              <a:buAutoNum type="arabicPeriod"/>
            </a:pPr>
            <a:r>
              <a:rPr lang="en-US" altLang="zh-CN" sz="1800" b="0"/>
              <a:t> }</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9DE518D4-1DB7-D3D8-899D-13C74FDE1FEF}"/>
              </a:ext>
            </a:extLst>
          </p:cNvPr>
          <p:cNvSpPr>
            <a:spLocks noGrp="1" noChangeArrowheads="1"/>
          </p:cNvSpPr>
          <p:nvPr>
            <p:ph type="title"/>
          </p:nvPr>
        </p:nvSpPr>
        <p:spPr/>
        <p:txBody>
          <a:bodyPr/>
          <a:lstStyle/>
          <a:p>
            <a:pPr eaLnBrk="1" hangingPunct="1"/>
            <a:r>
              <a:rPr lang="zh-CN" altLang="en-US"/>
              <a:t>例</a:t>
            </a:r>
            <a:r>
              <a:rPr lang="en-US" altLang="zh-CN"/>
              <a:t>7.3 (</a:t>
            </a:r>
            <a:r>
              <a:rPr lang="zh-CN" altLang="en-US"/>
              <a:t>续</a:t>
            </a:r>
            <a:r>
              <a:rPr lang="en-US" altLang="zh-CN"/>
              <a:t>)</a:t>
            </a:r>
          </a:p>
        </p:txBody>
      </p:sp>
      <p:sp>
        <p:nvSpPr>
          <p:cNvPr id="164867" name="Rectangle 3">
            <a:extLst>
              <a:ext uri="{FF2B5EF4-FFF2-40B4-BE49-F238E27FC236}">
                <a16:creationId xmlns:a16="http://schemas.microsoft.com/office/drawing/2014/main" id="{BF3081EC-8BFB-BB01-15EC-3EB579E852CB}"/>
              </a:ext>
            </a:extLst>
          </p:cNvPr>
          <p:cNvSpPr>
            <a:spLocks noGrp="1" noChangeArrowheads="1"/>
          </p:cNvSpPr>
          <p:nvPr>
            <p:ph type="body" idx="1"/>
          </p:nvPr>
        </p:nvSpPr>
        <p:spPr>
          <a:xfrm>
            <a:off x="827088" y="1844823"/>
            <a:ext cx="7793037" cy="4287689"/>
          </a:xfrm>
        </p:spPr>
        <p:txBody>
          <a:bodyPr/>
          <a:lstStyle/>
          <a:p>
            <a:pPr marL="533400" indent="-533400" algn="just" eaLnBrk="1" hangingPunct="1">
              <a:lnSpc>
                <a:spcPct val="150000"/>
              </a:lnSpc>
            </a:pPr>
            <a:r>
              <a:rPr lang="zh-CN" altLang="en-US" sz="1800" b="0"/>
              <a:t>上述函数 </a:t>
            </a:r>
            <a:r>
              <a:rPr lang="en-US" altLang="zh-CN" sz="1800" b="0"/>
              <a:t>createList()</a:t>
            </a:r>
            <a:r>
              <a:rPr lang="zh-CN" altLang="en-US" sz="1800" b="0"/>
              <a:t>定义表明链表新表元总是接在链表末尾。在有些情况下，对新表元放在链表中的位置没有要求，最简单的办法是</a:t>
            </a:r>
            <a:r>
              <a:rPr lang="zh-CN" altLang="en-US" sz="1800" b="0">
                <a:solidFill>
                  <a:srgbClr val="0066FF"/>
                </a:solidFill>
              </a:rPr>
              <a:t>将新表元插在链表首表元之前</a:t>
            </a:r>
            <a:r>
              <a:rPr lang="zh-CN" altLang="en-US" sz="1800" b="0"/>
              <a:t>，即让新表元作为更新后链表的首表元。</a:t>
            </a:r>
          </a:p>
          <a:p>
            <a:pPr marL="533400" indent="-533400" algn="just" eaLnBrk="1" hangingPunct="1">
              <a:lnSpc>
                <a:spcPct val="150000"/>
              </a:lnSpc>
            </a:pPr>
            <a:r>
              <a:rPr lang="zh-CN" altLang="en-US" sz="1800" b="0"/>
              <a:t>若要对函数</a:t>
            </a:r>
            <a:r>
              <a:rPr lang="en-US" altLang="zh-CN" sz="1800" b="0"/>
              <a:t>createList()</a:t>
            </a:r>
            <a:r>
              <a:rPr lang="zh-CN" altLang="en-US" sz="1800" b="0"/>
              <a:t>定义作这种改写，其中变量</a:t>
            </a:r>
            <a:r>
              <a:rPr lang="en-US" altLang="zh-CN" sz="1800" b="0"/>
              <a:t>tail</a:t>
            </a:r>
            <a:r>
              <a:rPr lang="zh-CN" altLang="en-US" sz="1800" b="0"/>
              <a:t>就不再需要了。另外，</a:t>
            </a:r>
            <a:r>
              <a:rPr lang="en-US" altLang="zh-CN" sz="1800" b="0"/>
              <a:t>while </a:t>
            </a:r>
            <a:r>
              <a:rPr lang="zh-CN" altLang="en-US" sz="1800" b="0"/>
              <a:t>控制结构内的语句</a:t>
            </a:r>
            <a:r>
              <a:rPr lang="zh-CN" altLang="en-US" sz="1800" b="0">
                <a:latin typeface="Arial" panose="020B0604020202020204" pitchFamily="34" charset="0"/>
              </a:rPr>
              <a:t>“</a:t>
            </a:r>
            <a:r>
              <a:rPr lang="en-US" altLang="zh-CN" sz="1800" b="0"/>
              <a:t>p-&gt;next = NULL;</a:t>
            </a:r>
            <a:r>
              <a:rPr lang="en-US" altLang="zh-CN" sz="1800" b="0">
                <a:latin typeface="Arial" panose="020B0604020202020204" pitchFamily="34" charset="0"/>
              </a:rPr>
              <a:t>”</a:t>
            </a:r>
            <a:r>
              <a:rPr lang="zh-CN" altLang="en-US" sz="1800" b="0"/>
              <a:t>和</a:t>
            </a:r>
            <a:r>
              <a:rPr lang="en-US" altLang="zh-CN" sz="1800" b="0"/>
              <a:t>if</a:t>
            </a:r>
            <a:r>
              <a:rPr lang="zh-CN" altLang="en-US" sz="1800" b="0"/>
              <a:t>结构可用以下两个赋值代替：</a:t>
            </a:r>
          </a:p>
          <a:p>
            <a:pPr marL="914400" lvl="1" indent="-457200" algn="just" eaLnBrk="1" hangingPunct="1">
              <a:lnSpc>
                <a:spcPct val="150000"/>
              </a:lnSpc>
              <a:buFont typeface="Wingdings" pitchFamily="2" charset="2"/>
              <a:buAutoNum type="arabicPeriod"/>
            </a:pPr>
            <a:r>
              <a:rPr lang="zh-CN" altLang="en-US" sz="1600" b="0"/>
              <a:t>      </a:t>
            </a:r>
            <a:r>
              <a:rPr lang="en-US" altLang="zh-CN" sz="1600" b="0"/>
              <a:t>p-&gt;next = h;</a:t>
            </a:r>
          </a:p>
          <a:p>
            <a:pPr marL="914400" lvl="1" indent="-457200" algn="just" eaLnBrk="1" hangingPunct="1">
              <a:lnSpc>
                <a:spcPct val="150000"/>
              </a:lnSpc>
              <a:buFont typeface="Wingdings" pitchFamily="2" charset="2"/>
              <a:buAutoNum type="arabicPeriod"/>
            </a:pPr>
            <a:r>
              <a:rPr lang="en-US" altLang="zh-CN" sz="1600" b="0"/>
              <a:t>      h = p;</a:t>
            </a:r>
          </a:p>
          <a:p>
            <a:pPr marL="533400" indent="-533400" algn="just" eaLnBrk="1" hangingPunct="1">
              <a:lnSpc>
                <a:spcPct val="150000"/>
              </a:lnSpc>
            </a:pPr>
            <a:r>
              <a:rPr lang="zh-CN" altLang="en-US" sz="1800" b="0"/>
              <a:t>第一个赋值表示新表元的后继表元为原链表中的首表元；第二个赋值表示让链表头指针指向新表元。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52AA262D-FBC3-798B-ABD8-105E2ABE711A}"/>
              </a:ext>
            </a:extLst>
          </p:cNvPr>
          <p:cNvSpPr>
            <a:spLocks noGrp="1" noChangeArrowheads="1"/>
          </p:cNvSpPr>
          <p:nvPr>
            <p:ph type="title"/>
          </p:nvPr>
        </p:nvSpPr>
        <p:spPr/>
        <p:txBody>
          <a:bodyPr/>
          <a:lstStyle/>
          <a:p>
            <a:pPr eaLnBrk="1" hangingPunct="1"/>
            <a:r>
              <a:rPr lang="zh-CN" altLang="en-US" sz="3600"/>
              <a:t>例</a:t>
            </a:r>
            <a:r>
              <a:rPr lang="en-US" altLang="zh-CN" sz="3600"/>
              <a:t>7.4  </a:t>
            </a:r>
            <a:r>
              <a:rPr lang="zh-CN" altLang="en-US" sz="3600"/>
              <a:t>编写一个函数，输入整数，建立一个按值从小到大顺序链接的链表</a:t>
            </a:r>
            <a:endParaRPr lang="zh-CN" altLang="en-US" sz="2000"/>
          </a:p>
        </p:txBody>
      </p:sp>
      <p:sp>
        <p:nvSpPr>
          <p:cNvPr id="165891" name="Rectangle 3">
            <a:extLst>
              <a:ext uri="{FF2B5EF4-FFF2-40B4-BE49-F238E27FC236}">
                <a16:creationId xmlns:a16="http://schemas.microsoft.com/office/drawing/2014/main" id="{1531FA03-39B8-B791-AB73-5A5883732351}"/>
              </a:ext>
            </a:extLst>
          </p:cNvPr>
          <p:cNvSpPr>
            <a:spLocks noGrp="1" noChangeArrowheads="1"/>
          </p:cNvSpPr>
          <p:nvPr>
            <p:ph type="body" idx="1"/>
          </p:nvPr>
        </p:nvSpPr>
        <p:spPr>
          <a:xfrm>
            <a:off x="827088" y="1772815"/>
            <a:ext cx="7866062" cy="4359697"/>
          </a:xfrm>
        </p:spPr>
        <p:txBody>
          <a:bodyPr/>
          <a:lstStyle/>
          <a:p>
            <a:pPr marL="533400" indent="-533400" eaLnBrk="1" hangingPunct="1">
              <a:lnSpc>
                <a:spcPct val="90000"/>
              </a:lnSpc>
            </a:pPr>
            <a:r>
              <a:rPr lang="zh-CN" altLang="en-US" sz="1600" b="0"/>
              <a:t>每个输入的整数，完成生成新表元、寻找插入位置和把新表元插入的工作。插入时，也要考虑插在首表元之前的情况。</a:t>
            </a:r>
          </a:p>
          <a:p>
            <a:pPr marL="914400" lvl="1" indent="-457200" eaLnBrk="1" hangingPunct="1">
              <a:lnSpc>
                <a:spcPct val="90000"/>
              </a:lnSpc>
              <a:buFont typeface="Wingdings" pitchFamily="2" charset="2"/>
              <a:buAutoNum type="arabicPeriod"/>
            </a:pPr>
            <a:r>
              <a:rPr lang="en-US" altLang="zh-CN" sz="1400" b="0"/>
              <a:t>struct intNode *cSortList(){</a:t>
            </a:r>
          </a:p>
          <a:p>
            <a:pPr marL="914400" lvl="1" indent="-457200" eaLnBrk="1" hangingPunct="1">
              <a:lnSpc>
                <a:spcPct val="90000"/>
              </a:lnSpc>
              <a:buFont typeface="Wingdings" pitchFamily="2" charset="2"/>
              <a:buAutoNum type="arabicPeriod"/>
            </a:pPr>
            <a:r>
              <a:rPr lang="en-US" altLang="zh-CN" sz="1400" b="0"/>
              <a:t>  struct intNode *u, *w, *p, *h = NULL; </a:t>
            </a:r>
          </a:p>
          <a:p>
            <a:pPr marL="914400" lvl="1" indent="-457200" eaLnBrk="1" hangingPunct="1">
              <a:lnSpc>
                <a:spcPct val="90000"/>
              </a:lnSpc>
              <a:buFont typeface="Wingdings" pitchFamily="2" charset="2"/>
              <a:buAutoNum type="arabicPeriod"/>
            </a:pPr>
            <a:r>
              <a:rPr lang="en-US" altLang="zh-CN" sz="1400" b="0"/>
              <a:t>  int n;</a:t>
            </a:r>
          </a:p>
          <a:p>
            <a:pPr marL="914400" lvl="1" indent="-457200" eaLnBrk="1" hangingPunct="1">
              <a:lnSpc>
                <a:spcPct val="90000"/>
              </a:lnSpc>
              <a:buFont typeface="Wingdings" pitchFamily="2" charset="2"/>
              <a:buAutoNum type="arabicPeriod"/>
            </a:pPr>
            <a:r>
              <a:rPr lang="en-US" altLang="zh-CN" sz="1400" b="0"/>
              <a:t>  printf("Input data.\n");</a:t>
            </a:r>
          </a:p>
          <a:p>
            <a:pPr marL="914400" lvl="1" indent="-457200" eaLnBrk="1" hangingPunct="1">
              <a:lnSpc>
                <a:spcPct val="90000"/>
              </a:lnSpc>
              <a:buFont typeface="Wingdings" pitchFamily="2" charset="2"/>
              <a:buAutoNum type="arabicPeriod"/>
            </a:pPr>
            <a:r>
              <a:rPr lang="en-US" altLang="zh-CN" sz="1400" b="0"/>
              <a:t>  while (scanf("%d", &amp;n) &gt; 0){ </a:t>
            </a:r>
            <a:r>
              <a:rPr lang="en-US" altLang="zh-CN" sz="1400" b="0">
                <a:solidFill>
                  <a:schemeClr val="folHlink"/>
                </a:solidFill>
              </a:rPr>
              <a:t>//</a:t>
            </a:r>
            <a:r>
              <a:rPr lang="zh-CN" altLang="en-US" sz="1400" b="0">
                <a:solidFill>
                  <a:schemeClr val="folHlink"/>
                </a:solidFill>
              </a:rPr>
              <a:t>还能输入整数</a:t>
            </a:r>
          </a:p>
          <a:p>
            <a:pPr marL="914400" lvl="1" indent="-457200" eaLnBrk="1" hangingPunct="1">
              <a:lnSpc>
                <a:spcPct val="90000"/>
              </a:lnSpc>
              <a:buFont typeface="Wingdings" pitchFamily="2" charset="2"/>
              <a:buAutoNum type="arabicPeriod"/>
            </a:pPr>
            <a:r>
              <a:rPr lang="zh-CN" altLang="en-US" sz="1400" b="0"/>
              <a:t>     </a:t>
            </a:r>
            <a:r>
              <a:rPr lang="en-US" altLang="zh-CN" sz="1400" b="0"/>
              <a:t>p=(struct intNode *)malloc(sizeof(struct intNode));</a:t>
            </a:r>
          </a:p>
          <a:p>
            <a:pPr marL="914400" lvl="1" indent="-457200" eaLnBrk="1" hangingPunct="1">
              <a:lnSpc>
                <a:spcPct val="90000"/>
              </a:lnSpc>
              <a:buFont typeface="Wingdings" pitchFamily="2" charset="2"/>
              <a:buAutoNum type="arabicPeriod"/>
            </a:pPr>
            <a:r>
              <a:rPr lang="en-US" altLang="zh-CN" sz="1400" b="0"/>
              <a:t>     p-&gt;value = n;   </a:t>
            </a:r>
          </a:p>
          <a:p>
            <a:pPr marL="914400" lvl="1" indent="-457200" eaLnBrk="1" hangingPunct="1">
              <a:lnSpc>
                <a:spcPct val="90000"/>
              </a:lnSpc>
              <a:buFont typeface="Wingdings" pitchFamily="2" charset="2"/>
              <a:buAutoNum type="arabicPeriod"/>
            </a:pPr>
            <a:r>
              <a:rPr lang="en-US" altLang="zh-CN" sz="1400" b="0"/>
              <a:t>     u = h;  </a:t>
            </a:r>
            <a:r>
              <a:rPr lang="en-US" altLang="zh-CN" sz="1400" b="0">
                <a:solidFill>
                  <a:schemeClr val="folHlink"/>
                </a:solidFill>
              </a:rPr>
              <a:t>//</a:t>
            </a:r>
            <a:r>
              <a:rPr lang="zh-CN" altLang="en-US" sz="1400" b="0">
                <a:solidFill>
                  <a:schemeClr val="folHlink"/>
                </a:solidFill>
              </a:rPr>
              <a:t>寻找插入点</a:t>
            </a:r>
          </a:p>
          <a:p>
            <a:pPr marL="914400" lvl="1" indent="-457200" eaLnBrk="1" hangingPunct="1">
              <a:lnSpc>
                <a:spcPct val="90000"/>
              </a:lnSpc>
              <a:buFont typeface="Wingdings" pitchFamily="2" charset="2"/>
              <a:buAutoNum type="arabicPeriod"/>
            </a:pPr>
            <a:r>
              <a:rPr lang="zh-CN" altLang="en-US" sz="1400" b="0"/>
              <a:t>     </a:t>
            </a:r>
            <a:r>
              <a:rPr lang="en-US" altLang="zh-CN" sz="1400" b="0"/>
              <a:t>while (u != NULL &amp;&amp; </a:t>
            </a:r>
            <a:r>
              <a:rPr lang="en-US" altLang="zh-CN" sz="1400" b="0">
                <a:solidFill>
                  <a:srgbClr val="0066FF"/>
                </a:solidFill>
              </a:rPr>
              <a:t>n &gt; u-&gt;value</a:t>
            </a:r>
            <a:r>
              <a:rPr lang="en-US" altLang="zh-CN" sz="1400" b="0"/>
              <a:t>)  {</a:t>
            </a:r>
          </a:p>
          <a:p>
            <a:pPr marL="914400" lvl="1" indent="-457200" eaLnBrk="1" hangingPunct="1">
              <a:lnSpc>
                <a:spcPct val="90000"/>
              </a:lnSpc>
              <a:buFont typeface="Wingdings" pitchFamily="2" charset="2"/>
              <a:buAutoNum type="arabicPeriod"/>
            </a:pPr>
            <a:r>
              <a:rPr lang="en-US" altLang="zh-CN" sz="1400" b="0"/>
              <a:t>          w = u;</a:t>
            </a:r>
          </a:p>
          <a:p>
            <a:pPr marL="914400" lvl="1" indent="-457200" eaLnBrk="1" hangingPunct="1">
              <a:lnSpc>
                <a:spcPct val="90000"/>
              </a:lnSpc>
              <a:buFont typeface="Wingdings" pitchFamily="2" charset="2"/>
              <a:buAutoNum type="arabicPeriod"/>
            </a:pPr>
            <a:r>
              <a:rPr lang="en-US" altLang="zh-CN" sz="1400" b="0"/>
              <a:t>          u = u-&gt;next;</a:t>
            </a:r>
          </a:p>
          <a:p>
            <a:pPr marL="914400" lvl="1" indent="-457200" eaLnBrk="1" hangingPunct="1">
              <a:lnSpc>
                <a:spcPct val="90000"/>
              </a:lnSpc>
              <a:buFont typeface="Wingdings" pitchFamily="2" charset="2"/>
              <a:buAutoNum type="arabicPeriod"/>
            </a:pPr>
            <a:r>
              <a:rPr lang="en-US" altLang="zh-CN" sz="1400" b="0"/>
              <a:t>     }</a:t>
            </a:r>
          </a:p>
          <a:p>
            <a:pPr marL="914400" lvl="1" indent="-457200" eaLnBrk="1" hangingPunct="1">
              <a:lnSpc>
                <a:spcPct val="90000"/>
              </a:lnSpc>
              <a:buFont typeface="Wingdings" pitchFamily="2" charset="2"/>
              <a:buAutoNum type="arabicPeriod"/>
            </a:pPr>
            <a:r>
              <a:rPr lang="en-US" altLang="zh-CN" sz="1400" b="0"/>
              <a:t>     if (</a:t>
            </a:r>
            <a:r>
              <a:rPr lang="en-US" altLang="zh-CN" sz="1400" b="0">
                <a:solidFill>
                  <a:srgbClr val="0066FF"/>
                </a:solidFill>
              </a:rPr>
              <a:t>u == h</a:t>
            </a:r>
            <a:r>
              <a:rPr lang="en-US" altLang="zh-CN" sz="1400" b="0"/>
              <a:t>)  h = p; </a:t>
            </a:r>
          </a:p>
          <a:p>
            <a:pPr marL="914400" lvl="1" indent="-457200" eaLnBrk="1" hangingPunct="1">
              <a:lnSpc>
                <a:spcPct val="90000"/>
              </a:lnSpc>
              <a:buFont typeface="Wingdings" pitchFamily="2" charset="2"/>
              <a:buAutoNum type="arabicPeriod"/>
            </a:pPr>
            <a:r>
              <a:rPr lang="en-US" altLang="zh-CN" sz="1400" b="0"/>
              <a:t>     else  w-&gt;next = p;</a:t>
            </a:r>
          </a:p>
          <a:p>
            <a:pPr marL="914400" lvl="1" indent="-457200" eaLnBrk="1" hangingPunct="1">
              <a:lnSpc>
                <a:spcPct val="90000"/>
              </a:lnSpc>
              <a:buFont typeface="Wingdings" pitchFamily="2" charset="2"/>
              <a:buAutoNum type="arabicPeriod"/>
            </a:pPr>
            <a:r>
              <a:rPr lang="en-US" altLang="zh-CN" sz="1400" b="0"/>
              <a:t>     p-&gt;next = u;</a:t>
            </a:r>
          </a:p>
          <a:p>
            <a:pPr marL="914400" lvl="1" indent="-457200" eaLnBrk="1" hangingPunct="1">
              <a:lnSpc>
                <a:spcPct val="90000"/>
              </a:lnSpc>
              <a:buFont typeface="Wingdings" pitchFamily="2" charset="2"/>
              <a:buAutoNum type="arabicPeriod"/>
            </a:pPr>
            <a:r>
              <a:rPr lang="en-US" altLang="zh-CN" sz="1400" b="0"/>
              <a:t>  }</a:t>
            </a:r>
          </a:p>
          <a:p>
            <a:pPr marL="914400" lvl="1" indent="-457200" eaLnBrk="1" hangingPunct="1">
              <a:lnSpc>
                <a:spcPct val="90000"/>
              </a:lnSpc>
              <a:buFont typeface="Wingdings" pitchFamily="2" charset="2"/>
              <a:buAutoNum type="arabicPeriod"/>
            </a:pPr>
            <a:r>
              <a:rPr lang="en-US" altLang="zh-CN" sz="1400" b="0"/>
              <a:t>  return h;</a:t>
            </a:r>
          </a:p>
          <a:p>
            <a:pPr marL="914400" lvl="1" indent="-457200" eaLnBrk="1" hangingPunct="1">
              <a:lnSpc>
                <a:spcPct val="90000"/>
              </a:lnSpc>
              <a:buFont typeface="Wingdings" pitchFamily="2" charset="2"/>
              <a:buAutoNum type="arabicPeriod"/>
            </a:pPr>
            <a:r>
              <a:rPr lang="en-US" altLang="zh-CN" sz="1400" b="0"/>
              <a:t>}</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7FA646CB-88AA-3D2E-BE9E-9CC8D75624EC}"/>
              </a:ext>
            </a:extLst>
          </p:cNvPr>
          <p:cNvSpPr>
            <a:spLocks noGrp="1" noChangeArrowheads="1"/>
          </p:cNvSpPr>
          <p:nvPr>
            <p:ph type="title"/>
          </p:nvPr>
        </p:nvSpPr>
        <p:spPr/>
        <p:txBody>
          <a:bodyPr/>
          <a:lstStyle/>
          <a:p>
            <a:pPr eaLnBrk="1" hangingPunct="1"/>
            <a:r>
              <a:rPr lang="zh-CN" altLang="en-US"/>
              <a:t>例</a:t>
            </a:r>
            <a:r>
              <a:rPr lang="en-US" altLang="zh-CN"/>
              <a:t>7.5</a:t>
            </a:r>
          </a:p>
        </p:txBody>
      </p:sp>
      <p:sp>
        <p:nvSpPr>
          <p:cNvPr id="166915" name="Rectangle 3">
            <a:extLst>
              <a:ext uri="{FF2B5EF4-FFF2-40B4-BE49-F238E27FC236}">
                <a16:creationId xmlns:a16="http://schemas.microsoft.com/office/drawing/2014/main" id="{0F27A956-2B0F-9CEC-39DE-ED44DCB70841}"/>
              </a:ext>
            </a:extLst>
          </p:cNvPr>
          <p:cNvSpPr>
            <a:spLocks noGrp="1" noChangeArrowheads="1"/>
          </p:cNvSpPr>
          <p:nvPr>
            <p:ph type="body" idx="1"/>
          </p:nvPr>
        </p:nvSpPr>
        <p:spPr>
          <a:xfrm>
            <a:off x="827088" y="1772815"/>
            <a:ext cx="7793037" cy="4359697"/>
          </a:xfrm>
        </p:spPr>
        <p:txBody>
          <a:bodyPr/>
          <a:lstStyle/>
          <a:p>
            <a:pPr marL="533400" indent="-533400" algn="just" eaLnBrk="1" hangingPunct="1"/>
            <a:r>
              <a:rPr lang="en-US" altLang="zh-CN" sz="2000" b="0" i="1"/>
              <a:t>【</a:t>
            </a:r>
            <a:r>
              <a:rPr lang="zh-CN" altLang="en-US" sz="2000" b="0" i="1"/>
              <a:t>例</a:t>
            </a:r>
            <a:r>
              <a:rPr lang="en-US" altLang="zh-CN" sz="2000" b="0" i="1"/>
              <a:t>7.5】</a:t>
            </a:r>
            <a:r>
              <a:rPr lang="zh-CN" altLang="en-US" sz="2000" b="0" i="1"/>
              <a:t>编制一个函数，实现将已知链表的表元链接顺序颠倒。即：使链表的第一个表元变为最后一个表元，第二个表元变为最后第二个表元，</a:t>
            </a:r>
            <a:r>
              <a:rPr lang="en-US" altLang="zh-CN" sz="2000" b="0" i="1">
                <a:latin typeface="Arial" panose="020B0604020202020204" pitchFamily="34" charset="0"/>
              </a:rPr>
              <a:t>……</a:t>
            </a:r>
            <a:r>
              <a:rPr lang="zh-CN" altLang="en-US" sz="2000" b="0" i="1"/>
              <a:t>，最后一个表元变为第一个表元。</a:t>
            </a:r>
          </a:p>
          <a:p>
            <a:pPr marL="533400" indent="-533400" algn="just" eaLnBrk="1" hangingPunct="1"/>
            <a:r>
              <a:rPr lang="zh-CN" altLang="en-US" sz="2000" b="0"/>
              <a:t>设链表为整数链表，且链表是</a:t>
            </a:r>
            <a:r>
              <a:rPr lang="zh-CN" altLang="en-US" sz="2000" b="0">
                <a:solidFill>
                  <a:srgbClr val="0066FF"/>
                </a:solidFill>
              </a:rPr>
              <a:t>带辅助表元的</a:t>
            </a:r>
            <a:r>
              <a:rPr lang="zh-CN" altLang="en-US" sz="2000" b="0"/>
              <a:t>。图</a:t>
            </a:r>
            <a:r>
              <a:rPr lang="en-US" altLang="zh-CN" sz="2000" b="0"/>
              <a:t>7-8</a:t>
            </a:r>
            <a:r>
              <a:rPr lang="zh-CN" altLang="en-US" sz="2000" b="0"/>
              <a:t>和图</a:t>
            </a:r>
            <a:r>
              <a:rPr lang="en-US" altLang="zh-CN" sz="2000" b="0"/>
              <a:t>7-9</a:t>
            </a:r>
            <a:r>
              <a:rPr lang="zh-CN" altLang="en-US" sz="2000" b="0"/>
              <a:t>表示链表颠倒前和颠倒后的情况。</a:t>
            </a:r>
            <a:r>
              <a:rPr lang="en-US" altLang="zh-CN" sz="2000" b="0"/>
              <a:t>(P. 217)</a:t>
            </a:r>
          </a:p>
          <a:p>
            <a:pPr marL="533400" indent="-533400" algn="just" eaLnBrk="1" hangingPunct="1"/>
            <a:r>
              <a:rPr lang="zh-CN" altLang="en-US" sz="2000" b="0"/>
              <a:t>颠倒操作是一个循环过程，设从第一个表元开始颠倒，每循环一次颠倒一个表元的链接关系，直至最后一个表元颠倒完成。</a:t>
            </a:r>
            <a:endParaRPr lang="en-US" altLang="zh-CN" sz="2000" b="0"/>
          </a:p>
          <a:p>
            <a:pPr marL="533400" indent="-533400" algn="just" eaLnBrk="1" hangingPunct="1"/>
            <a:r>
              <a:rPr lang="zh-CN" altLang="en-US" sz="2000" b="0"/>
              <a:t>如图</a:t>
            </a:r>
            <a:r>
              <a:rPr lang="en-US" altLang="zh-CN" sz="2000" b="0"/>
              <a:t>7-9 </a:t>
            </a:r>
            <a:r>
              <a:rPr lang="zh-CN" altLang="en-US" sz="2000" b="0"/>
              <a:t>所示，设某次循环前已颠倒了前</a:t>
            </a:r>
            <a:r>
              <a:rPr lang="en-US" altLang="zh-CN" sz="2000" b="0"/>
              <a:t>(i-1)</a:t>
            </a:r>
            <a:r>
              <a:rPr lang="zh-CN" altLang="en-US" sz="2000" b="0"/>
              <a:t>个表元， 本次循环欲颠倒第</a:t>
            </a:r>
            <a:r>
              <a:rPr lang="en-US" altLang="zh-CN" sz="2000" b="0"/>
              <a:t>i</a:t>
            </a:r>
            <a:r>
              <a:rPr lang="zh-CN" altLang="en-US" sz="2000" b="0"/>
              <a:t>个表元的链接关系。为实现从颠倒前状态变为颠倒后的状态，可用以下四个赋值操作实现：</a:t>
            </a:r>
          </a:p>
          <a:p>
            <a:pPr marL="914400" lvl="1" indent="-457200" algn="just" eaLnBrk="1" hangingPunct="1">
              <a:buFont typeface="Wingdings" pitchFamily="2" charset="2"/>
              <a:buAutoNum type="arabicPeriod"/>
            </a:pPr>
            <a:r>
              <a:rPr lang="en-US" altLang="zh-CN" sz="1800" b="0"/>
              <a:t>p = v2-&gt;next;</a:t>
            </a:r>
            <a:r>
              <a:rPr lang="en-US" altLang="zh-CN" sz="1800" b="0">
                <a:solidFill>
                  <a:schemeClr val="folHlink"/>
                </a:solidFill>
              </a:rPr>
              <a:t> 	//</a:t>
            </a:r>
            <a:r>
              <a:rPr lang="zh-CN" altLang="en-US" sz="1800" b="0">
                <a:solidFill>
                  <a:schemeClr val="folHlink"/>
                </a:solidFill>
              </a:rPr>
              <a:t>保护 </a:t>
            </a:r>
            <a:r>
              <a:rPr lang="en-US" altLang="zh-CN" sz="1800" b="0">
                <a:solidFill>
                  <a:schemeClr val="folHlink"/>
                </a:solidFill>
              </a:rPr>
              <a:t>v2 </a:t>
            </a:r>
            <a:r>
              <a:rPr lang="zh-CN" altLang="en-US" sz="1800" b="0">
                <a:solidFill>
                  <a:schemeClr val="folHlink"/>
                </a:solidFill>
              </a:rPr>
              <a:t>所指表元的后继指针</a:t>
            </a:r>
          </a:p>
          <a:p>
            <a:pPr marL="914400" lvl="1" indent="-457200" algn="just" eaLnBrk="1" hangingPunct="1">
              <a:buFont typeface="Wingdings" pitchFamily="2" charset="2"/>
              <a:buAutoNum type="arabicPeriod"/>
            </a:pPr>
            <a:r>
              <a:rPr lang="en-US" altLang="zh-CN" sz="1800" b="0"/>
              <a:t>v2-&gt;next = v1;</a:t>
            </a:r>
            <a:r>
              <a:rPr lang="en-US" altLang="zh-CN" sz="1800" b="0">
                <a:solidFill>
                  <a:schemeClr val="folHlink"/>
                </a:solidFill>
              </a:rPr>
              <a:t> 	//</a:t>
            </a:r>
            <a:r>
              <a:rPr lang="zh-CN" altLang="en-US" sz="1800" b="0">
                <a:solidFill>
                  <a:schemeClr val="folHlink"/>
                </a:solidFill>
              </a:rPr>
              <a:t>使*</a:t>
            </a:r>
            <a:r>
              <a:rPr lang="en-US" altLang="zh-CN" sz="1800" b="0">
                <a:solidFill>
                  <a:schemeClr val="folHlink"/>
                </a:solidFill>
              </a:rPr>
              <a:t>v2</a:t>
            </a:r>
            <a:r>
              <a:rPr lang="zh-CN" altLang="en-US" sz="1800" b="0">
                <a:solidFill>
                  <a:schemeClr val="folHlink"/>
                </a:solidFill>
              </a:rPr>
              <a:t>后继表元是</a:t>
            </a:r>
            <a:r>
              <a:rPr lang="en-US" altLang="zh-CN" sz="1800" b="0">
                <a:solidFill>
                  <a:schemeClr val="folHlink"/>
                </a:solidFill>
              </a:rPr>
              <a:t>v1</a:t>
            </a:r>
            <a:r>
              <a:rPr lang="zh-CN" altLang="en-US" sz="1800" b="0">
                <a:solidFill>
                  <a:schemeClr val="folHlink"/>
                </a:solidFill>
              </a:rPr>
              <a:t>所指表元</a:t>
            </a:r>
          </a:p>
          <a:p>
            <a:pPr marL="914400" lvl="1" indent="-457200" algn="just" eaLnBrk="1" hangingPunct="1">
              <a:buFont typeface="Wingdings" pitchFamily="2" charset="2"/>
              <a:buAutoNum type="arabicPeriod"/>
            </a:pPr>
            <a:r>
              <a:rPr lang="en-US" altLang="zh-CN" sz="1800" b="0"/>
              <a:t>v1 = v2;</a:t>
            </a:r>
            <a:r>
              <a:rPr lang="en-US" altLang="zh-CN" sz="1800" b="0">
                <a:solidFill>
                  <a:schemeClr val="folHlink"/>
                </a:solidFill>
              </a:rPr>
              <a:t>          	//</a:t>
            </a:r>
            <a:r>
              <a:rPr lang="zh-CN" altLang="en-US" sz="1800" b="0">
                <a:solidFill>
                  <a:schemeClr val="folHlink"/>
                </a:solidFill>
              </a:rPr>
              <a:t>调整 </a:t>
            </a:r>
            <a:r>
              <a:rPr lang="en-US" altLang="zh-CN" sz="1800" b="0">
                <a:solidFill>
                  <a:schemeClr val="folHlink"/>
                </a:solidFill>
              </a:rPr>
              <a:t>v1</a:t>
            </a:r>
          </a:p>
          <a:p>
            <a:pPr marL="914400" lvl="1" indent="-457200" algn="just" eaLnBrk="1" hangingPunct="1">
              <a:buFont typeface="Wingdings" pitchFamily="2" charset="2"/>
              <a:buAutoNum type="arabicPeriod"/>
            </a:pPr>
            <a:r>
              <a:rPr lang="en-US" altLang="zh-CN" sz="1800" b="0"/>
              <a:t>v2 = p;</a:t>
            </a:r>
            <a:r>
              <a:rPr lang="en-US" altLang="zh-CN" sz="1800" b="0">
                <a:solidFill>
                  <a:schemeClr val="folHlink"/>
                </a:solidFill>
              </a:rPr>
              <a:t>           	//</a:t>
            </a:r>
            <a:r>
              <a:rPr lang="zh-CN" altLang="en-US" sz="1800" b="0">
                <a:solidFill>
                  <a:schemeClr val="folHlink"/>
                </a:solidFill>
              </a:rPr>
              <a:t>调整 </a:t>
            </a:r>
            <a:r>
              <a:rPr lang="en-US" altLang="zh-CN" sz="1800" b="0">
                <a:solidFill>
                  <a:schemeClr val="folHlink"/>
                </a:solidFill>
              </a:rPr>
              <a:t>v2</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D6F167EA-792C-0402-234C-E36CE4F97D1A}"/>
              </a:ext>
            </a:extLst>
          </p:cNvPr>
          <p:cNvSpPr>
            <a:spLocks noGrp="1" noChangeArrowheads="1"/>
          </p:cNvSpPr>
          <p:nvPr>
            <p:ph type="title"/>
          </p:nvPr>
        </p:nvSpPr>
        <p:spPr/>
        <p:txBody>
          <a:bodyPr/>
          <a:lstStyle/>
          <a:p>
            <a:pPr eaLnBrk="1" hangingPunct="1"/>
            <a:r>
              <a:rPr lang="zh-CN" altLang="en-US" sz="4000"/>
              <a:t>动画：在首表元之前插入新表元</a:t>
            </a:r>
          </a:p>
        </p:txBody>
      </p:sp>
      <p:sp>
        <p:nvSpPr>
          <p:cNvPr id="167939" name="Rectangle 3">
            <a:extLst>
              <a:ext uri="{FF2B5EF4-FFF2-40B4-BE49-F238E27FC236}">
                <a16:creationId xmlns:a16="http://schemas.microsoft.com/office/drawing/2014/main" id="{C48CE280-E327-9BF3-1AED-5815B6026ECC}"/>
              </a:ext>
            </a:extLst>
          </p:cNvPr>
          <p:cNvSpPr>
            <a:spLocks noChangeArrowheads="1"/>
          </p:cNvSpPr>
          <p:nvPr/>
        </p:nvSpPr>
        <p:spPr bwMode="auto">
          <a:xfrm>
            <a:off x="4283075" y="2492375"/>
            <a:ext cx="1296988" cy="71913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67940" name="Rectangle 4">
            <a:extLst>
              <a:ext uri="{FF2B5EF4-FFF2-40B4-BE49-F238E27FC236}">
                <a16:creationId xmlns:a16="http://schemas.microsoft.com/office/drawing/2014/main" id="{0A118E98-DED0-8D09-F902-FFA0B27A1850}"/>
              </a:ext>
            </a:extLst>
          </p:cNvPr>
          <p:cNvSpPr>
            <a:spLocks noChangeArrowheads="1"/>
          </p:cNvSpPr>
          <p:nvPr/>
        </p:nvSpPr>
        <p:spPr bwMode="auto">
          <a:xfrm>
            <a:off x="4283075" y="3213100"/>
            <a:ext cx="1295400" cy="50323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821253" name="AutoShape 5">
            <a:extLst>
              <a:ext uri="{FF2B5EF4-FFF2-40B4-BE49-F238E27FC236}">
                <a16:creationId xmlns:a16="http://schemas.microsoft.com/office/drawing/2014/main" id="{E3CBE3D9-691A-4EA9-1C1B-FB934DF8B23A}"/>
              </a:ext>
            </a:extLst>
          </p:cNvPr>
          <p:cNvCxnSpPr>
            <a:cxnSpLocks noChangeShapeType="1"/>
            <a:stCxn id="167940" idx="3"/>
            <a:endCxn id="167942" idx="1"/>
          </p:cNvCxnSpPr>
          <p:nvPr/>
        </p:nvCxnSpPr>
        <p:spPr bwMode="auto">
          <a:xfrm flipV="1">
            <a:off x="5592763" y="2852738"/>
            <a:ext cx="966787" cy="612775"/>
          </a:xfrm>
          <a:prstGeom prst="curvedConnector3">
            <a:avLst>
              <a:gd name="adj1" fmla="val 49917"/>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942" name="Rectangle 6">
            <a:extLst>
              <a:ext uri="{FF2B5EF4-FFF2-40B4-BE49-F238E27FC236}">
                <a16:creationId xmlns:a16="http://schemas.microsoft.com/office/drawing/2014/main" id="{03C49730-A072-4856-7FF8-B44C001B6D40}"/>
              </a:ext>
            </a:extLst>
          </p:cNvPr>
          <p:cNvSpPr>
            <a:spLocks noChangeArrowheads="1"/>
          </p:cNvSpPr>
          <p:nvPr/>
        </p:nvSpPr>
        <p:spPr bwMode="auto">
          <a:xfrm>
            <a:off x="6573838" y="2492375"/>
            <a:ext cx="1296987" cy="7191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67943" name="Rectangle 7">
            <a:extLst>
              <a:ext uri="{FF2B5EF4-FFF2-40B4-BE49-F238E27FC236}">
                <a16:creationId xmlns:a16="http://schemas.microsoft.com/office/drawing/2014/main" id="{56E19579-C9CD-A502-B7B9-0A9239A50315}"/>
              </a:ext>
            </a:extLst>
          </p:cNvPr>
          <p:cNvSpPr>
            <a:spLocks noChangeArrowheads="1"/>
          </p:cNvSpPr>
          <p:nvPr/>
        </p:nvSpPr>
        <p:spPr bwMode="auto">
          <a:xfrm>
            <a:off x="6573838" y="3213100"/>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167944" name="AutoShape 8">
            <a:extLst>
              <a:ext uri="{FF2B5EF4-FFF2-40B4-BE49-F238E27FC236}">
                <a16:creationId xmlns:a16="http://schemas.microsoft.com/office/drawing/2014/main" id="{3C31AFDF-FFDD-F0B5-9B1C-B39FF3B8EB4E}"/>
              </a:ext>
            </a:extLst>
          </p:cNvPr>
          <p:cNvCxnSpPr>
            <a:cxnSpLocks noChangeShapeType="1"/>
            <a:stCxn id="167943" idx="3"/>
          </p:cNvCxnSpPr>
          <p:nvPr/>
        </p:nvCxnSpPr>
        <p:spPr bwMode="auto">
          <a:xfrm flipV="1">
            <a:off x="7883525" y="2708275"/>
            <a:ext cx="792163" cy="757238"/>
          </a:xfrm>
          <a:prstGeom prst="curvedConnector3">
            <a:avLst>
              <a:gd name="adj1" fmla="val 49898"/>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945" name="Text Box 9">
            <a:extLst>
              <a:ext uri="{FF2B5EF4-FFF2-40B4-BE49-F238E27FC236}">
                <a16:creationId xmlns:a16="http://schemas.microsoft.com/office/drawing/2014/main" id="{9105F025-60EB-E922-6F81-4EA1DD042425}"/>
              </a:ext>
            </a:extLst>
          </p:cNvPr>
          <p:cNvSpPr txBox="1">
            <a:spLocks noChangeArrowheads="1"/>
          </p:cNvSpPr>
          <p:nvPr/>
        </p:nvSpPr>
        <p:spPr bwMode="auto">
          <a:xfrm>
            <a:off x="1476375" y="1700213"/>
            <a:ext cx="649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v1</a:t>
            </a:r>
          </a:p>
        </p:txBody>
      </p:sp>
      <p:sp>
        <p:nvSpPr>
          <p:cNvPr id="167946" name="Text Box 10">
            <a:extLst>
              <a:ext uri="{FF2B5EF4-FFF2-40B4-BE49-F238E27FC236}">
                <a16:creationId xmlns:a16="http://schemas.microsoft.com/office/drawing/2014/main" id="{D8903C6C-90F8-CA51-0E20-7C2023A02FBD}"/>
              </a:ext>
            </a:extLst>
          </p:cNvPr>
          <p:cNvSpPr txBox="1">
            <a:spLocks noChangeArrowheads="1"/>
          </p:cNvSpPr>
          <p:nvPr/>
        </p:nvSpPr>
        <p:spPr bwMode="auto">
          <a:xfrm>
            <a:off x="3922713" y="3933825"/>
            <a:ext cx="2087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zh-CN" altLang="en-US" sz="2000" b="0" i="0">
                <a:latin typeface="Arial Narrow" panose="020B0604020202020204" pitchFamily="34" charset="0"/>
                <a:ea typeface="华文中宋" panose="02010600040101010101" pitchFamily="2" charset="-122"/>
              </a:rPr>
              <a:t>要颠倒的节点</a:t>
            </a:r>
          </a:p>
        </p:txBody>
      </p:sp>
      <p:sp>
        <p:nvSpPr>
          <p:cNvPr id="167947" name="Rectangle 11">
            <a:extLst>
              <a:ext uri="{FF2B5EF4-FFF2-40B4-BE49-F238E27FC236}">
                <a16:creationId xmlns:a16="http://schemas.microsoft.com/office/drawing/2014/main" id="{8A5ED3B2-F031-FF85-213E-84A8852DAC27}"/>
              </a:ext>
            </a:extLst>
          </p:cNvPr>
          <p:cNvSpPr>
            <a:spLocks noChangeArrowheads="1"/>
          </p:cNvSpPr>
          <p:nvPr/>
        </p:nvSpPr>
        <p:spPr bwMode="auto">
          <a:xfrm>
            <a:off x="4284663" y="4797425"/>
            <a:ext cx="1295400" cy="50323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67948" name="Text Box 12">
            <a:extLst>
              <a:ext uri="{FF2B5EF4-FFF2-40B4-BE49-F238E27FC236}">
                <a16:creationId xmlns:a16="http://schemas.microsoft.com/office/drawing/2014/main" id="{EDAC599F-E822-FFB1-2536-6499EC2D6C63}"/>
              </a:ext>
            </a:extLst>
          </p:cNvPr>
          <p:cNvSpPr txBox="1">
            <a:spLocks noChangeArrowheads="1"/>
          </p:cNvSpPr>
          <p:nvPr/>
        </p:nvSpPr>
        <p:spPr bwMode="auto">
          <a:xfrm>
            <a:off x="3852863" y="4843463"/>
            <a:ext cx="503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p</a:t>
            </a:r>
          </a:p>
        </p:txBody>
      </p:sp>
      <p:sp>
        <p:nvSpPr>
          <p:cNvPr id="821261" name="Text Box 13">
            <a:extLst>
              <a:ext uri="{FF2B5EF4-FFF2-40B4-BE49-F238E27FC236}">
                <a16:creationId xmlns:a16="http://schemas.microsoft.com/office/drawing/2014/main" id="{DF39D707-27F4-E396-903E-0A80A13BF0BE}"/>
              </a:ext>
            </a:extLst>
          </p:cNvPr>
          <p:cNvSpPr txBox="1">
            <a:spLocks noChangeArrowheads="1"/>
          </p:cNvSpPr>
          <p:nvPr/>
        </p:nvSpPr>
        <p:spPr bwMode="auto">
          <a:xfrm>
            <a:off x="6696075" y="4700588"/>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p = v2-&gt;next;</a:t>
            </a:r>
          </a:p>
        </p:txBody>
      </p:sp>
      <p:sp>
        <p:nvSpPr>
          <p:cNvPr id="821262" name="Text Box 14">
            <a:extLst>
              <a:ext uri="{FF2B5EF4-FFF2-40B4-BE49-F238E27FC236}">
                <a16:creationId xmlns:a16="http://schemas.microsoft.com/office/drawing/2014/main" id="{FF6DEDAD-C6E6-0040-0119-5FCEAF863882}"/>
              </a:ext>
            </a:extLst>
          </p:cNvPr>
          <p:cNvSpPr txBox="1">
            <a:spLocks noChangeArrowheads="1"/>
          </p:cNvSpPr>
          <p:nvPr/>
        </p:nvSpPr>
        <p:spPr bwMode="auto">
          <a:xfrm>
            <a:off x="6661150" y="5084763"/>
            <a:ext cx="2087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v2-&gt;next = v1;</a:t>
            </a:r>
          </a:p>
        </p:txBody>
      </p:sp>
      <p:sp>
        <p:nvSpPr>
          <p:cNvPr id="167951" name="Text Box 15">
            <a:extLst>
              <a:ext uri="{FF2B5EF4-FFF2-40B4-BE49-F238E27FC236}">
                <a16:creationId xmlns:a16="http://schemas.microsoft.com/office/drawing/2014/main" id="{6EBCA130-EE88-13BE-A946-D1D8D889F52F}"/>
              </a:ext>
            </a:extLst>
          </p:cNvPr>
          <p:cNvSpPr txBox="1">
            <a:spLocks noChangeArrowheads="1"/>
          </p:cNvSpPr>
          <p:nvPr/>
        </p:nvSpPr>
        <p:spPr bwMode="auto">
          <a:xfrm>
            <a:off x="4714875" y="2565400"/>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i</a:t>
            </a:r>
          </a:p>
        </p:txBody>
      </p:sp>
      <p:sp>
        <p:nvSpPr>
          <p:cNvPr id="167952" name="Text Box 16">
            <a:extLst>
              <a:ext uri="{FF2B5EF4-FFF2-40B4-BE49-F238E27FC236}">
                <a16:creationId xmlns:a16="http://schemas.microsoft.com/office/drawing/2014/main" id="{22236335-9E97-44C4-D0A0-B06AA6752A88}"/>
              </a:ext>
            </a:extLst>
          </p:cNvPr>
          <p:cNvSpPr txBox="1">
            <a:spLocks noChangeArrowheads="1"/>
          </p:cNvSpPr>
          <p:nvPr/>
        </p:nvSpPr>
        <p:spPr bwMode="auto">
          <a:xfrm>
            <a:off x="6788150" y="2611438"/>
            <a:ext cx="865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en-US" altLang="zh-CN" sz="2400" b="0" i="0">
                <a:solidFill>
                  <a:schemeClr val="bg1"/>
                </a:solidFill>
                <a:latin typeface="Arial Narrow" panose="020B0604020202020204" pitchFamily="34" charset="0"/>
                <a:ea typeface="宋体" panose="02010600030101010101" pitchFamily="2" charset="-122"/>
              </a:rPr>
              <a:t>i+1</a:t>
            </a:r>
          </a:p>
        </p:txBody>
      </p:sp>
      <p:sp>
        <p:nvSpPr>
          <p:cNvPr id="167953" name="Rectangle 17">
            <a:extLst>
              <a:ext uri="{FF2B5EF4-FFF2-40B4-BE49-F238E27FC236}">
                <a16:creationId xmlns:a16="http://schemas.microsoft.com/office/drawing/2014/main" id="{ED739CAD-0D1C-898C-533E-52902DA8D3E1}"/>
              </a:ext>
            </a:extLst>
          </p:cNvPr>
          <p:cNvSpPr>
            <a:spLocks noChangeArrowheads="1"/>
          </p:cNvSpPr>
          <p:nvPr/>
        </p:nvSpPr>
        <p:spPr bwMode="auto">
          <a:xfrm>
            <a:off x="2038350" y="2492375"/>
            <a:ext cx="1296988" cy="7191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67954" name="Rectangle 18">
            <a:extLst>
              <a:ext uri="{FF2B5EF4-FFF2-40B4-BE49-F238E27FC236}">
                <a16:creationId xmlns:a16="http://schemas.microsoft.com/office/drawing/2014/main" id="{D7F806AB-4260-A6AA-FDB0-B1F5D5791436}"/>
              </a:ext>
            </a:extLst>
          </p:cNvPr>
          <p:cNvSpPr>
            <a:spLocks noChangeArrowheads="1"/>
          </p:cNvSpPr>
          <p:nvPr/>
        </p:nvSpPr>
        <p:spPr bwMode="auto">
          <a:xfrm>
            <a:off x="2038350" y="3213100"/>
            <a:ext cx="1295400" cy="503238"/>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cxnSp>
        <p:nvCxnSpPr>
          <p:cNvPr id="167955" name="AutoShape 19">
            <a:extLst>
              <a:ext uri="{FF2B5EF4-FFF2-40B4-BE49-F238E27FC236}">
                <a16:creationId xmlns:a16="http://schemas.microsoft.com/office/drawing/2014/main" id="{41730567-5D79-DC0A-6390-F0FAD122FF76}"/>
              </a:ext>
            </a:extLst>
          </p:cNvPr>
          <p:cNvCxnSpPr>
            <a:cxnSpLocks noChangeShapeType="1"/>
            <a:stCxn id="167954" idx="1"/>
          </p:cNvCxnSpPr>
          <p:nvPr/>
        </p:nvCxnSpPr>
        <p:spPr bwMode="auto">
          <a:xfrm rot="10800000">
            <a:off x="1187450" y="2781300"/>
            <a:ext cx="836613" cy="684213"/>
          </a:xfrm>
          <a:prstGeom prst="curvedConnector3">
            <a:avLst>
              <a:gd name="adj1" fmla="val 49148"/>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956" name="Text Box 20">
            <a:extLst>
              <a:ext uri="{FF2B5EF4-FFF2-40B4-BE49-F238E27FC236}">
                <a16:creationId xmlns:a16="http://schemas.microsoft.com/office/drawing/2014/main" id="{F6C8C984-0FA7-D31E-E7B0-18C970429A42}"/>
              </a:ext>
            </a:extLst>
          </p:cNvPr>
          <p:cNvSpPr txBox="1">
            <a:spLocks noChangeArrowheads="1"/>
          </p:cNvSpPr>
          <p:nvPr/>
        </p:nvSpPr>
        <p:spPr bwMode="auto">
          <a:xfrm>
            <a:off x="2268538" y="2611438"/>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en-US" altLang="zh-CN" sz="2400" b="0" i="0">
                <a:solidFill>
                  <a:schemeClr val="bg1"/>
                </a:solidFill>
                <a:latin typeface="Arial Narrow" panose="020B0604020202020204" pitchFamily="34" charset="0"/>
                <a:ea typeface="宋体" panose="02010600030101010101" pitchFamily="2" charset="-122"/>
              </a:rPr>
              <a:t>i-1</a:t>
            </a:r>
          </a:p>
        </p:txBody>
      </p:sp>
      <p:sp>
        <p:nvSpPr>
          <p:cNvPr id="821269" name="Text Box 21">
            <a:extLst>
              <a:ext uri="{FF2B5EF4-FFF2-40B4-BE49-F238E27FC236}">
                <a16:creationId xmlns:a16="http://schemas.microsoft.com/office/drawing/2014/main" id="{5C2C271F-B000-8708-8CDB-347AC6196158}"/>
              </a:ext>
            </a:extLst>
          </p:cNvPr>
          <p:cNvSpPr txBox="1">
            <a:spLocks noChangeArrowheads="1"/>
          </p:cNvSpPr>
          <p:nvPr/>
        </p:nvSpPr>
        <p:spPr bwMode="auto">
          <a:xfrm>
            <a:off x="6659563" y="5805488"/>
            <a:ext cx="2411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v2=p;</a:t>
            </a:r>
          </a:p>
        </p:txBody>
      </p:sp>
      <p:sp>
        <p:nvSpPr>
          <p:cNvPr id="821270" name="Text Box 22">
            <a:extLst>
              <a:ext uri="{FF2B5EF4-FFF2-40B4-BE49-F238E27FC236}">
                <a16:creationId xmlns:a16="http://schemas.microsoft.com/office/drawing/2014/main" id="{1609A8E6-9CA1-8FD3-9799-CA8A479DAB9D}"/>
              </a:ext>
            </a:extLst>
          </p:cNvPr>
          <p:cNvSpPr txBox="1">
            <a:spLocks noChangeArrowheads="1"/>
          </p:cNvSpPr>
          <p:nvPr/>
        </p:nvSpPr>
        <p:spPr bwMode="auto">
          <a:xfrm>
            <a:off x="6659563" y="5445125"/>
            <a:ext cx="2016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Tx/>
              <a:buNone/>
            </a:pPr>
            <a:r>
              <a:rPr kumimoji="1" lang="en-US" altLang="zh-CN" sz="2400" b="0" i="0">
                <a:solidFill>
                  <a:schemeClr val="folHlink"/>
                </a:solidFill>
                <a:latin typeface="Arial Narrow" panose="020B0604020202020204" pitchFamily="34" charset="0"/>
                <a:ea typeface="宋体" panose="02010600030101010101" pitchFamily="2" charset="-122"/>
              </a:rPr>
              <a:t>v1 = v2;</a:t>
            </a:r>
          </a:p>
        </p:txBody>
      </p:sp>
      <p:sp>
        <p:nvSpPr>
          <p:cNvPr id="167959" name="Rectangle 23">
            <a:extLst>
              <a:ext uri="{FF2B5EF4-FFF2-40B4-BE49-F238E27FC236}">
                <a16:creationId xmlns:a16="http://schemas.microsoft.com/office/drawing/2014/main" id="{CD1BB4F8-DD1F-1E99-25CB-48EAF0C76AE7}"/>
              </a:ext>
            </a:extLst>
          </p:cNvPr>
          <p:cNvSpPr>
            <a:spLocks noChangeArrowheads="1"/>
          </p:cNvSpPr>
          <p:nvPr/>
        </p:nvSpPr>
        <p:spPr bwMode="auto">
          <a:xfrm>
            <a:off x="5581650" y="1701800"/>
            <a:ext cx="1295400" cy="50323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67960" name="Rectangle 24">
            <a:extLst>
              <a:ext uri="{FF2B5EF4-FFF2-40B4-BE49-F238E27FC236}">
                <a16:creationId xmlns:a16="http://schemas.microsoft.com/office/drawing/2014/main" id="{057C8B15-CDF7-AD1C-6DB2-D501E409FC64}"/>
              </a:ext>
            </a:extLst>
          </p:cNvPr>
          <p:cNvSpPr>
            <a:spLocks noChangeArrowheads="1"/>
          </p:cNvSpPr>
          <p:nvPr/>
        </p:nvSpPr>
        <p:spPr bwMode="auto">
          <a:xfrm>
            <a:off x="2051050" y="1700213"/>
            <a:ext cx="1295400" cy="503237"/>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buFont typeface="Wingdings" pitchFamily="2" charset="2"/>
              <a:buChar char="u"/>
            </a:pPr>
            <a:endParaRPr lang="zh-CN" altLang="en-US" b="0">
              <a:latin typeface="Arial Unicode MS" panose="020B0604020202020204" pitchFamily="34" charset="-128"/>
            </a:endParaRPr>
          </a:p>
        </p:txBody>
      </p:sp>
      <p:sp>
        <p:nvSpPr>
          <p:cNvPr id="167961" name="Text Box 25">
            <a:extLst>
              <a:ext uri="{FF2B5EF4-FFF2-40B4-BE49-F238E27FC236}">
                <a16:creationId xmlns:a16="http://schemas.microsoft.com/office/drawing/2014/main" id="{AD6E3F73-4D07-B88C-7521-4C9E3A49A218}"/>
              </a:ext>
            </a:extLst>
          </p:cNvPr>
          <p:cNvSpPr txBox="1">
            <a:spLocks noChangeArrowheads="1"/>
          </p:cNvSpPr>
          <p:nvPr/>
        </p:nvSpPr>
        <p:spPr bwMode="auto">
          <a:xfrm>
            <a:off x="5003800" y="1701800"/>
            <a:ext cx="649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Tx/>
              <a:buNone/>
            </a:pPr>
            <a:r>
              <a:rPr kumimoji="1" lang="en-US" altLang="zh-CN" sz="2400" b="0" i="0">
                <a:latin typeface="Arial Narrow" panose="020B0604020202020204" pitchFamily="34" charset="0"/>
                <a:ea typeface="宋体" panose="02010600030101010101" pitchFamily="2" charset="-122"/>
              </a:rPr>
              <a:t>v2</a:t>
            </a:r>
          </a:p>
        </p:txBody>
      </p:sp>
      <p:cxnSp>
        <p:nvCxnSpPr>
          <p:cNvPr id="821274" name="AutoShape 26">
            <a:extLst>
              <a:ext uri="{FF2B5EF4-FFF2-40B4-BE49-F238E27FC236}">
                <a16:creationId xmlns:a16="http://schemas.microsoft.com/office/drawing/2014/main" id="{300FDE10-2D7A-0B50-2409-9E865CCD4E4B}"/>
              </a:ext>
            </a:extLst>
          </p:cNvPr>
          <p:cNvCxnSpPr>
            <a:cxnSpLocks noChangeShapeType="1"/>
            <a:stCxn id="167960" idx="3"/>
            <a:endCxn id="167953" idx="3"/>
          </p:cNvCxnSpPr>
          <p:nvPr/>
        </p:nvCxnSpPr>
        <p:spPr bwMode="auto">
          <a:xfrm flipH="1">
            <a:off x="3349625" y="1952625"/>
            <a:ext cx="11113" cy="900113"/>
          </a:xfrm>
          <a:prstGeom prst="curvedConnector3">
            <a:avLst>
              <a:gd name="adj1" fmla="val -1928569"/>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275" name="AutoShape 27">
            <a:extLst>
              <a:ext uri="{FF2B5EF4-FFF2-40B4-BE49-F238E27FC236}">
                <a16:creationId xmlns:a16="http://schemas.microsoft.com/office/drawing/2014/main" id="{2C048C6A-700C-AE4E-74A7-37487C794F97}"/>
              </a:ext>
            </a:extLst>
          </p:cNvPr>
          <p:cNvCxnSpPr>
            <a:cxnSpLocks noChangeShapeType="1"/>
            <a:stCxn id="167959" idx="2"/>
            <a:endCxn id="167939" idx="3"/>
          </p:cNvCxnSpPr>
          <p:nvPr/>
        </p:nvCxnSpPr>
        <p:spPr bwMode="auto">
          <a:xfrm rot="5400000">
            <a:off x="5595143" y="2218532"/>
            <a:ext cx="633413" cy="635000"/>
          </a:xfrm>
          <a:prstGeom prst="curvedConnector2">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276" name="AutoShape 28">
            <a:extLst>
              <a:ext uri="{FF2B5EF4-FFF2-40B4-BE49-F238E27FC236}">
                <a16:creationId xmlns:a16="http://schemas.microsoft.com/office/drawing/2014/main" id="{EF5B7539-372D-3127-7738-D1FBC757EF97}"/>
              </a:ext>
            </a:extLst>
          </p:cNvPr>
          <p:cNvCxnSpPr>
            <a:cxnSpLocks noChangeShapeType="1"/>
            <a:stCxn id="167947" idx="3"/>
            <a:endCxn id="167942" idx="1"/>
          </p:cNvCxnSpPr>
          <p:nvPr/>
        </p:nvCxnSpPr>
        <p:spPr bwMode="auto">
          <a:xfrm flipV="1">
            <a:off x="5594350" y="2852738"/>
            <a:ext cx="965200" cy="2197100"/>
          </a:xfrm>
          <a:prstGeom prst="curvedConnector3">
            <a:avLst>
              <a:gd name="adj1" fmla="val 50000"/>
            </a:avLst>
          </a:prstGeom>
          <a:noFill/>
          <a:ln w="28575">
            <a:solidFill>
              <a:schemeClr val="accent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277" name="AutoShape 29">
            <a:extLst>
              <a:ext uri="{FF2B5EF4-FFF2-40B4-BE49-F238E27FC236}">
                <a16:creationId xmlns:a16="http://schemas.microsoft.com/office/drawing/2014/main" id="{BCF964F2-E955-001E-CB7B-DAAE7C53C89F}"/>
              </a:ext>
            </a:extLst>
          </p:cNvPr>
          <p:cNvCxnSpPr>
            <a:cxnSpLocks noChangeShapeType="1"/>
            <a:stCxn id="167940" idx="1"/>
            <a:endCxn id="167953" idx="3"/>
          </p:cNvCxnSpPr>
          <p:nvPr/>
        </p:nvCxnSpPr>
        <p:spPr bwMode="auto">
          <a:xfrm rot="10800000">
            <a:off x="3349625" y="2852738"/>
            <a:ext cx="919163" cy="612775"/>
          </a:xfrm>
          <a:prstGeom prst="curvedConnector3">
            <a:avLst>
              <a:gd name="adj1" fmla="val 49912"/>
            </a:avLst>
          </a:prstGeom>
          <a:noFill/>
          <a:ln w="28575">
            <a:solidFill>
              <a:schemeClr val="accent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278" name="AutoShape 30">
            <a:extLst>
              <a:ext uri="{FF2B5EF4-FFF2-40B4-BE49-F238E27FC236}">
                <a16:creationId xmlns:a16="http://schemas.microsoft.com/office/drawing/2014/main" id="{AF596606-1AE0-C6A8-23F4-89DB9405BCB1}"/>
              </a:ext>
            </a:extLst>
          </p:cNvPr>
          <p:cNvCxnSpPr>
            <a:cxnSpLocks noChangeShapeType="1"/>
            <a:stCxn id="167960" idx="3"/>
            <a:endCxn id="167939" idx="1"/>
          </p:cNvCxnSpPr>
          <p:nvPr/>
        </p:nvCxnSpPr>
        <p:spPr bwMode="auto">
          <a:xfrm>
            <a:off x="3360738" y="1952625"/>
            <a:ext cx="908050" cy="900113"/>
          </a:xfrm>
          <a:prstGeom prst="curvedConnector3">
            <a:avLst>
              <a:gd name="adj1" fmla="val 50000"/>
            </a:avLst>
          </a:prstGeom>
          <a:noFill/>
          <a:ln w="28575">
            <a:solidFill>
              <a:schemeClr val="accent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279" name="AutoShape 31">
            <a:extLst>
              <a:ext uri="{FF2B5EF4-FFF2-40B4-BE49-F238E27FC236}">
                <a16:creationId xmlns:a16="http://schemas.microsoft.com/office/drawing/2014/main" id="{5E1273D4-0BC6-C35C-1BDD-2436BAFF9510}"/>
              </a:ext>
            </a:extLst>
          </p:cNvPr>
          <p:cNvCxnSpPr>
            <a:cxnSpLocks noChangeShapeType="1"/>
            <a:stCxn id="167959" idx="2"/>
            <a:endCxn id="167942" idx="1"/>
          </p:cNvCxnSpPr>
          <p:nvPr/>
        </p:nvCxnSpPr>
        <p:spPr bwMode="auto">
          <a:xfrm rot="16200000" flipH="1">
            <a:off x="6077743" y="2370932"/>
            <a:ext cx="633413" cy="330200"/>
          </a:xfrm>
          <a:prstGeom prst="curvedConnector2">
            <a:avLst/>
          </a:prstGeom>
          <a:noFill/>
          <a:ln w="28575">
            <a:solidFill>
              <a:schemeClr val="accent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1261"/>
                                        </p:tgtEl>
                                        <p:attrNameLst>
                                          <p:attrName>style.visibility</p:attrName>
                                        </p:attrNameLst>
                                      </p:cBhvr>
                                      <p:to>
                                        <p:strVal val="visible"/>
                                      </p:to>
                                    </p:set>
                                    <p:animEffect transition="in" filter="box(in)">
                                      <p:cBhvr>
                                        <p:cTn id="7" dur="500"/>
                                        <p:tgtEl>
                                          <p:spTgt spid="821261"/>
                                        </p:tgtEl>
                                      </p:cBhvr>
                                    </p:animEffect>
                                  </p:childTnLst>
                                </p:cTn>
                              </p:par>
                            </p:childTnLst>
                          </p:cTn>
                        </p:par>
                        <p:par>
                          <p:cTn id="8" fill="hold" nodeType="afterGroup">
                            <p:stCondLst>
                              <p:cond delay="500"/>
                            </p:stCondLst>
                            <p:childTnLst>
                              <p:par>
                                <p:cTn id="9" presetID="8" presetClass="entr" presetSubtype="16" fill="hold" nodeType="afterEffect">
                                  <p:stCondLst>
                                    <p:cond delay="0"/>
                                  </p:stCondLst>
                                  <p:childTnLst>
                                    <p:set>
                                      <p:cBhvr>
                                        <p:cTn id="10" dur="1" fill="hold">
                                          <p:stCondLst>
                                            <p:cond delay="0"/>
                                          </p:stCondLst>
                                        </p:cTn>
                                        <p:tgtEl>
                                          <p:spTgt spid="821276"/>
                                        </p:tgtEl>
                                        <p:attrNameLst>
                                          <p:attrName>style.visibility</p:attrName>
                                        </p:attrNameLst>
                                      </p:cBhvr>
                                      <p:to>
                                        <p:strVal val="visible"/>
                                      </p:to>
                                    </p:set>
                                    <p:animEffect transition="in" filter="diamond(in)">
                                      <p:cBhvr>
                                        <p:cTn id="11" dur="2000"/>
                                        <p:tgtEl>
                                          <p:spTgt spid="82127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821262"/>
                                        </p:tgtEl>
                                        <p:attrNameLst>
                                          <p:attrName>style.visibility</p:attrName>
                                        </p:attrNameLst>
                                      </p:cBhvr>
                                      <p:to>
                                        <p:strVal val="visible"/>
                                      </p:to>
                                    </p:set>
                                    <p:animEffect transition="in" filter="box(in)">
                                      <p:cBhvr>
                                        <p:cTn id="16" dur="500"/>
                                        <p:tgtEl>
                                          <p:spTgt spid="821262"/>
                                        </p:tgtEl>
                                      </p:cBhvr>
                                    </p:animEffect>
                                  </p:childTnLst>
                                </p:cTn>
                              </p:par>
                            </p:childTnLst>
                          </p:cTn>
                        </p:par>
                        <p:par>
                          <p:cTn id="17" fill="hold" nodeType="afterGroup">
                            <p:stCondLst>
                              <p:cond delay="500"/>
                            </p:stCondLst>
                            <p:childTnLst>
                              <p:par>
                                <p:cTn id="18" presetID="35" presetClass="exit" presetSubtype="0" fill="hold" nodeType="afterEffect">
                                  <p:stCondLst>
                                    <p:cond delay="0"/>
                                  </p:stCondLst>
                                  <p:childTnLst>
                                    <p:animEffect transition="out" filter="fade">
                                      <p:cBhvr>
                                        <p:cTn id="19" dur="2000"/>
                                        <p:tgtEl>
                                          <p:spTgt spid="821253"/>
                                        </p:tgtEl>
                                      </p:cBhvr>
                                    </p:animEffect>
                                    <p:anim calcmode="lin" valueType="num">
                                      <p:cBhvr>
                                        <p:cTn id="20" dur="2000"/>
                                        <p:tgtEl>
                                          <p:spTgt spid="821253"/>
                                        </p:tgtEl>
                                        <p:attrNameLst>
                                          <p:attrName>style.rotation</p:attrName>
                                        </p:attrNameLst>
                                      </p:cBhvr>
                                      <p:tavLst>
                                        <p:tav tm="0">
                                          <p:val>
                                            <p:fltVal val="0"/>
                                          </p:val>
                                        </p:tav>
                                        <p:tav tm="100000">
                                          <p:val>
                                            <p:fltVal val="720"/>
                                          </p:val>
                                        </p:tav>
                                      </p:tavLst>
                                    </p:anim>
                                    <p:anim calcmode="lin" valueType="num">
                                      <p:cBhvr>
                                        <p:cTn id="21" dur="2000"/>
                                        <p:tgtEl>
                                          <p:spTgt spid="821253"/>
                                        </p:tgtEl>
                                        <p:attrNameLst>
                                          <p:attrName>ppt_h</p:attrName>
                                        </p:attrNameLst>
                                      </p:cBhvr>
                                      <p:tavLst>
                                        <p:tav tm="0">
                                          <p:val>
                                            <p:strVal val="ppt_h"/>
                                          </p:val>
                                        </p:tav>
                                        <p:tav tm="100000">
                                          <p:val>
                                            <p:fltVal val="0"/>
                                          </p:val>
                                        </p:tav>
                                      </p:tavLst>
                                    </p:anim>
                                    <p:anim calcmode="lin" valueType="num">
                                      <p:cBhvr>
                                        <p:cTn id="22" dur="2000"/>
                                        <p:tgtEl>
                                          <p:spTgt spid="821253"/>
                                        </p:tgtEl>
                                        <p:attrNameLst>
                                          <p:attrName>ppt_w</p:attrName>
                                        </p:attrNameLst>
                                      </p:cBhvr>
                                      <p:tavLst>
                                        <p:tav tm="0">
                                          <p:val>
                                            <p:strVal val="ppt_w"/>
                                          </p:val>
                                        </p:tav>
                                        <p:tav tm="100000">
                                          <p:val>
                                            <p:fltVal val="0"/>
                                          </p:val>
                                        </p:tav>
                                      </p:tavLst>
                                    </p:anim>
                                    <p:set>
                                      <p:cBhvr>
                                        <p:cTn id="23" dur="1" fill="hold">
                                          <p:stCondLst>
                                            <p:cond delay="1999"/>
                                          </p:stCondLst>
                                        </p:cTn>
                                        <p:tgtEl>
                                          <p:spTgt spid="821253"/>
                                        </p:tgtEl>
                                        <p:attrNameLst>
                                          <p:attrName>style.visibility</p:attrName>
                                        </p:attrNameLst>
                                      </p:cBhvr>
                                      <p:to>
                                        <p:strVal val="hidden"/>
                                      </p:to>
                                    </p:set>
                                  </p:childTnLst>
                                </p:cTn>
                              </p:par>
                            </p:childTnLst>
                          </p:cTn>
                        </p:par>
                        <p:par>
                          <p:cTn id="24" fill="hold" nodeType="afterGroup">
                            <p:stCondLst>
                              <p:cond delay="2500"/>
                            </p:stCondLst>
                            <p:childTnLst>
                              <p:par>
                                <p:cTn id="25" presetID="8" presetClass="entr" presetSubtype="16" fill="hold" nodeType="afterEffect">
                                  <p:stCondLst>
                                    <p:cond delay="0"/>
                                  </p:stCondLst>
                                  <p:childTnLst>
                                    <p:set>
                                      <p:cBhvr>
                                        <p:cTn id="26" dur="1" fill="hold">
                                          <p:stCondLst>
                                            <p:cond delay="0"/>
                                          </p:stCondLst>
                                        </p:cTn>
                                        <p:tgtEl>
                                          <p:spTgt spid="821277"/>
                                        </p:tgtEl>
                                        <p:attrNameLst>
                                          <p:attrName>style.visibility</p:attrName>
                                        </p:attrNameLst>
                                      </p:cBhvr>
                                      <p:to>
                                        <p:strVal val="visible"/>
                                      </p:to>
                                    </p:set>
                                    <p:animEffect transition="in" filter="diamond(in)">
                                      <p:cBhvr>
                                        <p:cTn id="27" dur="2000"/>
                                        <p:tgtEl>
                                          <p:spTgt spid="82127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821270"/>
                                        </p:tgtEl>
                                        <p:attrNameLst>
                                          <p:attrName>style.visibility</p:attrName>
                                        </p:attrNameLst>
                                      </p:cBhvr>
                                      <p:to>
                                        <p:strVal val="visible"/>
                                      </p:to>
                                    </p:set>
                                    <p:animEffect transition="in" filter="box(in)">
                                      <p:cBhvr>
                                        <p:cTn id="32" dur="500"/>
                                        <p:tgtEl>
                                          <p:spTgt spid="821270"/>
                                        </p:tgtEl>
                                      </p:cBhvr>
                                    </p:animEffect>
                                  </p:childTnLst>
                                </p:cTn>
                              </p:par>
                            </p:childTnLst>
                          </p:cTn>
                        </p:par>
                        <p:par>
                          <p:cTn id="33" fill="hold" nodeType="afterGroup">
                            <p:stCondLst>
                              <p:cond delay="500"/>
                            </p:stCondLst>
                            <p:childTnLst>
                              <p:par>
                                <p:cTn id="34" presetID="35" presetClass="exit" presetSubtype="0" fill="hold" nodeType="afterEffect">
                                  <p:stCondLst>
                                    <p:cond delay="0"/>
                                  </p:stCondLst>
                                  <p:childTnLst>
                                    <p:animEffect transition="out" filter="fade">
                                      <p:cBhvr>
                                        <p:cTn id="35" dur="2000"/>
                                        <p:tgtEl>
                                          <p:spTgt spid="821274"/>
                                        </p:tgtEl>
                                      </p:cBhvr>
                                    </p:animEffect>
                                    <p:anim calcmode="lin" valueType="num">
                                      <p:cBhvr>
                                        <p:cTn id="36" dur="2000"/>
                                        <p:tgtEl>
                                          <p:spTgt spid="821274"/>
                                        </p:tgtEl>
                                        <p:attrNameLst>
                                          <p:attrName>style.rotation</p:attrName>
                                        </p:attrNameLst>
                                      </p:cBhvr>
                                      <p:tavLst>
                                        <p:tav tm="0">
                                          <p:val>
                                            <p:fltVal val="0"/>
                                          </p:val>
                                        </p:tav>
                                        <p:tav tm="100000">
                                          <p:val>
                                            <p:fltVal val="720"/>
                                          </p:val>
                                        </p:tav>
                                      </p:tavLst>
                                    </p:anim>
                                    <p:anim calcmode="lin" valueType="num">
                                      <p:cBhvr>
                                        <p:cTn id="37" dur="2000"/>
                                        <p:tgtEl>
                                          <p:spTgt spid="821274"/>
                                        </p:tgtEl>
                                        <p:attrNameLst>
                                          <p:attrName>ppt_h</p:attrName>
                                        </p:attrNameLst>
                                      </p:cBhvr>
                                      <p:tavLst>
                                        <p:tav tm="0">
                                          <p:val>
                                            <p:strVal val="ppt_h"/>
                                          </p:val>
                                        </p:tav>
                                        <p:tav tm="100000">
                                          <p:val>
                                            <p:fltVal val="0"/>
                                          </p:val>
                                        </p:tav>
                                      </p:tavLst>
                                    </p:anim>
                                    <p:anim calcmode="lin" valueType="num">
                                      <p:cBhvr>
                                        <p:cTn id="38" dur="2000"/>
                                        <p:tgtEl>
                                          <p:spTgt spid="821274"/>
                                        </p:tgtEl>
                                        <p:attrNameLst>
                                          <p:attrName>ppt_w</p:attrName>
                                        </p:attrNameLst>
                                      </p:cBhvr>
                                      <p:tavLst>
                                        <p:tav tm="0">
                                          <p:val>
                                            <p:strVal val="ppt_w"/>
                                          </p:val>
                                        </p:tav>
                                        <p:tav tm="100000">
                                          <p:val>
                                            <p:fltVal val="0"/>
                                          </p:val>
                                        </p:tav>
                                      </p:tavLst>
                                    </p:anim>
                                    <p:set>
                                      <p:cBhvr>
                                        <p:cTn id="39" dur="1" fill="hold">
                                          <p:stCondLst>
                                            <p:cond delay="1999"/>
                                          </p:stCondLst>
                                        </p:cTn>
                                        <p:tgtEl>
                                          <p:spTgt spid="821274"/>
                                        </p:tgtEl>
                                        <p:attrNameLst>
                                          <p:attrName>style.visibility</p:attrName>
                                        </p:attrNameLst>
                                      </p:cBhvr>
                                      <p:to>
                                        <p:strVal val="hidden"/>
                                      </p:to>
                                    </p:set>
                                  </p:childTnLst>
                                </p:cTn>
                              </p:par>
                            </p:childTnLst>
                          </p:cTn>
                        </p:par>
                        <p:par>
                          <p:cTn id="40" fill="hold" nodeType="afterGroup">
                            <p:stCondLst>
                              <p:cond delay="2500"/>
                            </p:stCondLst>
                            <p:childTnLst>
                              <p:par>
                                <p:cTn id="41" presetID="8" presetClass="entr" presetSubtype="16" fill="hold" nodeType="afterEffect">
                                  <p:stCondLst>
                                    <p:cond delay="0"/>
                                  </p:stCondLst>
                                  <p:childTnLst>
                                    <p:set>
                                      <p:cBhvr>
                                        <p:cTn id="42" dur="1" fill="hold">
                                          <p:stCondLst>
                                            <p:cond delay="0"/>
                                          </p:stCondLst>
                                        </p:cTn>
                                        <p:tgtEl>
                                          <p:spTgt spid="821278"/>
                                        </p:tgtEl>
                                        <p:attrNameLst>
                                          <p:attrName>style.visibility</p:attrName>
                                        </p:attrNameLst>
                                      </p:cBhvr>
                                      <p:to>
                                        <p:strVal val="visible"/>
                                      </p:to>
                                    </p:set>
                                    <p:animEffect transition="in" filter="diamond(in)">
                                      <p:cBhvr>
                                        <p:cTn id="43" dur="2000"/>
                                        <p:tgtEl>
                                          <p:spTgt spid="82127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821269"/>
                                        </p:tgtEl>
                                        <p:attrNameLst>
                                          <p:attrName>style.visibility</p:attrName>
                                        </p:attrNameLst>
                                      </p:cBhvr>
                                      <p:to>
                                        <p:strVal val="visible"/>
                                      </p:to>
                                    </p:set>
                                    <p:animEffect transition="in" filter="box(in)">
                                      <p:cBhvr>
                                        <p:cTn id="48" dur="500"/>
                                        <p:tgtEl>
                                          <p:spTgt spid="821269"/>
                                        </p:tgtEl>
                                      </p:cBhvr>
                                    </p:animEffect>
                                  </p:childTnLst>
                                </p:cTn>
                              </p:par>
                            </p:childTnLst>
                          </p:cTn>
                        </p:par>
                        <p:par>
                          <p:cTn id="49" fill="hold" nodeType="afterGroup">
                            <p:stCondLst>
                              <p:cond delay="500"/>
                            </p:stCondLst>
                            <p:childTnLst>
                              <p:par>
                                <p:cTn id="50" presetID="35" presetClass="exit" presetSubtype="0" fill="hold" nodeType="afterEffect">
                                  <p:stCondLst>
                                    <p:cond delay="0"/>
                                  </p:stCondLst>
                                  <p:childTnLst>
                                    <p:animEffect transition="out" filter="fade">
                                      <p:cBhvr>
                                        <p:cTn id="51" dur="2000"/>
                                        <p:tgtEl>
                                          <p:spTgt spid="821275"/>
                                        </p:tgtEl>
                                      </p:cBhvr>
                                    </p:animEffect>
                                    <p:anim calcmode="lin" valueType="num">
                                      <p:cBhvr>
                                        <p:cTn id="52" dur="2000"/>
                                        <p:tgtEl>
                                          <p:spTgt spid="821275"/>
                                        </p:tgtEl>
                                        <p:attrNameLst>
                                          <p:attrName>style.rotation</p:attrName>
                                        </p:attrNameLst>
                                      </p:cBhvr>
                                      <p:tavLst>
                                        <p:tav tm="0">
                                          <p:val>
                                            <p:fltVal val="0"/>
                                          </p:val>
                                        </p:tav>
                                        <p:tav tm="100000">
                                          <p:val>
                                            <p:fltVal val="720"/>
                                          </p:val>
                                        </p:tav>
                                      </p:tavLst>
                                    </p:anim>
                                    <p:anim calcmode="lin" valueType="num">
                                      <p:cBhvr>
                                        <p:cTn id="53" dur="2000"/>
                                        <p:tgtEl>
                                          <p:spTgt spid="821275"/>
                                        </p:tgtEl>
                                        <p:attrNameLst>
                                          <p:attrName>ppt_h</p:attrName>
                                        </p:attrNameLst>
                                      </p:cBhvr>
                                      <p:tavLst>
                                        <p:tav tm="0">
                                          <p:val>
                                            <p:strVal val="ppt_h"/>
                                          </p:val>
                                        </p:tav>
                                        <p:tav tm="100000">
                                          <p:val>
                                            <p:fltVal val="0"/>
                                          </p:val>
                                        </p:tav>
                                      </p:tavLst>
                                    </p:anim>
                                    <p:anim calcmode="lin" valueType="num">
                                      <p:cBhvr>
                                        <p:cTn id="54" dur="2000"/>
                                        <p:tgtEl>
                                          <p:spTgt spid="821275"/>
                                        </p:tgtEl>
                                        <p:attrNameLst>
                                          <p:attrName>ppt_w</p:attrName>
                                        </p:attrNameLst>
                                      </p:cBhvr>
                                      <p:tavLst>
                                        <p:tav tm="0">
                                          <p:val>
                                            <p:strVal val="ppt_w"/>
                                          </p:val>
                                        </p:tav>
                                        <p:tav tm="100000">
                                          <p:val>
                                            <p:fltVal val="0"/>
                                          </p:val>
                                        </p:tav>
                                      </p:tavLst>
                                    </p:anim>
                                    <p:set>
                                      <p:cBhvr>
                                        <p:cTn id="55" dur="1" fill="hold">
                                          <p:stCondLst>
                                            <p:cond delay="1999"/>
                                          </p:stCondLst>
                                        </p:cTn>
                                        <p:tgtEl>
                                          <p:spTgt spid="821275"/>
                                        </p:tgtEl>
                                        <p:attrNameLst>
                                          <p:attrName>style.visibility</p:attrName>
                                        </p:attrNameLst>
                                      </p:cBhvr>
                                      <p:to>
                                        <p:strVal val="hidden"/>
                                      </p:to>
                                    </p:set>
                                  </p:childTnLst>
                                </p:cTn>
                              </p:par>
                            </p:childTnLst>
                          </p:cTn>
                        </p:par>
                        <p:par>
                          <p:cTn id="56" fill="hold" nodeType="afterGroup">
                            <p:stCondLst>
                              <p:cond delay="2500"/>
                            </p:stCondLst>
                            <p:childTnLst>
                              <p:par>
                                <p:cTn id="57" presetID="8" presetClass="entr" presetSubtype="16" fill="hold" nodeType="afterEffect">
                                  <p:stCondLst>
                                    <p:cond delay="0"/>
                                  </p:stCondLst>
                                  <p:childTnLst>
                                    <p:set>
                                      <p:cBhvr>
                                        <p:cTn id="58" dur="1" fill="hold">
                                          <p:stCondLst>
                                            <p:cond delay="0"/>
                                          </p:stCondLst>
                                        </p:cTn>
                                        <p:tgtEl>
                                          <p:spTgt spid="821279"/>
                                        </p:tgtEl>
                                        <p:attrNameLst>
                                          <p:attrName>style.visibility</p:attrName>
                                        </p:attrNameLst>
                                      </p:cBhvr>
                                      <p:to>
                                        <p:strVal val="visible"/>
                                      </p:to>
                                    </p:set>
                                    <p:animEffect transition="in" filter="diamond(in)">
                                      <p:cBhvr>
                                        <p:cTn id="59" dur="2000"/>
                                        <p:tgtEl>
                                          <p:spTgt spid="821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261" grpId="0"/>
      <p:bldP spid="821262" grpId="0"/>
      <p:bldP spid="821269" grpId="0"/>
      <p:bldP spid="821270"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FC05C8BB-3F13-8F2D-A74C-E8A2527BB906}"/>
              </a:ext>
            </a:extLst>
          </p:cNvPr>
          <p:cNvSpPr>
            <a:spLocks noGrp="1" noChangeArrowheads="1"/>
          </p:cNvSpPr>
          <p:nvPr>
            <p:ph type="title"/>
          </p:nvPr>
        </p:nvSpPr>
        <p:spPr/>
        <p:txBody>
          <a:bodyPr/>
          <a:lstStyle/>
          <a:p>
            <a:pPr eaLnBrk="1" hangingPunct="1"/>
            <a:r>
              <a:rPr lang="zh-CN" altLang="en-US"/>
              <a:t>例</a:t>
            </a:r>
            <a:r>
              <a:rPr lang="en-US" altLang="zh-CN"/>
              <a:t>7.5 (</a:t>
            </a:r>
            <a:r>
              <a:rPr lang="zh-CN" altLang="en-US"/>
              <a:t>续</a:t>
            </a:r>
            <a:r>
              <a:rPr lang="en-US" altLang="zh-CN"/>
              <a:t>)</a:t>
            </a:r>
          </a:p>
        </p:txBody>
      </p:sp>
      <p:sp>
        <p:nvSpPr>
          <p:cNvPr id="168963" name="Rectangle 3">
            <a:extLst>
              <a:ext uri="{FF2B5EF4-FFF2-40B4-BE49-F238E27FC236}">
                <a16:creationId xmlns:a16="http://schemas.microsoft.com/office/drawing/2014/main" id="{62EC44CF-ECB5-B6D3-4BA5-E0D499BC9A74}"/>
              </a:ext>
            </a:extLst>
          </p:cNvPr>
          <p:cNvSpPr>
            <a:spLocks noGrp="1" noChangeArrowheads="1"/>
          </p:cNvSpPr>
          <p:nvPr>
            <p:ph type="body" idx="1"/>
          </p:nvPr>
        </p:nvSpPr>
        <p:spPr>
          <a:xfrm>
            <a:off x="827088" y="1772815"/>
            <a:ext cx="8128000" cy="4359697"/>
          </a:xfrm>
        </p:spPr>
        <p:txBody>
          <a:bodyPr/>
          <a:lstStyle/>
          <a:p>
            <a:pPr marL="533400" indent="-533400" eaLnBrk="1" hangingPunct="1">
              <a:lnSpc>
                <a:spcPct val="90000"/>
              </a:lnSpc>
            </a:pPr>
            <a:r>
              <a:rPr lang="en-US" altLang="zh-CN" sz="2400" b="0"/>
              <a:t> </a:t>
            </a:r>
            <a:r>
              <a:rPr lang="zh-CN" altLang="en-US" sz="2400" b="0">
                <a:solidFill>
                  <a:srgbClr val="0066FF"/>
                </a:solidFill>
              </a:rPr>
              <a:t>带辅助表元的</a:t>
            </a:r>
            <a:r>
              <a:rPr lang="zh-CN" altLang="en-US" sz="2400" b="0"/>
              <a:t>链表颠倒函数</a:t>
            </a:r>
          </a:p>
          <a:p>
            <a:pPr marL="914400" lvl="1" indent="-457200" eaLnBrk="1" hangingPunct="1">
              <a:lnSpc>
                <a:spcPct val="90000"/>
              </a:lnSpc>
              <a:buFont typeface="Wingdings" pitchFamily="2" charset="2"/>
              <a:buAutoNum type="arabicPeriod"/>
            </a:pPr>
            <a:r>
              <a:rPr lang="en-US" altLang="zh-CN" sz="2000" b="0"/>
              <a:t>void reverse (struct intNode </a:t>
            </a:r>
            <a:r>
              <a:rPr lang="en-US" altLang="zh-CN" sz="2000" b="0">
                <a:solidFill>
                  <a:srgbClr val="0066FF"/>
                </a:solidFill>
              </a:rPr>
              <a:t>*h</a:t>
            </a:r>
            <a:r>
              <a:rPr lang="en-US" altLang="zh-CN" sz="2000" b="0"/>
              <a:t>){</a:t>
            </a:r>
          </a:p>
          <a:p>
            <a:pPr marL="914400" lvl="1" indent="-457200" eaLnBrk="1" hangingPunct="1">
              <a:lnSpc>
                <a:spcPct val="90000"/>
              </a:lnSpc>
              <a:buFont typeface="Wingdings" pitchFamily="2" charset="2"/>
              <a:buAutoNum type="arabicPeriod"/>
            </a:pPr>
            <a:r>
              <a:rPr lang="en-US" altLang="zh-CN" sz="2000" b="0"/>
              <a:t>   struct intNode *p, *v1, *v2;</a:t>
            </a:r>
          </a:p>
          <a:p>
            <a:pPr marL="914400" lvl="1" indent="-457200" eaLnBrk="1" hangingPunct="1">
              <a:lnSpc>
                <a:spcPct val="90000"/>
              </a:lnSpc>
              <a:buFont typeface="Wingdings" pitchFamily="2" charset="2"/>
              <a:buAutoNum type="arabicPeriod"/>
            </a:pPr>
            <a:r>
              <a:rPr lang="en-US" altLang="zh-CN" sz="2000" b="0"/>
              <a:t>   v2 = </a:t>
            </a:r>
            <a:r>
              <a:rPr lang="en-US" altLang="zh-CN" sz="2000" b="0">
                <a:solidFill>
                  <a:srgbClr val="0066FF"/>
                </a:solidFill>
              </a:rPr>
              <a:t>h-&gt;next</a:t>
            </a:r>
            <a:r>
              <a:rPr lang="en-US" altLang="zh-CN" sz="2000" b="0"/>
              <a:t>;  </a:t>
            </a:r>
            <a:r>
              <a:rPr lang="en-US" altLang="zh-CN" sz="2000" b="0">
                <a:solidFill>
                  <a:schemeClr val="folHlink"/>
                </a:solidFill>
              </a:rPr>
              <a:t>//v2 </a:t>
            </a:r>
            <a:r>
              <a:rPr lang="zh-CN" altLang="en-US" sz="2000" b="0">
                <a:solidFill>
                  <a:schemeClr val="folHlink"/>
                </a:solidFill>
              </a:rPr>
              <a:t>指向链表的首表元</a:t>
            </a:r>
          </a:p>
          <a:p>
            <a:pPr marL="914400" lvl="1" indent="-457200" eaLnBrk="1" hangingPunct="1">
              <a:lnSpc>
                <a:spcPct val="90000"/>
              </a:lnSpc>
              <a:buFont typeface="Wingdings" pitchFamily="2" charset="2"/>
              <a:buAutoNum type="arabicPeriod"/>
            </a:pPr>
            <a:r>
              <a:rPr lang="zh-CN" altLang="en-US" sz="2000" b="0"/>
              <a:t>   </a:t>
            </a:r>
            <a:r>
              <a:rPr lang="en-US" altLang="zh-CN" sz="2000" b="0"/>
              <a:t>v1 = NULL;  </a:t>
            </a:r>
            <a:r>
              <a:rPr lang="en-US" altLang="zh-CN" sz="2000" b="0">
                <a:solidFill>
                  <a:schemeClr val="folHlink"/>
                </a:solidFill>
              </a:rPr>
              <a:t>//</a:t>
            </a:r>
            <a:r>
              <a:rPr lang="zh-CN" altLang="en-US" sz="2000" b="0">
                <a:solidFill>
                  <a:schemeClr val="folHlink"/>
                </a:solidFill>
              </a:rPr>
              <a:t>开始颠倒时，已颠倒部分为空</a:t>
            </a:r>
          </a:p>
          <a:p>
            <a:pPr marL="914400" lvl="1" indent="-457200" eaLnBrk="1" hangingPunct="1">
              <a:lnSpc>
                <a:spcPct val="90000"/>
              </a:lnSpc>
              <a:buFont typeface="Wingdings" pitchFamily="2" charset="2"/>
              <a:buAutoNum type="arabicPeriod"/>
            </a:pPr>
            <a:r>
              <a:rPr lang="zh-CN" altLang="en-US" sz="2000" b="0"/>
              <a:t>   </a:t>
            </a:r>
            <a:r>
              <a:rPr lang="en-US" altLang="zh-CN" sz="2000" b="0"/>
              <a:t>while (v2 != NULL) { </a:t>
            </a:r>
            <a:r>
              <a:rPr lang="en-US" altLang="zh-CN" sz="2000" b="0">
                <a:solidFill>
                  <a:schemeClr val="folHlink"/>
                </a:solidFill>
              </a:rPr>
              <a:t>//</a:t>
            </a:r>
            <a:r>
              <a:rPr lang="zh-CN" altLang="en-US" sz="2000" b="0">
                <a:solidFill>
                  <a:schemeClr val="folHlink"/>
                </a:solidFill>
              </a:rPr>
              <a:t>还未颠倒完，循环</a:t>
            </a:r>
          </a:p>
          <a:p>
            <a:pPr marL="914400" lvl="1" indent="-457200" eaLnBrk="1" hangingPunct="1">
              <a:lnSpc>
                <a:spcPct val="90000"/>
              </a:lnSpc>
              <a:buFont typeface="Wingdings" pitchFamily="2" charset="2"/>
              <a:buAutoNum type="arabicPeriod"/>
            </a:pPr>
            <a:r>
              <a:rPr lang="zh-CN" altLang="en-US" sz="2000" b="0"/>
              <a:t>      </a:t>
            </a:r>
            <a:r>
              <a:rPr lang="en-US" altLang="zh-CN" sz="2000" b="0"/>
              <a:t>p = v2-&gt;next;</a:t>
            </a:r>
          </a:p>
          <a:p>
            <a:pPr marL="914400" lvl="1" indent="-457200" eaLnBrk="1" hangingPunct="1">
              <a:lnSpc>
                <a:spcPct val="90000"/>
              </a:lnSpc>
              <a:buFont typeface="Wingdings" pitchFamily="2" charset="2"/>
              <a:buAutoNum type="arabicPeriod"/>
            </a:pPr>
            <a:r>
              <a:rPr lang="en-US" altLang="zh-CN" sz="2000" b="0"/>
              <a:t>      v2-&gt;next = v1;</a:t>
            </a:r>
          </a:p>
          <a:p>
            <a:pPr marL="914400" lvl="1" indent="-457200" eaLnBrk="1" hangingPunct="1">
              <a:lnSpc>
                <a:spcPct val="90000"/>
              </a:lnSpc>
              <a:buFont typeface="Wingdings" pitchFamily="2" charset="2"/>
              <a:buAutoNum type="arabicPeriod"/>
            </a:pPr>
            <a:r>
              <a:rPr lang="en-US" altLang="zh-CN" sz="2000" b="0"/>
              <a:t>      v1 = v2;</a:t>
            </a:r>
          </a:p>
          <a:p>
            <a:pPr marL="914400" lvl="1" indent="-457200" eaLnBrk="1" hangingPunct="1">
              <a:lnSpc>
                <a:spcPct val="90000"/>
              </a:lnSpc>
              <a:buFont typeface="Wingdings" pitchFamily="2" charset="2"/>
              <a:buAutoNum type="arabicPeriod"/>
            </a:pPr>
            <a:r>
              <a:rPr lang="en-US" altLang="zh-CN" sz="2000" b="0"/>
              <a:t>      v2 = p;</a:t>
            </a:r>
          </a:p>
          <a:p>
            <a:pPr marL="914400" lvl="1" indent="-457200" eaLnBrk="1" hangingPunct="1">
              <a:lnSpc>
                <a:spcPct val="90000"/>
              </a:lnSpc>
              <a:buFont typeface="Wingdings" pitchFamily="2" charset="2"/>
              <a:buAutoNum type="arabicPeriod"/>
            </a:pPr>
            <a:r>
              <a:rPr lang="en-US" altLang="zh-CN" sz="2000" b="0"/>
              <a:t>   }</a:t>
            </a:r>
          </a:p>
          <a:p>
            <a:pPr marL="914400" lvl="1" indent="-457200" eaLnBrk="1" hangingPunct="1">
              <a:lnSpc>
                <a:spcPct val="90000"/>
              </a:lnSpc>
              <a:buFont typeface="Wingdings" pitchFamily="2" charset="2"/>
              <a:buAutoNum type="arabicPeriod"/>
            </a:pPr>
            <a:r>
              <a:rPr lang="en-US" altLang="zh-CN" sz="2000" b="0"/>
              <a:t>   </a:t>
            </a:r>
            <a:r>
              <a:rPr lang="en-US" altLang="zh-CN" sz="2000" b="0">
                <a:solidFill>
                  <a:srgbClr val="0066FF"/>
                </a:solidFill>
              </a:rPr>
              <a:t>h-&gt;next = v1</a:t>
            </a:r>
            <a:r>
              <a:rPr lang="en-US" altLang="zh-CN" sz="2000" b="0"/>
              <a:t>;</a:t>
            </a:r>
          </a:p>
          <a:p>
            <a:pPr marL="914400" lvl="1" indent="-457200" eaLnBrk="1" hangingPunct="1">
              <a:lnSpc>
                <a:spcPct val="90000"/>
              </a:lnSpc>
              <a:buFont typeface="Wingdings" pitchFamily="2" charset="2"/>
              <a:buAutoNum type="arabicPeriod"/>
            </a:pPr>
            <a:r>
              <a:rPr lang="en-US" altLang="zh-CN" sz="2000" b="0"/>
              <a:t>}</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543ACA49-7A70-B890-B16B-8AA1625E47BF}"/>
              </a:ext>
            </a:extLst>
          </p:cNvPr>
          <p:cNvSpPr>
            <a:spLocks noGrp="1" noChangeArrowheads="1"/>
          </p:cNvSpPr>
          <p:nvPr>
            <p:ph type="title"/>
          </p:nvPr>
        </p:nvSpPr>
        <p:spPr/>
        <p:txBody>
          <a:bodyPr/>
          <a:lstStyle/>
          <a:p>
            <a:pPr eaLnBrk="1" hangingPunct="1"/>
            <a:r>
              <a:rPr lang="zh-CN" altLang="en-US"/>
              <a:t>例</a:t>
            </a:r>
            <a:r>
              <a:rPr lang="en-US" altLang="zh-CN"/>
              <a:t>7.5 (</a:t>
            </a:r>
            <a:r>
              <a:rPr lang="zh-CN" altLang="en-US"/>
              <a:t>补</a:t>
            </a:r>
            <a:r>
              <a:rPr lang="en-US" altLang="zh-CN"/>
              <a:t>)</a:t>
            </a:r>
          </a:p>
        </p:txBody>
      </p:sp>
      <p:sp>
        <p:nvSpPr>
          <p:cNvPr id="169987" name="Rectangle 3">
            <a:extLst>
              <a:ext uri="{FF2B5EF4-FFF2-40B4-BE49-F238E27FC236}">
                <a16:creationId xmlns:a16="http://schemas.microsoft.com/office/drawing/2014/main" id="{C5DA0483-FD6A-0684-C6BF-4876D548F717}"/>
              </a:ext>
            </a:extLst>
          </p:cNvPr>
          <p:cNvSpPr>
            <a:spLocks noGrp="1" noChangeArrowheads="1"/>
          </p:cNvSpPr>
          <p:nvPr>
            <p:ph type="body" idx="1"/>
          </p:nvPr>
        </p:nvSpPr>
        <p:spPr>
          <a:xfrm>
            <a:off x="827088" y="1772815"/>
            <a:ext cx="8128000" cy="4359697"/>
          </a:xfrm>
        </p:spPr>
        <p:txBody>
          <a:bodyPr/>
          <a:lstStyle/>
          <a:p>
            <a:pPr marL="533400" indent="-533400" eaLnBrk="1" hangingPunct="1">
              <a:lnSpc>
                <a:spcPct val="90000"/>
              </a:lnSpc>
            </a:pPr>
            <a:r>
              <a:rPr lang="zh-CN" altLang="en-US" sz="2400" b="0">
                <a:solidFill>
                  <a:srgbClr val="0066FF"/>
                </a:solidFill>
              </a:rPr>
              <a:t>不带辅助表元</a:t>
            </a:r>
            <a:r>
              <a:rPr lang="zh-CN" altLang="en-US" sz="2400" b="0"/>
              <a:t>链表颠倒，已知链表首指针的指针 </a:t>
            </a:r>
          </a:p>
          <a:p>
            <a:pPr marL="914400" lvl="1" indent="-457200" eaLnBrk="1" hangingPunct="1">
              <a:lnSpc>
                <a:spcPct val="90000"/>
              </a:lnSpc>
              <a:buFont typeface="Wingdings" pitchFamily="2" charset="2"/>
              <a:buAutoNum type="arabicPeriod"/>
            </a:pPr>
            <a:r>
              <a:rPr lang="en-US" altLang="zh-CN" sz="2000" b="0"/>
              <a:t>void reverse (struct intNode </a:t>
            </a:r>
            <a:r>
              <a:rPr lang="en-US" altLang="zh-CN" sz="2000" b="0">
                <a:solidFill>
                  <a:srgbClr val="0066FF"/>
                </a:solidFill>
              </a:rPr>
              <a:t>**hpt</a:t>
            </a:r>
            <a:r>
              <a:rPr lang="en-US" altLang="zh-CN" sz="2000" b="0"/>
              <a:t>){</a:t>
            </a:r>
          </a:p>
          <a:p>
            <a:pPr marL="914400" lvl="1" indent="-457200" eaLnBrk="1" hangingPunct="1">
              <a:lnSpc>
                <a:spcPct val="90000"/>
              </a:lnSpc>
              <a:buFont typeface="Wingdings" pitchFamily="2" charset="2"/>
              <a:buAutoNum type="arabicPeriod"/>
            </a:pPr>
            <a:r>
              <a:rPr lang="en-US" altLang="zh-CN" sz="2000" b="0"/>
              <a:t>   struct intNode *p, *v1, *v2;</a:t>
            </a:r>
          </a:p>
          <a:p>
            <a:pPr marL="914400" lvl="1" indent="-457200" eaLnBrk="1" hangingPunct="1">
              <a:lnSpc>
                <a:spcPct val="90000"/>
              </a:lnSpc>
              <a:buFont typeface="Wingdings" pitchFamily="2" charset="2"/>
              <a:buAutoNum type="arabicPeriod"/>
            </a:pPr>
            <a:r>
              <a:rPr lang="en-US" altLang="zh-CN" sz="2000" b="0"/>
              <a:t>   v2 = </a:t>
            </a:r>
            <a:r>
              <a:rPr lang="en-US" altLang="zh-CN" sz="2000" b="0">
                <a:solidFill>
                  <a:srgbClr val="0066FF"/>
                </a:solidFill>
              </a:rPr>
              <a:t>*hpt</a:t>
            </a:r>
            <a:r>
              <a:rPr lang="en-US" altLang="zh-CN" sz="2000" b="0"/>
              <a:t>;     </a:t>
            </a:r>
            <a:r>
              <a:rPr lang="en-US" altLang="zh-CN" sz="2000" b="0">
                <a:solidFill>
                  <a:schemeClr val="folHlink"/>
                </a:solidFill>
              </a:rPr>
              <a:t>//v2 </a:t>
            </a:r>
            <a:r>
              <a:rPr lang="zh-CN" altLang="en-US" sz="2000" b="0">
                <a:solidFill>
                  <a:schemeClr val="folHlink"/>
                </a:solidFill>
              </a:rPr>
              <a:t>指向链表的首表元</a:t>
            </a:r>
          </a:p>
          <a:p>
            <a:pPr marL="914400" lvl="1" indent="-457200" eaLnBrk="1" hangingPunct="1">
              <a:lnSpc>
                <a:spcPct val="90000"/>
              </a:lnSpc>
              <a:buFont typeface="Wingdings" pitchFamily="2" charset="2"/>
              <a:buAutoNum type="arabicPeriod"/>
            </a:pPr>
            <a:r>
              <a:rPr lang="zh-CN" altLang="en-US" sz="2000" b="0"/>
              <a:t>   </a:t>
            </a:r>
            <a:r>
              <a:rPr lang="en-US" altLang="zh-CN" sz="2000" b="0"/>
              <a:t>v1 = NULL;  </a:t>
            </a:r>
            <a:r>
              <a:rPr lang="en-US" altLang="zh-CN" sz="2000" b="0">
                <a:solidFill>
                  <a:schemeClr val="folHlink"/>
                </a:solidFill>
              </a:rPr>
              <a:t>//</a:t>
            </a:r>
            <a:r>
              <a:rPr lang="zh-CN" altLang="en-US" sz="2000" b="0">
                <a:solidFill>
                  <a:schemeClr val="folHlink"/>
                </a:solidFill>
              </a:rPr>
              <a:t>开始颠倒时，已颠倒部分为空</a:t>
            </a:r>
          </a:p>
          <a:p>
            <a:pPr marL="914400" lvl="1" indent="-457200" eaLnBrk="1" hangingPunct="1">
              <a:lnSpc>
                <a:spcPct val="90000"/>
              </a:lnSpc>
              <a:buFont typeface="Wingdings" pitchFamily="2" charset="2"/>
              <a:buAutoNum type="arabicPeriod"/>
            </a:pPr>
            <a:r>
              <a:rPr lang="zh-CN" altLang="en-US" sz="2000" b="0"/>
              <a:t>   </a:t>
            </a:r>
            <a:r>
              <a:rPr lang="en-US" altLang="zh-CN" sz="2000" b="0"/>
              <a:t>while (v2 != NULL) { </a:t>
            </a:r>
            <a:r>
              <a:rPr lang="en-US" altLang="zh-CN" sz="2000" b="0">
                <a:solidFill>
                  <a:schemeClr val="folHlink"/>
                </a:solidFill>
              </a:rPr>
              <a:t>//</a:t>
            </a:r>
            <a:r>
              <a:rPr lang="zh-CN" altLang="en-US" sz="2000" b="0">
                <a:solidFill>
                  <a:schemeClr val="folHlink"/>
                </a:solidFill>
              </a:rPr>
              <a:t>还未颠倒完，循环</a:t>
            </a:r>
          </a:p>
          <a:p>
            <a:pPr marL="914400" lvl="1" indent="-457200" eaLnBrk="1" hangingPunct="1">
              <a:lnSpc>
                <a:spcPct val="90000"/>
              </a:lnSpc>
              <a:buFont typeface="Wingdings" pitchFamily="2" charset="2"/>
              <a:buAutoNum type="arabicPeriod"/>
            </a:pPr>
            <a:r>
              <a:rPr lang="zh-CN" altLang="en-US" sz="2000" b="0"/>
              <a:t>      </a:t>
            </a:r>
            <a:r>
              <a:rPr lang="en-US" altLang="zh-CN" sz="2000" b="0"/>
              <a:t>p = v2-&gt;next;</a:t>
            </a:r>
          </a:p>
          <a:p>
            <a:pPr marL="914400" lvl="1" indent="-457200" eaLnBrk="1" hangingPunct="1">
              <a:lnSpc>
                <a:spcPct val="90000"/>
              </a:lnSpc>
              <a:buFont typeface="Wingdings" pitchFamily="2" charset="2"/>
              <a:buAutoNum type="arabicPeriod"/>
            </a:pPr>
            <a:r>
              <a:rPr lang="en-US" altLang="zh-CN" sz="2000" b="0"/>
              <a:t>      v2-&gt;next = v1;</a:t>
            </a:r>
          </a:p>
          <a:p>
            <a:pPr marL="914400" lvl="1" indent="-457200" eaLnBrk="1" hangingPunct="1">
              <a:lnSpc>
                <a:spcPct val="90000"/>
              </a:lnSpc>
              <a:buFont typeface="Wingdings" pitchFamily="2" charset="2"/>
              <a:buAutoNum type="arabicPeriod"/>
            </a:pPr>
            <a:r>
              <a:rPr lang="en-US" altLang="zh-CN" sz="2000" b="0"/>
              <a:t>      v1 = v2;</a:t>
            </a:r>
          </a:p>
          <a:p>
            <a:pPr marL="914400" lvl="1" indent="-457200" eaLnBrk="1" hangingPunct="1">
              <a:lnSpc>
                <a:spcPct val="90000"/>
              </a:lnSpc>
              <a:buFont typeface="Wingdings" pitchFamily="2" charset="2"/>
              <a:buAutoNum type="arabicPeriod"/>
            </a:pPr>
            <a:r>
              <a:rPr lang="en-US" altLang="zh-CN" sz="2000" b="0"/>
              <a:t>      v2 = p;</a:t>
            </a:r>
          </a:p>
          <a:p>
            <a:pPr marL="914400" lvl="1" indent="-457200" eaLnBrk="1" hangingPunct="1">
              <a:lnSpc>
                <a:spcPct val="90000"/>
              </a:lnSpc>
              <a:buFont typeface="Wingdings" pitchFamily="2" charset="2"/>
              <a:buAutoNum type="arabicPeriod"/>
            </a:pPr>
            <a:r>
              <a:rPr lang="en-US" altLang="zh-CN" sz="2000" b="0"/>
              <a:t>   }</a:t>
            </a:r>
          </a:p>
          <a:p>
            <a:pPr marL="914400" lvl="1" indent="-457200" eaLnBrk="1" hangingPunct="1">
              <a:lnSpc>
                <a:spcPct val="90000"/>
              </a:lnSpc>
              <a:buFont typeface="Wingdings" pitchFamily="2" charset="2"/>
              <a:buAutoNum type="arabicPeriod"/>
            </a:pPr>
            <a:r>
              <a:rPr lang="en-US" altLang="zh-CN" sz="2000" b="0"/>
              <a:t>   </a:t>
            </a:r>
            <a:r>
              <a:rPr lang="en-US" altLang="zh-CN" sz="2000" b="0">
                <a:solidFill>
                  <a:srgbClr val="0066FF"/>
                </a:solidFill>
              </a:rPr>
              <a:t>*hpt = v1</a:t>
            </a:r>
            <a:r>
              <a:rPr lang="en-US" altLang="zh-CN" sz="2000" b="0"/>
              <a:t>;</a:t>
            </a:r>
          </a:p>
          <a:p>
            <a:pPr marL="914400" lvl="1" indent="-457200" eaLnBrk="1" hangingPunct="1">
              <a:lnSpc>
                <a:spcPct val="90000"/>
              </a:lnSpc>
              <a:buFont typeface="Wingdings" pitchFamily="2" charset="2"/>
              <a:buAutoNum type="arabicPeriod"/>
            </a:pPr>
            <a:r>
              <a:rPr lang="en-US" altLang="zh-CN" sz="2000" b="0"/>
              <a:t>}</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1BB36B1F-D9B6-73A8-2C78-74B537EFE98C}"/>
              </a:ext>
            </a:extLst>
          </p:cNvPr>
          <p:cNvSpPr>
            <a:spLocks noGrp="1" noChangeArrowheads="1"/>
          </p:cNvSpPr>
          <p:nvPr>
            <p:ph type="title"/>
          </p:nvPr>
        </p:nvSpPr>
        <p:spPr/>
        <p:txBody>
          <a:bodyPr/>
          <a:lstStyle/>
          <a:p>
            <a:pPr eaLnBrk="1" hangingPunct="1"/>
            <a:r>
              <a:rPr lang="zh-CN" altLang="en-US"/>
              <a:t>例</a:t>
            </a:r>
            <a:r>
              <a:rPr lang="en-US" altLang="zh-CN"/>
              <a:t>7.5 (</a:t>
            </a:r>
            <a:r>
              <a:rPr lang="zh-CN" altLang="en-US"/>
              <a:t>补</a:t>
            </a:r>
            <a:r>
              <a:rPr lang="en-US" altLang="zh-CN"/>
              <a:t>)</a:t>
            </a:r>
          </a:p>
        </p:txBody>
      </p:sp>
      <p:sp>
        <p:nvSpPr>
          <p:cNvPr id="171011" name="Rectangle 3">
            <a:extLst>
              <a:ext uri="{FF2B5EF4-FFF2-40B4-BE49-F238E27FC236}">
                <a16:creationId xmlns:a16="http://schemas.microsoft.com/office/drawing/2014/main" id="{EBBA504C-5455-7E94-98C3-672FE452FB32}"/>
              </a:ext>
            </a:extLst>
          </p:cNvPr>
          <p:cNvSpPr>
            <a:spLocks noGrp="1" noChangeArrowheads="1"/>
          </p:cNvSpPr>
          <p:nvPr>
            <p:ph type="body" idx="1"/>
          </p:nvPr>
        </p:nvSpPr>
        <p:spPr>
          <a:xfrm>
            <a:off x="827088" y="1772815"/>
            <a:ext cx="7866062" cy="4359697"/>
          </a:xfrm>
        </p:spPr>
        <p:txBody>
          <a:bodyPr/>
          <a:lstStyle/>
          <a:p>
            <a:pPr marL="533400" indent="-533400" eaLnBrk="1" hangingPunct="1">
              <a:lnSpc>
                <a:spcPct val="90000"/>
              </a:lnSpc>
            </a:pPr>
            <a:r>
              <a:rPr lang="zh-CN" altLang="en-US" sz="2000" b="0">
                <a:solidFill>
                  <a:srgbClr val="0066FF"/>
                </a:solidFill>
              </a:rPr>
              <a:t>不带辅助表元</a:t>
            </a:r>
            <a:r>
              <a:rPr lang="zh-CN" altLang="en-US" sz="2000" b="0"/>
              <a:t>链表颠倒，已知链表首指针</a:t>
            </a:r>
            <a:r>
              <a:rPr lang="en-US" altLang="zh-CN" sz="2000" b="0"/>
              <a:t>,</a:t>
            </a:r>
            <a:r>
              <a:rPr lang="zh-CN" altLang="en-US" sz="2000"/>
              <a:t>返回链表首指针</a:t>
            </a:r>
          </a:p>
          <a:p>
            <a:pPr marL="914400" lvl="1" indent="-457200" eaLnBrk="1" hangingPunct="1">
              <a:lnSpc>
                <a:spcPct val="90000"/>
              </a:lnSpc>
              <a:buFont typeface="Wingdings" pitchFamily="2" charset="2"/>
              <a:buAutoNum type="arabicPeriod"/>
            </a:pPr>
            <a:r>
              <a:rPr lang="en-US" altLang="zh-CN" sz="2000" b="0"/>
              <a:t>struct intNode * reverse (struct intNode </a:t>
            </a:r>
            <a:r>
              <a:rPr lang="en-US" altLang="zh-CN" sz="2000" b="0">
                <a:solidFill>
                  <a:srgbClr val="0066FF"/>
                </a:solidFill>
              </a:rPr>
              <a:t>*h</a:t>
            </a:r>
            <a:r>
              <a:rPr lang="en-US" altLang="zh-CN" sz="2000" b="0"/>
              <a:t>){</a:t>
            </a:r>
          </a:p>
          <a:p>
            <a:pPr marL="914400" lvl="1" indent="-457200" eaLnBrk="1" hangingPunct="1">
              <a:lnSpc>
                <a:spcPct val="90000"/>
              </a:lnSpc>
              <a:buFont typeface="Wingdings" pitchFamily="2" charset="2"/>
              <a:buAutoNum type="arabicPeriod"/>
            </a:pPr>
            <a:r>
              <a:rPr lang="en-US" altLang="zh-CN" sz="2000" b="0"/>
              <a:t>   struct intNode *p, *v1, *v2;</a:t>
            </a:r>
          </a:p>
          <a:p>
            <a:pPr marL="914400" lvl="1" indent="-457200" eaLnBrk="1" hangingPunct="1">
              <a:lnSpc>
                <a:spcPct val="90000"/>
              </a:lnSpc>
              <a:buFont typeface="Wingdings" pitchFamily="2" charset="2"/>
              <a:buAutoNum type="arabicPeriod"/>
            </a:pPr>
            <a:r>
              <a:rPr lang="en-US" altLang="zh-CN" sz="2000" b="0"/>
              <a:t>   </a:t>
            </a:r>
            <a:r>
              <a:rPr lang="en-US" altLang="zh-CN" sz="2000" b="0">
                <a:solidFill>
                  <a:srgbClr val="0066FF"/>
                </a:solidFill>
              </a:rPr>
              <a:t>v2 = h</a:t>
            </a:r>
            <a:r>
              <a:rPr lang="en-US" altLang="zh-CN" sz="2000" b="0"/>
              <a:t>;  	</a:t>
            </a:r>
            <a:r>
              <a:rPr lang="en-US" altLang="zh-CN" sz="2000" b="0">
                <a:solidFill>
                  <a:schemeClr val="folHlink"/>
                </a:solidFill>
              </a:rPr>
              <a:t>//v2 </a:t>
            </a:r>
            <a:r>
              <a:rPr lang="zh-CN" altLang="en-US" sz="2000" b="0">
                <a:solidFill>
                  <a:schemeClr val="folHlink"/>
                </a:solidFill>
              </a:rPr>
              <a:t>指向链表的首表元</a:t>
            </a:r>
          </a:p>
          <a:p>
            <a:pPr marL="914400" lvl="1" indent="-457200" eaLnBrk="1" hangingPunct="1">
              <a:lnSpc>
                <a:spcPct val="90000"/>
              </a:lnSpc>
              <a:buFont typeface="Wingdings" pitchFamily="2" charset="2"/>
              <a:buAutoNum type="arabicPeriod"/>
            </a:pPr>
            <a:r>
              <a:rPr lang="zh-CN" altLang="en-US" sz="2000" b="0"/>
              <a:t>   </a:t>
            </a:r>
            <a:r>
              <a:rPr lang="en-US" altLang="zh-CN" sz="2000" b="0"/>
              <a:t>v1 = NULL; 	</a:t>
            </a:r>
            <a:r>
              <a:rPr lang="en-US" altLang="zh-CN" sz="2000" b="0">
                <a:solidFill>
                  <a:schemeClr val="folHlink"/>
                </a:solidFill>
              </a:rPr>
              <a:t>//</a:t>
            </a:r>
            <a:r>
              <a:rPr lang="zh-CN" altLang="en-US" sz="2000" b="0">
                <a:solidFill>
                  <a:schemeClr val="folHlink"/>
                </a:solidFill>
              </a:rPr>
              <a:t>开始颠倒时，已颠倒部分为空</a:t>
            </a:r>
          </a:p>
          <a:p>
            <a:pPr marL="914400" lvl="1" indent="-457200" eaLnBrk="1" hangingPunct="1">
              <a:lnSpc>
                <a:spcPct val="90000"/>
              </a:lnSpc>
              <a:buFont typeface="Wingdings" pitchFamily="2" charset="2"/>
              <a:buAutoNum type="arabicPeriod"/>
            </a:pPr>
            <a:r>
              <a:rPr lang="zh-CN" altLang="en-US" sz="2000" b="0"/>
              <a:t>   </a:t>
            </a:r>
            <a:r>
              <a:rPr lang="en-US" altLang="zh-CN" sz="2000" b="0"/>
              <a:t>while (v2 != NULL) { </a:t>
            </a:r>
            <a:r>
              <a:rPr lang="en-US" altLang="zh-CN" sz="2000" b="0">
                <a:solidFill>
                  <a:schemeClr val="folHlink"/>
                </a:solidFill>
              </a:rPr>
              <a:t>//</a:t>
            </a:r>
            <a:r>
              <a:rPr lang="zh-CN" altLang="en-US" sz="2000" b="0">
                <a:solidFill>
                  <a:schemeClr val="folHlink"/>
                </a:solidFill>
              </a:rPr>
              <a:t>还未颠倒完，循环</a:t>
            </a:r>
          </a:p>
          <a:p>
            <a:pPr marL="914400" lvl="1" indent="-457200" eaLnBrk="1" hangingPunct="1">
              <a:lnSpc>
                <a:spcPct val="90000"/>
              </a:lnSpc>
              <a:buFont typeface="Wingdings" pitchFamily="2" charset="2"/>
              <a:buAutoNum type="arabicPeriod"/>
            </a:pPr>
            <a:r>
              <a:rPr lang="zh-CN" altLang="en-US" sz="2000" b="0"/>
              <a:t>      </a:t>
            </a:r>
            <a:r>
              <a:rPr lang="en-US" altLang="zh-CN" sz="2000" b="0"/>
              <a:t>p = v2-&gt;next;</a:t>
            </a:r>
          </a:p>
          <a:p>
            <a:pPr marL="914400" lvl="1" indent="-457200" eaLnBrk="1" hangingPunct="1">
              <a:lnSpc>
                <a:spcPct val="90000"/>
              </a:lnSpc>
              <a:buFont typeface="Wingdings" pitchFamily="2" charset="2"/>
              <a:buAutoNum type="arabicPeriod"/>
            </a:pPr>
            <a:r>
              <a:rPr lang="en-US" altLang="zh-CN" sz="2000" b="0"/>
              <a:t>      v2-&gt;next = v1;</a:t>
            </a:r>
          </a:p>
          <a:p>
            <a:pPr marL="914400" lvl="1" indent="-457200" eaLnBrk="1" hangingPunct="1">
              <a:lnSpc>
                <a:spcPct val="90000"/>
              </a:lnSpc>
              <a:buFont typeface="Wingdings" pitchFamily="2" charset="2"/>
              <a:buAutoNum type="arabicPeriod"/>
            </a:pPr>
            <a:r>
              <a:rPr lang="en-US" altLang="zh-CN" sz="2000" b="0"/>
              <a:t>      v1 = v2;</a:t>
            </a:r>
          </a:p>
          <a:p>
            <a:pPr marL="914400" lvl="1" indent="-457200" eaLnBrk="1" hangingPunct="1">
              <a:lnSpc>
                <a:spcPct val="90000"/>
              </a:lnSpc>
              <a:buFont typeface="Wingdings" pitchFamily="2" charset="2"/>
              <a:buAutoNum type="arabicPeriod"/>
            </a:pPr>
            <a:r>
              <a:rPr lang="en-US" altLang="zh-CN" sz="2000" b="0"/>
              <a:t>      v2 = p;</a:t>
            </a:r>
          </a:p>
          <a:p>
            <a:pPr marL="914400" lvl="1" indent="-457200" eaLnBrk="1" hangingPunct="1">
              <a:lnSpc>
                <a:spcPct val="90000"/>
              </a:lnSpc>
              <a:buFont typeface="Wingdings" pitchFamily="2" charset="2"/>
              <a:buAutoNum type="arabicPeriod"/>
            </a:pPr>
            <a:r>
              <a:rPr lang="en-US" altLang="zh-CN" sz="2000" b="0"/>
              <a:t>   }</a:t>
            </a:r>
          </a:p>
          <a:p>
            <a:pPr marL="914400" lvl="1" indent="-457200" eaLnBrk="1" hangingPunct="1">
              <a:lnSpc>
                <a:spcPct val="90000"/>
              </a:lnSpc>
              <a:buFont typeface="Wingdings" pitchFamily="2" charset="2"/>
              <a:buAutoNum type="arabicPeriod"/>
            </a:pPr>
            <a:r>
              <a:rPr lang="en-US" altLang="zh-CN" sz="2000" b="0"/>
              <a:t>   </a:t>
            </a:r>
            <a:r>
              <a:rPr lang="en-US" altLang="zh-CN" sz="2000" b="0">
                <a:solidFill>
                  <a:srgbClr val="0066FF"/>
                </a:solidFill>
              </a:rPr>
              <a:t>return  v1</a:t>
            </a:r>
            <a:r>
              <a:rPr lang="en-US" altLang="zh-CN" sz="2000" b="0"/>
              <a:t>;</a:t>
            </a:r>
          </a:p>
          <a:p>
            <a:pPr marL="914400" lvl="1" indent="-457200" eaLnBrk="1" hangingPunct="1">
              <a:lnSpc>
                <a:spcPct val="90000"/>
              </a:lnSpc>
              <a:buFont typeface="Wingdings" pitchFamily="2" charset="2"/>
              <a:buAutoNum type="arabicPeriod"/>
            </a:pPr>
            <a:r>
              <a:rPr lang="en-US" altLang="zh-CN" sz="2000" b="0"/>
              <a:t>}</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C37BF257-B500-2D0D-4FA3-6908A6B74571}"/>
              </a:ext>
            </a:extLst>
          </p:cNvPr>
          <p:cNvSpPr>
            <a:spLocks noGrp="1" noChangeArrowheads="1"/>
          </p:cNvSpPr>
          <p:nvPr>
            <p:ph type="title"/>
          </p:nvPr>
        </p:nvSpPr>
        <p:spPr/>
        <p:txBody>
          <a:bodyPr/>
          <a:lstStyle/>
          <a:p>
            <a:pPr eaLnBrk="1" hangingPunct="1"/>
            <a:r>
              <a:rPr lang="zh-CN" altLang="en-US"/>
              <a:t>例</a:t>
            </a:r>
            <a:r>
              <a:rPr lang="en-US" altLang="zh-CN"/>
              <a:t>7.6</a:t>
            </a:r>
          </a:p>
        </p:txBody>
      </p:sp>
      <p:sp>
        <p:nvSpPr>
          <p:cNvPr id="825347" name="Rectangle 3">
            <a:extLst>
              <a:ext uri="{FF2B5EF4-FFF2-40B4-BE49-F238E27FC236}">
                <a16:creationId xmlns:a16="http://schemas.microsoft.com/office/drawing/2014/main" id="{D7C2AB24-219B-4293-8304-BBF21703275B}"/>
              </a:ext>
            </a:extLst>
          </p:cNvPr>
          <p:cNvSpPr>
            <a:spLocks noGrp="1" noChangeArrowheads="1"/>
          </p:cNvSpPr>
          <p:nvPr>
            <p:ph type="body" idx="1"/>
          </p:nvPr>
        </p:nvSpPr>
        <p:spPr>
          <a:xfrm>
            <a:off x="1196528" y="1733574"/>
            <a:ext cx="7695950" cy="4503738"/>
          </a:xfrm>
        </p:spPr>
        <p:txBody>
          <a:bodyPr/>
          <a:lstStyle/>
          <a:p>
            <a:pPr eaLnBrk="1" hangingPunct="1">
              <a:lnSpc>
                <a:spcPct val="90000"/>
              </a:lnSpc>
            </a:pPr>
            <a:r>
              <a:rPr lang="en-US" altLang="zh-CN" sz="1800" b="0"/>
              <a:t>【</a:t>
            </a:r>
            <a:r>
              <a:rPr lang="zh-CN" altLang="en-US" sz="1800" b="0" i="1"/>
              <a:t>例</a:t>
            </a:r>
            <a:r>
              <a:rPr lang="en-US" altLang="zh-CN" sz="1800" b="0" i="1"/>
              <a:t>7.6】</a:t>
            </a:r>
            <a:r>
              <a:rPr lang="zh-CN" altLang="en-US" sz="1800" b="0" i="1"/>
              <a:t>编写一个多项式相加的函数。</a:t>
            </a:r>
          </a:p>
          <a:p>
            <a:pPr eaLnBrk="1" hangingPunct="1">
              <a:lnSpc>
                <a:spcPct val="90000"/>
              </a:lnSpc>
            </a:pPr>
            <a:r>
              <a:rPr lang="zh-CN" altLang="en-US" sz="1800" b="0"/>
              <a:t>一个多项式</a:t>
            </a:r>
          </a:p>
          <a:p>
            <a:pPr lvl="1" eaLnBrk="1" hangingPunct="1">
              <a:lnSpc>
                <a:spcPct val="90000"/>
              </a:lnSpc>
            </a:pPr>
            <a:r>
              <a:rPr lang="en-US" altLang="zh-CN" sz="1600" b="0"/>
              <a:t>pn(x)=a[n]*x</a:t>
            </a:r>
            <a:r>
              <a:rPr lang="en-US" altLang="zh-CN" sz="1600" b="0" baseline="30000"/>
              <a:t>n</a:t>
            </a:r>
            <a:r>
              <a:rPr lang="en-US" altLang="zh-CN" sz="1600" b="0"/>
              <a:t>+a[n-1]*x</a:t>
            </a:r>
            <a:r>
              <a:rPr lang="en-US" altLang="zh-CN" sz="1600" b="0" baseline="30000"/>
              <a:t>n-1</a:t>
            </a:r>
            <a:r>
              <a:rPr lang="en-US" altLang="zh-CN" sz="1600" b="0"/>
              <a:t>+ </a:t>
            </a:r>
            <a:r>
              <a:rPr lang="en-US" altLang="zh-CN" sz="1600" b="0">
                <a:latin typeface="Arial" panose="020B0604020202020204" pitchFamily="34" charset="0"/>
              </a:rPr>
              <a:t>…</a:t>
            </a:r>
            <a:r>
              <a:rPr lang="en-US" altLang="zh-CN" sz="1600" b="0"/>
              <a:t> + a[1]*x</a:t>
            </a:r>
            <a:r>
              <a:rPr lang="en-US" altLang="zh-CN" sz="1600" b="0" baseline="30000"/>
              <a:t>1</a:t>
            </a:r>
            <a:r>
              <a:rPr lang="en-US" altLang="zh-CN" sz="1600" b="0"/>
              <a:t>+a[0]</a:t>
            </a:r>
            <a:br>
              <a:rPr lang="en-US" altLang="zh-CN" sz="1600" b="0"/>
            </a:br>
            <a:r>
              <a:rPr lang="zh-CN" altLang="en-US" sz="1600" b="0"/>
              <a:t>用一个链表来表示。</a:t>
            </a:r>
          </a:p>
          <a:p>
            <a:pPr lvl="1" eaLnBrk="1" hangingPunct="1">
              <a:lnSpc>
                <a:spcPct val="90000"/>
              </a:lnSpc>
            </a:pPr>
            <a:r>
              <a:rPr lang="zh-CN" altLang="en-US" sz="1600" b="0"/>
              <a:t>如</a:t>
            </a:r>
            <a:r>
              <a:rPr lang="en-US" altLang="zh-CN" sz="1600" b="0"/>
              <a:t>p(x)=3*x</a:t>
            </a:r>
            <a:r>
              <a:rPr lang="en-US" altLang="zh-CN" sz="1600" b="0" baseline="30000"/>
              <a:t>3</a:t>
            </a:r>
            <a:r>
              <a:rPr lang="en-US" altLang="zh-CN" sz="1600" b="0"/>
              <a:t>-1*x</a:t>
            </a:r>
            <a:r>
              <a:rPr lang="en-US" altLang="zh-CN" sz="1600" b="0" baseline="30000"/>
              <a:t>1</a:t>
            </a:r>
            <a:r>
              <a:rPr lang="en-US" altLang="zh-CN" sz="1600" b="0"/>
              <a:t>+5</a:t>
            </a:r>
            <a:r>
              <a:rPr lang="zh-CN" altLang="en-US" sz="1600" b="0"/>
              <a:t>用如图</a:t>
            </a:r>
            <a:r>
              <a:rPr lang="en-US" altLang="zh-CN" sz="1600" b="0"/>
              <a:t>7-10</a:t>
            </a:r>
            <a:r>
              <a:rPr lang="zh-CN" altLang="en-US" sz="1600" b="0"/>
              <a:t>所示的</a:t>
            </a:r>
            <a:r>
              <a:rPr lang="zh-CN" altLang="en-US" sz="1600" b="0">
                <a:solidFill>
                  <a:srgbClr val="0066FF"/>
                </a:solidFill>
              </a:rPr>
              <a:t>带辅助表元</a:t>
            </a:r>
            <a:r>
              <a:rPr lang="zh-CN" altLang="en-US" sz="1600" b="0"/>
              <a:t>链表来表示。其中表元是由</a:t>
            </a:r>
            <a:r>
              <a:rPr lang="zh-CN" altLang="en-US" sz="1600"/>
              <a:t>幂次、系数</a:t>
            </a:r>
            <a:r>
              <a:rPr lang="zh-CN" altLang="en-US" sz="1600" b="0"/>
              <a:t>和后继表元指针三个成分组成的结构。现编写用这种形式表示的两个多项式相加函数</a:t>
            </a:r>
            <a:r>
              <a:rPr lang="en-US" altLang="zh-CN" sz="1600" b="0"/>
              <a:t>addpoly()</a:t>
            </a:r>
            <a:r>
              <a:rPr lang="zh-CN" altLang="en-US" sz="1600" b="0"/>
              <a:t>。</a:t>
            </a:r>
          </a:p>
          <a:p>
            <a:pPr algn="just" eaLnBrk="1" hangingPunct="1">
              <a:lnSpc>
                <a:spcPct val="90000"/>
              </a:lnSpc>
              <a:buFont typeface="Wingdings" pitchFamily="2" charset="2"/>
              <a:buNone/>
            </a:pPr>
            <a:endParaRPr lang="zh-CN" altLang="en-US" sz="1800" b="0">
              <a:effectLst>
                <a:outerShdw blurRad="38100" dist="38100" dir="2700000" algn="tl">
                  <a:srgbClr val="C0C0C0"/>
                </a:outerShdw>
              </a:effectLst>
              <a:latin typeface="宋体" panose="02010600030101010101" pitchFamily="2" charset="-122"/>
            </a:endParaRPr>
          </a:p>
          <a:p>
            <a:pPr algn="just" eaLnBrk="1" hangingPunct="1">
              <a:lnSpc>
                <a:spcPct val="90000"/>
              </a:lnSpc>
              <a:buFont typeface="Wingdings" pitchFamily="2" charset="2"/>
              <a:buNone/>
            </a:pPr>
            <a:r>
              <a:rPr lang="en-US" altLang="zh-CN" sz="1800" b="0">
                <a:effectLst>
                  <a:outerShdw blurRad="38100" dist="38100" dir="2700000" algn="tl">
                    <a:srgbClr val="C0C0C0"/>
                  </a:outerShdw>
                </a:effectLst>
                <a:latin typeface="宋体" panose="02010600030101010101" pitchFamily="2" charset="-122"/>
              </a:rPr>
              <a:t>p             -1             3              1              0</a:t>
            </a:r>
          </a:p>
          <a:p>
            <a:pPr algn="just" eaLnBrk="1" hangingPunct="1">
              <a:lnSpc>
                <a:spcPct val="90000"/>
              </a:lnSpc>
              <a:buFont typeface="Wingdings" pitchFamily="2" charset="2"/>
              <a:buNone/>
            </a:pPr>
            <a:r>
              <a:rPr lang="en-US" altLang="zh-CN" sz="1800" b="0">
                <a:effectLst>
                  <a:outerShdw blurRad="38100" dist="38100" dir="2700000" algn="tl">
                    <a:srgbClr val="C0C0C0"/>
                  </a:outerShdw>
                </a:effectLst>
                <a:latin typeface="宋体" panose="02010600030101010101" pitchFamily="2" charset="-122"/>
              </a:rPr>
              <a:t>      </a:t>
            </a:r>
          </a:p>
          <a:p>
            <a:pPr algn="just" eaLnBrk="1" hangingPunct="1">
              <a:lnSpc>
                <a:spcPct val="90000"/>
              </a:lnSpc>
              <a:buFont typeface="Wingdings" pitchFamily="2" charset="2"/>
              <a:buNone/>
            </a:pPr>
            <a:r>
              <a:rPr lang="en-US" altLang="zh-CN" sz="1800" b="0">
                <a:effectLst>
                  <a:outerShdw blurRad="38100" dist="38100" dir="2700000" algn="tl">
                    <a:srgbClr val="C0C0C0"/>
                  </a:outerShdw>
                </a:effectLst>
                <a:latin typeface="宋体" panose="02010600030101010101" pitchFamily="2" charset="-122"/>
              </a:rPr>
              <a:t>             //////          3              -1             5</a:t>
            </a:r>
          </a:p>
          <a:p>
            <a:pPr algn="just" eaLnBrk="1" hangingPunct="1">
              <a:lnSpc>
                <a:spcPct val="90000"/>
              </a:lnSpc>
              <a:buFont typeface="Wingdings" pitchFamily="2" charset="2"/>
              <a:buNone/>
            </a:pPr>
            <a:r>
              <a:rPr lang="en-US" altLang="zh-CN" sz="1800" b="0">
                <a:effectLst>
                  <a:outerShdw blurRad="38100" dist="38100" dir="2700000" algn="tl">
                    <a:srgbClr val="C0C0C0"/>
                  </a:outerShdw>
                </a:effectLst>
                <a:latin typeface="宋体" panose="02010600030101010101" pitchFamily="2" charset="-122"/>
              </a:rPr>
              <a:t>             </a:t>
            </a:r>
          </a:p>
          <a:p>
            <a:pPr algn="just" eaLnBrk="1" hangingPunct="1">
              <a:lnSpc>
                <a:spcPct val="90000"/>
              </a:lnSpc>
              <a:buFont typeface="Wingdings" pitchFamily="2" charset="2"/>
              <a:buNone/>
            </a:pPr>
            <a:r>
              <a:rPr lang="en-US" altLang="zh-CN" sz="1800" b="0">
                <a:effectLst>
                  <a:outerShdw blurRad="38100" dist="38100" dir="2700000" algn="tl">
                    <a:srgbClr val="C0C0C0"/>
                  </a:outerShdw>
                </a:effectLst>
                <a:latin typeface="宋体" panose="02010600030101010101" pitchFamily="2" charset="-122"/>
              </a:rPr>
              <a:t>                                                          NULL</a:t>
            </a:r>
          </a:p>
          <a:p>
            <a:pPr algn="just" eaLnBrk="1" hangingPunct="1">
              <a:lnSpc>
                <a:spcPct val="90000"/>
              </a:lnSpc>
              <a:buFont typeface="Wingdings" pitchFamily="2" charset="2"/>
              <a:buNone/>
            </a:pPr>
            <a:r>
              <a:rPr lang="en-US" altLang="zh-CN" sz="1800" b="0">
                <a:effectLst>
                  <a:outerShdw blurRad="38100" dist="38100" dir="2700000" algn="tl">
                    <a:srgbClr val="C0C0C0"/>
                  </a:outerShdw>
                </a:effectLst>
                <a:latin typeface="宋体" panose="02010600030101010101" pitchFamily="2" charset="-122"/>
              </a:rPr>
              <a:t>               </a:t>
            </a:r>
          </a:p>
          <a:p>
            <a:pPr algn="just" eaLnBrk="1" hangingPunct="1">
              <a:lnSpc>
                <a:spcPct val="90000"/>
              </a:lnSpc>
              <a:buFont typeface="Wingdings" pitchFamily="2" charset="2"/>
              <a:buNone/>
            </a:pPr>
            <a:r>
              <a:rPr lang="en-US" altLang="zh-CN" sz="1800" b="0">
                <a:effectLst>
                  <a:outerShdw blurRad="38100" dist="38100" dir="2700000" algn="tl">
                    <a:srgbClr val="C0C0C0"/>
                  </a:outerShdw>
                </a:effectLst>
                <a:latin typeface="宋体" panose="02010600030101010101" pitchFamily="2" charset="-122"/>
              </a:rPr>
              <a:t>                           </a:t>
            </a:r>
            <a:r>
              <a:rPr lang="zh-CN" altLang="en-US" sz="1800" b="0">
                <a:effectLst>
                  <a:outerShdw blurRad="38100" dist="38100" dir="2700000" algn="tl">
                    <a:srgbClr val="C0C0C0"/>
                  </a:outerShdw>
                </a:effectLst>
                <a:latin typeface="宋体" panose="02010600030101010101" pitchFamily="2" charset="-122"/>
              </a:rPr>
              <a:t>图</a:t>
            </a:r>
            <a:r>
              <a:rPr lang="en-US" altLang="zh-CN" sz="1800" b="0">
                <a:effectLst>
                  <a:outerShdw blurRad="38100" dist="38100" dir="2700000" algn="tl">
                    <a:srgbClr val="C0C0C0"/>
                  </a:outerShdw>
                </a:effectLst>
                <a:latin typeface="宋体" panose="02010600030101010101" pitchFamily="2" charset="-122"/>
              </a:rPr>
              <a:t>7-10  </a:t>
            </a:r>
            <a:r>
              <a:rPr lang="zh-CN" altLang="en-US" sz="1800" b="0">
                <a:effectLst>
                  <a:outerShdw blurRad="38100" dist="38100" dir="2700000" algn="tl">
                    <a:srgbClr val="C0C0C0"/>
                  </a:outerShdw>
                </a:effectLst>
                <a:latin typeface="宋体" panose="02010600030101010101" pitchFamily="2" charset="-122"/>
              </a:rPr>
              <a:t>多项式的链表表示</a:t>
            </a:r>
            <a:endParaRPr lang="zh-CN" altLang="en-US" sz="2400" b="0">
              <a:effectLst>
                <a:outerShdw blurRad="38100" dist="38100" dir="2700000" algn="tl">
                  <a:srgbClr val="C0C0C0"/>
                </a:outerShdw>
              </a:effectLst>
              <a:latin typeface="宋体" panose="02010600030101010101" pitchFamily="2" charset="-122"/>
            </a:endParaRPr>
          </a:p>
          <a:p>
            <a:pPr eaLnBrk="1" hangingPunct="1">
              <a:lnSpc>
                <a:spcPct val="90000"/>
              </a:lnSpc>
              <a:buFont typeface="Wingdings" pitchFamily="2" charset="2"/>
              <a:buNone/>
            </a:pPr>
            <a:endParaRPr lang="en-US" altLang="zh-CN" sz="1800" b="0"/>
          </a:p>
        </p:txBody>
      </p:sp>
      <p:grpSp>
        <p:nvGrpSpPr>
          <p:cNvPr id="172036" name="Group 4">
            <a:extLst>
              <a:ext uri="{FF2B5EF4-FFF2-40B4-BE49-F238E27FC236}">
                <a16:creationId xmlns:a16="http://schemas.microsoft.com/office/drawing/2014/main" id="{046D890D-E468-632A-279A-914535CBDA28}"/>
              </a:ext>
            </a:extLst>
          </p:cNvPr>
          <p:cNvGrpSpPr>
            <a:grpSpLocks/>
          </p:cNvGrpSpPr>
          <p:nvPr/>
        </p:nvGrpSpPr>
        <p:grpSpPr bwMode="auto">
          <a:xfrm>
            <a:off x="990600" y="3810000"/>
            <a:ext cx="7772400" cy="1600200"/>
            <a:chOff x="624" y="2304"/>
            <a:chExt cx="4992" cy="1152"/>
          </a:xfrm>
        </p:grpSpPr>
        <p:sp>
          <p:nvSpPr>
            <p:cNvPr id="172037" name="Line 5">
              <a:extLst>
                <a:ext uri="{FF2B5EF4-FFF2-40B4-BE49-F238E27FC236}">
                  <a16:creationId xmlns:a16="http://schemas.microsoft.com/office/drawing/2014/main" id="{2952DA67-E3BC-ECCE-CB4B-08B2930D1D65}"/>
                </a:ext>
              </a:extLst>
            </p:cNvPr>
            <p:cNvSpPr>
              <a:spLocks noChangeShapeType="1"/>
            </p:cNvSpPr>
            <p:nvPr/>
          </p:nvSpPr>
          <p:spPr bwMode="auto">
            <a:xfrm>
              <a:off x="624" y="2304"/>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38" name="Line 6">
              <a:extLst>
                <a:ext uri="{FF2B5EF4-FFF2-40B4-BE49-F238E27FC236}">
                  <a16:creationId xmlns:a16="http://schemas.microsoft.com/office/drawing/2014/main" id="{C80BC0ED-1608-FB4C-EACF-FB2CFD43B49C}"/>
                </a:ext>
              </a:extLst>
            </p:cNvPr>
            <p:cNvSpPr>
              <a:spLocks noChangeShapeType="1"/>
            </p:cNvSpPr>
            <p:nvPr/>
          </p:nvSpPr>
          <p:spPr bwMode="auto">
            <a:xfrm>
              <a:off x="1104" y="230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39" name="Line 7">
              <a:extLst>
                <a:ext uri="{FF2B5EF4-FFF2-40B4-BE49-F238E27FC236}">
                  <a16:creationId xmlns:a16="http://schemas.microsoft.com/office/drawing/2014/main" id="{61F41372-7D9B-B459-7B5F-962FA041A2C5}"/>
                </a:ext>
              </a:extLst>
            </p:cNvPr>
            <p:cNvSpPr>
              <a:spLocks noChangeShapeType="1"/>
            </p:cNvSpPr>
            <p:nvPr/>
          </p:nvSpPr>
          <p:spPr bwMode="auto">
            <a:xfrm flipH="1">
              <a:off x="624" y="2640"/>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0" name="Line 8">
              <a:extLst>
                <a:ext uri="{FF2B5EF4-FFF2-40B4-BE49-F238E27FC236}">
                  <a16:creationId xmlns:a16="http://schemas.microsoft.com/office/drawing/2014/main" id="{D6ECDECC-E4D7-E395-B36D-56FEEF51F839}"/>
                </a:ext>
              </a:extLst>
            </p:cNvPr>
            <p:cNvSpPr>
              <a:spLocks noChangeShapeType="1"/>
            </p:cNvSpPr>
            <p:nvPr/>
          </p:nvSpPr>
          <p:spPr bwMode="auto">
            <a:xfrm flipV="1">
              <a:off x="624" y="230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1" name="Line 9">
              <a:extLst>
                <a:ext uri="{FF2B5EF4-FFF2-40B4-BE49-F238E27FC236}">
                  <a16:creationId xmlns:a16="http://schemas.microsoft.com/office/drawing/2014/main" id="{5B7EAF93-FAA1-F65A-1423-A6F20A8C0C79}"/>
                </a:ext>
              </a:extLst>
            </p:cNvPr>
            <p:cNvSpPr>
              <a:spLocks noChangeShapeType="1"/>
            </p:cNvSpPr>
            <p:nvPr/>
          </p:nvSpPr>
          <p:spPr bwMode="auto">
            <a:xfrm>
              <a:off x="1536" y="2304"/>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2" name="Line 10">
              <a:extLst>
                <a:ext uri="{FF2B5EF4-FFF2-40B4-BE49-F238E27FC236}">
                  <a16:creationId xmlns:a16="http://schemas.microsoft.com/office/drawing/2014/main" id="{B98545AB-DF10-B573-0C7B-F174D523F7DB}"/>
                </a:ext>
              </a:extLst>
            </p:cNvPr>
            <p:cNvSpPr>
              <a:spLocks noChangeShapeType="1"/>
            </p:cNvSpPr>
            <p:nvPr/>
          </p:nvSpPr>
          <p:spPr bwMode="auto">
            <a:xfrm>
              <a:off x="2208" y="2304"/>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3" name="Line 11">
              <a:extLst>
                <a:ext uri="{FF2B5EF4-FFF2-40B4-BE49-F238E27FC236}">
                  <a16:creationId xmlns:a16="http://schemas.microsoft.com/office/drawing/2014/main" id="{8A4CAC68-4D96-4B92-8A22-217F3812157D}"/>
                </a:ext>
              </a:extLst>
            </p:cNvPr>
            <p:cNvSpPr>
              <a:spLocks noChangeShapeType="1"/>
            </p:cNvSpPr>
            <p:nvPr/>
          </p:nvSpPr>
          <p:spPr bwMode="auto">
            <a:xfrm flipH="1">
              <a:off x="1536" y="345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4" name="Line 12">
              <a:extLst>
                <a:ext uri="{FF2B5EF4-FFF2-40B4-BE49-F238E27FC236}">
                  <a16:creationId xmlns:a16="http://schemas.microsoft.com/office/drawing/2014/main" id="{1C7F8083-94D2-2906-9E1E-E041259C65E2}"/>
                </a:ext>
              </a:extLst>
            </p:cNvPr>
            <p:cNvSpPr>
              <a:spLocks noChangeShapeType="1"/>
            </p:cNvSpPr>
            <p:nvPr/>
          </p:nvSpPr>
          <p:spPr bwMode="auto">
            <a:xfrm flipV="1">
              <a:off x="1536" y="2304"/>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5" name="Line 13">
              <a:extLst>
                <a:ext uri="{FF2B5EF4-FFF2-40B4-BE49-F238E27FC236}">
                  <a16:creationId xmlns:a16="http://schemas.microsoft.com/office/drawing/2014/main" id="{8A380390-06C2-6AF0-EB93-46CF985F966B}"/>
                </a:ext>
              </a:extLst>
            </p:cNvPr>
            <p:cNvSpPr>
              <a:spLocks noChangeShapeType="1"/>
            </p:cNvSpPr>
            <p:nvPr/>
          </p:nvSpPr>
          <p:spPr bwMode="auto">
            <a:xfrm>
              <a:off x="1536" y="2688"/>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6" name="Line 14">
              <a:extLst>
                <a:ext uri="{FF2B5EF4-FFF2-40B4-BE49-F238E27FC236}">
                  <a16:creationId xmlns:a16="http://schemas.microsoft.com/office/drawing/2014/main" id="{0B2064AE-8882-2181-2EA4-7A6554FEE335}"/>
                </a:ext>
              </a:extLst>
            </p:cNvPr>
            <p:cNvSpPr>
              <a:spLocks noChangeShapeType="1"/>
            </p:cNvSpPr>
            <p:nvPr/>
          </p:nvSpPr>
          <p:spPr bwMode="auto">
            <a:xfrm>
              <a:off x="1536" y="3072"/>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7" name="Line 15">
              <a:extLst>
                <a:ext uri="{FF2B5EF4-FFF2-40B4-BE49-F238E27FC236}">
                  <a16:creationId xmlns:a16="http://schemas.microsoft.com/office/drawing/2014/main" id="{014C39C8-C80E-3CFA-398D-C4AEE6671F5D}"/>
                </a:ext>
              </a:extLst>
            </p:cNvPr>
            <p:cNvSpPr>
              <a:spLocks noChangeShapeType="1"/>
            </p:cNvSpPr>
            <p:nvPr/>
          </p:nvSpPr>
          <p:spPr bwMode="auto">
            <a:xfrm>
              <a:off x="2688" y="2304"/>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8" name="Line 16">
              <a:extLst>
                <a:ext uri="{FF2B5EF4-FFF2-40B4-BE49-F238E27FC236}">
                  <a16:creationId xmlns:a16="http://schemas.microsoft.com/office/drawing/2014/main" id="{4EB20743-6B24-D123-D253-19CC2DAC66F1}"/>
                </a:ext>
              </a:extLst>
            </p:cNvPr>
            <p:cNvSpPr>
              <a:spLocks noChangeShapeType="1"/>
            </p:cNvSpPr>
            <p:nvPr/>
          </p:nvSpPr>
          <p:spPr bwMode="auto">
            <a:xfrm>
              <a:off x="3360" y="2304"/>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9" name="Line 17">
              <a:extLst>
                <a:ext uri="{FF2B5EF4-FFF2-40B4-BE49-F238E27FC236}">
                  <a16:creationId xmlns:a16="http://schemas.microsoft.com/office/drawing/2014/main" id="{272EE163-508E-9081-1693-707DAEE6DA62}"/>
                </a:ext>
              </a:extLst>
            </p:cNvPr>
            <p:cNvSpPr>
              <a:spLocks noChangeShapeType="1"/>
            </p:cNvSpPr>
            <p:nvPr/>
          </p:nvSpPr>
          <p:spPr bwMode="auto">
            <a:xfrm flipH="1">
              <a:off x="2688" y="345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50" name="Line 18">
              <a:extLst>
                <a:ext uri="{FF2B5EF4-FFF2-40B4-BE49-F238E27FC236}">
                  <a16:creationId xmlns:a16="http://schemas.microsoft.com/office/drawing/2014/main" id="{96F28AEE-5304-D4AD-CD2A-47B3AD619FA2}"/>
                </a:ext>
              </a:extLst>
            </p:cNvPr>
            <p:cNvSpPr>
              <a:spLocks noChangeShapeType="1"/>
            </p:cNvSpPr>
            <p:nvPr/>
          </p:nvSpPr>
          <p:spPr bwMode="auto">
            <a:xfrm flipV="1">
              <a:off x="2688" y="2304"/>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51" name="Line 19">
              <a:extLst>
                <a:ext uri="{FF2B5EF4-FFF2-40B4-BE49-F238E27FC236}">
                  <a16:creationId xmlns:a16="http://schemas.microsoft.com/office/drawing/2014/main" id="{06FBB3A9-95FB-246B-6B07-6FCB2BC43DDE}"/>
                </a:ext>
              </a:extLst>
            </p:cNvPr>
            <p:cNvSpPr>
              <a:spLocks noChangeShapeType="1"/>
            </p:cNvSpPr>
            <p:nvPr/>
          </p:nvSpPr>
          <p:spPr bwMode="auto">
            <a:xfrm>
              <a:off x="2688" y="2688"/>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52" name="Line 20">
              <a:extLst>
                <a:ext uri="{FF2B5EF4-FFF2-40B4-BE49-F238E27FC236}">
                  <a16:creationId xmlns:a16="http://schemas.microsoft.com/office/drawing/2014/main" id="{E3C17DA4-150B-4D79-F198-1BAB1456DE49}"/>
                </a:ext>
              </a:extLst>
            </p:cNvPr>
            <p:cNvSpPr>
              <a:spLocks noChangeShapeType="1"/>
            </p:cNvSpPr>
            <p:nvPr/>
          </p:nvSpPr>
          <p:spPr bwMode="auto">
            <a:xfrm>
              <a:off x="2688" y="3072"/>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53" name="Line 21">
              <a:extLst>
                <a:ext uri="{FF2B5EF4-FFF2-40B4-BE49-F238E27FC236}">
                  <a16:creationId xmlns:a16="http://schemas.microsoft.com/office/drawing/2014/main" id="{B77EB552-73A6-0AA8-0CEF-4A9047127014}"/>
                </a:ext>
              </a:extLst>
            </p:cNvPr>
            <p:cNvSpPr>
              <a:spLocks noChangeShapeType="1"/>
            </p:cNvSpPr>
            <p:nvPr/>
          </p:nvSpPr>
          <p:spPr bwMode="auto">
            <a:xfrm>
              <a:off x="3840" y="2304"/>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54" name="Line 22">
              <a:extLst>
                <a:ext uri="{FF2B5EF4-FFF2-40B4-BE49-F238E27FC236}">
                  <a16:creationId xmlns:a16="http://schemas.microsoft.com/office/drawing/2014/main" id="{B88014C1-F508-8994-A054-275B706FDB96}"/>
                </a:ext>
              </a:extLst>
            </p:cNvPr>
            <p:cNvSpPr>
              <a:spLocks noChangeShapeType="1"/>
            </p:cNvSpPr>
            <p:nvPr/>
          </p:nvSpPr>
          <p:spPr bwMode="auto">
            <a:xfrm>
              <a:off x="4464" y="2304"/>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55" name="Line 23">
              <a:extLst>
                <a:ext uri="{FF2B5EF4-FFF2-40B4-BE49-F238E27FC236}">
                  <a16:creationId xmlns:a16="http://schemas.microsoft.com/office/drawing/2014/main" id="{65C2A89B-6A31-EC7F-A758-98D9B4C26B14}"/>
                </a:ext>
              </a:extLst>
            </p:cNvPr>
            <p:cNvSpPr>
              <a:spLocks noChangeShapeType="1"/>
            </p:cNvSpPr>
            <p:nvPr/>
          </p:nvSpPr>
          <p:spPr bwMode="auto">
            <a:xfrm flipH="1">
              <a:off x="3840" y="3456"/>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56" name="Line 24">
              <a:extLst>
                <a:ext uri="{FF2B5EF4-FFF2-40B4-BE49-F238E27FC236}">
                  <a16:creationId xmlns:a16="http://schemas.microsoft.com/office/drawing/2014/main" id="{61790E32-69BC-F7A2-2069-05D9E39F5D70}"/>
                </a:ext>
              </a:extLst>
            </p:cNvPr>
            <p:cNvSpPr>
              <a:spLocks noChangeShapeType="1"/>
            </p:cNvSpPr>
            <p:nvPr/>
          </p:nvSpPr>
          <p:spPr bwMode="auto">
            <a:xfrm flipV="1">
              <a:off x="3840" y="2304"/>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57" name="Line 25">
              <a:extLst>
                <a:ext uri="{FF2B5EF4-FFF2-40B4-BE49-F238E27FC236}">
                  <a16:creationId xmlns:a16="http://schemas.microsoft.com/office/drawing/2014/main" id="{7EEEF653-68C0-2F5B-B7BB-74F476015ECA}"/>
                </a:ext>
              </a:extLst>
            </p:cNvPr>
            <p:cNvSpPr>
              <a:spLocks noChangeShapeType="1"/>
            </p:cNvSpPr>
            <p:nvPr/>
          </p:nvSpPr>
          <p:spPr bwMode="auto">
            <a:xfrm>
              <a:off x="3840" y="268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58" name="Line 26">
              <a:extLst>
                <a:ext uri="{FF2B5EF4-FFF2-40B4-BE49-F238E27FC236}">
                  <a16:creationId xmlns:a16="http://schemas.microsoft.com/office/drawing/2014/main" id="{3DEB1EF1-E3AA-6AB6-6B43-5E6557A30898}"/>
                </a:ext>
              </a:extLst>
            </p:cNvPr>
            <p:cNvSpPr>
              <a:spLocks noChangeShapeType="1"/>
            </p:cNvSpPr>
            <p:nvPr/>
          </p:nvSpPr>
          <p:spPr bwMode="auto">
            <a:xfrm>
              <a:off x="3840" y="307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59" name="Line 27">
              <a:extLst>
                <a:ext uri="{FF2B5EF4-FFF2-40B4-BE49-F238E27FC236}">
                  <a16:creationId xmlns:a16="http://schemas.microsoft.com/office/drawing/2014/main" id="{98C8156E-9F14-ADCE-085B-F4A16D95D4A8}"/>
                </a:ext>
              </a:extLst>
            </p:cNvPr>
            <p:cNvSpPr>
              <a:spLocks noChangeShapeType="1"/>
            </p:cNvSpPr>
            <p:nvPr/>
          </p:nvSpPr>
          <p:spPr bwMode="auto">
            <a:xfrm>
              <a:off x="4944" y="2304"/>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0" name="Line 28">
              <a:extLst>
                <a:ext uri="{FF2B5EF4-FFF2-40B4-BE49-F238E27FC236}">
                  <a16:creationId xmlns:a16="http://schemas.microsoft.com/office/drawing/2014/main" id="{BE78003F-BB3E-43D2-46F1-15653D86935A}"/>
                </a:ext>
              </a:extLst>
            </p:cNvPr>
            <p:cNvSpPr>
              <a:spLocks noChangeShapeType="1"/>
            </p:cNvSpPr>
            <p:nvPr/>
          </p:nvSpPr>
          <p:spPr bwMode="auto">
            <a:xfrm>
              <a:off x="5616" y="2304"/>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1" name="Line 29">
              <a:extLst>
                <a:ext uri="{FF2B5EF4-FFF2-40B4-BE49-F238E27FC236}">
                  <a16:creationId xmlns:a16="http://schemas.microsoft.com/office/drawing/2014/main" id="{55AE42E8-5BCF-1BB9-9531-88B80A67F869}"/>
                </a:ext>
              </a:extLst>
            </p:cNvPr>
            <p:cNvSpPr>
              <a:spLocks noChangeShapeType="1"/>
            </p:cNvSpPr>
            <p:nvPr/>
          </p:nvSpPr>
          <p:spPr bwMode="auto">
            <a:xfrm flipH="1">
              <a:off x="4944" y="345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2" name="Line 30">
              <a:extLst>
                <a:ext uri="{FF2B5EF4-FFF2-40B4-BE49-F238E27FC236}">
                  <a16:creationId xmlns:a16="http://schemas.microsoft.com/office/drawing/2014/main" id="{A631140A-9BB5-9D4D-C8ED-A92EF137F212}"/>
                </a:ext>
              </a:extLst>
            </p:cNvPr>
            <p:cNvSpPr>
              <a:spLocks noChangeShapeType="1"/>
            </p:cNvSpPr>
            <p:nvPr/>
          </p:nvSpPr>
          <p:spPr bwMode="auto">
            <a:xfrm flipV="1">
              <a:off x="4944" y="2304"/>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3" name="Line 31">
              <a:extLst>
                <a:ext uri="{FF2B5EF4-FFF2-40B4-BE49-F238E27FC236}">
                  <a16:creationId xmlns:a16="http://schemas.microsoft.com/office/drawing/2014/main" id="{90BFF6F6-E95F-7AAB-D131-DEABB3218A08}"/>
                </a:ext>
              </a:extLst>
            </p:cNvPr>
            <p:cNvSpPr>
              <a:spLocks noChangeShapeType="1"/>
            </p:cNvSpPr>
            <p:nvPr/>
          </p:nvSpPr>
          <p:spPr bwMode="auto">
            <a:xfrm>
              <a:off x="4944" y="2688"/>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4" name="Line 32">
              <a:extLst>
                <a:ext uri="{FF2B5EF4-FFF2-40B4-BE49-F238E27FC236}">
                  <a16:creationId xmlns:a16="http://schemas.microsoft.com/office/drawing/2014/main" id="{D65BFE44-2941-9E8D-85F3-20AAD338A71A}"/>
                </a:ext>
              </a:extLst>
            </p:cNvPr>
            <p:cNvSpPr>
              <a:spLocks noChangeShapeType="1"/>
            </p:cNvSpPr>
            <p:nvPr/>
          </p:nvSpPr>
          <p:spPr bwMode="auto">
            <a:xfrm>
              <a:off x="4944" y="3072"/>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5" name="Line 33">
              <a:extLst>
                <a:ext uri="{FF2B5EF4-FFF2-40B4-BE49-F238E27FC236}">
                  <a16:creationId xmlns:a16="http://schemas.microsoft.com/office/drawing/2014/main" id="{54243AA0-1C41-224A-018A-2721609C40E5}"/>
                </a:ext>
              </a:extLst>
            </p:cNvPr>
            <p:cNvSpPr>
              <a:spLocks noChangeShapeType="1"/>
            </p:cNvSpPr>
            <p:nvPr/>
          </p:nvSpPr>
          <p:spPr bwMode="auto">
            <a:xfrm>
              <a:off x="960" y="249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6" name="Line 34">
              <a:extLst>
                <a:ext uri="{FF2B5EF4-FFF2-40B4-BE49-F238E27FC236}">
                  <a16:creationId xmlns:a16="http://schemas.microsoft.com/office/drawing/2014/main" id="{AF7E7F09-5A19-E776-D5BB-49473CECEB9F}"/>
                </a:ext>
              </a:extLst>
            </p:cNvPr>
            <p:cNvSpPr>
              <a:spLocks noChangeShapeType="1"/>
            </p:cNvSpPr>
            <p:nvPr/>
          </p:nvSpPr>
          <p:spPr bwMode="auto">
            <a:xfrm flipV="1">
              <a:off x="1296" y="230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7" name="Line 35">
              <a:extLst>
                <a:ext uri="{FF2B5EF4-FFF2-40B4-BE49-F238E27FC236}">
                  <a16:creationId xmlns:a16="http://schemas.microsoft.com/office/drawing/2014/main" id="{DFC63E9A-5C26-B900-9E7B-D926999D2F5A}"/>
                </a:ext>
              </a:extLst>
            </p:cNvPr>
            <p:cNvSpPr>
              <a:spLocks noChangeShapeType="1"/>
            </p:cNvSpPr>
            <p:nvPr/>
          </p:nvSpPr>
          <p:spPr bwMode="auto">
            <a:xfrm>
              <a:off x="1296" y="2304"/>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8" name="Line 36">
              <a:extLst>
                <a:ext uri="{FF2B5EF4-FFF2-40B4-BE49-F238E27FC236}">
                  <a16:creationId xmlns:a16="http://schemas.microsoft.com/office/drawing/2014/main" id="{57B73656-EF6C-51E4-AA84-8A61214A5663}"/>
                </a:ext>
              </a:extLst>
            </p:cNvPr>
            <p:cNvSpPr>
              <a:spLocks noChangeShapeType="1"/>
            </p:cNvSpPr>
            <p:nvPr/>
          </p:nvSpPr>
          <p:spPr bwMode="auto">
            <a:xfrm>
              <a:off x="2016" y="3264"/>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9" name="Line 37">
              <a:extLst>
                <a:ext uri="{FF2B5EF4-FFF2-40B4-BE49-F238E27FC236}">
                  <a16:creationId xmlns:a16="http://schemas.microsoft.com/office/drawing/2014/main" id="{ED9245D1-F896-1B51-02A5-B9747629BB17}"/>
                </a:ext>
              </a:extLst>
            </p:cNvPr>
            <p:cNvSpPr>
              <a:spLocks noChangeShapeType="1"/>
            </p:cNvSpPr>
            <p:nvPr/>
          </p:nvSpPr>
          <p:spPr bwMode="auto">
            <a:xfrm flipV="1">
              <a:off x="2400" y="2304"/>
              <a:ext cx="0" cy="9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70" name="Line 38">
              <a:extLst>
                <a:ext uri="{FF2B5EF4-FFF2-40B4-BE49-F238E27FC236}">
                  <a16:creationId xmlns:a16="http://schemas.microsoft.com/office/drawing/2014/main" id="{B4F98036-6AC0-7C79-738B-03B23058609D}"/>
                </a:ext>
              </a:extLst>
            </p:cNvPr>
            <p:cNvSpPr>
              <a:spLocks noChangeShapeType="1"/>
            </p:cNvSpPr>
            <p:nvPr/>
          </p:nvSpPr>
          <p:spPr bwMode="auto">
            <a:xfrm>
              <a:off x="2400" y="2304"/>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71" name="Line 39">
              <a:extLst>
                <a:ext uri="{FF2B5EF4-FFF2-40B4-BE49-F238E27FC236}">
                  <a16:creationId xmlns:a16="http://schemas.microsoft.com/office/drawing/2014/main" id="{EA92F322-6DD3-46CB-2DA5-36722E6E4C99}"/>
                </a:ext>
              </a:extLst>
            </p:cNvPr>
            <p:cNvSpPr>
              <a:spLocks noChangeShapeType="1"/>
            </p:cNvSpPr>
            <p:nvPr/>
          </p:nvSpPr>
          <p:spPr bwMode="auto">
            <a:xfrm>
              <a:off x="3120" y="3264"/>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72" name="Line 40">
              <a:extLst>
                <a:ext uri="{FF2B5EF4-FFF2-40B4-BE49-F238E27FC236}">
                  <a16:creationId xmlns:a16="http://schemas.microsoft.com/office/drawing/2014/main" id="{A4ED716A-B26F-FD65-0A5F-3DC4DCA2CD40}"/>
                </a:ext>
              </a:extLst>
            </p:cNvPr>
            <p:cNvSpPr>
              <a:spLocks noChangeShapeType="1"/>
            </p:cNvSpPr>
            <p:nvPr/>
          </p:nvSpPr>
          <p:spPr bwMode="auto">
            <a:xfrm flipV="1">
              <a:off x="3600" y="2304"/>
              <a:ext cx="0" cy="9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73" name="Line 41">
              <a:extLst>
                <a:ext uri="{FF2B5EF4-FFF2-40B4-BE49-F238E27FC236}">
                  <a16:creationId xmlns:a16="http://schemas.microsoft.com/office/drawing/2014/main" id="{B37D7AD6-5CE4-CB4A-1196-3D46E8F90A6E}"/>
                </a:ext>
              </a:extLst>
            </p:cNvPr>
            <p:cNvSpPr>
              <a:spLocks noChangeShapeType="1"/>
            </p:cNvSpPr>
            <p:nvPr/>
          </p:nvSpPr>
          <p:spPr bwMode="auto">
            <a:xfrm>
              <a:off x="3600" y="2304"/>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74" name="Line 42">
              <a:extLst>
                <a:ext uri="{FF2B5EF4-FFF2-40B4-BE49-F238E27FC236}">
                  <a16:creationId xmlns:a16="http://schemas.microsoft.com/office/drawing/2014/main" id="{64CB7A8F-E917-C5C4-C0C5-6E715A469F7A}"/>
                </a:ext>
              </a:extLst>
            </p:cNvPr>
            <p:cNvSpPr>
              <a:spLocks noChangeShapeType="1"/>
            </p:cNvSpPr>
            <p:nvPr/>
          </p:nvSpPr>
          <p:spPr bwMode="auto">
            <a:xfrm>
              <a:off x="4272" y="326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75" name="Line 43">
              <a:extLst>
                <a:ext uri="{FF2B5EF4-FFF2-40B4-BE49-F238E27FC236}">
                  <a16:creationId xmlns:a16="http://schemas.microsoft.com/office/drawing/2014/main" id="{7E874B7A-FB20-C7EE-839A-EE4CB1F4398B}"/>
                </a:ext>
              </a:extLst>
            </p:cNvPr>
            <p:cNvSpPr>
              <a:spLocks noChangeShapeType="1"/>
            </p:cNvSpPr>
            <p:nvPr/>
          </p:nvSpPr>
          <p:spPr bwMode="auto">
            <a:xfrm flipV="1">
              <a:off x="4704" y="2304"/>
              <a:ext cx="0" cy="9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76" name="Line 44">
              <a:extLst>
                <a:ext uri="{FF2B5EF4-FFF2-40B4-BE49-F238E27FC236}">
                  <a16:creationId xmlns:a16="http://schemas.microsoft.com/office/drawing/2014/main" id="{4B57CF6D-B10C-963C-CF36-344CB7B6A471}"/>
                </a:ext>
              </a:extLst>
            </p:cNvPr>
            <p:cNvSpPr>
              <a:spLocks noChangeShapeType="1"/>
            </p:cNvSpPr>
            <p:nvPr/>
          </p:nvSpPr>
          <p:spPr bwMode="auto">
            <a:xfrm>
              <a:off x="4704" y="2304"/>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5AA822E3-B9CF-22B9-2EC8-DA4E426ACA2A}"/>
              </a:ext>
            </a:extLst>
          </p:cNvPr>
          <p:cNvSpPr>
            <a:spLocks noGrp="1" noChangeArrowheads="1"/>
          </p:cNvSpPr>
          <p:nvPr>
            <p:ph type="title"/>
          </p:nvPr>
        </p:nvSpPr>
        <p:spPr/>
        <p:txBody>
          <a:bodyPr/>
          <a:lstStyle/>
          <a:p>
            <a:pPr eaLnBrk="1" hangingPunct="1"/>
            <a:r>
              <a:rPr lang="zh-CN" altLang="en-US"/>
              <a:t>例</a:t>
            </a:r>
            <a:r>
              <a:rPr lang="en-US" altLang="zh-CN"/>
              <a:t>7.6 (</a:t>
            </a:r>
            <a:r>
              <a:rPr lang="zh-CN" altLang="en-US"/>
              <a:t>续</a:t>
            </a:r>
            <a:r>
              <a:rPr lang="en-US" altLang="zh-CN"/>
              <a:t>)</a:t>
            </a:r>
          </a:p>
        </p:txBody>
      </p:sp>
      <p:sp>
        <p:nvSpPr>
          <p:cNvPr id="173059" name="Rectangle 3">
            <a:extLst>
              <a:ext uri="{FF2B5EF4-FFF2-40B4-BE49-F238E27FC236}">
                <a16:creationId xmlns:a16="http://schemas.microsoft.com/office/drawing/2014/main" id="{F6D684B0-F771-A51C-27F1-C5D9515416C6}"/>
              </a:ext>
            </a:extLst>
          </p:cNvPr>
          <p:cNvSpPr>
            <a:spLocks noGrp="1" noChangeArrowheads="1"/>
          </p:cNvSpPr>
          <p:nvPr>
            <p:ph type="body" idx="1"/>
          </p:nvPr>
        </p:nvSpPr>
        <p:spPr>
          <a:xfrm>
            <a:off x="827088" y="1844823"/>
            <a:ext cx="7866062" cy="4287689"/>
          </a:xfrm>
        </p:spPr>
        <p:txBody>
          <a:bodyPr/>
          <a:lstStyle/>
          <a:p>
            <a:pPr algn="just" eaLnBrk="1" hangingPunct="1"/>
            <a:r>
              <a:rPr lang="zh-CN" altLang="en-US" sz="2400" b="0"/>
              <a:t>设函数</a:t>
            </a:r>
            <a:r>
              <a:rPr lang="en-US" altLang="zh-CN" sz="2400" b="0"/>
              <a:t>addpoly()</a:t>
            </a:r>
            <a:r>
              <a:rPr lang="zh-CN" altLang="en-US" sz="2400" b="0"/>
              <a:t>实现</a:t>
            </a:r>
          </a:p>
          <a:p>
            <a:pPr lvl="1" algn="just" eaLnBrk="1" hangingPunct="1"/>
            <a:r>
              <a:rPr lang="zh-CN" altLang="en-US" sz="2000" b="0"/>
              <a:t>           </a:t>
            </a:r>
            <a:r>
              <a:rPr lang="en-US" altLang="zh-CN" sz="2000" b="0">
                <a:latin typeface="Monotype Corsiva" panose="03010101010201010101" pitchFamily="66" charset="0"/>
              </a:rPr>
              <a:t>l(x) + k(x) =&gt; l(x)</a:t>
            </a:r>
          </a:p>
          <a:p>
            <a:pPr algn="just" eaLnBrk="1" hangingPunct="1"/>
            <a:r>
              <a:rPr lang="zh-CN" altLang="en-US" sz="2400" b="0"/>
              <a:t>引入两个指针变量 </a:t>
            </a:r>
            <a:r>
              <a:rPr lang="en-US" altLang="zh-CN" sz="2400" b="0"/>
              <a:t>lpt </a:t>
            </a:r>
            <a:r>
              <a:rPr lang="zh-CN" altLang="en-US" sz="2400" b="0"/>
              <a:t>和 </a:t>
            </a:r>
            <a:r>
              <a:rPr lang="en-US" altLang="zh-CN" sz="2400" b="0"/>
              <a:t>kpt</a:t>
            </a:r>
            <a:r>
              <a:rPr lang="zh-CN" altLang="en-US" sz="2400" b="0"/>
              <a:t>，分别指向</a:t>
            </a:r>
            <a:r>
              <a:rPr lang="en-US" altLang="zh-CN" sz="2400" b="0"/>
              <a:t>l(x)</a:t>
            </a:r>
            <a:r>
              <a:rPr lang="zh-CN" altLang="en-US" sz="2400" b="0"/>
              <a:t>链表和</a:t>
            </a:r>
            <a:r>
              <a:rPr lang="en-US" altLang="zh-CN" sz="2400" b="0"/>
              <a:t>k(x) </a:t>
            </a:r>
            <a:r>
              <a:rPr lang="zh-CN" altLang="en-US" sz="2400" b="0"/>
              <a:t>链表的当前考察项。</a:t>
            </a:r>
            <a:r>
              <a:rPr lang="zh-CN" altLang="en-US" sz="2400" b="0">
                <a:solidFill>
                  <a:srgbClr val="0066FF"/>
                </a:solidFill>
              </a:rPr>
              <a:t>从高次项到低次项，逐项考察它们的项的指数</a:t>
            </a:r>
            <a:r>
              <a:rPr lang="zh-CN" altLang="en-US" sz="2400" b="0"/>
              <a:t>：</a:t>
            </a:r>
          </a:p>
          <a:p>
            <a:pPr lvl="1" algn="just" eaLnBrk="1" hangingPunct="1"/>
            <a:r>
              <a:rPr lang="zh-CN" altLang="en-US" sz="2000" b="0"/>
              <a:t>如 </a:t>
            </a:r>
            <a:r>
              <a:rPr lang="en-US" altLang="zh-CN" sz="2000" b="0"/>
              <a:t>(*lpt)</a:t>
            </a:r>
            <a:r>
              <a:rPr lang="zh-CN" altLang="en-US" sz="2000" b="0"/>
              <a:t>的幂次与 </a:t>
            </a:r>
            <a:r>
              <a:rPr lang="en-US" altLang="zh-CN" sz="2000" b="0"/>
              <a:t>(*kpt) </a:t>
            </a:r>
            <a:r>
              <a:rPr lang="zh-CN" altLang="en-US" sz="2000" b="0"/>
              <a:t>的</a:t>
            </a:r>
            <a:r>
              <a:rPr lang="zh-CN" altLang="en-US" sz="2000" u="sng"/>
              <a:t>幂次相等</a:t>
            </a:r>
            <a:r>
              <a:rPr lang="zh-CN" altLang="en-US" sz="2000" b="0"/>
              <a:t>， 则 </a:t>
            </a:r>
            <a:r>
              <a:rPr lang="en-US" altLang="zh-CN" sz="2000" b="0"/>
              <a:t>(*lpt) </a:t>
            </a:r>
            <a:r>
              <a:rPr lang="zh-CN" altLang="en-US" sz="2000" b="0"/>
              <a:t>的系数变为它们的和。但</a:t>
            </a:r>
            <a:r>
              <a:rPr lang="zh-CN" altLang="en-US" sz="2000" u="sng"/>
              <a:t>当和为零时</a:t>
            </a:r>
            <a:r>
              <a:rPr lang="zh-CN" altLang="en-US" sz="2000" b="0"/>
              <a:t>，项 </a:t>
            </a:r>
            <a:r>
              <a:rPr lang="en-US" altLang="zh-CN" sz="2000" b="0"/>
              <a:t>(*lpt) </a:t>
            </a:r>
            <a:r>
              <a:rPr lang="zh-CN" altLang="en-US" sz="2000" b="0"/>
              <a:t>应从链表中删去。</a:t>
            </a:r>
          </a:p>
          <a:p>
            <a:pPr lvl="1" algn="just" eaLnBrk="1" hangingPunct="1"/>
            <a:r>
              <a:rPr lang="zh-CN" altLang="en-US" sz="2000" b="0"/>
              <a:t>若 </a:t>
            </a:r>
            <a:r>
              <a:rPr lang="en-US" altLang="zh-CN" sz="2000" b="0"/>
              <a:t>(*lpt) </a:t>
            </a:r>
            <a:r>
              <a:rPr lang="zh-CN" altLang="en-US" sz="2000" b="0"/>
              <a:t>的幂次大于 </a:t>
            </a:r>
            <a:r>
              <a:rPr lang="en-US" altLang="zh-CN" sz="2000" b="0"/>
              <a:t>(*kpt) </a:t>
            </a:r>
            <a:r>
              <a:rPr lang="zh-CN" altLang="en-US" sz="2000" b="0"/>
              <a:t>的幂次，则 </a:t>
            </a:r>
            <a:r>
              <a:rPr lang="en-US" altLang="zh-CN" sz="2000" b="0"/>
              <a:t>(*lpt) </a:t>
            </a:r>
            <a:r>
              <a:rPr lang="zh-CN" altLang="en-US" sz="2000" b="0"/>
              <a:t>不变，看下一个。</a:t>
            </a:r>
          </a:p>
          <a:p>
            <a:pPr lvl="1" algn="just" eaLnBrk="1" hangingPunct="1"/>
            <a:r>
              <a:rPr lang="zh-CN" altLang="en-US" sz="2000" b="0"/>
              <a:t>若 </a:t>
            </a:r>
            <a:r>
              <a:rPr lang="en-US" altLang="zh-CN" sz="2000" b="0"/>
              <a:t>(*lpt) </a:t>
            </a:r>
            <a:r>
              <a:rPr lang="zh-CN" altLang="en-US" sz="2000" b="0"/>
              <a:t>的幂次小于 </a:t>
            </a:r>
            <a:r>
              <a:rPr lang="en-US" altLang="zh-CN" sz="2000" b="0"/>
              <a:t>(*kpt) </a:t>
            </a:r>
            <a:r>
              <a:rPr lang="zh-CN" altLang="en-US" sz="2000" b="0"/>
              <a:t>的幂次，则在 </a:t>
            </a:r>
            <a:r>
              <a:rPr lang="en-US" altLang="zh-CN" sz="2000" b="0"/>
              <a:t>l(x) </a:t>
            </a:r>
            <a:r>
              <a:rPr lang="zh-CN" altLang="en-US" sz="2000" b="0"/>
              <a:t>的链表中插入一项， 其幂次与系数均与 </a:t>
            </a:r>
            <a:r>
              <a:rPr lang="en-US" altLang="zh-CN" sz="2000" b="0"/>
              <a:t>(*kpt) </a:t>
            </a:r>
            <a:r>
              <a:rPr lang="zh-CN" altLang="en-US" sz="2000" b="0"/>
              <a:t>的相同。</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5627F31F-D5F6-4AFC-2CF6-182B1643A919}"/>
              </a:ext>
            </a:extLst>
          </p:cNvPr>
          <p:cNvSpPr>
            <a:spLocks noGrp="1" noChangeArrowheads="1"/>
          </p:cNvSpPr>
          <p:nvPr>
            <p:ph type="title"/>
          </p:nvPr>
        </p:nvSpPr>
        <p:spPr/>
        <p:txBody>
          <a:bodyPr/>
          <a:lstStyle/>
          <a:p>
            <a:pPr eaLnBrk="1" hangingPunct="1"/>
            <a:r>
              <a:rPr lang="zh-CN" altLang="en-US"/>
              <a:t>例</a:t>
            </a:r>
            <a:r>
              <a:rPr lang="en-US" altLang="zh-CN"/>
              <a:t>7.6 (</a:t>
            </a:r>
            <a:r>
              <a:rPr lang="zh-CN" altLang="en-US"/>
              <a:t>续</a:t>
            </a:r>
            <a:r>
              <a:rPr lang="en-US" altLang="zh-CN"/>
              <a:t>)</a:t>
            </a:r>
          </a:p>
        </p:txBody>
      </p:sp>
      <p:sp>
        <p:nvSpPr>
          <p:cNvPr id="174083" name="Rectangle 3">
            <a:extLst>
              <a:ext uri="{FF2B5EF4-FFF2-40B4-BE49-F238E27FC236}">
                <a16:creationId xmlns:a16="http://schemas.microsoft.com/office/drawing/2014/main" id="{4F67891F-3B1A-459D-F754-E89F1442A2FD}"/>
              </a:ext>
            </a:extLst>
          </p:cNvPr>
          <p:cNvSpPr>
            <a:spLocks noGrp="1" noChangeArrowheads="1"/>
          </p:cNvSpPr>
          <p:nvPr>
            <p:ph type="body" idx="1"/>
          </p:nvPr>
        </p:nvSpPr>
        <p:spPr>
          <a:xfrm>
            <a:off x="827088" y="1700807"/>
            <a:ext cx="8128000" cy="4431705"/>
          </a:xfrm>
        </p:spPr>
        <p:txBody>
          <a:bodyPr/>
          <a:lstStyle/>
          <a:p>
            <a:pPr marL="914400" lvl="1" indent="-457200" eaLnBrk="1" hangingPunct="1">
              <a:buFont typeface="Wingdings" pitchFamily="2" charset="2"/>
              <a:buAutoNum type="arabicPeriod"/>
            </a:pPr>
            <a:r>
              <a:rPr lang="en-US" altLang="zh-CN" sz="2400" b="0"/>
              <a:t>#include  &lt;stdio.h&gt;</a:t>
            </a:r>
          </a:p>
          <a:p>
            <a:pPr marL="914400" lvl="1" indent="-457200" eaLnBrk="1" hangingPunct="1">
              <a:buFont typeface="Wingdings" pitchFamily="2" charset="2"/>
              <a:buAutoNum type="arabicPeriod"/>
            </a:pPr>
            <a:r>
              <a:rPr lang="en-US" altLang="zh-CN" sz="2400" b="0"/>
              <a:t>#include  &lt;stdlib.h&gt;</a:t>
            </a:r>
          </a:p>
          <a:p>
            <a:pPr marL="914400" lvl="1" indent="-457200" eaLnBrk="1" hangingPunct="1">
              <a:buFont typeface="Wingdings" pitchFamily="2" charset="2"/>
              <a:buAutoNum type="arabicPeriod"/>
            </a:pPr>
            <a:r>
              <a:rPr lang="en-US" altLang="zh-CN" sz="2400" b="0"/>
              <a:t>#define EPSILON  1.0e-5</a:t>
            </a:r>
          </a:p>
          <a:p>
            <a:pPr marL="914400" lvl="1" indent="-457200" eaLnBrk="1" hangingPunct="1">
              <a:buFont typeface="Wingdings" pitchFamily="2" charset="2"/>
              <a:buAutoNum type="arabicPeriod"/>
            </a:pPr>
            <a:r>
              <a:rPr lang="en-US" altLang="zh-CN" sz="2400" b="0"/>
              <a:t>#include &lt;math.h&gt;</a:t>
            </a:r>
          </a:p>
          <a:p>
            <a:pPr marL="914400" lvl="1" indent="-457200" eaLnBrk="1" hangingPunct="1">
              <a:buFont typeface="Wingdings" pitchFamily="2" charset="2"/>
              <a:buAutoNum type="arabicPeriod"/>
            </a:pPr>
            <a:r>
              <a:rPr lang="en-US" altLang="zh-CN" sz="2400" b="0"/>
              <a:t>struct node  {</a:t>
            </a:r>
          </a:p>
          <a:p>
            <a:pPr marL="914400" lvl="1" indent="-457200" eaLnBrk="1" hangingPunct="1">
              <a:buFont typeface="Wingdings" pitchFamily="2" charset="2"/>
              <a:buAutoNum type="arabicPeriod"/>
            </a:pPr>
            <a:r>
              <a:rPr lang="en-US" altLang="zh-CN" sz="2400" b="0"/>
              <a:t>   int     power;</a:t>
            </a:r>
          </a:p>
          <a:p>
            <a:pPr marL="914400" lvl="1" indent="-457200" eaLnBrk="1" hangingPunct="1">
              <a:buFont typeface="Wingdings" pitchFamily="2" charset="2"/>
              <a:buAutoNum type="arabicPeriod"/>
            </a:pPr>
            <a:r>
              <a:rPr lang="en-US" altLang="zh-CN" sz="2400" b="0"/>
              <a:t>   double  coef;</a:t>
            </a:r>
          </a:p>
          <a:p>
            <a:pPr marL="914400" lvl="1" indent="-457200" eaLnBrk="1" hangingPunct="1">
              <a:buFont typeface="Wingdings" pitchFamily="2" charset="2"/>
              <a:buAutoNum type="arabicPeriod"/>
            </a:pPr>
            <a:r>
              <a:rPr lang="en-US" altLang="zh-CN" sz="2400" b="0"/>
              <a:t>   struct  node *link;</a:t>
            </a:r>
          </a:p>
          <a:p>
            <a:pPr marL="914400" lvl="1" indent="-457200" eaLnBrk="1" hangingPunct="1">
              <a:buFont typeface="Wingdings" pitchFamily="2" charset="2"/>
              <a:buAutoNum type="arabicPeriod"/>
            </a:pPr>
            <a:r>
              <a:rPr lang="en-US" altLang="zh-CN" sz="2400" b="0"/>
              <a:t>};</a:t>
            </a:r>
          </a:p>
          <a:p>
            <a:pPr marL="914400" lvl="1" indent="-457200" eaLnBrk="1" hangingPunct="1">
              <a:buFont typeface="Wingdings" pitchFamily="2" charset="2"/>
              <a:buAutoNum type="arabicPeriod"/>
            </a:pPr>
            <a:endParaRPr lang="en-US" altLang="zh-CN" sz="2400" b="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58B29B95-F55D-7A95-8403-FD9B3DEEC2DE}"/>
              </a:ext>
            </a:extLst>
          </p:cNvPr>
          <p:cNvSpPr>
            <a:spLocks noGrp="1" noChangeArrowheads="1"/>
          </p:cNvSpPr>
          <p:nvPr>
            <p:ph type="title"/>
          </p:nvPr>
        </p:nvSpPr>
        <p:spPr/>
        <p:txBody>
          <a:bodyPr/>
          <a:lstStyle/>
          <a:p>
            <a:pPr eaLnBrk="1" hangingPunct="1"/>
            <a:r>
              <a:rPr lang="zh-CN" altLang="en-US"/>
              <a:t>例</a:t>
            </a:r>
            <a:r>
              <a:rPr lang="en-US" altLang="zh-CN"/>
              <a:t>7.6 (</a:t>
            </a:r>
            <a:r>
              <a:rPr lang="zh-CN" altLang="en-US"/>
              <a:t>续</a:t>
            </a:r>
            <a:r>
              <a:rPr lang="en-US" altLang="zh-CN"/>
              <a:t>)</a:t>
            </a:r>
          </a:p>
        </p:txBody>
      </p:sp>
      <p:sp>
        <p:nvSpPr>
          <p:cNvPr id="175107" name="Rectangle 3">
            <a:extLst>
              <a:ext uri="{FF2B5EF4-FFF2-40B4-BE49-F238E27FC236}">
                <a16:creationId xmlns:a16="http://schemas.microsoft.com/office/drawing/2014/main" id="{C86D2B47-1AA5-B59B-9FD5-E6EA5277A3E0}"/>
              </a:ext>
            </a:extLst>
          </p:cNvPr>
          <p:cNvSpPr>
            <a:spLocks noGrp="1" noChangeArrowheads="1"/>
          </p:cNvSpPr>
          <p:nvPr>
            <p:ph type="body" idx="1"/>
          </p:nvPr>
        </p:nvSpPr>
        <p:spPr>
          <a:xfrm>
            <a:off x="827088" y="1805582"/>
            <a:ext cx="8128000" cy="4503738"/>
          </a:xfrm>
        </p:spPr>
        <p:txBody>
          <a:bodyPr/>
          <a:lstStyle/>
          <a:p>
            <a:pPr marL="990600" lvl="1" indent="-533400" eaLnBrk="1" hangingPunct="1">
              <a:lnSpc>
                <a:spcPct val="80000"/>
              </a:lnSpc>
              <a:buFont typeface="Wingdings" pitchFamily="2" charset="2"/>
              <a:buAutoNum type="arabicPeriod"/>
            </a:pPr>
            <a:r>
              <a:rPr lang="en-US" altLang="zh-CN" sz="1600" b="0"/>
              <a:t>void addpoly(struct  node *l, struct  node *k){</a:t>
            </a:r>
          </a:p>
          <a:p>
            <a:pPr marL="990600" lvl="1" indent="-533400" eaLnBrk="1" hangingPunct="1">
              <a:lnSpc>
                <a:spcPct val="80000"/>
              </a:lnSpc>
              <a:buFont typeface="Wingdings" pitchFamily="2" charset="2"/>
              <a:buAutoNum type="arabicPeriod"/>
            </a:pPr>
            <a:r>
              <a:rPr lang="en-US" altLang="zh-CN" sz="1600" b="0"/>
              <a:t>   struct node *p, *lpt, *kpt, *q;</a:t>
            </a:r>
          </a:p>
          <a:p>
            <a:pPr marL="990600" lvl="1" indent="-533400" eaLnBrk="1" hangingPunct="1">
              <a:lnSpc>
                <a:spcPct val="80000"/>
              </a:lnSpc>
              <a:buFont typeface="Wingdings" pitchFamily="2" charset="2"/>
              <a:buAutoNum type="arabicPeriod"/>
            </a:pPr>
            <a:r>
              <a:rPr lang="en-US" altLang="zh-CN" sz="1600" b="0"/>
              <a:t>   p = l;  lpt  = l-&gt;link;   kpt  = k-&gt;link;</a:t>
            </a:r>
          </a:p>
          <a:p>
            <a:pPr marL="990600" lvl="1" indent="-533400" eaLnBrk="1" hangingPunct="1">
              <a:lnSpc>
                <a:spcPct val="80000"/>
              </a:lnSpc>
              <a:buFont typeface="Wingdings" pitchFamily="2" charset="2"/>
              <a:buAutoNum type="arabicPeriod"/>
            </a:pPr>
            <a:r>
              <a:rPr lang="en-US" altLang="zh-CN" sz="1600" b="0"/>
              <a:t>   while (kpt) {</a:t>
            </a:r>
          </a:p>
          <a:p>
            <a:pPr marL="990600" lvl="1" indent="-533400" eaLnBrk="1" hangingPunct="1">
              <a:lnSpc>
                <a:spcPct val="80000"/>
              </a:lnSpc>
              <a:buFont typeface="Wingdings" pitchFamily="2" charset="2"/>
              <a:buAutoNum type="arabicPeriod"/>
            </a:pPr>
            <a:r>
              <a:rPr lang="en-US" altLang="zh-CN" sz="1600" b="0"/>
              <a:t>      if (</a:t>
            </a:r>
            <a:r>
              <a:rPr lang="en-US" altLang="zh-CN" sz="1600" b="0">
                <a:solidFill>
                  <a:srgbClr val="0066FF"/>
                </a:solidFill>
              </a:rPr>
              <a:t>lpt == NULL</a:t>
            </a:r>
            <a:r>
              <a:rPr lang="en-US" altLang="zh-CN" sz="1600" b="0"/>
              <a:t>)  {</a:t>
            </a:r>
          </a:p>
          <a:p>
            <a:pPr marL="990600" lvl="1" indent="-533400" eaLnBrk="1" hangingPunct="1">
              <a:lnSpc>
                <a:spcPct val="80000"/>
              </a:lnSpc>
              <a:buFont typeface="Wingdings" pitchFamily="2" charset="2"/>
              <a:buAutoNum type="arabicPeriod"/>
            </a:pPr>
            <a:r>
              <a:rPr lang="en-US" altLang="zh-CN" sz="1600" b="0"/>
              <a:t>        q=(struct node *)malloc(sizeof(struct node));</a:t>
            </a:r>
          </a:p>
          <a:p>
            <a:pPr marL="990600" lvl="1" indent="-533400" eaLnBrk="1" hangingPunct="1">
              <a:lnSpc>
                <a:spcPct val="80000"/>
              </a:lnSpc>
              <a:buFont typeface="Wingdings" pitchFamily="2" charset="2"/>
              <a:buAutoNum type="arabicPeriod"/>
            </a:pPr>
            <a:r>
              <a:rPr lang="en-US" altLang="zh-CN" sz="1600" b="0"/>
              <a:t>        q-&gt;power = kpt-&gt;power;</a:t>
            </a:r>
          </a:p>
          <a:p>
            <a:pPr marL="990600" lvl="1" indent="-533400" eaLnBrk="1" hangingPunct="1">
              <a:lnSpc>
                <a:spcPct val="80000"/>
              </a:lnSpc>
              <a:buFont typeface="Wingdings" pitchFamily="2" charset="2"/>
              <a:buAutoNum type="arabicPeriod"/>
            </a:pPr>
            <a:r>
              <a:rPr lang="en-US" altLang="zh-CN" sz="1600" b="0"/>
              <a:t>        q-&gt;coef  = kpt-&gt;coef;</a:t>
            </a:r>
          </a:p>
          <a:p>
            <a:pPr marL="990600" lvl="1" indent="-533400" eaLnBrk="1" hangingPunct="1">
              <a:lnSpc>
                <a:spcPct val="80000"/>
              </a:lnSpc>
              <a:buFont typeface="Wingdings" pitchFamily="2" charset="2"/>
              <a:buAutoNum type="arabicPeriod"/>
            </a:pPr>
            <a:r>
              <a:rPr lang="en-US" altLang="zh-CN" sz="1600" b="0"/>
              <a:t>        q-&gt;link  = NULL;   p-&gt;link  = q;</a:t>
            </a:r>
          </a:p>
          <a:p>
            <a:pPr marL="990600" lvl="1" indent="-533400" eaLnBrk="1" hangingPunct="1">
              <a:lnSpc>
                <a:spcPct val="80000"/>
              </a:lnSpc>
              <a:buFont typeface="Wingdings" pitchFamily="2" charset="2"/>
              <a:buAutoNum type="arabicPeriod"/>
            </a:pPr>
            <a:r>
              <a:rPr lang="en-US" altLang="zh-CN" sz="1600" b="0"/>
              <a:t>        p = q;      kpt = kpt-&gt;link;</a:t>
            </a:r>
          </a:p>
          <a:p>
            <a:pPr marL="990600" lvl="1" indent="-533400" eaLnBrk="1" hangingPunct="1">
              <a:lnSpc>
                <a:spcPct val="80000"/>
              </a:lnSpc>
              <a:buFont typeface="Wingdings" pitchFamily="2" charset="2"/>
              <a:buAutoNum type="arabicPeriod"/>
            </a:pPr>
            <a:r>
              <a:rPr lang="en-US" altLang="zh-CN" sz="1600" b="0"/>
              <a:t>     }</a:t>
            </a:r>
          </a:p>
          <a:p>
            <a:pPr marL="990600" lvl="1" indent="-533400" eaLnBrk="1" hangingPunct="1">
              <a:lnSpc>
                <a:spcPct val="80000"/>
              </a:lnSpc>
              <a:buFont typeface="Wingdings" pitchFamily="2" charset="2"/>
              <a:buAutoNum type="arabicPeriod"/>
            </a:pPr>
            <a:r>
              <a:rPr lang="en-US" altLang="zh-CN" sz="1600" b="0"/>
              <a:t>     else if (</a:t>
            </a:r>
            <a:r>
              <a:rPr lang="en-US" altLang="zh-CN" sz="1600" b="0">
                <a:solidFill>
                  <a:srgbClr val="0066FF"/>
                </a:solidFill>
              </a:rPr>
              <a:t>lpt-&gt;power == kpt-&gt;power</a:t>
            </a:r>
            <a:r>
              <a:rPr lang="en-US" altLang="zh-CN" sz="1600" b="0"/>
              <a:t>){ </a:t>
            </a:r>
          </a:p>
          <a:p>
            <a:pPr marL="990600" lvl="1" indent="-533400" eaLnBrk="1" hangingPunct="1">
              <a:lnSpc>
                <a:spcPct val="80000"/>
              </a:lnSpc>
              <a:buFont typeface="Wingdings" pitchFamily="2" charset="2"/>
              <a:buAutoNum type="arabicPeriod"/>
            </a:pPr>
            <a:r>
              <a:rPr lang="en-US" altLang="zh-CN" sz="1600" b="0"/>
              <a:t>         lpt-&gt;coef+=kpt-&gt;coef; </a:t>
            </a:r>
            <a:r>
              <a:rPr lang="en-US" altLang="zh-CN" sz="1600" b="0">
                <a:solidFill>
                  <a:schemeClr val="folHlink"/>
                </a:solidFill>
              </a:rPr>
              <a:t>//</a:t>
            </a:r>
            <a:r>
              <a:rPr lang="zh-CN" altLang="en-US" sz="1600" b="0">
                <a:solidFill>
                  <a:schemeClr val="folHlink"/>
                </a:solidFill>
              </a:rPr>
              <a:t>等幂次项系数相加</a:t>
            </a:r>
          </a:p>
          <a:p>
            <a:pPr marL="990600" lvl="1" indent="-533400" eaLnBrk="1" hangingPunct="1">
              <a:lnSpc>
                <a:spcPct val="80000"/>
              </a:lnSpc>
              <a:buFont typeface="Wingdings" pitchFamily="2" charset="2"/>
              <a:buAutoNum type="arabicPeriod"/>
            </a:pPr>
            <a:r>
              <a:rPr lang="zh-CN" altLang="en-US" sz="1600" b="0"/>
              <a:t>         </a:t>
            </a:r>
            <a:r>
              <a:rPr lang="en-US" altLang="zh-CN" sz="1600" b="0"/>
              <a:t>if (</a:t>
            </a:r>
            <a:r>
              <a:rPr lang="en-US" altLang="zh-CN" sz="1600" b="0">
                <a:solidFill>
                  <a:srgbClr val="0066FF"/>
                </a:solidFill>
              </a:rPr>
              <a:t>fabs(lpt-&gt;coef) &lt;= EPSILON</a:t>
            </a:r>
            <a:r>
              <a:rPr lang="en-US" altLang="zh-CN" sz="1600" b="0"/>
              <a:t>)  {</a:t>
            </a:r>
          </a:p>
          <a:p>
            <a:pPr marL="990600" lvl="1" indent="-533400" eaLnBrk="1" hangingPunct="1">
              <a:lnSpc>
                <a:spcPct val="80000"/>
              </a:lnSpc>
              <a:buFont typeface="Wingdings" pitchFamily="2" charset="2"/>
              <a:buAutoNum type="arabicPeriod"/>
            </a:pPr>
            <a:r>
              <a:rPr lang="en-US" altLang="zh-CN" sz="1600" b="0"/>
              <a:t>             p-&gt;link = lpt-&gt;link;  free(lpt);</a:t>
            </a:r>
          </a:p>
          <a:p>
            <a:pPr marL="990600" lvl="1" indent="-533400" eaLnBrk="1" hangingPunct="1">
              <a:lnSpc>
                <a:spcPct val="80000"/>
              </a:lnSpc>
              <a:buFont typeface="Wingdings" pitchFamily="2" charset="2"/>
              <a:buAutoNum type="arabicPeriod"/>
            </a:pPr>
            <a:r>
              <a:rPr lang="en-US" altLang="zh-CN" sz="1600" b="0"/>
              <a:t>         }</a:t>
            </a:r>
          </a:p>
          <a:p>
            <a:pPr marL="990600" lvl="1" indent="-533400" eaLnBrk="1" hangingPunct="1">
              <a:lnSpc>
                <a:spcPct val="80000"/>
              </a:lnSpc>
              <a:buFont typeface="Wingdings" pitchFamily="2" charset="2"/>
              <a:buAutoNum type="arabicPeriod"/>
            </a:pPr>
            <a:r>
              <a:rPr lang="en-US" altLang="zh-CN" sz="1600" b="0"/>
              <a:t>         else  p = p-&gt;link;</a:t>
            </a:r>
          </a:p>
          <a:p>
            <a:pPr marL="990600" lvl="1" indent="-533400" eaLnBrk="1" hangingPunct="1">
              <a:lnSpc>
                <a:spcPct val="80000"/>
              </a:lnSpc>
              <a:buFont typeface="Wingdings" pitchFamily="2" charset="2"/>
              <a:buAutoNum type="arabicPeriod"/>
            </a:pPr>
            <a:r>
              <a:rPr lang="en-US" altLang="zh-CN" sz="1600" b="0"/>
              <a:t>         lpt = p-&gt;link;   kpt = kpt-&gt;link;</a:t>
            </a:r>
          </a:p>
          <a:p>
            <a:pPr marL="990600" lvl="1" indent="-533400" eaLnBrk="1" hangingPunct="1">
              <a:lnSpc>
                <a:spcPct val="80000"/>
              </a:lnSpc>
              <a:buFont typeface="Wingdings" pitchFamily="2" charset="2"/>
              <a:buAutoNum type="arabicPeriod"/>
            </a:pPr>
            <a:r>
              <a:rPr lang="en-US" altLang="zh-CN" sz="1600" b="0"/>
              <a:t>      }</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63804766-5B55-7FCC-C313-6190ED714A48}"/>
              </a:ext>
            </a:extLst>
          </p:cNvPr>
          <p:cNvSpPr>
            <a:spLocks noGrp="1" noChangeArrowheads="1"/>
          </p:cNvSpPr>
          <p:nvPr>
            <p:ph type="title"/>
          </p:nvPr>
        </p:nvSpPr>
        <p:spPr/>
        <p:txBody>
          <a:bodyPr/>
          <a:lstStyle/>
          <a:p>
            <a:pPr eaLnBrk="1" hangingPunct="1"/>
            <a:r>
              <a:rPr lang="zh-CN" altLang="en-US"/>
              <a:t>例</a:t>
            </a:r>
            <a:r>
              <a:rPr lang="en-US" altLang="zh-CN"/>
              <a:t>7.6 (</a:t>
            </a:r>
            <a:r>
              <a:rPr lang="zh-CN" altLang="en-US"/>
              <a:t>续</a:t>
            </a:r>
            <a:r>
              <a:rPr lang="en-US" altLang="zh-CN"/>
              <a:t>)</a:t>
            </a:r>
          </a:p>
        </p:txBody>
      </p:sp>
      <p:sp>
        <p:nvSpPr>
          <p:cNvPr id="176131" name="Rectangle 3">
            <a:extLst>
              <a:ext uri="{FF2B5EF4-FFF2-40B4-BE49-F238E27FC236}">
                <a16:creationId xmlns:a16="http://schemas.microsoft.com/office/drawing/2014/main" id="{DA3E879B-5707-75BA-CB20-830D00669942}"/>
              </a:ext>
            </a:extLst>
          </p:cNvPr>
          <p:cNvSpPr>
            <a:spLocks noGrp="1" noChangeArrowheads="1"/>
          </p:cNvSpPr>
          <p:nvPr>
            <p:ph type="body" idx="1"/>
          </p:nvPr>
        </p:nvSpPr>
        <p:spPr>
          <a:xfrm>
            <a:off x="827088" y="1844824"/>
            <a:ext cx="8128000" cy="4503738"/>
          </a:xfrm>
        </p:spPr>
        <p:txBody>
          <a:bodyPr/>
          <a:lstStyle/>
          <a:p>
            <a:pPr marL="990600" lvl="1" indent="-533400" eaLnBrk="1" hangingPunct="1">
              <a:lnSpc>
                <a:spcPct val="90000"/>
              </a:lnSpc>
              <a:buFont typeface="Wingdings" pitchFamily="2" charset="2"/>
              <a:buAutoNum type="arabicPeriod"/>
            </a:pPr>
            <a:r>
              <a:rPr lang="en-US" altLang="zh-CN" sz="2000" b="0"/>
              <a:t>      else if (</a:t>
            </a:r>
            <a:r>
              <a:rPr lang="en-US" altLang="zh-CN" sz="2000" b="0">
                <a:solidFill>
                  <a:srgbClr val="0066FF"/>
                </a:solidFill>
              </a:rPr>
              <a:t>lpt-&gt;power &gt; kpt-&gt;power</a:t>
            </a:r>
            <a:r>
              <a:rPr lang="en-US" altLang="zh-CN" sz="2000" b="0"/>
              <a:t>) {  </a:t>
            </a:r>
            <a:r>
              <a:rPr lang="en-US" altLang="zh-CN" sz="2000" b="0">
                <a:solidFill>
                  <a:schemeClr val="folHlink"/>
                </a:solidFill>
              </a:rPr>
              <a:t>//</a:t>
            </a:r>
            <a:r>
              <a:rPr lang="zh-CN" altLang="en-US" sz="2000" b="0">
                <a:solidFill>
                  <a:schemeClr val="folHlink"/>
                </a:solidFill>
              </a:rPr>
              <a:t>跳过 </a:t>
            </a:r>
            <a:r>
              <a:rPr lang="en-US" altLang="zh-CN" sz="2000" b="0">
                <a:solidFill>
                  <a:schemeClr val="folHlink"/>
                </a:solidFill>
              </a:rPr>
              <a:t>(*lpt)</a:t>
            </a:r>
          </a:p>
          <a:p>
            <a:pPr marL="990600" lvl="1" indent="-533400" eaLnBrk="1" hangingPunct="1">
              <a:lnSpc>
                <a:spcPct val="90000"/>
              </a:lnSpc>
              <a:buFont typeface="Wingdings" pitchFamily="2" charset="2"/>
              <a:buAutoNum type="arabicPeriod"/>
            </a:pPr>
            <a:r>
              <a:rPr lang="en-US" altLang="zh-CN" sz="2000" b="0"/>
              <a:t>            p = lpt;   lpt = lpt-&gt;link;</a:t>
            </a:r>
          </a:p>
          <a:p>
            <a:pPr marL="990600" lvl="1" indent="-533400" eaLnBrk="1" hangingPunct="1">
              <a:lnSpc>
                <a:spcPct val="90000"/>
              </a:lnSpc>
              <a:buFont typeface="Wingdings" pitchFamily="2" charset="2"/>
              <a:buAutoNum type="arabicPeriod"/>
            </a:pPr>
            <a:r>
              <a:rPr lang="en-US" altLang="zh-CN" sz="2000" b="0"/>
              <a:t>       }</a:t>
            </a:r>
          </a:p>
          <a:p>
            <a:pPr marL="990600" lvl="1" indent="-533400" eaLnBrk="1" hangingPunct="1">
              <a:lnSpc>
                <a:spcPct val="90000"/>
              </a:lnSpc>
              <a:buFont typeface="Wingdings" pitchFamily="2" charset="2"/>
              <a:buAutoNum type="arabicPeriod"/>
            </a:pPr>
            <a:r>
              <a:rPr lang="en-US" altLang="zh-CN" sz="2000" b="0"/>
              <a:t>      else { </a:t>
            </a:r>
            <a:r>
              <a:rPr lang="en-US" altLang="zh-CN" sz="1800" b="0">
                <a:solidFill>
                  <a:schemeClr val="folHlink"/>
                </a:solidFill>
              </a:rPr>
              <a:t>//</a:t>
            </a:r>
            <a:r>
              <a:rPr lang="en-US" altLang="zh-CN" sz="1800" b="0">
                <a:solidFill>
                  <a:srgbClr val="0066FF"/>
                </a:solidFill>
              </a:rPr>
              <a:t>lpt-&gt;power&lt;kpt-&gt;power </a:t>
            </a:r>
            <a:r>
              <a:rPr lang="zh-CN" altLang="en-US" sz="1800" b="0">
                <a:solidFill>
                  <a:schemeClr val="folHlink"/>
                </a:solidFill>
              </a:rPr>
              <a:t>复制</a:t>
            </a:r>
            <a:r>
              <a:rPr lang="en-US" altLang="zh-CN" sz="1800" b="0">
                <a:solidFill>
                  <a:schemeClr val="folHlink"/>
                </a:solidFill>
              </a:rPr>
              <a:t>(*kpt)</a:t>
            </a:r>
            <a:r>
              <a:rPr lang="zh-CN" altLang="en-US" sz="1800" b="0">
                <a:solidFill>
                  <a:schemeClr val="folHlink"/>
                </a:solidFill>
              </a:rPr>
              <a:t>，插在*</a:t>
            </a:r>
            <a:r>
              <a:rPr lang="en-US" altLang="zh-CN" sz="1800" b="0">
                <a:solidFill>
                  <a:schemeClr val="folHlink"/>
                </a:solidFill>
              </a:rPr>
              <a:t>p</a:t>
            </a:r>
            <a:r>
              <a:rPr lang="zh-CN" altLang="en-US" sz="1800" b="0">
                <a:solidFill>
                  <a:schemeClr val="folHlink"/>
                </a:solidFill>
              </a:rPr>
              <a:t>之后</a:t>
            </a:r>
          </a:p>
          <a:p>
            <a:pPr marL="990600" lvl="1" indent="-533400" eaLnBrk="1" hangingPunct="1">
              <a:lnSpc>
                <a:spcPct val="90000"/>
              </a:lnSpc>
              <a:buFont typeface="Wingdings" pitchFamily="2" charset="2"/>
              <a:buAutoNum type="arabicPeriod"/>
            </a:pPr>
            <a:r>
              <a:rPr lang="zh-CN" altLang="en-US" sz="2000" b="0"/>
              <a:t>           </a:t>
            </a:r>
            <a:r>
              <a:rPr lang="en-US" altLang="zh-CN" sz="2000" b="0"/>
              <a:t>q = (struct node *)malloc(sizeof(struct node));</a:t>
            </a:r>
          </a:p>
          <a:p>
            <a:pPr marL="990600" lvl="1" indent="-533400" eaLnBrk="1" hangingPunct="1">
              <a:lnSpc>
                <a:spcPct val="90000"/>
              </a:lnSpc>
              <a:buFont typeface="Wingdings" pitchFamily="2" charset="2"/>
              <a:buAutoNum type="arabicPeriod"/>
            </a:pPr>
            <a:r>
              <a:rPr lang="en-US" altLang="zh-CN" sz="2000" b="0"/>
              <a:t>           q-&gt;power = kpt-&gt;power; q-&gt;coef  = kpt-&gt;coef;</a:t>
            </a:r>
          </a:p>
          <a:p>
            <a:pPr marL="990600" lvl="1" indent="-533400" eaLnBrk="1" hangingPunct="1">
              <a:lnSpc>
                <a:spcPct val="90000"/>
              </a:lnSpc>
              <a:buFont typeface="Wingdings" pitchFamily="2" charset="2"/>
              <a:buAutoNum type="arabicPeriod"/>
            </a:pPr>
            <a:r>
              <a:rPr lang="en-US" altLang="zh-CN" sz="2000" b="0"/>
              <a:t>           p-&gt;link = q; q-&gt;link = lpt;</a:t>
            </a:r>
          </a:p>
          <a:p>
            <a:pPr marL="990600" lvl="1" indent="-533400" eaLnBrk="1" hangingPunct="1">
              <a:lnSpc>
                <a:spcPct val="90000"/>
              </a:lnSpc>
              <a:buFont typeface="Wingdings" pitchFamily="2" charset="2"/>
              <a:buAutoNum type="arabicPeriod"/>
            </a:pPr>
            <a:r>
              <a:rPr lang="en-US" altLang="zh-CN" sz="2000" b="0"/>
              <a:t>           p = q;  kpt = kpt-&gt;link;</a:t>
            </a:r>
          </a:p>
          <a:p>
            <a:pPr marL="990600" lvl="1" indent="-533400" eaLnBrk="1" hangingPunct="1">
              <a:lnSpc>
                <a:spcPct val="90000"/>
              </a:lnSpc>
              <a:buFont typeface="Wingdings" pitchFamily="2" charset="2"/>
              <a:buAutoNum type="arabicPeriod"/>
            </a:pPr>
            <a:r>
              <a:rPr lang="en-US" altLang="zh-CN" sz="2000" b="0"/>
              <a:t>      }</a:t>
            </a:r>
          </a:p>
          <a:p>
            <a:pPr marL="990600" lvl="1" indent="-533400" eaLnBrk="1" hangingPunct="1">
              <a:lnSpc>
                <a:spcPct val="90000"/>
              </a:lnSpc>
              <a:buFont typeface="Wingdings" pitchFamily="2" charset="2"/>
              <a:buAutoNum type="arabicPeriod"/>
            </a:pPr>
            <a:r>
              <a:rPr lang="en-US" altLang="zh-CN" sz="2000" b="0"/>
              <a:t>   }</a:t>
            </a:r>
          </a:p>
          <a:p>
            <a:pPr marL="990600" lvl="1" indent="-533400" eaLnBrk="1" hangingPunct="1">
              <a:lnSpc>
                <a:spcPct val="90000"/>
              </a:lnSpc>
              <a:buFont typeface="Wingdings" pitchFamily="2" charset="2"/>
              <a:buAutoNum type="arabicPeriod"/>
            </a:pPr>
            <a:r>
              <a:rPr lang="en-US" altLang="zh-CN" sz="2000" b="0"/>
              <a:t>}</a:t>
            </a:r>
            <a:endParaRPr lang="en-US" altLang="zh-CN" sz="2400" b="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40C2685D-9955-60D4-C693-49D767C07D30}"/>
              </a:ext>
            </a:extLst>
          </p:cNvPr>
          <p:cNvSpPr>
            <a:spLocks noGrp="1" noChangeArrowheads="1"/>
          </p:cNvSpPr>
          <p:nvPr>
            <p:ph type="title"/>
          </p:nvPr>
        </p:nvSpPr>
        <p:spPr/>
        <p:txBody>
          <a:bodyPr/>
          <a:lstStyle/>
          <a:p>
            <a:pPr eaLnBrk="1" hangingPunct="1"/>
            <a:r>
              <a:rPr lang="zh-CN" altLang="en-US"/>
              <a:t>例</a:t>
            </a:r>
            <a:r>
              <a:rPr lang="en-US" altLang="zh-CN"/>
              <a:t>7.6 (</a:t>
            </a:r>
            <a:r>
              <a:rPr lang="zh-CN" altLang="en-US"/>
              <a:t>续</a:t>
            </a:r>
            <a:r>
              <a:rPr lang="en-US" altLang="zh-CN"/>
              <a:t>)</a:t>
            </a:r>
          </a:p>
        </p:txBody>
      </p:sp>
      <p:sp>
        <p:nvSpPr>
          <p:cNvPr id="177155" name="Rectangle 3">
            <a:extLst>
              <a:ext uri="{FF2B5EF4-FFF2-40B4-BE49-F238E27FC236}">
                <a16:creationId xmlns:a16="http://schemas.microsoft.com/office/drawing/2014/main" id="{99E790FC-B481-40A4-2608-7F26647DEE9C}"/>
              </a:ext>
            </a:extLst>
          </p:cNvPr>
          <p:cNvSpPr>
            <a:spLocks noGrp="1" noChangeArrowheads="1"/>
          </p:cNvSpPr>
          <p:nvPr>
            <p:ph type="body" idx="1"/>
          </p:nvPr>
        </p:nvSpPr>
        <p:spPr>
          <a:xfrm>
            <a:off x="827088" y="1805582"/>
            <a:ext cx="8128000" cy="4503738"/>
          </a:xfrm>
        </p:spPr>
        <p:txBody>
          <a:bodyPr/>
          <a:lstStyle/>
          <a:p>
            <a:pPr marL="990600" lvl="1" indent="-533400" eaLnBrk="1" hangingPunct="1">
              <a:lnSpc>
                <a:spcPct val="80000"/>
              </a:lnSpc>
              <a:buFont typeface="Wingdings" pitchFamily="2" charset="2"/>
              <a:buAutoNum type="arabicPeriod"/>
            </a:pPr>
            <a:r>
              <a:rPr lang="en-US" altLang="zh-CN" sz="1600" b="0"/>
              <a:t>struct node *create_list(){</a:t>
            </a:r>
          </a:p>
          <a:p>
            <a:pPr marL="990600" lvl="1" indent="-533400" eaLnBrk="1" hangingPunct="1">
              <a:lnSpc>
                <a:spcPct val="80000"/>
              </a:lnSpc>
              <a:buFont typeface="Wingdings" pitchFamily="2" charset="2"/>
              <a:buAutoNum type="arabicPeriod"/>
            </a:pPr>
            <a:r>
              <a:rPr lang="en-US" altLang="zh-CN" sz="1600" b="0"/>
              <a:t>   struct node *u, *w, *p, *h;    int  n;</a:t>
            </a:r>
          </a:p>
          <a:p>
            <a:pPr marL="990600" lvl="1" indent="-533400" eaLnBrk="1" hangingPunct="1">
              <a:lnSpc>
                <a:spcPct val="80000"/>
              </a:lnSpc>
              <a:buFont typeface="Wingdings" pitchFamily="2" charset="2"/>
              <a:buAutoNum type="arabicPeriod"/>
            </a:pPr>
            <a:r>
              <a:rPr lang="en-US" altLang="zh-CN" sz="1600" b="0"/>
              <a:t>   h = (struct node *)malloc(sizeof(struct node));</a:t>
            </a:r>
          </a:p>
          <a:p>
            <a:pPr marL="990600" lvl="1" indent="-533400" eaLnBrk="1" hangingPunct="1">
              <a:lnSpc>
                <a:spcPct val="80000"/>
              </a:lnSpc>
              <a:buFont typeface="Wingdings" pitchFamily="2" charset="2"/>
              <a:buAutoNum type="arabicPeriod"/>
            </a:pPr>
            <a:r>
              <a:rPr lang="en-US" altLang="zh-CN" sz="1600" b="0"/>
              <a:t>   h-&gt;link = NULL; </a:t>
            </a:r>
            <a:r>
              <a:rPr lang="en-US" altLang="zh-CN" sz="1600" b="0">
                <a:solidFill>
                  <a:schemeClr val="folHlink"/>
                </a:solidFill>
              </a:rPr>
              <a:t>//</a:t>
            </a:r>
            <a:r>
              <a:rPr lang="zh-CN" altLang="en-US" sz="1600" b="0">
                <a:solidFill>
                  <a:schemeClr val="folHlink"/>
                </a:solidFill>
              </a:rPr>
              <a:t>建立空的带哨兵（辅助表元）链表</a:t>
            </a:r>
            <a:endParaRPr lang="zh-CN" altLang="en-US" sz="1600" b="0"/>
          </a:p>
          <a:p>
            <a:pPr marL="990600" lvl="1" indent="-533400" eaLnBrk="1" hangingPunct="1">
              <a:lnSpc>
                <a:spcPct val="80000"/>
              </a:lnSpc>
              <a:buFont typeface="Wingdings" pitchFamily="2" charset="2"/>
              <a:buAutoNum type="arabicPeriod"/>
            </a:pPr>
            <a:r>
              <a:rPr lang="zh-CN" altLang="en-US" sz="1600" b="0"/>
              <a:t>   </a:t>
            </a:r>
            <a:r>
              <a:rPr lang="en-US" altLang="zh-CN" sz="1600" b="0"/>
              <a:t>printf("Input data.(less zero: finish)\n");</a:t>
            </a:r>
          </a:p>
          <a:p>
            <a:pPr marL="990600" lvl="1" indent="-533400" eaLnBrk="1" hangingPunct="1">
              <a:lnSpc>
                <a:spcPct val="80000"/>
              </a:lnSpc>
              <a:buFont typeface="Wingdings" pitchFamily="2" charset="2"/>
              <a:buAutoNum type="arabicPeriod"/>
            </a:pPr>
            <a:r>
              <a:rPr lang="en-US" altLang="zh-CN" sz="1600" b="0"/>
              <a:t>   </a:t>
            </a:r>
            <a:r>
              <a:rPr lang="en-US" altLang="zh-CN" sz="1600" b="0">
                <a:solidFill>
                  <a:srgbClr val="0066FF"/>
                </a:solidFill>
              </a:rPr>
              <a:t>scanf</a:t>
            </a:r>
            <a:r>
              <a:rPr lang="en-US" altLang="zh-CN" sz="1600" b="0"/>
              <a:t>("%d", &amp;n);  </a:t>
            </a:r>
            <a:r>
              <a:rPr lang="en-US" altLang="zh-CN" sz="1600" b="0">
                <a:solidFill>
                  <a:schemeClr val="folHlink"/>
                </a:solidFill>
              </a:rPr>
              <a:t>//</a:t>
            </a:r>
            <a:r>
              <a:rPr lang="zh-CN" altLang="en-US" sz="1600" b="0">
                <a:solidFill>
                  <a:schemeClr val="folHlink"/>
                </a:solidFill>
              </a:rPr>
              <a:t>输入幂次</a:t>
            </a:r>
          </a:p>
          <a:p>
            <a:pPr marL="990600" lvl="1" indent="-533400" eaLnBrk="1" hangingPunct="1">
              <a:lnSpc>
                <a:spcPct val="80000"/>
              </a:lnSpc>
              <a:buFont typeface="Wingdings" pitchFamily="2" charset="2"/>
              <a:buAutoNum type="arabicPeriod"/>
            </a:pPr>
            <a:r>
              <a:rPr lang="zh-CN" altLang="en-US" sz="1600" b="0"/>
              <a:t>   </a:t>
            </a:r>
            <a:r>
              <a:rPr lang="en-US" altLang="zh-CN" sz="1600" b="0"/>
              <a:t>while (n &gt;= 0){ </a:t>
            </a:r>
          </a:p>
          <a:p>
            <a:pPr marL="990600" lvl="1" indent="-533400" eaLnBrk="1" hangingPunct="1">
              <a:lnSpc>
                <a:spcPct val="80000"/>
              </a:lnSpc>
              <a:buFont typeface="Wingdings" pitchFamily="2" charset="2"/>
              <a:buAutoNum type="arabicPeriod"/>
            </a:pPr>
            <a:r>
              <a:rPr lang="en-US" altLang="zh-CN" sz="1600" b="0"/>
              <a:t>      double  coef;</a:t>
            </a:r>
          </a:p>
          <a:p>
            <a:pPr marL="990600" lvl="1" indent="-533400" eaLnBrk="1" hangingPunct="1">
              <a:lnSpc>
                <a:spcPct val="80000"/>
              </a:lnSpc>
              <a:buFont typeface="Wingdings" pitchFamily="2" charset="2"/>
              <a:buAutoNum type="arabicPeriod"/>
            </a:pPr>
            <a:r>
              <a:rPr lang="en-US" altLang="zh-CN" sz="1600" b="0"/>
              <a:t>      p = (struct node *)malloc(sizeof(struct node));</a:t>
            </a:r>
          </a:p>
          <a:p>
            <a:pPr marL="990600" lvl="1" indent="-533400" eaLnBrk="1" hangingPunct="1">
              <a:lnSpc>
                <a:spcPct val="80000"/>
              </a:lnSpc>
              <a:buFont typeface="Wingdings" pitchFamily="2" charset="2"/>
              <a:buAutoNum type="arabicPeriod"/>
            </a:pPr>
            <a:r>
              <a:rPr lang="en-US" altLang="zh-CN" sz="1600" b="0"/>
              <a:t>      p-&gt;power = n; </a:t>
            </a:r>
            <a:r>
              <a:rPr lang="en-US" altLang="zh-CN" sz="1600" b="0">
                <a:solidFill>
                  <a:srgbClr val="0066FF"/>
                </a:solidFill>
              </a:rPr>
              <a:t>scanf</a:t>
            </a:r>
            <a:r>
              <a:rPr lang="en-US" altLang="zh-CN" sz="1600" b="0"/>
              <a:t>("%lf", &amp;coef); </a:t>
            </a:r>
            <a:r>
              <a:rPr lang="en-US" altLang="zh-CN" sz="1600" b="0">
                <a:solidFill>
                  <a:schemeClr val="folHlink"/>
                </a:solidFill>
              </a:rPr>
              <a:t>//</a:t>
            </a:r>
            <a:r>
              <a:rPr lang="zh-CN" altLang="en-US" sz="1600" b="0">
                <a:solidFill>
                  <a:schemeClr val="folHlink"/>
                </a:solidFill>
              </a:rPr>
              <a:t>输入系数</a:t>
            </a:r>
          </a:p>
          <a:p>
            <a:pPr marL="990600" lvl="1" indent="-533400" eaLnBrk="1" hangingPunct="1">
              <a:lnSpc>
                <a:spcPct val="80000"/>
              </a:lnSpc>
              <a:buFont typeface="Wingdings" pitchFamily="2" charset="2"/>
              <a:buAutoNum type="arabicPeriod"/>
            </a:pPr>
            <a:r>
              <a:rPr lang="zh-CN" altLang="en-US" sz="1600" b="0"/>
              <a:t>      </a:t>
            </a:r>
            <a:r>
              <a:rPr lang="en-US" altLang="zh-CN" sz="1600" b="0"/>
              <a:t>p-&gt;coef = coef; </a:t>
            </a:r>
            <a:r>
              <a:rPr lang="en-US" altLang="zh-CN" sz="1600" b="0">
                <a:solidFill>
                  <a:srgbClr val="0066FF"/>
                </a:solidFill>
              </a:rPr>
              <a:t>w = h; u = h-&gt;link</a:t>
            </a:r>
            <a:r>
              <a:rPr lang="en-US" altLang="zh-CN" sz="1600" b="0"/>
              <a:t>;</a:t>
            </a:r>
            <a:r>
              <a:rPr lang="zh-CN" altLang="en-US" sz="1600" b="0"/>
              <a:t> </a:t>
            </a:r>
            <a:r>
              <a:rPr lang="en-US" altLang="zh-CN" sz="1600" b="0">
                <a:solidFill>
                  <a:schemeClr val="folHlink"/>
                </a:solidFill>
              </a:rPr>
              <a:t>//</a:t>
            </a:r>
            <a:r>
              <a:rPr lang="zh-CN" altLang="en-US" sz="1600" b="0">
                <a:solidFill>
                  <a:schemeClr val="folHlink"/>
                </a:solidFill>
              </a:rPr>
              <a:t>从头遍历链表</a:t>
            </a:r>
            <a:endParaRPr lang="en-US" altLang="zh-CN" sz="1600" b="0">
              <a:solidFill>
                <a:schemeClr val="folHlink"/>
              </a:solidFill>
            </a:endParaRPr>
          </a:p>
          <a:p>
            <a:pPr marL="990600" lvl="1" indent="-533400" eaLnBrk="1" hangingPunct="1">
              <a:lnSpc>
                <a:spcPct val="80000"/>
              </a:lnSpc>
              <a:buFont typeface="Wingdings" pitchFamily="2" charset="2"/>
              <a:buAutoNum type="arabicPeriod"/>
            </a:pPr>
            <a:r>
              <a:rPr lang="en-US" altLang="zh-CN" sz="1600" b="0"/>
              <a:t>      while (u != NULL &amp;&amp; </a:t>
            </a:r>
            <a:r>
              <a:rPr lang="en-US" altLang="zh-CN" sz="1600" b="0">
                <a:solidFill>
                  <a:srgbClr val="0066FF"/>
                </a:solidFill>
              </a:rPr>
              <a:t>n &lt; u-&gt;power</a:t>
            </a:r>
            <a:r>
              <a:rPr lang="en-US" altLang="zh-CN" sz="1600" b="0"/>
              <a:t>) {</a:t>
            </a:r>
          </a:p>
          <a:p>
            <a:pPr marL="990600" lvl="1" indent="-533400" eaLnBrk="1" hangingPunct="1">
              <a:lnSpc>
                <a:spcPct val="80000"/>
              </a:lnSpc>
              <a:buFont typeface="Wingdings" pitchFamily="2" charset="2"/>
              <a:buAutoNum type="arabicPeriod"/>
            </a:pPr>
            <a:r>
              <a:rPr lang="en-US" altLang="zh-CN" sz="1600" b="0"/>
              <a:t>            w = u;  u = u-&gt;link;</a:t>
            </a:r>
          </a:p>
          <a:p>
            <a:pPr marL="990600" lvl="1" indent="-533400" eaLnBrk="1" hangingPunct="1">
              <a:lnSpc>
                <a:spcPct val="80000"/>
              </a:lnSpc>
              <a:buFont typeface="Wingdings" pitchFamily="2" charset="2"/>
              <a:buAutoNum type="arabicPeriod"/>
            </a:pPr>
            <a:r>
              <a:rPr lang="en-US" altLang="zh-CN" sz="1600" b="0"/>
              <a:t>      }</a:t>
            </a:r>
          </a:p>
          <a:p>
            <a:pPr marL="990600" lvl="1" indent="-533400" eaLnBrk="1" hangingPunct="1">
              <a:lnSpc>
                <a:spcPct val="80000"/>
              </a:lnSpc>
              <a:buFont typeface="Wingdings" pitchFamily="2" charset="2"/>
              <a:buAutoNum type="arabicPeriod"/>
            </a:pPr>
            <a:r>
              <a:rPr lang="en-US" altLang="zh-CN" sz="1600" b="0"/>
              <a:t>      w-&gt;link = p;   p-&gt;link = u;</a:t>
            </a:r>
          </a:p>
          <a:p>
            <a:pPr marL="990600" lvl="1" indent="-533400" eaLnBrk="1" hangingPunct="1">
              <a:lnSpc>
                <a:spcPct val="80000"/>
              </a:lnSpc>
              <a:buFont typeface="Wingdings" pitchFamily="2" charset="2"/>
              <a:buAutoNum type="arabicPeriod"/>
            </a:pPr>
            <a:r>
              <a:rPr lang="en-US" altLang="zh-CN" sz="1600" b="0"/>
              <a:t>      </a:t>
            </a:r>
            <a:r>
              <a:rPr lang="en-US" altLang="zh-CN" sz="1600" b="0">
                <a:solidFill>
                  <a:srgbClr val="0066FF"/>
                </a:solidFill>
              </a:rPr>
              <a:t>scanf</a:t>
            </a:r>
            <a:r>
              <a:rPr lang="en-US" altLang="zh-CN" sz="1600" b="0"/>
              <a:t>("%d", &amp;n);  </a:t>
            </a:r>
            <a:r>
              <a:rPr lang="en-US" altLang="zh-CN" sz="1600" b="0">
                <a:solidFill>
                  <a:schemeClr val="folHlink"/>
                </a:solidFill>
              </a:rPr>
              <a:t>//</a:t>
            </a:r>
            <a:r>
              <a:rPr lang="zh-CN" altLang="en-US" sz="1600" b="0">
                <a:solidFill>
                  <a:schemeClr val="folHlink"/>
                </a:solidFill>
              </a:rPr>
              <a:t>输入幂次</a:t>
            </a:r>
          </a:p>
          <a:p>
            <a:pPr marL="990600" lvl="1" indent="-533400" eaLnBrk="1" hangingPunct="1">
              <a:lnSpc>
                <a:spcPct val="80000"/>
              </a:lnSpc>
              <a:buFont typeface="Wingdings" pitchFamily="2" charset="2"/>
              <a:buAutoNum type="arabicPeriod"/>
            </a:pPr>
            <a:r>
              <a:rPr lang="zh-CN" altLang="en-US" sz="1600" b="0"/>
              <a:t>   </a:t>
            </a:r>
            <a:r>
              <a:rPr lang="en-US" altLang="zh-CN" sz="1600" b="0"/>
              <a:t>}</a:t>
            </a:r>
          </a:p>
          <a:p>
            <a:pPr marL="990600" lvl="1" indent="-533400" eaLnBrk="1" hangingPunct="1">
              <a:lnSpc>
                <a:spcPct val="80000"/>
              </a:lnSpc>
              <a:buFont typeface="Wingdings" pitchFamily="2" charset="2"/>
              <a:buAutoNum type="arabicPeriod"/>
            </a:pPr>
            <a:r>
              <a:rPr lang="en-US" altLang="zh-CN" sz="1600" b="0"/>
              <a:t>   return h;</a:t>
            </a:r>
          </a:p>
          <a:p>
            <a:pPr marL="990600" lvl="1" indent="-533400" eaLnBrk="1" hangingPunct="1">
              <a:lnSpc>
                <a:spcPct val="80000"/>
              </a:lnSpc>
              <a:buFont typeface="Wingdings" pitchFamily="2" charset="2"/>
              <a:buAutoNum type="arabicPeriod"/>
            </a:pPr>
            <a:r>
              <a:rPr lang="en-US" altLang="zh-CN" sz="1600" b="0"/>
              <a:t>}</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39020E96-1C60-1240-CFD6-FB8F65B543E7}"/>
              </a:ext>
            </a:extLst>
          </p:cNvPr>
          <p:cNvSpPr>
            <a:spLocks noGrp="1" noChangeArrowheads="1"/>
          </p:cNvSpPr>
          <p:nvPr>
            <p:ph type="title"/>
          </p:nvPr>
        </p:nvSpPr>
        <p:spPr/>
        <p:txBody>
          <a:bodyPr/>
          <a:lstStyle/>
          <a:p>
            <a:pPr eaLnBrk="1" hangingPunct="1"/>
            <a:r>
              <a:rPr lang="zh-CN" altLang="en-US"/>
              <a:t>例</a:t>
            </a:r>
            <a:r>
              <a:rPr lang="en-US" altLang="zh-CN"/>
              <a:t>7.6 (</a:t>
            </a:r>
            <a:r>
              <a:rPr lang="zh-CN" altLang="en-US"/>
              <a:t>续</a:t>
            </a:r>
            <a:r>
              <a:rPr lang="en-US" altLang="zh-CN"/>
              <a:t>)</a:t>
            </a:r>
          </a:p>
        </p:txBody>
      </p:sp>
      <p:sp>
        <p:nvSpPr>
          <p:cNvPr id="178179" name="Rectangle 3">
            <a:extLst>
              <a:ext uri="{FF2B5EF4-FFF2-40B4-BE49-F238E27FC236}">
                <a16:creationId xmlns:a16="http://schemas.microsoft.com/office/drawing/2014/main" id="{B55DC874-1C38-0DC3-481C-9424EF101875}"/>
              </a:ext>
            </a:extLst>
          </p:cNvPr>
          <p:cNvSpPr>
            <a:spLocks noGrp="1" noChangeArrowheads="1"/>
          </p:cNvSpPr>
          <p:nvPr>
            <p:ph type="body" idx="1"/>
          </p:nvPr>
        </p:nvSpPr>
        <p:spPr>
          <a:xfrm>
            <a:off x="827088" y="1733574"/>
            <a:ext cx="8128000" cy="4503738"/>
          </a:xfrm>
        </p:spPr>
        <p:txBody>
          <a:bodyPr/>
          <a:lstStyle/>
          <a:p>
            <a:pPr marL="990600" lvl="1" indent="-533400" eaLnBrk="1" hangingPunct="1">
              <a:lnSpc>
                <a:spcPct val="90000"/>
              </a:lnSpc>
              <a:buFont typeface="Wingdings" pitchFamily="2" charset="2"/>
              <a:buAutoNum type="arabicPeriod"/>
            </a:pPr>
            <a:r>
              <a:rPr lang="en-US" altLang="zh-CN" sz="1600" b="0"/>
              <a:t>void main(){</a:t>
            </a:r>
          </a:p>
          <a:p>
            <a:pPr marL="990600" lvl="1" indent="-533400" eaLnBrk="1" hangingPunct="1">
              <a:lnSpc>
                <a:spcPct val="90000"/>
              </a:lnSpc>
              <a:buFont typeface="Wingdings" pitchFamily="2" charset="2"/>
              <a:buAutoNum type="arabicPeriod"/>
            </a:pPr>
            <a:r>
              <a:rPr lang="en-US" altLang="zh-CN" sz="1600" b="0"/>
              <a:t>   struct node *h1, *h2, *p, *q;</a:t>
            </a:r>
          </a:p>
          <a:p>
            <a:pPr marL="990600" lvl="1" indent="-533400" eaLnBrk="1" hangingPunct="1">
              <a:lnSpc>
                <a:spcPct val="90000"/>
              </a:lnSpc>
              <a:buFont typeface="Wingdings" pitchFamily="2" charset="2"/>
              <a:buAutoNum type="arabicPeriod"/>
            </a:pPr>
            <a:r>
              <a:rPr lang="en-US" altLang="zh-CN" sz="1600" b="0"/>
              <a:t>   h1 = create_list();   h2 = create_list();</a:t>
            </a:r>
          </a:p>
          <a:p>
            <a:pPr marL="990600" lvl="1" indent="-533400" eaLnBrk="1" hangingPunct="1">
              <a:lnSpc>
                <a:spcPct val="90000"/>
              </a:lnSpc>
              <a:buFont typeface="Wingdings" pitchFamily="2" charset="2"/>
              <a:buAutoNum type="arabicPeriod"/>
            </a:pPr>
            <a:r>
              <a:rPr lang="en-US" altLang="zh-CN" sz="1600" b="0"/>
              <a:t>   addpoly(h1, h2);  q = h1-&gt;link;</a:t>
            </a:r>
          </a:p>
          <a:p>
            <a:pPr marL="990600" lvl="1" indent="-533400" eaLnBrk="1" hangingPunct="1">
              <a:lnSpc>
                <a:spcPct val="90000"/>
              </a:lnSpc>
              <a:buFont typeface="Wingdings" pitchFamily="2" charset="2"/>
              <a:buAutoNum type="arabicPeriod"/>
            </a:pPr>
            <a:r>
              <a:rPr lang="en-US" altLang="zh-CN" sz="1600" b="0"/>
              <a:t>   while (q){</a:t>
            </a:r>
          </a:p>
          <a:p>
            <a:pPr marL="990600" lvl="1" indent="-533400" eaLnBrk="1" hangingPunct="1">
              <a:lnSpc>
                <a:spcPct val="90000"/>
              </a:lnSpc>
              <a:buFont typeface="Wingdings" pitchFamily="2" charset="2"/>
              <a:buAutoNum type="arabicPeriod"/>
            </a:pPr>
            <a:r>
              <a:rPr lang="en-US" altLang="zh-CN" sz="1600" b="0"/>
              <a:t>             printf("%d  %f\n", q-&gt;power, q-&gt;coef);</a:t>
            </a:r>
          </a:p>
          <a:p>
            <a:pPr marL="990600" lvl="1" indent="-533400" eaLnBrk="1" hangingPunct="1">
              <a:lnSpc>
                <a:spcPct val="90000"/>
              </a:lnSpc>
              <a:buFont typeface="Wingdings" pitchFamily="2" charset="2"/>
              <a:buAutoNum type="arabicPeriod"/>
            </a:pPr>
            <a:r>
              <a:rPr lang="en-US" altLang="zh-CN" sz="1600" b="0"/>
              <a:t>             q = q-&gt;link;</a:t>
            </a:r>
          </a:p>
          <a:p>
            <a:pPr marL="990600" lvl="1" indent="-533400" eaLnBrk="1" hangingPunct="1">
              <a:lnSpc>
                <a:spcPct val="90000"/>
              </a:lnSpc>
              <a:buFont typeface="Wingdings" pitchFamily="2" charset="2"/>
              <a:buAutoNum type="arabicPeriod"/>
            </a:pPr>
            <a:r>
              <a:rPr lang="en-US" altLang="zh-CN" sz="1600" b="0"/>
              <a:t>   }</a:t>
            </a:r>
          </a:p>
          <a:p>
            <a:pPr marL="990600" lvl="1" indent="-533400" eaLnBrk="1" hangingPunct="1">
              <a:lnSpc>
                <a:spcPct val="90000"/>
              </a:lnSpc>
              <a:buFont typeface="Wingdings" pitchFamily="2" charset="2"/>
              <a:buAutoNum type="arabicPeriod"/>
            </a:pPr>
            <a:r>
              <a:rPr lang="en-US" altLang="zh-CN" sz="1600" b="0"/>
              <a:t>   q = h1;</a:t>
            </a:r>
            <a:r>
              <a:rPr lang="zh-CN" altLang="en-US" sz="1600" b="0"/>
              <a:t>  </a:t>
            </a:r>
            <a:r>
              <a:rPr lang="en-US" altLang="zh-CN" sz="1600" b="0">
                <a:solidFill>
                  <a:srgbClr val="00B050"/>
                </a:solidFill>
              </a:rPr>
              <a:t>//</a:t>
            </a:r>
            <a:r>
              <a:rPr lang="zh-CN" altLang="en-US" sz="1600" b="0">
                <a:solidFill>
                  <a:srgbClr val="00B050"/>
                </a:solidFill>
              </a:rPr>
              <a:t>释放资源</a:t>
            </a:r>
            <a:endParaRPr lang="en-US" altLang="zh-CN" sz="1600" b="0">
              <a:solidFill>
                <a:srgbClr val="00B050"/>
              </a:solidFill>
            </a:endParaRPr>
          </a:p>
          <a:p>
            <a:pPr marL="990600" lvl="1" indent="-533400" eaLnBrk="1" hangingPunct="1">
              <a:lnSpc>
                <a:spcPct val="90000"/>
              </a:lnSpc>
              <a:buFont typeface="Wingdings" pitchFamily="2" charset="2"/>
              <a:buAutoNum type="arabicPeriod"/>
            </a:pPr>
            <a:r>
              <a:rPr lang="en-US" altLang="zh-CN" sz="1600" b="0"/>
              <a:t>   while (q)   {</a:t>
            </a:r>
          </a:p>
          <a:p>
            <a:pPr marL="990600" lvl="1" indent="-533400" eaLnBrk="1" hangingPunct="1">
              <a:lnSpc>
                <a:spcPct val="90000"/>
              </a:lnSpc>
              <a:buFont typeface="Wingdings" pitchFamily="2" charset="2"/>
              <a:buAutoNum type="arabicPeriod"/>
            </a:pPr>
            <a:r>
              <a:rPr lang="en-US" altLang="zh-CN" sz="1600" b="0"/>
              <a:t>      p = q-&gt;link;   free(q);  q = p;</a:t>
            </a:r>
          </a:p>
          <a:p>
            <a:pPr marL="990600" lvl="1" indent="-533400" eaLnBrk="1" hangingPunct="1">
              <a:lnSpc>
                <a:spcPct val="90000"/>
              </a:lnSpc>
              <a:buFont typeface="Wingdings" pitchFamily="2" charset="2"/>
              <a:buAutoNum type="arabicPeriod"/>
            </a:pPr>
            <a:r>
              <a:rPr lang="en-US" altLang="zh-CN" sz="1600" b="0"/>
              <a:t>   }</a:t>
            </a:r>
          </a:p>
          <a:p>
            <a:pPr marL="990600" lvl="1" indent="-533400" eaLnBrk="1" hangingPunct="1">
              <a:lnSpc>
                <a:spcPct val="90000"/>
              </a:lnSpc>
              <a:buFont typeface="Wingdings" pitchFamily="2" charset="2"/>
              <a:buAutoNum type="arabicPeriod"/>
            </a:pPr>
            <a:r>
              <a:rPr lang="en-US" altLang="zh-CN" sz="1600" b="0"/>
              <a:t>   q = h2;</a:t>
            </a:r>
            <a:r>
              <a:rPr lang="zh-CN" altLang="en-US" sz="1600" b="0"/>
              <a:t> </a:t>
            </a:r>
            <a:r>
              <a:rPr lang="en-US" altLang="zh-CN" sz="1600" b="0">
                <a:solidFill>
                  <a:srgbClr val="00B050"/>
                </a:solidFill>
              </a:rPr>
              <a:t>//</a:t>
            </a:r>
            <a:r>
              <a:rPr lang="zh-CN" altLang="en-US" sz="1600" b="0">
                <a:solidFill>
                  <a:srgbClr val="00B050"/>
                </a:solidFill>
              </a:rPr>
              <a:t>释放资源</a:t>
            </a:r>
            <a:endParaRPr lang="en-US" altLang="zh-CN" sz="1600" b="0">
              <a:solidFill>
                <a:srgbClr val="00B050"/>
              </a:solidFill>
            </a:endParaRPr>
          </a:p>
          <a:p>
            <a:pPr marL="990600" lvl="1" indent="-533400" eaLnBrk="1" hangingPunct="1">
              <a:lnSpc>
                <a:spcPct val="90000"/>
              </a:lnSpc>
              <a:buFont typeface="Wingdings" pitchFamily="2" charset="2"/>
              <a:buAutoNum type="arabicPeriod"/>
            </a:pPr>
            <a:r>
              <a:rPr lang="en-US" altLang="zh-CN" sz="1600" b="0"/>
              <a:t>   while (q) {</a:t>
            </a:r>
          </a:p>
          <a:p>
            <a:pPr marL="990600" lvl="1" indent="-533400" eaLnBrk="1" hangingPunct="1">
              <a:lnSpc>
                <a:spcPct val="90000"/>
              </a:lnSpc>
              <a:buFont typeface="Wingdings" pitchFamily="2" charset="2"/>
              <a:buAutoNum type="arabicPeriod"/>
            </a:pPr>
            <a:r>
              <a:rPr lang="en-US" altLang="zh-CN" sz="1600" b="0"/>
              <a:t>     p = q-&gt;link;   free(q);       q = p;</a:t>
            </a:r>
          </a:p>
          <a:p>
            <a:pPr marL="990600" lvl="1" indent="-533400" eaLnBrk="1" hangingPunct="1">
              <a:lnSpc>
                <a:spcPct val="90000"/>
              </a:lnSpc>
              <a:buFont typeface="Wingdings" pitchFamily="2" charset="2"/>
              <a:buAutoNum type="arabicPeriod"/>
            </a:pPr>
            <a:r>
              <a:rPr lang="en-US" altLang="zh-CN" sz="1600" b="0"/>
              <a:t>   }</a:t>
            </a:r>
          </a:p>
          <a:p>
            <a:pPr marL="990600" lvl="1" indent="-533400" eaLnBrk="1" hangingPunct="1">
              <a:lnSpc>
                <a:spcPct val="90000"/>
              </a:lnSpc>
              <a:buFont typeface="Wingdings" pitchFamily="2" charset="2"/>
              <a:buAutoNum type="arabicPeriod"/>
            </a:pPr>
            <a:r>
              <a:rPr lang="en-US" altLang="zh-CN" sz="1600" b="0"/>
              <a:t>}</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6587DAED-8F8E-ABD7-05EA-3E98EB32765E}"/>
              </a:ext>
            </a:extLst>
          </p:cNvPr>
          <p:cNvSpPr>
            <a:spLocks noGrp="1" noChangeArrowheads="1"/>
          </p:cNvSpPr>
          <p:nvPr>
            <p:ph type="ctrTitle"/>
          </p:nvPr>
        </p:nvSpPr>
        <p:spPr/>
        <p:txBody>
          <a:bodyPr/>
          <a:lstStyle/>
          <a:p>
            <a:pPr eaLnBrk="1" hangingPunct="1"/>
            <a:r>
              <a:rPr lang="en-US" altLang="zh-CN" sz="6000">
                <a:latin typeface="Comic Sans MS" panose="030F0902030302020204" pitchFamily="66" charset="0"/>
              </a:rPr>
              <a:t>That’s the end</a:t>
            </a:r>
          </a:p>
        </p:txBody>
      </p:sp>
      <p:sp>
        <p:nvSpPr>
          <p:cNvPr id="617475" name="Rectangle 3">
            <a:extLst>
              <a:ext uri="{FF2B5EF4-FFF2-40B4-BE49-F238E27FC236}">
                <a16:creationId xmlns:a16="http://schemas.microsoft.com/office/drawing/2014/main" id="{1341F813-74A5-C505-4B5B-4B8CD8261288}"/>
              </a:ext>
            </a:extLst>
          </p:cNvPr>
          <p:cNvSpPr>
            <a:spLocks noGrp="1" noChangeArrowheads="1"/>
          </p:cNvSpPr>
          <p:nvPr>
            <p:ph type="subTitle" idx="1"/>
          </p:nvPr>
        </p:nvSpPr>
        <p:spPr/>
        <p:txBody>
          <a:bodyPr/>
          <a:lstStyle/>
          <a:p>
            <a:pPr eaLnBrk="1" hangingPunct="1"/>
            <a:r>
              <a:rPr lang="en-US" altLang="zh-CN" sz="4400">
                <a:latin typeface="Comic Sans MS" panose="030F0902030302020204" pitchFamily="66" charset="0"/>
              </a:rPr>
              <a:t>Thanks</a:t>
            </a:r>
            <a:r>
              <a:rPr lang="zh-CN" altLang="en-US" sz="4400">
                <a:latin typeface="Comic Sans MS" panose="030F0902030302020204" pitchFamily="66" charset="0"/>
              </a:rPr>
              <a:t>！</a:t>
            </a:r>
            <a:endParaRPr lang="en-US" altLang="zh-CN" sz="4400">
              <a:latin typeface="Comic Sans MS" panose="030F0902030302020204" pitchFamily="66" charset="0"/>
            </a:endParaRPr>
          </a:p>
        </p:txBody>
      </p:sp>
      <p:pic>
        <p:nvPicPr>
          <p:cNvPr id="2" name="Picture 2" descr="BS00559_">
            <a:hlinkClick r:id="rId3" action="ppaction://hlinkpres?slideindex=1&amp;slidetitle=PowerPoint 演示文稿"/>
            <a:extLst>
              <a:ext uri="{FF2B5EF4-FFF2-40B4-BE49-F238E27FC236}">
                <a16:creationId xmlns:a16="http://schemas.microsoft.com/office/drawing/2014/main" id="{C669D8D2-8384-F360-1DEA-5EB843FC58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200" y="332656"/>
            <a:ext cx="25146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7475">
                                            <p:txEl>
                                              <p:pRg st="0" end="0"/>
                                            </p:txEl>
                                          </p:spTgt>
                                        </p:tgtEl>
                                        <p:attrNameLst>
                                          <p:attrName>style.visibility</p:attrName>
                                        </p:attrNameLst>
                                      </p:cBhvr>
                                      <p:to>
                                        <p:strVal val="visible"/>
                                      </p:to>
                                    </p:set>
                                    <p:anim calcmode="lin" valueType="num">
                                      <p:cBhvr additive="base">
                                        <p:cTn id="7" dur="500" fill="hold"/>
                                        <p:tgtEl>
                                          <p:spTgt spid="6174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747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475" grpId="0" build="p" autoUpdateAnimBg="0"/>
    </p:bld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Unicode MS"/>
        <a:ea typeface="华文隶书"/>
        <a:cs typeface=""/>
      </a:majorFont>
      <a:minorFont>
        <a:latin typeface="Tahom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Char char="u"/>
          <a:tabLst/>
          <a:defRPr kumimoji="0" lang="zh-CN" altLang="en-US" sz="3200" b="0" i="1" u="none" strike="noStrike" cap="none" normalizeH="0" baseline="0" smtClean="0">
            <a:ln>
              <a:noFill/>
            </a:ln>
            <a:solidFill>
              <a:schemeClr val="tx1"/>
            </a:solidFill>
            <a:effectLst/>
            <a:latin typeface="Arial Unicode MS" pitchFamily="34" charset="-122"/>
            <a:ea typeface="楷体_GB2312"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
            <a:schemeClr val="folHlink"/>
          </a:buClr>
          <a:buSzPct val="60000"/>
          <a:buFont typeface="Wingdings" pitchFamily="2" charset="2"/>
          <a:buChar char="u"/>
          <a:tabLst/>
          <a:defRPr kumimoji="0" lang="zh-CN" altLang="en-US" sz="3200" b="0" i="1" u="none" strike="noStrike" cap="none" normalizeH="0" baseline="0" smtClean="0">
            <a:ln>
              <a:noFill/>
            </a:ln>
            <a:solidFill>
              <a:schemeClr val="tx1"/>
            </a:solidFill>
            <a:effectLst/>
            <a:latin typeface="Arial Unicode MS" pitchFamily="34" charset="-122"/>
            <a:ea typeface="楷体_GB2312"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25014</TotalTime>
  <Words>17695</Words>
  <Application>Microsoft Macintosh PowerPoint</Application>
  <PresentationFormat>全屏显示(4:3)</PresentationFormat>
  <Paragraphs>1441</Paragraphs>
  <Slides>143</Slides>
  <Notes>65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143</vt:i4>
      </vt:variant>
    </vt:vector>
  </HeadingPairs>
  <TitlesOfParts>
    <vt:vector size="156" baseType="lpstr">
      <vt:lpstr>黑体</vt:lpstr>
      <vt:lpstr>宋体</vt:lpstr>
      <vt:lpstr>Microsoft YaHei</vt:lpstr>
      <vt:lpstr>Arial Unicode MS</vt:lpstr>
      <vt:lpstr>Arial</vt:lpstr>
      <vt:lpstr>Arial Narrow</vt:lpstr>
      <vt:lpstr>Comic Sans MS</vt:lpstr>
      <vt:lpstr>Courier New</vt:lpstr>
      <vt:lpstr>Monotype Corsiva</vt:lpstr>
      <vt:lpstr>Tahoma</vt:lpstr>
      <vt:lpstr>Times New Roman</vt:lpstr>
      <vt:lpstr>Wingdings</vt:lpstr>
      <vt:lpstr>Blends</vt:lpstr>
      <vt:lpstr>C语言程序设计</vt:lpstr>
      <vt:lpstr>第7章 结构和链表</vt:lpstr>
      <vt:lpstr>这节课，我们将</vt:lpstr>
      <vt:lpstr>结构类型和结构变量</vt:lpstr>
      <vt:lpstr>从基本数据类型、复合数据类型到抽象数据类型</vt:lpstr>
      <vt:lpstr>一个问题</vt:lpstr>
      <vt:lpstr>结构类型</vt:lpstr>
      <vt:lpstr>简单结构类型例</vt:lpstr>
      <vt:lpstr>简单结构类型例</vt:lpstr>
      <vt:lpstr>嵌套结构类型例</vt:lpstr>
      <vt:lpstr>结构变量</vt:lpstr>
      <vt:lpstr>定义结构变量</vt:lpstr>
      <vt:lpstr>定义结构变量(续)</vt:lpstr>
      <vt:lpstr>定义结构变量(续)</vt:lpstr>
      <vt:lpstr>定义结构变量(续)</vt:lpstr>
      <vt:lpstr>定义中的“重名”</vt:lpstr>
      <vt:lpstr>结构变量初始化</vt:lpstr>
      <vt:lpstr>和数组、普通变量初始化的联系</vt:lpstr>
      <vt:lpstr>结构的内存占用</vt:lpstr>
      <vt:lpstr>结构的内存占用（续）</vt:lpstr>
      <vt:lpstr>结构的内存占用（续）</vt:lpstr>
      <vt:lpstr>结构的内存占用（续）</vt:lpstr>
      <vt:lpstr>小结：struct类型的特点</vt:lpstr>
      <vt:lpstr>结构指针变量</vt:lpstr>
      <vt:lpstr>结构成员的访问</vt:lpstr>
      <vt:lpstr>结构成员的访问（续）</vt:lpstr>
      <vt:lpstr>结构成员的访问（续）</vt:lpstr>
      <vt:lpstr>结构成员的访问（续）</vt:lpstr>
      <vt:lpstr>结构成员的访问（续）</vt:lpstr>
      <vt:lpstr>结构成员的访问（续）</vt:lpstr>
      <vt:lpstr>结构成员的访问（续）</vt:lpstr>
      <vt:lpstr>结构数组</vt:lpstr>
      <vt:lpstr>结构和数组</vt:lpstr>
      <vt:lpstr>访问结构数组</vt:lpstr>
      <vt:lpstr>访问结构数组</vt:lpstr>
      <vt:lpstr>结构与函数</vt:lpstr>
      <vt:lpstr>结构作为函数参数</vt:lpstr>
      <vt:lpstr>例7.3 程序框架描述</vt:lpstr>
      <vt:lpstr>例7.3  主要数据结构和函数</vt:lpstr>
      <vt:lpstr>例7.3  完整程序</vt:lpstr>
      <vt:lpstr>例7.3  完整程序(续*)</vt:lpstr>
      <vt:lpstr>例7.3  完整程序(续*)</vt:lpstr>
      <vt:lpstr>结构形参</vt:lpstr>
      <vt:lpstr>结构指针形参</vt:lpstr>
      <vt:lpstr>返回结构类型值</vt:lpstr>
      <vt:lpstr>结构形参 vs. 结构指针形参</vt:lpstr>
      <vt:lpstr>比较小结</vt:lpstr>
      <vt:lpstr>例7.2</vt:lpstr>
      <vt:lpstr>例7.2 (续)</vt:lpstr>
      <vt:lpstr>例7.2 (续)</vt:lpstr>
      <vt:lpstr>例7.2 (续)</vt:lpstr>
      <vt:lpstr>例7.2 (续)</vt:lpstr>
      <vt:lpstr>例7.2 (续)</vt:lpstr>
      <vt:lpstr>例7.2 (续)</vt:lpstr>
      <vt:lpstr>联合与位域*</vt:lpstr>
      <vt:lpstr>联合</vt:lpstr>
      <vt:lpstr>联合</vt:lpstr>
      <vt:lpstr>联合</vt:lpstr>
      <vt:lpstr>位域（bit-fields）</vt:lpstr>
      <vt:lpstr>联合与位域</vt:lpstr>
      <vt:lpstr>联合与位域（续）</vt:lpstr>
      <vt:lpstr>联合与位域（续）</vt:lpstr>
      <vt:lpstr>枚举</vt:lpstr>
      <vt:lpstr>定义枚举类型</vt:lpstr>
      <vt:lpstr>定义枚举类型</vt:lpstr>
      <vt:lpstr>定义枚举类型(续)</vt:lpstr>
      <vt:lpstr>枚举类型的值</vt:lpstr>
      <vt:lpstr>枚举类型的值</vt:lpstr>
      <vt:lpstr>枚举类型数据的比较</vt:lpstr>
      <vt:lpstr>使用枚举类型举例</vt:lpstr>
      <vt:lpstr>使用枚举类型举例(续)</vt:lpstr>
      <vt:lpstr>使用枚举类型举例(续)</vt:lpstr>
      <vt:lpstr>类型定义</vt:lpstr>
      <vt:lpstr>类型定义</vt:lpstr>
      <vt:lpstr>类型定义例</vt:lpstr>
      <vt:lpstr>数组类型的定义</vt:lpstr>
      <vt:lpstr>给已有类型定义别名</vt:lpstr>
      <vt:lpstr>给已有类型定义别名(续)</vt:lpstr>
      <vt:lpstr>给已有类型定义别名(续)</vt:lpstr>
      <vt:lpstr>使用类型定义</vt:lpstr>
      <vt:lpstr>使用类型定义构造复杂的数据结构</vt:lpstr>
      <vt:lpstr>利用已定义的类型，定义新类型</vt:lpstr>
      <vt:lpstr>类型定义和内存分配</vt:lpstr>
      <vt:lpstr>链表及其应用(重点)</vt:lpstr>
      <vt:lpstr>设定变量的静态方法和动态方法</vt:lpstr>
      <vt:lpstr>动态数据结构</vt:lpstr>
      <vt:lpstr>自引用结构</vt:lpstr>
      <vt:lpstr>7.4.1 内存动态分配和释放库函数</vt:lpstr>
      <vt:lpstr>malloc()函数</vt:lpstr>
      <vt:lpstr>calloc()函数</vt:lpstr>
      <vt:lpstr>free()函数</vt:lpstr>
      <vt:lpstr>三个函数的小结</vt:lpstr>
      <vt:lpstr>7.4.2  用链表实现的线性表</vt:lpstr>
      <vt:lpstr>线性表(续)</vt:lpstr>
      <vt:lpstr>链表概述</vt:lpstr>
      <vt:lpstr>图7-2中链表的说明</vt:lpstr>
      <vt:lpstr>“不完整的”结构定义举例</vt:lpstr>
      <vt:lpstr>单向链表和双向链表</vt:lpstr>
      <vt:lpstr>7.4.3  链表的基本操作</vt:lpstr>
      <vt:lpstr>建立空链表</vt:lpstr>
      <vt:lpstr>生成指定值的新表元</vt:lpstr>
      <vt:lpstr>向链表插入一个新表元</vt:lpstr>
      <vt:lpstr>动画：在首表元之前插入新表元</vt:lpstr>
      <vt:lpstr>向链表插入一个新表元(续)</vt:lpstr>
      <vt:lpstr>动画：在某指针所指的表元之后插入新表元</vt:lpstr>
      <vt:lpstr>向链表插入一个新表元(续)</vt:lpstr>
      <vt:lpstr>遍历链表</vt:lpstr>
      <vt:lpstr>在链表中查找指定值的表元</vt:lpstr>
      <vt:lpstr>无序链表上的简单查找</vt:lpstr>
      <vt:lpstr>有序链表上的简单查找</vt:lpstr>
      <vt:lpstr>无序链表上的动态查找</vt:lpstr>
      <vt:lpstr>有序链表上的动态查找</vt:lpstr>
      <vt:lpstr>有序链表上的动态查找(续)</vt:lpstr>
      <vt:lpstr>铺垫1：从链表删除指定表元的后继表元</vt:lpstr>
      <vt:lpstr>图7-5</vt:lpstr>
      <vt:lpstr>动画：从链表删除指定表元的后继表元</vt:lpstr>
      <vt:lpstr>铺垫2：删除链表的第一个表元</vt:lpstr>
      <vt:lpstr>从链表删除指定值的表元</vt:lpstr>
      <vt:lpstr>从链表删除指定值的表元(续)</vt:lpstr>
      <vt:lpstr>从链表删除指定值的表元(续)</vt:lpstr>
      <vt:lpstr>从链表删除指定值的表元(续)</vt:lpstr>
      <vt:lpstr>在有序链表中插入指定值的表元(*)</vt:lpstr>
      <vt:lpstr>插入、删除时要考虑头指针</vt:lpstr>
      <vt:lpstr>图7.6  带辅助表元的链表</vt:lpstr>
      <vt:lpstr>链表 vs. 数组</vt:lpstr>
      <vt:lpstr>7.4.4  链表程序设计实例——例7.3</vt:lpstr>
      <vt:lpstr>例7.3 (续)</vt:lpstr>
      <vt:lpstr>例7.3 (续)</vt:lpstr>
      <vt:lpstr>例7.3 (续)</vt:lpstr>
      <vt:lpstr>例7.4  编写一个函数，输入整数，建立一个按值从小到大顺序链接的链表</vt:lpstr>
      <vt:lpstr>例7.5</vt:lpstr>
      <vt:lpstr>动画：在首表元之前插入新表元</vt:lpstr>
      <vt:lpstr>例7.5 (续)</vt:lpstr>
      <vt:lpstr>例7.5 (补)</vt:lpstr>
      <vt:lpstr>例7.5 (补)</vt:lpstr>
      <vt:lpstr>例7.6</vt:lpstr>
      <vt:lpstr>例7.6 (续)</vt:lpstr>
      <vt:lpstr>例7.6 (续)</vt:lpstr>
      <vt:lpstr>例7.6 (续)</vt:lpstr>
      <vt:lpstr>例7.6 (续)</vt:lpstr>
      <vt:lpstr>例7.6 (续)</vt:lpstr>
      <vt:lpstr>例7.6 (续)</vt:lpstr>
      <vt:lpstr>That’s the end</vt:lpstr>
    </vt:vector>
  </TitlesOfParts>
  <Company>fudan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程序设计实习</dc:title>
  <dc:creator>zhenying</dc:creator>
  <cp:lastModifiedBy>Ben</cp:lastModifiedBy>
  <cp:revision>431</cp:revision>
  <dcterms:created xsi:type="dcterms:W3CDTF">2007-01-26T04:19:18Z</dcterms:created>
  <dcterms:modified xsi:type="dcterms:W3CDTF">2025-12-11T12:37:32Z</dcterms:modified>
</cp:coreProperties>
</file>