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53"/>
  </p:notesMasterIdLst>
  <p:handoutMasterIdLst>
    <p:handoutMasterId r:id="rId54"/>
  </p:handoutMasterIdLst>
  <p:sldIdLst>
    <p:sldId id="256" r:id="rId2"/>
    <p:sldId id="482" r:id="rId3"/>
    <p:sldId id="483" r:id="rId4"/>
    <p:sldId id="484" r:id="rId5"/>
    <p:sldId id="485" r:id="rId6"/>
    <p:sldId id="486" r:id="rId7"/>
    <p:sldId id="487" r:id="rId8"/>
    <p:sldId id="488" r:id="rId9"/>
    <p:sldId id="489" r:id="rId10"/>
    <p:sldId id="531" r:id="rId11"/>
    <p:sldId id="490" r:id="rId12"/>
    <p:sldId id="491" r:id="rId13"/>
    <p:sldId id="492" r:id="rId14"/>
    <p:sldId id="527" r:id="rId15"/>
    <p:sldId id="493" r:id="rId16"/>
    <p:sldId id="494" r:id="rId17"/>
    <p:sldId id="495" r:id="rId18"/>
    <p:sldId id="496" r:id="rId19"/>
    <p:sldId id="528" r:id="rId20"/>
    <p:sldId id="529" r:id="rId21"/>
    <p:sldId id="530" r:id="rId22"/>
    <p:sldId id="497" r:id="rId23"/>
    <p:sldId id="498" r:id="rId24"/>
    <p:sldId id="499" r:id="rId25"/>
    <p:sldId id="500" r:id="rId26"/>
    <p:sldId id="501" r:id="rId27"/>
    <p:sldId id="502" r:id="rId28"/>
    <p:sldId id="503" r:id="rId29"/>
    <p:sldId id="504" r:id="rId30"/>
    <p:sldId id="505" r:id="rId31"/>
    <p:sldId id="506" r:id="rId32"/>
    <p:sldId id="507" r:id="rId33"/>
    <p:sldId id="508" r:id="rId34"/>
    <p:sldId id="509" r:id="rId35"/>
    <p:sldId id="510" r:id="rId36"/>
    <p:sldId id="511" r:id="rId37"/>
    <p:sldId id="512" r:id="rId38"/>
    <p:sldId id="513" r:id="rId39"/>
    <p:sldId id="514" r:id="rId40"/>
    <p:sldId id="515" r:id="rId41"/>
    <p:sldId id="516" r:id="rId42"/>
    <p:sldId id="517" r:id="rId43"/>
    <p:sldId id="518" r:id="rId44"/>
    <p:sldId id="519" r:id="rId45"/>
    <p:sldId id="520" r:id="rId46"/>
    <p:sldId id="521" r:id="rId47"/>
    <p:sldId id="522" r:id="rId48"/>
    <p:sldId id="523" r:id="rId49"/>
    <p:sldId id="524" r:id="rId50"/>
    <p:sldId id="525" r:id="rId51"/>
    <p:sldId id="526" r:id="rId52"/>
  </p:sldIdLst>
  <p:sldSz cx="9144000" cy="6858000" type="screen4x3"/>
  <p:notesSz cx="7099300" cy="10234613"/>
  <p:defaultTextStyle>
    <a:defPPr>
      <a:defRPr lang="zh-CN"/>
    </a:defPPr>
    <a:lvl1pPr algn="l" rtl="0" fontAlgn="base">
      <a:spcBef>
        <a:spcPct val="20000"/>
      </a:spcBef>
      <a:spcAft>
        <a:spcPct val="0"/>
      </a:spcAft>
      <a:buClr>
        <a:schemeClr val="folHlink"/>
      </a:buClr>
      <a:buSzPct val="60000"/>
      <a:buFont typeface="Wingdings" pitchFamily="2" charset="2"/>
      <a:buChar char="u"/>
      <a:defRPr sz="3200" i="1" kern="1200">
        <a:solidFill>
          <a:schemeClr val="tx1"/>
        </a:solidFill>
        <a:latin typeface="Arial Unicode MS" panose="020B0604020202020204" pitchFamily="34" charset="-128"/>
        <a:ea typeface="楷体_GB2312" pitchFamily="49" charset="-122"/>
        <a:cs typeface="+mn-cs"/>
      </a:defRPr>
    </a:lvl1pPr>
    <a:lvl2pPr marL="457200" algn="l" rtl="0" fontAlgn="base">
      <a:spcBef>
        <a:spcPct val="20000"/>
      </a:spcBef>
      <a:spcAft>
        <a:spcPct val="0"/>
      </a:spcAft>
      <a:buClr>
        <a:schemeClr val="folHlink"/>
      </a:buClr>
      <a:buSzPct val="60000"/>
      <a:buFont typeface="Wingdings" pitchFamily="2" charset="2"/>
      <a:buChar char="u"/>
      <a:defRPr sz="3200" i="1" kern="1200">
        <a:solidFill>
          <a:schemeClr val="tx1"/>
        </a:solidFill>
        <a:latin typeface="Arial Unicode MS" panose="020B0604020202020204" pitchFamily="34" charset="-128"/>
        <a:ea typeface="楷体_GB2312" pitchFamily="49" charset="-122"/>
        <a:cs typeface="+mn-cs"/>
      </a:defRPr>
    </a:lvl2pPr>
    <a:lvl3pPr marL="914400" algn="l" rtl="0" fontAlgn="base">
      <a:spcBef>
        <a:spcPct val="20000"/>
      </a:spcBef>
      <a:spcAft>
        <a:spcPct val="0"/>
      </a:spcAft>
      <a:buClr>
        <a:schemeClr val="folHlink"/>
      </a:buClr>
      <a:buSzPct val="60000"/>
      <a:buFont typeface="Wingdings" pitchFamily="2" charset="2"/>
      <a:buChar char="u"/>
      <a:defRPr sz="3200" i="1" kern="1200">
        <a:solidFill>
          <a:schemeClr val="tx1"/>
        </a:solidFill>
        <a:latin typeface="Arial Unicode MS" panose="020B0604020202020204" pitchFamily="34" charset="-128"/>
        <a:ea typeface="楷体_GB2312" pitchFamily="49" charset="-122"/>
        <a:cs typeface="+mn-cs"/>
      </a:defRPr>
    </a:lvl3pPr>
    <a:lvl4pPr marL="1371600" algn="l" rtl="0" fontAlgn="base">
      <a:spcBef>
        <a:spcPct val="20000"/>
      </a:spcBef>
      <a:spcAft>
        <a:spcPct val="0"/>
      </a:spcAft>
      <a:buClr>
        <a:schemeClr val="folHlink"/>
      </a:buClr>
      <a:buSzPct val="60000"/>
      <a:buFont typeface="Wingdings" pitchFamily="2" charset="2"/>
      <a:buChar char="u"/>
      <a:defRPr sz="3200" i="1" kern="1200">
        <a:solidFill>
          <a:schemeClr val="tx1"/>
        </a:solidFill>
        <a:latin typeface="Arial Unicode MS" panose="020B0604020202020204" pitchFamily="34" charset="-128"/>
        <a:ea typeface="楷体_GB2312" pitchFamily="49" charset="-122"/>
        <a:cs typeface="+mn-cs"/>
      </a:defRPr>
    </a:lvl4pPr>
    <a:lvl5pPr marL="1828800" algn="l" rtl="0" fontAlgn="base">
      <a:spcBef>
        <a:spcPct val="20000"/>
      </a:spcBef>
      <a:spcAft>
        <a:spcPct val="0"/>
      </a:spcAft>
      <a:buClr>
        <a:schemeClr val="folHlink"/>
      </a:buClr>
      <a:buSzPct val="60000"/>
      <a:buFont typeface="Wingdings" pitchFamily="2" charset="2"/>
      <a:buChar char="u"/>
      <a:defRPr sz="3200" i="1" kern="1200">
        <a:solidFill>
          <a:schemeClr val="tx1"/>
        </a:solidFill>
        <a:latin typeface="Arial Unicode MS" panose="020B0604020202020204" pitchFamily="34" charset="-128"/>
        <a:ea typeface="楷体_GB2312" pitchFamily="49" charset="-122"/>
        <a:cs typeface="+mn-cs"/>
      </a:defRPr>
    </a:lvl5pPr>
    <a:lvl6pPr marL="22860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6pPr>
    <a:lvl7pPr marL="27432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7pPr>
    <a:lvl8pPr marL="32004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8pPr>
    <a:lvl9pPr marL="36576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9" autoAdjust="0"/>
    <p:restoredTop sz="89653" autoAdjust="0"/>
  </p:normalViewPr>
  <p:slideViewPr>
    <p:cSldViewPr>
      <p:cViewPr varScale="1">
        <p:scale>
          <a:sx n="112" d="100"/>
          <a:sy n="112" d="100"/>
        </p:scale>
        <p:origin x="168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39B495C6-A81F-CE39-8004-3FA158957EE3}"/>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a:spcBef>
                <a:spcPct val="0"/>
              </a:spcBef>
              <a:buClrTx/>
              <a:buSzTx/>
              <a:buFontTx/>
              <a:buNone/>
              <a:defRPr sz="1300" i="0">
                <a:latin typeface="Arial" panose="020B0604020202020204" pitchFamily="34" charset="0"/>
                <a:ea typeface="SimSun" panose="02010600030101010101" pitchFamily="2" charset="-122"/>
              </a:defRPr>
            </a:lvl1pPr>
          </a:lstStyle>
          <a:p>
            <a:endParaRPr lang="en-US" altLang="zh-CN"/>
          </a:p>
        </p:txBody>
      </p:sp>
      <p:sp>
        <p:nvSpPr>
          <p:cNvPr id="80899" name="Rectangle 3">
            <a:extLst>
              <a:ext uri="{FF2B5EF4-FFF2-40B4-BE49-F238E27FC236}">
                <a16:creationId xmlns:a16="http://schemas.microsoft.com/office/drawing/2014/main" id="{1016ED10-181D-DF81-ECB8-D1FEBC180673}"/>
              </a:ext>
            </a:extLst>
          </p:cNvPr>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a:spcBef>
                <a:spcPct val="0"/>
              </a:spcBef>
              <a:buClrTx/>
              <a:buSzTx/>
              <a:buFontTx/>
              <a:buNone/>
              <a:defRPr sz="1300" i="0">
                <a:latin typeface="Arial" panose="020B0604020202020204" pitchFamily="34" charset="0"/>
                <a:ea typeface="SimSun" panose="02010600030101010101" pitchFamily="2" charset="-122"/>
              </a:defRPr>
            </a:lvl1pPr>
          </a:lstStyle>
          <a:p>
            <a:endParaRPr lang="en-US" altLang="zh-CN"/>
          </a:p>
        </p:txBody>
      </p:sp>
      <p:sp>
        <p:nvSpPr>
          <p:cNvPr id="80900" name="Rectangle 4">
            <a:extLst>
              <a:ext uri="{FF2B5EF4-FFF2-40B4-BE49-F238E27FC236}">
                <a16:creationId xmlns:a16="http://schemas.microsoft.com/office/drawing/2014/main" id="{E41DF04C-34DA-0E5E-0120-ECB0FB9D8B2D}"/>
              </a:ext>
            </a:extLst>
          </p:cNvPr>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a:spcBef>
                <a:spcPct val="0"/>
              </a:spcBef>
              <a:buClrTx/>
              <a:buSzTx/>
              <a:buFontTx/>
              <a:buNone/>
              <a:defRPr sz="1300" i="0">
                <a:latin typeface="Arial" panose="020B0604020202020204" pitchFamily="34" charset="0"/>
                <a:ea typeface="SimSun" panose="02010600030101010101" pitchFamily="2" charset="-122"/>
              </a:defRPr>
            </a:lvl1pPr>
          </a:lstStyle>
          <a:p>
            <a:endParaRPr lang="en-US" altLang="zh-CN"/>
          </a:p>
        </p:txBody>
      </p:sp>
      <p:sp>
        <p:nvSpPr>
          <p:cNvPr id="80901" name="Rectangle 5">
            <a:extLst>
              <a:ext uri="{FF2B5EF4-FFF2-40B4-BE49-F238E27FC236}">
                <a16:creationId xmlns:a16="http://schemas.microsoft.com/office/drawing/2014/main" id="{1A0B88F2-50C2-2F99-4896-033F2AFDA17A}"/>
              </a:ext>
            </a:extLst>
          </p:cNvPr>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a:spcBef>
                <a:spcPct val="0"/>
              </a:spcBef>
              <a:buClrTx/>
              <a:buSzTx/>
              <a:buFontTx/>
              <a:buNone/>
              <a:defRPr sz="1300" i="0">
                <a:latin typeface="Arial" panose="020B0604020202020204" pitchFamily="34" charset="0"/>
                <a:ea typeface="SimSun" panose="02010600030101010101" pitchFamily="2" charset="-122"/>
              </a:defRPr>
            </a:lvl1pPr>
          </a:lstStyle>
          <a:p>
            <a:fld id="{CDD19FDA-3747-6447-960A-846DA82CEA15}"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2C17EE5-9B07-A70B-64EC-9CBC4B7EA08F}"/>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a:spcBef>
                <a:spcPct val="0"/>
              </a:spcBef>
              <a:buClrTx/>
              <a:buSzTx/>
              <a:buFontTx/>
              <a:buNone/>
              <a:defRPr sz="1300" i="0">
                <a:latin typeface="Arial" panose="020B0604020202020204" pitchFamily="34" charset="0"/>
                <a:ea typeface="SimSun" panose="02010600030101010101" pitchFamily="2" charset="-122"/>
              </a:defRPr>
            </a:lvl1pPr>
          </a:lstStyle>
          <a:p>
            <a:endParaRPr lang="en-US" altLang="zh-CN"/>
          </a:p>
        </p:txBody>
      </p:sp>
      <p:sp>
        <p:nvSpPr>
          <p:cNvPr id="51203" name="Rectangle 3">
            <a:extLst>
              <a:ext uri="{FF2B5EF4-FFF2-40B4-BE49-F238E27FC236}">
                <a16:creationId xmlns:a16="http://schemas.microsoft.com/office/drawing/2014/main" id="{6354DDCB-01A7-D87F-6205-F4D164FEB670}"/>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a:spcBef>
                <a:spcPct val="0"/>
              </a:spcBef>
              <a:buClrTx/>
              <a:buSzTx/>
              <a:buFontTx/>
              <a:buNone/>
              <a:defRPr sz="1300" i="0">
                <a:latin typeface="Arial" panose="020B0604020202020204" pitchFamily="34" charset="0"/>
                <a:ea typeface="SimSun" panose="02010600030101010101" pitchFamily="2" charset="-122"/>
              </a:defRPr>
            </a:lvl1pPr>
          </a:lstStyle>
          <a:p>
            <a:endParaRPr lang="en-US" altLang="zh-CN"/>
          </a:p>
        </p:txBody>
      </p:sp>
      <p:sp>
        <p:nvSpPr>
          <p:cNvPr id="51204" name="Rectangle 4">
            <a:extLst>
              <a:ext uri="{FF2B5EF4-FFF2-40B4-BE49-F238E27FC236}">
                <a16:creationId xmlns:a16="http://schemas.microsoft.com/office/drawing/2014/main" id="{2AACF3DA-4B3A-8863-0AD6-AC4517BD0CBE}"/>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5" name="Rectangle 5">
            <a:extLst>
              <a:ext uri="{FF2B5EF4-FFF2-40B4-BE49-F238E27FC236}">
                <a16:creationId xmlns:a16="http://schemas.microsoft.com/office/drawing/2014/main" id="{4FC2FD35-A548-2B69-BD2C-B68504484741}"/>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06" name="Rectangle 6">
            <a:extLst>
              <a:ext uri="{FF2B5EF4-FFF2-40B4-BE49-F238E27FC236}">
                <a16:creationId xmlns:a16="http://schemas.microsoft.com/office/drawing/2014/main" id="{A01E58C5-6476-C848-F6FD-18EA6CEDD8A5}"/>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a:spcBef>
                <a:spcPct val="0"/>
              </a:spcBef>
              <a:buClrTx/>
              <a:buSzTx/>
              <a:buFontTx/>
              <a:buNone/>
              <a:defRPr sz="1300" i="0">
                <a:latin typeface="Arial" panose="020B0604020202020204" pitchFamily="34" charset="0"/>
                <a:ea typeface="SimSun" panose="02010600030101010101" pitchFamily="2" charset="-122"/>
              </a:defRPr>
            </a:lvl1pPr>
          </a:lstStyle>
          <a:p>
            <a:endParaRPr lang="en-US" altLang="zh-CN"/>
          </a:p>
        </p:txBody>
      </p:sp>
      <p:sp>
        <p:nvSpPr>
          <p:cNvPr id="51207" name="Rectangle 7">
            <a:extLst>
              <a:ext uri="{FF2B5EF4-FFF2-40B4-BE49-F238E27FC236}">
                <a16:creationId xmlns:a16="http://schemas.microsoft.com/office/drawing/2014/main" id="{5D559C8F-755E-E086-CC3C-8A4C405BA583}"/>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a:spcBef>
                <a:spcPct val="0"/>
              </a:spcBef>
              <a:buClrTx/>
              <a:buSzTx/>
              <a:buFontTx/>
              <a:buNone/>
              <a:defRPr sz="1300" i="0">
                <a:latin typeface="Arial" panose="020B0604020202020204" pitchFamily="34" charset="0"/>
                <a:ea typeface="SimSun" panose="02010600030101010101" pitchFamily="2" charset="-122"/>
              </a:defRPr>
            </a:lvl1pPr>
          </a:lstStyle>
          <a:p>
            <a:fld id="{FC28CC84-13C4-C248-9804-9C5934A75BCD}"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SimSun"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SimSun"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SimSun"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SimSun"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SimSun"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b="1"/>
              <a:t>r+ </a:t>
            </a:r>
            <a:r>
              <a:rPr lang="zh-CN" altLang="en-US" b="1"/>
              <a:t>模式</a:t>
            </a:r>
          </a:p>
          <a:p>
            <a:pPr>
              <a:buFont typeface="Arial" panose="020B0604020202020204" pitchFamily="34" charset="0"/>
              <a:buChar char="•"/>
            </a:pPr>
            <a:r>
              <a:rPr lang="zh-CN" altLang="en-US" b="1"/>
              <a:t>作用</a:t>
            </a:r>
            <a:r>
              <a:rPr lang="zh-CN" altLang="en-US"/>
              <a:t>：以</a:t>
            </a:r>
            <a:r>
              <a:rPr lang="zh-CN" altLang="en-US" b="1"/>
              <a:t>读写</a:t>
            </a:r>
            <a:r>
              <a:rPr lang="zh-CN" altLang="en-US"/>
              <a:t>模式打开文件。</a:t>
            </a:r>
          </a:p>
          <a:p>
            <a:pPr>
              <a:buFont typeface="Arial" panose="020B0604020202020204" pitchFamily="34" charset="0"/>
              <a:buChar char="•"/>
            </a:pPr>
            <a:r>
              <a:rPr lang="zh-CN" altLang="en-US" b="1"/>
              <a:t>特点</a:t>
            </a:r>
            <a:r>
              <a:rPr lang="zh-CN" altLang="en-US"/>
              <a:t>：</a:t>
            </a:r>
          </a:p>
          <a:p>
            <a:pPr marL="742950" lvl="1" indent="-285750">
              <a:buFont typeface="Arial" panose="020B0604020202020204" pitchFamily="34" charset="0"/>
              <a:buChar char="•"/>
            </a:pPr>
            <a:r>
              <a:rPr lang="zh-CN" altLang="en-US" b="1"/>
              <a:t>文件必须存在</a:t>
            </a:r>
            <a:r>
              <a:rPr lang="zh-CN" altLang="en-US"/>
              <a:t>，如果文件不存在，会打开失败。</a:t>
            </a:r>
          </a:p>
          <a:p>
            <a:pPr marL="742950" lvl="1" indent="-285750">
              <a:buFont typeface="Arial" panose="020B0604020202020204" pitchFamily="34" charset="0"/>
              <a:buChar char="•"/>
            </a:pPr>
            <a:r>
              <a:rPr lang="zh-CN" altLang="en-US"/>
              <a:t>文件指针初始位置在</a:t>
            </a:r>
            <a:r>
              <a:rPr lang="zh-CN" altLang="en-US" b="1"/>
              <a:t>文件开头</a:t>
            </a:r>
            <a:r>
              <a:rPr lang="zh-CN" altLang="en-US"/>
              <a:t>。</a:t>
            </a:r>
          </a:p>
          <a:p>
            <a:pPr marL="742950" lvl="1" indent="-285750">
              <a:buFont typeface="Arial" panose="020B0604020202020204" pitchFamily="34" charset="0"/>
              <a:buChar char="•"/>
            </a:pPr>
            <a:r>
              <a:rPr lang="zh-CN" altLang="en-US"/>
              <a:t>可对文件内容进行读取和写入，写入时不会清空文件内容。</a:t>
            </a:r>
          </a:p>
          <a:p>
            <a:pPr marL="742950" lvl="1" indent="-285750">
              <a:buFont typeface="Arial" panose="020B0604020202020204" pitchFamily="34" charset="0"/>
              <a:buChar char="•"/>
            </a:pPr>
            <a:r>
              <a:rPr lang="zh-CN" altLang="en-US"/>
              <a:t>如果写入数据时未移动文件指针，会覆盖现有内容。</a:t>
            </a:r>
          </a:p>
          <a:p>
            <a:endParaRPr kumimoji="1" lang="en-US" altLang="zh-CN"/>
          </a:p>
          <a:p>
            <a:r>
              <a:rPr lang="en-US" altLang="zh-CN" b="1"/>
              <a:t>w+ </a:t>
            </a:r>
            <a:r>
              <a:rPr lang="zh-CN" altLang="en-US" b="1"/>
              <a:t>模式</a:t>
            </a:r>
          </a:p>
          <a:p>
            <a:pPr>
              <a:buFont typeface="Arial" panose="020B0604020202020204" pitchFamily="34" charset="0"/>
              <a:buChar char="•"/>
            </a:pPr>
            <a:r>
              <a:rPr lang="zh-CN" altLang="en-US" b="1"/>
              <a:t>作用</a:t>
            </a:r>
            <a:r>
              <a:rPr lang="zh-CN" altLang="en-US"/>
              <a:t>：以</a:t>
            </a:r>
            <a:r>
              <a:rPr lang="zh-CN" altLang="en-US" b="1"/>
              <a:t>读写</a:t>
            </a:r>
            <a:r>
              <a:rPr lang="zh-CN" altLang="en-US"/>
              <a:t>模式打开文件。</a:t>
            </a:r>
          </a:p>
          <a:p>
            <a:pPr>
              <a:buFont typeface="Arial" panose="020B0604020202020204" pitchFamily="34" charset="0"/>
              <a:buChar char="•"/>
            </a:pPr>
            <a:r>
              <a:rPr lang="zh-CN" altLang="en-US" b="1"/>
              <a:t>特点</a:t>
            </a:r>
            <a:r>
              <a:rPr lang="zh-CN" altLang="en-US"/>
              <a:t>：</a:t>
            </a:r>
          </a:p>
          <a:p>
            <a:pPr marL="742950" lvl="1" indent="-285750">
              <a:buFont typeface="Arial" panose="020B0604020202020204" pitchFamily="34" charset="0"/>
              <a:buChar char="•"/>
            </a:pPr>
            <a:r>
              <a:rPr lang="zh-CN" altLang="en-US"/>
              <a:t>如果文件存在，会</a:t>
            </a:r>
            <a:r>
              <a:rPr lang="zh-CN" altLang="en-US" b="1"/>
              <a:t>清空文件内容</a:t>
            </a:r>
            <a:r>
              <a:rPr lang="zh-CN" altLang="en-US"/>
              <a:t>。</a:t>
            </a:r>
          </a:p>
          <a:p>
            <a:pPr marL="742950" lvl="1" indent="-285750">
              <a:buFont typeface="Arial" panose="020B0604020202020204" pitchFamily="34" charset="0"/>
              <a:buChar char="•"/>
            </a:pPr>
            <a:r>
              <a:rPr lang="zh-CN" altLang="en-US"/>
              <a:t>如果文件不存在，会创建一个新文件。</a:t>
            </a:r>
          </a:p>
          <a:p>
            <a:pPr marL="742950" lvl="1" indent="-285750">
              <a:buFont typeface="Arial" panose="020B0604020202020204" pitchFamily="34" charset="0"/>
              <a:buChar char="•"/>
            </a:pPr>
            <a:r>
              <a:rPr lang="zh-CN" altLang="en-US"/>
              <a:t>文件指针初始位置在</a:t>
            </a:r>
            <a:r>
              <a:rPr lang="zh-CN" altLang="en-US" b="1"/>
              <a:t>文件开头</a:t>
            </a:r>
            <a:r>
              <a:rPr lang="zh-CN" altLang="en-US"/>
              <a:t>。</a:t>
            </a:r>
          </a:p>
          <a:p>
            <a:pPr marL="742950" lvl="1" indent="-285750">
              <a:buFont typeface="Arial" panose="020B0604020202020204" pitchFamily="34" charset="0"/>
              <a:buChar char="•"/>
            </a:pPr>
            <a:r>
              <a:rPr lang="zh-CN" altLang="en-US"/>
              <a:t>可对文件内容进行读取和写入。</a:t>
            </a:r>
          </a:p>
          <a:p>
            <a:endParaRPr kumimoji="1" lang="en-US" altLang="zh-CN"/>
          </a:p>
          <a:p>
            <a:endParaRPr lang="zh-CN" altLang="en-US" sz="1800" b="0">
              <a:solidFill>
                <a:schemeClr val="folHlink"/>
              </a:solidFill>
              <a:latin typeface="+mn-lt"/>
              <a:ea typeface="+mn-ea"/>
            </a:endParaRPr>
          </a:p>
        </p:txBody>
      </p:sp>
      <p:sp>
        <p:nvSpPr>
          <p:cNvPr id="4" name="灯片编号占位符 3"/>
          <p:cNvSpPr>
            <a:spLocks noGrp="1"/>
          </p:cNvSpPr>
          <p:nvPr>
            <p:ph type="sldNum" sz="quarter" idx="5"/>
          </p:nvPr>
        </p:nvSpPr>
        <p:spPr/>
        <p:txBody>
          <a:bodyPr/>
          <a:lstStyle/>
          <a:p>
            <a:fld id="{FC28CC84-13C4-C248-9804-9C5934A75BCD}" type="slidenum">
              <a:rPr lang="en-US" altLang="zh-CN"/>
              <a:pPr/>
              <a:t>14</a:t>
            </a:fld>
            <a:endParaRPr lang="en-US" altLang="zh-CN"/>
          </a:p>
        </p:txBody>
      </p:sp>
    </p:spTree>
    <p:extLst>
      <p:ext uri="{BB962C8B-B14F-4D97-AF65-F5344CB8AC3E}">
        <p14:creationId xmlns:p14="http://schemas.microsoft.com/office/powerpoint/2010/main" val="2648029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a:t>以上代码以读方式打开一个文件，其中 </a:t>
            </a:r>
            <a:r>
              <a:rPr lang="en-US" altLang="zh-CN" sz="1200" b="0"/>
              <a:t>filename </a:t>
            </a:r>
            <a:r>
              <a:rPr lang="zh-CN" altLang="en-US" sz="1200" b="0"/>
              <a:t>是某文件名。在调用函数</a:t>
            </a:r>
            <a:r>
              <a:rPr lang="en-US" altLang="zh-CN" sz="1200" b="0"/>
              <a:t>fopen()</a:t>
            </a:r>
            <a:r>
              <a:rPr lang="zh-CN" altLang="en-US" sz="1200" b="0"/>
              <a:t>后立即检查打开是否成功，如果打开不成功，就输出该文件不能打开后返回。</a:t>
            </a:r>
          </a:p>
          <a:p>
            <a:endParaRPr kumimoji="1" lang="zh-CN" altLang="en-US"/>
          </a:p>
        </p:txBody>
      </p:sp>
      <p:sp>
        <p:nvSpPr>
          <p:cNvPr id="4" name="灯片编号占位符 3"/>
          <p:cNvSpPr>
            <a:spLocks noGrp="1"/>
          </p:cNvSpPr>
          <p:nvPr>
            <p:ph type="sldNum" sz="quarter" idx="5"/>
          </p:nvPr>
        </p:nvSpPr>
        <p:spPr/>
        <p:txBody>
          <a:bodyPr/>
          <a:lstStyle/>
          <a:p>
            <a:fld id="{FC28CC84-13C4-C248-9804-9C5934A75BCD}" type="slidenum">
              <a:rPr lang="en-US" altLang="zh-CN"/>
              <a:pPr/>
              <a:t>15</a:t>
            </a:fld>
            <a:endParaRPr lang="en-US" altLang="zh-CN"/>
          </a:p>
        </p:txBody>
      </p:sp>
    </p:spTree>
    <p:extLst>
      <p:ext uri="{BB962C8B-B14F-4D97-AF65-F5344CB8AC3E}">
        <p14:creationId xmlns:p14="http://schemas.microsoft.com/office/powerpoint/2010/main" val="1316910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kern="1200">
                <a:solidFill>
                  <a:schemeClr val="tx1"/>
                </a:solidFill>
                <a:latin typeface="Arial" charset="0"/>
                <a:ea typeface="SimSun" panose="02010600030101010101" pitchFamily="2" charset="-122"/>
                <a:cs typeface="+mn-cs"/>
              </a:rPr>
              <a:t>fgetc</a:t>
            </a:r>
            <a:r>
              <a:rPr lang="en-US" altLang="zh-CN"/>
              <a:t> </a:t>
            </a:r>
            <a:r>
              <a:rPr lang="zh-CN" altLang="en-US"/>
              <a:t>的返回值之所以是 </a:t>
            </a:r>
            <a:r>
              <a:rPr lang="en-US" altLang="zh-CN" sz="1200" kern="1200">
                <a:solidFill>
                  <a:schemeClr val="tx1"/>
                </a:solidFill>
                <a:latin typeface="Arial" charset="0"/>
                <a:ea typeface="SimSun" panose="02010600030101010101" pitchFamily="2" charset="-122"/>
                <a:cs typeface="+mn-cs"/>
              </a:rPr>
              <a:t>int</a:t>
            </a:r>
            <a:r>
              <a:rPr lang="zh-CN" altLang="en-US"/>
              <a:t>，是为了能够同时表示所有可能的字符值以及特殊值 </a:t>
            </a:r>
            <a:r>
              <a:rPr lang="en-US" altLang="zh-CN" sz="1200" kern="1200">
                <a:solidFill>
                  <a:schemeClr val="tx1"/>
                </a:solidFill>
                <a:latin typeface="Arial" charset="0"/>
                <a:ea typeface="SimSun" panose="02010600030101010101" pitchFamily="2" charset="-122"/>
                <a:cs typeface="+mn-cs"/>
              </a:rPr>
              <a:t>EOF</a:t>
            </a:r>
            <a:r>
              <a:rPr lang="zh-CN" altLang="en-US"/>
              <a:t>。</a:t>
            </a:r>
            <a:endParaRPr lang="en-US" altLang="zh-CN"/>
          </a:p>
          <a:p>
            <a:endParaRPr kumimoji="1" lang="en-US" altLang="zh-CN"/>
          </a:p>
          <a:p>
            <a:r>
              <a:rPr lang="zh-CN" altLang="en-US"/>
              <a:t>关键原因：需要区分“合法字符”和 </a:t>
            </a:r>
            <a:r>
              <a:rPr lang="en-US" altLang="zh-CN"/>
              <a:t>EOF</a:t>
            </a:r>
            <a:r>
              <a:rPr lang="zh-CN" altLang="en-US"/>
              <a:t>。</a:t>
            </a:r>
            <a:r>
              <a:rPr lang="en-US" altLang="zh-CN"/>
              <a:t>fgetc </a:t>
            </a:r>
            <a:r>
              <a:rPr lang="zh-CN" altLang="en-US"/>
              <a:t>返回值要么是 </a:t>
            </a:r>
            <a:r>
              <a:rPr lang="en-US" altLang="zh-CN"/>
              <a:t>0~255 </a:t>
            </a:r>
            <a:r>
              <a:rPr lang="zh-CN" altLang="en-US"/>
              <a:t>的字符值，要么是 </a:t>
            </a:r>
            <a:r>
              <a:rPr lang="en-US" altLang="zh-CN"/>
              <a:t>EOF</a:t>
            </a:r>
          </a:p>
          <a:p>
            <a:endParaRPr kumimoji="1" lang="en-US" altLang="zh-CN"/>
          </a:p>
          <a:p>
            <a:r>
              <a:rPr lang="en-US" altLang="zh-CN" b="1"/>
              <a:t>EOF </a:t>
            </a:r>
            <a:r>
              <a:rPr lang="zh-CN" altLang="en-US" b="1"/>
              <a:t>是一个特殊值</a:t>
            </a:r>
          </a:p>
          <a:p>
            <a:r>
              <a:rPr lang="en-US" altLang="zh-CN" sz="1200" kern="1200">
                <a:solidFill>
                  <a:schemeClr val="tx1"/>
                </a:solidFill>
                <a:latin typeface="Arial" charset="0"/>
                <a:ea typeface="SimSun" panose="02010600030101010101" pitchFamily="2" charset="-122"/>
                <a:cs typeface="+mn-cs"/>
              </a:rPr>
              <a:t>EOF</a:t>
            </a:r>
            <a:r>
              <a:rPr lang="en-US" altLang="zh-CN"/>
              <a:t> </a:t>
            </a:r>
            <a:r>
              <a:rPr lang="zh-CN" altLang="en-US"/>
              <a:t>是一个</a:t>
            </a:r>
            <a:r>
              <a:rPr lang="zh-CN" altLang="en-US" b="1"/>
              <a:t>整型宏常量</a:t>
            </a:r>
            <a:endParaRPr lang="zh-CN" altLang="en-US"/>
          </a:p>
          <a:p>
            <a:r>
              <a:rPr lang="zh-CN" altLang="en-US"/>
              <a:t>通常定义为：</a:t>
            </a:r>
          </a:p>
          <a:p>
            <a:pPr rtl="0"/>
            <a:r>
              <a:rPr lang="en-US" altLang="zh-CN" sz="1200" kern="1200">
                <a:solidFill>
                  <a:schemeClr val="tx1"/>
                </a:solidFill>
                <a:latin typeface="Arial" charset="0"/>
                <a:ea typeface="SimSun" panose="02010600030101010101" pitchFamily="2" charset="-122"/>
                <a:cs typeface="+mn-cs"/>
              </a:rPr>
              <a:t>#define EOF (-1)</a:t>
            </a:r>
          </a:p>
          <a:p>
            <a:r>
              <a:rPr lang="en-US" altLang="zh-CN"/>
              <a:t>⚠️ </a:t>
            </a:r>
            <a:r>
              <a:rPr lang="en-US" altLang="zh-CN" b="1"/>
              <a:t>EOF </a:t>
            </a:r>
            <a:r>
              <a:rPr lang="zh-CN" altLang="en-US" b="1"/>
              <a:t>并不是一个字符</a:t>
            </a:r>
            <a:endParaRPr lang="en-US" altLang="zh-CN" b="1"/>
          </a:p>
          <a:p>
            <a:endParaRPr lang="en-US" altLang="zh-CN" b="1"/>
          </a:p>
          <a:p>
            <a:r>
              <a:rPr lang="en-US" altLang="zh-CN" sz="1200" kern="1200">
                <a:solidFill>
                  <a:schemeClr val="tx1"/>
                </a:solidFill>
                <a:latin typeface="Arial" charset="0"/>
                <a:ea typeface="SimSun" panose="02010600030101010101" pitchFamily="2" charset="-122"/>
                <a:cs typeface="+mn-cs"/>
              </a:rPr>
              <a:t>fgetc</a:t>
            </a:r>
            <a:r>
              <a:rPr lang="en-US" altLang="zh-CN"/>
              <a:t> </a:t>
            </a:r>
            <a:r>
              <a:rPr lang="zh-CN" altLang="en-US"/>
              <a:t>返回 </a:t>
            </a:r>
            <a:r>
              <a:rPr lang="en-US" altLang="zh-CN" sz="1200" kern="1200">
                <a:solidFill>
                  <a:schemeClr val="tx1"/>
                </a:solidFill>
                <a:latin typeface="Arial" charset="0"/>
                <a:ea typeface="SimSun" panose="02010600030101010101" pitchFamily="2" charset="-122"/>
                <a:cs typeface="+mn-cs"/>
              </a:rPr>
              <a:t>int</a:t>
            </a:r>
            <a:r>
              <a:rPr lang="en-US" altLang="zh-CN"/>
              <a:t> </a:t>
            </a:r>
            <a:r>
              <a:rPr lang="zh-CN" altLang="en-US"/>
              <a:t>类型，是为了能够返回所有可能的字符值，并且用 </a:t>
            </a:r>
            <a:r>
              <a:rPr lang="en-US" altLang="zh-CN" sz="1200" kern="1200">
                <a:solidFill>
                  <a:schemeClr val="tx1"/>
                </a:solidFill>
                <a:latin typeface="Arial" charset="0"/>
                <a:ea typeface="SimSun" panose="02010600030101010101" pitchFamily="2" charset="-122"/>
                <a:cs typeface="+mn-cs"/>
              </a:rPr>
              <a:t>EOF</a:t>
            </a:r>
            <a:r>
              <a:rPr lang="en-US" altLang="zh-CN"/>
              <a:t> </a:t>
            </a:r>
            <a:r>
              <a:rPr lang="zh-CN" altLang="en-US"/>
              <a:t>表示文件结束或出错，从而避免与合法字符值发生混淆。</a:t>
            </a:r>
          </a:p>
          <a:p>
            <a:endParaRPr kumimoji="1" lang="zh-CN" altLang="en-US"/>
          </a:p>
        </p:txBody>
      </p:sp>
      <p:sp>
        <p:nvSpPr>
          <p:cNvPr id="4" name="灯片编号占位符 3"/>
          <p:cNvSpPr>
            <a:spLocks noGrp="1"/>
          </p:cNvSpPr>
          <p:nvPr>
            <p:ph type="sldNum" sz="quarter" idx="5"/>
          </p:nvPr>
        </p:nvSpPr>
        <p:spPr/>
        <p:txBody>
          <a:bodyPr/>
          <a:lstStyle/>
          <a:p>
            <a:fld id="{FC28CC84-13C4-C248-9804-9C5934A75BCD}" type="slidenum">
              <a:rPr lang="en-US" altLang="zh-CN"/>
              <a:pPr/>
              <a:t>24</a:t>
            </a:fld>
            <a:endParaRPr lang="en-US" altLang="zh-CN"/>
          </a:p>
        </p:txBody>
      </p:sp>
    </p:spTree>
    <p:extLst>
      <p:ext uri="{BB962C8B-B14F-4D97-AF65-F5344CB8AC3E}">
        <p14:creationId xmlns:p14="http://schemas.microsoft.com/office/powerpoint/2010/main" val="2625761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b="1"/>
              <a:t>%*c</a:t>
            </a:r>
            <a:r>
              <a:rPr lang="zh-CN" altLang="en-US"/>
              <a:t>：</a:t>
            </a:r>
          </a:p>
          <a:p>
            <a:pPr>
              <a:buFont typeface="Arial" panose="020B0604020202020204" pitchFamily="34" charset="0"/>
              <a:buChar char="•"/>
            </a:pPr>
            <a:r>
              <a:rPr lang="zh-CN" altLang="en-US"/>
              <a:t>读取一个字符，但不会将其存储到任何变量中。</a:t>
            </a:r>
          </a:p>
          <a:p>
            <a:pPr>
              <a:buFont typeface="Arial" panose="020B0604020202020204" pitchFamily="34" charset="0"/>
              <a:buChar char="•"/>
            </a:pPr>
            <a:r>
              <a:rPr lang="zh-CN" altLang="en-US"/>
              <a:t>* 表示</a:t>
            </a:r>
            <a:r>
              <a:rPr lang="zh-CN" altLang="en-US" b="1"/>
              <a:t>忽略</a:t>
            </a:r>
            <a:r>
              <a:rPr lang="zh-CN" altLang="en-US"/>
              <a:t>该字符的值，实际上跳过这个字符。</a:t>
            </a:r>
          </a:p>
          <a:p>
            <a:pPr>
              <a:buFont typeface="Arial" panose="020B0604020202020204" pitchFamily="34" charset="0"/>
              <a:buChar char="•"/>
            </a:pPr>
            <a:r>
              <a:rPr lang="zh-CN" altLang="en-US"/>
              <a:t>通常用来消耗输入缓冲区中未处理的字符，例如换行符（</a:t>
            </a:r>
            <a:r>
              <a:rPr lang="en-US" altLang="zh-CN"/>
              <a:t>\n</a:t>
            </a:r>
            <a:r>
              <a:rPr lang="zh-CN" altLang="en-US"/>
              <a:t>）。</a:t>
            </a:r>
            <a:endParaRPr kumimoji="1" lang="zh-CN" altLang="en-US"/>
          </a:p>
        </p:txBody>
      </p:sp>
      <p:sp>
        <p:nvSpPr>
          <p:cNvPr id="4" name="灯片编号占位符 3"/>
          <p:cNvSpPr>
            <a:spLocks noGrp="1"/>
          </p:cNvSpPr>
          <p:nvPr>
            <p:ph type="sldNum" sz="quarter" idx="5"/>
          </p:nvPr>
        </p:nvSpPr>
        <p:spPr/>
        <p:txBody>
          <a:bodyPr/>
          <a:lstStyle/>
          <a:p>
            <a:fld id="{FC28CC84-13C4-C248-9804-9C5934A75BCD}" type="slidenum">
              <a:rPr lang="en-US" altLang="zh-CN"/>
              <a:pPr/>
              <a:t>25</a:t>
            </a:fld>
            <a:endParaRPr lang="en-US" altLang="zh-CN"/>
          </a:p>
        </p:txBody>
      </p:sp>
    </p:spTree>
    <p:extLst>
      <p:ext uri="{BB962C8B-B14F-4D97-AF65-F5344CB8AC3E}">
        <p14:creationId xmlns:p14="http://schemas.microsoft.com/office/powerpoint/2010/main" val="4199433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a:p>
            <a:endParaRPr kumimoji="1" lang="zh-CN" altLang="en-US"/>
          </a:p>
        </p:txBody>
      </p:sp>
      <p:sp>
        <p:nvSpPr>
          <p:cNvPr id="4" name="灯片编号占位符 3"/>
          <p:cNvSpPr>
            <a:spLocks noGrp="1"/>
          </p:cNvSpPr>
          <p:nvPr>
            <p:ph type="sldNum" sz="quarter" idx="5"/>
          </p:nvPr>
        </p:nvSpPr>
        <p:spPr/>
        <p:txBody>
          <a:bodyPr/>
          <a:lstStyle/>
          <a:p>
            <a:fld id="{FC28CC84-13C4-C248-9804-9C5934A75BCD}" type="slidenum">
              <a:rPr lang="en-US" altLang="zh-CN"/>
              <a:pPr/>
              <a:t>31</a:t>
            </a:fld>
            <a:endParaRPr lang="en-US" altLang="zh-CN"/>
          </a:p>
        </p:txBody>
      </p:sp>
    </p:spTree>
    <p:extLst>
      <p:ext uri="{BB962C8B-B14F-4D97-AF65-F5344CB8AC3E}">
        <p14:creationId xmlns:p14="http://schemas.microsoft.com/office/powerpoint/2010/main" val="3459552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第一个</a:t>
            </a:r>
            <a:r>
              <a:rPr kumimoji="1" lang="en-US" altLang="zh-CN"/>
              <a:t>while</a:t>
            </a:r>
            <a:r>
              <a:rPr kumimoji="1" lang="zh-CN" altLang="en-US"/>
              <a:t>是用来判断是否结束输入的</a:t>
            </a:r>
          </a:p>
        </p:txBody>
      </p:sp>
      <p:sp>
        <p:nvSpPr>
          <p:cNvPr id="4" name="灯片编号占位符 3"/>
          <p:cNvSpPr>
            <a:spLocks noGrp="1"/>
          </p:cNvSpPr>
          <p:nvPr>
            <p:ph type="sldNum" sz="quarter" idx="5"/>
          </p:nvPr>
        </p:nvSpPr>
        <p:spPr/>
        <p:txBody>
          <a:bodyPr/>
          <a:lstStyle/>
          <a:p>
            <a:fld id="{FC28CC84-13C4-C248-9804-9C5934A75BCD}" type="slidenum">
              <a:rPr lang="en-US" altLang="zh-CN"/>
              <a:pPr/>
              <a:t>32</a:t>
            </a:fld>
            <a:endParaRPr lang="en-US" altLang="zh-CN"/>
          </a:p>
        </p:txBody>
      </p:sp>
    </p:spTree>
    <p:extLst>
      <p:ext uri="{BB962C8B-B14F-4D97-AF65-F5344CB8AC3E}">
        <p14:creationId xmlns:p14="http://schemas.microsoft.com/office/powerpoint/2010/main" val="1317018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C467295-5E1E-4BFA-02AE-E53292E5ABD7}"/>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1D06E986-73A8-8CE1-D07D-7A612C900403}"/>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67A0C441-CE02-7C11-510E-3366E6537BC0}"/>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eaLnBrk="1" hangingPunct="1"/>
                <a:endParaRPr lang="zh-CN" altLang="en-US"/>
              </a:p>
            </p:txBody>
          </p:sp>
          <p:sp>
            <p:nvSpPr>
              <p:cNvPr id="11" name="Rectangle 5">
                <a:extLst>
                  <a:ext uri="{FF2B5EF4-FFF2-40B4-BE49-F238E27FC236}">
                    <a16:creationId xmlns:a16="http://schemas.microsoft.com/office/drawing/2014/main" id="{1616D330-1ACC-6287-9E37-EAAFAC919DDF}"/>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eaLnBrk="1" hangingPunct="1"/>
                <a:endParaRPr lang="zh-CN" altLang="en-US"/>
              </a:p>
            </p:txBody>
          </p:sp>
        </p:grpSp>
        <p:grpSp>
          <p:nvGrpSpPr>
            <p:cNvPr id="4" name="Group 6">
              <a:extLst>
                <a:ext uri="{FF2B5EF4-FFF2-40B4-BE49-F238E27FC236}">
                  <a16:creationId xmlns:a16="http://schemas.microsoft.com/office/drawing/2014/main" id="{1D59CF8F-D97D-F8BF-9B7B-AFA2DF303D9E}"/>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22606780-8E1B-3607-F242-43F2742D5638}"/>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eaLnBrk="1" hangingPunct="1"/>
                <a:endParaRPr lang="zh-CN" altLang="en-US"/>
              </a:p>
            </p:txBody>
          </p:sp>
          <p:sp>
            <p:nvSpPr>
              <p:cNvPr id="9" name="Rectangle 8">
                <a:extLst>
                  <a:ext uri="{FF2B5EF4-FFF2-40B4-BE49-F238E27FC236}">
                    <a16:creationId xmlns:a16="http://schemas.microsoft.com/office/drawing/2014/main" id="{228606E0-A58D-8376-8079-508872782080}"/>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eaLnBrk="1" hangingPunct="1"/>
                <a:endParaRPr lang="zh-CN" altLang="en-US"/>
              </a:p>
            </p:txBody>
          </p:sp>
        </p:grpSp>
        <p:sp>
          <p:nvSpPr>
            <p:cNvPr id="5" name="Rectangle 9">
              <a:extLst>
                <a:ext uri="{FF2B5EF4-FFF2-40B4-BE49-F238E27FC236}">
                  <a16:creationId xmlns:a16="http://schemas.microsoft.com/office/drawing/2014/main" id="{65BFA33E-45DE-220F-EF0B-0483280F23B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eaLnBrk="1" hangingPunct="1"/>
              <a:endParaRPr lang="zh-CN" altLang="en-US"/>
            </a:p>
          </p:txBody>
        </p:sp>
        <p:sp>
          <p:nvSpPr>
            <p:cNvPr id="6" name="Rectangle 10">
              <a:extLst>
                <a:ext uri="{FF2B5EF4-FFF2-40B4-BE49-F238E27FC236}">
                  <a16:creationId xmlns:a16="http://schemas.microsoft.com/office/drawing/2014/main" id="{B699926A-A849-00C5-FF79-012F0BC0FB6E}"/>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eaLnBrk="1" hangingPunct="1"/>
              <a:endParaRPr lang="zh-CN" altLang="en-US"/>
            </a:p>
          </p:txBody>
        </p:sp>
        <p:sp>
          <p:nvSpPr>
            <p:cNvPr id="7" name="Rectangle 11">
              <a:extLst>
                <a:ext uri="{FF2B5EF4-FFF2-40B4-BE49-F238E27FC236}">
                  <a16:creationId xmlns:a16="http://schemas.microsoft.com/office/drawing/2014/main" id="{6ED5AA51-4BF2-5C56-B10C-2F5B33F2B074}"/>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eaLnBrk="1" hangingPunct="1"/>
              <a:endParaRPr lang="zh-CN" altLang="en-US"/>
            </a:p>
          </p:txBody>
        </p:sp>
      </p:grpSp>
      <p:sp>
        <p:nvSpPr>
          <p:cNvPr id="21516"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2151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2" name="Rectangle 14">
            <a:extLst>
              <a:ext uri="{FF2B5EF4-FFF2-40B4-BE49-F238E27FC236}">
                <a16:creationId xmlns:a16="http://schemas.microsoft.com/office/drawing/2014/main" id="{2D4A3BE9-0C47-3640-0B4F-AE0F774E8F8E}"/>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endParaRPr lang="en-US" altLang="zh-CN"/>
          </a:p>
        </p:txBody>
      </p:sp>
      <p:sp>
        <p:nvSpPr>
          <p:cNvPr id="13" name="Rectangle 15">
            <a:extLst>
              <a:ext uri="{FF2B5EF4-FFF2-40B4-BE49-F238E27FC236}">
                <a16:creationId xmlns:a16="http://schemas.microsoft.com/office/drawing/2014/main" id="{D98C47C7-5257-D591-5F96-057804975129}"/>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endParaRPr lang="en-US" altLang="zh-CN"/>
          </a:p>
        </p:txBody>
      </p:sp>
      <p:sp>
        <p:nvSpPr>
          <p:cNvPr id="14" name="Rectangle 16">
            <a:extLst>
              <a:ext uri="{FF2B5EF4-FFF2-40B4-BE49-F238E27FC236}">
                <a16:creationId xmlns:a16="http://schemas.microsoft.com/office/drawing/2014/main" id="{DB689FFD-F4A7-F67F-074B-68A19DF1F166}"/>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D6849006-D21A-DC49-B87F-5EC4814D57B1}" type="slidenum">
              <a:rPr lang="en-US" altLang="zh-CN"/>
              <a:pPr/>
              <a:t>‹#›</a:t>
            </a:fld>
            <a:endParaRPr lang="en-US" altLang="zh-CN"/>
          </a:p>
        </p:txBody>
      </p:sp>
    </p:spTree>
    <p:extLst>
      <p:ext uri="{BB962C8B-B14F-4D97-AF65-F5344CB8AC3E}">
        <p14:creationId xmlns:p14="http://schemas.microsoft.com/office/powerpoint/2010/main" val="4004199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144E1B00-1FEA-D33E-C86A-743469182453}"/>
              </a:ext>
            </a:extLst>
          </p:cNvPr>
          <p:cNvSpPr>
            <a:spLocks noGrp="1" noChangeArrowheads="1"/>
          </p:cNvSpPr>
          <p:nvPr>
            <p:ph type="dt" sz="half" idx="10"/>
          </p:nvPr>
        </p:nvSpPr>
        <p:spPr>
          <a:ln/>
        </p:spPr>
        <p:txBody>
          <a:bodyPr/>
          <a:lstStyle>
            <a:lvl1pPr>
              <a:defRPr/>
            </a:lvl1pPr>
          </a:lstStyle>
          <a:p>
            <a:endParaRPr lang="en-US" altLang="zh-CN"/>
          </a:p>
        </p:txBody>
      </p:sp>
      <p:sp>
        <p:nvSpPr>
          <p:cNvPr id="5" name="Rectangle 12">
            <a:extLst>
              <a:ext uri="{FF2B5EF4-FFF2-40B4-BE49-F238E27FC236}">
                <a16:creationId xmlns:a16="http://schemas.microsoft.com/office/drawing/2014/main" id="{1FF499FE-2CD1-66AE-8AB4-00732AEB83FF}"/>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3">
            <a:extLst>
              <a:ext uri="{FF2B5EF4-FFF2-40B4-BE49-F238E27FC236}">
                <a16:creationId xmlns:a16="http://schemas.microsoft.com/office/drawing/2014/main" id="{839B95FF-AA13-1FE7-EC94-875679D48BAC}"/>
              </a:ext>
            </a:extLst>
          </p:cNvPr>
          <p:cNvSpPr>
            <a:spLocks noGrp="1" noChangeArrowheads="1"/>
          </p:cNvSpPr>
          <p:nvPr>
            <p:ph type="sldNum" sz="quarter" idx="12"/>
          </p:nvPr>
        </p:nvSpPr>
        <p:spPr>
          <a:ln/>
        </p:spPr>
        <p:txBody>
          <a:bodyPr/>
          <a:lstStyle>
            <a:lvl1pPr>
              <a:defRPr/>
            </a:lvl1pPr>
          </a:lstStyle>
          <a:p>
            <a:fld id="{A20AB6CF-3839-084F-8DE6-64B7B36EC431}" type="slidenum">
              <a:rPr lang="en-US" altLang="zh-CN"/>
              <a:pPr/>
              <a:t>‹#›</a:t>
            </a:fld>
            <a:endParaRPr lang="en-US" altLang="zh-CN"/>
          </a:p>
        </p:txBody>
      </p:sp>
    </p:spTree>
    <p:extLst>
      <p:ext uri="{BB962C8B-B14F-4D97-AF65-F5344CB8AC3E}">
        <p14:creationId xmlns:p14="http://schemas.microsoft.com/office/powerpoint/2010/main" val="2799020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021EC910-6C4E-C707-24EC-E35B7CF9DD91}"/>
              </a:ext>
            </a:extLst>
          </p:cNvPr>
          <p:cNvSpPr>
            <a:spLocks noGrp="1" noChangeArrowheads="1"/>
          </p:cNvSpPr>
          <p:nvPr>
            <p:ph type="dt" sz="half" idx="10"/>
          </p:nvPr>
        </p:nvSpPr>
        <p:spPr>
          <a:ln/>
        </p:spPr>
        <p:txBody>
          <a:bodyPr/>
          <a:lstStyle>
            <a:lvl1pPr>
              <a:defRPr/>
            </a:lvl1pPr>
          </a:lstStyle>
          <a:p>
            <a:endParaRPr lang="en-US" altLang="zh-CN"/>
          </a:p>
        </p:txBody>
      </p:sp>
      <p:sp>
        <p:nvSpPr>
          <p:cNvPr id="5" name="Rectangle 12">
            <a:extLst>
              <a:ext uri="{FF2B5EF4-FFF2-40B4-BE49-F238E27FC236}">
                <a16:creationId xmlns:a16="http://schemas.microsoft.com/office/drawing/2014/main" id="{2D177AD9-2677-50A8-2703-4D247F4DF73A}"/>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3">
            <a:extLst>
              <a:ext uri="{FF2B5EF4-FFF2-40B4-BE49-F238E27FC236}">
                <a16:creationId xmlns:a16="http://schemas.microsoft.com/office/drawing/2014/main" id="{2B5A2BC9-8644-C5E0-95F9-BB7C7BF95360}"/>
              </a:ext>
            </a:extLst>
          </p:cNvPr>
          <p:cNvSpPr>
            <a:spLocks noGrp="1" noChangeArrowheads="1"/>
          </p:cNvSpPr>
          <p:nvPr>
            <p:ph type="sldNum" sz="quarter" idx="12"/>
          </p:nvPr>
        </p:nvSpPr>
        <p:spPr>
          <a:ln/>
        </p:spPr>
        <p:txBody>
          <a:bodyPr/>
          <a:lstStyle>
            <a:lvl1pPr>
              <a:defRPr/>
            </a:lvl1pPr>
          </a:lstStyle>
          <a:p>
            <a:fld id="{71AC5248-B45E-B042-A38D-B1A86DAD4803}" type="slidenum">
              <a:rPr lang="en-US" altLang="zh-CN"/>
              <a:pPr/>
              <a:t>‹#›</a:t>
            </a:fld>
            <a:endParaRPr lang="en-US" altLang="zh-CN"/>
          </a:p>
        </p:txBody>
      </p:sp>
    </p:spTree>
    <p:extLst>
      <p:ext uri="{BB962C8B-B14F-4D97-AF65-F5344CB8AC3E}">
        <p14:creationId xmlns:p14="http://schemas.microsoft.com/office/powerpoint/2010/main" val="1916521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27088" y="1628775"/>
            <a:ext cx="39878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967288" y="1628775"/>
            <a:ext cx="39878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8D35B554-404E-97AB-2A57-5DADC3ACC2DB}"/>
              </a:ext>
            </a:extLst>
          </p:cNvPr>
          <p:cNvSpPr>
            <a:spLocks noGrp="1" noChangeArrowheads="1"/>
          </p:cNvSpPr>
          <p:nvPr>
            <p:ph type="dt" sz="half" idx="10"/>
          </p:nvPr>
        </p:nvSpPr>
        <p:spPr>
          <a:ln/>
        </p:spPr>
        <p:txBody>
          <a:bodyPr/>
          <a:lstStyle>
            <a:lvl1pPr>
              <a:defRPr/>
            </a:lvl1pPr>
          </a:lstStyle>
          <a:p>
            <a:endParaRPr lang="en-US" altLang="zh-CN"/>
          </a:p>
        </p:txBody>
      </p:sp>
      <p:sp>
        <p:nvSpPr>
          <p:cNvPr id="6" name="Rectangle 12">
            <a:extLst>
              <a:ext uri="{FF2B5EF4-FFF2-40B4-BE49-F238E27FC236}">
                <a16:creationId xmlns:a16="http://schemas.microsoft.com/office/drawing/2014/main" id="{75601269-DDB6-62C4-0CA5-F4D1218A08DD}"/>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13">
            <a:extLst>
              <a:ext uri="{FF2B5EF4-FFF2-40B4-BE49-F238E27FC236}">
                <a16:creationId xmlns:a16="http://schemas.microsoft.com/office/drawing/2014/main" id="{88905E7D-B96D-D6D9-FE23-88880DCDE40B}"/>
              </a:ext>
            </a:extLst>
          </p:cNvPr>
          <p:cNvSpPr>
            <a:spLocks noGrp="1" noChangeArrowheads="1"/>
          </p:cNvSpPr>
          <p:nvPr>
            <p:ph type="sldNum" sz="quarter" idx="12"/>
          </p:nvPr>
        </p:nvSpPr>
        <p:spPr>
          <a:ln/>
        </p:spPr>
        <p:txBody>
          <a:bodyPr/>
          <a:lstStyle>
            <a:lvl1pPr>
              <a:defRPr/>
            </a:lvl1pPr>
          </a:lstStyle>
          <a:p>
            <a:fld id="{AF345BCC-BA44-4142-B974-9F27DEC6327E}" type="slidenum">
              <a:rPr lang="en-US" altLang="zh-CN"/>
              <a:pPr/>
              <a:t>‹#›</a:t>
            </a:fld>
            <a:endParaRPr lang="en-US" altLang="zh-CN"/>
          </a:p>
        </p:txBody>
      </p:sp>
    </p:spTree>
    <p:extLst>
      <p:ext uri="{BB962C8B-B14F-4D97-AF65-F5344CB8AC3E}">
        <p14:creationId xmlns:p14="http://schemas.microsoft.com/office/powerpoint/2010/main" val="1528303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076B85F3-A2AB-4526-2557-92302C1E7239}"/>
              </a:ext>
            </a:extLst>
          </p:cNvPr>
          <p:cNvSpPr>
            <a:spLocks noGrp="1" noChangeArrowheads="1"/>
          </p:cNvSpPr>
          <p:nvPr>
            <p:ph type="dt" sz="half" idx="10"/>
          </p:nvPr>
        </p:nvSpPr>
        <p:spPr>
          <a:ln/>
        </p:spPr>
        <p:txBody>
          <a:bodyPr/>
          <a:lstStyle>
            <a:lvl1pPr>
              <a:defRPr/>
            </a:lvl1pPr>
          </a:lstStyle>
          <a:p>
            <a:endParaRPr lang="en-US" altLang="zh-CN"/>
          </a:p>
        </p:txBody>
      </p:sp>
      <p:sp>
        <p:nvSpPr>
          <p:cNvPr id="8" name="Rectangle 12">
            <a:extLst>
              <a:ext uri="{FF2B5EF4-FFF2-40B4-BE49-F238E27FC236}">
                <a16:creationId xmlns:a16="http://schemas.microsoft.com/office/drawing/2014/main" id="{74EFBD43-0890-802B-A4B2-C6D207E36AC8}"/>
              </a:ext>
            </a:extLst>
          </p:cNvPr>
          <p:cNvSpPr>
            <a:spLocks noGrp="1" noChangeArrowheads="1"/>
          </p:cNvSpPr>
          <p:nvPr>
            <p:ph type="ftr" sz="quarter" idx="11"/>
          </p:nvPr>
        </p:nvSpPr>
        <p:spPr>
          <a:ln/>
        </p:spPr>
        <p:txBody>
          <a:bodyPr/>
          <a:lstStyle>
            <a:lvl1pPr>
              <a:defRPr/>
            </a:lvl1pPr>
          </a:lstStyle>
          <a:p>
            <a:endParaRPr lang="en-US" altLang="zh-CN"/>
          </a:p>
        </p:txBody>
      </p:sp>
      <p:sp>
        <p:nvSpPr>
          <p:cNvPr id="9" name="Rectangle 13">
            <a:extLst>
              <a:ext uri="{FF2B5EF4-FFF2-40B4-BE49-F238E27FC236}">
                <a16:creationId xmlns:a16="http://schemas.microsoft.com/office/drawing/2014/main" id="{A4D09B00-E6C3-CE43-2A12-17A3BA6AEEEC}"/>
              </a:ext>
            </a:extLst>
          </p:cNvPr>
          <p:cNvSpPr>
            <a:spLocks noGrp="1" noChangeArrowheads="1"/>
          </p:cNvSpPr>
          <p:nvPr>
            <p:ph type="sldNum" sz="quarter" idx="12"/>
          </p:nvPr>
        </p:nvSpPr>
        <p:spPr>
          <a:ln/>
        </p:spPr>
        <p:txBody>
          <a:bodyPr/>
          <a:lstStyle>
            <a:lvl1pPr>
              <a:defRPr/>
            </a:lvl1pPr>
          </a:lstStyle>
          <a:p>
            <a:fld id="{8E076BA9-001D-1548-892A-16426D76AA1A}" type="slidenum">
              <a:rPr lang="en-US" altLang="zh-CN"/>
              <a:pPr/>
              <a:t>‹#›</a:t>
            </a:fld>
            <a:endParaRPr lang="en-US" altLang="zh-CN"/>
          </a:p>
        </p:txBody>
      </p:sp>
    </p:spTree>
    <p:extLst>
      <p:ext uri="{BB962C8B-B14F-4D97-AF65-F5344CB8AC3E}">
        <p14:creationId xmlns:p14="http://schemas.microsoft.com/office/powerpoint/2010/main" val="1926329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187076C7-73C0-7FE4-4A11-547ADD950787}"/>
              </a:ext>
            </a:extLst>
          </p:cNvPr>
          <p:cNvSpPr>
            <a:spLocks noGrp="1" noChangeArrowheads="1"/>
          </p:cNvSpPr>
          <p:nvPr>
            <p:ph type="dt" sz="half" idx="10"/>
          </p:nvPr>
        </p:nvSpPr>
        <p:spPr>
          <a:ln/>
        </p:spPr>
        <p:txBody>
          <a:bodyPr/>
          <a:lstStyle>
            <a:lvl1pPr>
              <a:defRPr/>
            </a:lvl1pPr>
          </a:lstStyle>
          <a:p>
            <a:endParaRPr lang="en-US" altLang="zh-CN"/>
          </a:p>
        </p:txBody>
      </p:sp>
      <p:sp>
        <p:nvSpPr>
          <p:cNvPr id="4" name="Rectangle 12">
            <a:extLst>
              <a:ext uri="{FF2B5EF4-FFF2-40B4-BE49-F238E27FC236}">
                <a16:creationId xmlns:a16="http://schemas.microsoft.com/office/drawing/2014/main" id="{91ADF89F-AF98-3170-E505-A4995159AA41}"/>
              </a:ext>
            </a:extLst>
          </p:cNvPr>
          <p:cNvSpPr>
            <a:spLocks noGrp="1" noChangeArrowheads="1"/>
          </p:cNvSpPr>
          <p:nvPr>
            <p:ph type="ftr" sz="quarter" idx="11"/>
          </p:nvPr>
        </p:nvSpPr>
        <p:spPr>
          <a:ln/>
        </p:spPr>
        <p:txBody>
          <a:bodyPr/>
          <a:lstStyle>
            <a:lvl1pPr>
              <a:defRPr/>
            </a:lvl1pPr>
          </a:lstStyle>
          <a:p>
            <a:endParaRPr lang="en-US" altLang="zh-CN"/>
          </a:p>
        </p:txBody>
      </p:sp>
      <p:sp>
        <p:nvSpPr>
          <p:cNvPr id="5" name="Rectangle 13">
            <a:extLst>
              <a:ext uri="{FF2B5EF4-FFF2-40B4-BE49-F238E27FC236}">
                <a16:creationId xmlns:a16="http://schemas.microsoft.com/office/drawing/2014/main" id="{A4AF36C6-54B6-3853-BF0C-D230E493AFDB}"/>
              </a:ext>
            </a:extLst>
          </p:cNvPr>
          <p:cNvSpPr>
            <a:spLocks noGrp="1" noChangeArrowheads="1"/>
          </p:cNvSpPr>
          <p:nvPr>
            <p:ph type="sldNum" sz="quarter" idx="12"/>
          </p:nvPr>
        </p:nvSpPr>
        <p:spPr>
          <a:ln/>
        </p:spPr>
        <p:txBody>
          <a:bodyPr/>
          <a:lstStyle>
            <a:lvl1pPr>
              <a:defRPr/>
            </a:lvl1pPr>
          </a:lstStyle>
          <a:p>
            <a:fld id="{254BA8D1-3EBF-4E44-98CA-1E4D54904741}" type="slidenum">
              <a:rPr lang="en-US" altLang="zh-CN"/>
              <a:pPr/>
              <a:t>‹#›</a:t>
            </a:fld>
            <a:endParaRPr lang="en-US" altLang="zh-CN"/>
          </a:p>
        </p:txBody>
      </p:sp>
    </p:spTree>
    <p:extLst>
      <p:ext uri="{BB962C8B-B14F-4D97-AF65-F5344CB8AC3E}">
        <p14:creationId xmlns:p14="http://schemas.microsoft.com/office/powerpoint/2010/main" val="3565970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78977DBF-FB0A-FD2E-733C-3B49F4DCF050}"/>
              </a:ext>
            </a:extLst>
          </p:cNvPr>
          <p:cNvSpPr>
            <a:spLocks noGrp="1" noChangeArrowheads="1"/>
          </p:cNvSpPr>
          <p:nvPr>
            <p:ph type="dt" sz="half" idx="10"/>
          </p:nvPr>
        </p:nvSpPr>
        <p:spPr>
          <a:ln/>
        </p:spPr>
        <p:txBody>
          <a:bodyPr/>
          <a:lstStyle>
            <a:lvl1pPr>
              <a:defRPr/>
            </a:lvl1pPr>
          </a:lstStyle>
          <a:p>
            <a:endParaRPr lang="en-US" altLang="zh-CN"/>
          </a:p>
        </p:txBody>
      </p:sp>
      <p:sp>
        <p:nvSpPr>
          <p:cNvPr id="3" name="Rectangle 12">
            <a:extLst>
              <a:ext uri="{FF2B5EF4-FFF2-40B4-BE49-F238E27FC236}">
                <a16:creationId xmlns:a16="http://schemas.microsoft.com/office/drawing/2014/main" id="{8E6BD303-5593-9F38-A126-3B0E78002D8E}"/>
              </a:ext>
            </a:extLst>
          </p:cNvPr>
          <p:cNvSpPr>
            <a:spLocks noGrp="1" noChangeArrowheads="1"/>
          </p:cNvSpPr>
          <p:nvPr>
            <p:ph type="ftr" sz="quarter" idx="11"/>
          </p:nvPr>
        </p:nvSpPr>
        <p:spPr>
          <a:ln/>
        </p:spPr>
        <p:txBody>
          <a:bodyPr/>
          <a:lstStyle>
            <a:lvl1pPr>
              <a:defRPr/>
            </a:lvl1pPr>
          </a:lstStyle>
          <a:p>
            <a:endParaRPr lang="en-US" altLang="zh-CN"/>
          </a:p>
        </p:txBody>
      </p:sp>
      <p:sp>
        <p:nvSpPr>
          <p:cNvPr id="4" name="Rectangle 13">
            <a:extLst>
              <a:ext uri="{FF2B5EF4-FFF2-40B4-BE49-F238E27FC236}">
                <a16:creationId xmlns:a16="http://schemas.microsoft.com/office/drawing/2014/main" id="{DE4D62FA-AEE8-25C4-91E0-12777DBF8A08}"/>
              </a:ext>
            </a:extLst>
          </p:cNvPr>
          <p:cNvSpPr>
            <a:spLocks noGrp="1" noChangeArrowheads="1"/>
          </p:cNvSpPr>
          <p:nvPr>
            <p:ph type="sldNum" sz="quarter" idx="12"/>
          </p:nvPr>
        </p:nvSpPr>
        <p:spPr>
          <a:ln/>
        </p:spPr>
        <p:txBody>
          <a:bodyPr/>
          <a:lstStyle>
            <a:lvl1pPr>
              <a:defRPr/>
            </a:lvl1pPr>
          </a:lstStyle>
          <a:p>
            <a:fld id="{2C777D62-9ED5-B94B-8492-59907B5312E0}" type="slidenum">
              <a:rPr lang="en-US" altLang="zh-CN"/>
              <a:pPr/>
              <a:t>‹#›</a:t>
            </a:fld>
            <a:endParaRPr lang="en-US" altLang="zh-CN"/>
          </a:p>
        </p:txBody>
      </p:sp>
    </p:spTree>
    <p:extLst>
      <p:ext uri="{BB962C8B-B14F-4D97-AF65-F5344CB8AC3E}">
        <p14:creationId xmlns:p14="http://schemas.microsoft.com/office/powerpoint/2010/main" val="256806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AC425208-26D7-A004-3D56-46E72706B6A2}"/>
              </a:ext>
            </a:extLst>
          </p:cNvPr>
          <p:cNvSpPr>
            <a:spLocks noGrp="1" noChangeArrowheads="1"/>
          </p:cNvSpPr>
          <p:nvPr>
            <p:ph type="dt" sz="half" idx="10"/>
          </p:nvPr>
        </p:nvSpPr>
        <p:spPr>
          <a:ln/>
        </p:spPr>
        <p:txBody>
          <a:bodyPr/>
          <a:lstStyle>
            <a:lvl1pPr>
              <a:defRPr/>
            </a:lvl1pPr>
          </a:lstStyle>
          <a:p>
            <a:endParaRPr lang="en-US" altLang="zh-CN"/>
          </a:p>
        </p:txBody>
      </p:sp>
      <p:sp>
        <p:nvSpPr>
          <p:cNvPr id="6" name="Rectangle 12">
            <a:extLst>
              <a:ext uri="{FF2B5EF4-FFF2-40B4-BE49-F238E27FC236}">
                <a16:creationId xmlns:a16="http://schemas.microsoft.com/office/drawing/2014/main" id="{CAB59880-0B31-E2D5-DE1B-E8F2E22F54DB}"/>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13">
            <a:extLst>
              <a:ext uri="{FF2B5EF4-FFF2-40B4-BE49-F238E27FC236}">
                <a16:creationId xmlns:a16="http://schemas.microsoft.com/office/drawing/2014/main" id="{A37AEF85-760B-1357-4929-0B74F5B82C50}"/>
              </a:ext>
            </a:extLst>
          </p:cNvPr>
          <p:cNvSpPr>
            <a:spLocks noGrp="1" noChangeArrowheads="1"/>
          </p:cNvSpPr>
          <p:nvPr>
            <p:ph type="sldNum" sz="quarter" idx="12"/>
          </p:nvPr>
        </p:nvSpPr>
        <p:spPr>
          <a:ln/>
        </p:spPr>
        <p:txBody>
          <a:bodyPr/>
          <a:lstStyle>
            <a:lvl1pPr>
              <a:defRPr/>
            </a:lvl1pPr>
          </a:lstStyle>
          <a:p>
            <a:fld id="{ED032736-C866-9F49-A66D-EDD71C82E59F}" type="slidenum">
              <a:rPr lang="en-US" altLang="zh-CN"/>
              <a:pPr/>
              <a:t>‹#›</a:t>
            </a:fld>
            <a:endParaRPr lang="en-US" altLang="zh-CN"/>
          </a:p>
        </p:txBody>
      </p:sp>
    </p:spTree>
    <p:extLst>
      <p:ext uri="{BB962C8B-B14F-4D97-AF65-F5344CB8AC3E}">
        <p14:creationId xmlns:p14="http://schemas.microsoft.com/office/powerpoint/2010/main" val="2358872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465ADB8D-73C4-9176-33CD-2A8CC02A0756}"/>
              </a:ext>
            </a:extLst>
          </p:cNvPr>
          <p:cNvSpPr>
            <a:spLocks noGrp="1" noChangeArrowheads="1"/>
          </p:cNvSpPr>
          <p:nvPr>
            <p:ph type="dt" sz="half" idx="10"/>
          </p:nvPr>
        </p:nvSpPr>
        <p:spPr>
          <a:ln/>
        </p:spPr>
        <p:txBody>
          <a:bodyPr/>
          <a:lstStyle>
            <a:lvl1pPr>
              <a:defRPr/>
            </a:lvl1pPr>
          </a:lstStyle>
          <a:p>
            <a:endParaRPr lang="en-US" altLang="zh-CN"/>
          </a:p>
        </p:txBody>
      </p:sp>
      <p:sp>
        <p:nvSpPr>
          <p:cNvPr id="6" name="Rectangle 12">
            <a:extLst>
              <a:ext uri="{FF2B5EF4-FFF2-40B4-BE49-F238E27FC236}">
                <a16:creationId xmlns:a16="http://schemas.microsoft.com/office/drawing/2014/main" id="{AF320AE8-CD38-C2BC-74C2-62C03FE9952D}"/>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13">
            <a:extLst>
              <a:ext uri="{FF2B5EF4-FFF2-40B4-BE49-F238E27FC236}">
                <a16:creationId xmlns:a16="http://schemas.microsoft.com/office/drawing/2014/main" id="{ED2A78DB-CFE7-7368-8A8A-9A88B6CF9BBF}"/>
              </a:ext>
            </a:extLst>
          </p:cNvPr>
          <p:cNvSpPr>
            <a:spLocks noGrp="1" noChangeArrowheads="1"/>
          </p:cNvSpPr>
          <p:nvPr>
            <p:ph type="sldNum" sz="quarter" idx="12"/>
          </p:nvPr>
        </p:nvSpPr>
        <p:spPr>
          <a:ln/>
        </p:spPr>
        <p:txBody>
          <a:bodyPr/>
          <a:lstStyle>
            <a:lvl1pPr>
              <a:defRPr/>
            </a:lvl1pPr>
          </a:lstStyle>
          <a:p>
            <a:fld id="{A9600F84-0FD0-8348-81F7-4671EC4B49C1}" type="slidenum">
              <a:rPr lang="en-US" altLang="zh-CN"/>
              <a:pPr/>
              <a:t>‹#›</a:t>
            </a:fld>
            <a:endParaRPr lang="en-US" altLang="zh-CN"/>
          </a:p>
        </p:txBody>
      </p:sp>
    </p:spTree>
    <p:extLst>
      <p:ext uri="{BB962C8B-B14F-4D97-AF65-F5344CB8AC3E}">
        <p14:creationId xmlns:p14="http://schemas.microsoft.com/office/powerpoint/2010/main" val="152365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8A708317-49D1-6393-914B-D10CED03896C}"/>
              </a:ext>
            </a:extLst>
          </p:cNvPr>
          <p:cNvSpPr>
            <a:spLocks noGrp="1" noChangeArrowheads="1"/>
          </p:cNvSpPr>
          <p:nvPr>
            <p:ph type="dt" sz="half" idx="10"/>
          </p:nvPr>
        </p:nvSpPr>
        <p:spPr>
          <a:ln/>
        </p:spPr>
        <p:txBody>
          <a:bodyPr/>
          <a:lstStyle>
            <a:lvl1pPr>
              <a:defRPr/>
            </a:lvl1pPr>
          </a:lstStyle>
          <a:p>
            <a:endParaRPr lang="en-US" altLang="zh-CN"/>
          </a:p>
        </p:txBody>
      </p:sp>
      <p:sp>
        <p:nvSpPr>
          <p:cNvPr id="5" name="Rectangle 12">
            <a:extLst>
              <a:ext uri="{FF2B5EF4-FFF2-40B4-BE49-F238E27FC236}">
                <a16:creationId xmlns:a16="http://schemas.microsoft.com/office/drawing/2014/main" id="{5F173EAC-5292-8B36-86EE-D819D8ACE200}"/>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3">
            <a:extLst>
              <a:ext uri="{FF2B5EF4-FFF2-40B4-BE49-F238E27FC236}">
                <a16:creationId xmlns:a16="http://schemas.microsoft.com/office/drawing/2014/main" id="{809AAA2C-F64B-54B5-B61D-81DEFC87E181}"/>
              </a:ext>
            </a:extLst>
          </p:cNvPr>
          <p:cNvSpPr>
            <a:spLocks noGrp="1" noChangeArrowheads="1"/>
          </p:cNvSpPr>
          <p:nvPr>
            <p:ph type="sldNum" sz="quarter" idx="12"/>
          </p:nvPr>
        </p:nvSpPr>
        <p:spPr>
          <a:ln/>
        </p:spPr>
        <p:txBody>
          <a:bodyPr/>
          <a:lstStyle>
            <a:lvl1pPr>
              <a:defRPr/>
            </a:lvl1pPr>
          </a:lstStyle>
          <a:p>
            <a:fld id="{9387324E-CCAD-BE4E-B7B7-CD7F59657C95}" type="slidenum">
              <a:rPr lang="en-US" altLang="zh-CN"/>
              <a:pPr/>
              <a:t>‹#›</a:t>
            </a:fld>
            <a:endParaRPr lang="en-US" altLang="zh-CN"/>
          </a:p>
        </p:txBody>
      </p:sp>
    </p:spTree>
    <p:extLst>
      <p:ext uri="{BB962C8B-B14F-4D97-AF65-F5344CB8AC3E}">
        <p14:creationId xmlns:p14="http://schemas.microsoft.com/office/powerpoint/2010/main" val="3702580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23088" y="333375"/>
            <a:ext cx="2032000" cy="57991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27088" y="333375"/>
            <a:ext cx="5943600" cy="57991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F4959ACB-EB06-C744-1DBA-514C8B47F759}"/>
              </a:ext>
            </a:extLst>
          </p:cNvPr>
          <p:cNvSpPr>
            <a:spLocks noGrp="1" noChangeArrowheads="1"/>
          </p:cNvSpPr>
          <p:nvPr>
            <p:ph type="dt" sz="half" idx="10"/>
          </p:nvPr>
        </p:nvSpPr>
        <p:spPr>
          <a:ln/>
        </p:spPr>
        <p:txBody>
          <a:bodyPr/>
          <a:lstStyle>
            <a:lvl1pPr>
              <a:defRPr/>
            </a:lvl1pPr>
          </a:lstStyle>
          <a:p>
            <a:endParaRPr lang="en-US" altLang="zh-CN"/>
          </a:p>
        </p:txBody>
      </p:sp>
      <p:sp>
        <p:nvSpPr>
          <p:cNvPr id="5" name="Rectangle 12">
            <a:extLst>
              <a:ext uri="{FF2B5EF4-FFF2-40B4-BE49-F238E27FC236}">
                <a16:creationId xmlns:a16="http://schemas.microsoft.com/office/drawing/2014/main" id="{B4382EFA-5C44-F7B9-90B9-0646C4C2C5DF}"/>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3">
            <a:extLst>
              <a:ext uri="{FF2B5EF4-FFF2-40B4-BE49-F238E27FC236}">
                <a16:creationId xmlns:a16="http://schemas.microsoft.com/office/drawing/2014/main" id="{093003FB-9468-DA03-6690-1A67FA4BD2BD}"/>
              </a:ext>
            </a:extLst>
          </p:cNvPr>
          <p:cNvSpPr>
            <a:spLocks noGrp="1" noChangeArrowheads="1"/>
          </p:cNvSpPr>
          <p:nvPr>
            <p:ph type="sldNum" sz="quarter" idx="12"/>
          </p:nvPr>
        </p:nvSpPr>
        <p:spPr>
          <a:ln/>
        </p:spPr>
        <p:txBody>
          <a:bodyPr/>
          <a:lstStyle>
            <a:lvl1pPr>
              <a:defRPr/>
            </a:lvl1pPr>
          </a:lstStyle>
          <a:p>
            <a:fld id="{5718360D-CC0F-2A41-B1BA-5C6D8F70D165}" type="slidenum">
              <a:rPr lang="en-US" altLang="zh-CN"/>
              <a:pPr/>
              <a:t>‹#›</a:t>
            </a:fld>
            <a:endParaRPr lang="en-US" altLang="zh-CN"/>
          </a:p>
        </p:txBody>
      </p:sp>
    </p:spTree>
    <p:extLst>
      <p:ext uri="{BB962C8B-B14F-4D97-AF65-F5344CB8AC3E}">
        <p14:creationId xmlns:p14="http://schemas.microsoft.com/office/powerpoint/2010/main" val="691947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023C872-2F41-5297-0EA5-101B6FA98147}"/>
              </a:ext>
            </a:extLst>
          </p:cNvPr>
          <p:cNvSpPr>
            <a:spLocks noChangeArrowheads="1"/>
          </p:cNvSpPr>
          <p:nvPr/>
        </p:nvSpPr>
        <p:spPr bwMode="ltGray">
          <a:xfrm>
            <a:off x="417513" y="80010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algn="ctr" eaLnBrk="1" hangingPunct="1">
              <a:spcBef>
                <a:spcPct val="0"/>
              </a:spcBef>
              <a:buClrTx/>
              <a:buSzTx/>
              <a:buFontTx/>
              <a:buNone/>
            </a:pPr>
            <a:endParaRPr kumimoji="1" lang="zh-CN" altLang="zh-CN" sz="2400" i="0">
              <a:latin typeface="Tahoma" panose="020B0604030504040204" pitchFamily="34" charset="0"/>
              <a:ea typeface="SimSun" panose="02010600030101010101" pitchFamily="2" charset="-122"/>
            </a:endParaRPr>
          </a:p>
        </p:txBody>
      </p:sp>
      <p:sp>
        <p:nvSpPr>
          <p:cNvPr id="1027" name="Rectangle 3">
            <a:extLst>
              <a:ext uri="{FF2B5EF4-FFF2-40B4-BE49-F238E27FC236}">
                <a16:creationId xmlns:a16="http://schemas.microsoft.com/office/drawing/2014/main" id="{23AED90F-4EF2-849F-B5DE-741EF15D5E4A}"/>
              </a:ext>
            </a:extLst>
          </p:cNvPr>
          <p:cNvSpPr>
            <a:spLocks noChangeArrowheads="1"/>
          </p:cNvSpPr>
          <p:nvPr/>
        </p:nvSpPr>
        <p:spPr bwMode="ltGray">
          <a:xfrm>
            <a:off x="800100" y="80010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algn="ctr" eaLnBrk="1" hangingPunct="1">
              <a:spcBef>
                <a:spcPct val="0"/>
              </a:spcBef>
              <a:buClrTx/>
              <a:buSzTx/>
              <a:buFontTx/>
              <a:buNone/>
            </a:pPr>
            <a:endParaRPr kumimoji="1" lang="zh-CN" altLang="zh-CN" sz="2400" i="0">
              <a:latin typeface="Tahoma" panose="020B0604030504040204" pitchFamily="34" charset="0"/>
              <a:ea typeface="SimSun" panose="02010600030101010101" pitchFamily="2" charset="-122"/>
            </a:endParaRPr>
          </a:p>
        </p:txBody>
      </p:sp>
      <p:sp>
        <p:nvSpPr>
          <p:cNvPr id="1028" name="Rectangle 4">
            <a:extLst>
              <a:ext uri="{FF2B5EF4-FFF2-40B4-BE49-F238E27FC236}">
                <a16:creationId xmlns:a16="http://schemas.microsoft.com/office/drawing/2014/main" id="{38A3C511-20FE-6274-7CC4-D029CAC57504}"/>
              </a:ext>
            </a:extLst>
          </p:cNvPr>
          <p:cNvSpPr>
            <a:spLocks noChangeArrowheads="1"/>
          </p:cNvSpPr>
          <p:nvPr/>
        </p:nvSpPr>
        <p:spPr bwMode="ltGray">
          <a:xfrm>
            <a:off x="541338" y="122237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algn="ctr" eaLnBrk="1" hangingPunct="1">
              <a:spcBef>
                <a:spcPct val="0"/>
              </a:spcBef>
              <a:buClrTx/>
              <a:buSzTx/>
              <a:buFontTx/>
              <a:buNone/>
            </a:pPr>
            <a:endParaRPr kumimoji="1" lang="zh-CN" altLang="zh-CN" sz="2400" i="0">
              <a:latin typeface="Tahoma" panose="020B0604030504040204" pitchFamily="34" charset="0"/>
              <a:ea typeface="SimSun" panose="02010600030101010101" pitchFamily="2" charset="-122"/>
            </a:endParaRPr>
          </a:p>
        </p:txBody>
      </p:sp>
      <p:sp>
        <p:nvSpPr>
          <p:cNvPr id="1029" name="Rectangle 5">
            <a:extLst>
              <a:ext uri="{FF2B5EF4-FFF2-40B4-BE49-F238E27FC236}">
                <a16:creationId xmlns:a16="http://schemas.microsoft.com/office/drawing/2014/main" id="{A06333D5-2387-6223-CCAB-BA9EB0A31FB9}"/>
              </a:ext>
            </a:extLst>
          </p:cNvPr>
          <p:cNvSpPr>
            <a:spLocks noChangeArrowheads="1"/>
          </p:cNvSpPr>
          <p:nvPr/>
        </p:nvSpPr>
        <p:spPr bwMode="ltGray">
          <a:xfrm>
            <a:off x="911225" y="122237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algn="ctr" eaLnBrk="1" hangingPunct="1">
              <a:spcBef>
                <a:spcPct val="0"/>
              </a:spcBef>
              <a:buClrTx/>
              <a:buSzTx/>
              <a:buFontTx/>
              <a:buNone/>
            </a:pPr>
            <a:endParaRPr kumimoji="1" lang="zh-CN" altLang="zh-CN" sz="2400" i="0">
              <a:latin typeface="Tahoma" panose="020B0604030504040204" pitchFamily="34" charset="0"/>
              <a:ea typeface="SimSun" panose="02010600030101010101" pitchFamily="2" charset="-122"/>
            </a:endParaRPr>
          </a:p>
        </p:txBody>
      </p:sp>
      <p:sp>
        <p:nvSpPr>
          <p:cNvPr id="1030" name="Rectangle 6">
            <a:extLst>
              <a:ext uri="{FF2B5EF4-FFF2-40B4-BE49-F238E27FC236}">
                <a16:creationId xmlns:a16="http://schemas.microsoft.com/office/drawing/2014/main" id="{B4C35AF5-6249-A67F-79FB-0FC13C8BAC37}"/>
              </a:ext>
            </a:extLst>
          </p:cNvPr>
          <p:cNvSpPr>
            <a:spLocks noChangeArrowheads="1"/>
          </p:cNvSpPr>
          <p:nvPr/>
        </p:nvSpPr>
        <p:spPr bwMode="ltGray">
          <a:xfrm>
            <a:off x="127000" y="114935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algn="ctr" eaLnBrk="1" hangingPunct="1">
              <a:spcBef>
                <a:spcPct val="0"/>
              </a:spcBef>
              <a:buClrTx/>
              <a:buSzTx/>
              <a:buFontTx/>
              <a:buNone/>
            </a:pPr>
            <a:endParaRPr kumimoji="1" lang="zh-CN" altLang="zh-CN" sz="2400" i="0">
              <a:latin typeface="Tahoma" panose="020B0604030504040204" pitchFamily="34" charset="0"/>
              <a:ea typeface="SimSun" panose="02010600030101010101" pitchFamily="2" charset="-122"/>
            </a:endParaRPr>
          </a:p>
        </p:txBody>
      </p:sp>
      <p:sp>
        <p:nvSpPr>
          <p:cNvPr id="1031" name="Rectangle 7">
            <a:extLst>
              <a:ext uri="{FF2B5EF4-FFF2-40B4-BE49-F238E27FC236}">
                <a16:creationId xmlns:a16="http://schemas.microsoft.com/office/drawing/2014/main" id="{29B4A87F-D343-C621-FEDE-B0FA9FE60857}"/>
              </a:ext>
            </a:extLst>
          </p:cNvPr>
          <p:cNvSpPr>
            <a:spLocks noChangeArrowheads="1"/>
          </p:cNvSpPr>
          <p:nvPr/>
        </p:nvSpPr>
        <p:spPr bwMode="gray">
          <a:xfrm>
            <a:off x="762000" y="69215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algn="ctr" eaLnBrk="1" hangingPunct="1">
              <a:spcBef>
                <a:spcPct val="0"/>
              </a:spcBef>
              <a:buClrTx/>
              <a:buSzTx/>
              <a:buFontTx/>
              <a:buNone/>
            </a:pPr>
            <a:endParaRPr kumimoji="1" lang="zh-CN" altLang="zh-CN" sz="2400" i="0">
              <a:latin typeface="Tahoma" panose="020B0604030504040204" pitchFamily="34" charset="0"/>
              <a:ea typeface="SimSun" panose="02010600030101010101" pitchFamily="2" charset="-122"/>
            </a:endParaRPr>
          </a:p>
        </p:txBody>
      </p:sp>
      <p:sp>
        <p:nvSpPr>
          <p:cNvPr id="1032" name="Rectangle 8">
            <a:extLst>
              <a:ext uri="{FF2B5EF4-FFF2-40B4-BE49-F238E27FC236}">
                <a16:creationId xmlns:a16="http://schemas.microsoft.com/office/drawing/2014/main" id="{F29878BF-6CD6-BE4A-1B53-B9A10B38083F}"/>
              </a:ext>
            </a:extLst>
          </p:cNvPr>
          <p:cNvSpPr>
            <a:spLocks noChangeArrowheads="1"/>
          </p:cNvSpPr>
          <p:nvPr/>
        </p:nvSpPr>
        <p:spPr bwMode="gray">
          <a:xfrm>
            <a:off x="442913" y="148272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anose="020B0604020202020204" pitchFamily="34" charset="-128"/>
                <a:ea typeface="楷体_GB2312" pitchFamily="49" charset="-122"/>
              </a:defRPr>
            </a:lvl1pPr>
            <a:lvl2pPr marL="742950" indent="-285750" eaLnBrk="0" hangingPunct="0">
              <a:defRPr sz="3200" i="1">
                <a:solidFill>
                  <a:schemeClr val="tx1"/>
                </a:solidFill>
                <a:latin typeface="Arial Unicode MS" panose="020B0604020202020204" pitchFamily="34" charset="-128"/>
                <a:ea typeface="楷体_GB2312" pitchFamily="49" charset="-122"/>
              </a:defRPr>
            </a:lvl2pPr>
            <a:lvl3pPr marL="1143000" indent="-228600" eaLnBrk="0" hangingPunct="0">
              <a:defRPr sz="3200" i="1">
                <a:solidFill>
                  <a:schemeClr val="tx1"/>
                </a:solidFill>
                <a:latin typeface="Arial Unicode MS" panose="020B0604020202020204" pitchFamily="34" charset="-128"/>
                <a:ea typeface="楷体_GB2312" pitchFamily="49" charset="-122"/>
              </a:defRPr>
            </a:lvl3pPr>
            <a:lvl4pPr marL="1600200" indent="-228600" eaLnBrk="0" hangingPunct="0">
              <a:defRPr sz="3200" i="1">
                <a:solidFill>
                  <a:schemeClr val="tx1"/>
                </a:solidFill>
                <a:latin typeface="Arial Unicode MS" panose="020B0604020202020204" pitchFamily="34" charset="-128"/>
                <a:ea typeface="楷体_GB2312" pitchFamily="49" charset="-122"/>
              </a:defRPr>
            </a:lvl4pPr>
            <a:lvl5pPr marL="2057400" indent="-228600" eaLnBrk="0" hangingPunct="0">
              <a:defRPr sz="3200" i="1">
                <a:solidFill>
                  <a:schemeClr val="tx1"/>
                </a:solidFill>
                <a:latin typeface="Arial Unicode MS" panose="020B0604020202020204" pitchFamily="34" charset="-128"/>
                <a:ea typeface="楷体_GB2312" pitchFamily="49" charset="-122"/>
              </a:defRPr>
            </a:lvl5pPr>
            <a:lvl6pPr marL="25146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6pPr>
            <a:lvl7pPr marL="29718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7pPr>
            <a:lvl8pPr marL="34290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8pPr>
            <a:lvl9pPr marL="3886200" indent="-228600" eaLnBrk="0" fontAlgn="base" hangingPunct="0">
              <a:spcBef>
                <a:spcPct val="20000"/>
              </a:spcBef>
              <a:spcAft>
                <a:spcPct val="0"/>
              </a:spcAft>
              <a:buClr>
                <a:schemeClr val="folHlink"/>
              </a:buClr>
              <a:buSzPct val="60000"/>
              <a:buFont typeface="Wingdings" pitchFamily="2" charset="2"/>
              <a:buChar char="u"/>
              <a:defRPr sz="3200" i="1">
                <a:solidFill>
                  <a:schemeClr val="tx1"/>
                </a:solidFill>
                <a:latin typeface="Arial Unicode MS" panose="020B0604020202020204" pitchFamily="34" charset="-128"/>
                <a:ea typeface="楷体_GB2312" pitchFamily="49" charset="-122"/>
              </a:defRPr>
            </a:lvl9pPr>
          </a:lstStyle>
          <a:p>
            <a:pPr algn="ctr" eaLnBrk="1" hangingPunct="1">
              <a:spcBef>
                <a:spcPct val="0"/>
              </a:spcBef>
              <a:buClrTx/>
              <a:buSzTx/>
              <a:buFontTx/>
              <a:buNone/>
            </a:pPr>
            <a:endParaRPr kumimoji="1" lang="zh-CN" altLang="zh-CN" sz="2400" i="0">
              <a:latin typeface="Tahoma" panose="020B0604030504040204" pitchFamily="34" charset="0"/>
              <a:ea typeface="SimSun" panose="02010600030101010101" pitchFamily="2" charset="-122"/>
            </a:endParaRPr>
          </a:p>
        </p:txBody>
      </p:sp>
      <p:sp>
        <p:nvSpPr>
          <p:cNvPr id="1033" name="Rectangle 9">
            <a:extLst>
              <a:ext uri="{FF2B5EF4-FFF2-40B4-BE49-F238E27FC236}">
                <a16:creationId xmlns:a16="http://schemas.microsoft.com/office/drawing/2014/main" id="{1F417352-8061-A7D8-6E58-6376023FFFDE}"/>
              </a:ext>
            </a:extLst>
          </p:cNvPr>
          <p:cNvSpPr>
            <a:spLocks noGrp="1" noChangeArrowheads="1"/>
          </p:cNvSpPr>
          <p:nvPr>
            <p:ph type="title"/>
          </p:nvPr>
        </p:nvSpPr>
        <p:spPr bwMode="auto">
          <a:xfrm>
            <a:off x="900113" y="333375"/>
            <a:ext cx="7793037"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4A9D8F8F-285E-037E-B293-3F85EA215670}"/>
              </a:ext>
            </a:extLst>
          </p:cNvPr>
          <p:cNvSpPr>
            <a:spLocks noGrp="1" noChangeArrowheads="1"/>
          </p:cNvSpPr>
          <p:nvPr>
            <p:ph type="body" idx="1"/>
          </p:nvPr>
        </p:nvSpPr>
        <p:spPr bwMode="auto">
          <a:xfrm>
            <a:off x="827088" y="1628775"/>
            <a:ext cx="8128000" cy="450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491" name="Rectangle 11">
            <a:extLst>
              <a:ext uri="{FF2B5EF4-FFF2-40B4-BE49-F238E27FC236}">
                <a16:creationId xmlns:a16="http://schemas.microsoft.com/office/drawing/2014/main" id="{65B558A2-AAC4-64D8-5174-ADD19E6D7E1F}"/>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SzTx/>
              <a:buFontTx/>
              <a:buNone/>
              <a:defRPr sz="1400" i="0">
                <a:latin typeface="Tahoma" panose="020B0604030504040204" pitchFamily="34" charset="0"/>
                <a:ea typeface="SimSun" panose="02010600030101010101" pitchFamily="2" charset="-122"/>
              </a:defRPr>
            </a:lvl1pPr>
          </a:lstStyle>
          <a:p>
            <a:endParaRPr lang="en-US" altLang="zh-CN"/>
          </a:p>
        </p:txBody>
      </p:sp>
      <p:sp>
        <p:nvSpPr>
          <p:cNvPr id="20492" name="Rectangle 12">
            <a:extLst>
              <a:ext uri="{FF2B5EF4-FFF2-40B4-BE49-F238E27FC236}">
                <a16:creationId xmlns:a16="http://schemas.microsoft.com/office/drawing/2014/main" id="{CC87BF19-65D6-8DF4-9617-2F35F7971F38}"/>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SzTx/>
              <a:buFontTx/>
              <a:buNone/>
              <a:defRPr sz="1400" i="0">
                <a:latin typeface="Tahoma" panose="020B0604030504040204" pitchFamily="34" charset="0"/>
                <a:ea typeface="SimSun" panose="02010600030101010101" pitchFamily="2" charset="-122"/>
              </a:defRPr>
            </a:lvl1pPr>
          </a:lstStyle>
          <a:p>
            <a:endParaRPr lang="en-US" altLang="zh-CN"/>
          </a:p>
        </p:txBody>
      </p:sp>
      <p:sp>
        <p:nvSpPr>
          <p:cNvPr id="20493" name="Rectangle 13">
            <a:extLst>
              <a:ext uri="{FF2B5EF4-FFF2-40B4-BE49-F238E27FC236}">
                <a16:creationId xmlns:a16="http://schemas.microsoft.com/office/drawing/2014/main" id="{FB1850D3-CCFD-DA4E-6B5F-89B51A94FA3F}"/>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400" i="0">
                <a:latin typeface="Tahoma" panose="020B0604030504040204" pitchFamily="34" charset="0"/>
                <a:ea typeface="SimSun" panose="02010600030101010101" pitchFamily="2" charset="-122"/>
              </a:defRPr>
            </a:lvl1pPr>
          </a:lstStyle>
          <a:p>
            <a:fld id="{77C8801A-2EE4-464F-9E07-424AA3D42589}"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2pPr>
      <a:lvl3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3pPr>
      <a:lvl4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4pPr>
      <a:lvl5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5pPr>
      <a:lvl6pPr marL="457200" algn="l" rtl="0" fontAlgn="base">
        <a:spcBef>
          <a:spcPct val="0"/>
        </a:spcBef>
        <a:spcAft>
          <a:spcPct val="0"/>
        </a:spcAft>
        <a:defRPr sz="4400" b="1">
          <a:solidFill>
            <a:schemeClr val="tx2"/>
          </a:solidFill>
          <a:latin typeface="Arial Unicode MS" pitchFamily="34" charset="-122"/>
          <a:ea typeface="华文隶书" pitchFamily="2" charset="-122"/>
        </a:defRPr>
      </a:lvl6pPr>
      <a:lvl7pPr marL="914400" algn="l" rtl="0" fontAlgn="base">
        <a:spcBef>
          <a:spcPct val="0"/>
        </a:spcBef>
        <a:spcAft>
          <a:spcPct val="0"/>
        </a:spcAft>
        <a:defRPr sz="4400" b="1">
          <a:solidFill>
            <a:schemeClr val="tx2"/>
          </a:solidFill>
          <a:latin typeface="Arial Unicode MS" pitchFamily="34" charset="-122"/>
          <a:ea typeface="华文隶书" pitchFamily="2" charset="-122"/>
        </a:defRPr>
      </a:lvl7pPr>
      <a:lvl8pPr marL="1371600" algn="l" rtl="0" fontAlgn="base">
        <a:spcBef>
          <a:spcPct val="0"/>
        </a:spcBef>
        <a:spcAft>
          <a:spcPct val="0"/>
        </a:spcAft>
        <a:defRPr sz="4400" b="1">
          <a:solidFill>
            <a:schemeClr val="tx2"/>
          </a:solidFill>
          <a:latin typeface="Arial Unicode MS" pitchFamily="34" charset="-122"/>
          <a:ea typeface="华文隶书" pitchFamily="2" charset="-122"/>
        </a:defRPr>
      </a:lvl8pPr>
      <a:lvl9pPr marL="1828800" algn="l" rtl="0" fontAlgn="base">
        <a:spcBef>
          <a:spcPct val="0"/>
        </a:spcBef>
        <a:spcAft>
          <a:spcPct val="0"/>
        </a:spcAft>
        <a:defRPr sz="4400" b="1">
          <a:solidFill>
            <a:schemeClr val="tx2"/>
          </a:solidFill>
          <a:latin typeface="Arial Unicode MS" pitchFamily="34" charset="-122"/>
          <a:ea typeface="华文隶书"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images.google.com/imgres?imgurl=http://lib.bicea.edu.cn/jsjwh/tools/pc.jpg&amp;imgrefurl=http://lib.bicea.edu.cn/jsjwh/index.htm&amp;h=327&amp;w=300&amp;sz=21&amp;hl=zh-CN&amp;start=292&amp;tbnid=qLAHl96qtX_H8M:&amp;tbnh=118&amp;tbnw=108&amp;prev=/images%3Fq%3D%25E8%25AE%25A1%25E7%25AE%2597%25E6%259C%25BA%2B%25E5%259F%25BA%25E7%25A1%2580%26start%3D280%26gbv%3D2%26ndsp%3D20%26svnum%3D10%26hl%3Dzh-CN%26newwindow%3D1%26sa%3D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31532;4&#21608;%20%20&#20316;&#19994;.ppt#-1,1,PowerPoint &#28436;&#31034;&#25991;&#31295;"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4">
            <a:extLst>
              <a:ext uri="{FF2B5EF4-FFF2-40B4-BE49-F238E27FC236}">
                <a16:creationId xmlns:a16="http://schemas.microsoft.com/office/drawing/2014/main" id="{0865EDAA-081C-9FFB-114F-5D33C2CED248}"/>
              </a:ext>
            </a:extLst>
          </p:cNvPr>
          <p:cNvSpPr>
            <a:spLocks noGrp="1" noChangeArrowheads="1"/>
          </p:cNvSpPr>
          <p:nvPr>
            <p:ph type="ctrTitle"/>
          </p:nvPr>
        </p:nvSpPr>
        <p:spPr/>
        <p:txBody>
          <a:bodyPr/>
          <a:lstStyle/>
          <a:p>
            <a:pPr algn="ctr" eaLnBrk="1" hangingPunct="1"/>
            <a:r>
              <a:rPr lang="en-US" altLang="zh-CN" sz="7200">
                <a:solidFill>
                  <a:schemeClr val="folHlink"/>
                </a:solidFill>
              </a:rPr>
              <a:t>C</a:t>
            </a:r>
            <a:r>
              <a:rPr lang="zh-CN" altLang="en-US" sz="7200">
                <a:solidFill>
                  <a:schemeClr val="folHlink"/>
                </a:solidFill>
              </a:rPr>
              <a:t>语言程序设计</a:t>
            </a:r>
          </a:p>
        </p:txBody>
      </p:sp>
      <p:pic>
        <p:nvPicPr>
          <p:cNvPr id="3075" name="Picture 19" descr="pc">
            <a:hlinkClick r:id="rId2"/>
            <a:extLst>
              <a:ext uri="{FF2B5EF4-FFF2-40B4-BE49-F238E27FC236}">
                <a16:creationId xmlns:a16="http://schemas.microsoft.com/office/drawing/2014/main" id="{8441BB5E-E08E-4957-68EC-E06443DD1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4413" y="4913313"/>
            <a:ext cx="177958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a:extLst>
              <a:ext uri="{FF2B5EF4-FFF2-40B4-BE49-F238E27FC236}">
                <a16:creationId xmlns:a16="http://schemas.microsoft.com/office/drawing/2014/main" id="{F250541C-F226-8CDC-F76D-F9401CE5C174}"/>
              </a:ext>
            </a:extLst>
          </p:cNvPr>
          <p:cNvSpPr>
            <a:spLocks noGrp="1" noChangeArrowheads="1"/>
          </p:cNvSpPr>
          <p:nvPr>
            <p:ph type="ctrTitle"/>
          </p:nvPr>
        </p:nvSpPr>
        <p:spPr/>
        <p:txBody>
          <a:bodyPr/>
          <a:lstStyle/>
          <a:p>
            <a:pPr eaLnBrk="1" hangingPunct="1"/>
            <a:r>
              <a:rPr lang="zh-CN" altLang="en-US"/>
              <a:t>第</a:t>
            </a:r>
            <a:r>
              <a:rPr lang="en-US" altLang="zh-CN"/>
              <a:t>8</a:t>
            </a:r>
            <a:r>
              <a:rPr lang="zh-CN" altLang="en-US"/>
              <a:t>章  数据文件处理技术</a:t>
            </a:r>
            <a:endParaRPr lang="zh-CN" altLang="en-US" sz="2400" b="0">
              <a:solidFill>
                <a:srgbClr val="FF0000"/>
              </a:solidFill>
              <a:effectLst>
                <a:outerShdw blurRad="38100" dist="38100" dir="2700000" algn="tl">
                  <a:srgbClr val="C0C0C0"/>
                </a:outerShdw>
              </a:effectLst>
              <a:latin typeface="Times New Roman" panose="02020603050405020304" pitchFamily="18" charset="0"/>
            </a:endParaRPr>
          </a:p>
        </p:txBody>
      </p:sp>
      <p:sp>
        <p:nvSpPr>
          <p:cNvPr id="4099" name="Rectangle 3">
            <a:extLst>
              <a:ext uri="{FF2B5EF4-FFF2-40B4-BE49-F238E27FC236}">
                <a16:creationId xmlns:a16="http://schemas.microsoft.com/office/drawing/2014/main" id="{E671944A-B398-A3AF-4DA8-25E6C6A0A25F}"/>
              </a:ext>
            </a:extLst>
          </p:cNvPr>
          <p:cNvSpPr>
            <a:spLocks noGrp="1" noChangeArrowheads="1"/>
          </p:cNvSpPr>
          <p:nvPr>
            <p:ph type="subTitle" idx="1"/>
          </p:nvPr>
        </p:nvSpPr>
        <p:spPr/>
        <p:txBody>
          <a:bodyPr/>
          <a:lstStyle/>
          <a:p>
            <a:pPr eaLnBrk="1" hangingPunct="1"/>
            <a:endParaRPr lang="zh-CN"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B279E8E-24CA-017F-C0CF-435D4A846DE6}"/>
              </a:ext>
            </a:extLst>
          </p:cNvPr>
          <p:cNvSpPr>
            <a:spLocks noGrp="1" noChangeArrowheads="1"/>
          </p:cNvSpPr>
          <p:nvPr>
            <p:ph type="ctrTitle"/>
          </p:nvPr>
        </p:nvSpPr>
        <p:spPr/>
        <p:txBody>
          <a:bodyPr/>
          <a:lstStyle/>
          <a:p>
            <a:pPr eaLnBrk="1" hangingPunct="1"/>
            <a:r>
              <a:rPr lang="en-US" altLang="zh-CN"/>
              <a:t>8.1  </a:t>
            </a:r>
            <a:r>
              <a:rPr lang="zh-CN" altLang="en-US"/>
              <a:t>文件概述</a:t>
            </a:r>
          </a:p>
        </p:txBody>
      </p:sp>
      <p:sp>
        <p:nvSpPr>
          <p:cNvPr id="5123" name="Rectangle 3">
            <a:extLst>
              <a:ext uri="{FF2B5EF4-FFF2-40B4-BE49-F238E27FC236}">
                <a16:creationId xmlns:a16="http://schemas.microsoft.com/office/drawing/2014/main" id="{0DAD428B-C5E1-B000-F352-90ABDCFFB21A}"/>
              </a:ext>
            </a:extLst>
          </p:cNvPr>
          <p:cNvSpPr>
            <a:spLocks noGrp="1" noChangeArrowheads="1"/>
          </p:cNvSpPr>
          <p:nvPr>
            <p:ph type="subTitle" idx="1"/>
          </p:nvPr>
        </p:nvSpPr>
        <p:spPr/>
        <p:txBody>
          <a:bodyPr/>
          <a:lstStyle/>
          <a:p>
            <a:pPr eaLnBrk="1" hangingPunct="1"/>
            <a:endParaRPr lang="zh-CN"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AF57235-66DA-354B-D738-65BF05CE00ED}"/>
              </a:ext>
            </a:extLst>
          </p:cNvPr>
          <p:cNvSpPr>
            <a:spLocks noGrp="1" noChangeArrowheads="1"/>
          </p:cNvSpPr>
          <p:nvPr>
            <p:ph type="title"/>
          </p:nvPr>
        </p:nvSpPr>
        <p:spPr/>
        <p:txBody>
          <a:bodyPr/>
          <a:lstStyle/>
          <a:p>
            <a:pPr eaLnBrk="1" hangingPunct="1"/>
            <a:r>
              <a:rPr lang="zh-CN" altLang="en-US"/>
              <a:t>文件概述</a:t>
            </a:r>
            <a:endParaRPr lang="zh-CN" altLang="en-US" sz="2400" b="0">
              <a:solidFill>
                <a:srgbClr val="FF0000"/>
              </a:solidFill>
              <a:latin typeface="Times New Roman" panose="02020603050405020304" pitchFamily="18" charset="0"/>
            </a:endParaRPr>
          </a:p>
        </p:txBody>
      </p:sp>
      <p:sp>
        <p:nvSpPr>
          <p:cNvPr id="6147" name="Rectangle 3">
            <a:extLst>
              <a:ext uri="{FF2B5EF4-FFF2-40B4-BE49-F238E27FC236}">
                <a16:creationId xmlns:a16="http://schemas.microsoft.com/office/drawing/2014/main" id="{3CB74747-75A4-1DAB-2E05-22D4CECCA5E7}"/>
              </a:ext>
            </a:extLst>
          </p:cNvPr>
          <p:cNvSpPr>
            <a:spLocks noGrp="1" noChangeArrowheads="1"/>
          </p:cNvSpPr>
          <p:nvPr>
            <p:ph type="body" idx="1"/>
          </p:nvPr>
        </p:nvSpPr>
        <p:spPr>
          <a:xfrm>
            <a:off x="827088" y="1772815"/>
            <a:ext cx="7866062" cy="4359697"/>
          </a:xfrm>
        </p:spPr>
        <p:txBody>
          <a:bodyPr/>
          <a:lstStyle/>
          <a:p>
            <a:pPr algn="just" eaLnBrk="1" hangingPunct="1">
              <a:lnSpc>
                <a:spcPct val="150000"/>
              </a:lnSpc>
            </a:pPr>
            <a:r>
              <a:rPr lang="zh-CN" altLang="en-US" sz="1800" b="0"/>
              <a:t>计算机操作系统将存储在外部存贮介质中的数据以数据流的形式来组织。</a:t>
            </a:r>
            <a:r>
              <a:rPr lang="zh-CN" altLang="en-US" sz="1800" b="0" i="1" u="sng"/>
              <a:t>每个独立的数据流称作文件</a:t>
            </a:r>
            <a:r>
              <a:rPr lang="zh-CN" altLang="en-US" sz="1800" b="0"/>
              <a:t>。</a:t>
            </a:r>
          </a:p>
          <a:p>
            <a:pPr algn="just" eaLnBrk="1" hangingPunct="1">
              <a:lnSpc>
                <a:spcPct val="150000"/>
              </a:lnSpc>
            </a:pPr>
            <a:r>
              <a:rPr lang="zh-CN" altLang="en-US" sz="1800" b="0"/>
              <a:t>每个文件有一个名字。为便于管理文件，操作系统维持一个呈层次状的目录结构，每个文件都被登录在某一目录下，文件用文件名</a:t>
            </a:r>
            <a:r>
              <a:rPr lang="en-US" altLang="zh-CN" sz="1800" b="0"/>
              <a:t>(</a:t>
            </a:r>
            <a:r>
              <a:rPr lang="zh-CN" altLang="en-US" sz="1800" b="0"/>
              <a:t>包括文件的目录路径</a:t>
            </a:r>
            <a:r>
              <a:rPr lang="en-US" altLang="zh-CN" sz="1800" b="0"/>
              <a:t>)</a:t>
            </a:r>
            <a:r>
              <a:rPr lang="zh-CN" altLang="en-US" sz="1800" b="0"/>
              <a:t>来标识。</a:t>
            </a:r>
          </a:p>
          <a:p>
            <a:pPr algn="just" eaLnBrk="1" hangingPunct="1">
              <a:lnSpc>
                <a:spcPct val="150000"/>
              </a:lnSpc>
            </a:pPr>
            <a:r>
              <a:rPr lang="zh-CN" altLang="en-US" sz="1800" b="0"/>
              <a:t>也将从键盘输入的数据流和向显示屏或行印机输出的数据流称作文件。</a:t>
            </a:r>
          </a:p>
          <a:p>
            <a:pPr algn="just" eaLnBrk="1" hangingPunct="1">
              <a:lnSpc>
                <a:spcPct val="150000"/>
              </a:lnSpc>
            </a:pPr>
            <a:r>
              <a:rPr lang="zh-CN" altLang="en-US" sz="1800" b="0"/>
              <a:t>在Ｃ语言中，文件中的数据流的</a:t>
            </a:r>
            <a:r>
              <a:rPr lang="zh-CN" altLang="en-US" sz="1800" b="0">
                <a:solidFill>
                  <a:srgbClr val="0066FF"/>
                </a:solidFill>
              </a:rPr>
              <a:t>组织形式有两种</a:t>
            </a:r>
            <a:r>
              <a:rPr lang="zh-CN" altLang="en-US" sz="1800" b="0"/>
              <a:t>：</a:t>
            </a:r>
          </a:p>
          <a:p>
            <a:pPr lvl="1" algn="just" eaLnBrk="1" hangingPunct="1">
              <a:lnSpc>
                <a:spcPct val="150000"/>
              </a:lnSpc>
            </a:pPr>
            <a:r>
              <a:rPr lang="zh-CN" altLang="en-US" sz="1600" b="0"/>
              <a:t>数据流由一个个字符组成，称为</a:t>
            </a:r>
            <a:r>
              <a:rPr lang="zh-CN" altLang="en-US" sz="1600" b="0" i="1" u="sng">
                <a:solidFill>
                  <a:srgbClr val="0066FF"/>
                </a:solidFill>
              </a:rPr>
              <a:t>正文文件</a:t>
            </a:r>
            <a:r>
              <a:rPr lang="en-US" altLang="zh-CN" sz="1600" b="0" i="1" u="sng">
                <a:solidFill>
                  <a:srgbClr val="0066FF"/>
                </a:solidFill>
              </a:rPr>
              <a:t>/</a:t>
            </a:r>
            <a:r>
              <a:rPr lang="zh-CN" altLang="en-US" sz="1600" b="0" i="1" u="sng">
                <a:solidFill>
                  <a:srgbClr val="0066FF"/>
                </a:solidFill>
              </a:rPr>
              <a:t>文本文件</a:t>
            </a:r>
            <a:r>
              <a:rPr lang="zh-CN" altLang="en-US" sz="1600" b="0"/>
              <a:t>。</a:t>
            </a:r>
          </a:p>
          <a:p>
            <a:pPr lvl="1" algn="just" eaLnBrk="1" hangingPunct="1">
              <a:lnSpc>
                <a:spcPct val="150000"/>
              </a:lnSpc>
            </a:pPr>
            <a:r>
              <a:rPr lang="zh-CN" altLang="en-US" sz="1600" b="0"/>
              <a:t>数据流由二进制字节代码组成，称为</a:t>
            </a:r>
            <a:r>
              <a:rPr lang="zh-CN" altLang="en-US" sz="1600" b="0" i="1" u="sng">
                <a:solidFill>
                  <a:srgbClr val="0066FF"/>
                </a:solidFill>
              </a:rPr>
              <a:t>二进制文件</a:t>
            </a:r>
            <a:r>
              <a:rPr lang="zh-CN" altLang="en-US" sz="1600" b="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1D71FE7-34B8-A496-D9F2-6A3F66FD7D4E}"/>
              </a:ext>
            </a:extLst>
          </p:cNvPr>
          <p:cNvSpPr>
            <a:spLocks noGrp="1" noChangeArrowheads="1"/>
          </p:cNvSpPr>
          <p:nvPr>
            <p:ph type="title"/>
          </p:nvPr>
        </p:nvSpPr>
        <p:spPr/>
        <p:txBody>
          <a:bodyPr/>
          <a:lstStyle/>
          <a:p>
            <a:pPr eaLnBrk="1" hangingPunct="1"/>
            <a:r>
              <a:rPr lang="zh-CN" altLang="en-US"/>
              <a:t>正文文件</a:t>
            </a:r>
          </a:p>
        </p:txBody>
      </p:sp>
      <p:sp>
        <p:nvSpPr>
          <p:cNvPr id="7171" name="Rectangle 3">
            <a:extLst>
              <a:ext uri="{FF2B5EF4-FFF2-40B4-BE49-F238E27FC236}">
                <a16:creationId xmlns:a16="http://schemas.microsoft.com/office/drawing/2014/main" id="{8A3708EC-D66F-ADF0-CEB4-94655CA76AAE}"/>
              </a:ext>
            </a:extLst>
          </p:cNvPr>
          <p:cNvSpPr>
            <a:spLocks noGrp="1" noChangeArrowheads="1"/>
          </p:cNvSpPr>
          <p:nvPr>
            <p:ph type="body" idx="1"/>
          </p:nvPr>
        </p:nvSpPr>
        <p:spPr>
          <a:xfrm>
            <a:off x="827088" y="1844823"/>
            <a:ext cx="7633344" cy="4287689"/>
          </a:xfrm>
        </p:spPr>
        <p:txBody>
          <a:bodyPr/>
          <a:lstStyle/>
          <a:p>
            <a:pPr algn="just" eaLnBrk="1" hangingPunct="1">
              <a:lnSpc>
                <a:spcPct val="150000"/>
              </a:lnSpc>
            </a:pPr>
            <a:r>
              <a:rPr lang="zh-CN" altLang="en-US" sz="2000" b="0"/>
              <a:t>文件中</a:t>
            </a:r>
            <a:r>
              <a:rPr lang="zh-CN" altLang="en-US" sz="2000" b="0">
                <a:solidFill>
                  <a:srgbClr val="0066FF"/>
                </a:solidFill>
              </a:rPr>
              <a:t>数据是字符</a:t>
            </a:r>
            <a:r>
              <a:rPr lang="zh-CN" altLang="en-US" sz="2000" b="0"/>
              <a:t>，每个字符以</a:t>
            </a:r>
            <a:r>
              <a:rPr lang="en-US" altLang="zh-CN" sz="2000" b="0"/>
              <a:t>ASCII </a:t>
            </a:r>
            <a:r>
              <a:rPr lang="zh-CN" altLang="en-US" sz="2000" b="0"/>
              <a:t>代码存储，占一个字节。</a:t>
            </a:r>
          </a:p>
          <a:p>
            <a:pPr algn="just" eaLnBrk="1" hangingPunct="1">
              <a:lnSpc>
                <a:spcPct val="150000"/>
              </a:lnSpc>
            </a:pPr>
            <a:r>
              <a:rPr lang="zh-CN" altLang="en-US" sz="2000" b="0"/>
              <a:t>存储数值数据要占较多的存储空间，输入输出时因内存和外存的存储形式不一致，还要进行内外表示形式之间的转换。</a:t>
            </a:r>
          </a:p>
          <a:p>
            <a:pPr algn="just" eaLnBrk="1" hangingPunct="1">
              <a:lnSpc>
                <a:spcPct val="150000"/>
              </a:lnSpc>
            </a:pPr>
            <a:r>
              <a:rPr lang="zh-CN" altLang="en-US" sz="2000" b="0"/>
              <a:t>正文文件数据流是字符（</a:t>
            </a:r>
            <a:r>
              <a:rPr lang="en-US" altLang="zh-CN" sz="2000" b="0"/>
              <a:t>a stream of characters</a:t>
            </a:r>
            <a:r>
              <a:rPr lang="zh-CN" altLang="en-US" sz="2000" b="0"/>
              <a:t>），能让程序对文件作</a:t>
            </a:r>
            <a:r>
              <a:rPr lang="zh-CN" altLang="en-US" sz="2000" b="0">
                <a:solidFill>
                  <a:srgbClr val="0066FF"/>
                </a:solidFill>
              </a:rPr>
              <a:t>逐个字符处理</a:t>
            </a:r>
            <a:r>
              <a:rPr lang="zh-CN" altLang="en-US" sz="2000" b="0"/>
              <a:t>和文件中的</a:t>
            </a:r>
            <a:r>
              <a:rPr lang="zh-CN" altLang="en-US" sz="2000" b="0">
                <a:solidFill>
                  <a:srgbClr val="0066FF"/>
                </a:solidFill>
              </a:rPr>
              <a:t>数据能供人阅读</a:t>
            </a:r>
            <a:r>
              <a:rPr lang="zh-CN" altLang="en-US" sz="2000" b="0"/>
              <a:t>（或使用文本编辑器打开浏览内容）。</a:t>
            </a:r>
            <a:endParaRPr lang="en-US" altLang="zh-CN" sz="2000" b="0"/>
          </a:p>
          <a:p>
            <a:pPr algn="just" eaLnBrk="1" hangingPunct="1">
              <a:lnSpc>
                <a:spcPct val="150000"/>
              </a:lnSpc>
            </a:pPr>
            <a:r>
              <a:rPr lang="zh-CN" altLang="en-US" sz="2000" b="0"/>
              <a:t>每行都以一个换行符（</a:t>
            </a:r>
            <a:r>
              <a:rPr lang="en-US" altLang="zh-CN" sz="2000" b="0"/>
              <a:t>’\n’</a:t>
            </a:r>
            <a:r>
              <a:rPr lang="zh-CN" altLang="en-US" sz="2000" b="0"/>
              <a:t>）结尾。</a:t>
            </a:r>
            <a:endParaRPr lang="en-US" altLang="zh-CN" sz="2000" b="0"/>
          </a:p>
          <a:p>
            <a:pPr algn="just" eaLnBrk="1" hangingPunct="1">
              <a:lnSpc>
                <a:spcPct val="150000"/>
              </a:lnSpc>
            </a:pPr>
            <a:r>
              <a:rPr lang="zh-CN" altLang="en-US" sz="2000" b="0"/>
              <a:t>通常以 </a:t>
            </a:r>
            <a:r>
              <a:rPr lang="en-US" altLang="zh-CN" sz="2000" b="0"/>
              <a:t>’.txt’</a:t>
            </a:r>
            <a:r>
              <a:rPr lang="zh-CN" altLang="en-US" sz="2000" b="0"/>
              <a:t> 为文件后缀名。</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173612B-BD53-C9C3-EEAD-BADF062D228A}"/>
              </a:ext>
            </a:extLst>
          </p:cNvPr>
          <p:cNvSpPr>
            <a:spLocks noGrp="1" noChangeArrowheads="1"/>
          </p:cNvSpPr>
          <p:nvPr>
            <p:ph type="title"/>
          </p:nvPr>
        </p:nvSpPr>
        <p:spPr/>
        <p:txBody>
          <a:bodyPr/>
          <a:lstStyle/>
          <a:p>
            <a:pPr eaLnBrk="1" hangingPunct="1"/>
            <a:r>
              <a:rPr lang="zh-CN" altLang="en-US"/>
              <a:t>二进制文件</a:t>
            </a:r>
          </a:p>
        </p:txBody>
      </p:sp>
      <p:sp>
        <p:nvSpPr>
          <p:cNvPr id="8195" name="Rectangle 3">
            <a:extLst>
              <a:ext uri="{FF2B5EF4-FFF2-40B4-BE49-F238E27FC236}">
                <a16:creationId xmlns:a16="http://schemas.microsoft.com/office/drawing/2014/main" id="{24CC0CCD-39BA-0357-AE4A-D8FC4EF39265}"/>
              </a:ext>
            </a:extLst>
          </p:cNvPr>
          <p:cNvSpPr>
            <a:spLocks noGrp="1" noChangeArrowheads="1"/>
          </p:cNvSpPr>
          <p:nvPr>
            <p:ph type="body" idx="1"/>
          </p:nvPr>
        </p:nvSpPr>
        <p:spPr>
          <a:xfrm>
            <a:off x="827088" y="1844823"/>
            <a:ext cx="7633344" cy="4287689"/>
          </a:xfrm>
        </p:spPr>
        <p:txBody>
          <a:bodyPr/>
          <a:lstStyle/>
          <a:p>
            <a:pPr algn="just" eaLnBrk="1" hangingPunct="1">
              <a:lnSpc>
                <a:spcPct val="150000"/>
              </a:lnSpc>
            </a:pPr>
            <a:r>
              <a:rPr lang="zh-CN" altLang="en-US" sz="2400" b="0"/>
              <a:t>文件中的数据</a:t>
            </a:r>
            <a:r>
              <a:rPr lang="zh-CN" altLang="en-US" sz="2400" b="0">
                <a:solidFill>
                  <a:srgbClr val="0066FF"/>
                </a:solidFill>
              </a:rPr>
              <a:t>按其在内存中的存储形式</a:t>
            </a:r>
            <a:r>
              <a:rPr lang="zh-CN" altLang="en-US" sz="2400" b="0"/>
              <a:t>存储在文件中。</a:t>
            </a:r>
          </a:p>
          <a:p>
            <a:pPr algn="just" eaLnBrk="1" hangingPunct="1">
              <a:lnSpc>
                <a:spcPct val="150000"/>
              </a:lnSpc>
            </a:pPr>
            <a:r>
              <a:rPr lang="zh-CN" altLang="en-US" sz="2400" b="0"/>
              <a:t>存储数据只占其内部表示所需的字节数；用二进制形式（即</a:t>
            </a:r>
            <a:r>
              <a:rPr lang="en-US" altLang="zh-CN" sz="2400" b="0"/>
              <a:t>0</a:t>
            </a:r>
            <a:r>
              <a:rPr lang="zh-CN" altLang="en-US" sz="2400" b="0"/>
              <a:t>或</a:t>
            </a:r>
            <a:r>
              <a:rPr lang="en-US" altLang="zh-CN" sz="2400" b="0"/>
              <a:t>1</a:t>
            </a:r>
            <a:r>
              <a:rPr lang="zh-CN" altLang="en-US" sz="2400" b="0"/>
              <a:t>）存储数据</a:t>
            </a:r>
            <a:r>
              <a:rPr lang="zh-CN" altLang="en-US" sz="2400" b="0">
                <a:solidFill>
                  <a:srgbClr val="0066FF"/>
                </a:solidFill>
              </a:rPr>
              <a:t>可以节省外存空间</a:t>
            </a:r>
            <a:r>
              <a:rPr lang="zh-CN" altLang="en-US" sz="2400" b="0"/>
              <a:t>，并</a:t>
            </a:r>
            <a:r>
              <a:rPr lang="zh-CN" altLang="en-US" sz="2400" b="0">
                <a:solidFill>
                  <a:srgbClr val="0066FF"/>
                </a:solidFill>
              </a:rPr>
              <a:t>免去</a:t>
            </a:r>
            <a:r>
              <a:rPr lang="zh-CN" altLang="en-US" sz="2400" b="0"/>
              <a:t>数据内外表示形式之间的</a:t>
            </a:r>
            <a:r>
              <a:rPr lang="zh-CN" altLang="en-US" sz="2400" b="0">
                <a:solidFill>
                  <a:srgbClr val="0066FF"/>
                </a:solidFill>
              </a:rPr>
              <a:t>转换</a:t>
            </a:r>
            <a:r>
              <a:rPr lang="zh-CN" altLang="en-US" sz="2400" b="0"/>
              <a:t>。</a:t>
            </a:r>
          </a:p>
          <a:p>
            <a:pPr algn="just" eaLnBrk="1" hangingPunct="1">
              <a:lnSpc>
                <a:spcPct val="150000"/>
              </a:lnSpc>
            </a:pPr>
            <a:r>
              <a:rPr lang="zh-CN" altLang="en-US" sz="2400" b="0">
                <a:solidFill>
                  <a:srgbClr val="0066FF"/>
                </a:solidFill>
              </a:rPr>
              <a:t>适合机读</a:t>
            </a:r>
            <a:r>
              <a:rPr lang="zh-CN" altLang="en-US" sz="2400" b="0"/>
              <a:t>（由程序来处理），不适合人读。</a:t>
            </a:r>
            <a:endParaRPr lang="en-US" altLang="zh-CN" sz="2400" b="0"/>
          </a:p>
          <a:p>
            <a:pPr algn="just" eaLnBrk="1" hangingPunct="1">
              <a:lnSpc>
                <a:spcPct val="150000"/>
              </a:lnSpc>
            </a:pPr>
            <a:r>
              <a:rPr lang="zh-CN" altLang="en-US" sz="2400" b="0"/>
              <a:t>用于程序与程序或程序与设备之间</a:t>
            </a:r>
            <a:r>
              <a:rPr lang="zh-CN" altLang="en-US" sz="2400" b="0">
                <a:solidFill>
                  <a:srgbClr val="0066FF"/>
                </a:solidFill>
              </a:rPr>
              <a:t>传递成批数据信息</a:t>
            </a:r>
            <a:r>
              <a:rPr lang="zh-CN" altLang="en-US" sz="2400" b="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9466770-E789-3AC8-73C8-CD931B92BE98}"/>
              </a:ext>
            </a:extLst>
          </p:cNvPr>
          <p:cNvSpPr>
            <a:spLocks noGrp="1" noChangeArrowheads="1"/>
          </p:cNvSpPr>
          <p:nvPr>
            <p:ph type="title"/>
          </p:nvPr>
        </p:nvSpPr>
        <p:spPr/>
        <p:txBody>
          <a:bodyPr/>
          <a:lstStyle/>
          <a:p>
            <a:pPr eaLnBrk="1" hangingPunct="1"/>
            <a:r>
              <a:rPr lang="zh-CN" altLang="en-US" sz="4000"/>
              <a:t>程序与文件交换数据的实现过程</a:t>
            </a:r>
          </a:p>
        </p:txBody>
      </p:sp>
      <p:sp>
        <p:nvSpPr>
          <p:cNvPr id="869379" name="Rectangle 3">
            <a:extLst>
              <a:ext uri="{FF2B5EF4-FFF2-40B4-BE49-F238E27FC236}">
                <a16:creationId xmlns:a16="http://schemas.microsoft.com/office/drawing/2014/main" id="{37403A31-D289-0ED3-0098-46F1BBF101EB}"/>
              </a:ext>
            </a:extLst>
          </p:cNvPr>
          <p:cNvSpPr>
            <a:spLocks noGrp="1" noChangeArrowheads="1"/>
          </p:cNvSpPr>
          <p:nvPr>
            <p:ph type="body" idx="1"/>
          </p:nvPr>
        </p:nvSpPr>
        <p:spPr>
          <a:xfrm>
            <a:off x="827088" y="1772815"/>
            <a:ext cx="7793037" cy="4359697"/>
          </a:xfrm>
        </p:spPr>
        <p:txBody>
          <a:bodyPr/>
          <a:lstStyle/>
          <a:p>
            <a:pPr algn="just" eaLnBrk="1" hangingPunct="1">
              <a:lnSpc>
                <a:spcPct val="150000"/>
              </a:lnSpc>
            </a:pPr>
            <a:r>
              <a:rPr lang="zh-CN" altLang="en-US" sz="1600" b="0"/>
              <a:t>设备的读写操作是</a:t>
            </a:r>
            <a:r>
              <a:rPr lang="zh-CN" altLang="en-US" sz="1600" b="0">
                <a:solidFill>
                  <a:srgbClr val="0066FF"/>
                </a:solidFill>
              </a:rPr>
              <a:t>在操作系统的管理和控制下</a:t>
            </a:r>
            <a:r>
              <a:rPr lang="zh-CN" altLang="en-US" sz="1600" b="0"/>
              <a:t>进行。</a:t>
            </a:r>
          </a:p>
          <a:p>
            <a:pPr algn="just" eaLnBrk="1" hangingPunct="1">
              <a:lnSpc>
                <a:spcPct val="150000"/>
              </a:lnSpc>
            </a:pPr>
            <a:r>
              <a:rPr lang="zh-CN" altLang="en-US" sz="1600" b="0"/>
              <a:t>操作系统为能高效地管理和控制设备，给程序正在使用的每个文件在内存中开辟一个适当大小的</a:t>
            </a:r>
            <a:r>
              <a:rPr lang="zh-CN" altLang="en-US" sz="1600" b="0">
                <a:solidFill>
                  <a:srgbClr val="0066FF"/>
                </a:solidFill>
              </a:rPr>
              <a:t>缓冲区</a:t>
            </a:r>
            <a:r>
              <a:rPr lang="zh-CN" altLang="en-US" sz="1600" b="0"/>
              <a:t>。</a:t>
            </a:r>
          </a:p>
          <a:p>
            <a:pPr lvl="1" algn="just" eaLnBrk="1" hangingPunct="1">
              <a:lnSpc>
                <a:spcPct val="150000"/>
              </a:lnSpc>
            </a:pPr>
            <a:r>
              <a:rPr lang="zh-CN" altLang="en-US" sz="1400" b="0"/>
              <a:t>程序要从文件</a:t>
            </a:r>
            <a:r>
              <a:rPr lang="zh-CN" altLang="en-US" sz="1400" b="0">
                <a:solidFill>
                  <a:srgbClr val="0066FF"/>
                </a:solidFill>
              </a:rPr>
              <a:t>读</a:t>
            </a:r>
            <a:r>
              <a:rPr lang="zh-CN" altLang="en-US" sz="1400" b="0"/>
              <a:t>入一些信息时，系统先一次性地读入足够多的信息存于缓冲区中，供程序一部分一部分地使用；</a:t>
            </a:r>
          </a:p>
          <a:p>
            <a:pPr lvl="1" algn="just" eaLnBrk="1" hangingPunct="1">
              <a:lnSpc>
                <a:spcPct val="150000"/>
              </a:lnSpc>
            </a:pPr>
            <a:r>
              <a:rPr lang="zh-CN" altLang="en-US" sz="1400" b="0"/>
              <a:t>程序要</a:t>
            </a:r>
            <a:r>
              <a:rPr lang="zh-CN" altLang="en-US" sz="1400" b="0">
                <a:solidFill>
                  <a:srgbClr val="0066FF"/>
                </a:solidFill>
              </a:rPr>
              <a:t>写</a:t>
            </a:r>
            <a:r>
              <a:rPr lang="zh-CN" altLang="en-US" sz="1400" b="0"/>
              <a:t>信息到文件时，也先把信息写到缓冲区中，待缓冲区写满或写文件结束时，才把缓冲区中的内容写到文件中。</a:t>
            </a:r>
          </a:p>
          <a:p>
            <a:pPr algn="just" eaLnBrk="1" hangingPunct="1">
              <a:lnSpc>
                <a:spcPct val="150000"/>
              </a:lnSpc>
            </a:pPr>
            <a:r>
              <a:rPr lang="zh-CN" altLang="en-US" sz="1600" b="0"/>
              <a:t>程序要</a:t>
            </a:r>
            <a:r>
              <a:rPr lang="zh-CN" altLang="en-US" sz="1600" b="0">
                <a:solidFill>
                  <a:srgbClr val="0432FF"/>
                </a:solidFill>
              </a:rPr>
              <a:t>读取文件</a:t>
            </a:r>
            <a:r>
              <a:rPr lang="zh-CN" altLang="en-US" sz="1600" b="0"/>
              <a:t>中的数据，</a:t>
            </a:r>
            <a:r>
              <a:rPr lang="zh-CN" altLang="en-US" sz="1600"/>
              <a:t>首先打开要读的文件</a:t>
            </a:r>
            <a:r>
              <a:rPr lang="zh-CN" altLang="en-US" sz="1600" b="0"/>
              <a:t>，然后才能从该文件读取数据，并在使用结束时，及时关闭文件。程序要向文件</a:t>
            </a:r>
            <a:r>
              <a:rPr lang="zh-CN" altLang="en-US" sz="1600" b="0">
                <a:solidFill>
                  <a:srgbClr val="0432FF"/>
                </a:solidFill>
              </a:rPr>
              <a:t>写入数据</a:t>
            </a:r>
            <a:r>
              <a:rPr lang="zh-CN" altLang="en-US" sz="1600" b="0"/>
              <a:t>，也是</a:t>
            </a:r>
            <a:r>
              <a:rPr lang="zh-CN" altLang="en-US" sz="1600"/>
              <a:t>先打开文件</a:t>
            </a:r>
            <a:r>
              <a:rPr lang="en-US" altLang="zh-CN" sz="1600" b="0"/>
              <a:t>(</a:t>
            </a:r>
            <a:r>
              <a:rPr lang="zh-CN" altLang="en-US" sz="1600" b="0"/>
              <a:t>可能包括建立一个新文件</a:t>
            </a:r>
            <a:r>
              <a:rPr lang="en-US" altLang="zh-CN" sz="1600" b="0"/>
              <a:t>)</a:t>
            </a:r>
            <a:r>
              <a:rPr lang="zh-CN" altLang="en-US" sz="1600" b="0"/>
              <a:t>，然后向文件输出数据，最后关闭文件。</a:t>
            </a:r>
          </a:p>
          <a:p>
            <a:pPr algn="just" eaLnBrk="1" hangingPunct="1">
              <a:lnSpc>
                <a:spcPct val="150000"/>
              </a:lnSpc>
            </a:pPr>
            <a:r>
              <a:rPr lang="zh-CN" altLang="en-US" sz="1600" b="0" i="1" u="sng"/>
              <a:t>Ｃ语言本身未提供有关文件操作的输入输出语句</a:t>
            </a:r>
            <a:r>
              <a:rPr lang="zh-CN" altLang="en-US" sz="1600" b="0"/>
              <a:t>，对文件的打开关闭和读写操作都用系统提供的库函数来实现。</a:t>
            </a:r>
            <a:endParaRPr lang="zh-CN" altLang="en-US" sz="1800" b="0">
              <a:solidFill>
                <a:srgbClr val="008080"/>
              </a:solidFill>
              <a:effectLst>
                <a:outerShdw blurRad="38100" dist="38100" dir="2700000" algn="tl">
                  <a:srgbClr val="C0C0C0"/>
                </a:outerShdw>
              </a:effectLst>
              <a:latin typeface="SimSun"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7905873-8FF7-F6FD-5D1C-02110669B347}"/>
              </a:ext>
            </a:extLst>
          </p:cNvPr>
          <p:cNvSpPr>
            <a:spLocks noGrp="1" noChangeArrowheads="1"/>
          </p:cNvSpPr>
          <p:nvPr>
            <p:ph type="ctrTitle"/>
          </p:nvPr>
        </p:nvSpPr>
        <p:spPr/>
        <p:txBody>
          <a:bodyPr/>
          <a:lstStyle/>
          <a:p>
            <a:pPr eaLnBrk="1" hangingPunct="1"/>
            <a:r>
              <a:rPr lang="en-US" altLang="zh-CN" sz="3600"/>
              <a:t>8.2  </a:t>
            </a:r>
            <a:r>
              <a:rPr lang="zh-CN" altLang="en-US" sz="3600"/>
              <a:t>文件类型和文件类型指针变量</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E9DAC0B-5395-2704-3BC6-5D65E4BE89DB}"/>
              </a:ext>
            </a:extLst>
          </p:cNvPr>
          <p:cNvSpPr>
            <a:spLocks noGrp="1" noChangeArrowheads="1"/>
          </p:cNvSpPr>
          <p:nvPr>
            <p:ph type="title"/>
          </p:nvPr>
        </p:nvSpPr>
        <p:spPr/>
        <p:txBody>
          <a:bodyPr/>
          <a:lstStyle/>
          <a:p>
            <a:pPr eaLnBrk="1" hangingPunct="1"/>
            <a:r>
              <a:rPr lang="zh-CN" altLang="en-US"/>
              <a:t>文件类型 </a:t>
            </a:r>
            <a:r>
              <a:rPr lang="en-US" altLang="zh-CN"/>
              <a:t>FILE</a:t>
            </a:r>
          </a:p>
        </p:txBody>
      </p:sp>
      <p:sp>
        <p:nvSpPr>
          <p:cNvPr id="11267" name="Rectangle 3">
            <a:extLst>
              <a:ext uri="{FF2B5EF4-FFF2-40B4-BE49-F238E27FC236}">
                <a16:creationId xmlns:a16="http://schemas.microsoft.com/office/drawing/2014/main" id="{3EBC7FE2-069B-7015-4B66-281F3D1BC87C}"/>
              </a:ext>
            </a:extLst>
          </p:cNvPr>
          <p:cNvSpPr>
            <a:spLocks noGrp="1" noChangeArrowheads="1"/>
          </p:cNvSpPr>
          <p:nvPr>
            <p:ph type="body" idx="1"/>
          </p:nvPr>
        </p:nvSpPr>
        <p:spPr>
          <a:xfrm>
            <a:off x="827088" y="1844823"/>
            <a:ext cx="7793037" cy="4287689"/>
          </a:xfrm>
        </p:spPr>
        <p:txBody>
          <a:bodyPr/>
          <a:lstStyle/>
          <a:p>
            <a:pPr algn="just" eaLnBrk="1" hangingPunct="1">
              <a:lnSpc>
                <a:spcPct val="150000"/>
              </a:lnSpc>
            </a:pPr>
            <a:r>
              <a:rPr lang="zh-CN" altLang="en-US" sz="2000"/>
              <a:t>操作系统</a:t>
            </a:r>
            <a:r>
              <a:rPr lang="zh-CN" altLang="en-US" sz="2000" b="0"/>
              <a:t>除为文件开辟缓冲区外，还为每个被使用的文件在内存中</a:t>
            </a:r>
            <a:r>
              <a:rPr lang="zh-CN" altLang="en-US" sz="2000" b="0">
                <a:solidFill>
                  <a:srgbClr val="0066FF"/>
                </a:solidFill>
              </a:rPr>
              <a:t>开辟另一个存储区</a:t>
            </a:r>
            <a:r>
              <a:rPr lang="zh-CN" altLang="en-US" sz="2000" b="0"/>
              <a:t>，用于存放有关对文件进行操作所需的</a:t>
            </a:r>
            <a:r>
              <a:rPr lang="zh-CN" altLang="en-US" sz="2000" b="0">
                <a:solidFill>
                  <a:srgbClr val="0066FF"/>
                </a:solidFill>
              </a:rPr>
              <a:t>控制信息</a:t>
            </a:r>
            <a:r>
              <a:rPr lang="zh-CN" altLang="en-US" sz="2000" b="0"/>
              <a:t>，如文件名、文件读写状态、文件缓冲区大小和位置、当前读写位置等。</a:t>
            </a:r>
          </a:p>
          <a:p>
            <a:pPr algn="just" eaLnBrk="1" hangingPunct="1">
              <a:lnSpc>
                <a:spcPct val="150000"/>
              </a:lnSpc>
            </a:pPr>
            <a:r>
              <a:rPr lang="en-US" altLang="zh-CN" sz="2000" b="0"/>
              <a:t>C</a:t>
            </a:r>
            <a:r>
              <a:rPr lang="zh-CN" altLang="en-US" sz="2000" b="0"/>
              <a:t>系统将这些信息存储在一个</a:t>
            </a:r>
            <a:r>
              <a:rPr lang="zh-CN" altLang="en-US" sz="2000" b="0" i="1" u="sng">
                <a:solidFill>
                  <a:srgbClr val="0066FF"/>
                </a:solidFill>
              </a:rPr>
              <a:t>结构变量</a:t>
            </a:r>
            <a:r>
              <a:rPr lang="zh-CN" altLang="en-US" sz="2000" b="0"/>
              <a:t>中，这种结构的类型由系统预定义，取名</a:t>
            </a:r>
            <a:r>
              <a:rPr lang="en-US" altLang="zh-CN" sz="2000" b="0">
                <a:solidFill>
                  <a:srgbClr val="0066FF"/>
                </a:solidFill>
              </a:rPr>
              <a:t>FILE</a:t>
            </a:r>
            <a:r>
              <a:rPr lang="zh-CN" altLang="en-US" sz="2000" b="0"/>
              <a:t>，习惯称文件类型。</a:t>
            </a:r>
            <a:endParaRPr lang="en-US" altLang="zh-CN" sz="2000" b="0"/>
          </a:p>
          <a:p>
            <a:pPr algn="just" eaLnBrk="1" hangingPunct="1">
              <a:lnSpc>
                <a:spcPct val="150000"/>
              </a:lnSpc>
            </a:pPr>
            <a:r>
              <a:rPr lang="zh-CN" altLang="en-US" sz="2000" b="0"/>
              <a:t>不同系统的文件类型所含内容也不全相同。读者可查阅自已使用的Ｃ系统的 </a:t>
            </a:r>
            <a:r>
              <a:rPr lang="en-US" altLang="zh-CN" sz="2000" b="0">
                <a:solidFill>
                  <a:srgbClr val="0066FF"/>
                </a:solidFill>
              </a:rPr>
              <a:t>stdio.h</a:t>
            </a:r>
            <a:r>
              <a:rPr lang="en-US" altLang="zh-CN" sz="2000" b="0"/>
              <a:t> </a:t>
            </a:r>
            <a:r>
              <a:rPr lang="zh-CN" altLang="en-US" sz="2000" b="0"/>
              <a:t>文件，在该文件中有</a:t>
            </a:r>
            <a:r>
              <a:rPr lang="en-US" altLang="zh-CN" sz="2000" b="0"/>
              <a:t>FILE</a:t>
            </a:r>
            <a:r>
              <a:rPr lang="zh-CN" altLang="en-US" sz="2000" b="0"/>
              <a:t>的定义。</a:t>
            </a:r>
          </a:p>
          <a:p>
            <a:pPr algn="just" eaLnBrk="1" hangingPunct="1">
              <a:lnSpc>
                <a:spcPct val="150000"/>
              </a:lnSpc>
            </a:pPr>
            <a:endParaRPr lang="en-US" altLang="zh-CN" sz="2000" b="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F34C-C19C-A434-4801-3F52F7A0F471}"/>
            </a:ext>
          </a:extLst>
        </p:cNvPr>
        <p:cNvGrpSpPr/>
        <p:nvPr/>
      </p:nvGrpSpPr>
      <p:grpSpPr>
        <a:xfrm>
          <a:off x="0" y="0"/>
          <a:ext cx="0" cy="0"/>
          <a:chOff x="0" y="0"/>
          <a:chExt cx="0" cy="0"/>
        </a:xfrm>
      </p:grpSpPr>
      <p:sp>
        <p:nvSpPr>
          <p:cNvPr id="11266" name="Rectangle 2">
            <a:extLst>
              <a:ext uri="{FF2B5EF4-FFF2-40B4-BE49-F238E27FC236}">
                <a16:creationId xmlns:a16="http://schemas.microsoft.com/office/drawing/2014/main" id="{89BC66A5-3EF4-17AB-DDAD-3829AB18508E}"/>
              </a:ext>
            </a:extLst>
          </p:cNvPr>
          <p:cNvSpPr>
            <a:spLocks noGrp="1" noChangeArrowheads="1"/>
          </p:cNvSpPr>
          <p:nvPr>
            <p:ph type="title"/>
          </p:nvPr>
        </p:nvSpPr>
        <p:spPr/>
        <p:txBody>
          <a:bodyPr/>
          <a:lstStyle/>
          <a:p>
            <a:pPr eaLnBrk="1" hangingPunct="1"/>
            <a:r>
              <a:rPr lang="zh-CN" altLang="en-US"/>
              <a:t>文件类型 </a:t>
            </a:r>
            <a:r>
              <a:rPr lang="en-US" altLang="zh-CN"/>
              <a:t>FILE</a:t>
            </a:r>
          </a:p>
        </p:txBody>
      </p:sp>
      <p:pic>
        <p:nvPicPr>
          <p:cNvPr id="1026" name="Picture 2">
            <a:extLst>
              <a:ext uri="{FF2B5EF4-FFF2-40B4-BE49-F238E27FC236}">
                <a16:creationId xmlns:a16="http://schemas.microsoft.com/office/drawing/2014/main" id="{E3345F75-4111-3E50-91CA-9DE36FB81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132856"/>
            <a:ext cx="8673222" cy="390295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8A04DE06-E74D-44AA-754A-D9CD40F76F06}"/>
              </a:ext>
            </a:extLst>
          </p:cNvPr>
          <p:cNvSpPr txBox="1"/>
          <p:nvPr/>
        </p:nvSpPr>
        <p:spPr>
          <a:xfrm>
            <a:off x="2699792" y="6500713"/>
            <a:ext cx="4572000" cy="276999"/>
          </a:xfrm>
          <a:prstGeom prst="rect">
            <a:avLst/>
          </a:prstGeom>
          <a:noFill/>
        </p:spPr>
        <p:txBody>
          <a:bodyPr wrap="square">
            <a:spAutoFit/>
          </a:bodyPr>
          <a:lstStyle/>
          <a:p>
            <a:pPr>
              <a:buNone/>
            </a:pPr>
            <a:r>
              <a:rPr lang="zh-CN" altLang="en-US" sz="1200"/>
              <a:t>https://zhuanlan.zhihu.com/p/556031696</a:t>
            </a:r>
          </a:p>
        </p:txBody>
      </p:sp>
    </p:spTree>
    <p:extLst>
      <p:ext uri="{BB962C8B-B14F-4D97-AF65-F5344CB8AC3E}">
        <p14:creationId xmlns:p14="http://schemas.microsoft.com/office/powerpoint/2010/main" val="3067083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0CB0BCB-C181-CBDC-4EC5-9FF9E3197AC7}"/>
              </a:ext>
            </a:extLst>
          </p:cNvPr>
          <p:cNvSpPr>
            <a:spLocks noGrp="1" noChangeArrowheads="1"/>
          </p:cNvSpPr>
          <p:nvPr>
            <p:ph type="title"/>
          </p:nvPr>
        </p:nvSpPr>
        <p:spPr/>
        <p:txBody>
          <a:bodyPr/>
          <a:lstStyle/>
          <a:p>
            <a:pPr eaLnBrk="1" hangingPunct="1"/>
            <a:r>
              <a:rPr lang="zh-CN" altLang="en-US"/>
              <a:t>文件类型指针变量</a:t>
            </a:r>
          </a:p>
        </p:txBody>
      </p:sp>
      <p:sp>
        <p:nvSpPr>
          <p:cNvPr id="12291" name="Rectangle 3">
            <a:extLst>
              <a:ext uri="{FF2B5EF4-FFF2-40B4-BE49-F238E27FC236}">
                <a16:creationId xmlns:a16="http://schemas.microsoft.com/office/drawing/2014/main" id="{0AB1A942-0958-4357-2CB2-1319BED1EFEC}"/>
              </a:ext>
            </a:extLst>
          </p:cNvPr>
          <p:cNvSpPr>
            <a:spLocks noGrp="1" noChangeArrowheads="1"/>
          </p:cNvSpPr>
          <p:nvPr>
            <p:ph type="body" idx="1"/>
          </p:nvPr>
        </p:nvSpPr>
        <p:spPr>
          <a:xfrm>
            <a:off x="827088" y="1844823"/>
            <a:ext cx="7705352" cy="4287689"/>
          </a:xfrm>
        </p:spPr>
        <p:txBody>
          <a:bodyPr/>
          <a:lstStyle/>
          <a:p>
            <a:pPr eaLnBrk="1" hangingPunct="1"/>
            <a:r>
              <a:rPr lang="zh-CN" altLang="en-US" b="0"/>
              <a:t>文件指针是指向 </a:t>
            </a:r>
            <a:r>
              <a:rPr lang="en-US" altLang="zh-CN" b="0"/>
              <a:t>FILE </a:t>
            </a:r>
            <a:r>
              <a:rPr lang="zh-CN" altLang="en-US" b="0"/>
              <a:t>结构体的指针，用于操作文件流。</a:t>
            </a:r>
            <a:endParaRPr lang="en-US" altLang="zh-CN" b="0"/>
          </a:p>
          <a:p>
            <a:pPr eaLnBrk="1" hangingPunct="1"/>
            <a:r>
              <a:rPr lang="zh-CN" altLang="en-US" b="0"/>
              <a:t>例如</a:t>
            </a:r>
          </a:p>
          <a:p>
            <a:pPr lvl="1" eaLnBrk="1" hangingPunct="1"/>
            <a:r>
              <a:rPr lang="en-US" altLang="zh-CN" b="0"/>
              <a:t>FILE * fp;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C8C25E5-5B92-D35F-7176-9DCD962107B0}"/>
              </a:ext>
            </a:extLst>
          </p:cNvPr>
          <p:cNvSpPr>
            <a:spLocks noGrp="1" noChangeArrowheads="1"/>
          </p:cNvSpPr>
          <p:nvPr>
            <p:ph type="ctrTitle"/>
          </p:nvPr>
        </p:nvSpPr>
        <p:spPr/>
        <p:txBody>
          <a:bodyPr/>
          <a:lstStyle/>
          <a:p>
            <a:pPr eaLnBrk="1" hangingPunct="1"/>
            <a:r>
              <a:rPr lang="en-US" altLang="zh-CN"/>
              <a:t>8.3 </a:t>
            </a:r>
            <a:r>
              <a:rPr lang="zh-CN" altLang="en-US"/>
              <a:t>文件打开和关闭库函数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E277878-F0F6-3802-80A2-3142BD73B5FF}"/>
              </a:ext>
            </a:extLst>
          </p:cNvPr>
          <p:cNvSpPr>
            <a:spLocks noGrp="1" noChangeArrowheads="1"/>
          </p:cNvSpPr>
          <p:nvPr>
            <p:ph type="title"/>
          </p:nvPr>
        </p:nvSpPr>
        <p:spPr/>
        <p:txBody>
          <a:bodyPr/>
          <a:lstStyle/>
          <a:p>
            <a:pPr eaLnBrk="1" hangingPunct="1"/>
            <a:r>
              <a:rPr lang="zh-CN" altLang="en-US"/>
              <a:t>文件打开库函数</a:t>
            </a:r>
            <a:r>
              <a:rPr lang="en-US" altLang="zh-CN"/>
              <a:t>fopen()</a:t>
            </a:r>
          </a:p>
        </p:txBody>
      </p:sp>
      <p:sp>
        <p:nvSpPr>
          <p:cNvPr id="14339" name="Rectangle 3">
            <a:extLst>
              <a:ext uri="{FF2B5EF4-FFF2-40B4-BE49-F238E27FC236}">
                <a16:creationId xmlns:a16="http://schemas.microsoft.com/office/drawing/2014/main" id="{C0726D26-7A0B-5930-AE26-0F3477076B72}"/>
              </a:ext>
            </a:extLst>
          </p:cNvPr>
          <p:cNvSpPr>
            <a:spLocks noGrp="1" noChangeArrowheads="1"/>
          </p:cNvSpPr>
          <p:nvPr>
            <p:ph type="body" idx="1"/>
          </p:nvPr>
        </p:nvSpPr>
        <p:spPr>
          <a:xfrm>
            <a:off x="827088" y="1844823"/>
            <a:ext cx="7793037" cy="4287689"/>
          </a:xfrm>
        </p:spPr>
        <p:txBody>
          <a:bodyPr/>
          <a:lstStyle/>
          <a:p>
            <a:pPr algn="just" eaLnBrk="1" hangingPunct="1">
              <a:lnSpc>
                <a:spcPct val="150000"/>
              </a:lnSpc>
            </a:pPr>
            <a:r>
              <a:rPr lang="zh-CN" altLang="en-US" sz="1800" b="0"/>
              <a:t>在读写文件之前，先得打开文件。打开文件可使用</a:t>
            </a:r>
            <a:r>
              <a:rPr lang="zh-CN" altLang="en-US" sz="1800" b="0">
                <a:solidFill>
                  <a:srgbClr val="0066FF"/>
                </a:solidFill>
              </a:rPr>
              <a:t>库函数</a:t>
            </a:r>
            <a:r>
              <a:rPr lang="en-US" altLang="zh-CN" sz="1800" b="0">
                <a:solidFill>
                  <a:srgbClr val="0066FF"/>
                </a:solidFill>
              </a:rPr>
              <a:t>fopen()</a:t>
            </a:r>
            <a:r>
              <a:rPr lang="zh-CN" altLang="en-US" sz="1800" b="0"/>
              <a:t>。调用函数</a:t>
            </a:r>
            <a:r>
              <a:rPr lang="en-US" altLang="zh-CN" sz="1800" b="0"/>
              <a:t>fopen() </a:t>
            </a:r>
            <a:r>
              <a:rPr lang="zh-CN" altLang="en-US" sz="1800" b="0"/>
              <a:t>的一般形式为：</a:t>
            </a:r>
          </a:p>
          <a:p>
            <a:pPr lvl="1" algn="just" eaLnBrk="1" hangingPunct="1">
              <a:lnSpc>
                <a:spcPct val="150000"/>
              </a:lnSpc>
            </a:pPr>
            <a:r>
              <a:rPr lang="zh-CN" altLang="en-US" sz="1600" b="0"/>
              <a:t>     </a:t>
            </a:r>
            <a:r>
              <a:rPr lang="en-US" altLang="zh-CN" sz="1600" b="0"/>
              <a:t>fopen(</a:t>
            </a:r>
            <a:r>
              <a:rPr lang="zh-CN" altLang="en-US" sz="1600" b="0"/>
              <a:t>文件名</a:t>
            </a:r>
            <a:r>
              <a:rPr lang="en-US" altLang="zh-CN" sz="1600" b="0"/>
              <a:t>, </a:t>
            </a:r>
            <a:r>
              <a:rPr lang="zh-CN" altLang="en-US" sz="1600" b="0"/>
              <a:t>使用方式</a:t>
            </a:r>
            <a:r>
              <a:rPr lang="en-US" altLang="zh-CN" sz="1600" b="0"/>
              <a:t>)</a:t>
            </a:r>
          </a:p>
          <a:p>
            <a:pPr algn="just" eaLnBrk="1" hangingPunct="1">
              <a:lnSpc>
                <a:spcPct val="150000"/>
              </a:lnSpc>
            </a:pPr>
            <a:r>
              <a:rPr lang="zh-CN" altLang="en-US" sz="1800" b="0"/>
              <a:t>其中</a:t>
            </a:r>
            <a:r>
              <a:rPr lang="zh-CN" altLang="en-US" sz="1800" u="sng"/>
              <a:t>文件名</a:t>
            </a:r>
            <a:r>
              <a:rPr lang="en-US" altLang="zh-CN" sz="1800" b="0"/>
              <a:t>(</a:t>
            </a:r>
            <a:r>
              <a:rPr lang="zh-CN" altLang="en-US" sz="1800" b="0"/>
              <a:t>可能还包括目录路径</a:t>
            </a:r>
            <a:r>
              <a:rPr lang="en-US" altLang="zh-CN" sz="1800" b="0"/>
              <a:t>)</a:t>
            </a:r>
            <a:r>
              <a:rPr lang="zh-CN" altLang="en-US" sz="1800" b="0"/>
              <a:t>为字符串表达式。</a:t>
            </a:r>
            <a:r>
              <a:rPr lang="zh-CN" altLang="en-US" sz="1800" u="sng"/>
              <a:t>使用方式</a:t>
            </a:r>
            <a:r>
              <a:rPr lang="zh-CN" altLang="en-US" sz="1800" b="0"/>
              <a:t>也是一个字符串，用来指明文件的读写方式</a:t>
            </a:r>
            <a:r>
              <a:rPr lang="en-US" altLang="zh-CN" sz="1800" b="0"/>
              <a:t>(</a:t>
            </a:r>
            <a:r>
              <a:rPr lang="zh-CN" altLang="en-US" sz="1800" b="0"/>
              <a:t>见</a:t>
            </a:r>
            <a:r>
              <a:rPr lang="en-US" altLang="zh-CN" sz="1800" b="0"/>
              <a:t>P.234</a:t>
            </a:r>
            <a:r>
              <a:rPr lang="zh-CN" altLang="en-US" sz="1800" b="0"/>
              <a:t>，</a:t>
            </a:r>
            <a:r>
              <a:rPr lang="zh-CN" altLang="en-US" sz="1800" b="0" i="1" u="sng"/>
              <a:t>表</a:t>
            </a:r>
            <a:r>
              <a:rPr lang="en-US" altLang="zh-CN" sz="1800" b="0" i="1" u="sng"/>
              <a:t>8-1</a:t>
            </a:r>
            <a:r>
              <a:rPr lang="en-US" altLang="zh-CN" sz="1800" b="0"/>
              <a:t>)</a:t>
            </a:r>
            <a:r>
              <a:rPr lang="zh-CN" altLang="en-US" sz="1800" b="0"/>
              <a:t>。</a:t>
            </a:r>
            <a:endParaRPr lang="en-US" altLang="zh-CN" sz="1800" b="0"/>
          </a:p>
          <a:p>
            <a:pPr algn="just" eaLnBrk="1" hangingPunct="1">
              <a:lnSpc>
                <a:spcPct val="150000"/>
              </a:lnSpc>
            </a:pPr>
            <a:r>
              <a:rPr lang="zh-CN" altLang="en-US" sz="1800" b="0"/>
              <a:t>函数</a:t>
            </a:r>
            <a:r>
              <a:rPr lang="en-US" altLang="zh-CN" sz="1800" b="0"/>
              <a:t>fopen()</a:t>
            </a:r>
            <a:r>
              <a:rPr lang="zh-CN" altLang="en-US" sz="1800" b="0"/>
              <a:t>将</a:t>
            </a:r>
            <a:r>
              <a:rPr lang="zh-CN" altLang="en-US" sz="1800" b="0">
                <a:solidFill>
                  <a:srgbClr val="0066FF"/>
                </a:solidFill>
              </a:rPr>
              <a:t>返回</a:t>
            </a:r>
            <a:r>
              <a:rPr lang="zh-CN" altLang="en-US" sz="1800" b="0"/>
              <a:t>一个存放文件控制信息结构的</a:t>
            </a:r>
            <a:r>
              <a:rPr lang="zh-CN" altLang="en-US" sz="1800" b="0">
                <a:solidFill>
                  <a:srgbClr val="0066FF"/>
                </a:solidFill>
              </a:rPr>
              <a:t>指针</a:t>
            </a:r>
            <a:r>
              <a:rPr lang="zh-CN" altLang="en-US" sz="1800" b="0"/>
              <a:t>，该文件的有关控制信息就将存放在该结构中，供以后读写文件操作之用。程序应将调用函数</a:t>
            </a:r>
            <a:r>
              <a:rPr lang="en-US" altLang="zh-CN" sz="1800" b="0"/>
              <a:t>fopen()</a:t>
            </a:r>
            <a:r>
              <a:rPr lang="zh-CN" altLang="en-US" sz="1800" b="0"/>
              <a:t>返回的指针值赋给某个</a:t>
            </a:r>
            <a:r>
              <a:rPr lang="zh-CN" altLang="en-US" sz="1800" b="0">
                <a:solidFill>
                  <a:srgbClr val="0066FF"/>
                </a:solidFill>
              </a:rPr>
              <a:t>文件指针变量</a:t>
            </a:r>
            <a:r>
              <a:rPr lang="zh-CN" altLang="en-US" sz="1800" b="0"/>
              <a:t>中保存。如语句</a:t>
            </a:r>
          </a:p>
          <a:p>
            <a:pPr lvl="1" algn="just" eaLnBrk="1" hangingPunct="1">
              <a:lnSpc>
                <a:spcPct val="150000"/>
              </a:lnSpc>
            </a:pPr>
            <a:r>
              <a:rPr lang="zh-CN" altLang="en-US" sz="1600" b="0"/>
              <a:t>          </a:t>
            </a:r>
            <a:r>
              <a:rPr lang="en-US" altLang="zh-CN" sz="1600" b="0"/>
              <a:t>fp = fopen("\\usr4\\smp.dat", "r");</a:t>
            </a:r>
          </a:p>
          <a:p>
            <a:pPr lvl="1" algn="just" eaLnBrk="1" hangingPunct="1">
              <a:lnSpc>
                <a:spcPct val="150000"/>
              </a:lnSpc>
            </a:pPr>
            <a:r>
              <a:rPr lang="zh-CN" altLang="en-US" sz="1600" b="0"/>
              <a:t>以读方式打开根目录下的</a:t>
            </a:r>
            <a:r>
              <a:rPr lang="en-US" altLang="zh-CN" sz="1600" b="0"/>
              <a:t>usr4</a:t>
            </a:r>
            <a:r>
              <a:rPr lang="zh-CN" altLang="en-US" sz="1600" b="0"/>
              <a:t>子目录中的 </a:t>
            </a:r>
            <a:r>
              <a:rPr lang="en-US" altLang="zh-CN" sz="1600" b="0"/>
              <a:t>smp.dat </a:t>
            </a:r>
            <a:r>
              <a:rPr lang="zh-CN" altLang="en-US" sz="1600" b="0"/>
              <a:t>文件。</a:t>
            </a:r>
          </a:p>
          <a:p>
            <a:pPr algn="just" eaLnBrk="1" hangingPunct="1">
              <a:lnSpc>
                <a:spcPct val="150000"/>
              </a:lnSpc>
            </a:pPr>
            <a:endParaRPr lang="en-US" altLang="zh-CN" sz="1800" b="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8D5B-20C0-CB5F-5CE6-B97C0C69C334}"/>
            </a:ext>
          </a:extLst>
        </p:cNvPr>
        <p:cNvGrpSpPr/>
        <p:nvPr/>
      </p:nvGrpSpPr>
      <p:grpSpPr>
        <a:xfrm>
          <a:off x="0" y="0"/>
          <a:ext cx="0" cy="0"/>
          <a:chOff x="0" y="0"/>
          <a:chExt cx="0" cy="0"/>
        </a:xfrm>
      </p:grpSpPr>
      <p:sp>
        <p:nvSpPr>
          <p:cNvPr id="14338" name="Rectangle 2">
            <a:extLst>
              <a:ext uri="{FF2B5EF4-FFF2-40B4-BE49-F238E27FC236}">
                <a16:creationId xmlns:a16="http://schemas.microsoft.com/office/drawing/2014/main" id="{8B6DAB2E-A8DC-E097-5AF1-89237411CBA6}"/>
              </a:ext>
            </a:extLst>
          </p:cNvPr>
          <p:cNvSpPr>
            <a:spLocks noGrp="1" noChangeArrowheads="1"/>
          </p:cNvSpPr>
          <p:nvPr>
            <p:ph type="title"/>
          </p:nvPr>
        </p:nvSpPr>
        <p:spPr/>
        <p:txBody>
          <a:bodyPr/>
          <a:lstStyle/>
          <a:p>
            <a:pPr eaLnBrk="1" hangingPunct="1"/>
            <a:r>
              <a:rPr lang="zh-CN" altLang="en-US"/>
              <a:t>文件打开库函数</a:t>
            </a:r>
            <a:r>
              <a:rPr lang="en-US" altLang="zh-CN"/>
              <a:t>fopen()</a:t>
            </a:r>
          </a:p>
        </p:txBody>
      </p:sp>
      <p:sp>
        <p:nvSpPr>
          <p:cNvPr id="14339" name="Rectangle 3">
            <a:extLst>
              <a:ext uri="{FF2B5EF4-FFF2-40B4-BE49-F238E27FC236}">
                <a16:creationId xmlns:a16="http://schemas.microsoft.com/office/drawing/2014/main" id="{67C45196-03FF-5DF9-D4ED-78AE782BF003}"/>
              </a:ext>
            </a:extLst>
          </p:cNvPr>
          <p:cNvSpPr>
            <a:spLocks noGrp="1" noChangeArrowheads="1"/>
          </p:cNvSpPr>
          <p:nvPr>
            <p:ph type="body" idx="1"/>
          </p:nvPr>
        </p:nvSpPr>
        <p:spPr>
          <a:xfrm>
            <a:off x="827088" y="1700808"/>
            <a:ext cx="7793037" cy="4431705"/>
          </a:xfrm>
        </p:spPr>
        <p:txBody>
          <a:bodyPr/>
          <a:lstStyle/>
          <a:p>
            <a:pPr algn="just" eaLnBrk="1" hangingPunct="1">
              <a:lnSpc>
                <a:spcPct val="150000"/>
              </a:lnSpc>
            </a:pPr>
            <a:r>
              <a:rPr lang="zh-CN" altLang="en-US" sz="2000" b="0"/>
              <a:t>文件的读写方式</a:t>
            </a:r>
            <a:endParaRPr lang="en-US" altLang="zh-CN" sz="2000" b="0"/>
          </a:p>
        </p:txBody>
      </p:sp>
      <p:graphicFrame>
        <p:nvGraphicFramePr>
          <p:cNvPr id="2" name="表格 1">
            <a:extLst>
              <a:ext uri="{FF2B5EF4-FFF2-40B4-BE49-F238E27FC236}">
                <a16:creationId xmlns:a16="http://schemas.microsoft.com/office/drawing/2014/main" id="{22F036C8-2796-BD31-F39D-AF1A55AF645F}"/>
              </a:ext>
            </a:extLst>
          </p:cNvPr>
          <p:cNvGraphicFramePr>
            <a:graphicFrameLocks noGrp="1"/>
          </p:cNvGraphicFramePr>
          <p:nvPr>
            <p:extLst>
              <p:ext uri="{D42A27DB-BD31-4B8C-83A1-F6EECF244321}">
                <p14:modId xmlns:p14="http://schemas.microsoft.com/office/powerpoint/2010/main" val="3014733197"/>
              </p:ext>
            </p:extLst>
          </p:nvPr>
        </p:nvGraphicFramePr>
        <p:xfrm>
          <a:off x="912062" y="2276872"/>
          <a:ext cx="7623088" cy="3655999"/>
        </p:xfrm>
        <a:graphic>
          <a:graphicData uri="http://schemas.openxmlformats.org/drawingml/2006/table">
            <a:tbl>
              <a:tblPr/>
              <a:tblGrid>
                <a:gridCol w="503535">
                  <a:extLst>
                    <a:ext uri="{9D8B030D-6E8A-4147-A177-3AD203B41FA5}">
                      <a16:colId xmlns:a16="http://schemas.microsoft.com/office/drawing/2014/main" val="1411341375"/>
                    </a:ext>
                  </a:extLst>
                </a:gridCol>
                <a:gridCol w="7119553">
                  <a:extLst>
                    <a:ext uri="{9D8B030D-6E8A-4147-A177-3AD203B41FA5}">
                      <a16:colId xmlns:a16="http://schemas.microsoft.com/office/drawing/2014/main" val="4283701807"/>
                    </a:ext>
                  </a:extLst>
                </a:gridCol>
              </a:tblGrid>
              <a:tr h="445714">
                <a:tc>
                  <a:txBody>
                    <a:bodyPr/>
                    <a:lstStyle/>
                    <a:p>
                      <a:pPr algn="l" fontAlgn="t"/>
                      <a:r>
                        <a:rPr lang="zh-CN" altLang="en-US" sz="1400">
                          <a:solidFill>
                            <a:srgbClr val="FFFFFF"/>
                          </a:solidFill>
                          <a:effectLst/>
                        </a:rPr>
                        <a:t>模式</a:t>
                      </a:r>
                    </a:p>
                  </a:txBody>
                  <a:tcPr marL="27395" marR="27395" marT="27395" marB="2739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zh-CN" altLang="en-US" sz="1400">
                          <a:solidFill>
                            <a:srgbClr val="FFFFFF"/>
                          </a:solidFill>
                          <a:effectLst/>
                        </a:rPr>
                        <a:t>描述</a:t>
                      </a:r>
                    </a:p>
                  </a:txBody>
                  <a:tcPr marL="27395" marR="27395" marT="27395" marB="2739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813638911"/>
                  </a:ext>
                </a:extLst>
              </a:tr>
              <a:tr h="299946">
                <a:tc>
                  <a:txBody>
                    <a:bodyPr/>
                    <a:lstStyle/>
                    <a:p>
                      <a:pPr fontAlgn="t"/>
                      <a:r>
                        <a:rPr lang="en-US" sz="1400">
                          <a:effectLst/>
                        </a:rPr>
                        <a:t>r</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400">
                          <a:effectLst/>
                        </a:rPr>
                        <a:t>打开一个已有的文本文件，允许读取文件。</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2700669693"/>
                  </a:ext>
                </a:extLst>
              </a:tr>
              <a:tr h="703611">
                <a:tc>
                  <a:txBody>
                    <a:bodyPr/>
                    <a:lstStyle/>
                    <a:p>
                      <a:pPr fontAlgn="t"/>
                      <a:r>
                        <a:rPr lang="en-US" sz="1400">
                          <a:effectLst/>
                        </a:rPr>
                        <a:t>w</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400">
                          <a:effectLst/>
                        </a:rPr>
                        <a:t>打开一个文本文件，允许写入文件。</a:t>
                      </a:r>
                      <a:r>
                        <a:rPr lang="zh-CN" altLang="en-US" sz="1400">
                          <a:solidFill>
                            <a:srgbClr val="0066FF"/>
                          </a:solidFill>
                          <a:effectLst/>
                        </a:rPr>
                        <a:t>如果文件不存在</a:t>
                      </a:r>
                      <a:r>
                        <a:rPr lang="zh-CN" altLang="en-US" sz="1400">
                          <a:effectLst/>
                        </a:rPr>
                        <a:t>，则会创建一个新文件。在这里，您的程序会从文件的开头写入内容。</a:t>
                      </a:r>
                      <a:r>
                        <a:rPr lang="zh-CN" altLang="en-US" sz="1400">
                          <a:solidFill>
                            <a:srgbClr val="0066FF"/>
                          </a:solidFill>
                          <a:effectLst/>
                        </a:rPr>
                        <a:t>如果文件存在</a:t>
                      </a:r>
                      <a:r>
                        <a:rPr lang="zh-CN" altLang="en-US" sz="1400">
                          <a:effectLst/>
                        </a:rPr>
                        <a:t>，则该会被截断为零长度，重新写入。</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2880240056"/>
                  </a:ext>
                </a:extLst>
              </a:tr>
              <a:tr h="501778">
                <a:tc>
                  <a:txBody>
                    <a:bodyPr/>
                    <a:lstStyle/>
                    <a:p>
                      <a:pPr fontAlgn="t"/>
                      <a:r>
                        <a:rPr lang="en-US" sz="1400">
                          <a:effectLst/>
                        </a:rPr>
                        <a:t>a</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400">
                          <a:effectLst/>
                        </a:rPr>
                        <a:t>打开一个文本文件，以追加模式写入文件。</a:t>
                      </a:r>
                      <a:r>
                        <a:rPr lang="zh-CN" altLang="en-US" sz="1400">
                          <a:solidFill>
                            <a:srgbClr val="0066FF"/>
                          </a:solidFill>
                          <a:effectLst/>
                        </a:rPr>
                        <a:t>如果文件不存在</a:t>
                      </a:r>
                      <a:r>
                        <a:rPr lang="zh-CN" altLang="en-US" sz="1400">
                          <a:effectLst/>
                        </a:rPr>
                        <a:t>，则会创建一个新文件。在这里，您的程序会在已有的文件内容中追加内容。</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165009904"/>
                  </a:ext>
                </a:extLst>
              </a:tr>
              <a:tr h="501778">
                <a:tc>
                  <a:txBody>
                    <a:bodyPr/>
                    <a:lstStyle/>
                    <a:p>
                      <a:pPr fontAlgn="t"/>
                      <a:r>
                        <a:rPr lang="en-US" sz="1400">
                          <a:effectLst/>
                        </a:rPr>
                        <a:t>r+</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400">
                          <a:effectLst/>
                        </a:rPr>
                        <a:t>打开一个文本文件，允许读写文件。</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4007681177"/>
                  </a:ext>
                </a:extLst>
              </a:tr>
              <a:tr h="501778">
                <a:tc>
                  <a:txBody>
                    <a:bodyPr/>
                    <a:lstStyle/>
                    <a:p>
                      <a:pPr fontAlgn="t"/>
                      <a:r>
                        <a:rPr lang="en-US" sz="1400">
                          <a:effectLst/>
                        </a:rPr>
                        <a:t>w+</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400">
                          <a:effectLst/>
                        </a:rPr>
                        <a:t>打开一个文本文件，允许读写文件。</a:t>
                      </a:r>
                      <a:r>
                        <a:rPr lang="zh-CN" altLang="en-US" sz="1400">
                          <a:solidFill>
                            <a:srgbClr val="0066FF"/>
                          </a:solidFill>
                          <a:effectLst/>
                        </a:rPr>
                        <a:t>如果文件已存在</a:t>
                      </a:r>
                      <a:r>
                        <a:rPr lang="zh-CN" altLang="en-US" sz="1400">
                          <a:effectLst/>
                        </a:rPr>
                        <a:t>，则文件会被截断为零长度，</a:t>
                      </a:r>
                      <a:r>
                        <a:rPr lang="zh-CN" altLang="en-US" sz="1400">
                          <a:solidFill>
                            <a:srgbClr val="0066FF"/>
                          </a:solidFill>
                          <a:effectLst/>
                        </a:rPr>
                        <a:t>如果文件不存在</a:t>
                      </a:r>
                      <a:r>
                        <a:rPr lang="zh-CN" altLang="en-US" sz="1400">
                          <a:effectLst/>
                        </a:rPr>
                        <a:t>，则会创建一个新文件。</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2692470707"/>
                  </a:ext>
                </a:extLst>
              </a:tr>
              <a:tr h="501778">
                <a:tc>
                  <a:txBody>
                    <a:bodyPr/>
                    <a:lstStyle/>
                    <a:p>
                      <a:pPr fontAlgn="t"/>
                      <a:r>
                        <a:rPr lang="en-US" sz="1400">
                          <a:effectLst/>
                        </a:rPr>
                        <a:t>a+</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400">
                          <a:effectLst/>
                        </a:rPr>
                        <a:t>打开一个文本文件，允许读写文件。</a:t>
                      </a:r>
                      <a:r>
                        <a:rPr lang="zh-CN" altLang="en-US" sz="1400">
                          <a:solidFill>
                            <a:srgbClr val="0066FF"/>
                          </a:solidFill>
                          <a:effectLst/>
                        </a:rPr>
                        <a:t>如果文件不存在</a:t>
                      </a:r>
                      <a:r>
                        <a:rPr lang="zh-CN" altLang="en-US" sz="1400">
                          <a:effectLst/>
                        </a:rPr>
                        <a:t>，则会创建一个新文件。读取会从文件的开头开始，写入则只能是追加模式。</a:t>
                      </a:r>
                    </a:p>
                  </a:txBody>
                  <a:tcPr marL="45658" marR="45658" marT="63922" marB="6392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426462846"/>
                  </a:ext>
                </a:extLst>
              </a:tr>
            </a:tbl>
          </a:graphicData>
        </a:graphic>
      </p:graphicFrame>
      <p:sp>
        <p:nvSpPr>
          <p:cNvPr id="4" name="文本框 3">
            <a:extLst>
              <a:ext uri="{FF2B5EF4-FFF2-40B4-BE49-F238E27FC236}">
                <a16:creationId xmlns:a16="http://schemas.microsoft.com/office/drawing/2014/main" id="{01C68C49-2373-CA2A-6343-0BC93F2E2EA9}"/>
              </a:ext>
            </a:extLst>
          </p:cNvPr>
          <p:cNvSpPr txBox="1"/>
          <p:nvPr/>
        </p:nvSpPr>
        <p:spPr>
          <a:xfrm>
            <a:off x="883480" y="6038694"/>
            <a:ext cx="7708063" cy="566309"/>
          </a:xfrm>
          <a:prstGeom prst="rect">
            <a:avLst/>
          </a:prstGeom>
          <a:noFill/>
        </p:spPr>
        <p:txBody>
          <a:bodyPr wrap="square">
            <a:spAutoFit/>
          </a:bodyPr>
          <a:lstStyle/>
          <a:p>
            <a:pPr algn="just"/>
            <a:r>
              <a:rPr lang="zh-CN" altLang="en-US" sz="1400" b="0" i="0">
                <a:solidFill>
                  <a:srgbClr val="333333"/>
                </a:solidFill>
                <a:effectLst/>
                <a:latin typeface="Helvetica Neue" panose="02000503000000020004" pitchFamily="2" charset="0"/>
              </a:rPr>
              <a:t>如果处理的是二进制文件，则需使用下面的访问模式来取代上面的访问模式：</a:t>
            </a:r>
            <a:endParaRPr lang="en-US" altLang="zh-CN" sz="1400" b="0" i="0">
              <a:solidFill>
                <a:srgbClr val="333333"/>
              </a:solidFill>
              <a:effectLst/>
              <a:latin typeface="Helvetica Neue" panose="02000503000000020004" pitchFamily="2" charset="0"/>
            </a:endParaRPr>
          </a:p>
          <a:p>
            <a:pPr algn="just">
              <a:buNone/>
            </a:pPr>
            <a:r>
              <a:rPr lang="en-US" altLang="zh-CN" sz="1400" i="0"/>
              <a:t>"rb", "wb", "ab", "rb+", "r+b", "wb+", "w+b", "ab+", "a+b"</a:t>
            </a:r>
            <a:endParaRPr lang="zh-CN" altLang="en-US" sz="1400" i="0"/>
          </a:p>
        </p:txBody>
      </p:sp>
      <p:sp>
        <p:nvSpPr>
          <p:cNvPr id="6" name="文本框 5">
            <a:extLst>
              <a:ext uri="{FF2B5EF4-FFF2-40B4-BE49-F238E27FC236}">
                <a16:creationId xmlns:a16="http://schemas.microsoft.com/office/drawing/2014/main" id="{CCB80003-A7E3-5687-C0E6-57B200CCA75F}"/>
              </a:ext>
            </a:extLst>
          </p:cNvPr>
          <p:cNvSpPr txBox="1"/>
          <p:nvPr/>
        </p:nvSpPr>
        <p:spPr>
          <a:xfrm>
            <a:off x="912062" y="6647410"/>
            <a:ext cx="4572000" cy="230832"/>
          </a:xfrm>
          <a:prstGeom prst="rect">
            <a:avLst/>
          </a:prstGeom>
          <a:noFill/>
        </p:spPr>
        <p:txBody>
          <a:bodyPr wrap="square">
            <a:spAutoFit/>
          </a:bodyPr>
          <a:lstStyle/>
          <a:p>
            <a:pPr>
              <a:buNone/>
            </a:pPr>
            <a:r>
              <a:rPr lang="zh-CN" altLang="en-US" sz="900">
                <a:solidFill>
                  <a:schemeClr val="tx1">
                    <a:lumMod val="50000"/>
                    <a:lumOff val="50000"/>
                  </a:schemeClr>
                </a:solidFill>
              </a:rPr>
              <a:t>https://www.runoob.com/cprogramming/c-file-io.html</a:t>
            </a:r>
          </a:p>
        </p:txBody>
      </p:sp>
    </p:spTree>
    <p:extLst>
      <p:ext uri="{BB962C8B-B14F-4D97-AF65-F5344CB8AC3E}">
        <p14:creationId xmlns:p14="http://schemas.microsoft.com/office/powerpoint/2010/main" val="606369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BF61740-0F34-0E8E-4451-A284D5D5125D}"/>
              </a:ext>
            </a:extLst>
          </p:cNvPr>
          <p:cNvSpPr>
            <a:spLocks noGrp="1" noChangeArrowheads="1"/>
          </p:cNvSpPr>
          <p:nvPr>
            <p:ph type="title"/>
          </p:nvPr>
        </p:nvSpPr>
        <p:spPr/>
        <p:txBody>
          <a:bodyPr/>
          <a:lstStyle/>
          <a:p>
            <a:pPr eaLnBrk="1" hangingPunct="1"/>
            <a:r>
              <a:rPr lang="zh-CN" altLang="en-US"/>
              <a:t>文件打开库函数</a:t>
            </a:r>
            <a:r>
              <a:rPr lang="en-US" altLang="zh-CN"/>
              <a:t>fopen()</a:t>
            </a:r>
            <a:endParaRPr lang="zh-CN" altLang="zh-CN"/>
          </a:p>
        </p:txBody>
      </p:sp>
      <p:sp>
        <p:nvSpPr>
          <p:cNvPr id="15363" name="Rectangle 3">
            <a:extLst>
              <a:ext uri="{FF2B5EF4-FFF2-40B4-BE49-F238E27FC236}">
                <a16:creationId xmlns:a16="http://schemas.microsoft.com/office/drawing/2014/main" id="{00EEAB24-ED58-50A9-909A-EF74133EAB81}"/>
              </a:ext>
            </a:extLst>
          </p:cNvPr>
          <p:cNvSpPr>
            <a:spLocks noGrp="1" noChangeArrowheads="1"/>
          </p:cNvSpPr>
          <p:nvPr>
            <p:ph type="body" idx="1"/>
          </p:nvPr>
        </p:nvSpPr>
        <p:spPr>
          <a:xfrm>
            <a:off x="827088" y="1772815"/>
            <a:ext cx="7793036" cy="4359697"/>
          </a:xfrm>
        </p:spPr>
        <p:txBody>
          <a:bodyPr/>
          <a:lstStyle/>
          <a:p>
            <a:pPr marL="533400" indent="-533400" algn="just" eaLnBrk="1" hangingPunct="1">
              <a:lnSpc>
                <a:spcPct val="150000"/>
              </a:lnSpc>
            </a:pPr>
            <a:r>
              <a:rPr lang="zh-CN" altLang="en-US" sz="1800" b="0"/>
              <a:t>调用函数</a:t>
            </a:r>
            <a:r>
              <a:rPr lang="en-US" altLang="zh-CN" sz="1800" b="0"/>
              <a:t>fopen()</a:t>
            </a:r>
            <a:r>
              <a:rPr lang="zh-CN" altLang="en-US" sz="1800" b="0"/>
              <a:t>时，</a:t>
            </a:r>
            <a:r>
              <a:rPr lang="zh-CN" altLang="en-US" sz="1800" b="0">
                <a:solidFill>
                  <a:srgbClr val="C00000"/>
                </a:solidFill>
              </a:rPr>
              <a:t>可能会不能打开</a:t>
            </a:r>
            <a:r>
              <a:rPr lang="zh-CN" altLang="en-US" sz="1800" b="0"/>
              <a:t>。</a:t>
            </a:r>
            <a:endParaRPr lang="en-US" altLang="zh-CN" sz="1800" b="0"/>
          </a:p>
          <a:p>
            <a:pPr marL="933450" lvl="1" indent="-533400" algn="just" eaLnBrk="1" hangingPunct="1">
              <a:lnSpc>
                <a:spcPct val="150000"/>
              </a:lnSpc>
            </a:pPr>
            <a:r>
              <a:rPr lang="zh-CN" altLang="en-US" sz="1600" b="0"/>
              <a:t>如读方式下打开不存在的文件；</a:t>
            </a:r>
            <a:endParaRPr lang="en-US" altLang="zh-CN" sz="1600" b="0"/>
          </a:p>
          <a:p>
            <a:pPr marL="933450" lvl="1" indent="-533400" algn="just" eaLnBrk="1" hangingPunct="1">
              <a:lnSpc>
                <a:spcPct val="150000"/>
              </a:lnSpc>
            </a:pPr>
            <a:r>
              <a:rPr lang="zh-CN" altLang="en-US" sz="1600" b="0"/>
              <a:t>在写方式下，外部存贮介质已无剩余的自由空间，或外设故障，或超过系统能同时打开的文件数。</a:t>
            </a:r>
            <a:endParaRPr lang="en-US" altLang="zh-CN" sz="1600" b="0"/>
          </a:p>
          <a:p>
            <a:pPr marL="533400" indent="-533400" algn="just" eaLnBrk="1" hangingPunct="1">
              <a:lnSpc>
                <a:spcPct val="150000"/>
              </a:lnSpc>
            </a:pPr>
            <a:r>
              <a:rPr lang="zh-CN" altLang="en-US" sz="1800" b="0"/>
              <a:t>文件不能打开时，函数</a:t>
            </a:r>
            <a:r>
              <a:rPr lang="en-US" altLang="zh-CN" sz="1800" b="0"/>
              <a:t>fopen()</a:t>
            </a:r>
            <a:r>
              <a:rPr lang="zh-CN" altLang="en-US" sz="1800" b="0"/>
              <a:t>将</a:t>
            </a:r>
            <a:r>
              <a:rPr lang="zh-CN" altLang="en-US" sz="1800" b="0">
                <a:solidFill>
                  <a:srgbClr val="0066FF"/>
                </a:solidFill>
              </a:rPr>
              <a:t>返回一个空指针值</a:t>
            </a:r>
            <a:r>
              <a:rPr lang="en-US" altLang="zh-CN" sz="1800" b="0">
                <a:solidFill>
                  <a:srgbClr val="0066FF"/>
                </a:solidFill>
              </a:rPr>
              <a:t>NULL</a:t>
            </a:r>
            <a:r>
              <a:rPr lang="zh-CN" altLang="en-US" sz="1800" b="0"/>
              <a:t>。考虑到文件不能正常打开的极端情况，所以常用以下形式的Ｃ代码描述打开文件：</a:t>
            </a:r>
          </a:p>
          <a:p>
            <a:pPr marL="914400" lvl="1" indent="-457200" algn="just" eaLnBrk="1" hangingPunct="1">
              <a:lnSpc>
                <a:spcPct val="150000"/>
              </a:lnSpc>
              <a:buFont typeface="Wingdings" pitchFamily="2" charset="2"/>
              <a:buAutoNum type="arabicPeriod"/>
            </a:pPr>
            <a:r>
              <a:rPr lang="en-US" altLang="zh-CN" sz="1600" b="0"/>
              <a:t>if ((fp = fopen(filename, "r")) == NULL)   {</a:t>
            </a:r>
          </a:p>
          <a:p>
            <a:pPr marL="914400" lvl="1" indent="-457200" algn="just" eaLnBrk="1" hangingPunct="1">
              <a:lnSpc>
                <a:spcPct val="150000"/>
              </a:lnSpc>
              <a:buFont typeface="Wingdings" pitchFamily="2" charset="2"/>
              <a:buAutoNum type="arabicPeriod"/>
            </a:pPr>
            <a:r>
              <a:rPr lang="en-US" altLang="zh-CN" sz="1600" b="0"/>
              <a:t>    printf(</a:t>
            </a:r>
            <a:r>
              <a:rPr lang="en-US" altLang="zh-CN" sz="1600" b="0">
                <a:latin typeface="Arial" panose="020B0604020202020204" pitchFamily="34" charset="0"/>
              </a:rPr>
              <a:t>“</a:t>
            </a:r>
            <a:r>
              <a:rPr lang="en-US" altLang="zh-CN" sz="1600" b="0"/>
              <a:t>Can not open %s file.\n</a:t>
            </a:r>
            <a:r>
              <a:rPr lang="en-US" altLang="zh-CN" sz="1600" b="0">
                <a:latin typeface="Arial" panose="020B0604020202020204" pitchFamily="34" charset="0"/>
              </a:rPr>
              <a:t>”</a:t>
            </a:r>
            <a:r>
              <a:rPr lang="en-US" altLang="zh-CN" sz="1600" b="0"/>
              <a:t>, filename);</a:t>
            </a:r>
          </a:p>
          <a:p>
            <a:pPr marL="914400" lvl="1" indent="-457200" algn="just" eaLnBrk="1" hangingPunct="1">
              <a:lnSpc>
                <a:spcPct val="150000"/>
              </a:lnSpc>
              <a:buFont typeface="Wingdings" pitchFamily="2" charset="2"/>
              <a:buAutoNum type="arabicPeriod"/>
            </a:pPr>
            <a:r>
              <a:rPr lang="en-US" altLang="zh-CN" sz="1600" b="0"/>
              <a:t>    return;</a:t>
            </a:r>
          </a:p>
          <a:p>
            <a:pPr marL="914400" lvl="1" indent="-457200" algn="just" eaLnBrk="1" hangingPunct="1">
              <a:lnSpc>
                <a:spcPct val="150000"/>
              </a:lnSpc>
              <a:buFont typeface="Wingdings" pitchFamily="2" charset="2"/>
              <a:buAutoNum type="arabicPeriod"/>
            </a:pPr>
            <a:r>
              <a:rPr lang="en-US" altLang="zh-CN" sz="1600" b="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656CBAB-155D-1682-0FDB-D778CE636E17}"/>
              </a:ext>
            </a:extLst>
          </p:cNvPr>
          <p:cNvSpPr>
            <a:spLocks noGrp="1" noChangeArrowheads="1"/>
          </p:cNvSpPr>
          <p:nvPr>
            <p:ph type="title"/>
          </p:nvPr>
        </p:nvSpPr>
        <p:spPr/>
        <p:txBody>
          <a:bodyPr/>
          <a:lstStyle/>
          <a:p>
            <a:pPr eaLnBrk="1" hangingPunct="1"/>
            <a:r>
              <a:rPr lang="zh-CN" altLang="en-US"/>
              <a:t>文件打开库函数</a:t>
            </a:r>
            <a:r>
              <a:rPr lang="en-US" altLang="zh-CN"/>
              <a:t>fopen()</a:t>
            </a:r>
            <a:endParaRPr lang="zh-CN" altLang="zh-CN"/>
          </a:p>
        </p:txBody>
      </p:sp>
      <p:sp>
        <p:nvSpPr>
          <p:cNvPr id="16387" name="Rectangle 3">
            <a:extLst>
              <a:ext uri="{FF2B5EF4-FFF2-40B4-BE49-F238E27FC236}">
                <a16:creationId xmlns:a16="http://schemas.microsoft.com/office/drawing/2014/main" id="{18AC1803-A9C3-1599-236B-A4C4532F59AA}"/>
              </a:ext>
            </a:extLst>
          </p:cNvPr>
          <p:cNvSpPr>
            <a:spLocks noGrp="1" noChangeArrowheads="1"/>
          </p:cNvSpPr>
          <p:nvPr>
            <p:ph type="body" idx="1"/>
          </p:nvPr>
        </p:nvSpPr>
        <p:spPr>
          <a:xfrm>
            <a:off x="827088" y="1844823"/>
            <a:ext cx="7793037" cy="4287689"/>
          </a:xfrm>
        </p:spPr>
        <p:txBody>
          <a:bodyPr/>
          <a:lstStyle/>
          <a:p>
            <a:pPr algn="just" eaLnBrk="1" hangingPunct="1">
              <a:lnSpc>
                <a:spcPct val="150000"/>
              </a:lnSpc>
            </a:pPr>
            <a:r>
              <a:rPr lang="zh-CN" altLang="en-US" sz="2400" b="0"/>
              <a:t>正文文件与二进制文件在使用时，还有一点不同。</a:t>
            </a:r>
            <a:endParaRPr lang="en-US" altLang="zh-CN" sz="2400" b="0"/>
          </a:p>
          <a:p>
            <a:pPr lvl="1" algn="just" eaLnBrk="1" hangingPunct="1">
              <a:lnSpc>
                <a:spcPct val="150000"/>
              </a:lnSpc>
            </a:pPr>
            <a:r>
              <a:rPr lang="zh-CN" altLang="en-US" sz="2000" b="0"/>
              <a:t>对于正文文件，输入时，回车符和换行符合成为一个换行符输入；输出时，换行符</a:t>
            </a:r>
            <a:r>
              <a:rPr lang="en-US" altLang="zh-CN" sz="2000" b="0"/>
              <a:t>(</a:t>
            </a:r>
            <a:r>
              <a:rPr lang="en-US" altLang="zh-CN" sz="2000" b="0">
                <a:latin typeface="Arial" panose="020B0604020202020204" pitchFamily="34" charset="0"/>
              </a:rPr>
              <a:t>’</a:t>
            </a:r>
            <a:r>
              <a:rPr lang="en-US" altLang="zh-CN" sz="2000" b="0"/>
              <a:t>\n</a:t>
            </a:r>
            <a:r>
              <a:rPr lang="en-US" altLang="zh-CN" sz="2000" b="0">
                <a:latin typeface="Arial" panose="020B0604020202020204" pitchFamily="34" charset="0"/>
              </a:rPr>
              <a:t>’</a:t>
            </a:r>
            <a:r>
              <a:rPr lang="en-US" altLang="zh-CN" sz="2000" b="0"/>
              <a:t>)</a:t>
            </a:r>
            <a:r>
              <a:rPr lang="zh-CN" altLang="en-US" sz="2000" b="0"/>
              <a:t>转换成为回车符和换行符两个字符一起输出。</a:t>
            </a:r>
            <a:endParaRPr lang="en-US" altLang="zh-CN" sz="2000" b="0"/>
          </a:p>
          <a:p>
            <a:pPr lvl="1" algn="just" eaLnBrk="1" hangingPunct="1">
              <a:lnSpc>
                <a:spcPct val="150000"/>
              </a:lnSpc>
            </a:pPr>
            <a:r>
              <a:rPr lang="zh-CN" altLang="en-US" sz="2000" b="0"/>
              <a:t>对于二进制文件，不进行上述这种转换，二进制文件中的数据形式与在内存中的数据形式是完全一致的。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162A9ED-CC1D-34C7-1B4E-846770963D16}"/>
              </a:ext>
            </a:extLst>
          </p:cNvPr>
          <p:cNvSpPr>
            <a:spLocks noGrp="1" noChangeArrowheads="1"/>
          </p:cNvSpPr>
          <p:nvPr>
            <p:ph type="title"/>
          </p:nvPr>
        </p:nvSpPr>
        <p:spPr/>
        <p:txBody>
          <a:bodyPr/>
          <a:lstStyle/>
          <a:p>
            <a:pPr eaLnBrk="1" hangingPunct="1"/>
            <a:r>
              <a:rPr lang="zh-CN" altLang="en-US"/>
              <a:t>文件打开库函数</a:t>
            </a:r>
            <a:r>
              <a:rPr lang="en-US" altLang="zh-CN"/>
              <a:t>fopen()</a:t>
            </a:r>
            <a:endParaRPr lang="zh-CN" altLang="zh-CN"/>
          </a:p>
        </p:txBody>
      </p:sp>
      <p:sp>
        <p:nvSpPr>
          <p:cNvPr id="17411" name="Rectangle 3">
            <a:extLst>
              <a:ext uri="{FF2B5EF4-FFF2-40B4-BE49-F238E27FC236}">
                <a16:creationId xmlns:a16="http://schemas.microsoft.com/office/drawing/2014/main" id="{396B0777-C6DD-D3E4-22E9-D7BF7AEF6580}"/>
              </a:ext>
            </a:extLst>
          </p:cNvPr>
          <p:cNvSpPr>
            <a:spLocks noGrp="1" noChangeArrowheads="1"/>
          </p:cNvSpPr>
          <p:nvPr>
            <p:ph type="body" idx="1"/>
          </p:nvPr>
        </p:nvSpPr>
        <p:spPr>
          <a:xfrm>
            <a:off x="827088" y="1916831"/>
            <a:ext cx="7705352" cy="4215681"/>
          </a:xfrm>
        </p:spPr>
        <p:txBody>
          <a:bodyPr/>
          <a:lstStyle/>
          <a:p>
            <a:pPr eaLnBrk="1" hangingPunct="1">
              <a:lnSpc>
                <a:spcPct val="150000"/>
              </a:lnSpc>
            </a:pPr>
            <a:r>
              <a:rPr lang="zh-CN" altLang="en-US" sz="2000" b="0"/>
              <a:t>系统将常规设备上的</a:t>
            </a:r>
            <a:r>
              <a:rPr lang="zh-CN" altLang="en-US" sz="2000" b="0">
                <a:solidFill>
                  <a:srgbClr val="0066FF"/>
                </a:solidFill>
              </a:rPr>
              <a:t>输入输出数据流</a:t>
            </a:r>
            <a:r>
              <a:rPr lang="zh-CN" altLang="en-US" sz="2000" b="0"/>
              <a:t>称为</a:t>
            </a:r>
            <a:r>
              <a:rPr lang="zh-CN" altLang="en-US" sz="2000" b="0">
                <a:solidFill>
                  <a:srgbClr val="0066FF"/>
                </a:solidFill>
              </a:rPr>
              <a:t>标准文件</a:t>
            </a:r>
            <a:r>
              <a:rPr lang="zh-CN" altLang="en-US" sz="2000" b="0"/>
              <a:t>，程序运行时，系统自动打开这些标准文件。它们是标准输入文件</a:t>
            </a:r>
            <a:r>
              <a:rPr lang="en-US" altLang="zh-CN" sz="2000" b="0"/>
              <a:t>stdin </a:t>
            </a:r>
            <a:r>
              <a:rPr lang="zh-CN" altLang="en-US" sz="2000" b="0"/>
              <a:t>、标准输出文件</a:t>
            </a:r>
            <a:r>
              <a:rPr lang="en-US" altLang="zh-CN" sz="2000" b="0"/>
              <a:t>stdout </a:t>
            </a:r>
            <a:r>
              <a:rPr lang="zh-CN" altLang="en-US" sz="2000" b="0"/>
              <a:t>、标准出错输出文件</a:t>
            </a:r>
            <a:r>
              <a:rPr lang="en-US" altLang="zh-CN" sz="2000" b="0"/>
              <a:t>stderr</a:t>
            </a:r>
            <a:r>
              <a:rPr lang="zh-CN" altLang="en-US" sz="2000" b="0"/>
              <a:t>和标准打印输出文件</a:t>
            </a:r>
            <a:r>
              <a:rPr lang="en-US" altLang="zh-CN" sz="2000" b="0"/>
              <a:t>stdprn </a:t>
            </a:r>
            <a:r>
              <a:rPr lang="zh-CN" altLang="en-US" sz="2000" b="0"/>
              <a:t>。</a:t>
            </a:r>
          </a:p>
          <a:p>
            <a:pPr eaLnBrk="1" hangingPunct="1">
              <a:lnSpc>
                <a:spcPct val="150000"/>
              </a:lnSpc>
            </a:pPr>
            <a:endParaRPr lang="zh-CN" altLang="en-US" sz="2000" b="0"/>
          </a:p>
          <a:p>
            <a:pPr eaLnBrk="1" hangingPunct="1">
              <a:lnSpc>
                <a:spcPct val="150000"/>
              </a:lnSpc>
            </a:pPr>
            <a:r>
              <a:rPr lang="zh-CN" altLang="en-US" sz="2000" b="0"/>
              <a:t>程序除能直接使用前面各章都使用的不带文件指针的标准输入输出库函数外，也可对它们使用下面介绍的</a:t>
            </a:r>
            <a:r>
              <a:rPr lang="zh-CN" altLang="en-US" sz="2000" b="0">
                <a:solidFill>
                  <a:srgbClr val="0066FF"/>
                </a:solidFill>
              </a:rPr>
              <a:t>带文件指针的一般形式的输入输出库函数</a:t>
            </a:r>
            <a:r>
              <a:rPr lang="zh-CN" altLang="en-US" sz="2000" b="0"/>
              <a:t>。如</a:t>
            </a:r>
            <a:r>
              <a:rPr lang="en-US" altLang="zh-CN" sz="2000" b="0"/>
              <a:t>stdin</a:t>
            </a:r>
            <a:r>
              <a:rPr lang="zh-CN" altLang="en-US" sz="2000" b="0"/>
              <a:t>，就是指从终端输入数据；</a:t>
            </a:r>
            <a:r>
              <a:rPr lang="en-US" altLang="zh-CN" sz="2000" b="0"/>
              <a:t>stdout</a:t>
            </a:r>
            <a:r>
              <a:rPr lang="zh-CN" altLang="en-US" sz="2000" b="0"/>
              <a:t>，就是向终端输出数据。</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5A9E4E8-F075-4A9C-2D28-56E031B99D56}"/>
              </a:ext>
            </a:extLst>
          </p:cNvPr>
          <p:cNvSpPr>
            <a:spLocks noGrp="1" noChangeArrowheads="1"/>
          </p:cNvSpPr>
          <p:nvPr>
            <p:ph type="title"/>
          </p:nvPr>
        </p:nvSpPr>
        <p:spPr/>
        <p:txBody>
          <a:bodyPr/>
          <a:lstStyle/>
          <a:p>
            <a:pPr eaLnBrk="1" hangingPunct="1"/>
            <a:r>
              <a:rPr lang="zh-CN" altLang="en-US"/>
              <a:t>文件关闭库函数</a:t>
            </a:r>
            <a:r>
              <a:rPr lang="en-US" altLang="zh-CN"/>
              <a:t>fclose()</a:t>
            </a:r>
          </a:p>
        </p:txBody>
      </p:sp>
      <p:sp>
        <p:nvSpPr>
          <p:cNvPr id="18435" name="Rectangle 3">
            <a:extLst>
              <a:ext uri="{FF2B5EF4-FFF2-40B4-BE49-F238E27FC236}">
                <a16:creationId xmlns:a16="http://schemas.microsoft.com/office/drawing/2014/main" id="{371FA4F3-57E0-CAFB-4A49-E4980CF781AE}"/>
              </a:ext>
            </a:extLst>
          </p:cNvPr>
          <p:cNvSpPr>
            <a:spLocks noGrp="1" noChangeArrowheads="1"/>
          </p:cNvSpPr>
          <p:nvPr>
            <p:ph type="body" idx="1"/>
          </p:nvPr>
        </p:nvSpPr>
        <p:spPr>
          <a:xfrm>
            <a:off x="827088" y="1700809"/>
            <a:ext cx="7705352" cy="4431704"/>
          </a:xfrm>
        </p:spPr>
        <p:txBody>
          <a:bodyPr/>
          <a:lstStyle/>
          <a:p>
            <a:pPr algn="just" eaLnBrk="1" hangingPunct="1">
              <a:lnSpc>
                <a:spcPct val="150000"/>
              </a:lnSpc>
            </a:pPr>
            <a:r>
              <a:rPr lang="zh-CN" altLang="en-US" sz="1800" b="0"/>
              <a:t>在使用完一个文件后，</a:t>
            </a:r>
            <a:r>
              <a:rPr lang="zh-CN" altLang="en-US" sz="1800" b="0">
                <a:solidFill>
                  <a:srgbClr val="0066FF"/>
                </a:solidFill>
              </a:rPr>
              <a:t>程序应该立即关闭它</a:t>
            </a:r>
            <a:r>
              <a:rPr lang="zh-CN" altLang="en-US" sz="1800" b="0"/>
              <a:t>。关闭文件可调用库函数 </a:t>
            </a:r>
            <a:r>
              <a:rPr lang="en-US" altLang="zh-CN" sz="1800" b="0"/>
              <a:t>fclose() </a:t>
            </a:r>
            <a:r>
              <a:rPr lang="zh-CN" altLang="en-US" sz="1800" b="0"/>
              <a:t>来实现。调用函数 </a:t>
            </a:r>
            <a:r>
              <a:rPr lang="en-US" altLang="zh-CN" sz="1800" b="0"/>
              <a:t>fclose() </a:t>
            </a:r>
            <a:r>
              <a:rPr lang="zh-CN" altLang="en-US" sz="1800" b="0"/>
              <a:t>的一般形式为</a:t>
            </a:r>
          </a:p>
          <a:p>
            <a:pPr lvl="1" algn="just" eaLnBrk="1" hangingPunct="1">
              <a:lnSpc>
                <a:spcPct val="150000"/>
              </a:lnSpc>
            </a:pPr>
            <a:r>
              <a:rPr lang="zh-CN" altLang="en-US" sz="1600" b="0"/>
              <a:t>   </a:t>
            </a:r>
            <a:r>
              <a:rPr lang="en-US" altLang="zh-CN" sz="1600" b="0"/>
              <a:t>fclose(</a:t>
            </a:r>
            <a:r>
              <a:rPr lang="zh-CN" altLang="en-US" sz="1600" b="0"/>
              <a:t>文件指针</a:t>
            </a:r>
            <a:r>
              <a:rPr lang="en-US" altLang="zh-CN" sz="1600" b="0"/>
              <a:t>);</a:t>
            </a:r>
          </a:p>
          <a:p>
            <a:pPr algn="just" eaLnBrk="1" hangingPunct="1">
              <a:lnSpc>
                <a:spcPct val="150000"/>
              </a:lnSpc>
            </a:pPr>
            <a:r>
              <a:rPr lang="zh-CN" altLang="en-US" sz="1800" b="0"/>
              <a:t>例如</a:t>
            </a:r>
          </a:p>
          <a:p>
            <a:pPr lvl="1" algn="just" eaLnBrk="1" hangingPunct="1">
              <a:lnSpc>
                <a:spcPct val="150000"/>
              </a:lnSpc>
            </a:pPr>
            <a:r>
              <a:rPr lang="zh-CN" altLang="en-US" sz="1600" b="0"/>
              <a:t>    </a:t>
            </a:r>
            <a:r>
              <a:rPr lang="en-US" altLang="zh-CN" sz="1600" b="0"/>
              <a:t>fclose(fp);</a:t>
            </a:r>
          </a:p>
          <a:p>
            <a:pPr algn="just" eaLnBrk="1" hangingPunct="1">
              <a:lnSpc>
                <a:spcPct val="150000"/>
              </a:lnSpc>
            </a:pPr>
            <a:r>
              <a:rPr lang="zh-CN" altLang="en-US" sz="1800" b="0"/>
              <a:t>调用函数</a:t>
            </a:r>
            <a:r>
              <a:rPr lang="en-US" altLang="zh-CN" sz="1800" b="0"/>
              <a:t>fclose()</a:t>
            </a:r>
            <a:r>
              <a:rPr lang="zh-CN" altLang="en-US" sz="1800" b="0"/>
              <a:t>的作用是使文件指针变量终止原先调用函数</a:t>
            </a:r>
            <a:r>
              <a:rPr lang="en-US" altLang="zh-CN" sz="1800" b="0"/>
              <a:t>fopen()</a:t>
            </a:r>
            <a:r>
              <a:rPr lang="zh-CN" altLang="en-US" sz="1800" b="0"/>
              <a:t>时所建立的它与文件的联系。</a:t>
            </a:r>
            <a:endParaRPr lang="en-US" altLang="zh-CN" sz="1800" b="0"/>
          </a:p>
          <a:p>
            <a:pPr algn="just" eaLnBrk="1" hangingPunct="1">
              <a:lnSpc>
                <a:spcPct val="150000"/>
              </a:lnSpc>
            </a:pPr>
            <a:r>
              <a:rPr lang="zh-CN" altLang="en-US" sz="1800" b="0"/>
              <a:t>调用函数</a:t>
            </a:r>
            <a:r>
              <a:rPr lang="en-US" altLang="zh-CN" sz="1800" b="0"/>
              <a:t>fclose()</a:t>
            </a:r>
            <a:r>
              <a:rPr lang="zh-CN" altLang="en-US" sz="1800" b="0"/>
              <a:t>之后，不能再通过该文件指针变量对其原先相连的文件进行读写操作，除非被再次打开。</a:t>
            </a:r>
            <a:endParaRPr lang="en-US" altLang="zh-CN" sz="1800" b="0"/>
          </a:p>
          <a:p>
            <a:pPr algn="just" eaLnBrk="1" hangingPunct="1">
              <a:lnSpc>
                <a:spcPct val="150000"/>
              </a:lnSpc>
            </a:pPr>
            <a:r>
              <a:rPr lang="zh-CN" altLang="en-US" sz="1800" b="0"/>
              <a:t>文件被关闭后，原文件指针变量又可用来打开文件，或与别的文件相联系，或重新与原先文件建立新的联系。</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47694-B3F1-ECDA-D24F-3A8E55DA7BA7}"/>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EAFD4BD4-BA96-02C5-DA31-57D7116CE27E}"/>
              </a:ext>
            </a:extLst>
          </p:cNvPr>
          <p:cNvSpPr>
            <a:spLocks noGrp="1" noChangeArrowheads="1"/>
          </p:cNvSpPr>
          <p:nvPr>
            <p:ph type="title"/>
          </p:nvPr>
        </p:nvSpPr>
        <p:spPr/>
        <p:txBody>
          <a:bodyPr/>
          <a:lstStyle/>
          <a:p>
            <a:pPr eaLnBrk="1" hangingPunct="1"/>
            <a:r>
              <a:rPr lang="zh-CN" altLang="en-US"/>
              <a:t>为什么</a:t>
            </a:r>
            <a:r>
              <a:rPr lang="en-US" altLang="zh-CN"/>
              <a:t>fclose()</a:t>
            </a:r>
            <a:r>
              <a:rPr lang="zh-CN" altLang="en-US"/>
              <a:t>很重要？</a:t>
            </a:r>
            <a:endParaRPr lang="en-US" altLang="zh-CN"/>
          </a:p>
        </p:txBody>
      </p:sp>
      <p:sp>
        <p:nvSpPr>
          <p:cNvPr id="18435" name="Rectangle 3">
            <a:extLst>
              <a:ext uri="{FF2B5EF4-FFF2-40B4-BE49-F238E27FC236}">
                <a16:creationId xmlns:a16="http://schemas.microsoft.com/office/drawing/2014/main" id="{DE72E0B3-05AD-CFC9-E40E-469A5658EDF6}"/>
              </a:ext>
            </a:extLst>
          </p:cNvPr>
          <p:cNvSpPr>
            <a:spLocks noGrp="1" noChangeArrowheads="1"/>
          </p:cNvSpPr>
          <p:nvPr>
            <p:ph type="body" idx="1"/>
          </p:nvPr>
        </p:nvSpPr>
        <p:spPr>
          <a:xfrm>
            <a:off x="827088" y="1700809"/>
            <a:ext cx="7705352" cy="4431704"/>
          </a:xfrm>
        </p:spPr>
        <p:txBody>
          <a:bodyPr/>
          <a:lstStyle/>
          <a:p>
            <a:pPr algn="just" eaLnBrk="1" hangingPunct="1">
              <a:lnSpc>
                <a:spcPct val="150000"/>
              </a:lnSpc>
            </a:pPr>
            <a:r>
              <a:rPr lang="en-US" altLang="zh-CN" sz="2400"/>
              <a:t>1. </a:t>
            </a:r>
            <a:r>
              <a:rPr lang="zh-CN" altLang="en-US" sz="2400"/>
              <a:t>刷新缓冲区</a:t>
            </a:r>
          </a:p>
          <a:p>
            <a:pPr algn="just" eaLnBrk="1" hangingPunct="1">
              <a:lnSpc>
                <a:spcPct val="150000"/>
              </a:lnSpc>
            </a:pPr>
            <a:r>
              <a:rPr lang="zh-CN" altLang="en-US" sz="2000" b="0"/>
              <a:t>当文件被打开时，</a:t>
            </a:r>
            <a:r>
              <a:rPr lang="en-US" altLang="zh-CN" sz="2000" b="0"/>
              <a:t>C </a:t>
            </a:r>
            <a:r>
              <a:rPr lang="zh-CN" altLang="en-US" sz="2000" b="0"/>
              <a:t>标准库会为其分配一个缓冲区，以提高文件 </a:t>
            </a:r>
            <a:r>
              <a:rPr lang="en-US" altLang="zh-CN" sz="2000" b="0"/>
              <a:t>I/O </a:t>
            </a:r>
            <a:r>
              <a:rPr lang="zh-CN" altLang="en-US" sz="2000" b="0"/>
              <a:t>操作的效率。在写入文件时，数据可能暂时保存在缓冲区中而没有立即写入磁盘。调用 </a:t>
            </a:r>
            <a:r>
              <a:rPr lang="en-US" altLang="zh-CN" sz="2000" b="0"/>
              <a:t>fclose() </a:t>
            </a:r>
            <a:r>
              <a:rPr lang="zh-CN" altLang="en-US" sz="2000" b="0"/>
              <a:t>会：</a:t>
            </a:r>
          </a:p>
          <a:p>
            <a:pPr lvl="1" algn="just" eaLnBrk="1" hangingPunct="1">
              <a:lnSpc>
                <a:spcPct val="150000"/>
              </a:lnSpc>
            </a:pPr>
            <a:r>
              <a:rPr lang="zh-CN" altLang="en-US" sz="1600" b="0">
                <a:solidFill>
                  <a:srgbClr val="0066FF"/>
                </a:solidFill>
              </a:rPr>
              <a:t>将缓冲区中的数据强制写入到文件中（刷新缓冲区）。</a:t>
            </a:r>
          </a:p>
          <a:p>
            <a:pPr lvl="1" algn="just" eaLnBrk="1" hangingPunct="1">
              <a:lnSpc>
                <a:spcPct val="150000"/>
              </a:lnSpc>
            </a:pPr>
            <a:r>
              <a:rPr lang="zh-CN" altLang="en-US" sz="1600" b="0">
                <a:solidFill>
                  <a:srgbClr val="0066FF"/>
                </a:solidFill>
              </a:rPr>
              <a:t>确保所有未完成的写操作被正确提交。</a:t>
            </a:r>
          </a:p>
          <a:p>
            <a:pPr algn="just" eaLnBrk="1" hangingPunct="1">
              <a:lnSpc>
                <a:spcPct val="150000"/>
              </a:lnSpc>
            </a:pPr>
            <a:r>
              <a:rPr lang="zh-CN" altLang="en-US" sz="2000" b="0"/>
              <a:t>如果程序在未调用 </a:t>
            </a:r>
            <a:r>
              <a:rPr lang="en-US" altLang="zh-CN" sz="2000" b="0"/>
              <a:t>fclose() </a:t>
            </a:r>
            <a:r>
              <a:rPr lang="zh-CN" altLang="en-US" sz="2000" b="0"/>
              <a:t>的情况下退出，缓冲区中的数据可能未被写入文件，</a:t>
            </a:r>
            <a:r>
              <a:rPr lang="zh-CN" altLang="en-US" sz="2000" b="0">
                <a:solidFill>
                  <a:srgbClr val="C00000"/>
                </a:solidFill>
              </a:rPr>
              <a:t>导致数据丢失</a:t>
            </a:r>
            <a:r>
              <a:rPr lang="zh-CN" altLang="en-US" sz="2000" b="0"/>
              <a:t>。</a:t>
            </a:r>
          </a:p>
        </p:txBody>
      </p:sp>
    </p:spTree>
    <p:extLst>
      <p:ext uri="{BB962C8B-B14F-4D97-AF65-F5344CB8AC3E}">
        <p14:creationId xmlns:p14="http://schemas.microsoft.com/office/powerpoint/2010/main" val="921171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18B3-DD85-279C-89EB-973D6ED24041}"/>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C6F6C87C-3C5E-3510-4758-DABC42689E8D}"/>
              </a:ext>
            </a:extLst>
          </p:cNvPr>
          <p:cNvSpPr>
            <a:spLocks noGrp="1" noChangeArrowheads="1"/>
          </p:cNvSpPr>
          <p:nvPr>
            <p:ph type="title"/>
          </p:nvPr>
        </p:nvSpPr>
        <p:spPr/>
        <p:txBody>
          <a:bodyPr/>
          <a:lstStyle/>
          <a:p>
            <a:pPr eaLnBrk="1" hangingPunct="1"/>
            <a:r>
              <a:rPr lang="zh-CN" altLang="en-US"/>
              <a:t>为什么</a:t>
            </a:r>
            <a:r>
              <a:rPr lang="en-US" altLang="zh-CN"/>
              <a:t>fclose()</a:t>
            </a:r>
            <a:r>
              <a:rPr lang="zh-CN" altLang="en-US"/>
              <a:t>很重要？</a:t>
            </a:r>
            <a:endParaRPr lang="en-US" altLang="zh-CN"/>
          </a:p>
        </p:txBody>
      </p:sp>
      <p:sp>
        <p:nvSpPr>
          <p:cNvPr id="18435" name="Rectangle 3">
            <a:extLst>
              <a:ext uri="{FF2B5EF4-FFF2-40B4-BE49-F238E27FC236}">
                <a16:creationId xmlns:a16="http://schemas.microsoft.com/office/drawing/2014/main" id="{81843620-7547-8FDD-A02F-71EC79E546C2}"/>
              </a:ext>
            </a:extLst>
          </p:cNvPr>
          <p:cNvSpPr>
            <a:spLocks noGrp="1" noChangeArrowheads="1"/>
          </p:cNvSpPr>
          <p:nvPr>
            <p:ph type="body" idx="1"/>
          </p:nvPr>
        </p:nvSpPr>
        <p:spPr>
          <a:xfrm>
            <a:off x="827088" y="1700809"/>
            <a:ext cx="7705352" cy="4431704"/>
          </a:xfrm>
        </p:spPr>
        <p:txBody>
          <a:bodyPr/>
          <a:lstStyle/>
          <a:p>
            <a:pPr algn="just" eaLnBrk="1" hangingPunct="1">
              <a:lnSpc>
                <a:spcPct val="150000"/>
              </a:lnSpc>
            </a:pPr>
            <a:r>
              <a:rPr lang="en-US" altLang="zh-CN" sz="2400"/>
              <a:t>2. </a:t>
            </a:r>
            <a:r>
              <a:rPr lang="zh-CN" altLang="en-US" sz="2400"/>
              <a:t>释放资源</a:t>
            </a:r>
          </a:p>
          <a:p>
            <a:pPr algn="just" eaLnBrk="1" hangingPunct="1">
              <a:lnSpc>
                <a:spcPct val="150000"/>
              </a:lnSpc>
            </a:pPr>
            <a:r>
              <a:rPr lang="zh-CN" altLang="en-US" sz="2000" b="0"/>
              <a:t>当文件被打开时，操作系统会为其分配资源（如文件描述符和内存）。调用 </a:t>
            </a:r>
            <a:r>
              <a:rPr lang="en-US" altLang="zh-CN" sz="2000" b="0"/>
              <a:t>fclose() </a:t>
            </a:r>
            <a:r>
              <a:rPr lang="zh-CN" altLang="en-US" sz="2000" b="0"/>
              <a:t>会：</a:t>
            </a:r>
          </a:p>
          <a:p>
            <a:pPr lvl="1" algn="just" eaLnBrk="1" hangingPunct="1">
              <a:lnSpc>
                <a:spcPct val="150000"/>
              </a:lnSpc>
            </a:pPr>
            <a:r>
              <a:rPr lang="zh-CN" altLang="en-US" sz="1600" b="0">
                <a:solidFill>
                  <a:srgbClr val="0066FF"/>
                </a:solidFill>
              </a:rPr>
              <a:t>释放分配给该文件的缓冲区。</a:t>
            </a:r>
          </a:p>
          <a:p>
            <a:pPr lvl="1" algn="just" eaLnBrk="1" hangingPunct="1">
              <a:lnSpc>
                <a:spcPct val="150000"/>
              </a:lnSpc>
            </a:pPr>
            <a:r>
              <a:rPr lang="zh-CN" altLang="en-US" sz="1600" b="0">
                <a:solidFill>
                  <a:srgbClr val="0066FF"/>
                </a:solidFill>
              </a:rPr>
              <a:t>释放操作系统为文件分配的文件描述符，避免资源泄漏。</a:t>
            </a:r>
          </a:p>
          <a:p>
            <a:pPr algn="just" eaLnBrk="1" hangingPunct="1">
              <a:lnSpc>
                <a:spcPct val="150000"/>
              </a:lnSpc>
            </a:pPr>
            <a:r>
              <a:rPr lang="zh-CN" altLang="en-US" sz="2000" b="0"/>
              <a:t>文件描述符是有限的，如果不及时释放，可能会</a:t>
            </a:r>
            <a:r>
              <a:rPr lang="zh-CN" altLang="en-US" sz="2000" b="0">
                <a:solidFill>
                  <a:srgbClr val="C00000"/>
                </a:solidFill>
              </a:rPr>
              <a:t>导致程序在需要打开更多文件时失败</a:t>
            </a:r>
            <a:r>
              <a:rPr lang="zh-CN" altLang="en-US" sz="2000" b="0"/>
              <a:t>。</a:t>
            </a:r>
          </a:p>
        </p:txBody>
      </p:sp>
    </p:spTree>
    <p:extLst>
      <p:ext uri="{BB962C8B-B14F-4D97-AF65-F5344CB8AC3E}">
        <p14:creationId xmlns:p14="http://schemas.microsoft.com/office/powerpoint/2010/main" val="3195479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022D-1FEF-D0E9-ACDF-FE96E80E836D}"/>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DDAF476D-32CB-E5E7-5A23-9063A490A525}"/>
              </a:ext>
            </a:extLst>
          </p:cNvPr>
          <p:cNvSpPr>
            <a:spLocks noGrp="1" noChangeArrowheads="1"/>
          </p:cNvSpPr>
          <p:nvPr>
            <p:ph type="title"/>
          </p:nvPr>
        </p:nvSpPr>
        <p:spPr/>
        <p:txBody>
          <a:bodyPr/>
          <a:lstStyle/>
          <a:p>
            <a:pPr eaLnBrk="1" hangingPunct="1"/>
            <a:r>
              <a:rPr lang="zh-CN" altLang="en-US"/>
              <a:t>为什么</a:t>
            </a:r>
            <a:r>
              <a:rPr lang="en-US" altLang="zh-CN"/>
              <a:t>fclose()</a:t>
            </a:r>
            <a:r>
              <a:rPr lang="zh-CN" altLang="en-US"/>
              <a:t>很重要？</a:t>
            </a:r>
            <a:endParaRPr lang="en-US" altLang="zh-CN"/>
          </a:p>
        </p:txBody>
      </p:sp>
      <p:sp>
        <p:nvSpPr>
          <p:cNvPr id="18435" name="Rectangle 3">
            <a:extLst>
              <a:ext uri="{FF2B5EF4-FFF2-40B4-BE49-F238E27FC236}">
                <a16:creationId xmlns:a16="http://schemas.microsoft.com/office/drawing/2014/main" id="{A4EA4BE4-20EF-329F-2F21-FC37031ACD59}"/>
              </a:ext>
            </a:extLst>
          </p:cNvPr>
          <p:cNvSpPr>
            <a:spLocks noGrp="1" noChangeArrowheads="1"/>
          </p:cNvSpPr>
          <p:nvPr>
            <p:ph type="body" idx="1"/>
          </p:nvPr>
        </p:nvSpPr>
        <p:spPr>
          <a:xfrm>
            <a:off x="827088" y="1700809"/>
            <a:ext cx="7705352" cy="4431704"/>
          </a:xfrm>
        </p:spPr>
        <p:txBody>
          <a:bodyPr/>
          <a:lstStyle/>
          <a:p>
            <a:pPr algn="just" eaLnBrk="1" hangingPunct="1">
              <a:lnSpc>
                <a:spcPct val="150000"/>
              </a:lnSpc>
            </a:pPr>
            <a:r>
              <a:rPr lang="en-US" altLang="zh-CN" sz="2400"/>
              <a:t>3. </a:t>
            </a:r>
            <a:r>
              <a:rPr lang="zh-CN" altLang="en-US" sz="2400"/>
              <a:t>关闭与文件的关联</a:t>
            </a:r>
          </a:p>
          <a:p>
            <a:pPr algn="just" eaLnBrk="1" hangingPunct="1">
              <a:lnSpc>
                <a:spcPct val="150000"/>
              </a:lnSpc>
            </a:pPr>
            <a:r>
              <a:rPr lang="en-US" altLang="zh-CN" sz="2000" b="0"/>
              <a:t>fclose() </a:t>
            </a:r>
            <a:r>
              <a:rPr lang="zh-CN" altLang="en-US" sz="2000" b="0"/>
              <a:t>会</a:t>
            </a:r>
            <a:r>
              <a:rPr lang="zh-CN" altLang="en-US" sz="2000" b="0">
                <a:solidFill>
                  <a:srgbClr val="0066FF"/>
                </a:solidFill>
              </a:rPr>
              <a:t>终止程序与文件的关联</a:t>
            </a:r>
            <a:r>
              <a:rPr lang="zh-CN" altLang="en-US" sz="2000" b="0"/>
              <a:t>，确保程序后续不再对已关闭的文件进行误操作。</a:t>
            </a:r>
            <a:endParaRPr lang="en-US" altLang="zh-CN" sz="2000" b="0"/>
          </a:p>
          <a:p>
            <a:pPr algn="just" eaLnBrk="1" hangingPunct="1">
              <a:lnSpc>
                <a:spcPct val="150000"/>
              </a:lnSpc>
            </a:pPr>
            <a:r>
              <a:rPr lang="zh-CN" altLang="en-US" sz="2000" b="0"/>
              <a:t>如果未关闭文件，程序可能会尝试访问无效的文件流，</a:t>
            </a:r>
            <a:r>
              <a:rPr lang="zh-CN" altLang="en-US" sz="2000" b="0">
                <a:solidFill>
                  <a:srgbClr val="C00000"/>
                </a:solidFill>
              </a:rPr>
              <a:t>导致未定义行为</a:t>
            </a:r>
            <a:r>
              <a:rPr lang="zh-CN" altLang="en-US" sz="2000" b="0"/>
              <a:t>。</a:t>
            </a:r>
          </a:p>
        </p:txBody>
      </p:sp>
    </p:spTree>
    <p:extLst>
      <p:ext uri="{BB962C8B-B14F-4D97-AF65-F5344CB8AC3E}">
        <p14:creationId xmlns:p14="http://schemas.microsoft.com/office/powerpoint/2010/main" val="1678290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85722BA-6970-74E0-9FFB-1784F38812A4}"/>
              </a:ext>
            </a:extLst>
          </p:cNvPr>
          <p:cNvSpPr>
            <a:spLocks noGrp="1" noChangeArrowheads="1"/>
          </p:cNvSpPr>
          <p:nvPr>
            <p:ph type="ctrTitle"/>
          </p:nvPr>
        </p:nvSpPr>
        <p:spPr/>
        <p:txBody>
          <a:bodyPr/>
          <a:lstStyle/>
          <a:p>
            <a:pPr eaLnBrk="1" hangingPunct="1"/>
            <a:r>
              <a:rPr lang="en-US" altLang="zh-CN" sz="3200"/>
              <a:t>8.4 </a:t>
            </a:r>
            <a:r>
              <a:rPr lang="zh-CN" altLang="en-US" sz="3200"/>
              <a:t>文件处理程序结构和常用文件库函数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F051827-630B-6926-9894-2F9191ECC6B8}"/>
              </a:ext>
            </a:extLst>
          </p:cNvPr>
          <p:cNvSpPr>
            <a:spLocks noGrp="1" noChangeArrowheads="1"/>
          </p:cNvSpPr>
          <p:nvPr>
            <p:ph type="title"/>
          </p:nvPr>
        </p:nvSpPr>
        <p:spPr/>
        <p:txBody>
          <a:bodyPr/>
          <a:lstStyle/>
          <a:p>
            <a:pPr eaLnBrk="1" hangingPunct="1"/>
            <a:r>
              <a:rPr lang="zh-CN" altLang="en-US"/>
              <a:t>正文文件的输入处理</a:t>
            </a:r>
          </a:p>
        </p:txBody>
      </p:sp>
      <p:sp>
        <p:nvSpPr>
          <p:cNvPr id="20483" name="Rectangle 3">
            <a:extLst>
              <a:ext uri="{FF2B5EF4-FFF2-40B4-BE49-F238E27FC236}">
                <a16:creationId xmlns:a16="http://schemas.microsoft.com/office/drawing/2014/main" id="{185E0D71-8814-0158-2567-1AA197E7D94B}"/>
              </a:ext>
            </a:extLst>
          </p:cNvPr>
          <p:cNvSpPr>
            <a:spLocks noGrp="1" noChangeArrowheads="1"/>
          </p:cNvSpPr>
          <p:nvPr>
            <p:ph type="body" idx="1"/>
          </p:nvPr>
        </p:nvSpPr>
        <p:spPr>
          <a:xfrm>
            <a:off x="827088" y="1844823"/>
            <a:ext cx="7561336" cy="4287689"/>
          </a:xfrm>
        </p:spPr>
        <p:txBody>
          <a:bodyPr/>
          <a:lstStyle/>
          <a:p>
            <a:pPr marL="533400" indent="-533400" algn="just" eaLnBrk="1" hangingPunct="1">
              <a:lnSpc>
                <a:spcPct val="150000"/>
              </a:lnSpc>
            </a:pPr>
            <a:r>
              <a:rPr lang="zh-CN" altLang="en-US" sz="2000" b="0"/>
              <a:t>从正文文件逐一输入字符，对输入的字符作某种处理的程序结构有：</a:t>
            </a:r>
          </a:p>
          <a:p>
            <a:pPr marL="914400" lvl="1" indent="-457200" algn="just" eaLnBrk="1" hangingPunct="1">
              <a:lnSpc>
                <a:spcPct val="150000"/>
              </a:lnSpc>
              <a:buFont typeface="Wingdings" pitchFamily="2" charset="2"/>
              <a:buAutoNum type="arabicPeriod"/>
            </a:pPr>
            <a:r>
              <a:rPr lang="en-US" altLang="zh-CN" sz="1800" b="0"/>
              <a:t>int c;  </a:t>
            </a:r>
            <a:r>
              <a:rPr lang="en-US" altLang="zh-CN" sz="1800" b="0">
                <a:solidFill>
                  <a:schemeClr val="folHlink"/>
                </a:solidFill>
              </a:rPr>
              <a:t>/*</a:t>
            </a:r>
            <a:r>
              <a:rPr lang="zh-CN" altLang="en-US" sz="1800" b="0" i="1" u="sng">
                <a:solidFill>
                  <a:schemeClr val="folHlink"/>
                </a:solidFill>
              </a:rPr>
              <a:t>不能为</a:t>
            </a:r>
            <a:r>
              <a:rPr lang="en-US" altLang="zh-CN" sz="1800" b="0" i="1" u="sng">
                <a:solidFill>
                  <a:schemeClr val="folHlink"/>
                </a:solidFill>
              </a:rPr>
              <a:t>char</a:t>
            </a:r>
            <a:r>
              <a:rPr lang="zh-CN" altLang="en-US" sz="1800" b="0" i="1" u="sng">
                <a:solidFill>
                  <a:schemeClr val="folHlink"/>
                </a:solidFill>
              </a:rPr>
              <a:t>类型</a:t>
            </a:r>
            <a:r>
              <a:rPr lang="zh-CN" altLang="en-US" sz="1800" b="0">
                <a:solidFill>
                  <a:schemeClr val="folHlink"/>
                </a:solidFill>
              </a:rPr>
              <a:t> *</a:t>
            </a:r>
            <a:r>
              <a:rPr lang="en-US" altLang="zh-CN" sz="1800" b="0">
                <a:solidFill>
                  <a:schemeClr val="folHlink"/>
                </a:solidFill>
              </a:rPr>
              <a:t>/</a:t>
            </a:r>
          </a:p>
          <a:p>
            <a:pPr marL="914400" lvl="1" indent="-457200" algn="just" eaLnBrk="1" hangingPunct="1">
              <a:lnSpc>
                <a:spcPct val="150000"/>
              </a:lnSpc>
              <a:buFont typeface="Wingdings" pitchFamily="2" charset="2"/>
              <a:buAutoNum type="arabicPeriod"/>
            </a:pPr>
            <a:r>
              <a:rPr lang="en-US" altLang="zh-CN" sz="1800" b="0"/>
              <a:t>     </a:t>
            </a:r>
            <a:r>
              <a:rPr lang="en-US" altLang="zh-CN" sz="1800" b="0">
                <a:latin typeface="Arial" panose="020B0604020202020204" pitchFamily="34" charset="0"/>
              </a:rPr>
              <a:t>…</a:t>
            </a:r>
            <a:r>
              <a:rPr lang="en-US" altLang="zh-CN" sz="1800" b="0"/>
              <a:t>  </a:t>
            </a:r>
            <a:r>
              <a:rPr lang="en-US" altLang="zh-CN" sz="1800" b="0">
                <a:solidFill>
                  <a:schemeClr val="folHlink"/>
                </a:solidFill>
              </a:rPr>
              <a:t>/*</a:t>
            </a:r>
            <a:r>
              <a:rPr lang="zh-CN" altLang="en-US" sz="1800" b="0">
                <a:solidFill>
                  <a:schemeClr val="folHlink"/>
                </a:solidFill>
              </a:rPr>
              <a:t>说明有关变量和设置初值等*</a:t>
            </a:r>
            <a:r>
              <a:rPr lang="en-US" altLang="zh-CN" sz="1800" b="0">
                <a:solidFill>
                  <a:schemeClr val="folHlink"/>
                </a:solidFill>
              </a:rPr>
              <a:t>/</a:t>
            </a:r>
          </a:p>
          <a:p>
            <a:pPr marL="914400" lvl="1" indent="-457200" algn="just" eaLnBrk="1" hangingPunct="1">
              <a:lnSpc>
                <a:spcPct val="150000"/>
              </a:lnSpc>
              <a:buFont typeface="Wingdings" pitchFamily="2" charset="2"/>
              <a:buAutoNum type="arabicPeriod"/>
            </a:pPr>
            <a:r>
              <a:rPr lang="en-US" altLang="zh-CN" sz="1800" b="0"/>
              <a:t>fp=fopen(</a:t>
            </a:r>
            <a:r>
              <a:rPr lang="zh-CN" altLang="en-US" sz="1800" b="0"/>
              <a:t>文件名</a:t>
            </a:r>
            <a:r>
              <a:rPr lang="en-US" altLang="zh-CN" sz="1800" b="0"/>
              <a:t>, </a:t>
            </a:r>
            <a:r>
              <a:rPr lang="en-US" altLang="zh-CN" sz="1800" b="0">
                <a:latin typeface="Arial" panose="020B0604020202020204" pitchFamily="34" charset="0"/>
              </a:rPr>
              <a:t>”</a:t>
            </a:r>
            <a:r>
              <a:rPr lang="en-US" altLang="zh-CN" sz="1800" b="0"/>
              <a:t>r</a:t>
            </a:r>
            <a:r>
              <a:rPr lang="en-US" altLang="zh-CN" sz="1800" b="0">
                <a:latin typeface="Arial" panose="020B0604020202020204" pitchFamily="34" charset="0"/>
              </a:rPr>
              <a:t>”</a:t>
            </a:r>
            <a:r>
              <a:rPr lang="en-US" altLang="zh-CN" sz="1800" b="0"/>
              <a:t>);</a:t>
            </a:r>
            <a:r>
              <a:rPr lang="en-US" altLang="zh-CN" sz="1800" b="0">
                <a:solidFill>
                  <a:schemeClr val="folHlink"/>
                </a:solidFill>
              </a:rPr>
              <a:t>/*</a:t>
            </a:r>
            <a:r>
              <a:rPr lang="zh-CN" altLang="en-US" sz="1800" b="0">
                <a:solidFill>
                  <a:schemeClr val="folHlink"/>
                </a:solidFill>
              </a:rPr>
              <a:t>正文文件以读方式打开*</a:t>
            </a:r>
            <a:r>
              <a:rPr lang="en-US" altLang="zh-CN" sz="1800" b="0">
                <a:solidFill>
                  <a:schemeClr val="folHlink"/>
                </a:solidFill>
              </a:rPr>
              <a:t>/</a:t>
            </a:r>
          </a:p>
          <a:p>
            <a:pPr marL="914400" lvl="1" indent="-457200" algn="just" eaLnBrk="1" hangingPunct="1">
              <a:lnSpc>
                <a:spcPct val="150000"/>
              </a:lnSpc>
              <a:buFont typeface="Wingdings" pitchFamily="2" charset="2"/>
              <a:buAutoNum type="arabicPeriod"/>
            </a:pPr>
            <a:r>
              <a:rPr lang="en-US" altLang="zh-CN" sz="1800" b="0"/>
              <a:t>while((c = fgetc(fp)) != EOF)  {</a:t>
            </a:r>
          </a:p>
          <a:p>
            <a:pPr marL="914400" lvl="1" indent="-457200" algn="just" eaLnBrk="1" hangingPunct="1">
              <a:lnSpc>
                <a:spcPct val="150000"/>
              </a:lnSpc>
              <a:buFont typeface="Wingdings" pitchFamily="2" charset="2"/>
              <a:buAutoNum type="arabicPeriod"/>
            </a:pPr>
            <a:r>
              <a:rPr lang="en-US" altLang="zh-CN" sz="1800" b="0"/>
              <a:t>   </a:t>
            </a:r>
            <a:r>
              <a:rPr lang="en-US" altLang="zh-CN" sz="1800" b="0">
                <a:latin typeface="Arial" panose="020B0604020202020204" pitchFamily="34" charset="0"/>
              </a:rPr>
              <a:t>…</a:t>
            </a:r>
            <a:r>
              <a:rPr lang="en-US" altLang="zh-CN" sz="1800" b="0"/>
              <a:t>  </a:t>
            </a:r>
            <a:r>
              <a:rPr lang="en-US" altLang="zh-CN" sz="1800" b="0">
                <a:solidFill>
                  <a:schemeClr val="folHlink"/>
                </a:solidFill>
              </a:rPr>
              <a:t>/*</a:t>
            </a:r>
            <a:r>
              <a:rPr lang="zh-CN" altLang="en-US" sz="1800" b="0">
                <a:solidFill>
                  <a:schemeClr val="folHlink"/>
                </a:solidFill>
              </a:rPr>
              <a:t>这里对刚读入的字符信息 </a:t>
            </a:r>
            <a:r>
              <a:rPr lang="en-US" altLang="zh-CN" sz="1800" b="0">
                <a:solidFill>
                  <a:schemeClr val="folHlink"/>
                </a:solidFill>
              </a:rPr>
              <a:t>c </a:t>
            </a:r>
            <a:r>
              <a:rPr lang="zh-CN" altLang="en-US" sz="1800" b="0">
                <a:solidFill>
                  <a:schemeClr val="folHlink"/>
                </a:solidFill>
              </a:rPr>
              <a:t>作某种处理*</a:t>
            </a:r>
            <a:r>
              <a:rPr lang="en-US" altLang="zh-CN" sz="1800" b="0">
                <a:solidFill>
                  <a:schemeClr val="folHlink"/>
                </a:solidFill>
              </a:rPr>
              <a:t>/</a:t>
            </a:r>
          </a:p>
          <a:p>
            <a:pPr marL="914400" lvl="1" indent="-457200" algn="just" eaLnBrk="1" hangingPunct="1">
              <a:lnSpc>
                <a:spcPct val="150000"/>
              </a:lnSpc>
              <a:buFont typeface="Wingdings" pitchFamily="2" charset="2"/>
              <a:buAutoNum type="arabicPeriod"/>
            </a:pPr>
            <a:r>
              <a:rPr lang="en-US" altLang="zh-CN" sz="1800" b="0"/>
              <a:t>}</a:t>
            </a:r>
          </a:p>
          <a:p>
            <a:pPr marL="914400" lvl="1" indent="-457200" algn="just" eaLnBrk="1" hangingPunct="1">
              <a:lnSpc>
                <a:spcPct val="150000"/>
              </a:lnSpc>
              <a:buFont typeface="Wingdings" pitchFamily="2" charset="2"/>
              <a:buAutoNum type="arabicPeriod"/>
            </a:pPr>
            <a:r>
              <a:rPr lang="en-US" altLang="zh-CN" sz="1800" b="0"/>
              <a:t>fclose(fp);</a:t>
            </a:r>
          </a:p>
          <a:p>
            <a:pPr marL="914400" lvl="1" indent="-457200" algn="just" eaLnBrk="1" hangingPunct="1">
              <a:lnSpc>
                <a:spcPct val="150000"/>
              </a:lnSpc>
              <a:buFont typeface="Wingdings" pitchFamily="2" charset="2"/>
              <a:buAutoNum type="arabicPeriod"/>
            </a:pPr>
            <a:r>
              <a:rPr lang="en-US" altLang="zh-CN" sz="1800" b="0"/>
              <a:t> </a:t>
            </a:r>
            <a:r>
              <a:rPr lang="en-US" altLang="zh-CN" sz="1800" b="0">
                <a:latin typeface="Arial" panose="020B0604020202020204" pitchFamily="34" charset="0"/>
              </a:rPr>
              <a:t>…</a:t>
            </a:r>
            <a:r>
              <a:rPr lang="en-US" altLang="zh-CN" sz="1800" b="0"/>
              <a:t> </a:t>
            </a:r>
            <a:r>
              <a:rPr lang="en-US" altLang="zh-CN" sz="1800" b="0">
                <a:solidFill>
                  <a:schemeClr val="folHlink"/>
                </a:solidFill>
              </a:rPr>
              <a:t>/*</a:t>
            </a:r>
            <a:r>
              <a:rPr lang="zh-CN" altLang="en-US" sz="1800" b="0">
                <a:solidFill>
                  <a:schemeClr val="folHlink"/>
                </a:solidFill>
              </a:rPr>
              <a:t>输出处理结果*</a:t>
            </a:r>
            <a:r>
              <a:rPr lang="en-US" altLang="zh-CN" sz="1800" b="0">
                <a:solidFill>
                  <a:schemeClr val="folHlink"/>
                </a:solidFill>
              </a:rPr>
              <a:t>/</a:t>
            </a:r>
          </a:p>
          <a:p>
            <a:pPr marL="533400" indent="-533400" algn="just" eaLnBrk="1" hangingPunct="1">
              <a:lnSpc>
                <a:spcPct val="150000"/>
              </a:lnSpc>
            </a:pPr>
            <a:endParaRPr lang="en-US" altLang="zh-CN" sz="2000" b="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6C869A5-572C-3AB9-B02A-E74184F12B91}"/>
              </a:ext>
            </a:extLst>
          </p:cNvPr>
          <p:cNvSpPr>
            <a:spLocks noGrp="1" noChangeArrowheads="1"/>
          </p:cNvSpPr>
          <p:nvPr>
            <p:ph type="title"/>
          </p:nvPr>
        </p:nvSpPr>
        <p:spPr/>
        <p:txBody>
          <a:bodyPr/>
          <a:lstStyle/>
          <a:p>
            <a:pPr eaLnBrk="1" hangingPunct="1"/>
            <a:r>
              <a:rPr lang="en-US" altLang="zh-CN"/>
              <a:t>fgetc()</a:t>
            </a:r>
          </a:p>
        </p:txBody>
      </p:sp>
      <p:sp>
        <p:nvSpPr>
          <p:cNvPr id="21507" name="Rectangle 3">
            <a:extLst>
              <a:ext uri="{FF2B5EF4-FFF2-40B4-BE49-F238E27FC236}">
                <a16:creationId xmlns:a16="http://schemas.microsoft.com/office/drawing/2014/main" id="{FE712690-2F49-6E9A-C245-79204EEB9B0A}"/>
              </a:ext>
            </a:extLst>
          </p:cNvPr>
          <p:cNvSpPr>
            <a:spLocks noGrp="1" noChangeArrowheads="1"/>
          </p:cNvSpPr>
          <p:nvPr>
            <p:ph type="body" idx="1"/>
          </p:nvPr>
        </p:nvSpPr>
        <p:spPr>
          <a:xfrm>
            <a:off x="827088" y="1844823"/>
            <a:ext cx="7705352" cy="4287689"/>
          </a:xfrm>
        </p:spPr>
        <p:txBody>
          <a:bodyPr/>
          <a:lstStyle/>
          <a:p>
            <a:pPr eaLnBrk="1" hangingPunct="1">
              <a:lnSpc>
                <a:spcPct val="150000"/>
              </a:lnSpc>
            </a:pPr>
            <a:r>
              <a:rPr lang="en-US" altLang="zh-CN" sz="1800" b="0"/>
              <a:t> </a:t>
            </a:r>
            <a:r>
              <a:rPr lang="zh-CN" altLang="en-US" sz="1800" b="0"/>
              <a:t>其中函数</a:t>
            </a:r>
            <a:r>
              <a:rPr lang="en-US" altLang="zh-CN" sz="1800" b="0"/>
              <a:t>fgetc()</a:t>
            </a:r>
            <a:r>
              <a:rPr lang="zh-CN" altLang="en-US" sz="1800" b="0"/>
              <a:t>的说明形式为</a:t>
            </a:r>
          </a:p>
          <a:p>
            <a:pPr lvl="1" eaLnBrk="1" hangingPunct="1">
              <a:lnSpc>
                <a:spcPct val="150000"/>
              </a:lnSpc>
            </a:pPr>
            <a:r>
              <a:rPr lang="zh-CN" altLang="en-US" sz="1600" b="0"/>
              <a:t>         </a:t>
            </a:r>
            <a:r>
              <a:rPr lang="en-US" altLang="zh-CN" sz="1600" b="0"/>
              <a:t>int fgetc(FILE *fp)</a:t>
            </a:r>
          </a:p>
          <a:p>
            <a:pPr eaLnBrk="1" hangingPunct="1">
              <a:lnSpc>
                <a:spcPct val="150000"/>
              </a:lnSpc>
            </a:pPr>
            <a:r>
              <a:rPr lang="zh-CN" altLang="en-US" sz="1800" b="0"/>
              <a:t>该函数的</a:t>
            </a:r>
            <a:r>
              <a:rPr lang="zh-CN" altLang="en-US" sz="1800" b="0">
                <a:solidFill>
                  <a:srgbClr val="0066FF"/>
                </a:solidFill>
              </a:rPr>
              <a:t>功能</a:t>
            </a:r>
            <a:r>
              <a:rPr lang="zh-CN" altLang="en-US" sz="1800" b="0"/>
              <a:t>是从与</a:t>
            </a:r>
            <a:r>
              <a:rPr lang="en-US" altLang="zh-CN" sz="1800" b="0"/>
              <a:t>fp</a:t>
            </a:r>
            <a:r>
              <a:rPr lang="zh-CN" altLang="en-US" sz="1800" b="0"/>
              <a:t>相联系的文件中读入下一个字符。</a:t>
            </a:r>
            <a:endParaRPr lang="en-US" altLang="zh-CN" sz="1800" b="0"/>
          </a:p>
          <a:p>
            <a:pPr eaLnBrk="1" hangingPunct="1">
              <a:lnSpc>
                <a:spcPct val="150000"/>
              </a:lnSpc>
            </a:pPr>
            <a:r>
              <a:rPr lang="zh-CN" altLang="en-US" sz="1800" b="0"/>
              <a:t>在文件的控制信息块中，有一个当前读字符的位置信息，每读入一个字符后，在文件还未结束情况下，这个当前位置信息就移向其后一个字符，从而保证程序反复调用函数</a:t>
            </a:r>
            <a:r>
              <a:rPr lang="en-US" altLang="zh-CN" sz="1800" b="0"/>
              <a:t>fgetc()</a:t>
            </a:r>
            <a:r>
              <a:rPr lang="zh-CN" altLang="en-US" sz="1800" b="0"/>
              <a:t>能顺序读入文件中的字符。</a:t>
            </a:r>
            <a:endParaRPr lang="en-US" altLang="zh-CN" sz="1800" b="0"/>
          </a:p>
          <a:p>
            <a:pPr eaLnBrk="1" hangingPunct="1">
              <a:lnSpc>
                <a:spcPct val="150000"/>
              </a:lnSpc>
            </a:pPr>
            <a:r>
              <a:rPr lang="zh-CN" altLang="en-US" sz="1800" b="0"/>
              <a:t>函数</a:t>
            </a:r>
            <a:r>
              <a:rPr lang="en-US" altLang="zh-CN" sz="1800" b="0"/>
              <a:t>fgetc()</a:t>
            </a:r>
            <a:r>
              <a:rPr lang="zh-CN" altLang="en-US" sz="1800" b="0"/>
              <a:t>的</a:t>
            </a:r>
            <a:r>
              <a:rPr lang="zh-CN" altLang="en-US" sz="1800" b="0">
                <a:solidFill>
                  <a:srgbClr val="0066FF"/>
                </a:solidFill>
              </a:rPr>
              <a:t>返回值</a:t>
            </a:r>
            <a:r>
              <a:rPr lang="zh-CN" altLang="en-US" sz="1800" b="0"/>
              <a:t>就是读入字符的</a:t>
            </a:r>
            <a:r>
              <a:rPr lang="en-US" altLang="zh-CN" sz="1800" b="0"/>
              <a:t>ASCII</a:t>
            </a:r>
            <a:r>
              <a:rPr lang="zh-CN" altLang="en-US" sz="1800" b="0"/>
              <a:t>代码值。</a:t>
            </a:r>
            <a:endParaRPr lang="en-US" altLang="zh-CN" sz="1800" b="0"/>
          </a:p>
          <a:p>
            <a:pPr lvl="1" eaLnBrk="1" hangingPunct="1">
              <a:lnSpc>
                <a:spcPct val="150000"/>
              </a:lnSpc>
            </a:pPr>
            <a:r>
              <a:rPr lang="zh-CN" altLang="en-US" sz="1400" b="0"/>
              <a:t>读入字符时，如遇到文件结束，函数返回文件结束标志</a:t>
            </a:r>
            <a:r>
              <a:rPr lang="en-US" altLang="zh-CN" sz="1400" b="0"/>
              <a:t>EOF</a:t>
            </a:r>
            <a:r>
              <a:rPr lang="zh-CN" altLang="en-US" sz="1400" b="0"/>
              <a:t>。</a:t>
            </a:r>
            <a:endParaRPr lang="en-US" altLang="zh-CN" sz="1400" b="0"/>
          </a:p>
          <a:p>
            <a:pPr lvl="1" eaLnBrk="1" hangingPunct="1">
              <a:lnSpc>
                <a:spcPct val="150000"/>
              </a:lnSpc>
            </a:pPr>
            <a:r>
              <a:rPr lang="zh-CN" altLang="en-US" sz="1400" b="0"/>
              <a:t>对于正文文件，由于字符的</a:t>
            </a:r>
            <a:r>
              <a:rPr lang="en-US" altLang="zh-CN" sz="1400" b="0"/>
              <a:t>ASCII</a:t>
            </a:r>
            <a:r>
              <a:rPr lang="zh-CN" altLang="en-US" sz="1400" b="0"/>
              <a:t>代码不可能是</a:t>
            </a:r>
            <a:r>
              <a:rPr lang="en-US" altLang="zh-CN" sz="1400" b="0"/>
              <a:t>-1</a:t>
            </a:r>
            <a:r>
              <a:rPr lang="zh-CN" altLang="en-US" sz="1400" b="0"/>
              <a:t>，因此可用</a:t>
            </a:r>
            <a:r>
              <a:rPr lang="en-US" altLang="zh-CN" sz="1400" b="0"/>
              <a:t>EOF(</a:t>
            </a:r>
            <a:r>
              <a:rPr lang="zh-CN" altLang="en-US" sz="1400" b="0"/>
              <a:t>定义为</a:t>
            </a:r>
            <a:r>
              <a:rPr lang="en-US" altLang="zh-CN" sz="1400" b="0"/>
              <a:t>-1)</a:t>
            </a:r>
            <a:r>
              <a:rPr lang="zh-CN" altLang="en-US" sz="1400" b="0"/>
              <a:t>作为文件结束标志。</a:t>
            </a:r>
          </a:p>
          <a:p>
            <a:pPr eaLnBrk="1" hangingPunct="1">
              <a:lnSpc>
                <a:spcPct val="150000"/>
              </a:lnSpc>
            </a:pPr>
            <a:endParaRPr lang="en-US" altLang="zh-CN" sz="1800" b="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688DEE0-AB38-3E53-4E18-208152072657}"/>
              </a:ext>
            </a:extLst>
          </p:cNvPr>
          <p:cNvSpPr>
            <a:spLocks noGrp="1" noChangeArrowheads="1"/>
          </p:cNvSpPr>
          <p:nvPr>
            <p:ph type="title"/>
          </p:nvPr>
        </p:nvSpPr>
        <p:spPr/>
        <p:txBody>
          <a:bodyPr/>
          <a:lstStyle/>
          <a:p>
            <a:pPr eaLnBrk="1" hangingPunct="1"/>
            <a:r>
              <a:rPr lang="zh-CN" altLang="en-US"/>
              <a:t>程序</a:t>
            </a:r>
            <a:r>
              <a:rPr lang="en-US" altLang="zh-CN"/>
              <a:t>8.1(*)</a:t>
            </a:r>
          </a:p>
        </p:txBody>
      </p:sp>
      <p:sp>
        <p:nvSpPr>
          <p:cNvPr id="22531" name="Rectangle 3">
            <a:extLst>
              <a:ext uri="{FF2B5EF4-FFF2-40B4-BE49-F238E27FC236}">
                <a16:creationId xmlns:a16="http://schemas.microsoft.com/office/drawing/2014/main" id="{2EBFCD72-78C0-B16E-0109-BD1AAD3297EB}"/>
              </a:ext>
            </a:extLst>
          </p:cNvPr>
          <p:cNvSpPr>
            <a:spLocks noGrp="1" noChangeArrowheads="1"/>
          </p:cNvSpPr>
          <p:nvPr>
            <p:ph type="body" idx="1"/>
          </p:nvPr>
        </p:nvSpPr>
        <p:spPr>
          <a:xfrm>
            <a:off x="1066800" y="1772815"/>
            <a:ext cx="7772400" cy="5040561"/>
          </a:xfrm>
        </p:spPr>
        <p:txBody>
          <a:bodyPr/>
          <a:lstStyle/>
          <a:p>
            <a:pPr marL="533400" indent="-533400" eaLnBrk="1" hangingPunct="1"/>
            <a:r>
              <a:rPr lang="en-US" altLang="zh-CN" sz="2400" b="0"/>
              <a:t>【</a:t>
            </a:r>
            <a:r>
              <a:rPr lang="zh-CN" altLang="en-US" sz="2400" b="0"/>
              <a:t>程序</a:t>
            </a:r>
            <a:r>
              <a:rPr lang="en-US" altLang="zh-CN" sz="2400" b="0"/>
              <a:t>8.1】</a:t>
            </a:r>
            <a:r>
              <a:rPr lang="zh-CN" altLang="en-US" sz="2400" b="0"/>
              <a:t>输入正文文件，统计文件中英文字母的个数，并输出。</a:t>
            </a:r>
          </a:p>
          <a:p>
            <a:pPr marL="533400" indent="-533400" eaLnBrk="1" hangingPunct="1"/>
            <a:r>
              <a:rPr lang="zh-CN" altLang="en-US" sz="2400" b="0"/>
              <a:t>设程序要统计的正文文件名在程序启动时由输入指定。</a:t>
            </a:r>
          </a:p>
          <a:p>
            <a:pPr marL="914400" lvl="1" indent="-457200" eaLnBrk="1" hangingPunct="1">
              <a:buFont typeface="Wingdings" pitchFamily="2" charset="2"/>
              <a:buAutoNum type="arabicPeriod"/>
            </a:pPr>
            <a:r>
              <a:rPr lang="en-US" altLang="zh-CN" sz="2000" b="0"/>
              <a:t>#include  &lt;stdio.h&gt;</a:t>
            </a:r>
          </a:p>
          <a:p>
            <a:pPr marL="914400" lvl="1" indent="-457200" eaLnBrk="1" hangingPunct="1">
              <a:buFont typeface="Wingdings" pitchFamily="2" charset="2"/>
              <a:buAutoNum type="arabicPeriod"/>
            </a:pPr>
            <a:r>
              <a:rPr lang="en-US" altLang="zh-CN" sz="2000" b="0"/>
              <a:t>FILE *fp;</a:t>
            </a:r>
          </a:p>
          <a:p>
            <a:pPr marL="914400" lvl="1" indent="-457200" eaLnBrk="1" hangingPunct="1">
              <a:buFont typeface="Wingdings" pitchFamily="2" charset="2"/>
              <a:buAutoNum type="arabicPeriod"/>
            </a:pPr>
            <a:r>
              <a:rPr lang="en-US" altLang="zh-CN" sz="2000" b="0"/>
              <a:t>int main(){</a:t>
            </a:r>
          </a:p>
          <a:p>
            <a:pPr marL="914400" lvl="1" indent="-457200" eaLnBrk="1" hangingPunct="1">
              <a:buFont typeface="Wingdings" pitchFamily="2" charset="2"/>
              <a:buAutoNum type="arabicPeriod"/>
            </a:pPr>
            <a:r>
              <a:rPr lang="en-US" altLang="zh-CN" sz="2000" b="0"/>
              <a:t>  int count, ch;  char fname[40];</a:t>
            </a:r>
          </a:p>
          <a:p>
            <a:pPr marL="914400" lvl="1" indent="-457200" eaLnBrk="1" hangingPunct="1">
              <a:buFont typeface="Wingdings" pitchFamily="2" charset="2"/>
              <a:buAutoNum type="arabicPeriod"/>
            </a:pPr>
            <a:r>
              <a:rPr lang="en-US" altLang="zh-CN" sz="2000" b="0"/>
              <a:t>  printf(</a:t>
            </a:r>
            <a:r>
              <a:rPr lang="en-US" altLang="zh-CN" sz="2000" b="0">
                <a:latin typeface="Arial" panose="020B0604020202020204" pitchFamily="34" charset="0"/>
              </a:rPr>
              <a:t>”</a:t>
            </a:r>
            <a:r>
              <a:rPr lang="zh-CN" altLang="en-US" sz="2000" b="0"/>
              <a:t>输入文件名</a:t>
            </a:r>
            <a:r>
              <a:rPr lang="en-US" altLang="zh-CN" sz="2000" b="0"/>
              <a:t>!\n</a:t>
            </a:r>
            <a:r>
              <a:rPr lang="en-US" altLang="zh-CN" sz="2000" b="0">
                <a:latin typeface="Arial" panose="020B0604020202020204" pitchFamily="34" charset="0"/>
              </a:rPr>
              <a:t>”</a:t>
            </a:r>
            <a:r>
              <a:rPr lang="en-US" altLang="zh-CN" sz="2000" b="0"/>
              <a:t>); </a:t>
            </a:r>
          </a:p>
          <a:p>
            <a:pPr marL="914400" lvl="1" indent="-457200" eaLnBrk="1" hangingPunct="1">
              <a:buFont typeface="Wingdings" pitchFamily="2" charset="2"/>
              <a:buAutoNum type="arabicPeriod"/>
            </a:pPr>
            <a:r>
              <a:rPr lang="en-US" altLang="zh-CN" sz="2000" b="0"/>
              <a:t>  scanf(</a:t>
            </a:r>
            <a:r>
              <a:rPr lang="en-US" altLang="zh-CN" sz="2000" b="0">
                <a:latin typeface="Arial" panose="020B0604020202020204" pitchFamily="34" charset="0"/>
              </a:rPr>
              <a:t>”</a:t>
            </a:r>
            <a:r>
              <a:rPr lang="en-US" altLang="zh-CN" sz="2000" b="0"/>
              <a:t>%s%*c</a:t>
            </a:r>
            <a:r>
              <a:rPr lang="en-US" altLang="zh-CN" sz="2000" b="0">
                <a:latin typeface="Arial" panose="020B0604020202020204" pitchFamily="34" charset="0"/>
              </a:rPr>
              <a:t>”</a:t>
            </a:r>
            <a:r>
              <a:rPr lang="en-US" altLang="zh-CN" sz="2000" b="0"/>
              <a:t>, fname);  </a:t>
            </a:r>
            <a:r>
              <a:rPr lang="en-US" altLang="zh-CN" sz="2000" b="0">
                <a:solidFill>
                  <a:schemeClr val="folHlink"/>
                </a:solidFill>
              </a:rPr>
              <a:t>/*</a:t>
            </a:r>
            <a:r>
              <a:rPr lang="zh-CN" altLang="en-US" sz="2000" b="0">
                <a:solidFill>
                  <a:schemeClr val="folHlink"/>
                </a:solidFill>
              </a:rPr>
              <a:t>读入文件名和名后的回车符*</a:t>
            </a:r>
            <a:r>
              <a:rPr lang="en-US" altLang="zh-CN" sz="2000" b="0">
                <a:solidFill>
                  <a:schemeClr val="folHlink"/>
                </a:solidFill>
              </a:rPr>
              <a:t>/</a:t>
            </a:r>
          </a:p>
          <a:p>
            <a:pPr marL="914400" lvl="1" indent="-457200" eaLnBrk="1" hangingPunct="1">
              <a:buFont typeface="Wingdings" pitchFamily="2" charset="2"/>
              <a:buAutoNum type="arabicPeriod"/>
            </a:pPr>
            <a:r>
              <a:rPr lang="en-US" altLang="zh-CN" sz="2000" b="0"/>
              <a:t>  if ((fp = fopen(fname, "r")) == NULL){</a:t>
            </a:r>
          </a:p>
          <a:p>
            <a:pPr marL="914400" lvl="1" indent="-457200" eaLnBrk="1" hangingPunct="1">
              <a:buFont typeface="Wingdings" pitchFamily="2" charset="2"/>
              <a:buAutoNum type="arabicPeriod"/>
            </a:pPr>
            <a:r>
              <a:rPr lang="en-US" altLang="zh-CN" sz="2000" b="0"/>
              <a:t>      printf("Can not open %s file.\n", fname);</a:t>
            </a:r>
          </a:p>
          <a:p>
            <a:pPr marL="914400" lvl="1" indent="-457200" eaLnBrk="1" hangingPunct="1">
              <a:buFont typeface="Wingdings" pitchFamily="2" charset="2"/>
              <a:buAutoNum type="arabicPeriod"/>
            </a:pPr>
            <a:r>
              <a:rPr lang="en-US" altLang="zh-CN" sz="2000" b="0"/>
              <a:t>      return 1; </a:t>
            </a:r>
            <a:r>
              <a:rPr lang="en-US" altLang="zh-CN" sz="2000" b="0">
                <a:solidFill>
                  <a:schemeClr val="folHlink"/>
                </a:solidFill>
              </a:rPr>
              <a:t> /* </a:t>
            </a:r>
            <a:r>
              <a:rPr lang="zh-CN" altLang="en-US" sz="2000" b="0">
                <a:solidFill>
                  <a:schemeClr val="folHlink"/>
                </a:solidFill>
              </a:rPr>
              <a:t>程序非正常结束 *</a:t>
            </a:r>
            <a:r>
              <a:rPr lang="en-US" altLang="zh-CN" sz="2000" b="0">
                <a:solidFill>
                  <a:schemeClr val="folHlink"/>
                </a:solidFill>
              </a:rPr>
              <a:t>/</a:t>
            </a:r>
          </a:p>
          <a:p>
            <a:pPr marL="914400" lvl="1" indent="-457200" eaLnBrk="1" hangingPunct="1">
              <a:buFont typeface="Wingdings" pitchFamily="2" charset="2"/>
              <a:buAutoNum type="arabicPeriod"/>
            </a:pPr>
            <a:r>
              <a:rPr lang="en-US" altLang="zh-CN" sz="2000" b="0"/>
              <a:t>  } </a:t>
            </a:r>
          </a:p>
          <a:p>
            <a:pPr marL="533400" indent="-533400" eaLnBrk="1" hangingPunct="1"/>
            <a:endParaRPr lang="en-US" altLang="zh-CN" sz="2400" b="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771D9F7-3D4F-44D5-BC36-D7D4D1465D5A}"/>
              </a:ext>
            </a:extLst>
          </p:cNvPr>
          <p:cNvSpPr>
            <a:spLocks noGrp="1" noChangeArrowheads="1"/>
          </p:cNvSpPr>
          <p:nvPr>
            <p:ph type="title"/>
          </p:nvPr>
        </p:nvSpPr>
        <p:spPr/>
        <p:txBody>
          <a:bodyPr/>
          <a:lstStyle/>
          <a:p>
            <a:pPr eaLnBrk="1" hangingPunct="1"/>
            <a:r>
              <a:rPr lang="zh-CN" altLang="en-US"/>
              <a:t>程序</a:t>
            </a:r>
            <a:r>
              <a:rPr lang="en-US" altLang="zh-CN"/>
              <a:t>8.1(</a:t>
            </a:r>
            <a:r>
              <a:rPr lang="zh-CN" altLang="en-US"/>
              <a:t>续</a:t>
            </a:r>
            <a:r>
              <a:rPr lang="en-US" altLang="zh-CN"/>
              <a:t>)</a:t>
            </a:r>
          </a:p>
        </p:txBody>
      </p:sp>
      <p:sp>
        <p:nvSpPr>
          <p:cNvPr id="23555" name="Rectangle 3">
            <a:extLst>
              <a:ext uri="{FF2B5EF4-FFF2-40B4-BE49-F238E27FC236}">
                <a16:creationId xmlns:a16="http://schemas.microsoft.com/office/drawing/2014/main" id="{E4B2428F-5AE1-37EB-5AF9-AFAA157C18BD}"/>
              </a:ext>
            </a:extLst>
          </p:cNvPr>
          <p:cNvSpPr>
            <a:spLocks noGrp="1" noChangeArrowheads="1"/>
          </p:cNvSpPr>
          <p:nvPr>
            <p:ph type="body" idx="1"/>
          </p:nvPr>
        </p:nvSpPr>
        <p:spPr/>
        <p:txBody>
          <a:bodyPr/>
          <a:lstStyle/>
          <a:p>
            <a:pPr marL="990600" lvl="1" indent="-533400" eaLnBrk="1" hangingPunct="1">
              <a:buFont typeface="Wingdings" pitchFamily="2" charset="2"/>
              <a:buAutoNum type="arabicPeriod" startAt="11"/>
            </a:pPr>
            <a:r>
              <a:rPr lang="en-US" altLang="zh-CN" sz="2000" b="0"/>
              <a:t>  count = 0;</a:t>
            </a:r>
          </a:p>
          <a:p>
            <a:pPr marL="990600" lvl="1" indent="-533400" eaLnBrk="1" hangingPunct="1">
              <a:buFont typeface="Wingdings" pitchFamily="2" charset="2"/>
              <a:buAutoNum type="arabicPeriod" startAt="11"/>
            </a:pPr>
            <a:r>
              <a:rPr lang="en-US" altLang="zh-CN" sz="2000" b="0"/>
              <a:t>  while(</a:t>
            </a:r>
            <a:r>
              <a:rPr lang="en-US" altLang="zh-CN" sz="2000" b="0">
                <a:solidFill>
                  <a:srgbClr val="0432FF"/>
                </a:solidFill>
              </a:rPr>
              <a:t>(ch = fgetc(fp)) != EOF</a:t>
            </a:r>
            <a:r>
              <a:rPr lang="en-US" altLang="zh-CN" sz="2000" b="0"/>
              <a:t>) { </a:t>
            </a:r>
          </a:p>
          <a:p>
            <a:pPr marL="990600" lvl="1" indent="-533400" eaLnBrk="1" hangingPunct="1">
              <a:buFont typeface="Wingdings" pitchFamily="2" charset="2"/>
              <a:buAutoNum type="arabicPeriod" startAt="11"/>
            </a:pPr>
            <a:r>
              <a:rPr lang="en-US" altLang="zh-CN" sz="2000" b="0"/>
              <a:t>  </a:t>
            </a:r>
            <a:r>
              <a:rPr lang="en-US" altLang="zh-CN" sz="2000" b="0">
                <a:solidFill>
                  <a:schemeClr val="folHlink"/>
                </a:solidFill>
              </a:rPr>
              <a:t>  /* </a:t>
            </a:r>
            <a:r>
              <a:rPr lang="zh-CN" altLang="en-US" sz="2000" b="0">
                <a:solidFill>
                  <a:schemeClr val="folHlink"/>
                </a:solidFill>
              </a:rPr>
              <a:t>这里对刚读入的字符信息 </a:t>
            </a:r>
            <a:r>
              <a:rPr lang="en-US" altLang="zh-CN" sz="2000" b="0">
                <a:solidFill>
                  <a:schemeClr val="folHlink"/>
                </a:solidFill>
              </a:rPr>
              <a:t>ch </a:t>
            </a:r>
            <a:r>
              <a:rPr lang="zh-CN" altLang="en-US" sz="2000" b="0">
                <a:solidFill>
                  <a:schemeClr val="folHlink"/>
                </a:solidFill>
              </a:rPr>
              <a:t>作某种处理  *</a:t>
            </a:r>
            <a:r>
              <a:rPr lang="en-US" altLang="zh-CN" sz="2000" b="0">
                <a:solidFill>
                  <a:schemeClr val="folHlink"/>
                </a:solidFill>
              </a:rPr>
              <a:t>/</a:t>
            </a:r>
          </a:p>
          <a:p>
            <a:pPr marL="990600" lvl="1" indent="-533400" eaLnBrk="1" hangingPunct="1">
              <a:buFont typeface="Wingdings" pitchFamily="2" charset="2"/>
              <a:buAutoNum type="arabicPeriod" startAt="11"/>
            </a:pPr>
            <a:r>
              <a:rPr lang="en-US" altLang="zh-CN" sz="2000" b="0"/>
              <a:t>    if(ch&gt;=</a:t>
            </a:r>
            <a:r>
              <a:rPr lang="en-US" altLang="zh-CN" sz="2000" b="0">
                <a:latin typeface="Arial" panose="020B0604020202020204" pitchFamily="34" charset="0"/>
              </a:rPr>
              <a:t>’</a:t>
            </a:r>
            <a:r>
              <a:rPr lang="en-US" altLang="zh-CN" sz="2000" b="0"/>
              <a:t>a</a:t>
            </a:r>
            <a:r>
              <a:rPr lang="en-US" altLang="zh-CN" sz="2000" b="0">
                <a:latin typeface="Arial" panose="020B0604020202020204" pitchFamily="34" charset="0"/>
              </a:rPr>
              <a:t>’</a:t>
            </a:r>
            <a:r>
              <a:rPr lang="en-US" altLang="zh-CN" sz="2000" b="0"/>
              <a:t>&amp;&amp;ch&lt;=</a:t>
            </a:r>
            <a:r>
              <a:rPr lang="en-US" altLang="zh-CN" sz="2000" b="0">
                <a:latin typeface="Arial" panose="020B0604020202020204" pitchFamily="34" charset="0"/>
              </a:rPr>
              <a:t>’</a:t>
            </a:r>
            <a:r>
              <a:rPr lang="en-US" altLang="zh-CN" sz="2000" b="0"/>
              <a:t>z</a:t>
            </a:r>
            <a:r>
              <a:rPr lang="en-US" altLang="zh-CN" sz="2000" b="0">
                <a:latin typeface="Arial" panose="020B0604020202020204" pitchFamily="34" charset="0"/>
              </a:rPr>
              <a:t>’</a:t>
            </a:r>
            <a:r>
              <a:rPr lang="en-US" altLang="zh-CN" sz="2000" b="0"/>
              <a:t>||ch&gt;=</a:t>
            </a:r>
            <a:r>
              <a:rPr lang="en-US" altLang="zh-CN" sz="2000" b="0">
                <a:latin typeface="Arial" panose="020B0604020202020204" pitchFamily="34" charset="0"/>
              </a:rPr>
              <a:t>’</a:t>
            </a:r>
            <a:r>
              <a:rPr lang="en-US" altLang="zh-CN" sz="2000" b="0"/>
              <a:t>A</a:t>
            </a:r>
            <a:r>
              <a:rPr lang="en-US" altLang="zh-CN" sz="2000" b="0">
                <a:latin typeface="Arial" panose="020B0604020202020204" pitchFamily="34" charset="0"/>
              </a:rPr>
              <a:t>’</a:t>
            </a:r>
            <a:r>
              <a:rPr lang="en-US" altLang="zh-CN" sz="2000" b="0"/>
              <a:t>&amp;&amp;ch&lt;=</a:t>
            </a:r>
            <a:r>
              <a:rPr lang="en-US" altLang="zh-CN" sz="2000" b="0">
                <a:latin typeface="Arial" panose="020B0604020202020204" pitchFamily="34" charset="0"/>
              </a:rPr>
              <a:t>’</a:t>
            </a:r>
            <a:r>
              <a:rPr lang="en-US" altLang="zh-CN" sz="2000" b="0"/>
              <a:t>Z</a:t>
            </a:r>
            <a:r>
              <a:rPr lang="en-US" altLang="zh-CN" sz="2000" b="0">
                <a:latin typeface="Arial" panose="020B0604020202020204" pitchFamily="34" charset="0"/>
              </a:rPr>
              <a:t>’</a:t>
            </a:r>
            <a:r>
              <a:rPr lang="en-US" altLang="zh-CN" sz="2000" b="0"/>
              <a:t>)</a:t>
            </a:r>
          </a:p>
          <a:p>
            <a:pPr marL="990600" lvl="1" indent="-533400" eaLnBrk="1" hangingPunct="1">
              <a:buFont typeface="Wingdings" pitchFamily="2" charset="2"/>
              <a:buAutoNum type="arabicPeriod" startAt="11"/>
            </a:pPr>
            <a:r>
              <a:rPr lang="en-US" altLang="zh-CN" sz="2000" b="0"/>
              <a:t>             count++;</a:t>
            </a:r>
          </a:p>
          <a:p>
            <a:pPr marL="990600" lvl="1" indent="-533400" eaLnBrk="1" hangingPunct="1">
              <a:buFont typeface="Wingdings" pitchFamily="2" charset="2"/>
              <a:buAutoNum type="arabicPeriod" startAt="11"/>
            </a:pPr>
            <a:r>
              <a:rPr lang="en-US" altLang="zh-CN" sz="2000" b="0"/>
              <a:t>  }</a:t>
            </a:r>
          </a:p>
          <a:p>
            <a:pPr marL="990600" lvl="1" indent="-533400" eaLnBrk="1" hangingPunct="1">
              <a:buFont typeface="Wingdings" pitchFamily="2" charset="2"/>
              <a:buAutoNum type="arabicPeriod" startAt="11"/>
            </a:pPr>
            <a:r>
              <a:rPr lang="en-US" altLang="zh-CN" sz="2000" b="0"/>
              <a:t>  fclose(fp);</a:t>
            </a:r>
          </a:p>
          <a:p>
            <a:pPr marL="990600" lvl="1" indent="-533400" eaLnBrk="1" hangingPunct="1">
              <a:buFont typeface="Wingdings" pitchFamily="2" charset="2"/>
              <a:buAutoNum type="arabicPeriod" startAt="11"/>
            </a:pPr>
            <a:r>
              <a:rPr lang="en-US" altLang="zh-CN" sz="2000" b="0">
                <a:solidFill>
                  <a:schemeClr val="folHlink"/>
                </a:solidFill>
              </a:rPr>
              <a:t>  /* </a:t>
            </a:r>
            <a:r>
              <a:rPr lang="zh-CN" altLang="en-US" sz="2000" b="0">
                <a:solidFill>
                  <a:schemeClr val="folHlink"/>
                </a:solidFill>
              </a:rPr>
              <a:t>输出处理结果 *</a:t>
            </a:r>
            <a:r>
              <a:rPr lang="en-US" altLang="zh-CN" sz="2000" b="0">
                <a:solidFill>
                  <a:schemeClr val="folHlink"/>
                </a:solidFill>
              </a:rPr>
              <a:t>/</a:t>
            </a:r>
          </a:p>
          <a:p>
            <a:pPr marL="990600" lvl="1" indent="-533400" eaLnBrk="1" hangingPunct="1">
              <a:buFont typeface="Wingdings" pitchFamily="2" charset="2"/>
              <a:buAutoNum type="arabicPeriod" startAt="11"/>
            </a:pPr>
            <a:r>
              <a:rPr lang="en-US" altLang="zh-CN" sz="2000" b="0"/>
              <a:t>  printf(</a:t>
            </a:r>
            <a:r>
              <a:rPr lang="en-US" altLang="zh-CN" sz="2000" b="0">
                <a:latin typeface="Arial" panose="020B0604020202020204" pitchFamily="34" charset="0"/>
              </a:rPr>
              <a:t>”</a:t>
            </a:r>
            <a:r>
              <a:rPr lang="zh-CN" altLang="en-US" sz="2000" b="0"/>
              <a:t>文件</a:t>
            </a:r>
            <a:r>
              <a:rPr lang="en-US" altLang="zh-CN" sz="2000" b="0"/>
              <a:t>%s</a:t>
            </a:r>
            <a:r>
              <a:rPr lang="zh-CN" altLang="en-US" sz="2000" b="0"/>
              <a:t>有英文字母</a:t>
            </a:r>
            <a:r>
              <a:rPr lang="en-US" altLang="zh-CN" sz="2000" b="0"/>
              <a:t>%d</a:t>
            </a:r>
            <a:r>
              <a:rPr lang="zh-CN" altLang="en-US" sz="2000" b="0"/>
              <a:t>个</a:t>
            </a:r>
            <a:r>
              <a:rPr lang="en-US" altLang="zh-CN" sz="2000" b="0"/>
              <a:t>.\n</a:t>
            </a:r>
            <a:r>
              <a:rPr lang="en-US" altLang="zh-CN" sz="2000" b="0">
                <a:latin typeface="Arial" panose="020B0604020202020204" pitchFamily="34" charset="0"/>
              </a:rPr>
              <a:t>”</a:t>
            </a:r>
            <a:r>
              <a:rPr lang="en-US" altLang="zh-CN" sz="2000" b="0"/>
              <a:t>,fname,count);</a:t>
            </a:r>
          </a:p>
          <a:p>
            <a:pPr marL="990600" lvl="1" indent="-533400" eaLnBrk="1" hangingPunct="1">
              <a:buFont typeface="Wingdings" pitchFamily="2" charset="2"/>
              <a:buAutoNum type="arabicPeriod" startAt="11"/>
            </a:pPr>
            <a:r>
              <a:rPr lang="en-US" altLang="zh-CN" sz="2000" b="0"/>
              <a:t>  return 0; </a:t>
            </a:r>
            <a:r>
              <a:rPr lang="en-US" altLang="zh-CN" sz="2000" b="0">
                <a:solidFill>
                  <a:schemeClr val="folHlink"/>
                </a:solidFill>
              </a:rPr>
              <a:t>/* </a:t>
            </a:r>
            <a:r>
              <a:rPr lang="zh-CN" altLang="en-US" sz="2000" b="0">
                <a:solidFill>
                  <a:schemeClr val="folHlink"/>
                </a:solidFill>
              </a:rPr>
              <a:t>程序执行正常结束 *</a:t>
            </a:r>
            <a:r>
              <a:rPr lang="en-US" altLang="zh-CN" sz="2000" b="0">
                <a:solidFill>
                  <a:schemeClr val="folHlink"/>
                </a:solidFill>
              </a:rPr>
              <a:t>/</a:t>
            </a:r>
          </a:p>
          <a:p>
            <a:pPr marL="990600" lvl="1" indent="-533400" eaLnBrk="1" hangingPunct="1">
              <a:buFont typeface="Wingdings" pitchFamily="2" charset="2"/>
              <a:buAutoNum type="arabicPeriod" startAt="11"/>
            </a:pPr>
            <a:r>
              <a:rPr lang="en-US" altLang="zh-CN" sz="2000" b="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C0227A9-CAD9-3F08-07EE-06208BAE1804}"/>
              </a:ext>
            </a:extLst>
          </p:cNvPr>
          <p:cNvSpPr>
            <a:spLocks noGrp="1" noChangeArrowheads="1"/>
          </p:cNvSpPr>
          <p:nvPr>
            <p:ph type="title"/>
          </p:nvPr>
        </p:nvSpPr>
        <p:spPr/>
        <p:txBody>
          <a:bodyPr/>
          <a:lstStyle/>
          <a:p>
            <a:pPr eaLnBrk="1" hangingPunct="1"/>
            <a:r>
              <a:rPr lang="zh-CN" altLang="en-US"/>
              <a:t>二进制文件的输入处理</a:t>
            </a:r>
          </a:p>
        </p:txBody>
      </p:sp>
      <p:sp>
        <p:nvSpPr>
          <p:cNvPr id="24579" name="Rectangle 3">
            <a:extLst>
              <a:ext uri="{FF2B5EF4-FFF2-40B4-BE49-F238E27FC236}">
                <a16:creationId xmlns:a16="http://schemas.microsoft.com/office/drawing/2014/main" id="{337227CC-EB8D-734C-93DF-3AFDFD035F59}"/>
              </a:ext>
            </a:extLst>
          </p:cNvPr>
          <p:cNvSpPr>
            <a:spLocks noGrp="1" noChangeArrowheads="1"/>
          </p:cNvSpPr>
          <p:nvPr>
            <p:ph type="body" idx="1"/>
          </p:nvPr>
        </p:nvSpPr>
        <p:spPr>
          <a:xfrm>
            <a:off x="827088" y="1772817"/>
            <a:ext cx="7705352" cy="4359696"/>
          </a:xfrm>
        </p:spPr>
        <p:txBody>
          <a:bodyPr/>
          <a:lstStyle/>
          <a:p>
            <a:pPr marL="533400" indent="-533400" eaLnBrk="1" hangingPunct="1"/>
            <a:r>
              <a:rPr lang="zh-CN" altLang="en-US" sz="2400" b="0"/>
              <a:t>从二进制文件逐一输入字节，并作某种处理的程序结构有：</a:t>
            </a:r>
          </a:p>
          <a:p>
            <a:pPr marL="914400" lvl="1" indent="-457200" eaLnBrk="1" hangingPunct="1">
              <a:buFont typeface="Wingdings" pitchFamily="2" charset="2"/>
              <a:buAutoNum type="arabicPeriod"/>
            </a:pPr>
            <a:r>
              <a:rPr lang="zh-CN" altLang="en-US" sz="2000" b="0"/>
              <a:t>  </a:t>
            </a:r>
            <a:r>
              <a:rPr lang="en-US" altLang="zh-CN" sz="2000" b="0"/>
              <a:t>char c;  </a:t>
            </a:r>
            <a:r>
              <a:rPr lang="en-US" altLang="zh-CN" sz="2000" b="0">
                <a:solidFill>
                  <a:schemeClr val="folHlink"/>
                </a:solidFill>
              </a:rPr>
              <a:t>/* </a:t>
            </a:r>
            <a:r>
              <a:rPr lang="zh-CN" altLang="en-US" sz="2000" b="0">
                <a:solidFill>
                  <a:schemeClr val="folHlink"/>
                </a:solidFill>
              </a:rPr>
              <a:t>也可以是</a:t>
            </a:r>
            <a:r>
              <a:rPr lang="en-US" altLang="zh-CN" sz="2000" b="0">
                <a:solidFill>
                  <a:schemeClr val="folHlink"/>
                </a:solidFill>
              </a:rPr>
              <a:t>int</a:t>
            </a:r>
            <a:r>
              <a:rPr lang="zh-CN" altLang="en-US" sz="2000" b="0">
                <a:solidFill>
                  <a:schemeClr val="folHlink"/>
                </a:solidFill>
              </a:rPr>
              <a:t>类型 *</a:t>
            </a:r>
            <a:r>
              <a:rPr lang="en-US" altLang="zh-CN" sz="2000" b="0">
                <a:solidFill>
                  <a:schemeClr val="folHlink"/>
                </a:solidFill>
              </a:rPr>
              <a:t>/</a:t>
            </a:r>
          </a:p>
          <a:p>
            <a:pPr marL="914400" lvl="1" indent="-457200" eaLnBrk="1" hangingPunct="1">
              <a:buFont typeface="Wingdings" pitchFamily="2" charset="2"/>
              <a:buAutoNum type="arabicPeriod"/>
            </a:pPr>
            <a:r>
              <a:rPr lang="en-US" altLang="zh-CN" sz="2000" b="0">
                <a:solidFill>
                  <a:schemeClr val="folHlink"/>
                </a:solidFill>
              </a:rPr>
              <a:t>   </a:t>
            </a:r>
            <a:r>
              <a:rPr lang="en-US" altLang="zh-CN" sz="2000" b="0">
                <a:solidFill>
                  <a:schemeClr val="folHlink"/>
                </a:solidFill>
                <a:latin typeface="Arial" panose="020B0604020202020204" pitchFamily="34" charset="0"/>
              </a:rPr>
              <a:t>…</a:t>
            </a:r>
            <a:r>
              <a:rPr lang="en-US" altLang="zh-CN" sz="2000" b="0">
                <a:solidFill>
                  <a:schemeClr val="folHlink"/>
                </a:solidFill>
              </a:rPr>
              <a:t>   /* </a:t>
            </a:r>
            <a:r>
              <a:rPr lang="zh-CN" altLang="en-US" sz="2000" b="0">
                <a:solidFill>
                  <a:schemeClr val="folHlink"/>
                </a:solidFill>
              </a:rPr>
              <a:t>说明有关变量和设置初值等 *</a:t>
            </a:r>
            <a:r>
              <a:rPr lang="en-US" altLang="zh-CN" sz="2000" b="0">
                <a:solidFill>
                  <a:schemeClr val="folHlink"/>
                </a:solidFill>
              </a:rPr>
              <a:t>/</a:t>
            </a:r>
          </a:p>
          <a:p>
            <a:pPr marL="914400" lvl="1" indent="-457200" eaLnBrk="1" hangingPunct="1">
              <a:buFont typeface="Wingdings" pitchFamily="2" charset="2"/>
              <a:buAutoNum type="arabicPeriod"/>
            </a:pPr>
            <a:r>
              <a:rPr lang="en-US" altLang="zh-CN" sz="2000" b="0"/>
              <a:t>  fp = fopen(</a:t>
            </a:r>
            <a:r>
              <a:rPr lang="zh-CN" altLang="en-US" sz="2000" b="0"/>
              <a:t>文件名，</a:t>
            </a:r>
            <a:r>
              <a:rPr lang="zh-CN" altLang="en-US" sz="2000" b="0">
                <a:latin typeface="Arial" panose="020B0604020202020204" pitchFamily="34" charset="0"/>
              </a:rPr>
              <a:t>”</a:t>
            </a:r>
            <a:r>
              <a:rPr lang="en-US" altLang="zh-CN" sz="2000" b="0"/>
              <a:t>rb</a:t>
            </a:r>
            <a:r>
              <a:rPr lang="en-US" altLang="zh-CN" sz="2000" b="0">
                <a:latin typeface="Arial" panose="020B0604020202020204" pitchFamily="34" charset="0"/>
              </a:rPr>
              <a:t>”</a:t>
            </a:r>
            <a:r>
              <a:rPr lang="en-US" altLang="zh-CN" sz="2000" b="0"/>
              <a:t>);</a:t>
            </a:r>
          </a:p>
          <a:p>
            <a:pPr marL="914400" lvl="1" indent="-457200" eaLnBrk="1" hangingPunct="1">
              <a:buFont typeface="Wingdings" pitchFamily="2" charset="2"/>
              <a:buAutoNum type="arabicPeriod"/>
            </a:pPr>
            <a:r>
              <a:rPr lang="en-US" altLang="zh-CN" sz="2000" b="0"/>
              <a:t>  while(!</a:t>
            </a:r>
            <a:r>
              <a:rPr lang="en-US" altLang="zh-CN" sz="2000" b="0">
                <a:solidFill>
                  <a:srgbClr val="0066FF"/>
                </a:solidFill>
              </a:rPr>
              <a:t>feof</a:t>
            </a:r>
            <a:r>
              <a:rPr lang="en-US" altLang="zh-CN" sz="2000" b="0"/>
              <a:t>(fp)) {</a:t>
            </a:r>
          </a:p>
          <a:p>
            <a:pPr marL="914400" lvl="1" indent="-457200" eaLnBrk="1" hangingPunct="1">
              <a:buFont typeface="Wingdings" pitchFamily="2" charset="2"/>
              <a:buAutoNum type="arabicPeriod"/>
            </a:pPr>
            <a:r>
              <a:rPr lang="en-US" altLang="zh-CN" sz="2000" b="0"/>
              <a:t>     c = fgetc(fp);</a:t>
            </a:r>
          </a:p>
          <a:p>
            <a:pPr marL="914400" lvl="1" indent="-457200" eaLnBrk="1" hangingPunct="1">
              <a:buFont typeface="Wingdings" pitchFamily="2" charset="2"/>
              <a:buAutoNum type="arabicPeriod"/>
            </a:pPr>
            <a:r>
              <a:rPr lang="en-US" altLang="zh-CN" sz="2000" b="0"/>
              <a:t>     </a:t>
            </a:r>
            <a:r>
              <a:rPr lang="en-US" altLang="zh-CN" sz="2000" b="0">
                <a:solidFill>
                  <a:schemeClr val="folHlink"/>
                </a:solidFill>
                <a:latin typeface="Arial" panose="020B0604020202020204" pitchFamily="34" charset="0"/>
              </a:rPr>
              <a:t>…</a:t>
            </a:r>
            <a:r>
              <a:rPr lang="en-US" altLang="zh-CN" sz="2000" b="0">
                <a:solidFill>
                  <a:schemeClr val="folHlink"/>
                </a:solidFill>
              </a:rPr>
              <a:t>   /* </a:t>
            </a:r>
            <a:r>
              <a:rPr lang="zh-CN" altLang="en-US" sz="2000" b="0">
                <a:solidFill>
                  <a:schemeClr val="folHlink"/>
                </a:solidFill>
              </a:rPr>
              <a:t>这里对字节信息 </a:t>
            </a:r>
            <a:r>
              <a:rPr lang="en-US" altLang="zh-CN" sz="2000" b="0">
                <a:solidFill>
                  <a:schemeClr val="folHlink"/>
                </a:solidFill>
              </a:rPr>
              <a:t>c </a:t>
            </a:r>
            <a:r>
              <a:rPr lang="zh-CN" altLang="en-US" sz="2000" b="0">
                <a:solidFill>
                  <a:schemeClr val="folHlink"/>
                </a:solidFill>
              </a:rPr>
              <a:t>作某种处理 *</a:t>
            </a:r>
            <a:r>
              <a:rPr lang="en-US" altLang="zh-CN" sz="2000" b="0">
                <a:solidFill>
                  <a:schemeClr val="folHlink"/>
                </a:solidFill>
              </a:rPr>
              <a:t>/</a:t>
            </a:r>
          </a:p>
          <a:p>
            <a:pPr marL="914400" lvl="1" indent="-457200" eaLnBrk="1" hangingPunct="1">
              <a:buFont typeface="Wingdings" pitchFamily="2" charset="2"/>
              <a:buAutoNum type="arabicPeriod"/>
            </a:pPr>
            <a:r>
              <a:rPr lang="en-US" altLang="zh-CN" sz="2000" b="0"/>
              <a:t>  }</a:t>
            </a:r>
          </a:p>
          <a:p>
            <a:pPr marL="914400" lvl="1" indent="-457200" eaLnBrk="1" hangingPunct="1">
              <a:buFont typeface="Wingdings" pitchFamily="2" charset="2"/>
              <a:buAutoNum type="arabicPeriod"/>
            </a:pPr>
            <a:r>
              <a:rPr lang="en-US" altLang="zh-CN" sz="2000" b="0"/>
              <a:t>  fclose(fp);</a:t>
            </a:r>
          </a:p>
          <a:p>
            <a:pPr marL="914400" lvl="1" indent="-457200" eaLnBrk="1" hangingPunct="1">
              <a:buFont typeface="Wingdings" pitchFamily="2" charset="2"/>
              <a:buAutoNum type="arabicPeriod"/>
            </a:pPr>
            <a:r>
              <a:rPr lang="en-US" altLang="zh-CN" sz="2000" b="0"/>
              <a:t>  </a:t>
            </a:r>
            <a:r>
              <a:rPr lang="en-US" altLang="zh-CN" sz="2000" b="0">
                <a:solidFill>
                  <a:schemeClr val="folHlink"/>
                </a:solidFill>
                <a:latin typeface="Arial" panose="020B0604020202020204" pitchFamily="34" charset="0"/>
              </a:rPr>
              <a:t>…</a:t>
            </a:r>
            <a:r>
              <a:rPr lang="en-US" altLang="zh-CN" sz="2000" b="0">
                <a:solidFill>
                  <a:schemeClr val="folHlink"/>
                </a:solidFill>
              </a:rPr>
              <a:t> /* </a:t>
            </a:r>
            <a:r>
              <a:rPr lang="zh-CN" altLang="en-US" sz="2000" b="0">
                <a:solidFill>
                  <a:schemeClr val="folHlink"/>
                </a:solidFill>
              </a:rPr>
              <a:t>输出处理结果 *</a:t>
            </a:r>
            <a:r>
              <a:rPr lang="en-US" altLang="zh-CN" sz="2000" b="0">
                <a:solidFill>
                  <a:schemeClr val="folHlink"/>
                </a:solidFill>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7D488AF-9759-1710-2537-47BA68C6EDEC}"/>
              </a:ext>
            </a:extLst>
          </p:cNvPr>
          <p:cNvSpPr>
            <a:spLocks noGrp="1" noChangeArrowheads="1"/>
          </p:cNvSpPr>
          <p:nvPr>
            <p:ph type="title"/>
          </p:nvPr>
        </p:nvSpPr>
        <p:spPr/>
        <p:txBody>
          <a:bodyPr/>
          <a:lstStyle/>
          <a:p>
            <a:pPr eaLnBrk="1" hangingPunct="1"/>
            <a:r>
              <a:rPr lang="en-US" altLang="zh-CN"/>
              <a:t>feof()</a:t>
            </a:r>
          </a:p>
        </p:txBody>
      </p:sp>
      <p:sp>
        <p:nvSpPr>
          <p:cNvPr id="25603" name="Rectangle 3">
            <a:extLst>
              <a:ext uri="{FF2B5EF4-FFF2-40B4-BE49-F238E27FC236}">
                <a16:creationId xmlns:a16="http://schemas.microsoft.com/office/drawing/2014/main" id="{FE2B420B-40DB-AF80-FB0B-33124D1BFEBD}"/>
              </a:ext>
            </a:extLst>
          </p:cNvPr>
          <p:cNvSpPr>
            <a:spLocks noGrp="1" noChangeArrowheads="1"/>
          </p:cNvSpPr>
          <p:nvPr>
            <p:ph type="body" idx="1"/>
          </p:nvPr>
        </p:nvSpPr>
        <p:spPr>
          <a:xfrm>
            <a:off x="827088" y="1844823"/>
            <a:ext cx="7793037" cy="4287689"/>
          </a:xfrm>
        </p:spPr>
        <p:txBody>
          <a:bodyPr/>
          <a:lstStyle/>
          <a:p>
            <a:pPr algn="just" eaLnBrk="1" hangingPunct="1">
              <a:lnSpc>
                <a:spcPct val="150000"/>
              </a:lnSpc>
            </a:pPr>
            <a:r>
              <a:rPr lang="zh-CN" altLang="en-US" sz="2000" b="0"/>
              <a:t>其中函数 </a:t>
            </a:r>
            <a:r>
              <a:rPr lang="en-US" altLang="zh-CN" sz="2000" b="0"/>
              <a:t>feof()</a:t>
            </a:r>
            <a:r>
              <a:rPr lang="zh-CN" altLang="en-US" sz="2000" b="0"/>
              <a:t>用来</a:t>
            </a:r>
            <a:r>
              <a:rPr lang="zh-CN" altLang="en-US" sz="2000" b="0">
                <a:solidFill>
                  <a:srgbClr val="0066FF"/>
                </a:solidFill>
              </a:rPr>
              <a:t>判断文件是否结束</a:t>
            </a:r>
            <a:r>
              <a:rPr lang="zh-CN" altLang="en-US" sz="2000" b="0"/>
              <a:t>。</a:t>
            </a:r>
            <a:endParaRPr lang="en-US" altLang="zh-CN" sz="2000" b="0"/>
          </a:p>
          <a:p>
            <a:pPr algn="just" eaLnBrk="1" hangingPunct="1">
              <a:lnSpc>
                <a:spcPct val="150000"/>
              </a:lnSpc>
            </a:pPr>
            <a:r>
              <a:rPr lang="zh-CN" altLang="en-US" sz="2000" b="0"/>
              <a:t>函数调用</a:t>
            </a:r>
            <a:r>
              <a:rPr lang="en-US" altLang="zh-CN" sz="2000" b="0"/>
              <a:t>feof(fp)</a:t>
            </a:r>
            <a:r>
              <a:rPr lang="zh-CN" altLang="en-US" sz="2000" b="0"/>
              <a:t>用来测试与</a:t>
            </a:r>
            <a:r>
              <a:rPr lang="en-US" altLang="zh-CN" sz="2000" b="0"/>
              <a:t>fp</a:t>
            </a:r>
            <a:r>
              <a:rPr lang="zh-CN" altLang="en-US" sz="2000" b="0"/>
              <a:t>相联系的文件当前状态是否为</a:t>
            </a:r>
            <a:r>
              <a:rPr lang="zh-CN" altLang="en-US" sz="2000" b="0">
                <a:latin typeface="Arial" panose="020B0604020202020204" pitchFamily="34" charset="0"/>
              </a:rPr>
              <a:t>“</a:t>
            </a:r>
            <a:r>
              <a:rPr lang="zh-CN" altLang="en-US" sz="2000" b="0"/>
              <a:t>文件结束</a:t>
            </a:r>
            <a:r>
              <a:rPr lang="zh-CN" altLang="en-US" sz="2000" b="0">
                <a:latin typeface="Arial" panose="020B0604020202020204" pitchFamily="34" charset="0"/>
              </a:rPr>
              <a:t>”</a:t>
            </a:r>
            <a:r>
              <a:rPr lang="zh-CN" altLang="en-US" sz="2000" b="0"/>
              <a:t>状态。如果是文件结束状态，函数调用</a:t>
            </a:r>
            <a:r>
              <a:rPr lang="en-US" altLang="zh-CN" sz="2000" b="0"/>
              <a:t>feof(fp)</a:t>
            </a:r>
            <a:r>
              <a:rPr lang="zh-CN" altLang="en-US" sz="2000" b="0"/>
              <a:t>返回非零值，否则返回零值。</a:t>
            </a:r>
            <a:r>
              <a:rPr lang="zh-CN" altLang="en-US" sz="2000" b="0" u="sng">
                <a:solidFill>
                  <a:srgbClr val="0066FF"/>
                </a:solidFill>
              </a:rPr>
              <a:t>函数</a:t>
            </a:r>
            <a:r>
              <a:rPr lang="en-US" altLang="zh-CN" sz="2000" b="0" u="sng">
                <a:solidFill>
                  <a:srgbClr val="0066FF"/>
                </a:solidFill>
              </a:rPr>
              <a:t>feof()</a:t>
            </a:r>
            <a:r>
              <a:rPr lang="zh-CN" altLang="en-US" sz="2000" b="0" u="sng">
                <a:solidFill>
                  <a:srgbClr val="0066FF"/>
                </a:solidFill>
              </a:rPr>
              <a:t>也可用于测试正文文件</a:t>
            </a:r>
            <a:r>
              <a:rPr lang="zh-CN" altLang="en-US" sz="2000" b="0"/>
              <a:t>。</a:t>
            </a:r>
          </a:p>
          <a:p>
            <a:pPr algn="just" eaLnBrk="1" hangingPunct="1">
              <a:lnSpc>
                <a:spcPct val="150000"/>
              </a:lnSpc>
            </a:pPr>
            <a:endParaRPr lang="zh-CN" altLang="en-US" sz="2000" b="0"/>
          </a:p>
          <a:p>
            <a:pPr algn="just" eaLnBrk="1" hangingPunct="1">
              <a:lnSpc>
                <a:spcPct val="150000"/>
              </a:lnSpc>
            </a:pPr>
            <a:r>
              <a:rPr lang="zh-CN" altLang="en-US" sz="2000" b="0">
                <a:solidFill>
                  <a:srgbClr val="C00000"/>
                </a:solidFill>
              </a:rPr>
              <a:t>对于二进制文件</a:t>
            </a:r>
            <a:r>
              <a:rPr lang="zh-CN" altLang="en-US" sz="2000" b="0"/>
              <a:t>，读入的某个字节信息变换成整数后可能是</a:t>
            </a:r>
            <a:r>
              <a:rPr lang="en-US" altLang="zh-CN" sz="2000" b="0"/>
              <a:t>-1</a:t>
            </a:r>
            <a:r>
              <a:rPr lang="zh-CN" altLang="en-US" sz="2000" b="0"/>
              <a:t>，所以一般不能以读入字节的值是否为 </a:t>
            </a:r>
            <a:r>
              <a:rPr lang="en-US" altLang="zh-CN" sz="2000" b="0"/>
              <a:t>-1</a:t>
            </a:r>
            <a:r>
              <a:rPr lang="zh-CN" altLang="en-US" sz="2000" b="0"/>
              <a:t>来判定二进制文件是否结束，而</a:t>
            </a:r>
            <a:r>
              <a:rPr lang="zh-CN" altLang="en-US" sz="2000" b="0">
                <a:solidFill>
                  <a:srgbClr val="C00000"/>
                </a:solidFill>
              </a:rPr>
              <a:t>应该用函数</a:t>
            </a:r>
            <a:r>
              <a:rPr lang="en-US" altLang="zh-CN" sz="2000" b="0">
                <a:solidFill>
                  <a:srgbClr val="C00000"/>
                </a:solidFill>
              </a:rPr>
              <a:t>feof()</a:t>
            </a:r>
            <a:r>
              <a:rPr lang="zh-CN" altLang="en-US" sz="2000" b="0"/>
              <a:t>。</a:t>
            </a:r>
          </a:p>
          <a:p>
            <a:pPr algn="just" eaLnBrk="1" hangingPunct="1">
              <a:lnSpc>
                <a:spcPct val="150000"/>
              </a:lnSpc>
            </a:pPr>
            <a:endParaRPr lang="en-US" altLang="zh-CN" sz="2000" b="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40965DD-047A-B292-8962-C87A479322A8}"/>
              </a:ext>
            </a:extLst>
          </p:cNvPr>
          <p:cNvSpPr>
            <a:spLocks noGrp="1" noChangeArrowheads="1"/>
          </p:cNvSpPr>
          <p:nvPr>
            <p:ph type="title"/>
          </p:nvPr>
        </p:nvSpPr>
        <p:spPr/>
        <p:txBody>
          <a:bodyPr/>
          <a:lstStyle/>
          <a:p>
            <a:pPr eaLnBrk="1" hangingPunct="1"/>
            <a:r>
              <a:rPr lang="zh-CN" altLang="en-US" sz="3600"/>
              <a:t>字符（或字节）逐一生成形成新文件</a:t>
            </a:r>
          </a:p>
        </p:txBody>
      </p:sp>
      <p:sp>
        <p:nvSpPr>
          <p:cNvPr id="26627" name="Rectangle 3">
            <a:extLst>
              <a:ext uri="{FF2B5EF4-FFF2-40B4-BE49-F238E27FC236}">
                <a16:creationId xmlns:a16="http://schemas.microsoft.com/office/drawing/2014/main" id="{B1287721-4E16-1D9F-113A-77E16FB245B4}"/>
              </a:ext>
            </a:extLst>
          </p:cNvPr>
          <p:cNvSpPr>
            <a:spLocks noGrp="1" noChangeArrowheads="1"/>
          </p:cNvSpPr>
          <p:nvPr>
            <p:ph type="body" idx="1"/>
          </p:nvPr>
        </p:nvSpPr>
        <p:spPr>
          <a:xfrm>
            <a:off x="827088" y="1844823"/>
            <a:ext cx="7633344" cy="4287689"/>
          </a:xfrm>
        </p:spPr>
        <p:txBody>
          <a:bodyPr/>
          <a:lstStyle/>
          <a:p>
            <a:pPr marL="533400" indent="-533400" eaLnBrk="1" hangingPunct="1">
              <a:lnSpc>
                <a:spcPct val="90000"/>
              </a:lnSpc>
            </a:pPr>
            <a:r>
              <a:rPr lang="zh-CN" altLang="en-US" sz="2400" b="0"/>
              <a:t>字符（或字节）逐一生成输出，形成新文件的程序结构有：</a:t>
            </a:r>
          </a:p>
          <a:p>
            <a:pPr marL="914400" lvl="1" indent="-457200" eaLnBrk="1" hangingPunct="1">
              <a:lnSpc>
                <a:spcPct val="90000"/>
              </a:lnSpc>
              <a:buFont typeface="Wingdings" pitchFamily="2" charset="2"/>
              <a:buAutoNum type="arabicPeriod"/>
            </a:pPr>
            <a:r>
              <a:rPr lang="en-US" altLang="zh-CN" sz="2000" b="0"/>
              <a:t>int c;  </a:t>
            </a:r>
            <a:r>
              <a:rPr lang="en-US" altLang="zh-CN" sz="2000" b="0">
                <a:solidFill>
                  <a:schemeClr val="folHlink"/>
                </a:solidFill>
              </a:rPr>
              <a:t>/* </a:t>
            </a:r>
            <a:r>
              <a:rPr lang="zh-CN" altLang="en-US" sz="2000" b="0">
                <a:solidFill>
                  <a:schemeClr val="folHlink"/>
                </a:solidFill>
              </a:rPr>
              <a:t>也可以是</a:t>
            </a:r>
            <a:r>
              <a:rPr lang="en-US" altLang="zh-CN" sz="2000" b="0">
                <a:solidFill>
                  <a:schemeClr val="folHlink"/>
                </a:solidFill>
              </a:rPr>
              <a:t>char</a:t>
            </a:r>
            <a:r>
              <a:rPr lang="zh-CN" altLang="en-US" sz="2000" b="0">
                <a:solidFill>
                  <a:schemeClr val="folHlink"/>
                </a:solidFill>
              </a:rPr>
              <a:t>类型 *</a:t>
            </a:r>
            <a:r>
              <a:rPr lang="en-US" altLang="zh-CN" sz="2000" b="0">
                <a:solidFill>
                  <a:schemeClr val="folHlink"/>
                </a:solidFill>
              </a:rPr>
              <a:t>/</a:t>
            </a:r>
          </a:p>
          <a:p>
            <a:pPr marL="914400" lvl="1" indent="-457200" eaLnBrk="1" hangingPunct="1">
              <a:lnSpc>
                <a:spcPct val="90000"/>
              </a:lnSpc>
              <a:buFont typeface="Wingdings" pitchFamily="2" charset="2"/>
              <a:buAutoNum type="arabicPeriod"/>
            </a:pPr>
            <a:r>
              <a:rPr lang="en-US" altLang="zh-CN" sz="2000" b="0">
                <a:solidFill>
                  <a:schemeClr val="folHlink"/>
                </a:solidFill>
              </a:rPr>
              <a:t>    </a:t>
            </a:r>
            <a:r>
              <a:rPr lang="en-US" altLang="zh-CN" sz="2000" b="0">
                <a:solidFill>
                  <a:schemeClr val="folHlink"/>
                </a:solidFill>
                <a:latin typeface="Arial" panose="020B0604020202020204" pitchFamily="34" charset="0"/>
              </a:rPr>
              <a:t>…</a:t>
            </a:r>
            <a:r>
              <a:rPr lang="en-US" altLang="zh-CN" sz="2000" b="0">
                <a:solidFill>
                  <a:schemeClr val="folHlink"/>
                </a:solidFill>
              </a:rPr>
              <a:t>  /* </a:t>
            </a:r>
            <a:r>
              <a:rPr lang="zh-CN" altLang="en-US" sz="2000" b="0">
                <a:solidFill>
                  <a:schemeClr val="folHlink"/>
                </a:solidFill>
              </a:rPr>
              <a:t>说明有关变量和设置初值等 *</a:t>
            </a:r>
            <a:r>
              <a:rPr lang="en-US" altLang="zh-CN" sz="2000" b="0">
                <a:solidFill>
                  <a:schemeClr val="folHlink"/>
                </a:solidFill>
              </a:rPr>
              <a:t>/</a:t>
            </a:r>
          </a:p>
          <a:p>
            <a:pPr marL="914400" lvl="1" indent="-457200" eaLnBrk="1" hangingPunct="1">
              <a:lnSpc>
                <a:spcPct val="90000"/>
              </a:lnSpc>
              <a:buFont typeface="Wingdings" pitchFamily="2" charset="2"/>
              <a:buAutoNum type="arabicPeriod"/>
            </a:pPr>
            <a:r>
              <a:rPr lang="en-US" altLang="zh-CN" sz="2000" b="0"/>
              <a:t>fp=fopen(</a:t>
            </a:r>
            <a:r>
              <a:rPr lang="zh-CN" altLang="en-US" sz="2000" b="0"/>
              <a:t>文件名</a:t>
            </a:r>
            <a:r>
              <a:rPr lang="en-US" altLang="zh-CN" sz="2000" b="0"/>
              <a:t>,</a:t>
            </a:r>
            <a:r>
              <a:rPr lang="en-US" altLang="zh-CN" sz="2000" b="0">
                <a:latin typeface="Arial" panose="020B0604020202020204" pitchFamily="34" charset="0"/>
              </a:rPr>
              <a:t>”</a:t>
            </a:r>
            <a:r>
              <a:rPr lang="en-US" altLang="zh-CN" sz="2000" b="0"/>
              <a:t>w</a:t>
            </a:r>
            <a:r>
              <a:rPr lang="en-US" altLang="zh-CN" sz="2000" b="0">
                <a:latin typeface="Arial" panose="020B0604020202020204" pitchFamily="34" charset="0"/>
              </a:rPr>
              <a:t>”</a:t>
            </a:r>
            <a:r>
              <a:rPr lang="en-US" altLang="zh-CN" sz="2000" b="0"/>
              <a:t>); </a:t>
            </a:r>
            <a:r>
              <a:rPr lang="en-US" altLang="zh-CN" sz="2000" b="0">
                <a:solidFill>
                  <a:schemeClr val="folHlink"/>
                </a:solidFill>
              </a:rPr>
              <a:t>/*</a:t>
            </a:r>
            <a:r>
              <a:rPr lang="zh-CN" altLang="en-US" sz="2000" b="0">
                <a:solidFill>
                  <a:schemeClr val="folHlink"/>
                </a:solidFill>
              </a:rPr>
              <a:t>或</a:t>
            </a:r>
            <a:r>
              <a:rPr lang="en-US" altLang="zh-CN" sz="2000" b="0">
                <a:solidFill>
                  <a:schemeClr val="folHlink"/>
                </a:solidFill>
              </a:rPr>
              <a:t>fp=fopen(</a:t>
            </a:r>
            <a:r>
              <a:rPr lang="zh-CN" altLang="en-US" sz="2000" b="0">
                <a:solidFill>
                  <a:schemeClr val="folHlink"/>
                </a:solidFill>
              </a:rPr>
              <a:t>文件</a:t>
            </a:r>
            <a:r>
              <a:rPr lang="en-US" altLang="zh-CN" sz="2000" b="0">
                <a:solidFill>
                  <a:schemeClr val="folHlink"/>
                </a:solidFill>
              </a:rPr>
              <a:t>,</a:t>
            </a:r>
            <a:r>
              <a:rPr lang="en-US" altLang="zh-CN" sz="2000" b="0">
                <a:solidFill>
                  <a:schemeClr val="folHlink"/>
                </a:solidFill>
                <a:latin typeface="Arial" panose="020B0604020202020204" pitchFamily="34" charset="0"/>
              </a:rPr>
              <a:t>”</a:t>
            </a:r>
            <a:r>
              <a:rPr lang="en-US" altLang="zh-CN" sz="2000" b="0">
                <a:solidFill>
                  <a:schemeClr val="folHlink"/>
                </a:solidFill>
              </a:rPr>
              <a:t>wb</a:t>
            </a:r>
            <a:r>
              <a:rPr lang="en-US" altLang="zh-CN" sz="2000" b="0">
                <a:solidFill>
                  <a:schemeClr val="folHlink"/>
                </a:solidFill>
                <a:latin typeface="Arial" panose="020B0604020202020204" pitchFamily="34" charset="0"/>
              </a:rPr>
              <a:t>”</a:t>
            </a:r>
            <a:r>
              <a:rPr lang="en-US" altLang="zh-CN" sz="2000" b="0">
                <a:solidFill>
                  <a:schemeClr val="folHlink"/>
                </a:solidFill>
              </a:rPr>
              <a:t>)*/</a:t>
            </a:r>
          </a:p>
          <a:p>
            <a:pPr marL="914400" lvl="1" indent="-457200" eaLnBrk="1" hangingPunct="1">
              <a:lnSpc>
                <a:spcPct val="90000"/>
              </a:lnSpc>
              <a:buFont typeface="Wingdings" pitchFamily="2" charset="2"/>
              <a:buAutoNum type="arabicPeriod"/>
            </a:pPr>
            <a:r>
              <a:rPr lang="en-US" altLang="zh-CN" sz="2000" b="0"/>
              <a:t>while(</a:t>
            </a:r>
            <a:r>
              <a:rPr lang="zh-CN" altLang="en-US" sz="2000" b="0"/>
              <a:t>还有字符</a:t>
            </a:r>
            <a:r>
              <a:rPr lang="en-US" altLang="zh-CN" sz="2000" b="0"/>
              <a:t>(</a:t>
            </a:r>
            <a:r>
              <a:rPr lang="zh-CN" altLang="en-US" sz="2000" b="0"/>
              <a:t>或字节</a:t>
            </a:r>
            <a:r>
              <a:rPr lang="en-US" altLang="zh-CN" sz="2000" b="0"/>
              <a:t>))  {</a:t>
            </a:r>
          </a:p>
          <a:p>
            <a:pPr marL="914400" lvl="1" indent="-457200" eaLnBrk="1" hangingPunct="1">
              <a:lnSpc>
                <a:spcPct val="90000"/>
              </a:lnSpc>
              <a:buFont typeface="Wingdings" pitchFamily="2" charset="2"/>
              <a:buAutoNum type="arabicPeriod"/>
            </a:pPr>
            <a:r>
              <a:rPr lang="en-US" altLang="zh-CN" sz="2000" b="0"/>
              <a:t>  </a:t>
            </a:r>
            <a:r>
              <a:rPr lang="en-US" altLang="zh-CN" sz="2000" b="0">
                <a:solidFill>
                  <a:schemeClr val="folHlink"/>
                </a:solidFill>
                <a:latin typeface="Arial" panose="020B0604020202020204" pitchFamily="34" charset="0"/>
              </a:rPr>
              <a:t>…</a:t>
            </a:r>
            <a:r>
              <a:rPr lang="en-US" altLang="zh-CN" sz="2000" b="0">
                <a:solidFill>
                  <a:schemeClr val="folHlink"/>
                </a:solidFill>
              </a:rPr>
              <a:t>  /* </a:t>
            </a:r>
            <a:r>
              <a:rPr lang="zh-CN" altLang="en-US" sz="2000" b="0">
                <a:solidFill>
                  <a:schemeClr val="folHlink"/>
                </a:solidFill>
              </a:rPr>
              <a:t>生成字符</a:t>
            </a:r>
            <a:r>
              <a:rPr lang="en-US" altLang="zh-CN" sz="2000" b="0">
                <a:solidFill>
                  <a:schemeClr val="folHlink"/>
                </a:solidFill>
              </a:rPr>
              <a:t>(</a:t>
            </a:r>
            <a:r>
              <a:rPr lang="zh-CN" altLang="en-US" sz="2000" b="0">
                <a:solidFill>
                  <a:schemeClr val="folHlink"/>
                </a:solidFill>
              </a:rPr>
              <a:t>或字节</a:t>
            </a:r>
            <a:r>
              <a:rPr lang="en-US" altLang="zh-CN" sz="2000" b="0">
                <a:solidFill>
                  <a:schemeClr val="folHlink"/>
                </a:solidFill>
              </a:rPr>
              <a:t>)</a:t>
            </a:r>
            <a:r>
              <a:rPr lang="zh-CN" altLang="en-US" sz="2000" b="0">
                <a:solidFill>
                  <a:schemeClr val="folHlink"/>
                </a:solidFill>
              </a:rPr>
              <a:t>存于变量</a:t>
            </a:r>
            <a:r>
              <a:rPr lang="en-US" altLang="zh-CN" sz="2000" b="0">
                <a:solidFill>
                  <a:schemeClr val="folHlink"/>
                </a:solidFill>
              </a:rPr>
              <a:t>c */</a:t>
            </a:r>
          </a:p>
          <a:p>
            <a:pPr marL="914400" lvl="1" indent="-457200" eaLnBrk="1" hangingPunct="1">
              <a:lnSpc>
                <a:spcPct val="90000"/>
              </a:lnSpc>
              <a:buFont typeface="Wingdings" pitchFamily="2" charset="2"/>
              <a:buAutoNum type="arabicPeriod"/>
            </a:pPr>
            <a:r>
              <a:rPr lang="en-US" altLang="zh-CN" sz="2000" b="0"/>
              <a:t>  fputc(c, fp); </a:t>
            </a:r>
            <a:r>
              <a:rPr lang="en-US" altLang="zh-CN" sz="2000" b="0">
                <a:solidFill>
                  <a:schemeClr val="folHlink"/>
                </a:solidFill>
              </a:rPr>
              <a:t>/* </a:t>
            </a:r>
            <a:r>
              <a:rPr lang="zh-CN" altLang="en-US" sz="2000" b="0">
                <a:solidFill>
                  <a:schemeClr val="folHlink"/>
                </a:solidFill>
              </a:rPr>
              <a:t>将生成的字符</a:t>
            </a:r>
            <a:r>
              <a:rPr lang="en-US" altLang="zh-CN" sz="2000" b="0">
                <a:solidFill>
                  <a:schemeClr val="folHlink"/>
                </a:solidFill>
              </a:rPr>
              <a:t>(</a:t>
            </a:r>
            <a:r>
              <a:rPr lang="zh-CN" altLang="en-US" sz="2000" b="0">
                <a:solidFill>
                  <a:schemeClr val="folHlink"/>
                </a:solidFill>
              </a:rPr>
              <a:t>或字节</a:t>
            </a:r>
            <a:r>
              <a:rPr lang="en-US" altLang="zh-CN" sz="2000" b="0">
                <a:solidFill>
                  <a:schemeClr val="folHlink"/>
                </a:solidFill>
              </a:rPr>
              <a:t>)</a:t>
            </a:r>
            <a:r>
              <a:rPr lang="zh-CN" altLang="en-US" sz="2000" b="0">
                <a:solidFill>
                  <a:schemeClr val="folHlink"/>
                </a:solidFill>
              </a:rPr>
              <a:t>输出 *</a:t>
            </a:r>
            <a:r>
              <a:rPr lang="en-US" altLang="zh-CN" sz="2000" b="0">
                <a:solidFill>
                  <a:schemeClr val="folHlink"/>
                </a:solidFill>
              </a:rPr>
              <a:t>/</a:t>
            </a:r>
          </a:p>
          <a:p>
            <a:pPr marL="914400" lvl="1" indent="-457200" eaLnBrk="1" hangingPunct="1">
              <a:lnSpc>
                <a:spcPct val="90000"/>
              </a:lnSpc>
              <a:buFont typeface="Wingdings" pitchFamily="2" charset="2"/>
              <a:buAutoNum type="arabicPeriod"/>
            </a:pPr>
            <a:r>
              <a:rPr lang="en-US" altLang="zh-CN" sz="2000" b="0"/>
              <a:t>}</a:t>
            </a:r>
          </a:p>
          <a:p>
            <a:pPr marL="914400" lvl="1" indent="-457200" eaLnBrk="1" hangingPunct="1">
              <a:lnSpc>
                <a:spcPct val="90000"/>
              </a:lnSpc>
              <a:buFont typeface="Wingdings" pitchFamily="2" charset="2"/>
              <a:buAutoNum type="arabicPeriod"/>
            </a:pPr>
            <a:r>
              <a:rPr lang="en-US" altLang="zh-CN" sz="2000" b="0"/>
              <a:t>fclose(fp);</a:t>
            </a:r>
          </a:p>
          <a:p>
            <a:pPr marL="914400" lvl="1" indent="-457200" eaLnBrk="1" hangingPunct="1">
              <a:lnSpc>
                <a:spcPct val="90000"/>
              </a:lnSpc>
              <a:buFont typeface="Wingdings" pitchFamily="2" charset="2"/>
              <a:buAutoNum type="arabicPeriod"/>
            </a:pPr>
            <a:r>
              <a:rPr lang="en-US" altLang="zh-CN" sz="2000" b="0"/>
              <a:t>   </a:t>
            </a:r>
            <a:r>
              <a:rPr lang="en-US" altLang="zh-CN" sz="2000" b="0">
                <a:solidFill>
                  <a:schemeClr val="folHlink"/>
                </a:solidFill>
                <a:latin typeface="Arial" panose="020B0604020202020204" pitchFamily="34" charset="0"/>
              </a:rPr>
              <a:t>…</a:t>
            </a:r>
            <a:r>
              <a:rPr lang="en-US" altLang="zh-CN" sz="2000" b="0">
                <a:solidFill>
                  <a:schemeClr val="folHlink"/>
                </a:solidFill>
              </a:rPr>
              <a:t> /* </a:t>
            </a:r>
            <a:r>
              <a:rPr lang="zh-CN" altLang="en-US" sz="2000" b="0">
                <a:solidFill>
                  <a:schemeClr val="folHlink"/>
                </a:solidFill>
              </a:rPr>
              <a:t>输出程序结束报告 *</a:t>
            </a:r>
            <a:r>
              <a:rPr lang="en-US" altLang="zh-CN" sz="2000" b="0">
                <a:solidFill>
                  <a:schemeClr val="folHlink"/>
                </a:solidFill>
              </a:rPr>
              <a:t>/</a:t>
            </a:r>
          </a:p>
          <a:p>
            <a:pPr marL="914400" lvl="1" indent="-457200" eaLnBrk="1" hangingPunct="1">
              <a:lnSpc>
                <a:spcPct val="90000"/>
              </a:lnSpc>
              <a:buFont typeface="Wingdings" pitchFamily="2" charset="2"/>
              <a:buAutoNum type="arabicPeriod"/>
            </a:pPr>
            <a:endParaRPr lang="en-US" altLang="zh-CN" sz="2000" b="0">
              <a:solidFill>
                <a:schemeClr val="folHlink"/>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164004A-E8A1-E9FE-F802-5B521F1D247C}"/>
              </a:ext>
            </a:extLst>
          </p:cNvPr>
          <p:cNvSpPr>
            <a:spLocks noGrp="1" noChangeArrowheads="1"/>
          </p:cNvSpPr>
          <p:nvPr>
            <p:ph type="title"/>
          </p:nvPr>
        </p:nvSpPr>
        <p:spPr/>
        <p:txBody>
          <a:bodyPr/>
          <a:lstStyle/>
          <a:p>
            <a:pPr eaLnBrk="1" hangingPunct="1"/>
            <a:r>
              <a:rPr lang="en-US" altLang="zh-CN"/>
              <a:t>fputc()</a:t>
            </a:r>
          </a:p>
        </p:txBody>
      </p:sp>
      <p:sp>
        <p:nvSpPr>
          <p:cNvPr id="27651" name="Rectangle 3">
            <a:extLst>
              <a:ext uri="{FF2B5EF4-FFF2-40B4-BE49-F238E27FC236}">
                <a16:creationId xmlns:a16="http://schemas.microsoft.com/office/drawing/2014/main" id="{32791E06-B765-DC93-0771-54F324F6DA1F}"/>
              </a:ext>
            </a:extLst>
          </p:cNvPr>
          <p:cNvSpPr>
            <a:spLocks noGrp="1" noChangeArrowheads="1"/>
          </p:cNvSpPr>
          <p:nvPr>
            <p:ph type="body" idx="1"/>
          </p:nvPr>
        </p:nvSpPr>
        <p:spPr>
          <a:xfrm>
            <a:off x="827088" y="1772815"/>
            <a:ext cx="7705352" cy="4359697"/>
          </a:xfrm>
        </p:spPr>
        <p:txBody>
          <a:bodyPr/>
          <a:lstStyle/>
          <a:p>
            <a:pPr algn="just" eaLnBrk="1" hangingPunct="1">
              <a:lnSpc>
                <a:spcPct val="150000"/>
              </a:lnSpc>
            </a:pPr>
            <a:r>
              <a:rPr lang="zh-CN" altLang="en-US" sz="1800" b="0">
                <a:solidFill>
                  <a:srgbClr val="0432FF"/>
                </a:solidFill>
              </a:rPr>
              <a:t>函数 </a:t>
            </a:r>
            <a:r>
              <a:rPr lang="en-US" altLang="zh-CN" sz="1800" b="0">
                <a:solidFill>
                  <a:srgbClr val="0432FF"/>
                </a:solidFill>
              </a:rPr>
              <a:t>fputc()</a:t>
            </a:r>
            <a:r>
              <a:rPr lang="zh-CN" altLang="en-US" sz="1800" b="0"/>
              <a:t>的说明形式为</a:t>
            </a:r>
          </a:p>
          <a:p>
            <a:pPr lvl="1" algn="just" eaLnBrk="1" hangingPunct="1">
              <a:lnSpc>
                <a:spcPct val="150000"/>
              </a:lnSpc>
            </a:pPr>
            <a:r>
              <a:rPr lang="zh-CN" altLang="en-US" sz="1600" b="0"/>
              <a:t>         </a:t>
            </a:r>
            <a:r>
              <a:rPr lang="en-US" altLang="zh-CN" sz="1600" b="0"/>
              <a:t>int fputc(char ch, FILE *fp)</a:t>
            </a:r>
          </a:p>
          <a:p>
            <a:pPr algn="just" eaLnBrk="1" hangingPunct="1">
              <a:lnSpc>
                <a:spcPct val="150000"/>
              </a:lnSpc>
            </a:pPr>
            <a:r>
              <a:rPr lang="zh-CN" altLang="en-US" sz="1800" b="0"/>
              <a:t>该函数的功能是将 </a:t>
            </a:r>
            <a:r>
              <a:rPr lang="en-US" altLang="zh-CN" sz="1800" b="0"/>
              <a:t>ch </a:t>
            </a:r>
            <a:r>
              <a:rPr lang="zh-CN" altLang="en-US" sz="1800" b="0"/>
              <a:t>中的字符输出到与</a:t>
            </a:r>
            <a:r>
              <a:rPr lang="en-US" altLang="zh-CN" sz="1800" b="0"/>
              <a:t>fp</a:t>
            </a:r>
            <a:r>
              <a:rPr lang="zh-CN" altLang="en-US" sz="1800" b="0"/>
              <a:t>文件指针相联系的文件中。函数</a:t>
            </a:r>
            <a:r>
              <a:rPr lang="en-US" altLang="zh-CN" sz="1800" b="0"/>
              <a:t>fputc() </a:t>
            </a:r>
            <a:r>
              <a:rPr lang="zh-CN" altLang="en-US" sz="1800" b="0"/>
              <a:t>返回一个整值。</a:t>
            </a:r>
            <a:endParaRPr lang="en-US" altLang="zh-CN" sz="1800" b="0"/>
          </a:p>
          <a:p>
            <a:pPr lvl="1" algn="just" eaLnBrk="1" hangingPunct="1">
              <a:lnSpc>
                <a:spcPct val="150000"/>
              </a:lnSpc>
            </a:pPr>
            <a:r>
              <a:rPr lang="zh-CN" altLang="en-US" sz="1400" b="0">
                <a:solidFill>
                  <a:srgbClr val="00B050"/>
                </a:solidFill>
              </a:rPr>
              <a:t>如果输出成功</a:t>
            </a:r>
            <a:r>
              <a:rPr lang="zh-CN" altLang="en-US" sz="1400" b="0"/>
              <a:t>，则返回值就是输出字符的</a:t>
            </a:r>
            <a:r>
              <a:rPr lang="en-US" altLang="zh-CN" sz="1400" b="0"/>
              <a:t>ASCII</a:t>
            </a:r>
            <a:r>
              <a:rPr lang="zh-CN" altLang="en-US" sz="1400" b="0"/>
              <a:t>代码值；</a:t>
            </a:r>
            <a:endParaRPr lang="en-US" altLang="zh-CN" sz="1400" b="0"/>
          </a:p>
          <a:p>
            <a:pPr lvl="1" algn="just" eaLnBrk="1" hangingPunct="1">
              <a:lnSpc>
                <a:spcPct val="150000"/>
              </a:lnSpc>
            </a:pPr>
            <a:r>
              <a:rPr lang="zh-CN" altLang="en-US" sz="1400" b="0">
                <a:solidFill>
                  <a:srgbClr val="C00000"/>
                </a:solidFill>
              </a:rPr>
              <a:t>如果输出失败</a:t>
            </a:r>
            <a:r>
              <a:rPr lang="zh-CN" altLang="en-US" sz="1400" b="0"/>
              <a:t>，则返回 </a:t>
            </a:r>
            <a:r>
              <a:rPr lang="en-US" altLang="zh-CN" sz="1400" b="0"/>
              <a:t>EOF</a:t>
            </a:r>
            <a:r>
              <a:rPr lang="zh-CN" altLang="en-US" sz="1400" b="0"/>
              <a:t>，即 </a:t>
            </a:r>
            <a:r>
              <a:rPr lang="en-US" altLang="zh-CN" sz="1400" b="0"/>
              <a:t>-1</a:t>
            </a:r>
            <a:r>
              <a:rPr lang="zh-CN" altLang="en-US" sz="1400" b="0"/>
              <a:t>。</a:t>
            </a:r>
          </a:p>
          <a:p>
            <a:pPr algn="just" eaLnBrk="1" hangingPunct="1">
              <a:lnSpc>
                <a:spcPct val="150000"/>
              </a:lnSpc>
            </a:pPr>
            <a:r>
              <a:rPr lang="zh-CN" altLang="en-US" sz="1800" b="0">
                <a:solidFill>
                  <a:srgbClr val="0432FF"/>
                </a:solidFill>
              </a:rPr>
              <a:t>函数 </a:t>
            </a:r>
            <a:r>
              <a:rPr lang="en-US" altLang="zh-CN" sz="1800" b="0">
                <a:solidFill>
                  <a:srgbClr val="0432FF"/>
                </a:solidFill>
              </a:rPr>
              <a:t>putchar() </a:t>
            </a:r>
            <a:r>
              <a:rPr lang="zh-CN" altLang="en-US" sz="1800" b="0"/>
              <a:t>是在 </a:t>
            </a:r>
            <a:r>
              <a:rPr lang="en-US" altLang="zh-CN" sz="1800" b="0"/>
              <a:t>stdio.h </a:t>
            </a:r>
            <a:r>
              <a:rPr lang="zh-CN" altLang="en-US" sz="1800" b="0"/>
              <a:t>中用函数 </a:t>
            </a:r>
            <a:r>
              <a:rPr lang="en-US" altLang="zh-CN" sz="1800" b="0"/>
              <a:t>fputc() </a:t>
            </a:r>
            <a:r>
              <a:rPr lang="zh-CN" altLang="en-US" sz="1800" b="0"/>
              <a:t>定义的宏：</a:t>
            </a:r>
          </a:p>
          <a:p>
            <a:pPr lvl="1" algn="just" eaLnBrk="1" hangingPunct="1">
              <a:lnSpc>
                <a:spcPct val="150000"/>
              </a:lnSpc>
            </a:pPr>
            <a:r>
              <a:rPr lang="zh-CN" altLang="en-US" sz="1600" b="0"/>
              <a:t>      </a:t>
            </a:r>
            <a:r>
              <a:rPr lang="en-US" altLang="zh-CN" sz="1600" b="0"/>
              <a:t>#define putchar(c)  fputc(c, stdout)</a:t>
            </a:r>
          </a:p>
          <a:p>
            <a:pPr lvl="1" algn="just" eaLnBrk="1" hangingPunct="1">
              <a:lnSpc>
                <a:spcPct val="150000"/>
              </a:lnSpc>
            </a:pPr>
            <a:r>
              <a:rPr lang="zh-CN" altLang="en-US" sz="1400" b="0"/>
              <a:t>用宏 </a:t>
            </a:r>
            <a:r>
              <a:rPr lang="en-US" altLang="zh-CN" sz="1400" b="0"/>
              <a:t>putchar(c) </a:t>
            </a:r>
            <a:r>
              <a:rPr lang="zh-CN" altLang="en-US" sz="1400" b="0"/>
              <a:t>比写 </a:t>
            </a:r>
            <a:r>
              <a:rPr lang="en-US" altLang="zh-CN" sz="1400" b="0"/>
              <a:t>fputc(c, stdout) </a:t>
            </a:r>
            <a:r>
              <a:rPr lang="zh-CN" altLang="en-US" sz="1400" b="0"/>
              <a:t>在概念上更简单一些。从使用者来说，可以把 </a:t>
            </a:r>
            <a:r>
              <a:rPr lang="en-US" altLang="zh-CN" sz="1400" b="0"/>
              <a:t>putchar(c) </a:t>
            </a:r>
            <a:r>
              <a:rPr lang="zh-CN" altLang="en-US" sz="1400" b="0"/>
              <a:t>看作函数调用，不必严格地称它为宏调用。</a:t>
            </a:r>
          </a:p>
          <a:p>
            <a:pPr algn="just" eaLnBrk="1" hangingPunct="1">
              <a:lnSpc>
                <a:spcPct val="150000"/>
              </a:lnSpc>
            </a:pPr>
            <a:endParaRPr lang="en-US" altLang="zh-CN" sz="1800" b="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C36A335-5373-0066-33C6-43978CBA8410}"/>
              </a:ext>
            </a:extLst>
          </p:cNvPr>
          <p:cNvSpPr>
            <a:spLocks noGrp="1" noChangeArrowheads="1"/>
          </p:cNvSpPr>
          <p:nvPr>
            <p:ph type="title"/>
          </p:nvPr>
        </p:nvSpPr>
        <p:spPr/>
        <p:txBody>
          <a:bodyPr/>
          <a:lstStyle/>
          <a:p>
            <a:pPr eaLnBrk="1" hangingPunct="1"/>
            <a:r>
              <a:rPr lang="zh-CN" altLang="en-US"/>
              <a:t>程序</a:t>
            </a:r>
            <a:r>
              <a:rPr lang="en-US" altLang="zh-CN"/>
              <a:t>8.2</a:t>
            </a:r>
          </a:p>
        </p:txBody>
      </p:sp>
      <p:sp>
        <p:nvSpPr>
          <p:cNvPr id="28675" name="Rectangle 3">
            <a:extLst>
              <a:ext uri="{FF2B5EF4-FFF2-40B4-BE49-F238E27FC236}">
                <a16:creationId xmlns:a16="http://schemas.microsoft.com/office/drawing/2014/main" id="{D26AD367-1B22-32CA-8B44-75A08F82D209}"/>
              </a:ext>
            </a:extLst>
          </p:cNvPr>
          <p:cNvSpPr>
            <a:spLocks noGrp="1" noChangeArrowheads="1"/>
          </p:cNvSpPr>
          <p:nvPr>
            <p:ph type="body" idx="1"/>
          </p:nvPr>
        </p:nvSpPr>
        <p:spPr>
          <a:xfrm>
            <a:off x="827088" y="1772815"/>
            <a:ext cx="7866062" cy="4359697"/>
          </a:xfrm>
        </p:spPr>
        <p:txBody>
          <a:bodyPr/>
          <a:lstStyle/>
          <a:p>
            <a:pPr marL="533400" indent="-533400" eaLnBrk="1" hangingPunct="1"/>
            <a:r>
              <a:rPr lang="en-US" altLang="zh-CN" sz="1800" b="0"/>
              <a:t>【</a:t>
            </a:r>
            <a:r>
              <a:rPr lang="zh-CN" altLang="en-US" sz="1800" b="0"/>
              <a:t>程序</a:t>
            </a:r>
            <a:r>
              <a:rPr lang="en-US" altLang="zh-CN" sz="1800" b="0"/>
              <a:t>8.2】</a:t>
            </a:r>
            <a:r>
              <a:rPr lang="zh-CN" altLang="en-US" sz="1800" b="0"/>
              <a:t>逐行复制从键盘读入字符到指定文件，直至输入空行结束。要求复制时，在数字符序列与其它字符序列之间插入１个空格符。在复制过程中，程序还统计输入字符和输出字符个数，并将统计结果输出。</a:t>
            </a:r>
          </a:p>
          <a:p>
            <a:pPr marL="533400" indent="-533400" eaLnBrk="1" hangingPunct="1"/>
            <a:r>
              <a:rPr lang="zh-CN" altLang="en-US" sz="1800" b="0"/>
              <a:t>程序为了判定最近处理字符和当前字符的属性，是数字符或是其它字符，引入标志变量</a:t>
            </a:r>
            <a:r>
              <a:rPr lang="en-US" altLang="zh-CN" sz="1800" b="0"/>
              <a:t>pre_d</a:t>
            </a:r>
            <a:r>
              <a:rPr lang="zh-CN" altLang="en-US" sz="1800" b="0"/>
              <a:t>和</a:t>
            </a:r>
            <a:r>
              <a:rPr lang="en-US" altLang="zh-CN" sz="1800" b="0"/>
              <a:t>c_d</a:t>
            </a:r>
            <a:r>
              <a:rPr lang="zh-CN" altLang="en-US" sz="1800" b="0"/>
              <a:t>。是数字符为</a:t>
            </a:r>
            <a:r>
              <a:rPr lang="en-US" altLang="zh-CN" sz="1800" b="0"/>
              <a:t>1</a:t>
            </a:r>
            <a:r>
              <a:rPr lang="zh-CN" altLang="en-US" sz="1800" b="0"/>
              <a:t>，不是数字符为</a:t>
            </a:r>
            <a:r>
              <a:rPr lang="en-US" altLang="zh-CN" sz="1800" b="0"/>
              <a:t>0</a:t>
            </a:r>
            <a:r>
              <a:rPr lang="zh-CN" altLang="en-US" sz="1800" b="0"/>
              <a:t>。</a:t>
            </a:r>
          </a:p>
          <a:p>
            <a:pPr marL="914400" lvl="1" indent="-457200" eaLnBrk="1" hangingPunct="1">
              <a:buFont typeface="Wingdings" pitchFamily="2" charset="2"/>
              <a:buAutoNum type="arabicPeriod"/>
            </a:pPr>
            <a:r>
              <a:rPr lang="en-US" altLang="zh-CN" sz="1600" b="0"/>
              <a:t>#include  &lt;stdio.h&gt;</a:t>
            </a:r>
          </a:p>
          <a:p>
            <a:pPr marL="914400" lvl="1" indent="-457200" eaLnBrk="1" hangingPunct="1">
              <a:buFont typeface="Wingdings" pitchFamily="2" charset="2"/>
              <a:buAutoNum type="arabicPeriod"/>
            </a:pPr>
            <a:r>
              <a:rPr lang="en-US" altLang="zh-CN" sz="1600" b="0"/>
              <a:t>#define  INT_CH  </a:t>
            </a:r>
            <a:r>
              <a:rPr lang="en-US" altLang="zh-CN" sz="1600" b="0">
                <a:latin typeface="Arial" panose="020B0604020202020204" pitchFamily="34" charset="0"/>
              </a:rPr>
              <a:t>’</a:t>
            </a:r>
            <a:r>
              <a:rPr lang="en-US" altLang="zh-CN" sz="1600" b="0"/>
              <a:t> </a:t>
            </a:r>
            <a:r>
              <a:rPr lang="en-US" altLang="zh-CN" sz="1600" b="0">
                <a:latin typeface="Arial" panose="020B0604020202020204" pitchFamily="34" charset="0"/>
              </a:rPr>
              <a:t>’</a:t>
            </a:r>
            <a:endParaRPr lang="en-US" altLang="zh-CN" sz="1600" b="0"/>
          </a:p>
          <a:p>
            <a:pPr marL="914400" lvl="1" indent="-457200" eaLnBrk="1" hangingPunct="1">
              <a:buFont typeface="Wingdings" pitchFamily="2" charset="2"/>
              <a:buAutoNum type="arabicPeriod"/>
            </a:pPr>
            <a:r>
              <a:rPr lang="en-US" altLang="zh-CN" sz="1600" b="0"/>
              <a:t>FILE *fp;</a:t>
            </a:r>
          </a:p>
          <a:p>
            <a:pPr marL="914400" lvl="1" indent="-457200" eaLnBrk="1" hangingPunct="1">
              <a:buFont typeface="Wingdings" pitchFamily="2" charset="2"/>
              <a:buAutoNum type="arabicPeriod"/>
            </a:pPr>
            <a:r>
              <a:rPr lang="en-US" altLang="zh-CN" sz="1600" b="0"/>
              <a:t>void main(){</a:t>
            </a:r>
          </a:p>
          <a:p>
            <a:pPr marL="914400" lvl="1" indent="-457200" eaLnBrk="1" hangingPunct="1">
              <a:buFont typeface="Wingdings" pitchFamily="2" charset="2"/>
              <a:buAutoNum type="arabicPeriod"/>
            </a:pPr>
            <a:r>
              <a:rPr lang="en-US" altLang="zh-CN" sz="1600" b="0"/>
              <a:t>  int incount, outcount, ch, pre_d, c_d;</a:t>
            </a:r>
          </a:p>
          <a:p>
            <a:pPr marL="914400" lvl="1" indent="-457200" eaLnBrk="1" hangingPunct="1">
              <a:buFont typeface="Wingdings" pitchFamily="2" charset="2"/>
              <a:buAutoNum type="arabicPeriod"/>
            </a:pPr>
            <a:r>
              <a:rPr lang="en-US" altLang="zh-CN" sz="1600" b="0"/>
              <a:t>  char fname[40];</a:t>
            </a:r>
          </a:p>
          <a:p>
            <a:pPr marL="914400" lvl="1" indent="-457200" eaLnBrk="1" hangingPunct="1">
              <a:buFont typeface="Wingdings" pitchFamily="2" charset="2"/>
              <a:buAutoNum type="arabicPeriod"/>
            </a:pPr>
            <a:r>
              <a:rPr lang="en-US" altLang="zh-CN" sz="1600" b="0"/>
              <a:t>  printf(</a:t>
            </a:r>
            <a:r>
              <a:rPr lang="en-US" altLang="zh-CN" sz="1600" b="0">
                <a:latin typeface="Arial" panose="020B0604020202020204" pitchFamily="34" charset="0"/>
              </a:rPr>
              <a:t>”</a:t>
            </a:r>
            <a:r>
              <a:rPr lang="zh-CN" altLang="en-US" sz="1600" b="0"/>
              <a:t>输入文件名</a:t>
            </a:r>
            <a:r>
              <a:rPr lang="en-US" altLang="zh-CN" sz="1600" b="0"/>
              <a:t>!\n</a:t>
            </a:r>
            <a:r>
              <a:rPr lang="en-US" altLang="zh-CN" sz="1600" b="0">
                <a:latin typeface="Arial" panose="020B0604020202020204" pitchFamily="34" charset="0"/>
              </a:rPr>
              <a:t>”</a:t>
            </a:r>
            <a:r>
              <a:rPr lang="en-US" altLang="zh-CN" sz="1600" b="0"/>
              <a:t>);scanf(</a:t>
            </a:r>
            <a:r>
              <a:rPr lang="en-US" altLang="zh-CN" sz="1600" b="0">
                <a:latin typeface="Arial" panose="020B0604020202020204" pitchFamily="34" charset="0"/>
              </a:rPr>
              <a:t>”</a:t>
            </a:r>
            <a:r>
              <a:rPr lang="en-US" altLang="zh-CN" sz="1600" b="0"/>
              <a:t>%s%*c</a:t>
            </a:r>
            <a:r>
              <a:rPr lang="en-US" altLang="zh-CN" sz="1600" b="0">
                <a:latin typeface="Arial" panose="020B0604020202020204" pitchFamily="34" charset="0"/>
              </a:rPr>
              <a:t>”</a:t>
            </a:r>
            <a:r>
              <a:rPr lang="en-US" altLang="zh-CN" sz="1600" b="0"/>
              <a:t>,fname);</a:t>
            </a:r>
          </a:p>
          <a:p>
            <a:pPr marL="914400" lvl="1" indent="-457200" eaLnBrk="1" hangingPunct="1">
              <a:buFont typeface="Wingdings" pitchFamily="2" charset="2"/>
              <a:buAutoNum type="arabicPeriod"/>
            </a:pPr>
            <a:r>
              <a:rPr lang="en-US" altLang="zh-CN" sz="1600" b="0"/>
              <a:t>  fp=fopen(fname,"w"); </a:t>
            </a:r>
            <a:r>
              <a:rPr lang="en-US" altLang="zh-CN" sz="1600" b="0">
                <a:solidFill>
                  <a:schemeClr val="folHlink"/>
                </a:solidFill>
              </a:rPr>
              <a:t>/* </a:t>
            </a:r>
            <a:r>
              <a:rPr lang="zh-CN" altLang="en-US" sz="1600" b="0">
                <a:solidFill>
                  <a:schemeClr val="folHlink"/>
                </a:solidFill>
              </a:rPr>
              <a:t>以写方式打开正文文件 *</a:t>
            </a:r>
            <a:r>
              <a:rPr lang="en-US" altLang="zh-CN" sz="1600" b="0">
                <a:solidFill>
                  <a:schemeClr val="folHlink"/>
                </a:solidFill>
              </a:rPr>
              <a:t>/</a:t>
            </a:r>
          </a:p>
          <a:p>
            <a:pPr marL="914400" lvl="1" indent="-457200" eaLnBrk="1" hangingPunct="1">
              <a:buFont typeface="Wingdings" pitchFamily="2" charset="2"/>
              <a:buAutoNum type="arabicPeriod"/>
            </a:pPr>
            <a:r>
              <a:rPr lang="en-US" altLang="zh-CN" sz="1600" b="0"/>
              <a:t>  incount = outcount = 0;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8FFC4BD-0447-44E5-C439-4B8BD28D6002}"/>
              </a:ext>
            </a:extLst>
          </p:cNvPr>
          <p:cNvSpPr>
            <a:spLocks noGrp="1" noChangeArrowheads="1"/>
          </p:cNvSpPr>
          <p:nvPr>
            <p:ph type="title"/>
          </p:nvPr>
        </p:nvSpPr>
        <p:spPr/>
        <p:txBody>
          <a:bodyPr/>
          <a:lstStyle/>
          <a:p>
            <a:pPr eaLnBrk="1" hangingPunct="1"/>
            <a:r>
              <a:rPr lang="zh-CN" altLang="en-US"/>
              <a:t>程序</a:t>
            </a:r>
            <a:r>
              <a:rPr lang="en-US" altLang="zh-CN"/>
              <a:t>8.2</a:t>
            </a:r>
            <a:r>
              <a:rPr lang="zh-CN" altLang="en-US"/>
              <a:t>（续）</a:t>
            </a:r>
            <a:endParaRPr lang="zh-CN" altLang="zh-CN"/>
          </a:p>
        </p:txBody>
      </p:sp>
      <p:sp>
        <p:nvSpPr>
          <p:cNvPr id="29699" name="Rectangle 3">
            <a:extLst>
              <a:ext uri="{FF2B5EF4-FFF2-40B4-BE49-F238E27FC236}">
                <a16:creationId xmlns:a16="http://schemas.microsoft.com/office/drawing/2014/main" id="{57667E5E-E7ED-AF64-061C-6FFF14782C63}"/>
              </a:ext>
            </a:extLst>
          </p:cNvPr>
          <p:cNvSpPr>
            <a:spLocks noGrp="1" noChangeArrowheads="1"/>
          </p:cNvSpPr>
          <p:nvPr>
            <p:ph type="body" idx="1"/>
          </p:nvPr>
        </p:nvSpPr>
        <p:spPr>
          <a:xfrm>
            <a:off x="971600" y="1700808"/>
            <a:ext cx="7772400" cy="4114800"/>
          </a:xfrm>
        </p:spPr>
        <p:txBody>
          <a:bodyPr/>
          <a:lstStyle/>
          <a:p>
            <a:pPr marL="990600" lvl="1" indent="-533400" eaLnBrk="1" hangingPunct="1">
              <a:lnSpc>
                <a:spcPct val="90000"/>
              </a:lnSpc>
              <a:buFont typeface="Wingdings" pitchFamily="2" charset="2"/>
              <a:buAutoNum type="arabicPeriod" startAt="10"/>
            </a:pPr>
            <a:r>
              <a:rPr lang="en-US" altLang="zh-CN" sz="1400" b="0"/>
              <a:t> while((ch=fgetc(stdin))!=</a:t>
            </a:r>
            <a:r>
              <a:rPr lang="en-US" altLang="zh-CN" sz="1400" b="0">
                <a:latin typeface="Arial" panose="020B0604020202020204" pitchFamily="34" charset="0"/>
              </a:rPr>
              <a:t>’</a:t>
            </a:r>
            <a:r>
              <a:rPr lang="en-US" altLang="zh-CN" sz="1400" b="0"/>
              <a:t>\n</a:t>
            </a:r>
            <a:r>
              <a:rPr lang="en-US" altLang="zh-CN" sz="1400" b="0">
                <a:latin typeface="Arial" panose="020B0604020202020204" pitchFamily="34" charset="0"/>
              </a:rPr>
              <a:t>’</a:t>
            </a:r>
            <a:r>
              <a:rPr lang="en-US" altLang="zh-CN" sz="1400" b="0"/>
              <a:t>) { </a:t>
            </a:r>
            <a:r>
              <a:rPr lang="en-US" altLang="zh-CN" sz="1400" b="0">
                <a:solidFill>
                  <a:schemeClr val="folHlink"/>
                </a:solidFill>
              </a:rPr>
              <a:t>/* </a:t>
            </a:r>
            <a:r>
              <a:rPr lang="zh-CN" altLang="en-US" sz="1400" b="0">
                <a:solidFill>
                  <a:schemeClr val="folHlink"/>
                </a:solidFill>
              </a:rPr>
              <a:t>逐行处理 *</a:t>
            </a:r>
            <a:r>
              <a:rPr lang="en-US" altLang="zh-CN" sz="1400" b="0">
                <a:solidFill>
                  <a:schemeClr val="folHlink"/>
                </a:solidFill>
              </a:rPr>
              <a: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incount++; pre_d = ch &gt;= </a:t>
            </a:r>
            <a:r>
              <a:rPr lang="en-US" altLang="zh-CN" sz="1400" b="0">
                <a:latin typeface="Arial" panose="020B0604020202020204" pitchFamily="34" charset="0"/>
              </a:rPr>
              <a:t>’</a:t>
            </a:r>
            <a:r>
              <a:rPr lang="en-US" altLang="zh-CN" sz="1400" b="0"/>
              <a:t>0</a:t>
            </a:r>
            <a:r>
              <a:rPr lang="en-US" altLang="zh-CN" sz="1400" b="0">
                <a:latin typeface="Arial" panose="020B0604020202020204" pitchFamily="34" charset="0"/>
              </a:rPr>
              <a:t>’</a:t>
            </a:r>
            <a:r>
              <a:rPr lang="en-US" altLang="zh-CN" sz="1400" b="0"/>
              <a:t> &amp;&amp; ch &lt;= </a:t>
            </a:r>
            <a:r>
              <a:rPr lang="en-US" altLang="zh-CN" sz="1400" b="0">
                <a:latin typeface="Arial" panose="020B0604020202020204" pitchFamily="34" charset="0"/>
              </a:rPr>
              <a:t>’</a:t>
            </a:r>
            <a:r>
              <a:rPr lang="en-US" altLang="zh-CN" sz="1400" b="0"/>
              <a:t>9</a:t>
            </a:r>
            <a:r>
              <a:rPr lang="en-US" altLang="zh-CN" sz="1400" b="0">
                <a:latin typeface="Arial" panose="020B0604020202020204" pitchFamily="34" charset="0"/>
              </a:rPr>
              <a:t>’</a:t>
            </a:r>
            <a:r>
              <a:rPr lang="en-US" altLang="zh-CN" sz="1400" b="0"/>
              <a: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fputc(ch, fp); outcount++;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while ((ch = fgetc(stdin)) != </a:t>
            </a:r>
            <a:r>
              <a:rPr lang="en-US" altLang="zh-CN" sz="1400" b="0">
                <a:latin typeface="Arial" panose="020B0604020202020204" pitchFamily="34" charset="0"/>
              </a:rPr>
              <a:t>’</a:t>
            </a:r>
            <a:r>
              <a:rPr lang="en-US" altLang="zh-CN" sz="1400" b="0"/>
              <a:t>\n</a:t>
            </a:r>
            <a:r>
              <a:rPr lang="en-US" altLang="zh-CN" sz="1400" b="0">
                <a:latin typeface="Arial" panose="020B0604020202020204" pitchFamily="34" charset="0"/>
              </a:rPr>
              <a:t>’</a:t>
            </a:r>
            <a:r>
              <a:rPr lang="en-US" altLang="zh-CN" sz="1400" b="0"/>
              <a:t>) { </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incount++;  c_d = ch &gt;= </a:t>
            </a:r>
            <a:r>
              <a:rPr lang="en-US" altLang="zh-CN" sz="1400" b="0">
                <a:latin typeface="Arial" panose="020B0604020202020204" pitchFamily="34" charset="0"/>
              </a:rPr>
              <a:t>’</a:t>
            </a:r>
            <a:r>
              <a:rPr lang="en-US" altLang="zh-CN" sz="1400" b="0"/>
              <a:t>0</a:t>
            </a:r>
            <a:r>
              <a:rPr lang="en-US" altLang="zh-CN" sz="1400" b="0">
                <a:latin typeface="Arial" panose="020B0604020202020204" pitchFamily="34" charset="0"/>
              </a:rPr>
              <a:t>’</a:t>
            </a:r>
            <a:r>
              <a:rPr lang="en-US" altLang="zh-CN" sz="1400" b="0"/>
              <a:t> &amp;&amp; ch &lt;= </a:t>
            </a:r>
            <a:r>
              <a:rPr lang="en-US" altLang="zh-CN" sz="1400" b="0">
                <a:latin typeface="Arial" panose="020B0604020202020204" pitchFamily="34" charset="0"/>
              </a:rPr>
              <a:t>’</a:t>
            </a:r>
            <a:r>
              <a:rPr lang="en-US" altLang="zh-CN" sz="1400" b="0"/>
              <a:t>9</a:t>
            </a:r>
            <a:r>
              <a:rPr lang="en-US" altLang="zh-CN" sz="1400" b="0">
                <a:latin typeface="Arial" panose="020B0604020202020204" pitchFamily="34" charset="0"/>
              </a:rPr>
              <a:t>’</a:t>
            </a:r>
            <a:r>
              <a:rPr lang="en-US" altLang="zh-CN" sz="1400" b="0"/>
              <a: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if (c_d != pre_d) {</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fputc(INT_CH, fp);  pre_d = c_d;</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outcount++;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fputc(ch, fp);    outcount++;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incount++;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fputc(ch, fp);  </a:t>
            </a:r>
            <a:r>
              <a:rPr lang="en-US" altLang="zh-CN" sz="1400" b="0">
                <a:solidFill>
                  <a:schemeClr val="folHlink"/>
                </a:solidFill>
              </a:rPr>
              <a:t>/* </a:t>
            </a:r>
            <a:r>
              <a:rPr lang="zh-CN" altLang="en-US" sz="1400" b="0">
                <a:solidFill>
                  <a:schemeClr val="folHlink"/>
                </a:solidFill>
              </a:rPr>
              <a:t>输出换行符 *</a:t>
            </a:r>
            <a:r>
              <a:rPr lang="en-US" altLang="zh-CN" sz="1400" b="0">
                <a:solidFill>
                  <a:schemeClr val="folHlink"/>
                </a:solidFill>
              </a:rPr>
              <a:t>/</a:t>
            </a:r>
          </a:p>
          <a:p>
            <a:pPr marL="990600" lvl="1" indent="-533400" eaLnBrk="1" hangingPunct="1">
              <a:lnSpc>
                <a:spcPct val="90000"/>
              </a:lnSpc>
              <a:buFont typeface="Wingdings" pitchFamily="2" charset="2"/>
              <a:buAutoNum type="arabicPeriod" startAt="10"/>
            </a:pPr>
            <a:r>
              <a:rPr lang="en-US" altLang="zh-CN" sz="1400" b="0"/>
              <a:t>   </a:t>
            </a:r>
            <a:r>
              <a:rPr lang="zh-CN" altLang="en-US" sz="1400" b="0"/>
              <a:t>    </a:t>
            </a:r>
            <a:r>
              <a:rPr lang="en-US" altLang="zh-CN" sz="1400" b="0"/>
              <a:t>outcount++;</a:t>
            </a:r>
          </a:p>
          <a:p>
            <a:pPr marL="990600" lvl="1" indent="-533400" eaLnBrk="1" hangingPunct="1">
              <a:lnSpc>
                <a:spcPct val="90000"/>
              </a:lnSpc>
              <a:buFont typeface="Wingdings" pitchFamily="2" charset="2"/>
              <a:buAutoNum type="arabicPeriod" startAt="10"/>
            </a:pPr>
            <a:r>
              <a:rPr lang="en-US" altLang="zh-CN" sz="1400" b="0"/>
              <a:t>  }</a:t>
            </a:r>
          </a:p>
          <a:p>
            <a:pPr marL="990600" lvl="1" indent="-533400" eaLnBrk="1" hangingPunct="1">
              <a:lnSpc>
                <a:spcPct val="90000"/>
              </a:lnSpc>
              <a:buFont typeface="Wingdings" pitchFamily="2" charset="2"/>
              <a:buAutoNum type="arabicPeriod" startAt="10"/>
            </a:pPr>
            <a:r>
              <a:rPr lang="en-US" altLang="zh-CN" sz="1400" b="0"/>
              <a:t>  incount++;</a:t>
            </a:r>
          </a:p>
          <a:p>
            <a:pPr marL="990600" lvl="1" indent="-533400" eaLnBrk="1" hangingPunct="1">
              <a:lnSpc>
                <a:spcPct val="90000"/>
              </a:lnSpc>
              <a:buFont typeface="Wingdings" pitchFamily="2" charset="2"/>
              <a:buAutoNum type="arabicPeriod" startAt="10"/>
            </a:pPr>
            <a:r>
              <a:rPr lang="en-US" altLang="zh-CN" sz="1400" b="0"/>
              <a:t>  fclose(fp);</a:t>
            </a:r>
          </a:p>
          <a:p>
            <a:pPr marL="990600" lvl="1" indent="-533400" eaLnBrk="1" hangingPunct="1">
              <a:lnSpc>
                <a:spcPct val="90000"/>
              </a:lnSpc>
              <a:buFont typeface="Wingdings" pitchFamily="2" charset="2"/>
              <a:buAutoNum type="arabicPeriod" startAt="10"/>
            </a:pPr>
            <a:r>
              <a:rPr lang="en-US" altLang="zh-CN" sz="1400" b="0"/>
              <a:t>  </a:t>
            </a:r>
            <a:r>
              <a:rPr lang="en-US" altLang="zh-CN" sz="1400" b="0">
                <a:solidFill>
                  <a:schemeClr val="folHlink"/>
                </a:solidFill>
              </a:rPr>
              <a:t>/* </a:t>
            </a:r>
            <a:r>
              <a:rPr lang="zh-CN" altLang="en-US" sz="1400" b="0">
                <a:solidFill>
                  <a:schemeClr val="folHlink"/>
                </a:solidFill>
              </a:rPr>
              <a:t>输出处理结果 *</a:t>
            </a:r>
            <a:r>
              <a:rPr lang="en-US" altLang="zh-CN" sz="1400" b="0">
                <a:solidFill>
                  <a:schemeClr val="folHlink"/>
                </a:solidFill>
              </a:rPr>
              <a:t>/</a:t>
            </a:r>
          </a:p>
          <a:p>
            <a:pPr marL="990600" lvl="1" indent="-533400" eaLnBrk="1" hangingPunct="1">
              <a:lnSpc>
                <a:spcPct val="90000"/>
              </a:lnSpc>
              <a:buFont typeface="Wingdings" pitchFamily="2" charset="2"/>
              <a:buAutoNum type="arabicPeriod" startAt="10"/>
            </a:pPr>
            <a:r>
              <a:rPr lang="en-US" altLang="zh-CN" sz="1400" b="0"/>
              <a:t>  printf(</a:t>
            </a:r>
            <a:r>
              <a:rPr lang="en-US" altLang="zh-CN" sz="1400" b="0">
                <a:latin typeface="Arial" panose="020B0604020202020204" pitchFamily="34" charset="0"/>
              </a:rPr>
              <a:t>“</a:t>
            </a:r>
            <a:r>
              <a:rPr lang="zh-CN" altLang="en-US" sz="1400" b="0"/>
              <a:t>共输入 </a:t>
            </a:r>
            <a:r>
              <a:rPr lang="en-US" altLang="zh-CN" sz="1400" b="0"/>
              <a:t>%d </a:t>
            </a:r>
            <a:r>
              <a:rPr lang="zh-CN" altLang="en-US" sz="1400" b="0"/>
              <a:t>个字符，输出 </a:t>
            </a:r>
            <a:r>
              <a:rPr lang="en-US" altLang="zh-CN" sz="1400" b="0"/>
              <a:t>%d </a:t>
            </a:r>
            <a:r>
              <a:rPr lang="zh-CN" altLang="en-US" sz="1400" b="0"/>
              <a:t>个字符。</a:t>
            </a:r>
            <a:r>
              <a:rPr lang="en-US" altLang="zh-CN" sz="1400" b="0"/>
              <a:t>\n</a:t>
            </a:r>
            <a:r>
              <a:rPr lang="en-US" altLang="zh-CN" sz="1400" b="0">
                <a:latin typeface="Arial" panose="020B0604020202020204" pitchFamily="34" charset="0"/>
              </a:rPr>
              <a:t>”</a:t>
            </a:r>
            <a:r>
              <a:rPr lang="en-US" altLang="zh-CN" sz="1400" b="0"/>
              <a:t>,</a:t>
            </a:r>
            <a:br>
              <a:rPr lang="en-US" altLang="zh-CN" sz="1400" b="0"/>
            </a:br>
            <a:r>
              <a:rPr lang="en-US" altLang="zh-CN" sz="1400" b="0"/>
              <a:t>           incount, outcount);</a:t>
            </a:r>
          </a:p>
          <a:p>
            <a:pPr marL="990600" lvl="1" indent="-533400" eaLnBrk="1" hangingPunct="1">
              <a:lnSpc>
                <a:spcPct val="90000"/>
              </a:lnSpc>
              <a:buFont typeface="Wingdings" pitchFamily="2" charset="2"/>
              <a:buAutoNum type="arabicPeriod" startAt="10"/>
            </a:pPr>
            <a:r>
              <a:rPr lang="en-US" altLang="zh-CN" sz="1400" b="0"/>
              <a:t>}</a:t>
            </a:r>
            <a:endParaRPr lang="en-US" altLang="zh-CN" sz="1800" b="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DFAD05B-5450-F8DF-29A8-BD34F3A25378}"/>
              </a:ext>
            </a:extLst>
          </p:cNvPr>
          <p:cNvSpPr>
            <a:spLocks noGrp="1" noChangeArrowheads="1"/>
          </p:cNvSpPr>
          <p:nvPr>
            <p:ph type="title"/>
          </p:nvPr>
        </p:nvSpPr>
        <p:spPr/>
        <p:txBody>
          <a:bodyPr/>
          <a:lstStyle/>
          <a:p>
            <a:pPr eaLnBrk="1" hangingPunct="1"/>
            <a:r>
              <a:rPr lang="zh-CN" altLang="en-US"/>
              <a:t>参照已知文件，生成新文件</a:t>
            </a:r>
          </a:p>
        </p:txBody>
      </p:sp>
      <p:sp>
        <p:nvSpPr>
          <p:cNvPr id="30723" name="Rectangle 3">
            <a:extLst>
              <a:ext uri="{FF2B5EF4-FFF2-40B4-BE49-F238E27FC236}">
                <a16:creationId xmlns:a16="http://schemas.microsoft.com/office/drawing/2014/main" id="{B7A18D8D-D451-A7D8-33AE-F44C84D53F18}"/>
              </a:ext>
            </a:extLst>
          </p:cNvPr>
          <p:cNvSpPr>
            <a:spLocks noGrp="1" noChangeArrowheads="1"/>
          </p:cNvSpPr>
          <p:nvPr>
            <p:ph type="body" idx="1"/>
          </p:nvPr>
        </p:nvSpPr>
        <p:spPr>
          <a:xfrm>
            <a:off x="827088" y="1844823"/>
            <a:ext cx="7561336" cy="4287689"/>
          </a:xfrm>
        </p:spPr>
        <p:txBody>
          <a:bodyPr/>
          <a:lstStyle/>
          <a:p>
            <a:pPr algn="just" eaLnBrk="1" hangingPunct="1"/>
            <a:r>
              <a:rPr lang="zh-CN" altLang="en-US" b="0"/>
              <a:t>参照已知文件，生成新文件，需同时打开两个文件，一个用于读，另一个用于写。</a:t>
            </a:r>
            <a:endParaRPr lang="en-US" altLang="zh-CN" b="0"/>
          </a:p>
          <a:p>
            <a:pPr algn="just" eaLnBrk="1" hangingPunct="1"/>
            <a:r>
              <a:rPr lang="zh-CN" altLang="en-US" b="0"/>
              <a:t>以读文件的状态为循环控制条件。在循环过程中，程序将读入内容作某种处理后生成新的内容输出到新文件。</a:t>
            </a:r>
          </a:p>
          <a:p>
            <a:pPr algn="just" eaLnBrk="1" hangingPunct="1"/>
            <a:endParaRPr lang="en-US" altLang="zh-CN" b="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2E38139-0062-08A2-C3D8-1FFD5A85CA2E}"/>
              </a:ext>
            </a:extLst>
          </p:cNvPr>
          <p:cNvSpPr>
            <a:spLocks noGrp="1" noChangeArrowheads="1"/>
          </p:cNvSpPr>
          <p:nvPr>
            <p:ph type="title"/>
          </p:nvPr>
        </p:nvSpPr>
        <p:spPr/>
        <p:txBody>
          <a:bodyPr/>
          <a:lstStyle/>
          <a:p>
            <a:pPr eaLnBrk="1" hangingPunct="1"/>
            <a:r>
              <a:rPr lang="zh-CN" altLang="en-US"/>
              <a:t>程序</a:t>
            </a:r>
            <a:r>
              <a:rPr lang="en-US" altLang="zh-CN"/>
              <a:t>8.3(*)</a:t>
            </a:r>
          </a:p>
        </p:txBody>
      </p:sp>
      <p:sp>
        <p:nvSpPr>
          <p:cNvPr id="31747" name="Rectangle 3">
            <a:extLst>
              <a:ext uri="{FF2B5EF4-FFF2-40B4-BE49-F238E27FC236}">
                <a16:creationId xmlns:a16="http://schemas.microsoft.com/office/drawing/2014/main" id="{834957BD-298B-68B8-AF5D-AD6CFAF8FA72}"/>
              </a:ext>
            </a:extLst>
          </p:cNvPr>
          <p:cNvSpPr>
            <a:spLocks noGrp="1" noChangeArrowheads="1"/>
          </p:cNvSpPr>
          <p:nvPr>
            <p:ph type="body" idx="1"/>
          </p:nvPr>
        </p:nvSpPr>
        <p:spPr>
          <a:xfrm>
            <a:off x="827088" y="1628775"/>
            <a:ext cx="7793037" cy="4503738"/>
          </a:xfrm>
        </p:spPr>
        <p:txBody>
          <a:bodyPr/>
          <a:lstStyle/>
          <a:p>
            <a:pPr marL="533400" indent="-533400" eaLnBrk="1" hangingPunct="1"/>
            <a:r>
              <a:rPr lang="en-US" altLang="zh-CN" sz="1800" b="0"/>
              <a:t>【</a:t>
            </a:r>
            <a:r>
              <a:rPr lang="zh-CN" altLang="en-US" sz="1800" b="0"/>
              <a:t>程序</a:t>
            </a:r>
            <a:r>
              <a:rPr lang="en-US" altLang="zh-CN" sz="1800" b="0"/>
              <a:t>8.3】</a:t>
            </a:r>
            <a:r>
              <a:rPr lang="zh-CN" altLang="en-US" sz="1800" b="0"/>
              <a:t>逐行复制已知原文件，生成新文件。要求新文件是行定长文件，即新文件的每行字符个数保持一样多。为此，程序逐行复制文件，当源文件的一行字符不足时，用空白符补充；当源文件一行字符太长时，就被截制成定长的多行复制。</a:t>
            </a:r>
          </a:p>
          <a:p>
            <a:pPr marL="914400" lvl="1" indent="-457200" eaLnBrk="1" hangingPunct="1">
              <a:buFont typeface="Wingdings" pitchFamily="2" charset="2"/>
              <a:buAutoNum type="arabicPeriod"/>
            </a:pPr>
            <a:r>
              <a:rPr lang="en-US" altLang="zh-CN" sz="1600" b="0"/>
              <a:t>#include  &lt;stdio.h&gt;</a:t>
            </a:r>
          </a:p>
          <a:p>
            <a:pPr marL="914400" lvl="1" indent="-457200" eaLnBrk="1" hangingPunct="1">
              <a:buFont typeface="Wingdings" pitchFamily="2" charset="2"/>
              <a:buAutoNum type="arabicPeriod"/>
            </a:pPr>
            <a:r>
              <a:rPr lang="en-US" altLang="zh-CN" sz="1600" b="0"/>
              <a:t>#define  LEN 30</a:t>
            </a:r>
          </a:p>
          <a:p>
            <a:pPr marL="914400" lvl="1" indent="-457200" eaLnBrk="1" hangingPunct="1">
              <a:buFont typeface="Wingdings" pitchFamily="2" charset="2"/>
              <a:buAutoNum type="arabicPeriod"/>
            </a:pPr>
            <a:r>
              <a:rPr lang="en-US" altLang="zh-CN" sz="1600" b="0"/>
              <a:t>FILE *rfp, *wfp;</a:t>
            </a:r>
          </a:p>
          <a:p>
            <a:pPr marL="914400" lvl="1" indent="-457200" eaLnBrk="1" hangingPunct="1">
              <a:buFont typeface="Wingdings" pitchFamily="2" charset="2"/>
              <a:buAutoNum type="arabicPeriod"/>
            </a:pPr>
            <a:r>
              <a:rPr lang="en-US" altLang="zh-CN" sz="1600" b="0"/>
              <a:t>int main(){</a:t>
            </a:r>
          </a:p>
          <a:p>
            <a:pPr marL="914400" lvl="1" indent="-457200" eaLnBrk="1" hangingPunct="1">
              <a:buFont typeface="Wingdings" pitchFamily="2" charset="2"/>
              <a:buAutoNum type="arabicPeriod"/>
            </a:pPr>
            <a:r>
              <a:rPr lang="en-US" altLang="zh-CN" sz="1600" b="0"/>
              <a:t>  int inlen, ch;  char rfname[40], wfname[40];</a:t>
            </a:r>
          </a:p>
          <a:p>
            <a:pPr marL="914400" lvl="1" indent="-457200" eaLnBrk="1" hangingPunct="1">
              <a:buFont typeface="Wingdings" pitchFamily="2" charset="2"/>
              <a:buAutoNum type="arabicPeriod"/>
            </a:pPr>
            <a:r>
              <a:rPr lang="en-US" altLang="zh-CN" sz="1600" b="0"/>
              <a:t>  printf("</a:t>
            </a:r>
            <a:r>
              <a:rPr lang="zh-CN" altLang="en-US" sz="1600" b="0"/>
              <a:t>输入源文件名</a:t>
            </a:r>
            <a:r>
              <a:rPr lang="en-US" altLang="zh-CN" sz="1600" b="0"/>
              <a:t>!\n");scanf("%s%*c",rfname);</a:t>
            </a:r>
          </a:p>
          <a:p>
            <a:pPr marL="914400" lvl="1" indent="-457200" eaLnBrk="1" hangingPunct="1">
              <a:buFont typeface="Wingdings" pitchFamily="2" charset="2"/>
              <a:buAutoNum type="arabicPeriod"/>
            </a:pPr>
            <a:r>
              <a:rPr lang="en-US" altLang="zh-CN" sz="1600" b="0"/>
              <a:t>  printf("</a:t>
            </a:r>
            <a:r>
              <a:rPr lang="zh-CN" altLang="en-US" sz="1600" b="0"/>
              <a:t>输入新文件名</a:t>
            </a:r>
            <a:r>
              <a:rPr lang="en-US" altLang="zh-CN" sz="1600" b="0"/>
              <a:t>!\n");scanf("%s%*c",wfname);</a:t>
            </a:r>
          </a:p>
          <a:p>
            <a:pPr marL="914400" lvl="1" indent="-457200" eaLnBrk="1" hangingPunct="1">
              <a:buFont typeface="Wingdings" pitchFamily="2" charset="2"/>
              <a:buAutoNum type="arabicPeriod"/>
            </a:pPr>
            <a:r>
              <a:rPr lang="en-US" altLang="zh-CN" sz="1600" b="0"/>
              <a:t>  wfp=fopen(wfname,"w");</a:t>
            </a:r>
            <a:r>
              <a:rPr lang="en-US" altLang="zh-CN" sz="1600" b="0">
                <a:solidFill>
                  <a:schemeClr val="folHlink"/>
                </a:solidFill>
              </a:rPr>
              <a:t>/*</a:t>
            </a:r>
            <a:r>
              <a:rPr lang="zh-CN" altLang="en-US" sz="1600" b="0">
                <a:solidFill>
                  <a:schemeClr val="folHlink"/>
                </a:solidFill>
              </a:rPr>
              <a:t>以写方式打开正文文件 *</a:t>
            </a:r>
            <a:r>
              <a:rPr lang="en-US" altLang="zh-CN" sz="1600" b="0">
                <a:solidFill>
                  <a:schemeClr val="folHlink"/>
                </a:solidFill>
              </a:rPr>
              <a:t>/</a:t>
            </a:r>
          </a:p>
          <a:p>
            <a:pPr marL="914400" lvl="1" indent="-457200" eaLnBrk="1" hangingPunct="1">
              <a:buFont typeface="Wingdings" pitchFamily="2" charset="2"/>
              <a:buAutoNum type="arabicPeriod"/>
            </a:pPr>
            <a:r>
              <a:rPr lang="en-US" altLang="zh-CN" sz="1600" b="0"/>
              <a:t>  if ((rfp = fopen(rfname, "r")) == NULL) {</a:t>
            </a:r>
          </a:p>
          <a:p>
            <a:pPr marL="914400" lvl="1" indent="-457200" eaLnBrk="1" hangingPunct="1">
              <a:buFont typeface="Wingdings" pitchFamily="2" charset="2"/>
              <a:buAutoNum type="arabicPeriod"/>
            </a:pPr>
            <a:r>
              <a:rPr lang="en-US" altLang="zh-CN" sz="1600" b="0"/>
              <a:t>      printf("</a:t>
            </a:r>
            <a:r>
              <a:rPr lang="zh-CN" altLang="en-US" sz="1600" b="0"/>
              <a:t>不能打开源文件 </a:t>
            </a:r>
            <a:r>
              <a:rPr lang="en-US" altLang="zh-CN" sz="1600" b="0"/>
              <a:t>%s.\n", rfname);</a:t>
            </a:r>
          </a:p>
          <a:p>
            <a:pPr marL="914400" lvl="1" indent="-457200" eaLnBrk="1" hangingPunct="1">
              <a:buFont typeface="Wingdings" pitchFamily="2" charset="2"/>
              <a:buAutoNum type="arabicPeriod"/>
            </a:pPr>
            <a:r>
              <a:rPr lang="en-US" altLang="zh-CN" sz="1600" b="0"/>
              <a:t>      return 1;</a:t>
            </a:r>
          </a:p>
          <a:p>
            <a:pPr marL="914400" lvl="1" indent="-457200" eaLnBrk="1" hangingPunct="1">
              <a:buFont typeface="Wingdings" pitchFamily="2" charset="2"/>
              <a:buAutoNum type="arabicPeriod"/>
            </a:pPr>
            <a:r>
              <a:rPr lang="en-US" altLang="zh-CN" sz="1600" b="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1473A8D-3042-8FED-891E-3D62B75FD3E6}"/>
              </a:ext>
            </a:extLst>
          </p:cNvPr>
          <p:cNvSpPr>
            <a:spLocks noGrp="1" noChangeArrowheads="1"/>
          </p:cNvSpPr>
          <p:nvPr>
            <p:ph type="title"/>
          </p:nvPr>
        </p:nvSpPr>
        <p:spPr/>
        <p:txBody>
          <a:bodyPr/>
          <a:lstStyle/>
          <a:p>
            <a:pPr eaLnBrk="1" hangingPunct="1"/>
            <a:endParaRPr lang="zh-CN" altLang="zh-CN"/>
          </a:p>
        </p:txBody>
      </p:sp>
      <p:sp>
        <p:nvSpPr>
          <p:cNvPr id="32771" name="Rectangle 3">
            <a:extLst>
              <a:ext uri="{FF2B5EF4-FFF2-40B4-BE49-F238E27FC236}">
                <a16:creationId xmlns:a16="http://schemas.microsoft.com/office/drawing/2014/main" id="{1752403D-0F78-5263-51B0-E63CFA34F650}"/>
              </a:ext>
            </a:extLst>
          </p:cNvPr>
          <p:cNvSpPr>
            <a:spLocks noGrp="1" noChangeArrowheads="1"/>
          </p:cNvSpPr>
          <p:nvPr>
            <p:ph type="body" idx="1"/>
          </p:nvPr>
        </p:nvSpPr>
        <p:spPr>
          <a:xfrm>
            <a:off x="971600" y="1556792"/>
            <a:ext cx="7772400" cy="5301208"/>
          </a:xfrm>
        </p:spPr>
        <p:txBody>
          <a:bodyPr/>
          <a:lstStyle/>
          <a:p>
            <a:pPr marL="990600" lvl="1" indent="-533400" eaLnBrk="1" hangingPunct="1">
              <a:lnSpc>
                <a:spcPct val="90000"/>
              </a:lnSpc>
              <a:buFont typeface="Wingdings" pitchFamily="2" charset="2"/>
              <a:buAutoNum type="arabicPeriod" startAt="13"/>
            </a:pPr>
            <a:r>
              <a:rPr lang="en-US" altLang="zh-CN" sz="1400" b="0"/>
              <a:t>while((ch = fgetc(rfp)) != EOF) { </a:t>
            </a:r>
          </a:p>
          <a:p>
            <a:pPr marL="990600" lvl="1" indent="-533400" eaLnBrk="1" hangingPunct="1">
              <a:lnSpc>
                <a:spcPct val="90000"/>
              </a:lnSpc>
              <a:buFont typeface="Wingdings" pitchFamily="2" charset="2"/>
              <a:buAutoNum type="arabicPeriod" startAt="13"/>
            </a:pPr>
            <a:r>
              <a:rPr lang="en-US" altLang="zh-CN" sz="1400" b="0"/>
              <a:t>   </a:t>
            </a:r>
            <a:r>
              <a:rPr lang="zh-CN" altLang="en-US" sz="1400" b="0"/>
              <a:t>  </a:t>
            </a:r>
            <a:r>
              <a:rPr lang="en-US" altLang="zh-CN" sz="1400" b="0"/>
              <a:t> inlen = 0;</a:t>
            </a:r>
          </a:p>
          <a:p>
            <a:pPr marL="990600" lvl="1" indent="-533400" eaLnBrk="1" hangingPunct="1">
              <a:lnSpc>
                <a:spcPct val="90000"/>
              </a:lnSpc>
              <a:buFont typeface="Wingdings" pitchFamily="2" charset="2"/>
              <a:buAutoNum type="arabicPeriod" startAt="13"/>
            </a:pPr>
            <a:r>
              <a:rPr lang="en-US" altLang="zh-CN" sz="1400" b="0"/>
              <a:t>    </a:t>
            </a:r>
            <a:r>
              <a:rPr lang="zh-CN" altLang="en-US" sz="1400" b="0"/>
              <a:t>  </a:t>
            </a:r>
            <a:r>
              <a:rPr lang="en-US" altLang="zh-CN" sz="1400" b="0"/>
              <a:t>while (ch != '\n') {</a:t>
            </a:r>
          </a:p>
          <a:p>
            <a:pPr marL="990600" lvl="1" indent="-533400" eaLnBrk="1" hangingPunct="1">
              <a:lnSpc>
                <a:spcPct val="90000"/>
              </a:lnSpc>
              <a:buFont typeface="Wingdings" pitchFamily="2" charset="2"/>
              <a:buAutoNum type="arabicPeriod" startAt="13"/>
            </a:pPr>
            <a:r>
              <a:rPr lang="en-US" altLang="zh-CN" sz="1400" b="0"/>
              <a:t>     	fputc(ch, wfp);     inlen++;</a:t>
            </a:r>
          </a:p>
          <a:p>
            <a:pPr marL="990600" lvl="1" indent="-533400" eaLnBrk="1" hangingPunct="1">
              <a:lnSpc>
                <a:spcPct val="90000"/>
              </a:lnSpc>
              <a:buFont typeface="Wingdings" pitchFamily="2" charset="2"/>
              <a:buAutoNum type="arabicPeriod" startAt="13"/>
            </a:pPr>
            <a:r>
              <a:rPr lang="en-US" altLang="zh-CN" sz="1400" b="0"/>
              <a:t>     	if (inlen == LEN) {  </a:t>
            </a:r>
            <a:r>
              <a:rPr lang="en-US" altLang="zh-CN" sz="1400" b="0">
                <a:solidFill>
                  <a:schemeClr val="folHlink"/>
                </a:solidFill>
              </a:rPr>
              <a:t>/* </a:t>
            </a:r>
            <a:r>
              <a:rPr lang="zh-CN" altLang="en-US" sz="1400" b="0">
                <a:solidFill>
                  <a:schemeClr val="folHlink"/>
                </a:solidFill>
              </a:rPr>
              <a:t>对太长的行作截制 *</a:t>
            </a:r>
            <a:r>
              <a:rPr lang="en-US" altLang="zh-CN" sz="1400" b="0">
                <a:solidFill>
                  <a:schemeClr val="folHlink"/>
                </a:solidFill>
              </a:rPr>
              <a:t>/</a:t>
            </a:r>
          </a:p>
          <a:p>
            <a:pPr marL="990600" lvl="1" indent="-533400" eaLnBrk="1" hangingPunct="1">
              <a:lnSpc>
                <a:spcPct val="90000"/>
              </a:lnSpc>
              <a:buFont typeface="Wingdings" pitchFamily="2" charset="2"/>
              <a:buAutoNum type="arabicPeriod" startAt="13"/>
            </a:pPr>
            <a:r>
              <a:rPr lang="en-US" altLang="zh-CN" sz="1400" b="0"/>
              <a:t>       		fputc('\n', wfp); </a:t>
            </a:r>
            <a:r>
              <a:rPr lang="en-US" altLang="zh-CN" sz="1400" b="0">
                <a:solidFill>
                  <a:schemeClr val="folHlink"/>
                </a:solidFill>
              </a:rPr>
              <a:t>/* </a:t>
            </a:r>
            <a:r>
              <a:rPr lang="zh-CN" altLang="en-US" sz="1400" b="0">
                <a:solidFill>
                  <a:schemeClr val="folHlink"/>
                </a:solidFill>
              </a:rPr>
              <a:t>换行 *</a:t>
            </a:r>
            <a:r>
              <a:rPr lang="en-US" altLang="zh-CN" sz="1400" b="0">
                <a:solidFill>
                  <a:schemeClr val="folHlink"/>
                </a:solidFill>
              </a:rPr>
              <a:t>/</a:t>
            </a:r>
          </a:p>
          <a:p>
            <a:pPr marL="990600" lvl="1" indent="-533400" eaLnBrk="1" hangingPunct="1">
              <a:lnSpc>
                <a:spcPct val="90000"/>
              </a:lnSpc>
              <a:buFont typeface="Wingdings" pitchFamily="2" charset="2"/>
              <a:buAutoNum type="arabicPeriod" startAt="13"/>
            </a:pPr>
            <a:r>
              <a:rPr lang="en-US" altLang="zh-CN" sz="1400" b="0"/>
              <a:t>      		 inlen = 0;</a:t>
            </a:r>
          </a:p>
          <a:p>
            <a:pPr marL="990600" lvl="1" indent="-533400" eaLnBrk="1" hangingPunct="1">
              <a:lnSpc>
                <a:spcPct val="90000"/>
              </a:lnSpc>
              <a:buFont typeface="Wingdings" pitchFamily="2" charset="2"/>
              <a:buAutoNum type="arabicPeriod" startAt="13"/>
            </a:pPr>
            <a:r>
              <a:rPr lang="en-US" altLang="zh-CN" sz="1400" b="0"/>
              <a:t>     	}</a:t>
            </a:r>
          </a:p>
          <a:p>
            <a:pPr marL="990600" lvl="1" indent="-533400" eaLnBrk="1" hangingPunct="1">
              <a:lnSpc>
                <a:spcPct val="90000"/>
              </a:lnSpc>
              <a:buFont typeface="Wingdings" pitchFamily="2" charset="2"/>
              <a:buAutoNum type="arabicPeriod" startAt="13"/>
            </a:pPr>
            <a:r>
              <a:rPr lang="en-US" altLang="zh-CN" sz="1400" b="0"/>
              <a:t>     	ch = fgetc(rfp);</a:t>
            </a:r>
          </a:p>
          <a:p>
            <a:pPr marL="990600" lvl="1" indent="-533400" eaLnBrk="1" hangingPunct="1">
              <a:lnSpc>
                <a:spcPct val="90000"/>
              </a:lnSpc>
              <a:buFont typeface="Wingdings" pitchFamily="2" charset="2"/>
              <a:buAutoNum type="arabicPeriod" startAt="13"/>
            </a:pPr>
            <a:r>
              <a:rPr lang="en-US" altLang="zh-CN" sz="1400" b="0"/>
              <a:t>   </a:t>
            </a:r>
            <a:r>
              <a:rPr lang="zh-CN" altLang="en-US" sz="1400" b="0"/>
              <a:t>   </a:t>
            </a:r>
            <a:r>
              <a:rPr lang="en-US" altLang="zh-CN" sz="1400" b="0"/>
              <a:t>}</a:t>
            </a:r>
          </a:p>
          <a:p>
            <a:pPr marL="990600" lvl="1" indent="-533400" eaLnBrk="1" hangingPunct="1">
              <a:lnSpc>
                <a:spcPct val="90000"/>
              </a:lnSpc>
              <a:buFont typeface="Wingdings" pitchFamily="2" charset="2"/>
              <a:buAutoNum type="arabicPeriod" startAt="13"/>
            </a:pPr>
            <a:r>
              <a:rPr lang="en-US" altLang="zh-CN" sz="1400" b="0"/>
              <a:t>   </a:t>
            </a:r>
            <a:r>
              <a:rPr lang="zh-CN" altLang="en-US" sz="1400" b="0"/>
              <a:t>   </a:t>
            </a:r>
            <a:r>
              <a:rPr lang="en-US" altLang="zh-CN" sz="1400" b="0"/>
              <a:t>if(inlen){ </a:t>
            </a:r>
            <a:r>
              <a:rPr lang="en-US" altLang="zh-CN" sz="1400" b="0">
                <a:solidFill>
                  <a:schemeClr val="folHlink"/>
                </a:solidFill>
              </a:rPr>
              <a:t>/* </a:t>
            </a:r>
            <a:r>
              <a:rPr lang="zh-CN" altLang="en-US" sz="1400" b="0">
                <a:solidFill>
                  <a:schemeClr val="folHlink"/>
                </a:solidFill>
              </a:rPr>
              <a:t>可能一行的最后一段不足定长要求 *</a:t>
            </a:r>
            <a:r>
              <a:rPr lang="en-US" altLang="zh-CN" sz="1400" b="0">
                <a:solidFill>
                  <a:schemeClr val="folHlink"/>
                </a:solidFill>
              </a:rPr>
              <a:t>/</a:t>
            </a:r>
          </a:p>
          <a:p>
            <a:pPr marL="990600" lvl="1" indent="-533400" eaLnBrk="1" hangingPunct="1">
              <a:lnSpc>
                <a:spcPct val="90000"/>
              </a:lnSpc>
              <a:buFont typeface="Wingdings" pitchFamily="2" charset="2"/>
              <a:buAutoNum type="arabicPeriod" startAt="13"/>
            </a:pPr>
            <a:r>
              <a:rPr lang="en-US" altLang="zh-CN" sz="1400" b="0"/>
              <a:t>     	while (inlen++ &lt; LEN)  fputc(' ', wfp); </a:t>
            </a:r>
          </a:p>
          <a:p>
            <a:pPr marL="990600" lvl="1" indent="-533400" eaLnBrk="1" hangingPunct="1">
              <a:lnSpc>
                <a:spcPct val="90000"/>
              </a:lnSpc>
              <a:buFont typeface="Wingdings" pitchFamily="2" charset="2"/>
              <a:buAutoNum type="arabicPeriod" startAt="13"/>
            </a:pPr>
            <a:r>
              <a:rPr lang="en-US" altLang="zh-CN" sz="1400" b="0"/>
              <a:t>     	fputc(</a:t>
            </a:r>
            <a:r>
              <a:rPr lang="en-US" altLang="zh-CN" sz="1400" b="0">
                <a:latin typeface="Arial" panose="020B0604020202020204" pitchFamily="34" charset="0"/>
              </a:rPr>
              <a:t>‘</a:t>
            </a:r>
            <a:r>
              <a:rPr lang="en-US" altLang="zh-CN" sz="1400" b="0"/>
              <a:t>\n</a:t>
            </a:r>
            <a:r>
              <a:rPr lang="en-US" altLang="zh-CN" sz="1400" b="0">
                <a:latin typeface="Arial" panose="020B0604020202020204" pitchFamily="34" charset="0"/>
              </a:rPr>
              <a:t>’</a:t>
            </a:r>
            <a:r>
              <a:rPr lang="en-US" altLang="zh-CN" sz="1400" b="0"/>
              <a:t>, wfp); </a:t>
            </a:r>
            <a:r>
              <a:rPr lang="en-US" altLang="zh-CN" sz="1400" b="0">
                <a:solidFill>
                  <a:schemeClr val="folHlink"/>
                </a:solidFill>
              </a:rPr>
              <a:t>/* </a:t>
            </a:r>
            <a:r>
              <a:rPr lang="zh-CN" altLang="en-US" sz="1400" b="0">
                <a:solidFill>
                  <a:schemeClr val="folHlink"/>
                </a:solidFill>
              </a:rPr>
              <a:t>换行 *</a:t>
            </a:r>
            <a:r>
              <a:rPr lang="en-US" altLang="zh-CN" sz="1400" b="0">
                <a:solidFill>
                  <a:schemeClr val="folHlink"/>
                </a:solidFill>
              </a:rPr>
              <a:t>/ </a:t>
            </a:r>
            <a:r>
              <a:rPr lang="en-US" altLang="zh-CN" sz="1400" b="0"/>
              <a:t> inlen = 0;</a:t>
            </a:r>
          </a:p>
          <a:p>
            <a:pPr marL="990600" lvl="1" indent="-533400" eaLnBrk="1" hangingPunct="1">
              <a:lnSpc>
                <a:spcPct val="90000"/>
              </a:lnSpc>
              <a:buFont typeface="Wingdings" pitchFamily="2" charset="2"/>
              <a:buAutoNum type="arabicPeriod" startAt="13"/>
            </a:pPr>
            <a:r>
              <a:rPr lang="en-US" altLang="zh-CN" sz="1400" b="0"/>
              <a:t>   </a:t>
            </a:r>
            <a:r>
              <a:rPr lang="zh-CN" altLang="en-US" sz="1400" b="0"/>
              <a:t>   </a:t>
            </a:r>
            <a:r>
              <a:rPr lang="en-US" altLang="zh-CN" sz="1400" b="0"/>
              <a:t>}</a:t>
            </a:r>
          </a:p>
          <a:p>
            <a:pPr marL="990600" lvl="1" indent="-533400" eaLnBrk="1" hangingPunct="1">
              <a:lnSpc>
                <a:spcPct val="90000"/>
              </a:lnSpc>
              <a:buFont typeface="Wingdings" pitchFamily="2" charset="2"/>
              <a:buAutoNum type="arabicPeriod" startAt="13"/>
            </a:pPr>
            <a:r>
              <a:rPr lang="en-US" altLang="zh-CN" sz="1400" b="0"/>
              <a:t> }</a:t>
            </a:r>
          </a:p>
          <a:p>
            <a:pPr marL="990600" lvl="1" indent="-533400" eaLnBrk="1" hangingPunct="1">
              <a:lnSpc>
                <a:spcPct val="90000"/>
              </a:lnSpc>
              <a:buFont typeface="Wingdings" pitchFamily="2" charset="2"/>
              <a:buAutoNum type="arabicPeriod" startAt="13"/>
            </a:pPr>
            <a:r>
              <a:rPr lang="en-US" altLang="zh-CN" sz="1400" b="0"/>
              <a:t> if (inlen) { </a:t>
            </a:r>
            <a:r>
              <a:rPr lang="en-US" altLang="zh-CN" sz="1400" b="0">
                <a:solidFill>
                  <a:schemeClr val="folHlink"/>
                </a:solidFill>
              </a:rPr>
              <a:t> /* </a:t>
            </a:r>
            <a:r>
              <a:rPr lang="zh-CN" altLang="en-US" sz="1400" b="0">
                <a:solidFill>
                  <a:schemeClr val="folHlink"/>
                </a:solidFill>
              </a:rPr>
              <a:t>可能最后一行不足定长要求 *</a:t>
            </a:r>
            <a:r>
              <a:rPr lang="en-US" altLang="zh-CN" sz="1400" b="0">
                <a:solidFill>
                  <a:schemeClr val="folHlink"/>
                </a:solidFill>
              </a:rPr>
              <a:t>/</a:t>
            </a:r>
          </a:p>
          <a:p>
            <a:pPr marL="990600" lvl="1" indent="-533400" eaLnBrk="1" hangingPunct="1">
              <a:lnSpc>
                <a:spcPct val="90000"/>
              </a:lnSpc>
              <a:buFont typeface="Wingdings" pitchFamily="2" charset="2"/>
              <a:buAutoNum type="arabicPeriod" startAt="13"/>
            </a:pPr>
            <a:r>
              <a:rPr lang="en-US" altLang="zh-CN" sz="1400" b="0"/>
              <a:t>   </a:t>
            </a:r>
            <a:r>
              <a:rPr lang="zh-CN" altLang="en-US" sz="1400" b="0"/>
              <a:t>  </a:t>
            </a:r>
            <a:r>
              <a:rPr lang="en-US" altLang="zh-CN" sz="1400" b="0"/>
              <a:t>while (inlen++ &lt; LEN) fputc(' ', wfp);</a:t>
            </a:r>
          </a:p>
          <a:p>
            <a:pPr marL="990600" lvl="1" indent="-533400" eaLnBrk="1" hangingPunct="1">
              <a:lnSpc>
                <a:spcPct val="90000"/>
              </a:lnSpc>
              <a:buFont typeface="Wingdings" pitchFamily="2" charset="2"/>
              <a:buAutoNum type="arabicPeriod" startAt="13"/>
            </a:pPr>
            <a:r>
              <a:rPr lang="en-US" altLang="zh-CN" sz="1400" b="0"/>
              <a:t>   </a:t>
            </a:r>
            <a:r>
              <a:rPr lang="zh-CN" altLang="en-US" sz="1400" b="0"/>
              <a:t>  </a:t>
            </a:r>
            <a:r>
              <a:rPr lang="en-US" altLang="zh-CN" sz="1400" b="0"/>
              <a:t>fputc('\n', wfp); /* </a:t>
            </a:r>
            <a:r>
              <a:rPr lang="zh-CN" altLang="en-US" sz="1400" b="0"/>
              <a:t>换行 *</a:t>
            </a:r>
            <a:r>
              <a:rPr lang="en-US" altLang="zh-CN" sz="1400" b="0"/>
              <a:t>/</a:t>
            </a:r>
          </a:p>
          <a:p>
            <a:pPr marL="990600" lvl="1" indent="-533400" eaLnBrk="1" hangingPunct="1">
              <a:lnSpc>
                <a:spcPct val="90000"/>
              </a:lnSpc>
              <a:buFont typeface="Wingdings" pitchFamily="2" charset="2"/>
              <a:buAutoNum type="arabicPeriod" startAt="13"/>
            </a:pPr>
            <a:r>
              <a:rPr lang="en-US" altLang="zh-CN" sz="1400" b="0"/>
              <a:t>  }</a:t>
            </a:r>
          </a:p>
          <a:p>
            <a:pPr marL="990600" lvl="1" indent="-533400" eaLnBrk="1" hangingPunct="1">
              <a:lnSpc>
                <a:spcPct val="90000"/>
              </a:lnSpc>
              <a:buFont typeface="Wingdings" pitchFamily="2" charset="2"/>
              <a:buAutoNum type="arabicPeriod" startAt="13"/>
            </a:pPr>
            <a:r>
              <a:rPr lang="en-US" altLang="zh-CN" sz="1400" b="0"/>
              <a:t>  fclose(wfp);    fclose(rfp);</a:t>
            </a:r>
          </a:p>
          <a:p>
            <a:pPr marL="990600" lvl="1" indent="-533400" eaLnBrk="1" hangingPunct="1">
              <a:lnSpc>
                <a:spcPct val="90000"/>
              </a:lnSpc>
              <a:buFont typeface="Wingdings" pitchFamily="2" charset="2"/>
              <a:buAutoNum type="arabicPeriod" startAt="13"/>
            </a:pPr>
            <a:r>
              <a:rPr lang="en-US" altLang="zh-CN" sz="1400" b="0"/>
              <a:t>  printf("</a:t>
            </a:r>
            <a:r>
              <a:rPr lang="zh-CN" altLang="en-US" sz="1400" b="0"/>
              <a:t>程序结束。</a:t>
            </a:r>
            <a:r>
              <a:rPr lang="en-US" altLang="zh-CN" sz="1400" b="0"/>
              <a:t>\n");    return 1;</a:t>
            </a:r>
          </a:p>
          <a:p>
            <a:pPr marL="990600" lvl="1" indent="-533400" eaLnBrk="1" hangingPunct="1">
              <a:lnSpc>
                <a:spcPct val="90000"/>
              </a:lnSpc>
              <a:buFont typeface="Wingdings" pitchFamily="2" charset="2"/>
              <a:buAutoNum type="arabicPeriod" startAt="13"/>
            </a:pPr>
            <a:r>
              <a:rPr lang="en-US" altLang="zh-CN" sz="1400" b="0"/>
              <a:t>}</a:t>
            </a:r>
          </a:p>
          <a:p>
            <a:pPr marL="609600" indent="-609600" eaLnBrk="1" hangingPunct="1">
              <a:lnSpc>
                <a:spcPct val="90000"/>
              </a:lnSpc>
            </a:pPr>
            <a:endParaRPr lang="en-US" altLang="zh-CN" sz="1600" b="0"/>
          </a:p>
          <a:p>
            <a:pPr marL="609600" indent="-609600" eaLnBrk="1" hangingPunct="1">
              <a:lnSpc>
                <a:spcPct val="90000"/>
              </a:lnSpc>
            </a:pPr>
            <a:endParaRPr lang="en-US" altLang="zh-CN" sz="2000" b="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5E5821A-CE88-68EC-7AF8-4594C01F4E25}"/>
              </a:ext>
            </a:extLst>
          </p:cNvPr>
          <p:cNvSpPr>
            <a:spLocks noGrp="1" noChangeArrowheads="1"/>
          </p:cNvSpPr>
          <p:nvPr>
            <p:ph type="title"/>
          </p:nvPr>
        </p:nvSpPr>
        <p:spPr/>
        <p:txBody>
          <a:bodyPr/>
          <a:lstStyle/>
          <a:p>
            <a:pPr eaLnBrk="1" hangingPunct="1"/>
            <a:r>
              <a:rPr lang="zh-CN" altLang="en-US"/>
              <a:t>结构化文件的输入输出</a:t>
            </a:r>
          </a:p>
        </p:txBody>
      </p:sp>
      <p:sp>
        <p:nvSpPr>
          <p:cNvPr id="33795" name="Rectangle 3">
            <a:extLst>
              <a:ext uri="{FF2B5EF4-FFF2-40B4-BE49-F238E27FC236}">
                <a16:creationId xmlns:a16="http://schemas.microsoft.com/office/drawing/2014/main" id="{313F0CF6-B71A-5E0A-0EC8-890C397B8E21}"/>
              </a:ext>
            </a:extLst>
          </p:cNvPr>
          <p:cNvSpPr>
            <a:spLocks noGrp="1" noChangeArrowheads="1"/>
          </p:cNvSpPr>
          <p:nvPr>
            <p:ph type="body" idx="1"/>
          </p:nvPr>
        </p:nvSpPr>
        <p:spPr>
          <a:xfrm>
            <a:off x="827088" y="1772817"/>
            <a:ext cx="7633344" cy="4359696"/>
          </a:xfrm>
        </p:spPr>
        <p:txBody>
          <a:bodyPr/>
          <a:lstStyle/>
          <a:p>
            <a:pPr algn="just" eaLnBrk="1" hangingPunct="1">
              <a:lnSpc>
                <a:spcPct val="150000"/>
              </a:lnSpc>
            </a:pPr>
            <a:r>
              <a:rPr lang="zh-CN" altLang="en-US" sz="1800" b="0"/>
              <a:t>应用程序直接以流式文件为基础编写，是一件非常困难的工作。</a:t>
            </a:r>
            <a:endParaRPr lang="en-US" altLang="zh-CN" sz="1800" b="0"/>
          </a:p>
          <a:p>
            <a:pPr algn="just" eaLnBrk="1" hangingPunct="1">
              <a:lnSpc>
                <a:spcPct val="150000"/>
              </a:lnSpc>
            </a:pPr>
            <a:r>
              <a:rPr lang="zh-CN" altLang="en-US" sz="1800" b="0"/>
              <a:t>应用程序可以把文件看作是</a:t>
            </a:r>
            <a:r>
              <a:rPr lang="zh-CN" altLang="en-US" sz="1800" b="0">
                <a:solidFill>
                  <a:srgbClr val="0066FF"/>
                </a:solidFill>
              </a:rPr>
              <a:t>结构化的文件</a:t>
            </a:r>
            <a:r>
              <a:rPr lang="zh-CN" altLang="en-US" sz="1800" b="0"/>
              <a:t>。在结构化文件中，文件中的数据信息</a:t>
            </a:r>
            <a:r>
              <a:rPr lang="zh-CN" altLang="en-US" sz="1800" u="sng"/>
              <a:t>呈现某种结构形式</a:t>
            </a:r>
            <a:r>
              <a:rPr lang="zh-CN" altLang="en-US" sz="1800" b="0"/>
              <a:t>。</a:t>
            </a:r>
            <a:endParaRPr lang="en-US" altLang="zh-CN" sz="1800" b="0"/>
          </a:p>
          <a:p>
            <a:pPr lvl="1" algn="just" eaLnBrk="1" hangingPunct="1">
              <a:lnSpc>
                <a:spcPct val="150000"/>
              </a:lnSpc>
            </a:pPr>
            <a:r>
              <a:rPr lang="zh-CN" altLang="en-US" sz="1400" b="0"/>
              <a:t>如人事档案管理应用中，代表每个人的信息是一个结构，读写的信息块以人的基本信息结构为单位，或每次读写一个人的信息或同时读写多个人的信息。</a:t>
            </a:r>
          </a:p>
          <a:p>
            <a:pPr algn="just" eaLnBrk="1" hangingPunct="1">
              <a:lnSpc>
                <a:spcPct val="150000"/>
              </a:lnSpc>
            </a:pPr>
            <a:r>
              <a:rPr lang="zh-CN" altLang="en-US" sz="1800" b="0"/>
              <a:t>对于大容量文件，也希望能成批输入或输出。即程序每次调用输入输出库函数能交换更多字符或字节，这能</a:t>
            </a:r>
            <a:r>
              <a:rPr lang="zh-CN" altLang="en-US" sz="1800" b="0">
                <a:solidFill>
                  <a:srgbClr val="0066FF"/>
                </a:solidFill>
              </a:rPr>
              <a:t>大大地减少程序调用库函数的次数</a:t>
            </a:r>
            <a:r>
              <a:rPr lang="zh-CN" altLang="en-US" sz="1800" b="0"/>
              <a:t>。</a:t>
            </a:r>
          </a:p>
          <a:p>
            <a:pPr algn="just" eaLnBrk="1" hangingPunct="1">
              <a:lnSpc>
                <a:spcPct val="150000"/>
              </a:lnSpc>
            </a:pPr>
            <a:r>
              <a:rPr lang="zh-CN" altLang="en-US" sz="1800" b="0"/>
              <a:t>考虑到以上原因，</a:t>
            </a:r>
            <a:r>
              <a:rPr lang="en-US" altLang="zh-CN" sz="1800" b="0"/>
              <a:t>C</a:t>
            </a:r>
            <a:r>
              <a:rPr lang="zh-CN" altLang="en-US" sz="1800" b="0"/>
              <a:t>的输入输出函数库也包含成批输入输出的库函数。这里介绍最常用的两个</a:t>
            </a:r>
            <a:r>
              <a:rPr lang="zh-CN" altLang="en-US" sz="1800" b="0">
                <a:solidFill>
                  <a:srgbClr val="0066FF"/>
                </a:solidFill>
              </a:rPr>
              <a:t>成批读写数据函数</a:t>
            </a:r>
          </a:p>
          <a:p>
            <a:pPr lvl="1" algn="just" eaLnBrk="1" hangingPunct="1">
              <a:lnSpc>
                <a:spcPct val="150000"/>
              </a:lnSpc>
            </a:pPr>
            <a:r>
              <a:rPr lang="en-US" altLang="zh-CN" sz="1600" b="0"/>
              <a:t>fread()</a:t>
            </a:r>
            <a:r>
              <a:rPr lang="zh-CN" altLang="en-US" sz="1600" b="0"/>
              <a:t>和</a:t>
            </a:r>
            <a:r>
              <a:rPr lang="en-US" altLang="zh-CN" sz="1600" b="0"/>
              <a:t>fwrite()</a:t>
            </a:r>
          </a:p>
          <a:p>
            <a:pPr algn="just" eaLnBrk="1" hangingPunct="1">
              <a:lnSpc>
                <a:spcPct val="150000"/>
              </a:lnSpc>
            </a:pPr>
            <a:endParaRPr lang="en-US" altLang="zh-CN" sz="1800" b="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19BCB641-360F-4519-C47A-BDF9E024A73C}"/>
              </a:ext>
            </a:extLst>
          </p:cNvPr>
          <p:cNvSpPr>
            <a:spLocks noGrp="1" noChangeArrowheads="1"/>
          </p:cNvSpPr>
          <p:nvPr>
            <p:ph type="title"/>
          </p:nvPr>
        </p:nvSpPr>
        <p:spPr/>
        <p:txBody>
          <a:bodyPr/>
          <a:lstStyle/>
          <a:p>
            <a:pPr eaLnBrk="1" hangingPunct="1"/>
            <a:r>
              <a:rPr lang="en-US" altLang="zh-CN" sz="4000"/>
              <a:t>fread()</a:t>
            </a:r>
            <a:r>
              <a:rPr lang="zh-CN" altLang="en-US" sz="4000"/>
              <a:t>和</a:t>
            </a:r>
            <a:r>
              <a:rPr lang="en-US" altLang="zh-CN" sz="4000"/>
              <a:t>fwrite()</a:t>
            </a:r>
          </a:p>
        </p:txBody>
      </p:sp>
      <p:sp>
        <p:nvSpPr>
          <p:cNvPr id="34819" name="Rectangle 3">
            <a:extLst>
              <a:ext uri="{FF2B5EF4-FFF2-40B4-BE49-F238E27FC236}">
                <a16:creationId xmlns:a16="http://schemas.microsoft.com/office/drawing/2014/main" id="{3541DE70-6BBD-D0C9-DC76-0C909AD478D8}"/>
              </a:ext>
            </a:extLst>
          </p:cNvPr>
          <p:cNvSpPr>
            <a:spLocks noGrp="1" noChangeArrowheads="1"/>
          </p:cNvSpPr>
          <p:nvPr>
            <p:ph type="body" idx="1"/>
          </p:nvPr>
        </p:nvSpPr>
        <p:spPr>
          <a:xfrm>
            <a:off x="827088" y="1628775"/>
            <a:ext cx="7705352" cy="4503738"/>
          </a:xfrm>
        </p:spPr>
        <p:txBody>
          <a:bodyPr/>
          <a:lstStyle/>
          <a:p>
            <a:pPr algn="just" eaLnBrk="1" hangingPunct="1">
              <a:lnSpc>
                <a:spcPct val="150000"/>
              </a:lnSpc>
            </a:pPr>
            <a:r>
              <a:rPr lang="zh-CN" altLang="en-US" sz="2000" b="0"/>
              <a:t>成批读函数</a:t>
            </a:r>
            <a:r>
              <a:rPr lang="en-US" altLang="zh-CN" sz="2000" b="0"/>
              <a:t>fread()</a:t>
            </a:r>
            <a:r>
              <a:rPr lang="zh-CN" altLang="en-US" sz="2000" b="0"/>
              <a:t>的说明形式为：</a:t>
            </a:r>
          </a:p>
          <a:p>
            <a:pPr lvl="1" algn="just" eaLnBrk="1" hangingPunct="1">
              <a:lnSpc>
                <a:spcPct val="150000"/>
              </a:lnSpc>
            </a:pPr>
            <a:r>
              <a:rPr lang="en-US" altLang="zh-CN" sz="1800" b="0"/>
              <a:t>int fread(char *buf,int size,int count,FILE *rfp);</a:t>
            </a:r>
          </a:p>
          <a:p>
            <a:pPr algn="just" eaLnBrk="1" hangingPunct="1">
              <a:lnSpc>
                <a:spcPct val="150000"/>
              </a:lnSpc>
            </a:pPr>
            <a:r>
              <a:rPr lang="zh-CN" altLang="en-US" sz="2000" b="0"/>
              <a:t>成批写函数</a:t>
            </a:r>
            <a:r>
              <a:rPr lang="en-US" altLang="zh-CN" sz="2000" b="0"/>
              <a:t>fwrite()</a:t>
            </a:r>
            <a:r>
              <a:rPr lang="zh-CN" altLang="en-US" sz="2000" b="0"/>
              <a:t>的说明形式为</a:t>
            </a:r>
            <a:r>
              <a:rPr lang="en-US" altLang="zh-CN" sz="2000" b="0"/>
              <a:t>:</a:t>
            </a:r>
          </a:p>
          <a:p>
            <a:pPr lvl="1" algn="just" eaLnBrk="1" hangingPunct="1">
              <a:lnSpc>
                <a:spcPct val="150000"/>
              </a:lnSpc>
            </a:pPr>
            <a:r>
              <a:rPr lang="en-US" altLang="zh-CN" sz="1800" b="0"/>
              <a:t>int fwrite(char *buf,int size,int count,FILE*wfp);</a:t>
            </a:r>
          </a:p>
          <a:p>
            <a:pPr algn="just" eaLnBrk="1" hangingPunct="1">
              <a:lnSpc>
                <a:spcPct val="150000"/>
              </a:lnSpc>
            </a:pPr>
            <a:r>
              <a:rPr lang="zh-CN" altLang="en-US" sz="2000" b="0"/>
              <a:t>其中，</a:t>
            </a:r>
            <a:endParaRPr lang="en-US" altLang="zh-CN" sz="2000" b="0"/>
          </a:p>
          <a:p>
            <a:pPr lvl="1" algn="just" eaLnBrk="1" hangingPunct="1">
              <a:lnSpc>
                <a:spcPct val="150000"/>
              </a:lnSpc>
            </a:pPr>
            <a:r>
              <a:rPr lang="en-US" altLang="zh-CN" sz="1600" b="0">
                <a:solidFill>
                  <a:srgbClr val="0066FF"/>
                </a:solidFill>
              </a:rPr>
              <a:t>buf</a:t>
            </a:r>
            <a:r>
              <a:rPr lang="zh-CN" altLang="en-US" sz="1600" b="0"/>
              <a:t>是字符数组首元指针。对</a:t>
            </a:r>
            <a:r>
              <a:rPr lang="en-US" altLang="zh-CN" sz="1600" b="0"/>
              <a:t>fread()</a:t>
            </a:r>
            <a:r>
              <a:rPr lang="zh-CN" altLang="en-US" sz="1600" b="0"/>
              <a:t>来说，它是读入数据的存放开始地址；对 </a:t>
            </a:r>
            <a:r>
              <a:rPr lang="en-US" altLang="zh-CN" sz="1600" b="0"/>
              <a:t>fwrite()</a:t>
            </a:r>
            <a:r>
              <a:rPr lang="zh-CN" altLang="en-US" sz="1600" b="0"/>
              <a:t>来说，是要输出数据的开始地址。</a:t>
            </a:r>
            <a:endParaRPr lang="en-US" altLang="zh-CN" sz="1600" b="0"/>
          </a:p>
          <a:p>
            <a:pPr lvl="1" algn="just" eaLnBrk="1" hangingPunct="1">
              <a:lnSpc>
                <a:spcPct val="150000"/>
              </a:lnSpc>
            </a:pPr>
            <a:r>
              <a:rPr lang="en-US" altLang="zh-CN" sz="1600" b="0">
                <a:solidFill>
                  <a:srgbClr val="0066FF"/>
                </a:solidFill>
              </a:rPr>
              <a:t>size</a:t>
            </a:r>
            <a:r>
              <a:rPr lang="zh-CN" altLang="en-US" sz="1600" b="0"/>
              <a:t>是读写的</a:t>
            </a:r>
            <a:r>
              <a:rPr lang="zh-CN" altLang="en-US" sz="1600" u="sng"/>
              <a:t>数据块的字节数</a:t>
            </a:r>
            <a:r>
              <a:rPr lang="zh-CN" altLang="en-US" sz="1600" b="0"/>
              <a:t>。</a:t>
            </a:r>
            <a:endParaRPr lang="en-US" altLang="zh-CN" sz="1600" b="0"/>
          </a:p>
          <a:p>
            <a:pPr lvl="1" algn="just" eaLnBrk="1" hangingPunct="1">
              <a:lnSpc>
                <a:spcPct val="150000"/>
              </a:lnSpc>
            </a:pPr>
            <a:r>
              <a:rPr lang="en-US" altLang="zh-CN" sz="1600" b="0">
                <a:solidFill>
                  <a:srgbClr val="0066FF"/>
                </a:solidFill>
              </a:rPr>
              <a:t>count</a:t>
            </a:r>
            <a:r>
              <a:rPr lang="zh-CN" altLang="en-US" sz="1600" b="0"/>
              <a:t>为要进行读写的</a:t>
            </a:r>
            <a:r>
              <a:rPr lang="zh-CN" altLang="en-US" sz="1600" u="sng"/>
              <a:t>数据块的个数</a:t>
            </a:r>
            <a:r>
              <a:rPr lang="zh-CN" altLang="en-US" sz="1600" b="0"/>
              <a:t>。</a:t>
            </a:r>
            <a:endParaRPr lang="en-US" altLang="zh-CN" sz="1600" b="0"/>
          </a:p>
          <a:p>
            <a:pPr lvl="1" algn="just" eaLnBrk="1" hangingPunct="1">
              <a:lnSpc>
                <a:spcPct val="150000"/>
              </a:lnSpc>
            </a:pPr>
            <a:r>
              <a:rPr lang="en-US" altLang="zh-CN" sz="1600" b="0">
                <a:solidFill>
                  <a:srgbClr val="0066FF"/>
                </a:solidFill>
              </a:rPr>
              <a:t>fp</a:t>
            </a:r>
            <a:r>
              <a:rPr lang="zh-CN" altLang="en-US" sz="1600" b="0"/>
              <a:t>为文件指针。调用上述函数共读写</a:t>
            </a:r>
            <a:r>
              <a:rPr lang="en-US" altLang="zh-CN" sz="1600" b="0"/>
              <a:t>size*count</a:t>
            </a:r>
            <a:r>
              <a:rPr lang="zh-CN" altLang="en-US" sz="1600" b="0"/>
              <a:t>个字节或字符。</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B0D0191-EAE0-209A-D563-4B3765B844C2}"/>
              </a:ext>
            </a:extLst>
          </p:cNvPr>
          <p:cNvSpPr>
            <a:spLocks noGrp="1" noChangeArrowheads="1"/>
          </p:cNvSpPr>
          <p:nvPr>
            <p:ph type="title"/>
          </p:nvPr>
        </p:nvSpPr>
        <p:spPr/>
        <p:txBody>
          <a:bodyPr/>
          <a:lstStyle/>
          <a:p>
            <a:pPr eaLnBrk="1" hangingPunct="1"/>
            <a:r>
              <a:rPr lang="en-US" altLang="zh-CN" sz="4400"/>
              <a:t>fread()</a:t>
            </a:r>
            <a:r>
              <a:rPr lang="zh-CN" altLang="en-US" sz="4400"/>
              <a:t>和</a:t>
            </a:r>
            <a:r>
              <a:rPr lang="en-US" altLang="zh-CN" sz="4400"/>
              <a:t>fwrite()</a:t>
            </a:r>
            <a:endParaRPr lang="zh-CN" altLang="zh-CN"/>
          </a:p>
        </p:txBody>
      </p:sp>
      <p:sp>
        <p:nvSpPr>
          <p:cNvPr id="35843" name="Rectangle 3">
            <a:extLst>
              <a:ext uri="{FF2B5EF4-FFF2-40B4-BE49-F238E27FC236}">
                <a16:creationId xmlns:a16="http://schemas.microsoft.com/office/drawing/2014/main" id="{06B1D657-7FCC-8B71-AF6B-FAD29FF88F38}"/>
              </a:ext>
            </a:extLst>
          </p:cNvPr>
          <p:cNvSpPr>
            <a:spLocks noGrp="1" noChangeArrowheads="1"/>
          </p:cNvSpPr>
          <p:nvPr>
            <p:ph type="body" idx="1"/>
          </p:nvPr>
        </p:nvSpPr>
        <p:spPr>
          <a:xfrm>
            <a:off x="827088" y="1772815"/>
            <a:ext cx="7866062" cy="4359697"/>
          </a:xfrm>
        </p:spPr>
        <p:txBody>
          <a:bodyPr/>
          <a:lstStyle/>
          <a:p>
            <a:pPr marL="533400" indent="-533400" eaLnBrk="1" hangingPunct="1"/>
            <a:r>
              <a:rPr lang="zh-CN" altLang="en-US" sz="2000" b="0"/>
              <a:t>如果是读写二进制文件，用函数 </a:t>
            </a:r>
            <a:r>
              <a:rPr lang="en-US" altLang="zh-CN" sz="2000" b="0"/>
              <a:t>fread() </a:t>
            </a:r>
            <a:r>
              <a:rPr lang="zh-CN" altLang="en-US" sz="2000" b="0"/>
              <a:t>和 </a:t>
            </a:r>
            <a:r>
              <a:rPr lang="en-US" altLang="zh-CN" sz="2000" b="0"/>
              <a:t>fwrite()  </a:t>
            </a:r>
            <a:r>
              <a:rPr lang="zh-CN" altLang="en-US" sz="2000" b="0"/>
              <a:t>可以读写任何类型的信息。如有一个如下形式的通信录结构类型：</a:t>
            </a:r>
          </a:p>
          <a:p>
            <a:pPr marL="914400" lvl="1" indent="-457200" eaLnBrk="1" hangingPunct="1">
              <a:buFont typeface="Wingdings" pitchFamily="2" charset="2"/>
              <a:buAutoNum type="arabicPeriod"/>
            </a:pPr>
            <a:r>
              <a:rPr lang="zh-CN" altLang="en-US" sz="1800" b="0"/>
              <a:t>  </a:t>
            </a:r>
            <a:r>
              <a:rPr lang="en-US" altLang="zh-CN" sz="1800" b="0"/>
              <a:t>typedef struct   {</a:t>
            </a:r>
          </a:p>
          <a:p>
            <a:pPr marL="914400" lvl="1" indent="-457200" eaLnBrk="1" hangingPunct="1">
              <a:buFont typeface="Wingdings" pitchFamily="2" charset="2"/>
              <a:buAutoNum type="arabicPeriod"/>
            </a:pPr>
            <a:r>
              <a:rPr lang="en-US" altLang="zh-CN" sz="1800" b="0"/>
              <a:t>            char name[21];    </a:t>
            </a:r>
            <a:r>
              <a:rPr lang="en-US" altLang="zh-CN" sz="1800" b="0">
                <a:solidFill>
                  <a:schemeClr val="folHlink"/>
                </a:solidFill>
              </a:rPr>
              <a:t>/* </a:t>
            </a:r>
            <a:r>
              <a:rPr lang="zh-CN" altLang="en-US" sz="1800" b="0">
                <a:solidFill>
                  <a:schemeClr val="folHlink"/>
                </a:solidFill>
              </a:rPr>
              <a:t>名字 *</a:t>
            </a:r>
            <a:r>
              <a:rPr lang="en-US" altLang="zh-CN" sz="1800" b="0">
                <a:solidFill>
                  <a:schemeClr val="folHlink"/>
                </a:solidFill>
              </a:rPr>
              <a:t>/</a:t>
            </a:r>
          </a:p>
          <a:p>
            <a:pPr marL="914400" lvl="1" indent="-457200" eaLnBrk="1" hangingPunct="1">
              <a:buFont typeface="Wingdings" pitchFamily="2" charset="2"/>
              <a:buAutoNum type="arabicPeriod"/>
            </a:pPr>
            <a:r>
              <a:rPr lang="en-US" altLang="zh-CN" sz="1800" b="0"/>
              <a:t>            char phone[15];   </a:t>
            </a:r>
            <a:r>
              <a:rPr lang="en-US" altLang="zh-CN" sz="1800" b="0">
                <a:solidFill>
                  <a:schemeClr val="folHlink"/>
                </a:solidFill>
              </a:rPr>
              <a:t>/* </a:t>
            </a:r>
            <a:r>
              <a:rPr lang="zh-CN" altLang="en-US" sz="1800" b="0">
                <a:solidFill>
                  <a:schemeClr val="folHlink"/>
                </a:solidFill>
              </a:rPr>
              <a:t>电话 *</a:t>
            </a:r>
            <a:r>
              <a:rPr lang="en-US" altLang="zh-CN" sz="1800" b="0">
                <a:solidFill>
                  <a:schemeClr val="folHlink"/>
                </a:solidFill>
              </a:rPr>
              <a:t>/</a:t>
            </a:r>
          </a:p>
          <a:p>
            <a:pPr marL="914400" lvl="1" indent="-457200" eaLnBrk="1" hangingPunct="1">
              <a:buFont typeface="Wingdings" pitchFamily="2" charset="2"/>
              <a:buAutoNum type="arabicPeriod"/>
            </a:pPr>
            <a:r>
              <a:rPr lang="en-US" altLang="zh-CN" sz="1800" b="0"/>
              <a:t>            char  zip[10];       </a:t>
            </a:r>
            <a:r>
              <a:rPr lang="en-US" altLang="zh-CN" sz="1800" b="0">
                <a:solidFill>
                  <a:schemeClr val="folHlink"/>
                </a:solidFill>
              </a:rPr>
              <a:t>/* </a:t>
            </a:r>
            <a:r>
              <a:rPr lang="zh-CN" altLang="en-US" sz="1800" b="0">
                <a:solidFill>
                  <a:schemeClr val="folHlink"/>
                </a:solidFill>
              </a:rPr>
              <a:t>邮编 *</a:t>
            </a:r>
            <a:r>
              <a:rPr lang="en-US" altLang="zh-CN" sz="1800" b="0">
                <a:solidFill>
                  <a:schemeClr val="folHlink"/>
                </a:solidFill>
              </a:rPr>
              <a:t>/</a:t>
            </a:r>
          </a:p>
          <a:p>
            <a:pPr marL="914400" lvl="1" indent="-457200" eaLnBrk="1" hangingPunct="1">
              <a:buFont typeface="Wingdings" pitchFamily="2" charset="2"/>
              <a:buAutoNum type="arabicPeriod"/>
            </a:pPr>
            <a:r>
              <a:rPr lang="en-US" altLang="zh-CN" sz="1800" b="0"/>
              <a:t>            char addr[31];     </a:t>
            </a:r>
            <a:r>
              <a:rPr lang="en-US" altLang="zh-CN" sz="1800" b="0">
                <a:solidFill>
                  <a:schemeClr val="folHlink"/>
                </a:solidFill>
              </a:rPr>
              <a:t>/* </a:t>
            </a:r>
            <a:r>
              <a:rPr lang="zh-CN" altLang="en-US" sz="1800" b="0">
                <a:solidFill>
                  <a:schemeClr val="folHlink"/>
                </a:solidFill>
              </a:rPr>
              <a:t>地址 *</a:t>
            </a:r>
            <a:r>
              <a:rPr lang="en-US" altLang="zh-CN" sz="1800" b="0">
                <a:solidFill>
                  <a:schemeClr val="folHlink"/>
                </a:solidFill>
              </a:rPr>
              <a:t>/</a:t>
            </a:r>
          </a:p>
          <a:p>
            <a:pPr marL="914400" lvl="1" indent="-457200" eaLnBrk="1" hangingPunct="1">
              <a:buFont typeface="Wingdings" pitchFamily="2" charset="2"/>
              <a:buAutoNum type="arabicPeriod"/>
            </a:pPr>
            <a:r>
              <a:rPr lang="en-US" altLang="zh-CN" sz="1800" b="0"/>
              <a:t>  } STU_TYPE;</a:t>
            </a:r>
          </a:p>
          <a:p>
            <a:pPr marL="533400" indent="-533400" eaLnBrk="1" hangingPunct="1"/>
            <a:r>
              <a:rPr lang="zh-CN" altLang="en-US" sz="2000" b="0"/>
              <a:t>定义数组，如：  </a:t>
            </a:r>
            <a:r>
              <a:rPr lang="en-US" altLang="zh-CN" sz="2000" b="0"/>
              <a:t>STU_TYPE stud[30];</a:t>
            </a:r>
          </a:p>
          <a:p>
            <a:pPr marL="533400" indent="-533400" eaLnBrk="1" hangingPunct="1"/>
            <a:r>
              <a:rPr lang="zh-CN" altLang="en-US" sz="2000" b="0"/>
              <a:t>表示结构数组</a:t>
            </a:r>
            <a:r>
              <a:rPr lang="en-US" altLang="zh-CN" sz="2000" b="0"/>
              <a:t>stud[]</a:t>
            </a:r>
            <a:r>
              <a:rPr lang="zh-CN" altLang="en-US" sz="2000" b="0"/>
              <a:t>能存放</a:t>
            </a:r>
            <a:r>
              <a:rPr lang="en-US" altLang="zh-CN" sz="2000" b="0"/>
              <a:t>30</a:t>
            </a:r>
            <a:r>
              <a:rPr lang="zh-CN" altLang="en-US" sz="2000" b="0"/>
              <a:t>个通信录数据。则下面的两个函数调用能分别实现</a:t>
            </a:r>
            <a:r>
              <a:rPr lang="en-US" altLang="zh-CN" sz="2000" b="0"/>
              <a:t>20</a:t>
            </a:r>
            <a:r>
              <a:rPr lang="zh-CN" altLang="en-US" sz="2000" b="0"/>
              <a:t>个通信录信息从某文件读出和写入某文件：</a:t>
            </a:r>
          </a:p>
          <a:p>
            <a:pPr marL="914400" lvl="1" indent="-457200" eaLnBrk="1" hangingPunct="1"/>
            <a:r>
              <a:rPr lang="en-US" altLang="zh-CN" sz="1800" b="0"/>
              <a:t>fread(stud, sizeof(STU_TYPE), 20, rfp);</a:t>
            </a:r>
          </a:p>
          <a:p>
            <a:pPr marL="914400" lvl="1" indent="-457200" eaLnBrk="1" hangingPunct="1"/>
            <a:r>
              <a:rPr lang="en-US" altLang="zh-CN" sz="1800" b="0"/>
              <a:t>fwrite(stud, sizeof(STU_TYPE), 20, wfp);</a:t>
            </a:r>
          </a:p>
          <a:p>
            <a:pPr marL="533400" indent="-533400" eaLnBrk="1" hangingPunct="1"/>
            <a:endParaRPr lang="en-US" altLang="zh-CN" sz="2000" b="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A6D1266-9D52-BF70-4F6F-87A0A60D121D}"/>
              </a:ext>
            </a:extLst>
          </p:cNvPr>
          <p:cNvSpPr>
            <a:spLocks noGrp="1" noChangeArrowheads="1"/>
          </p:cNvSpPr>
          <p:nvPr>
            <p:ph type="title"/>
          </p:nvPr>
        </p:nvSpPr>
        <p:spPr/>
        <p:txBody>
          <a:bodyPr/>
          <a:lstStyle/>
          <a:p>
            <a:pPr eaLnBrk="1" hangingPunct="1"/>
            <a:r>
              <a:rPr lang="en-US" altLang="zh-CN" sz="4400"/>
              <a:t>fread()</a:t>
            </a:r>
            <a:r>
              <a:rPr lang="zh-CN" altLang="en-US" sz="4400"/>
              <a:t>和</a:t>
            </a:r>
            <a:r>
              <a:rPr lang="en-US" altLang="zh-CN" sz="4400"/>
              <a:t>fwrite()</a:t>
            </a:r>
            <a:endParaRPr lang="zh-CN" altLang="zh-CN"/>
          </a:p>
        </p:txBody>
      </p:sp>
      <p:sp>
        <p:nvSpPr>
          <p:cNvPr id="36867" name="Rectangle 3">
            <a:extLst>
              <a:ext uri="{FF2B5EF4-FFF2-40B4-BE49-F238E27FC236}">
                <a16:creationId xmlns:a16="http://schemas.microsoft.com/office/drawing/2014/main" id="{36B86452-9343-B810-6962-35EC980EB332}"/>
              </a:ext>
            </a:extLst>
          </p:cNvPr>
          <p:cNvSpPr>
            <a:spLocks noGrp="1" noChangeArrowheads="1"/>
          </p:cNvSpPr>
          <p:nvPr>
            <p:ph type="body" idx="1"/>
          </p:nvPr>
        </p:nvSpPr>
        <p:spPr>
          <a:xfrm>
            <a:off x="827088" y="1844823"/>
            <a:ext cx="7866062" cy="4287689"/>
          </a:xfrm>
        </p:spPr>
        <p:txBody>
          <a:bodyPr/>
          <a:lstStyle/>
          <a:p>
            <a:pPr marL="533400" indent="-533400" algn="just" eaLnBrk="1" hangingPunct="1"/>
            <a:r>
              <a:rPr lang="zh-CN" altLang="en-US" sz="2400" b="0"/>
              <a:t>如要逐个读入或写出结构数组的每个元素，也可用循环实现，如</a:t>
            </a:r>
          </a:p>
          <a:p>
            <a:pPr marL="914400" lvl="1" indent="-457200" algn="just" eaLnBrk="1" hangingPunct="1">
              <a:buFont typeface="Wingdings" pitchFamily="2" charset="2"/>
              <a:buAutoNum type="arabicPeriod"/>
            </a:pPr>
            <a:r>
              <a:rPr lang="zh-CN" altLang="en-US" sz="2000" b="0"/>
              <a:t>  </a:t>
            </a:r>
            <a:r>
              <a:rPr lang="en-US" altLang="zh-CN" sz="2000" b="0"/>
              <a:t>for(i = 0; i &lt; 20; i++)</a:t>
            </a:r>
          </a:p>
          <a:p>
            <a:pPr marL="914400" lvl="1" indent="-457200" algn="just" eaLnBrk="1" hangingPunct="1">
              <a:buFont typeface="Wingdings" pitchFamily="2" charset="2"/>
              <a:buAutoNum type="arabicPeriod"/>
            </a:pPr>
            <a:r>
              <a:rPr lang="en-US" altLang="zh-CN" sz="2000" b="0"/>
              <a:t>    </a:t>
            </a:r>
            <a:r>
              <a:rPr lang="zh-CN" altLang="en-US" sz="2000" b="0"/>
              <a:t>  </a:t>
            </a:r>
            <a:r>
              <a:rPr lang="en-US" altLang="zh-CN" sz="2000" b="0"/>
              <a:t>fread(&amp;stud[i], sizeof(STU_TYPE), 1, rfp);</a:t>
            </a:r>
          </a:p>
          <a:p>
            <a:pPr marL="533400" indent="-533400" algn="just" eaLnBrk="1" hangingPunct="1"/>
            <a:r>
              <a:rPr lang="zh-CN" altLang="en-US" sz="2400" b="0"/>
              <a:t>和</a:t>
            </a:r>
          </a:p>
          <a:p>
            <a:pPr marL="914400" lvl="1" indent="-457200" algn="just" eaLnBrk="1" hangingPunct="1">
              <a:buFont typeface="Wingdings" pitchFamily="2" charset="2"/>
              <a:buAutoNum type="arabicPeriod"/>
            </a:pPr>
            <a:r>
              <a:rPr lang="zh-CN" altLang="en-US" sz="2000" b="0"/>
              <a:t>  </a:t>
            </a:r>
            <a:r>
              <a:rPr lang="en-US" altLang="zh-CN" sz="2000" b="0"/>
              <a:t>for(i = 0; i &lt; 20; i++)</a:t>
            </a:r>
          </a:p>
          <a:p>
            <a:pPr marL="914400" lvl="1" indent="-457200" algn="just" eaLnBrk="1" hangingPunct="1">
              <a:buFont typeface="Wingdings" pitchFamily="2" charset="2"/>
              <a:buAutoNum type="arabicPeriod"/>
            </a:pPr>
            <a:r>
              <a:rPr lang="en-US" altLang="zh-CN" sz="2000" b="0"/>
              <a:t>    </a:t>
            </a:r>
            <a:r>
              <a:rPr lang="zh-CN" altLang="en-US" sz="2000" b="0"/>
              <a:t>  </a:t>
            </a:r>
            <a:r>
              <a:rPr lang="en-US" altLang="zh-CN" sz="2000" b="0"/>
              <a:t>fwrite(&amp;stud[i], sizeof(STU_TYPE), 1, wfp);</a:t>
            </a:r>
          </a:p>
          <a:p>
            <a:pPr marL="533400" indent="-533400" algn="just" eaLnBrk="1" hangingPunct="1"/>
            <a:r>
              <a:rPr lang="zh-CN" altLang="en-US" sz="2400" b="0"/>
              <a:t>调用函数</a:t>
            </a:r>
            <a:r>
              <a:rPr lang="en-US" altLang="zh-CN" sz="2400" b="0"/>
              <a:t>fread()</a:t>
            </a:r>
            <a:r>
              <a:rPr lang="zh-CN" altLang="en-US" sz="2400" b="0"/>
              <a:t>和</a:t>
            </a:r>
            <a:r>
              <a:rPr lang="en-US" altLang="zh-CN" sz="2400" b="0"/>
              <a:t>fwrite()</a:t>
            </a:r>
            <a:r>
              <a:rPr lang="zh-CN" altLang="en-US" sz="2400" b="0"/>
              <a:t>也有返回值，它的返回值是实际完成输入或输出的</a:t>
            </a:r>
            <a:r>
              <a:rPr lang="zh-CN" altLang="en-US" sz="2400" u="sng"/>
              <a:t>数据块的个数</a:t>
            </a:r>
            <a:r>
              <a:rPr lang="zh-CN" altLang="en-US" sz="2400" b="0"/>
              <a:t>。一般情况下，调用成功，返回值为</a:t>
            </a:r>
            <a:r>
              <a:rPr lang="en-US" altLang="zh-CN" sz="2400" b="0"/>
              <a:t>count</a:t>
            </a:r>
            <a:r>
              <a:rPr lang="zh-CN" altLang="en-US" sz="2400" b="0"/>
              <a:t>的值。</a:t>
            </a:r>
          </a:p>
          <a:p>
            <a:pPr marL="533400" indent="-533400" algn="just" eaLnBrk="1" hangingPunct="1"/>
            <a:endParaRPr lang="en-US" altLang="zh-CN" sz="2400" b="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A4970E6-B922-585B-6C93-0C6D9E0A8065}"/>
              </a:ext>
            </a:extLst>
          </p:cNvPr>
          <p:cNvSpPr>
            <a:spLocks noGrp="1" noChangeArrowheads="1"/>
          </p:cNvSpPr>
          <p:nvPr>
            <p:ph type="title"/>
          </p:nvPr>
        </p:nvSpPr>
        <p:spPr/>
        <p:txBody>
          <a:bodyPr/>
          <a:lstStyle/>
          <a:p>
            <a:pPr eaLnBrk="1" hangingPunct="1"/>
            <a:r>
              <a:rPr lang="zh-CN" altLang="en-US"/>
              <a:t>程序</a:t>
            </a:r>
            <a:r>
              <a:rPr lang="en-US" altLang="zh-CN"/>
              <a:t>8.4(*)</a:t>
            </a:r>
          </a:p>
        </p:txBody>
      </p:sp>
      <p:sp>
        <p:nvSpPr>
          <p:cNvPr id="37891" name="Rectangle 3">
            <a:extLst>
              <a:ext uri="{FF2B5EF4-FFF2-40B4-BE49-F238E27FC236}">
                <a16:creationId xmlns:a16="http://schemas.microsoft.com/office/drawing/2014/main" id="{86C60E60-DB90-E533-6232-35D5DC3247EF}"/>
              </a:ext>
            </a:extLst>
          </p:cNvPr>
          <p:cNvSpPr>
            <a:spLocks noGrp="1" noChangeArrowheads="1"/>
          </p:cNvSpPr>
          <p:nvPr>
            <p:ph type="body" idx="1"/>
          </p:nvPr>
        </p:nvSpPr>
        <p:spPr>
          <a:xfrm>
            <a:off x="827088" y="1628775"/>
            <a:ext cx="7633344" cy="4503738"/>
          </a:xfrm>
        </p:spPr>
        <p:txBody>
          <a:bodyPr/>
          <a:lstStyle/>
          <a:p>
            <a:pPr marL="533400" indent="-533400" algn="just" eaLnBrk="1" hangingPunct="1">
              <a:lnSpc>
                <a:spcPct val="150000"/>
              </a:lnSpc>
            </a:pPr>
            <a:r>
              <a:rPr lang="en-US" altLang="zh-CN" sz="2400" b="0"/>
              <a:t>【</a:t>
            </a:r>
            <a:r>
              <a:rPr lang="zh-CN" altLang="en-US" sz="2400" b="0"/>
              <a:t>程序</a:t>
            </a:r>
            <a:r>
              <a:rPr lang="en-US" altLang="zh-CN" sz="2400" b="0"/>
              <a:t>8.4 】</a:t>
            </a:r>
            <a:r>
              <a:rPr lang="zh-CN" altLang="en-US" sz="2400" b="0"/>
              <a:t>程序从键盘输入通信录信息，并把它们写到文件中。然后，从文件读出，并把它们显示在终端显示屏上。</a:t>
            </a:r>
          </a:p>
          <a:p>
            <a:pPr marL="533400" indent="-533400" algn="just" eaLnBrk="1" hangingPunct="1">
              <a:lnSpc>
                <a:spcPct val="150000"/>
              </a:lnSpc>
            </a:pPr>
            <a:r>
              <a:rPr lang="zh-CN" altLang="en-US" sz="2400" b="0"/>
              <a:t>从终端读入通信录数据，存于变量</a:t>
            </a:r>
            <a:r>
              <a:rPr lang="en-US" altLang="zh-CN" sz="2400" b="0"/>
              <a:t>stud</a:t>
            </a:r>
            <a:r>
              <a:rPr lang="zh-CN" altLang="en-US" sz="2400" b="0"/>
              <a:t>。在输入过程中，从输入字符流中截取通信录的一条有效信息存于</a:t>
            </a:r>
            <a:r>
              <a:rPr lang="en-US" altLang="zh-CN" sz="2400" b="0"/>
              <a:t>stud</a:t>
            </a:r>
            <a:r>
              <a:rPr lang="zh-CN" altLang="en-US" sz="2400" b="0"/>
              <a:t>中。然后程序又将这条信息存于文件中。接着程序又将它们从文件读出，存于</a:t>
            </a:r>
            <a:r>
              <a:rPr lang="en-US" altLang="zh-CN" sz="2400" b="0"/>
              <a:t>stud</a:t>
            </a:r>
            <a:r>
              <a:rPr lang="zh-CN" altLang="en-US" sz="2400" b="0"/>
              <a:t>，并将它显示在显示屏上。</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6504845-D631-5728-7477-B07019C10697}"/>
              </a:ext>
            </a:extLst>
          </p:cNvPr>
          <p:cNvSpPr>
            <a:spLocks noGrp="1" noChangeArrowheads="1"/>
          </p:cNvSpPr>
          <p:nvPr>
            <p:ph type="title"/>
          </p:nvPr>
        </p:nvSpPr>
        <p:spPr/>
        <p:txBody>
          <a:bodyPr/>
          <a:lstStyle/>
          <a:p>
            <a:pPr eaLnBrk="1" hangingPunct="1"/>
            <a:endParaRPr lang="zh-CN" altLang="zh-CN"/>
          </a:p>
        </p:txBody>
      </p:sp>
      <p:sp>
        <p:nvSpPr>
          <p:cNvPr id="38915" name="Rectangle 3">
            <a:extLst>
              <a:ext uri="{FF2B5EF4-FFF2-40B4-BE49-F238E27FC236}">
                <a16:creationId xmlns:a16="http://schemas.microsoft.com/office/drawing/2014/main" id="{DDD03116-3D56-D9DC-D73B-B1BECFF1F781}"/>
              </a:ext>
            </a:extLst>
          </p:cNvPr>
          <p:cNvSpPr>
            <a:spLocks noGrp="1" noChangeArrowheads="1"/>
          </p:cNvSpPr>
          <p:nvPr>
            <p:ph type="body" idx="1"/>
          </p:nvPr>
        </p:nvSpPr>
        <p:spPr>
          <a:xfrm>
            <a:off x="900113" y="1556792"/>
            <a:ext cx="7772400" cy="4114800"/>
          </a:xfrm>
        </p:spPr>
        <p:txBody>
          <a:bodyPr/>
          <a:lstStyle/>
          <a:p>
            <a:pPr marL="990600" lvl="1" indent="-533400" eaLnBrk="1" hangingPunct="1">
              <a:lnSpc>
                <a:spcPct val="80000"/>
              </a:lnSpc>
              <a:buFont typeface="Wingdings" pitchFamily="2" charset="2"/>
              <a:buAutoNum type="arabicPeriod"/>
            </a:pPr>
            <a:r>
              <a:rPr lang="en-US" altLang="zh-CN" sz="1800" b="0"/>
              <a:t>#include  &lt;stdio.h&gt;</a:t>
            </a:r>
          </a:p>
          <a:p>
            <a:pPr marL="990600" lvl="1" indent="-533400" eaLnBrk="1" hangingPunct="1">
              <a:lnSpc>
                <a:spcPct val="80000"/>
              </a:lnSpc>
              <a:buFont typeface="Wingdings" pitchFamily="2" charset="2"/>
              <a:buAutoNum type="arabicPeriod"/>
            </a:pPr>
            <a:r>
              <a:rPr lang="en-US" altLang="zh-CN" sz="1800" b="0"/>
              <a:t>#include &lt;string.h&gt;</a:t>
            </a:r>
          </a:p>
          <a:p>
            <a:pPr marL="990600" lvl="1" indent="-533400" eaLnBrk="1" hangingPunct="1">
              <a:lnSpc>
                <a:spcPct val="80000"/>
              </a:lnSpc>
              <a:buFont typeface="Wingdings" pitchFamily="2" charset="2"/>
              <a:buAutoNum type="arabicPeriod"/>
            </a:pPr>
            <a:r>
              <a:rPr lang="en-US" altLang="zh-CN" sz="1800" b="0"/>
              <a:t>char   fname[40];</a:t>
            </a:r>
          </a:p>
          <a:p>
            <a:pPr marL="990600" lvl="1" indent="-533400" eaLnBrk="1" hangingPunct="1">
              <a:lnSpc>
                <a:spcPct val="80000"/>
              </a:lnSpc>
              <a:buFont typeface="Wingdings" pitchFamily="2" charset="2"/>
              <a:buAutoNum type="arabicPeriod"/>
            </a:pPr>
            <a:r>
              <a:rPr lang="en-US" altLang="zh-CN" sz="1800" b="0"/>
              <a:t>typedef struct   {</a:t>
            </a:r>
          </a:p>
          <a:p>
            <a:pPr marL="990600" lvl="1" indent="-533400" eaLnBrk="1" hangingPunct="1">
              <a:lnSpc>
                <a:spcPct val="80000"/>
              </a:lnSpc>
              <a:buFont typeface="Wingdings" pitchFamily="2" charset="2"/>
              <a:buAutoNum type="arabicPeriod"/>
            </a:pPr>
            <a:r>
              <a:rPr lang="en-US" altLang="zh-CN" sz="1800" b="0"/>
              <a:t>            char name[15];      </a:t>
            </a:r>
            <a:r>
              <a:rPr lang="en-US" altLang="zh-CN" sz="1800" b="0">
                <a:solidFill>
                  <a:schemeClr val="folHlink"/>
                </a:solidFill>
              </a:rPr>
              <a:t>/* </a:t>
            </a:r>
            <a:r>
              <a:rPr lang="zh-CN" altLang="en-US" sz="1800" b="0">
                <a:solidFill>
                  <a:schemeClr val="folHlink"/>
                </a:solidFill>
              </a:rPr>
              <a:t>名字 *</a:t>
            </a:r>
            <a:r>
              <a:rPr lang="en-US" altLang="zh-CN" sz="1800" b="0">
                <a:solidFill>
                  <a:schemeClr val="folHlink"/>
                </a:solidFill>
              </a:rPr>
              <a:t>/</a:t>
            </a:r>
          </a:p>
          <a:p>
            <a:pPr marL="990600" lvl="1" indent="-533400" eaLnBrk="1" hangingPunct="1">
              <a:lnSpc>
                <a:spcPct val="80000"/>
              </a:lnSpc>
              <a:buFont typeface="Wingdings" pitchFamily="2" charset="2"/>
              <a:buAutoNum type="arabicPeriod"/>
            </a:pPr>
            <a:r>
              <a:rPr lang="en-US" altLang="zh-CN" sz="1800" b="0"/>
              <a:t>            char phone[15];     </a:t>
            </a:r>
            <a:r>
              <a:rPr lang="en-US" altLang="zh-CN" sz="1800" b="0">
                <a:solidFill>
                  <a:schemeClr val="folHlink"/>
                </a:solidFill>
              </a:rPr>
              <a:t>/* </a:t>
            </a:r>
            <a:r>
              <a:rPr lang="zh-CN" altLang="en-US" sz="1800" b="0">
                <a:solidFill>
                  <a:schemeClr val="folHlink"/>
                </a:solidFill>
              </a:rPr>
              <a:t>电话 *</a:t>
            </a:r>
            <a:r>
              <a:rPr lang="en-US" altLang="zh-CN" sz="1800" b="0">
                <a:solidFill>
                  <a:schemeClr val="folHlink"/>
                </a:solidFill>
              </a:rPr>
              <a:t>/</a:t>
            </a:r>
          </a:p>
          <a:p>
            <a:pPr marL="990600" lvl="1" indent="-533400" eaLnBrk="1" hangingPunct="1">
              <a:lnSpc>
                <a:spcPct val="80000"/>
              </a:lnSpc>
              <a:buFont typeface="Wingdings" pitchFamily="2" charset="2"/>
              <a:buAutoNum type="arabicPeriod"/>
            </a:pPr>
            <a:r>
              <a:rPr lang="en-US" altLang="zh-CN" sz="1800" b="0"/>
              <a:t>            char  zip[10];         </a:t>
            </a:r>
            <a:r>
              <a:rPr lang="en-US" altLang="zh-CN" sz="1800" b="0">
                <a:solidFill>
                  <a:schemeClr val="folHlink"/>
                </a:solidFill>
              </a:rPr>
              <a:t>/* </a:t>
            </a:r>
            <a:r>
              <a:rPr lang="zh-CN" altLang="en-US" sz="1800" b="0">
                <a:solidFill>
                  <a:schemeClr val="folHlink"/>
                </a:solidFill>
              </a:rPr>
              <a:t>邮编 *</a:t>
            </a:r>
            <a:r>
              <a:rPr lang="en-US" altLang="zh-CN" sz="1800" b="0">
                <a:solidFill>
                  <a:schemeClr val="folHlink"/>
                </a:solidFill>
              </a:rPr>
              <a:t>/</a:t>
            </a:r>
          </a:p>
          <a:p>
            <a:pPr marL="990600" lvl="1" indent="-533400" eaLnBrk="1" hangingPunct="1">
              <a:lnSpc>
                <a:spcPct val="80000"/>
              </a:lnSpc>
              <a:buFont typeface="Wingdings" pitchFamily="2" charset="2"/>
              <a:buAutoNum type="arabicPeriod"/>
            </a:pPr>
            <a:r>
              <a:rPr lang="en-US" altLang="zh-CN" sz="1800" b="0"/>
              <a:t>            char addr[31];       </a:t>
            </a:r>
            <a:r>
              <a:rPr lang="en-US" altLang="zh-CN" sz="1800" b="0">
                <a:solidFill>
                  <a:schemeClr val="folHlink"/>
                </a:solidFill>
              </a:rPr>
              <a:t>/* </a:t>
            </a:r>
            <a:r>
              <a:rPr lang="zh-CN" altLang="en-US" sz="1800" b="0">
                <a:solidFill>
                  <a:schemeClr val="folHlink"/>
                </a:solidFill>
              </a:rPr>
              <a:t>地址 *</a:t>
            </a:r>
            <a:r>
              <a:rPr lang="en-US" altLang="zh-CN" sz="1800" b="0">
                <a:solidFill>
                  <a:schemeClr val="folHlink"/>
                </a:solidFill>
              </a:rPr>
              <a:t>/</a:t>
            </a:r>
          </a:p>
          <a:p>
            <a:pPr marL="990600" lvl="1" indent="-533400" eaLnBrk="1" hangingPunct="1">
              <a:lnSpc>
                <a:spcPct val="80000"/>
              </a:lnSpc>
              <a:buFont typeface="Wingdings" pitchFamily="2" charset="2"/>
              <a:buAutoNum type="arabicPeriod"/>
            </a:pPr>
            <a:r>
              <a:rPr lang="en-US" altLang="zh-CN" sz="1800" b="0"/>
              <a:t>} STU_TYPE;</a:t>
            </a:r>
          </a:p>
          <a:p>
            <a:pPr marL="990600" lvl="1" indent="-533400" eaLnBrk="1" hangingPunct="1">
              <a:lnSpc>
                <a:spcPct val="80000"/>
              </a:lnSpc>
              <a:buFont typeface="Wingdings" pitchFamily="2" charset="2"/>
              <a:buAutoNum type="arabicPeriod"/>
            </a:pPr>
            <a:r>
              <a:rPr lang="en-US" altLang="zh-CN" sz="1800" b="0"/>
              <a:t>int main(){</a:t>
            </a:r>
          </a:p>
          <a:p>
            <a:pPr marL="990600" lvl="1" indent="-533400" eaLnBrk="1" hangingPunct="1">
              <a:lnSpc>
                <a:spcPct val="80000"/>
              </a:lnSpc>
              <a:buFont typeface="Wingdings" pitchFamily="2" charset="2"/>
              <a:buAutoNum type="arabicPeriod"/>
            </a:pPr>
            <a:r>
              <a:rPr lang="en-US" altLang="zh-CN" sz="1800" b="0"/>
              <a:t>  STU_TYPE stud;   </a:t>
            </a:r>
          </a:p>
          <a:p>
            <a:pPr marL="990600" lvl="1" indent="-533400" eaLnBrk="1" hangingPunct="1">
              <a:lnSpc>
                <a:spcPct val="80000"/>
              </a:lnSpc>
              <a:buFont typeface="Wingdings" pitchFamily="2" charset="2"/>
              <a:buAutoNum type="arabicPeriod"/>
            </a:pPr>
            <a:r>
              <a:rPr lang="en-US" altLang="zh-CN" sz="1800" b="0"/>
              <a:t>  FILE *fp;   </a:t>
            </a:r>
          </a:p>
          <a:p>
            <a:pPr marL="990600" lvl="1" indent="-533400" eaLnBrk="1" hangingPunct="1">
              <a:lnSpc>
                <a:spcPct val="80000"/>
              </a:lnSpc>
              <a:buFont typeface="Wingdings" pitchFamily="2" charset="2"/>
              <a:buAutoNum type="arabicPeriod"/>
            </a:pPr>
            <a:r>
              <a:rPr lang="en-US" altLang="zh-CN" sz="1800" b="0"/>
              <a:t>  char s[80];</a:t>
            </a:r>
          </a:p>
          <a:p>
            <a:pPr marL="990600" lvl="1" indent="-533400" eaLnBrk="1" hangingPunct="1">
              <a:lnSpc>
                <a:spcPct val="80000"/>
              </a:lnSpc>
              <a:buFont typeface="Wingdings" pitchFamily="2" charset="2"/>
              <a:buAutoNum type="arabicPeriod"/>
            </a:pPr>
            <a:r>
              <a:rPr lang="en-US" altLang="zh-CN" sz="1800" b="0"/>
              <a:t>  int count;</a:t>
            </a:r>
          </a:p>
          <a:p>
            <a:pPr marL="990600" lvl="1" indent="-533400" eaLnBrk="1" hangingPunct="1">
              <a:lnSpc>
                <a:spcPct val="80000"/>
              </a:lnSpc>
              <a:buFont typeface="Wingdings" pitchFamily="2" charset="2"/>
              <a:buAutoNum type="arabicPeriod"/>
            </a:pPr>
            <a:r>
              <a:rPr lang="en-US" altLang="zh-CN" sz="1800" b="0"/>
              <a:t>  printf("</a:t>
            </a:r>
            <a:r>
              <a:rPr lang="zh-CN" altLang="en-US" sz="1800" b="0"/>
              <a:t>输入文件名</a:t>
            </a:r>
            <a:r>
              <a:rPr lang="en-US" altLang="zh-CN" sz="1800" b="0"/>
              <a:t>!\n");  scanf("%s%*c", fname);</a:t>
            </a:r>
          </a:p>
          <a:p>
            <a:pPr marL="990600" lvl="1" indent="-533400" eaLnBrk="1" hangingPunct="1">
              <a:lnSpc>
                <a:spcPct val="80000"/>
              </a:lnSpc>
              <a:buFont typeface="Wingdings" pitchFamily="2" charset="2"/>
              <a:buAutoNum type="arabicPeriod"/>
            </a:pPr>
            <a:r>
              <a:rPr lang="en-US" altLang="zh-CN" sz="1800" b="0"/>
              <a:t>  if ((fp=</a:t>
            </a:r>
            <a:r>
              <a:rPr lang="en-US" altLang="zh-CN" sz="1800" b="0">
                <a:solidFill>
                  <a:srgbClr val="0070C0"/>
                </a:solidFill>
              </a:rPr>
              <a:t>fopen</a:t>
            </a:r>
            <a:r>
              <a:rPr lang="en-US" altLang="zh-CN" sz="1800" b="0"/>
              <a:t>(fname, </a:t>
            </a:r>
            <a:r>
              <a:rPr lang="en-US" altLang="zh-CN" sz="1800" b="0">
                <a:solidFill>
                  <a:srgbClr val="0432FF"/>
                </a:solidFill>
              </a:rPr>
              <a:t>"wb"</a:t>
            </a:r>
            <a:r>
              <a:rPr lang="en-US" altLang="zh-CN" sz="1800" b="0"/>
              <a:t>)) == NULL)  {</a:t>
            </a:r>
          </a:p>
          <a:p>
            <a:pPr marL="990600" lvl="1" indent="-533400" eaLnBrk="1" hangingPunct="1">
              <a:lnSpc>
                <a:spcPct val="80000"/>
              </a:lnSpc>
              <a:buFont typeface="Wingdings" pitchFamily="2" charset="2"/>
              <a:buAutoNum type="arabicPeriod"/>
            </a:pPr>
            <a:r>
              <a:rPr lang="en-US" altLang="zh-CN" sz="1800" b="0"/>
              <a:t>      printf("Can not open %s file.\n", fname);</a:t>
            </a:r>
          </a:p>
          <a:p>
            <a:pPr marL="990600" lvl="1" indent="-533400" eaLnBrk="1" hangingPunct="1">
              <a:lnSpc>
                <a:spcPct val="80000"/>
              </a:lnSpc>
              <a:buFont typeface="Wingdings" pitchFamily="2" charset="2"/>
              <a:buAutoNum type="arabicPeriod"/>
            </a:pPr>
            <a:r>
              <a:rPr lang="en-US" altLang="zh-CN" sz="1800" b="0"/>
              <a:t>      return 1;</a:t>
            </a:r>
          </a:p>
          <a:p>
            <a:pPr marL="990600" lvl="1" indent="-533400" eaLnBrk="1" hangingPunct="1">
              <a:lnSpc>
                <a:spcPct val="80000"/>
              </a:lnSpc>
              <a:buFont typeface="Wingdings" pitchFamily="2" charset="2"/>
              <a:buAutoNum type="arabicPeriod"/>
            </a:pPr>
            <a:r>
              <a:rPr lang="en-US" altLang="zh-CN" sz="1800" b="0"/>
              <a:t>  }</a:t>
            </a:r>
          </a:p>
          <a:p>
            <a:pPr marL="609600" indent="-609600" eaLnBrk="1" hangingPunct="1">
              <a:lnSpc>
                <a:spcPct val="80000"/>
              </a:lnSpc>
            </a:pPr>
            <a:endParaRPr lang="en-US" altLang="zh-CN" sz="2000" b="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67FD1A1-C24A-E79E-CD03-E11659E2F641}"/>
              </a:ext>
            </a:extLst>
          </p:cNvPr>
          <p:cNvSpPr>
            <a:spLocks noGrp="1" noChangeArrowheads="1"/>
          </p:cNvSpPr>
          <p:nvPr>
            <p:ph type="title"/>
          </p:nvPr>
        </p:nvSpPr>
        <p:spPr/>
        <p:txBody>
          <a:bodyPr/>
          <a:lstStyle/>
          <a:p>
            <a:pPr eaLnBrk="1" hangingPunct="1"/>
            <a:endParaRPr lang="zh-CN" altLang="zh-CN"/>
          </a:p>
        </p:txBody>
      </p:sp>
      <p:sp>
        <p:nvSpPr>
          <p:cNvPr id="39939" name="Rectangle 3">
            <a:extLst>
              <a:ext uri="{FF2B5EF4-FFF2-40B4-BE49-F238E27FC236}">
                <a16:creationId xmlns:a16="http://schemas.microsoft.com/office/drawing/2014/main" id="{BA5B3336-E89C-AB8F-FD57-6E9E5D010DEE}"/>
              </a:ext>
            </a:extLst>
          </p:cNvPr>
          <p:cNvSpPr>
            <a:spLocks noGrp="1" noChangeArrowheads="1"/>
          </p:cNvSpPr>
          <p:nvPr>
            <p:ph type="body" idx="1"/>
          </p:nvPr>
        </p:nvSpPr>
        <p:spPr>
          <a:xfrm>
            <a:off x="1066800" y="228600"/>
            <a:ext cx="7772400" cy="4114800"/>
          </a:xfrm>
        </p:spPr>
        <p:txBody>
          <a:bodyPr/>
          <a:lstStyle/>
          <a:p>
            <a:pPr marL="990600" lvl="1" indent="-533400" eaLnBrk="1" hangingPunct="1">
              <a:lnSpc>
                <a:spcPct val="80000"/>
              </a:lnSpc>
              <a:buFont typeface="Wingdings" pitchFamily="2" charset="2"/>
              <a:buAutoNum type="arabicPeriod" startAt="20"/>
            </a:pPr>
            <a:r>
              <a:rPr lang="en-US" altLang="zh-CN" sz="1800" b="0"/>
              <a:t>printf("Enter data[</a:t>
            </a:r>
            <a:r>
              <a:rPr lang="zh-CN" altLang="en-US" sz="1800" b="0"/>
              <a:t>名 电话号码 邮编 地址</a:t>
            </a:r>
            <a:r>
              <a:rPr lang="en-US" altLang="zh-CN" sz="1800" b="0"/>
              <a:t>].\n");</a:t>
            </a:r>
          </a:p>
          <a:p>
            <a:pPr marL="990600" lvl="1" indent="-533400" eaLnBrk="1" hangingPunct="1">
              <a:lnSpc>
                <a:spcPct val="80000"/>
              </a:lnSpc>
              <a:buFont typeface="Wingdings" pitchFamily="2" charset="2"/>
              <a:buAutoNum type="arabicPeriod" startAt="20"/>
            </a:pPr>
            <a:r>
              <a:rPr lang="en-US" altLang="zh-CN" sz="1800" b="0"/>
              <a:t>for(count = 1;;count++) {</a:t>
            </a:r>
          </a:p>
          <a:p>
            <a:pPr marL="990600" lvl="1" indent="-533400" eaLnBrk="1" hangingPunct="1">
              <a:lnSpc>
                <a:spcPct val="80000"/>
              </a:lnSpc>
              <a:buFont typeface="Wingdings" pitchFamily="2" charset="2"/>
              <a:buAutoNum type="arabicPeriod" startAt="20"/>
            </a:pPr>
            <a:r>
              <a:rPr lang="en-US" altLang="zh-CN" sz="1800" b="0"/>
              <a:t>   printf("</a:t>
            </a:r>
            <a:r>
              <a:rPr lang="zh-CN" altLang="en-US" sz="1800" b="0"/>
              <a:t>输入第 </a:t>
            </a:r>
            <a:r>
              <a:rPr lang="en-US" altLang="zh-CN" sz="1800" b="0"/>
              <a:t>%d</a:t>
            </a:r>
            <a:r>
              <a:rPr lang="zh-CN" altLang="en-US" sz="1800" b="0"/>
              <a:t>个通信录（空行结束）：</a:t>
            </a:r>
            <a:r>
              <a:rPr lang="en-US" altLang="zh-CN" sz="1800" b="0"/>
              <a:t>\n",count);</a:t>
            </a:r>
          </a:p>
          <a:p>
            <a:pPr marL="990600" lvl="1" indent="-533400" eaLnBrk="1" hangingPunct="1">
              <a:lnSpc>
                <a:spcPct val="80000"/>
              </a:lnSpc>
              <a:buFont typeface="Wingdings" pitchFamily="2" charset="2"/>
              <a:buAutoNum type="arabicPeriod" startAt="20"/>
            </a:pPr>
            <a:r>
              <a:rPr lang="en-US" altLang="zh-CN" sz="1800" b="0"/>
              <a:t>   printf("</a:t>
            </a:r>
            <a:r>
              <a:rPr lang="zh-CN" altLang="en-US" sz="1800" b="0"/>
              <a:t>名</a:t>
            </a:r>
            <a:r>
              <a:rPr lang="en-US" altLang="zh-CN" sz="1800" b="0"/>
              <a:t>:  ");   gets(s);</a:t>
            </a:r>
          </a:p>
          <a:p>
            <a:pPr marL="990600" lvl="1" indent="-533400" eaLnBrk="1" hangingPunct="1">
              <a:lnSpc>
                <a:spcPct val="80000"/>
              </a:lnSpc>
              <a:buFont typeface="Wingdings" pitchFamily="2" charset="2"/>
              <a:buAutoNum type="arabicPeriod" startAt="20"/>
            </a:pPr>
            <a:r>
              <a:rPr lang="en-US" altLang="zh-CN" sz="1800" b="0"/>
              <a:t>   if ( strlen(s) == 0) break;</a:t>
            </a:r>
          </a:p>
          <a:p>
            <a:pPr marL="990600" lvl="1" indent="-533400" eaLnBrk="1" hangingPunct="1">
              <a:lnSpc>
                <a:spcPct val="80000"/>
              </a:lnSpc>
              <a:buFont typeface="Wingdings" pitchFamily="2" charset="2"/>
              <a:buAutoNum type="arabicPeriod" startAt="20"/>
            </a:pPr>
            <a:r>
              <a:rPr lang="en-US" altLang="zh-CN" sz="1800" b="0"/>
              <a:t>   strncpy(stud.name, s, 14);   </a:t>
            </a:r>
            <a:r>
              <a:rPr lang="en-US" altLang="zh-CN" sz="1800" b="0">
                <a:solidFill>
                  <a:schemeClr val="folHlink"/>
                </a:solidFill>
              </a:rPr>
              <a:t>//</a:t>
            </a:r>
            <a:r>
              <a:rPr lang="en-US" altLang="zh-CN" sz="1800" b="0">
                <a:solidFill>
                  <a:schemeClr val="folHlink"/>
                </a:solidFill>
                <a:sym typeface="Wingdings" pitchFamily="2" charset="2"/>
              </a:rPr>
              <a:t></a:t>
            </a:r>
            <a:r>
              <a:rPr lang="zh-CN" altLang="en-US" sz="1800" b="0">
                <a:solidFill>
                  <a:schemeClr val="folHlink"/>
                </a:solidFill>
                <a:sym typeface="Wingdings" pitchFamily="2" charset="2"/>
              </a:rPr>
              <a:t>应加</a:t>
            </a:r>
            <a:r>
              <a:rPr lang="zh-CN" altLang="en-US" sz="1800" b="0">
                <a:solidFill>
                  <a:schemeClr val="folHlink"/>
                </a:solidFill>
              </a:rPr>
              <a:t> </a:t>
            </a:r>
            <a:r>
              <a:rPr lang="en-US" altLang="zh-CN" sz="1800" b="0">
                <a:solidFill>
                  <a:schemeClr val="folHlink"/>
                </a:solidFill>
              </a:rPr>
              <a:t>stud.name[14]=0;</a:t>
            </a:r>
          </a:p>
          <a:p>
            <a:pPr marL="990600" lvl="1" indent="-533400" eaLnBrk="1" hangingPunct="1">
              <a:lnSpc>
                <a:spcPct val="80000"/>
              </a:lnSpc>
              <a:buFont typeface="Wingdings" pitchFamily="2" charset="2"/>
              <a:buAutoNum type="arabicPeriod" startAt="20"/>
            </a:pPr>
            <a:r>
              <a:rPr lang="en-US" altLang="zh-CN" sz="1800" b="0"/>
              <a:t>   printf("</a:t>
            </a:r>
            <a:r>
              <a:rPr lang="zh-CN" altLang="en-US" sz="1800" b="0"/>
              <a:t>电话号码</a:t>
            </a:r>
            <a:r>
              <a:rPr lang="en-US" altLang="zh-CN" sz="1800" b="0"/>
              <a:t>:  ");  scanf("%s", s);     </a:t>
            </a:r>
          </a:p>
          <a:p>
            <a:pPr marL="990600" lvl="1" indent="-533400" eaLnBrk="1" hangingPunct="1">
              <a:lnSpc>
                <a:spcPct val="80000"/>
              </a:lnSpc>
              <a:buFont typeface="Wingdings" pitchFamily="2" charset="2"/>
              <a:buAutoNum type="arabicPeriod" startAt="20"/>
            </a:pPr>
            <a:r>
              <a:rPr lang="en-US" altLang="zh-CN" sz="1800" b="0"/>
              <a:t>   strncpy(stud.phone, s, 14);  </a:t>
            </a:r>
            <a:r>
              <a:rPr lang="en-US" altLang="zh-CN" sz="1800" b="0">
                <a:solidFill>
                  <a:schemeClr val="folHlink"/>
                </a:solidFill>
              </a:rPr>
              <a:t>//</a:t>
            </a:r>
            <a:r>
              <a:rPr lang="en-US" altLang="zh-CN" sz="1800" b="0">
                <a:solidFill>
                  <a:schemeClr val="folHlink"/>
                </a:solidFill>
                <a:sym typeface="Wingdings" pitchFamily="2" charset="2"/>
              </a:rPr>
              <a:t></a:t>
            </a:r>
            <a:r>
              <a:rPr lang="zh-CN" altLang="en-US" sz="1800" b="0">
                <a:solidFill>
                  <a:schemeClr val="folHlink"/>
                </a:solidFill>
                <a:sym typeface="Wingdings" pitchFamily="2" charset="2"/>
              </a:rPr>
              <a:t>应加</a:t>
            </a:r>
            <a:r>
              <a:rPr lang="zh-CN" altLang="en-US" sz="1800" b="0">
                <a:solidFill>
                  <a:schemeClr val="folHlink"/>
                </a:solidFill>
              </a:rPr>
              <a:t> </a:t>
            </a:r>
            <a:r>
              <a:rPr lang="en-US" altLang="zh-CN" sz="1800" b="0">
                <a:solidFill>
                  <a:schemeClr val="folHlink"/>
                </a:solidFill>
              </a:rPr>
              <a:t>stud.phone[14]=0;</a:t>
            </a:r>
            <a:endParaRPr lang="en-US" altLang="zh-CN" sz="1800" b="0"/>
          </a:p>
          <a:p>
            <a:pPr marL="990600" lvl="1" indent="-533400" eaLnBrk="1" hangingPunct="1">
              <a:lnSpc>
                <a:spcPct val="80000"/>
              </a:lnSpc>
              <a:buFont typeface="Wingdings" pitchFamily="2" charset="2"/>
              <a:buAutoNum type="arabicPeriod" startAt="20"/>
            </a:pPr>
            <a:r>
              <a:rPr lang="en-US" altLang="zh-CN" sz="1800" b="0"/>
              <a:t>   printf("</a:t>
            </a:r>
            <a:r>
              <a:rPr lang="zh-CN" altLang="en-US" sz="1800" b="0"/>
              <a:t>邮编</a:t>
            </a:r>
            <a:r>
              <a:rPr lang="en-US" altLang="zh-CN" sz="1800" b="0"/>
              <a:t>:  "); scanf("%s", s);         </a:t>
            </a:r>
          </a:p>
          <a:p>
            <a:pPr marL="990600" lvl="1" indent="-533400" eaLnBrk="1" hangingPunct="1">
              <a:lnSpc>
                <a:spcPct val="80000"/>
              </a:lnSpc>
              <a:buFont typeface="Wingdings" pitchFamily="2" charset="2"/>
              <a:buAutoNum type="arabicPeriod" startAt="20"/>
            </a:pPr>
            <a:r>
              <a:rPr lang="en-US" altLang="zh-CN" sz="1800" b="0"/>
              <a:t>    strncpy(stud.zip, s, 9);        </a:t>
            </a:r>
            <a:r>
              <a:rPr lang="en-US" altLang="zh-CN" sz="1800" b="0">
                <a:solidFill>
                  <a:schemeClr val="folHlink"/>
                </a:solidFill>
              </a:rPr>
              <a:t>//</a:t>
            </a:r>
            <a:r>
              <a:rPr lang="en-US" altLang="zh-CN" sz="1800" b="0">
                <a:solidFill>
                  <a:schemeClr val="folHlink"/>
                </a:solidFill>
                <a:sym typeface="Wingdings" pitchFamily="2" charset="2"/>
              </a:rPr>
              <a:t></a:t>
            </a:r>
            <a:r>
              <a:rPr lang="zh-CN" altLang="en-US" sz="1800" b="0">
                <a:solidFill>
                  <a:schemeClr val="folHlink"/>
                </a:solidFill>
                <a:sym typeface="Wingdings" pitchFamily="2" charset="2"/>
              </a:rPr>
              <a:t>应加</a:t>
            </a:r>
            <a:r>
              <a:rPr lang="zh-CN" altLang="en-US" sz="1800" b="0">
                <a:solidFill>
                  <a:schemeClr val="folHlink"/>
                </a:solidFill>
              </a:rPr>
              <a:t> </a:t>
            </a:r>
            <a:r>
              <a:rPr lang="en-US" altLang="zh-CN" sz="1800" b="0">
                <a:solidFill>
                  <a:schemeClr val="folHlink"/>
                </a:solidFill>
              </a:rPr>
              <a:t>stud.zip[9]=0;</a:t>
            </a:r>
            <a:endParaRPr lang="en-US" altLang="zh-CN" sz="1800" b="0"/>
          </a:p>
          <a:p>
            <a:pPr marL="990600" lvl="1" indent="-533400" eaLnBrk="1" hangingPunct="1">
              <a:lnSpc>
                <a:spcPct val="80000"/>
              </a:lnSpc>
              <a:buFont typeface="Wingdings" pitchFamily="2" charset="2"/>
              <a:buAutoNum type="arabicPeriod" startAt="20"/>
            </a:pPr>
            <a:r>
              <a:rPr lang="en-US" altLang="zh-CN" sz="1800" b="0"/>
              <a:t>    printf("</a:t>
            </a:r>
            <a:r>
              <a:rPr lang="zh-CN" altLang="en-US" sz="1800" b="0"/>
              <a:t>地址</a:t>
            </a:r>
            <a:r>
              <a:rPr lang="en-US" altLang="zh-CN" sz="1800" b="0"/>
              <a:t>:  ");  scanf("%s%*c", s);  </a:t>
            </a:r>
          </a:p>
          <a:p>
            <a:pPr marL="990600" lvl="1" indent="-533400" eaLnBrk="1" hangingPunct="1">
              <a:lnSpc>
                <a:spcPct val="80000"/>
              </a:lnSpc>
              <a:buFont typeface="Wingdings" pitchFamily="2" charset="2"/>
              <a:buAutoNum type="arabicPeriod" startAt="20"/>
            </a:pPr>
            <a:r>
              <a:rPr lang="en-US" altLang="zh-CN" sz="1800" b="0"/>
              <a:t>    strncpy(stud.addr, s, 30);    </a:t>
            </a:r>
            <a:r>
              <a:rPr lang="en-US" altLang="zh-CN" sz="1800" b="0">
                <a:solidFill>
                  <a:schemeClr val="folHlink"/>
                </a:solidFill>
              </a:rPr>
              <a:t>//</a:t>
            </a:r>
            <a:r>
              <a:rPr lang="en-US" altLang="zh-CN" sz="1800" b="0">
                <a:solidFill>
                  <a:schemeClr val="folHlink"/>
                </a:solidFill>
                <a:sym typeface="Wingdings" pitchFamily="2" charset="2"/>
              </a:rPr>
              <a:t></a:t>
            </a:r>
            <a:r>
              <a:rPr lang="zh-CN" altLang="en-US" sz="1800" b="0">
                <a:solidFill>
                  <a:schemeClr val="folHlink"/>
                </a:solidFill>
                <a:sym typeface="Wingdings" pitchFamily="2" charset="2"/>
              </a:rPr>
              <a:t>应加</a:t>
            </a:r>
            <a:r>
              <a:rPr lang="zh-CN" altLang="en-US" sz="1800" b="0">
                <a:solidFill>
                  <a:schemeClr val="folHlink"/>
                </a:solidFill>
              </a:rPr>
              <a:t> </a:t>
            </a:r>
            <a:r>
              <a:rPr lang="en-US" altLang="zh-CN" sz="1800" b="0">
                <a:solidFill>
                  <a:schemeClr val="folHlink"/>
                </a:solidFill>
              </a:rPr>
              <a:t>stud.addr[30]=0;</a:t>
            </a:r>
            <a:endParaRPr lang="en-US" altLang="zh-CN" sz="1800" b="0"/>
          </a:p>
          <a:p>
            <a:pPr marL="990600" lvl="1" indent="-533400" eaLnBrk="1" hangingPunct="1">
              <a:lnSpc>
                <a:spcPct val="80000"/>
              </a:lnSpc>
              <a:buFont typeface="Wingdings" pitchFamily="2" charset="2"/>
              <a:buAutoNum type="arabicPeriod" startAt="20"/>
            </a:pPr>
            <a:r>
              <a:rPr lang="en-US" altLang="zh-CN" sz="1800" b="0"/>
              <a:t>    if(</a:t>
            </a:r>
            <a:r>
              <a:rPr lang="en-US" altLang="zh-CN" sz="1800" b="0">
                <a:solidFill>
                  <a:srgbClr val="0070C0"/>
                </a:solidFill>
              </a:rPr>
              <a:t>fwrite</a:t>
            </a:r>
            <a:r>
              <a:rPr lang="en-US" altLang="zh-CN" sz="1800" b="0"/>
              <a:t>(&amp;stud,sizeof(STU_TYPE),1,fp)!=1){</a:t>
            </a:r>
          </a:p>
          <a:p>
            <a:pPr marL="990600" lvl="1" indent="-533400" eaLnBrk="1" hangingPunct="1">
              <a:lnSpc>
                <a:spcPct val="80000"/>
              </a:lnSpc>
              <a:buFont typeface="Wingdings" pitchFamily="2" charset="2"/>
              <a:buAutoNum type="arabicPeriod" startAt="20"/>
            </a:pPr>
            <a:r>
              <a:rPr lang="en-US" altLang="zh-CN" sz="1800" b="0"/>
              <a:t>       printf("</a:t>
            </a:r>
            <a:r>
              <a:rPr lang="zh-CN" altLang="en-US" sz="1800" b="0"/>
              <a:t>文件输出出错！</a:t>
            </a:r>
            <a:r>
              <a:rPr lang="en-US" altLang="zh-CN" sz="1800" b="0"/>
              <a:t>.\n");</a:t>
            </a:r>
          </a:p>
          <a:p>
            <a:pPr marL="990600" lvl="1" indent="-533400" eaLnBrk="1" hangingPunct="1">
              <a:lnSpc>
                <a:spcPct val="80000"/>
              </a:lnSpc>
              <a:buFont typeface="Wingdings" pitchFamily="2" charset="2"/>
              <a:buAutoNum type="arabicPeriod" startAt="20"/>
            </a:pPr>
            <a:r>
              <a:rPr lang="en-US" altLang="zh-CN" sz="1800" b="0"/>
              <a:t>       fclose(fp);   return 2;</a:t>
            </a:r>
          </a:p>
          <a:p>
            <a:pPr marL="990600" lvl="1" indent="-533400" eaLnBrk="1" hangingPunct="1">
              <a:lnSpc>
                <a:spcPct val="80000"/>
              </a:lnSpc>
              <a:buFont typeface="Wingdings" pitchFamily="2" charset="2"/>
              <a:buAutoNum type="arabicPeriod" startAt="20"/>
            </a:pPr>
            <a:r>
              <a:rPr lang="en-US" altLang="zh-CN" sz="1800" b="0"/>
              <a:t>    }</a:t>
            </a:r>
          </a:p>
          <a:p>
            <a:pPr marL="990600" lvl="1" indent="-533400" eaLnBrk="1" hangingPunct="1">
              <a:lnSpc>
                <a:spcPct val="80000"/>
              </a:lnSpc>
              <a:buFont typeface="Wingdings" pitchFamily="2" charset="2"/>
              <a:buAutoNum type="arabicPeriod" startAt="20"/>
            </a:pPr>
            <a:r>
              <a:rPr lang="en-US" altLang="zh-CN" sz="1800" b="0"/>
              <a:t> }</a:t>
            </a:r>
          </a:p>
          <a:p>
            <a:pPr marL="990600" lvl="1" indent="-533400" eaLnBrk="1" hangingPunct="1">
              <a:lnSpc>
                <a:spcPct val="80000"/>
              </a:lnSpc>
              <a:buFont typeface="Wingdings" pitchFamily="2" charset="2"/>
              <a:buAutoNum type="arabicPeriod" startAt="20"/>
            </a:pPr>
            <a:r>
              <a:rPr lang="en-US" altLang="zh-CN" sz="1800" b="0"/>
              <a:t> fclose(fp);</a:t>
            </a:r>
          </a:p>
          <a:p>
            <a:pPr marL="990600" lvl="1" indent="-533400" eaLnBrk="1" hangingPunct="1">
              <a:lnSpc>
                <a:spcPct val="80000"/>
              </a:lnSpc>
              <a:buFont typeface="Wingdings" pitchFamily="2" charset="2"/>
              <a:buAutoNum type="arabicPeriod" startAt="20"/>
            </a:pPr>
            <a:r>
              <a:rPr lang="en-US" altLang="zh-CN" sz="1800" b="0"/>
              <a:t> fp = </a:t>
            </a:r>
            <a:r>
              <a:rPr lang="en-US" altLang="zh-CN" sz="1800" b="0">
                <a:solidFill>
                  <a:srgbClr val="0070C0"/>
                </a:solidFill>
              </a:rPr>
              <a:t>fopen</a:t>
            </a:r>
            <a:r>
              <a:rPr lang="en-US" altLang="zh-CN" sz="1800" b="0"/>
              <a:t>(fname, "rb");  </a:t>
            </a:r>
          </a:p>
          <a:p>
            <a:pPr marL="990600" lvl="1" indent="-533400" eaLnBrk="1" hangingPunct="1">
              <a:lnSpc>
                <a:spcPct val="80000"/>
              </a:lnSpc>
              <a:buFont typeface="Wingdings" pitchFamily="2" charset="2"/>
              <a:buAutoNum type="arabicPeriod" startAt="20"/>
            </a:pPr>
            <a:r>
              <a:rPr lang="en-US" altLang="zh-CN" sz="1800" b="0"/>
              <a:t> while(</a:t>
            </a:r>
            <a:r>
              <a:rPr lang="en-US" altLang="zh-CN" sz="1800" b="0">
                <a:solidFill>
                  <a:srgbClr val="0070C0"/>
                </a:solidFill>
              </a:rPr>
              <a:t>fread</a:t>
            </a:r>
            <a:r>
              <a:rPr lang="en-US" altLang="zh-CN" sz="1800" b="0"/>
              <a:t>(&amp;stud,sizeof(STU_TYPE),1,fp)==1)</a:t>
            </a:r>
          </a:p>
          <a:p>
            <a:pPr marL="990600" lvl="1" indent="-533400" eaLnBrk="1" hangingPunct="1">
              <a:lnSpc>
                <a:spcPct val="80000"/>
              </a:lnSpc>
              <a:buFont typeface="Wingdings" pitchFamily="2" charset="2"/>
              <a:buAutoNum type="arabicPeriod" startAt="20"/>
            </a:pPr>
            <a:r>
              <a:rPr lang="en-US" altLang="zh-CN" sz="1800" b="0"/>
              <a:t>    printf("%-16s%15s%12s%32s\n", stud.name, </a:t>
            </a:r>
            <a:br>
              <a:rPr lang="en-US" altLang="zh-CN" sz="1800" b="0"/>
            </a:br>
            <a:r>
              <a:rPr lang="en-US" altLang="zh-CN" sz="1800" b="0"/>
              <a:t>               stud.phone, stud.zip, stud.addr);</a:t>
            </a:r>
          </a:p>
          <a:p>
            <a:pPr marL="990600" lvl="1" indent="-533400" eaLnBrk="1" hangingPunct="1">
              <a:lnSpc>
                <a:spcPct val="80000"/>
              </a:lnSpc>
              <a:buFont typeface="Wingdings" pitchFamily="2" charset="2"/>
              <a:buAutoNum type="arabicPeriod" startAt="20"/>
            </a:pPr>
            <a:r>
              <a:rPr lang="en-US" altLang="zh-CN" sz="1800" b="0"/>
              <a:t> fclose(fp);  return 0;</a:t>
            </a:r>
          </a:p>
          <a:p>
            <a:pPr marL="990600" lvl="1" indent="-533400" eaLnBrk="1" hangingPunct="1">
              <a:lnSpc>
                <a:spcPct val="80000"/>
              </a:lnSpc>
              <a:buFont typeface="Wingdings" pitchFamily="2" charset="2"/>
              <a:buAutoNum type="arabicPeriod" startAt="20"/>
            </a:pPr>
            <a:r>
              <a:rPr lang="en-US" altLang="zh-CN" sz="1800" b="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36EA618-A725-DF6E-B0EA-A17AAC565585}"/>
              </a:ext>
            </a:extLst>
          </p:cNvPr>
          <p:cNvSpPr>
            <a:spLocks noGrp="1" noChangeArrowheads="1"/>
          </p:cNvSpPr>
          <p:nvPr>
            <p:ph type="title"/>
          </p:nvPr>
        </p:nvSpPr>
        <p:spPr/>
        <p:txBody>
          <a:bodyPr/>
          <a:lstStyle/>
          <a:p>
            <a:pPr eaLnBrk="1" hangingPunct="1"/>
            <a:r>
              <a:rPr lang="zh-CN" altLang="en-US" sz="3600"/>
              <a:t>其他常用库函数简介</a:t>
            </a:r>
            <a:r>
              <a:rPr lang="en-US" altLang="zh-CN" sz="3600"/>
              <a:t>——</a:t>
            </a:r>
            <a:br>
              <a:rPr lang="en-US" altLang="zh-CN" sz="3600"/>
            </a:br>
            <a:r>
              <a:rPr lang="en-US" altLang="zh-CN" sz="3200"/>
              <a:t>(1) </a:t>
            </a:r>
            <a:r>
              <a:rPr lang="en-US" altLang="zh-CN" sz="3600"/>
              <a:t>fprintf()</a:t>
            </a:r>
            <a:r>
              <a:rPr lang="zh-CN" altLang="en-US" sz="3600"/>
              <a:t>和</a:t>
            </a:r>
            <a:r>
              <a:rPr lang="en-US" altLang="zh-CN" sz="3600"/>
              <a:t>fscanf()</a:t>
            </a:r>
          </a:p>
        </p:txBody>
      </p:sp>
      <p:sp>
        <p:nvSpPr>
          <p:cNvPr id="40963" name="Rectangle 3">
            <a:extLst>
              <a:ext uri="{FF2B5EF4-FFF2-40B4-BE49-F238E27FC236}">
                <a16:creationId xmlns:a16="http://schemas.microsoft.com/office/drawing/2014/main" id="{F99A41D1-4109-CD6F-C083-7E97D418315E}"/>
              </a:ext>
            </a:extLst>
          </p:cNvPr>
          <p:cNvSpPr>
            <a:spLocks noGrp="1" noChangeArrowheads="1"/>
          </p:cNvSpPr>
          <p:nvPr>
            <p:ph type="body" idx="1"/>
          </p:nvPr>
        </p:nvSpPr>
        <p:spPr>
          <a:xfrm>
            <a:off x="827088" y="1733574"/>
            <a:ext cx="7866062" cy="4503738"/>
          </a:xfrm>
        </p:spPr>
        <p:txBody>
          <a:bodyPr/>
          <a:lstStyle/>
          <a:p>
            <a:pPr marL="609600" indent="-609600" algn="just" eaLnBrk="1" hangingPunct="1">
              <a:lnSpc>
                <a:spcPct val="150000"/>
              </a:lnSpc>
            </a:pPr>
            <a:r>
              <a:rPr lang="zh-CN" altLang="en-US" sz="1800" b="0"/>
              <a:t>函数</a:t>
            </a:r>
            <a:r>
              <a:rPr lang="en-US" altLang="zh-CN" sz="1800" b="0"/>
              <a:t>fprintf()</a:t>
            </a:r>
            <a:r>
              <a:rPr lang="zh-CN" altLang="en-US" sz="1800" b="0"/>
              <a:t>和</a:t>
            </a:r>
            <a:r>
              <a:rPr lang="en-US" altLang="zh-CN" sz="1800" b="0"/>
              <a:t>fscanf()</a:t>
            </a:r>
            <a:r>
              <a:rPr lang="zh-CN" altLang="en-US" sz="1800" b="0"/>
              <a:t>的作用分别与函数</a:t>
            </a:r>
            <a:r>
              <a:rPr lang="en-US" altLang="zh-CN" sz="1800" b="0"/>
              <a:t>printf()</a:t>
            </a:r>
            <a:r>
              <a:rPr lang="zh-CN" altLang="en-US" sz="1800" b="0"/>
              <a:t>和</a:t>
            </a:r>
            <a:r>
              <a:rPr lang="en-US" altLang="zh-CN" sz="1800" b="0"/>
              <a:t>scanf()</a:t>
            </a:r>
            <a:r>
              <a:rPr lang="zh-CN" altLang="en-US" sz="1800" b="0"/>
              <a:t>相仿，都是格式输入和输出函数。只是函数</a:t>
            </a:r>
            <a:r>
              <a:rPr lang="en-US" altLang="zh-CN" sz="1800" b="0"/>
              <a:t>fprintf()</a:t>
            </a:r>
            <a:r>
              <a:rPr lang="zh-CN" altLang="en-US" sz="1800" b="0"/>
              <a:t>和</a:t>
            </a:r>
            <a:r>
              <a:rPr lang="en-US" altLang="zh-CN" sz="1800" b="0"/>
              <a:t>fscanf()</a:t>
            </a:r>
            <a:r>
              <a:rPr lang="zh-CN" altLang="en-US" sz="1800" b="0"/>
              <a:t>的输出输入的对象是一般的文件。因此，</a:t>
            </a:r>
            <a:r>
              <a:rPr lang="zh-CN" altLang="en-US" sz="1800" b="0">
                <a:solidFill>
                  <a:srgbClr val="0066FF"/>
                </a:solidFill>
              </a:rPr>
              <a:t>也多了一个文件指针形参</a:t>
            </a:r>
            <a:r>
              <a:rPr lang="zh-CN" altLang="en-US" sz="1800" b="0"/>
              <a:t>。</a:t>
            </a:r>
          </a:p>
          <a:p>
            <a:pPr marL="609600" indent="-609600" algn="just" eaLnBrk="1" hangingPunct="1">
              <a:lnSpc>
                <a:spcPct val="150000"/>
              </a:lnSpc>
            </a:pPr>
            <a:r>
              <a:rPr lang="zh-CN" altLang="en-US" sz="1800" b="0"/>
              <a:t>它们的一般调用形式分别为：</a:t>
            </a:r>
          </a:p>
          <a:p>
            <a:pPr marL="990600" lvl="1" indent="-533400" algn="just" eaLnBrk="1" hangingPunct="1">
              <a:lnSpc>
                <a:spcPct val="150000"/>
              </a:lnSpc>
            </a:pPr>
            <a:r>
              <a:rPr lang="en-US" altLang="zh-CN" sz="1600" b="0"/>
              <a:t>fprintf(</a:t>
            </a:r>
            <a:r>
              <a:rPr lang="zh-CN" altLang="en-US" sz="1600" b="0"/>
              <a:t>文件指针</a:t>
            </a:r>
            <a:r>
              <a:rPr lang="en-US" altLang="zh-CN" sz="1600" b="0"/>
              <a:t>, </a:t>
            </a:r>
            <a:r>
              <a:rPr lang="zh-CN" altLang="en-US" sz="1600" b="0"/>
              <a:t>格式字符串</a:t>
            </a:r>
            <a:r>
              <a:rPr lang="en-US" altLang="zh-CN" sz="1600" b="0"/>
              <a:t>, </a:t>
            </a:r>
            <a:r>
              <a:rPr lang="zh-CN" altLang="en-US" sz="1600" b="0"/>
              <a:t>输出项表</a:t>
            </a:r>
            <a:r>
              <a:rPr lang="en-US" altLang="zh-CN" sz="1600" b="0"/>
              <a:t>)</a:t>
            </a:r>
          </a:p>
          <a:p>
            <a:pPr marL="990600" lvl="1" indent="-533400" algn="just" eaLnBrk="1" hangingPunct="1">
              <a:lnSpc>
                <a:spcPct val="150000"/>
              </a:lnSpc>
            </a:pPr>
            <a:r>
              <a:rPr lang="en-US" altLang="zh-CN" sz="1600" b="0"/>
              <a:t>fscanf(</a:t>
            </a:r>
            <a:r>
              <a:rPr lang="zh-CN" altLang="en-US" sz="1600" b="0"/>
              <a:t>文件指针</a:t>
            </a:r>
            <a:r>
              <a:rPr lang="en-US" altLang="zh-CN" sz="1600" b="0"/>
              <a:t>, </a:t>
            </a:r>
            <a:r>
              <a:rPr lang="zh-CN" altLang="en-US" sz="1600" b="0"/>
              <a:t>格式字符串</a:t>
            </a:r>
            <a:r>
              <a:rPr lang="en-US" altLang="zh-CN" sz="1600" b="0"/>
              <a:t>, </a:t>
            </a:r>
            <a:r>
              <a:rPr lang="zh-CN" altLang="en-US" sz="1600" b="0"/>
              <a:t>输入项地址表</a:t>
            </a:r>
            <a:r>
              <a:rPr lang="en-US" altLang="zh-CN" sz="1600" b="0"/>
              <a:t>)</a:t>
            </a:r>
          </a:p>
          <a:p>
            <a:pPr marL="609600" indent="-609600" algn="just" eaLnBrk="1" hangingPunct="1">
              <a:lnSpc>
                <a:spcPct val="150000"/>
              </a:lnSpc>
            </a:pPr>
            <a:r>
              <a:rPr lang="zh-CN" altLang="en-US" sz="1800" b="0"/>
              <a:t>例如</a:t>
            </a:r>
          </a:p>
          <a:p>
            <a:pPr marL="990600" lvl="1" indent="-533400" algn="just" eaLnBrk="1" hangingPunct="1">
              <a:lnSpc>
                <a:spcPct val="150000"/>
              </a:lnSpc>
            </a:pPr>
            <a:r>
              <a:rPr lang="zh-CN" altLang="en-US" sz="1600" b="0"/>
              <a:t> </a:t>
            </a:r>
            <a:r>
              <a:rPr lang="en-US" altLang="zh-CN" sz="1600" b="0"/>
              <a:t>fprintf(wp, "i = %d r = %6.4f\n", i, r);</a:t>
            </a:r>
          </a:p>
          <a:p>
            <a:pPr marL="1371600" lvl="2" indent="-457200" algn="just" eaLnBrk="1" hangingPunct="1">
              <a:lnSpc>
                <a:spcPct val="150000"/>
              </a:lnSpc>
            </a:pPr>
            <a:r>
              <a:rPr lang="zh-CN" altLang="en-US" sz="1400" b="0"/>
              <a:t>表示将整型变量</a:t>
            </a:r>
            <a:r>
              <a:rPr lang="en-US" altLang="zh-CN" sz="1400" b="0"/>
              <a:t>i</a:t>
            </a:r>
            <a:r>
              <a:rPr lang="zh-CN" altLang="en-US" sz="1400" b="0"/>
              <a:t>和实型变量</a:t>
            </a:r>
            <a:r>
              <a:rPr lang="en-US" altLang="zh-CN" sz="1400" b="0"/>
              <a:t>r</a:t>
            </a:r>
            <a:r>
              <a:rPr lang="zh-CN" altLang="en-US" sz="1400" b="0"/>
              <a:t>的值按格式输出到与</a:t>
            </a:r>
            <a:r>
              <a:rPr lang="en-US" altLang="zh-CN" sz="1400" b="0"/>
              <a:t>wp</a:t>
            </a:r>
            <a:r>
              <a:rPr lang="zh-CN" altLang="en-US" sz="1400" b="0"/>
              <a:t>相联系的文件上</a:t>
            </a:r>
            <a:r>
              <a:rPr lang="en-US" altLang="zh-CN" sz="1400" b="0"/>
              <a:t>.</a:t>
            </a:r>
          </a:p>
          <a:p>
            <a:pPr marL="990600" lvl="1" indent="-533400" algn="just" eaLnBrk="1" hangingPunct="1">
              <a:lnSpc>
                <a:spcPct val="150000"/>
              </a:lnSpc>
            </a:pPr>
            <a:r>
              <a:rPr lang="en-US" altLang="zh-CN" sz="1600" b="0"/>
              <a:t> fscanf(rp, "%d %f", &amp;i, &amp;r);</a:t>
            </a:r>
          </a:p>
          <a:p>
            <a:pPr marL="1371600" lvl="2" indent="-457200" algn="just" eaLnBrk="1" hangingPunct="1">
              <a:lnSpc>
                <a:spcPct val="150000"/>
              </a:lnSpc>
            </a:pPr>
            <a:r>
              <a:rPr lang="zh-CN" altLang="en-US" sz="1400" b="0"/>
              <a:t>表示从与</a:t>
            </a:r>
            <a:r>
              <a:rPr lang="en-US" altLang="zh-CN" sz="1400" b="0"/>
              <a:t>rp</a:t>
            </a:r>
            <a:r>
              <a:rPr lang="zh-CN" altLang="en-US" sz="1400" b="0"/>
              <a:t>相联系的文件为变量</a:t>
            </a:r>
            <a:r>
              <a:rPr lang="en-US" altLang="zh-CN" sz="1400" b="0"/>
              <a:t>i</a:t>
            </a:r>
            <a:r>
              <a:rPr lang="zh-CN" altLang="en-US" sz="1400" b="0"/>
              <a:t>和</a:t>
            </a:r>
            <a:r>
              <a:rPr lang="en-US" altLang="zh-CN" sz="1400" b="0"/>
              <a:t>r</a:t>
            </a:r>
            <a:r>
              <a:rPr lang="zh-CN" altLang="en-US" sz="1400" b="0"/>
              <a:t>读入数据。</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E7816AC-C743-1E5E-12D7-5CF62CEA6061}"/>
              </a:ext>
            </a:extLst>
          </p:cNvPr>
          <p:cNvSpPr>
            <a:spLocks noGrp="1" noChangeArrowheads="1"/>
          </p:cNvSpPr>
          <p:nvPr>
            <p:ph type="title"/>
          </p:nvPr>
        </p:nvSpPr>
        <p:spPr/>
        <p:txBody>
          <a:bodyPr/>
          <a:lstStyle/>
          <a:p>
            <a:pPr eaLnBrk="1" hangingPunct="1"/>
            <a:r>
              <a:rPr lang="zh-CN" altLang="en-US" sz="3600"/>
              <a:t>其他常用库函数简介</a:t>
            </a:r>
            <a:r>
              <a:rPr lang="en-US" altLang="zh-CN" sz="3600"/>
              <a:t>——</a:t>
            </a:r>
            <a:br>
              <a:rPr lang="en-US" altLang="zh-CN" sz="3600"/>
            </a:br>
            <a:r>
              <a:rPr lang="en-US" altLang="zh-CN" sz="3200"/>
              <a:t>(2)</a:t>
            </a:r>
            <a:r>
              <a:rPr lang="en-US" altLang="zh-CN" sz="3600"/>
              <a:t> fgets()</a:t>
            </a:r>
            <a:r>
              <a:rPr lang="zh-CN" altLang="en-US" sz="3600"/>
              <a:t>和</a:t>
            </a:r>
            <a:r>
              <a:rPr lang="en-US" altLang="zh-CN" sz="3600"/>
              <a:t>fputs()</a:t>
            </a:r>
          </a:p>
        </p:txBody>
      </p:sp>
      <p:sp>
        <p:nvSpPr>
          <p:cNvPr id="41987" name="Rectangle 3">
            <a:extLst>
              <a:ext uri="{FF2B5EF4-FFF2-40B4-BE49-F238E27FC236}">
                <a16:creationId xmlns:a16="http://schemas.microsoft.com/office/drawing/2014/main" id="{1813AB1C-3F74-3C2E-77A4-350EDAF2516A}"/>
              </a:ext>
            </a:extLst>
          </p:cNvPr>
          <p:cNvSpPr>
            <a:spLocks noGrp="1" noChangeArrowheads="1"/>
          </p:cNvSpPr>
          <p:nvPr>
            <p:ph type="body" idx="1"/>
          </p:nvPr>
        </p:nvSpPr>
        <p:spPr>
          <a:xfrm>
            <a:off x="827088" y="1772815"/>
            <a:ext cx="7866062" cy="4359697"/>
          </a:xfrm>
        </p:spPr>
        <p:txBody>
          <a:bodyPr/>
          <a:lstStyle/>
          <a:p>
            <a:pPr algn="just" eaLnBrk="1" hangingPunct="1">
              <a:lnSpc>
                <a:spcPct val="150000"/>
              </a:lnSpc>
            </a:pPr>
            <a:r>
              <a:rPr lang="zh-CN" altLang="en-US" sz="1600" b="0"/>
              <a:t>函数</a:t>
            </a:r>
            <a:r>
              <a:rPr lang="en-US" altLang="zh-CN" sz="1600" b="0"/>
              <a:t>fgets()</a:t>
            </a:r>
            <a:r>
              <a:rPr lang="zh-CN" altLang="en-US" sz="1600" b="0"/>
              <a:t>和</a:t>
            </a:r>
            <a:r>
              <a:rPr lang="en-US" altLang="zh-CN" sz="1600" b="0"/>
              <a:t>fputs()</a:t>
            </a:r>
            <a:r>
              <a:rPr lang="zh-CN" altLang="en-US" sz="1600" b="0"/>
              <a:t>分别用于</a:t>
            </a:r>
            <a:r>
              <a:rPr lang="zh-CN" altLang="en-US" sz="1600" b="0">
                <a:solidFill>
                  <a:srgbClr val="0066FF"/>
                </a:solidFill>
              </a:rPr>
              <a:t>正文文件</a:t>
            </a:r>
            <a:r>
              <a:rPr lang="zh-CN" altLang="en-US" sz="1600" b="0"/>
              <a:t>输入和输出</a:t>
            </a:r>
            <a:r>
              <a:rPr lang="zh-CN" altLang="en-US" sz="1600" b="0">
                <a:solidFill>
                  <a:srgbClr val="0066FF"/>
                </a:solidFill>
              </a:rPr>
              <a:t>字符串</a:t>
            </a:r>
            <a:r>
              <a:rPr lang="zh-CN" altLang="en-US" sz="1600" b="0"/>
              <a:t>。</a:t>
            </a:r>
          </a:p>
          <a:p>
            <a:pPr algn="just" eaLnBrk="1" hangingPunct="1">
              <a:lnSpc>
                <a:spcPct val="150000"/>
              </a:lnSpc>
            </a:pPr>
            <a:r>
              <a:rPr lang="en-US" altLang="zh-CN" sz="1600" b="0"/>
              <a:t>fgets()</a:t>
            </a:r>
            <a:r>
              <a:rPr lang="zh-CN" altLang="en-US" sz="1600" b="0"/>
              <a:t>说明形式分别为</a:t>
            </a:r>
          </a:p>
          <a:p>
            <a:pPr lvl="1" algn="just" eaLnBrk="1" hangingPunct="1">
              <a:lnSpc>
                <a:spcPct val="150000"/>
              </a:lnSpc>
            </a:pPr>
            <a:r>
              <a:rPr lang="en-US" altLang="zh-CN" sz="1400" b="0"/>
              <a:t>char *fgets(char *str, int n, FILE *fp)</a:t>
            </a:r>
          </a:p>
          <a:p>
            <a:pPr lvl="1" algn="just" eaLnBrk="1" hangingPunct="1">
              <a:lnSpc>
                <a:spcPct val="150000"/>
              </a:lnSpc>
            </a:pPr>
            <a:r>
              <a:rPr lang="zh-CN" altLang="en-US" sz="1400" b="0"/>
              <a:t>用于从文件读取字符序列，并存于字符指针所指出的存储区域中。</a:t>
            </a:r>
            <a:r>
              <a:rPr lang="zh-CN" altLang="en-US" sz="1400" b="0">
                <a:solidFill>
                  <a:srgbClr val="0066FF"/>
                </a:solidFill>
              </a:rPr>
              <a:t>当连续读入</a:t>
            </a:r>
            <a:r>
              <a:rPr lang="en-US" altLang="zh-CN" sz="1400" b="0">
                <a:solidFill>
                  <a:srgbClr val="0066FF"/>
                </a:solidFill>
              </a:rPr>
              <a:t>n-1</a:t>
            </a:r>
            <a:r>
              <a:rPr lang="zh-CN" altLang="en-US" sz="1400" b="0">
                <a:solidFill>
                  <a:srgbClr val="0066FF"/>
                </a:solidFill>
              </a:rPr>
              <a:t>个字符，或遇到换行符时</a:t>
            </a:r>
            <a:r>
              <a:rPr lang="zh-CN" altLang="en-US" sz="1400" b="0"/>
              <a:t>，读字符过程结束。</a:t>
            </a:r>
          </a:p>
          <a:p>
            <a:pPr algn="just" eaLnBrk="1" hangingPunct="1">
              <a:lnSpc>
                <a:spcPct val="150000"/>
              </a:lnSpc>
            </a:pPr>
            <a:r>
              <a:rPr lang="zh-CN" altLang="en-US" sz="1600" b="0"/>
              <a:t>函数</a:t>
            </a:r>
            <a:r>
              <a:rPr lang="en-US" altLang="zh-CN" sz="1600" b="0"/>
              <a:t>fgets()</a:t>
            </a:r>
            <a:r>
              <a:rPr lang="zh-CN" altLang="en-US" sz="1600" b="0"/>
              <a:t>与函数</a:t>
            </a:r>
            <a:r>
              <a:rPr lang="en-US" altLang="zh-CN" sz="1600" b="0"/>
              <a:t>gets()</a:t>
            </a:r>
            <a:r>
              <a:rPr lang="zh-CN" altLang="en-US" sz="1600" b="0"/>
              <a:t>都在读入的字符序列之后</a:t>
            </a:r>
            <a:r>
              <a:rPr lang="zh-CN" altLang="en-US" sz="1600" b="0">
                <a:solidFill>
                  <a:srgbClr val="0066FF"/>
                </a:solidFill>
              </a:rPr>
              <a:t>自动存储字符串结束标志</a:t>
            </a:r>
            <a:r>
              <a:rPr lang="zh-CN" altLang="en-US" sz="1600" b="0">
                <a:solidFill>
                  <a:srgbClr val="0066FF"/>
                </a:solidFill>
                <a:latin typeface="Arial" panose="020B0604020202020204" pitchFamily="34" charset="0"/>
              </a:rPr>
              <a:t>‘</a:t>
            </a:r>
            <a:r>
              <a:rPr lang="en-US" altLang="zh-CN" sz="1600" b="0">
                <a:solidFill>
                  <a:srgbClr val="0066FF"/>
                </a:solidFill>
              </a:rPr>
              <a:t>\0</a:t>
            </a:r>
            <a:r>
              <a:rPr lang="en-US" altLang="zh-CN" sz="1600" b="0">
                <a:solidFill>
                  <a:srgbClr val="0066FF"/>
                </a:solidFill>
                <a:latin typeface="Arial" panose="020B0604020202020204" pitchFamily="34" charset="0"/>
              </a:rPr>
              <a:t>’</a:t>
            </a:r>
            <a:r>
              <a:rPr lang="en-US" altLang="zh-CN" sz="1600" b="0"/>
              <a:t>,</a:t>
            </a:r>
            <a:r>
              <a:rPr lang="zh-CN" altLang="en-US" sz="1600" b="0"/>
              <a:t>并返回字符串的首字符指针。函数</a:t>
            </a:r>
            <a:r>
              <a:rPr lang="en-US" altLang="zh-CN" sz="1600" b="0"/>
              <a:t>fgets()</a:t>
            </a:r>
            <a:r>
              <a:rPr lang="zh-CN" altLang="en-US" sz="1600" b="0"/>
              <a:t>除增加整型参数和文件指针参数之外，还在读到换行符时，</a:t>
            </a:r>
            <a:r>
              <a:rPr lang="zh-CN" altLang="en-US" sz="1600" b="0">
                <a:solidFill>
                  <a:srgbClr val="0066FF"/>
                </a:solidFill>
              </a:rPr>
              <a:t>存储换行符</a:t>
            </a:r>
            <a:r>
              <a:rPr lang="zh-CN" altLang="en-US" sz="1600" b="0"/>
              <a:t>，而函数</a:t>
            </a:r>
            <a:r>
              <a:rPr lang="en-US" altLang="zh-CN" sz="1600" b="0"/>
              <a:t>gets()</a:t>
            </a:r>
            <a:r>
              <a:rPr lang="zh-CN" altLang="en-US" sz="1600" b="0"/>
              <a:t>不存储换行符。</a:t>
            </a:r>
          </a:p>
          <a:p>
            <a:pPr algn="just" eaLnBrk="1" hangingPunct="1">
              <a:lnSpc>
                <a:spcPct val="150000"/>
              </a:lnSpc>
            </a:pPr>
            <a:endParaRPr lang="zh-CN" altLang="en-US" sz="1600" b="0"/>
          </a:p>
          <a:p>
            <a:pPr algn="just" eaLnBrk="1" hangingPunct="1">
              <a:lnSpc>
                <a:spcPct val="150000"/>
              </a:lnSpc>
            </a:pPr>
            <a:r>
              <a:rPr lang="en-US" altLang="zh-CN" sz="1600" b="0"/>
              <a:t>fputs()</a:t>
            </a:r>
            <a:r>
              <a:rPr lang="zh-CN" altLang="en-US" sz="1600" b="0"/>
              <a:t>说明形式分别为</a:t>
            </a:r>
          </a:p>
          <a:p>
            <a:pPr lvl="1" algn="just" eaLnBrk="1" hangingPunct="1">
              <a:lnSpc>
                <a:spcPct val="150000"/>
              </a:lnSpc>
            </a:pPr>
            <a:r>
              <a:rPr lang="en-US" altLang="zh-CN" sz="1400" b="0"/>
              <a:t>fputs(char *str, FILE *fp)</a:t>
            </a:r>
          </a:p>
          <a:p>
            <a:pPr lvl="1" algn="just" eaLnBrk="1" hangingPunct="1">
              <a:lnSpc>
                <a:spcPct val="150000"/>
              </a:lnSpc>
            </a:pPr>
            <a:r>
              <a:rPr lang="zh-CN" altLang="en-US" sz="1400" b="0"/>
              <a:t>将由</a:t>
            </a:r>
            <a:r>
              <a:rPr lang="en-US" altLang="zh-CN" sz="1400" b="0"/>
              <a:t>str</a:t>
            </a:r>
            <a:r>
              <a:rPr lang="zh-CN" altLang="en-US" sz="1400" b="0"/>
              <a:t>所指的字符串复制到</a:t>
            </a:r>
            <a:r>
              <a:rPr lang="en-US" altLang="zh-CN" sz="1400" b="0"/>
              <a:t>fp</a:t>
            </a:r>
            <a:r>
              <a:rPr lang="zh-CN" altLang="en-US" sz="1400" b="0"/>
              <a:t>所指文件。</a:t>
            </a:r>
            <a:r>
              <a:rPr lang="zh-CN" altLang="en-US" sz="1400" b="0">
                <a:solidFill>
                  <a:srgbClr val="0066FF"/>
                </a:solidFill>
              </a:rPr>
              <a:t>不在复制的字符序列之后另外再添加换行符</a:t>
            </a:r>
            <a:r>
              <a:rPr lang="zh-CN" altLang="en-US" sz="1400" b="0"/>
              <a:t>。</a:t>
            </a:r>
          </a:p>
          <a:p>
            <a:pPr algn="just" eaLnBrk="1" hangingPunct="1">
              <a:lnSpc>
                <a:spcPct val="150000"/>
              </a:lnSpc>
            </a:pPr>
            <a:endParaRPr lang="en-US" altLang="zh-CN" sz="1600" b="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260F5FE-FDFE-5E71-AF18-05D89390EB5D}"/>
              </a:ext>
            </a:extLst>
          </p:cNvPr>
          <p:cNvSpPr>
            <a:spLocks noGrp="1" noChangeArrowheads="1"/>
          </p:cNvSpPr>
          <p:nvPr>
            <p:ph type="title"/>
          </p:nvPr>
        </p:nvSpPr>
        <p:spPr/>
        <p:txBody>
          <a:bodyPr/>
          <a:lstStyle/>
          <a:p>
            <a:pPr eaLnBrk="1" hangingPunct="1"/>
            <a:r>
              <a:rPr lang="zh-CN" altLang="en-US" sz="3600"/>
              <a:t>其他常用库函数简介</a:t>
            </a:r>
            <a:r>
              <a:rPr lang="en-US" altLang="zh-CN" sz="3600"/>
              <a:t>——</a:t>
            </a:r>
            <a:br>
              <a:rPr lang="en-US" altLang="zh-CN" sz="3600"/>
            </a:br>
            <a:r>
              <a:rPr lang="en-US" altLang="zh-CN" sz="3200"/>
              <a:t>(3) rewind()</a:t>
            </a:r>
            <a:r>
              <a:rPr lang="zh-CN" altLang="en-US" sz="3200"/>
              <a:t>、</a:t>
            </a:r>
            <a:r>
              <a:rPr lang="en-US" altLang="zh-CN" sz="3200"/>
              <a:t>fseek()</a:t>
            </a:r>
            <a:r>
              <a:rPr lang="zh-CN" altLang="en-US" sz="3200"/>
              <a:t>和</a:t>
            </a:r>
            <a:r>
              <a:rPr lang="en-US" altLang="zh-CN" sz="3200"/>
              <a:t>ftell()</a:t>
            </a:r>
          </a:p>
        </p:txBody>
      </p:sp>
      <p:sp>
        <p:nvSpPr>
          <p:cNvPr id="43011" name="Rectangle 3">
            <a:extLst>
              <a:ext uri="{FF2B5EF4-FFF2-40B4-BE49-F238E27FC236}">
                <a16:creationId xmlns:a16="http://schemas.microsoft.com/office/drawing/2014/main" id="{A78E2D58-5F8C-AB37-26D7-3062883A9118}"/>
              </a:ext>
            </a:extLst>
          </p:cNvPr>
          <p:cNvSpPr>
            <a:spLocks noGrp="1" noChangeArrowheads="1"/>
          </p:cNvSpPr>
          <p:nvPr>
            <p:ph type="body" idx="1"/>
          </p:nvPr>
        </p:nvSpPr>
        <p:spPr>
          <a:xfrm>
            <a:off x="827088" y="1628775"/>
            <a:ext cx="7866062" cy="4503738"/>
          </a:xfrm>
        </p:spPr>
        <p:txBody>
          <a:bodyPr/>
          <a:lstStyle/>
          <a:p>
            <a:pPr algn="just" eaLnBrk="1" hangingPunct="1">
              <a:lnSpc>
                <a:spcPct val="150000"/>
              </a:lnSpc>
            </a:pPr>
            <a:r>
              <a:rPr lang="zh-CN" altLang="en-US" sz="1800" b="0"/>
              <a:t>程序即刻能读写的是文件某一位置上的数据，这个位置称为文件的</a:t>
            </a:r>
            <a:r>
              <a:rPr lang="zh-CN" altLang="en-US" sz="1800" b="0">
                <a:solidFill>
                  <a:srgbClr val="0066FF"/>
                </a:solidFill>
              </a:rPr>
              <a:t>当前读写位置</a:t>
            </a:r>
            <a:r>
              <a:rPr lang="zh-CN" altLang="en-US" sz="1800" b="0"/>
              <a:t>。对于</a:t>
            </a:r>
            <a:r>
              <a:rPr lang="zh-CN" altLang="en-US" sz="1800" b="0">
                <a:solidFill>
                  <a:srgbClr val="0066FF"/>
                </a:solidFill>
              </a:rPr>
              <a:t>顺序读写</a:t>
            </a:r>
            <a:r>
              <a:rPr lang="zh-CN" altLang="en-US" sz="1800" b="0"/>
              <a:t>情况，每读写一个字符后，当前位置就自动向后移一个字符位置。</a:t>
            </a:r>
          </a:p>
          <a:p>
            <a:pPr algn="just" eaLnBrk="1" hangingPunct="1">
              <a:lnSpc>
                <a:spcPct val="150000"/>
              </a:lnSpc>
            </a:pPr>
            <a:r>
              <a:rPr lang="zh-CN" altLang="en-US" sz="1800" b="0"/>
              <a:t>对于</a:t>
            </a:r>
            <a:r>
              <a:rPr lang="zh-CN" altLang="en-US" sz="1800" b="0">
                <a:solidFill>
                  <a:srgbClr val="0066FF"/>
                </a:solidFill>
              </a:rPr>
              <a:t>随机读写</a:t>
            </a:r>
            <a:r>
              <a:rPr lang="zh-CN" altLang="en-US" sz="1800" b="0"/>
              <a:t>的文件，要读写其他别的位置上的数据，就得改变文件当前读写位置。实现读写位置移动可调用库函数 </a:t>
            </a:r>
            <a:r>
              <a:rPr lang="en-US" altLang="zh-CN" sz="1800" b="0"/>
              <a:t>rewind()</a:t>
            </a:r>
            <a:r>
              <a:rPr lang="zh-CN" altLang="en-US" sz="1800" b="0"/>
              <a:t>和</a:t>
            </a:r>
            <a:r>
              <a:rPr lang="en-US" altLang="zh-CN" sz="1800" b="0"/>
              <a:t>fseek()</a:t>
            </a:r>
            <a:r>
              <a:rPr lang="zh-CN" altLang="en-US" sz="1800" b="0"/>
              <a:t>。另设有函数</a:t>
            </a:r>
            <a:r>
              <a:rPr lang="en-US" altLang="zh-CN" sz="1800" b="0"/>
              <a:t>ftell()</a:t>
            </a:r>
            <a:r>
              <a:rPr lang="zh-CN" altLang="en-US" sz="1800" b="0"/>
              <a:t>用于查询文件当前读写位置。    </a:t>
            </a:r>
          </a:p>
          <a:p>
            <a:pPr algn="just" eaLnBrk="1" hangingPunct="1">
              <a:lnSpc>
                <a:spcPct val="150000"/>
              </a:lnSpc>
            </a:pPr>
            <a:r>
              <a:rPr lang="zh-CN" altLang="en-US" sz="1800" b="0"/>
              <a:t>函数 </a:t>
            </a:r>
            <a:r>
              <a:rPr lang="en-US" altLang="zh-CN" sz="1800" b="0"/>
              <a:t>rewind() </a:t>
            </a:r>
            <a:r>
              <a:rPr lang="zh-CN" altLang="en-US" sz="1800" b="0"/>
              <a:t>的说明形式为</a:t>
            </a:r>
          </a:p>
          <a:p>
            <a:pPr lvl="1" algn="just" eaLnBrk="1" hangingPunct="1">
              <a:lnSpc>
                <a:spcPct val="150000"/>
              </a:lnSpc>
            </a:pPr>
            <a:r>
              <a:rPr lang="en-US" altLang="zh-CN" sz="1600" b="0"/>
              <a:t>void rewind(FILE *fp)</a:t>
            </a:r>
          </a:p>
          <a:p>
            <a:pPr lvl="1" algn="just" eaLnBrk="1" hangingPunct="1">
              <a:lnSpc>
                <a:spcPct val="150000"/>
              </a:lnSpc>
            </a:pPr>
            <a:r>
              <a:rPr lang="zh-CN" altLang="en-US" sz="1600" b="0"/>
              <a:t>函数</a:t>
            </a:r>
            <a:r>
              <a:rPr lang="en-US" altLang="zh-CN" sz="1600" b="0"/>
              <a:t>rewind()</a:t>
            </a:r>
            <a:r>
              <a:rPr lang="zh-CN" altLang="en-US" sz="1600" b="0"/>
              <a:t>的作用是使文件</a:t>
            </a:r>
            <a:r>
              <a:rPr lang="zh-CN" altLang="en-US" sz="1600" u="sng"/>
              <a:t>当前位置重新回到文件之首</a:t>
            </a:r>
            <a:r>
              <a:rPr lang="zh-CN" altLang="en-US" sz="1600" b="0"/>
              <a:t>。该函数没有返回值。</a:t>
            </a:r>
          </a:p>
          <a:p>
            <a:pPr algn="just" eaLnBrk="1" hangingPunct="1">
              <a:lnSpc>
                <a:spcPct val="150000"/>
              </a:lnSpc>
            </a:pPr>
            <a:endParaRPr lang="en-US" altLang="zh-CN" sz="1800" b="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EA8A83B-55D9-09CE-86BB-BE44E4F16D35}"/>
              </a:ext>
            </a:extLst>
          </p:cNvPr>
          <p:cNvSpPr>
            <a:spLocks noGrp="1" noChangeArrowheads="1"/>
          </p:cNvSpPr>
          <p:nvPr>
            <p:ph type="title"/>
          </p:nvPr>
        </p:nvSpPr>
        <p:spPr/>
        <p:txBody>
          <a:bodyPr/>
          <a:lstStyle/>
          <a:p>
            <a:pPr eaLnBrk="1" hangingPunct="1"/>
            <a:r>
              <a:rPr lang="zh-CN" altLang="en-US" sz="3600"/>
              <a:t>其他常用库函数简介</a:t>
            </a:r>
            <a:r>
              <a:rPr lang="en-US" altLang="zh-CN" sz="3600"/>
              <a:t>——</a:t>
            </a:r>
            <a:br>
              <a:rPr lang="en-US" altLang="zh-CN" sz="3600"/>
            </a:br>
            <a:r>
              <a:rPr lang="en-US" altLang="zh-CN" sz="3600"/>
              <a:t>(3) rewind()</a:t>
            </a:r>
            <a:r>
              <a:rPr lang="zh-CN" altLang="en-US" sz="3600"/>
              <a:t>、</a:t>
            </a:r>
            <a:r>
              <a:rPr lang="en-US" altLang="zh-CN" sz="3600"/>
              <a:t>fseek()</a:t>
            </a:r>
            <a:r>
              <a:rPr lang="zh-CN" altLang="en-US" sz="3600"/>
              <a:t>和</a:t>
            </a:r>
            <a:r>
              <a:rPr lang="en-US" altLang="zh-CN" sz="3600"/>
              <a:t>ftell()</a:t>
            </a:r>
            <a:endParaRPr lang="zh-CN" altLang="zh-CN" sz="3600"/>
          </a:p>
        </p:txBody>
      </p:sp>
      <p:sp>
        <p:nvSpPr>
          <p:cNvPr id="44035" name="Rectangle 3">
            <a:extLst>
              <a:ext uri="{FF2B5EF4-FFF2-40B4-BE49-F238E27FC236}">
                <a16:creationId xmlns:a16="http://schemas.microsoft.com/office/drawing/2014/main" id="{693A7987-C3AD-4A61-F97A-C5F5A59634B7}"/>
              </a:ext>
            </a:extLst>
          </p:cNvPr>
          <p:cNvSpPr>
            <a:spLocks noGrp="1" noChangeArrowheads="1"/>
          </p:cNvSpPr>
          <p:nvPr>
            <p:ph type="body" idx="1"/>
          </p:nvPr>
        </p:nvSpPr>
        <p:spPr>
          <a:xfrm>
            <a:off x="827088" y="1700809"/>
            <a:ext cx="7866062" cy="4431704"/>
          </a:xfrm>
        </p:spPr>
        <p:txBody>
          <a:bodyPr/>
          <a:lstStyle/>
          <a:p>
            <a:pPr eaLnBrk="1" hangingPunct="1">
              <a:lnSpc>
                <a:spcPct val="150000"/>
              </a:lnSpc>
            </a:pPr>
            <a:r>
              <a:rPr lang="zh-CN" altLang="en-US" sz="1800" b="0"/>
              <a:t>函数</a:t>
            </a:r>
            <a:r>
              <a:rPr lang="en-US" altLang="zh-CN" sz="1800" b="0"/>
              <a:t>fseek()</a:t>
            </a:r>
            <a:r>
              <a:rPr lang="zh-CN" altLang="en-US" sz="1800" b="0"/>
              <a:t>是文件随机存取的最主要函数，用它可以</a:t>
            </a:r>
            <a:r>
              <a:rPr lang="zh-CN" altLang="en-US" sz="1800" u="sng"/>
              <a:t>将文件的当前位置移到文件的任意位置上</a:t>
            </a:r>
            <a:r>
              <a:rPr lang="zh-CN" altLang="en-US" sz="1800" b="0"/>
              <a:t>。</a:t>
            </a:r>
            <a:endParaRPr lang="en-US" altLang="zh-CN" sz="1800" b="0"/>
          </a:p>
          <a:p>
            <a:pPr eaLnBrk="1" hangingPunct="1">
              <a:lnSpc>
                <a:spcPct val="150000"/>
              </a:lnSpc>
            </a:pPr>
            <a:r>
              <a:rPr lang="zh-CN" altLang="en-US" sz="1800" b="0"/>
              <a:t>函数 </a:t>
            </a:r>
            <a:r>
              <a:rPr lang="en-US" altLang="zh-CN" sz="1800" b="0"/>
              <a:t>fseek() </a:t>
            </a:r>
            <a:r>
              <a:rPr lang="zh-CN" altLang="en-US" sz="1800" b="0"/>
              <a:t>的说明形式为</a:t>
            </a:r>
          </a:p>
          <a:p>
            <a:pPr lvl="1" eaLnBrk="1" hangingPunct="1">
              <a:lnSpc>
                <a:spcPct val="150000"/>
              </a:lnSpc>
            </a:pPr>
            <a:r>
              <a:rPr lang="en-US" altLang="zh-CN" sz="1600" b="0"/>
              <a:t>fseek(FILE *fp, long offset, int ptrname)</a:t>
            </a:r>
          </a:p>
          <a:p>
            <a:pPr lvl="1" eaLnBrk="1" hangingPunct="1">
              <a:lnSpc>
                <a:spcPct val="150000"/>
              </a:lnSpc>
            </a:pPr>
            <a:r>
              <a:rPr lang="zh-CN" altLang="en-US" sz="1600" b="0"/>
              <a:t>其中</a:t>
            </a:r>
            <a:r>
              <a:rPr lang="en-US" altLang="zh-CN" sz="1600" b="0"/>
              <a:t>ptrname</a:t>
            </a:r>
            <a:r>
              <a:rPr lang="zh-CN" altLang="en-US" sz="1600" b="0"/>
              <a:t>表示定位基准。</a:t>
            </a:r>
          </a:p>
          <a:p>
            <a:pPr eaLnBrk="1" hangingPunct="1">
              <a:lnSpc>
                <a:spcPct val="150000"/>
              </a:lnSpc>
            </a:pPr>
            <a:r>
              <a:rPr lang="en-US" altLang="zh-CN" sz="1800" b="0">
                <a:solidFill>
                  <a:srgbClr val="0066FF"/>
                </a:solidFill>
              </a:rPr>
              <a:t>ptrname</a:t>
            </a:r>
            <a:r>
              <a:rPr lang="zh-CN" altLang="en-US" sz="1800" b="0"/>
              <a:t>只允许</a:t>
            </a:r>
            <a:r>
              <a:rPr lang="en-US" altLang="zh-CN" sz="1800" b="0"/>
              <a:t>0</a:t>
            </a:r>
            <a:r>
              <a:rPr lang="zh-CN" altLang="en-US" sz="1800" b="0"/>
              <a:t>，</a:t>
            </a:r>
            <a:r>
              <a:rPr lang="en-US" altLang="zh-CN" sz="1800" b="0"/>
              <a:t>1</a:t>
            </a:r>
            <a:r>
              <a:rPr lang="zh-CN" altLang="en-US" sz="1800" b="0"/>
              <a:t>，或</a:t>
            </a:r>
            <a:r>
              <a:rPr lang="en-US" altLang="zh-CN" sz="1800" b="0"/>
              <a:t>2</a:t>
            </a:r>
            <a:r>
              <a:rPr lang="zh-CN" altLang="en-US" sz="1800" b="0"/>
              <a:t>。其中：</a:t>
            </a:r>
            <a:endParaRPr lang="en-US" altLang="zh-CN" sz="1800" b="0"/>
          </a:p>
          <a:p>
            <a:pPr lvl="1" eaLnBrk="1" hangingPunct="1">
              <a:lnSpc>
                <a:spcPct val="150000"/>
              </a:lnSpc>
            </a:pPr>
            <a:r>
              <a:rPr lang="en-US" altLang="zh-CN" sz="1400" b="0"/>
              <a:t>0</a:t>
            </a:r>
            <a:r>
              <a:rPr lang="zh-CN" altLang="en-US" sz="1400" b="0"/>
              <a:t>代表以文件首为基准；</a:t>
            </a:r>
            <a:endParaRPr lang="en-US" altLang="zh-CN" sz="1400" b="0"/>
          </a:p>
          <a:p>
            <a:pPr lvl="1" eaLnBrk="1" hangingPunct="1">
              <a:lnSpc>
                <a:spcPct val="150000"/>
              </a:lnSpc>
            </a:pPr>
            <a:r>
              <a:rPr lang="en-US" altLang="zh-CN" sz="1400" b="0"/>
              <a:t>1</a:t>
            </a:r>
            <a:r>
              <a:rPr lang="zh-CN" altLang="en-US" sz="1400" b="0"/>
              <a:t>代表以当前位置为基准；</a:t>
            </a:r>
            <a:endParaRPr lang="en-US" altLang="zh-CN" sz="1400" b="0"/>
          </a:p>
          <a:p>
            <a:pPr lvl="1" eaLnBrk="1" hangingPunct="1">
              <a:lnSpc>
                <a:spcPct val="150000"/>
              </a:lnSpc>
            </a:pPr>
            <a:r>
              <a:rPr lang="en-US" altLang="zh-CN" sz="1400" b="0"/>
              <a:t>2</a:t>
            </a:r>
            <a:r>
              <a:rPr lang="zh-CN" altLang="en-US" sz="1400" b="0"/>
              <a:t>代表以文件尾为基准。</a:t>
            </a:r>
            <a:endParaRPr lang="en-US" altLang="zh-CN" sz="1400" b="0"/>
          </a:p>
          <a:p>
            <a:pPr lvl="1" eaLnBrk="1" hangingPunct="1">
              <a:lnSpc>
                <a:spcPct val="150000"/>
              </a:lnSpc>
            </a:pPr>
            <a:r>
              <a:rPr lang="en-US" altLang="zh-CN" sz="1400" b="0"/>
              <a:t>0</a:t>
            </a:r>
            <a:r>
              <a:rPr lang="zh-CN" altLang="en-US" sz="1400" b="0"/>
              <a:t>、</a:t>
            </a:r>
            <a:r>
              <a:rPr lang="en-US" altLang="zh-CN" sz="1400" b="0"/>
              <a:t>1</a:t>
            </a:r>
            <a:r>
              <a:rPr lang="zh-CN" altLang="en-US" sz="1400" b="0"/>
              <a:t>和</a:t>
            </a:r>
            <a:r>
              <a:rPr lang="en-US" altLang="zh-CN" sz="1400" b="0"/>
              <a:t>2</a:t>
            </a:r>
            <a:r>
              <a:rPr lang="zh-CN" altLang="en-US" sz="1400" b="0"/>
              <a:t>分别被定义有名称</a:t>
            </a:r>
            <a:r>
              <a:rPr lang="en-US" altLang="zh-CN" sz="1400" b="0"/>
              <a:t>SEEK_SET</a:t>
            </a:r>
            <a:r>
              <a:rPr lang="zh-CN" altLang="en-US" sz="1400" b="0"/>
              <a:t>、</a:t>
            </a:r>
            <a:r>
              <a:rPr lang="en-US" altLang="zh-CN" sz="1400" b="0"/>
              <a:t>SEEK_CUR</a:t>
            </a:r>
            <a:r>
              <a:rPr lang="zh-CN" altLang="en-US" sz="1400" b="0"/>
              <a:t>和</a:t>
            </a:r>
            <a:r>
              <a:rPr lang="en-US" altLang="zh-CN" sz="1400" b="0"/>
              <a:t>SEEK_END</a:t>
            </a:r>
            <a:r>
              <a:rPr lang="zh-CN" altLang="en-US" sz="1400" b="0"/>
              <a:t>。</a:t>
            </a:r>
            <a:endParaRPr lang="en-US" altLang="zh-CN" sz="1400" b="0"/>
          </a:p>
          <a:p>
            <a:pPr eaLnBrk="1" hangingPunct="1">
              <a:lnSpc>
                <a:spcPct val="150000"/>
              </a:lnSpc>
            </a:pPr>
            <a:r>
              <a:rPr lang="en-US" altLang="zh-CN" sz="1800" b="0"/>
              <a:t>long</a:t>
            </a:r>
            <a:r>
              <a:rPr lang="zh-CN" altLang="en-US" sz="1800" b="0"/>
              <a:t>型形参</a:t>
            </a:r>
            <a:r>
              <a:rPr lang="en-US" altLang="zh-CN" sz="1800" b="0">
                <a:solidFill>
                  <a:srgbClr val="0066FF"/>
                </a:solidFill>
              </a:rPr>
              <a:t>offset</a:t>
            </a:r>
            <a:r>
              <a:rPr lang="zh-CN" altLang="en-US" sz="1800" b="0"/>
              <a:t>是位移量，表示以</a:t>
            </a:r>
            <a:r>
              <a:rPr lang="en-US" altLang="zh-CN" sz="1800" b="0"/>
              <a:t>ptrname</a:t>
            </a:r>
            <a:r>
              <a:rPr lang="zh-CN" altLang="en-US" sz="1800" b="0"/>
              <a:t>为基准，移动的字节数。</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B05FC62-37B4-A8FB-3BC4-EF7D1564EE8B}"/>
              </a:ext>
            </a:extLst>
          </p:cNvPr>
          <p:cNvSpPr>
            <a:spLocks noGrp="1" noChangeArrowheads="1"/>
          </p:cNvSpPr>
          <p:nvPr>
            <p:ph type="title"/>
          </p:nvPr>
        </p:nvSpPr>
        <p:spPr/>
        <p:txBody>
          <a:bodyPr/>
          <a:lstStyle/>
          <a:p>
            <a:pPr eaLnBrk="1" hangingPunct="1"/>
            <a:r>
              <a:rPr lang="zh-CN" altLang="en-US" sz="3600"/>
              <a:t>其他常用库函数简介</a:t>
            </a:r>
            <a:r>
              <a:rPr lang="en-US" altLang="zh-CN" sz="3600"/>
              <a:t>——</a:t>
            </a:r>
            <a:br>
              <a:rPr lang="en-US" altLang="zh-CN" sz="3600"/>
            </a:br>
            <a:r>
              <a:rPr lang="en-US" altLang="zh-CN" sz="3600"/>
              <a:t>(3) rewind()</a:t>
            </a:r>
            <a:r>
              <a:rPr lang="zh-CN" altLang="en-US" sz="3600"/>
              <a:t>、</a:t>
            </a:r>
            <a:r>
              <a:rPr lang="en-US" altLang="zh-CN" sz="3600"/>
              <a:t>fseek()</a:t>
            </a:r>
            <a:r>
              <a:rPr lang="zh-CN" altLang="en-US" sz="3600"/>
              <a:t>和</a:t>
            </a:r>
            <a:r>
              <a:rPr lang="en-US" altLang="zh-CN" sz="3600"/>
              <a:t>ftell()</a:t>
            </a:r>
            <a:endParaRPr lang="zh-CN" altLang="zh-CN" sz="3600"/>
          </a:p>
        </p:txBody>
      </p:sp>
      <p:sp>
        <p:nvSpPr>
          <p:cNvPr id="45059" name="Rectangle 3">
            <a:extLst>
              <a:ext uri="{FF2B5EF4-FFF2-40B4-BE49-F238E27FC236}">
                <a16:creationId xmlns:a16="http://schemas.microsoft.com/office/drawing/2014/main" id="{E3286189-AECE-4CE4-A97E-C54C78571CE2}"/>
              </a:ext>
            </a:extLst>
          </p:cNvPr>
          <p:cNvSpPr>
            <a:spLocks noGrp="1" noChangeArrowheads="1"/>
          </p:cNvSpPr>
          <p:nvPr>
            <p:ph type="body" idx="1"/>
          </p:nvPr>
        </p:nvSpPr>
        <p:spPr>
          <a:xfrm>
            <a:off x="827088" y="1772815"/>
            <a:ext cx="7866062" cy="4359697"/>
          </a:xfrm>
        </p:spPr>
        <p:txBody>
          <a:bodyPr/>
          <a:lstStyle/>
          <a:p>
            <a:pPr algn="just" eaLnBrk="1" hangingPunct="1">
              <a:lnSpc>
                <a:spcPct val="150000"/>
              </a:lnSpc>
            </a:pPr>
            <a:r>
              <a:rPr lang="zh-CN" altLang="en-US" sz="1800" b="0"/>
              <a:t>调用函数 </a:t>
            </a:r>
            <a:r>
              <a:rPr lang="en-US" altLang="zh-CN" sz="1800" b="0"/>
              <a:t>fseek() </a:t>
            </a:r>
            <a:r>
              <a:rPr lang="zh-CN" altLang="en-US" sz="1800" b="0"/>
              <a:t>的例子：</a:t>
            </a:r>
          </a:p>
          <a:p>
            <a:pPr lvl="1" algn="just" eaLnBrk="1" hangingPunct="1">
              <a:lnSpc>
                <a:spcPct val="150000"/>
              </a:lnSpc>
            </a:pPr>
            <a:r>
              <a:rPr lang="en-US" altLang="zh-CN" sz="1600" b="0"/>
              <a:t>fseek(fp,  40L, SEEK_SET);</a:t>
            </a:r>
            <a:r>
              <a:rPr lang="zh-CN" altLang="en-US" sz="1600" b="0"/>
              <a:t> </a:t>
            </a:r>
            <a:r>
              <a:rPr lang="en-US" altLang="zh-CN" sz="1600" b="0">
                <a:solidFill>
                  <a:srgbClr val="00B050"/>
                </a:solidFill>
              </a:rPr>
              <a:t>//</a:t>
            </a:r>
            <a:r>
              <a:rPr lang="zh-CN" altLang="en-US" sz="1600" b="0">
                <a:solidFill>
                  <a:srgbClr val="00B050"/>
                </a:solidFill>
              </a:rPr>
              <a:t>当前位置定于离文件头</a:t>
            </a:r>
            <a:r>
              <a:rPr lang="en-US" altLang="zh-CN" sz="1600" b="0">
                <a:solidFill>
                  <a:srgbClr val="00B050"/>
                </a:solidFill>
              </a:rPr>
              <a:t>40</a:t>
            </a:r>
            <a:r>
              <a:rPr lang="zh-CN" altLang="en-US" sz="1600" b="0">
                <a:solidFill>
                  <a:srgbClr val="00B050"/>
                </a:solidFill>
              </a:rPr>
              <a:t>个字节处</a:t>
            </a:r>
          </a:p>
          <a:p>
            <a:pPr lvl="1" algn="just" eaLnBrk="1" hangingPunct="1">
              <a:lnSpc>
                <a:spcPct val="150000"/>
              </a:lnSpc>
            </a:pPr>
            <a:r>
              <a:rPr lang="zh-CN" altLang="en-US" sz="1600" b="0"/>
              <a:t> </a:t>
            </a:r>
            <a:r>
              <a:rPr lang="en-US" altLang="zh-CN" sz="1600" b="0"/>
              <a:t>fseek(fp,  20L, SEEK_CUR);</a:t>
            </a:r>
            <a:r>
              <a:rPr lang="zh-CN" altLang="en-US" sz="1600" b="0"/>
              <a:t> </a:t>
            </a:r>
            <a:r>
              <a:rPr lang="en-US" altLang="zh-CN" sz="1600" b="0">
                <a:solidFill>
                  <a:srgbClr val="00B050"/>
                </a:solidFill>
              </a:rPr>
              <a:t>//</a:t>
            </a:r>
            <a:r>
              <a:rPr lang="zh-CN" altLang="en-US" sz="1600" b="0">
                <a:solidFill>
                  <a:srgbClr val="00B050"/>
                </a:solidFill>
              </a:rPr>
              <a:t>文件当前位置定于离当前位置</a:t>
            </a:r>
            <a:r>
              <a:rPr lang="en-US" altLang="zh-CN" sz="1600" b="0">
                <a:solidFill>
                  <a:srgbClr val="00B050"/>
                </a:solidFill>
              </a:rPr>
              <a:t>20 </a:t>
            </a:r>
            <a:r>
              <a:rPr lang="zh-CN" altLang="en-US" sz="1600" b="0">
                <a:solidFill>
                  <a:srgbClr val="00B050"/>
                </a:solidFill>
              </a:rPr>
              <a:t>个字节处</a:t>
            </a:r>
          </a:p>
          <a:p>
            <a:pPr lvl="1" algn="just" eaLnBrk="1" hangingPunct="1">
              <a:lnSpc>
                <a:spcPct val="150000"/>
              </a:lnSpc>
            </a:pPr>
            <a:r>
              <a:rPr lang="zh-CN" altLang="en-US" sz="1600" b="0"/>
              <a:t> </a:t>
            </a:r>
            <a:r>
              <a:rPr lang="en-US" altLang="zh-CN" sz="1600" b="0"/>
              <a:t>fseek(fp, -30L, SEEK_END);</a:t>
            </a:r>
            <a:r>
              <a:rPr lang="zh-CN" altLang="en-US" sz="1600" b="0"/>
              <a:t> </a:t>
            </a:r>
            <a:r>
              <a:rPr lang="en-US" altLang="zh-CN" sz="1600" b="0">
                <a:solidFill>
                  <a:srgbClr val="00B050"/>
                </a:solidFill>
              </a:rPr>
              <a:t>//</a:t>
            </a:r>
            <a:r>
              <a:rPr lang="zh-CN" altLang="en-US" sz="1600" b="0">
                <a:solidFill>
                  <a:srgbClr val="00B050"/>
                </a:solidFill>
              </a:rPr>
              <a:t>将文件的当前位置定于文件尾后退</a:t>
            </a:r>
            <a:r>
              <a:rPr lang="en-US" altLang="zh-CN" sz="1600" b="0">
                <a:solidFill>
                  <a:srgbClr val="00B050"/>
                </a:solidFill>
              </a:rPr>
              <a:t>30</a:t>
            </a:r>
            <a:r>
              <a:rPr lang="zh-CN" altLang="en-US" sz="1600" b="0">
                <a:solidFill>
                  <a:srgbClr val="00B050"/>
                </a:solidFill>
              </a:rPr>
              <a:t>个字节处</a:t>
            </a:r>
          </a:p>
          <a:p>
            <a:pPr algn="just" eaLnBrk="1" hangingPunct="1">
              <a:lnSpc>
                <a:spcPct val="150000"/>
              </a:lnSpc>
            </a:pPr>
            <a:r>
              <a:rPr lang="zh-CN" altLang="en-US" sz="1800" b="0"/>
              <a:t>函数</a:t>
            </a:r>
            <a:r>
              <a:rPr lang="en-US" altLang="zh-CN" sz="1800" b="0"/>
              <a:t>fseek()</a:t>
            </a:r>
            <a:r>
              <a:rPr lang="zh-CN" altLang="en-US" sz="1800" b="0">
                <a:solidFill>
                  <a:srgbClr val="0066FF"/>
                </a:solidFill>
              </a:rPr>
              <a:t>一般用于二进制文件的随机读写</a:t>
            </a:r>
            <a:r>
              <a:rPr lang="zh-CN" altLang="en-US" sz="1800" b="0"/>
              <a:t>，这是因为二进制文件的数据表示形式与数据在内存中的表示形式相同，各种类型的数据表示都有确定的字节数。</a:t>
            </a:r>
            <a:endParaRPr lang="en-US" altLang="zh-CN" sz="1800" b="0"/>
          </a:p>
          <a:p>
            <a:pPr algn="just" eaLnBrk="1" hangingPunct="1">
              <a:lnSpc>
                <a:spcPct val="150000"/>
              </a:lnSpc>
            </a:pPr>
            <a:r>
              <a:rPr lang="zh-CN" altLang="en-US" sz="1800" b="0"/>
              <a:t>而正文文件的数据表示形式与数据在内存中的表示形式不同，它们在输入输出时，数据的内外表示形式要进行转换，数值类型的数据在文件中的表示没有固定的字节数，计算位置时会发生混乱。</a:t>
            </a:r>
          </a:p>
          <a:p>
            <a:pPr algn="just" eaLnBrk="1" hangingPunct="1">
              <a:lnSpc>
                <a:spcPct val="150000"/>
              </a:lnSpc>
            </a:pPr>
            <a:endParaRPr lang="zh-CN" altLang="en-US" sz="1800" b="0"/>
          </a:p>
          <a:p>
            <a:pPr algn="just" eaLnBrk="1" hangingPunct="1">
              <a:lnSpc>
                <a:spcPct val="150000"/>
              </a:lnSpc>
            </a:pPr>
            <a:endParaRPr lang="en-US" altLang="zh-CN" sz="1800" b="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BA5235E-FE90-2798-FB7A-0FF1880229B1}"/>
              </a:ext>
            </a:extLst>
          </p:cNvPr>
          <p:cNvSpPr>
            <a:spLocks noGrp="1" noChangeArrowheads="1"/>
          </p:cNvSpPr>
          <p:nvPr>
            <p:ph type="title"/>
          </p:nvPr>
        </p:nvSpPr>
        <p:spPr/>
        <p:txBody>
          <a:bodyPr/>
          <a:lstStyle/>
          <a:p>
            <a:pPr eaLnBrk="1" hangingPunct="1"/>
            <a:r>
              <a:rPr lang="zh-CN" altLang="en-US" sz="3600"/>
              <a:t>其他常用库函数简介</a:t>
            </a:r>
            <a:r>
              <a:rPr lang="en-US" altLang="zh-CN" sz="3600"/>
              <a:t>——</a:t>
            </a:r>
            <a:br>
              <a:rPr lang="en-US" altLang="zh-CN" sz="3600"/>
            </a:br>
            <a:r>
              <a:rPr lang="en-US" altLang="zh-CN" sz="3600"/>
              <a:t>(3) rewind()</a:t>
            </a:r>
            <a:r>
              <a:rPr lang="zh-CN" altLang="en-US" sz="3600"/>
              <a:t>、</a:t>
            </a:r>
            <a:r>
              <a:rPr lang="en-US" altLang="zh-CN" sz="3600"/>
              <a:t>fseek()</a:t>
            </a:r>
            <a:r>
              <a:rPr lang="zh-CN" altLang="en-US" sz="3600"/>
              <a:t>和</a:t>
            </a:r>
            <a:r>
              <a:rPr lang="en-US" altLang="zh-CN" sz="3600"/>
              <a:t>ftell()</a:t>
            </a:r>
            <a:endParaRPr lang="zh-CN" altLang="zh-CN" sz="3600"/>
          </a:p>
        </p:txBody>
      </p:sp>
      <p:sp>
        <p:nvSpPr>
          <p:cNvPr id="46083" name="Rectangle 3">
            <a:extLst>
              <a:ext uri="{FF2B5EF4-FFF2-40B4-BE49-F238E27FC236}">
                <a16:creationId xmlns:a16="http://schemas.microsoft.com/office/drawing/2014/main" id="{99B1BF09-4906-8829-4E5E-4C5BD61E6BBF}"/>
              </a:ext>
            </a:extLst>
          </p:cNvPr>
          <p:cNvSpPr>
            <a:spLocks noGrp="1" noChangeArrowheads="1"/>
          </p:cNvSpPr>
          <p:nvPr>
            <p:ph type="body" idx="1"/>
          </p:nvPr>
        </p:nvSpPr>
        <p:spPr>
          <a:xfrm>
            <a:off x="827088" y="1772815"/>
            <a:ext cx="7866062" cy="4359697"/>
          </a:xfrm>
        </p:spPr>
        <p:txBody>
          <a:bodyPr/>
          <a:lstStyle/>
          <a:p>
            <a:pPr algn="just" eaLnBrk="1" hangingPunct="1">
              <a:lnSpc>
                <a:spcPct val="150000"/>
              </a:lnSpc>
            </a:pPr>
            <a:r>
              <a:rPr lang="zh-CN" altLang="en-US" sz="2000" b="0"/>
              <a:t>函数</a:t>
            </a:r>
            <a:r>
              <a:rPr lang="en-US" altLang="zh-CN" sz="2000" b="0"/>
              <a:t>ftell()</a:t>
            </a:r>
            <a:r>
              <a:rPr lang="zh-CN" altLang="en-US" sz="2000" b="0"/>
              <a:t>用于得到文件</a:t>
            </a:r>
            <a:r>
              <a:rPr lang="zh-CN" altLang="en-US" sz="2000" b="0">
                <a:solidFill>
                  <a:srgbClr val="0066FF"/>
                </a:solidFill>
              </a:rPr>
              <a:t>当前位置相对于文件首的偏移字节数</a:t>
            </a:r>
            <a:r>
              <a:rPr lang="zh-CN" altLang="en-US" sz="2000" b="0"/>
              <a:t>。在随机方式存取文件时，由于文件位置频繁的前后移动，程序不容易确定文件的当前位置。调用函数</a:t>
            </a:r>
            <a:r>
              <a:rPr lang="en-US" altLang="zh-CN" sz="2000" b="0"/>
              <a:t>ftell()</a:t>
            </a:r>
            <a:r>
              <a:rPr lang="zh-CN" altLang="en-US" sz="2000" b="0"/>
              <a:t>就能非常容易地确定文件的当前位置。</a:t>
            </a:r>
          </a:p>
          <a:p>
            <a:pPr algn="just" eaLnBrk="1" hangingPunct="1">
              <a:lnSpc>
                <a:spcPct val="150000"/>
              </a:lnSpc>
            </a:pPr>
            <a:r>
              <a:rPr lang="zh-CN" altLang="en-US" sz="2000" b="0"/>
              <a:t>函数 </a:t>
            </a:r>
            <a:r>
              <a:rPr lang="en-US" altLang="zh-CN" sz="2000" b="0"/>
              <a:t>ftell() </a:t>
            </a:r>
            <a:r>
              <a:rPr lang="zh-CN" altLang="en-US" sz="2000" b="0"/>
              <a:t>的说明形式为</a:t>
            </a:r>
          </a:p>
          <a:p>
            <a:pPr lvl="1" algn="just" eaLnBrk="1" hangingPunct="1">
              <a:lnSpc>
                <a:spcPct val="150000"/>
              </a:lnSpc>
            </a:pPr>
            <a:r>
              <a:rPr lang="zh-CN" altLang="en-US" sz="1800" b="0"/>
              <a:t>  	</a:t>
            </a:r>
            <a:r>
              <a:rPr lang="en-US" altLang="zh-CN" sz="1800" b="0"/>
              <a:t>long ftell(FILE *fp)</a:t>
            </a:r>
          </a:p>
          <a:p>
            <a:pPr algn="just" eaLnBrk="1" hangingPunct="1">
              <a:lnSpc>
                <a:spcPct val="150000"/>
              </a:lnSpc>
            </a:pPr>
            <a:r>
              <a:rPr lang="zh-CN" altLang="en-US" sz="2000" b="0"/>
              <a:t>利用函数 </a:t>
            </a:r>
            <a:r>
              <a:rPr lang="en-US" altLang="zh-CN" sz="2000" b="0"/>
              <a:t>ftell() </a:t>
            </a:r>
            <a:r>
              <a:rPr lang="zh-CN" altLang="en-US" sz="2000" b="0"/>
              <a:t>也能方便地知道一个文件的长度：</a:t>
            </a:r>
          </a:p>
          <a:p>
            <a:pPr lvl="1" algn="just" eaLnBrk="1" hangingPunct="1">
              <a:lnSpc>
                <a:spcPct val="150000"/>
              </a:lnSpc>
            </a:pPr>
            <a:r>
              <a:rPr lang="zh-CN" altLang="en-US" sz="1800" b="0"/>
              <a:t> </a:t>
            </a:r>
            <a:r>
              <a:rPr lang="en-US" altLang="zh-CN" sz="1800" b="0"/>
              <a:t>fseek(fp, 0L, SEEK_END);</a:t>
            </a:r>
            <a:r>
              <a:rPr lang="en-US" altLang="zh-CN" sz="1800" b="0">
                <a:solidFill>
                  <a:schemeClr val="folHlink"/>
                </a:solidFill>
              </a:rPr>
              <a:t>//</a:t>
            </a:r>
            <a:r>
              <a:rPr lang="zh-CN" altLang="en-US" sz="1800" b="0">
                <a:solidFill>
                  <a:schemeClr val="folHlink"/>
                </a:solidFill>
              </a:rPr>
              <a:t>当前位置移到文件的末尾</a:t>
            </a:r>
          </a:p>
          <a:p>
            <a:pPr lvl="1" algn="just" eaLnBrk="1" hangingPunct="1">
              <a:lnSpc>
                <a:spcPct val="150000"/>
              </a:lnSpc>
            </a:pPr>
            <a:r>
              <a:rPr lang="zh-CN" altLang="en-US" sz="1800" b="0"/>
              <a:t> </a:t>
            </a:r>
            <a:r>
              <a:rPr lang="en-US" altLang="zh-CN" sz="1800" b="0"/>
              <a:t>len = ftell(fp)</a:t>
            </a:r>
            <a:r>
              <a:rPr lang="zh-CN" altLang="en-US" sz="1800" b="0"/>
              <a:t>；</a:t>
            </a:r>
            <a:r>
              <a:rPr lang="en-US" altLang="zh-CN" sz="1800" b="0">
                <a:solidFill>
                  <a:schemeClr val="folHlink"/>
                </a:solidFill>
              </a:rPr>
              <a:t>//</a:t>
            </a:r>
            <a:r>
              <a:rPr lang="zh-CN" altLang="en-US" sz="1800" b="0">
                <a:solidFill>
                  <a:schemeClr val="folHlink"/>
                </a:solidFill>
              </a:rPr>
              <a:t>获得当前位置相对于文件首的位移</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0F356BB-0EB0-EFF9-04BE-34B062E309D4}"/>
              </a:ext>
            </a:extLst>
          </p:cNvPr>
          <p:cNvSpPr>
            <a:spLocks noGrp="1" noChangeArrowheads="1"/>
          </p:cNvSpPr>
          <p:nvPr>
            <p:ph type="title"/>
          </p:nvPr>
        </p:nvSpPr>
        <p:spPr/>
        <p:txBody>
          <a:bodyPr/>
          <a:lstStyle/>
          <a:p>
            <a:pPr eaLnBrk="1" hangingPunct="1"/>
            <a:r>
              <a:rPr lang="zh-CN" altLang="en-US"/>
              <a:t>其他</a:t>
            </a:r>
            <a:endParaRPr lang="zh-CN" altLang="zh-CN"/>
          </a:p>
        </p:txBody>
      </p:sp>
      <p:sp>
        <p:nvSpPr>
          <p:cNvPr id="47107" name="Rectangle 3">
            <a:extLst>
              <a:ext uri="{FF2B5EF4-FFF2-40B4-BE49-F238E27FC236}">
                <a16:creationId xmlns:a16="http://schemas.microsoft.com/office/drawing/2014/main" id="{A68D518B-B9F4-D70E-1773-C40A722F2E41}"/>
              </a:ext>
            </a:extLst>
          </p:cNvPr>
          <p:cNvSpPr>
            <a:spLocks noGrp="1" noChangeArrowheads="1"/>
          </p:cNvSpPr>
          <p:nvPr>
            <p:ph type="body" idx="1"/>
          </p:nvPr>
        </p:nvSpPr>
        <p:spPr>
          <a:xfrm>
            <a:off x="827088" y="1988839"/>
            <a:ext cx="7705352" cy="4143673"/>
          </a:xfrm>
        </p:spPr>
        <p:txBody>
          <a:bodyPr/>
          <a:lstStyle/>
          <a:p>
            <a:pPr algn="just" eaLnBrk="1" hangingPunct="1">
              <a:lnSpc>
                <a:spcPct val="150000"/>
              </a:lnSpc>
            </a:pPr>
            <a:r>
              <a:rPr lang="zh-CN" altLang="en-US" sz="2800" b="0"/>
              <a:t>程序常从标准输入文件读数据，向标准输出文件输出结果。</a:t>
            </a:r>
            <a:endParaRPr lang="en-US" altLang="zh-CN" sz="2800" b="0"/>
          </a:p>
          <a:p>
            <a:pPr algn="just" eaLnBrk="1" hangingPunct="1">
              <a:lnSpc>
                <a:spcPct val="150000"/>
              </a:lnSpc>
            </a:pPr>
            <a:r>
              <a:rPr lang="en-US" altLang="zh-CN" sz="2800" b="0"/>
              <a:t>UNIX</a:t>
            </a:r>
            <a:r>
              <a:rPr lang="zh-CN" altLang="en-US" sz="2800" b="0"/>
              <a:t>和</a:t>
            </a:r>
            <a:r>
              <a:rPr lang="en-US" altLang="zh-CN" sz="2800" b="0"/>
              <a:t>DOS</a:t>
            </a:r>
            <a:r>
              <a:rPr lang="zh-CN" altLang="en-US" sz="2800" b="0"/>
              <a:t>都支持数据流</a:t>
            </a:r>
            <a:r>
              <a:rPr lang="zh-CN" altLang="en-US" sz="2800" b="0">
                <a:solidFill>
                  <a:srgbClr val="0066FF"/>
                </a:solidFill>
              </a:rPr>
              <a:t>重定向</a:t>
            </a:r>
            <a:r>
              <a:rPr lang="zh-CN" altLang="en-US" sz="2800" b="0"/>
              <a:t>。在启动程序的命令行中，用改向输入标志 </a:t>
            </a:r>
            <a:r>
              <a:rPr lang="zh-CN" altLang="en-US" sz="2800" b="0">
                <a:latin typeface="Arial" panose="020B0604020202020204" pitchFamily="34" charset="0"/>
              </a:rPr>
              <a:t>“</a:t>
            </a:r>
            <a:r>
              <a:rPr lang="en-US" altLang="zh-CN" sz="2800" b="0"/>
              <a:t>&lt;</a:t>
            </a:r>
            <a:r>
              <a:rPr lang="en-US" altLang="zh-CN" sz="2800" b="0">
                <a:latin typeface="Arial" panose="020B0604020202020204" pitchFamily="34" charset="0"/>
              </a:rPr>
              <a:t>”</a:t>
            </a:r>
            <a:r>
              <a:rPr lang="zh-CN" altLang="en-US" sz="2800" b="0"/>
              <a:t>，能把标准输入改成从某个文件读入；改向输出标志</a:t>
            </a:r>
            <a:r>
              <a:rPr lang="zh-CN" altLang="en-US" sz="2800" b="0">
                <a:latin typeface="Arial" panose="020B0604020202020204" pitchFamily="34" charset="0"/>
              </a:rPr>
              <a:t>“</a:t>
            </a:r>
            <a:r>
              <a:rPr lang="en-US" altLang="zh-CN" sz="2800" b="0"/>
              <a:t>&gt;</a:t>
            </a:r>
            <a:r>
              <a:rPr lang="en-US" altLang="zh-CN" sz="2800" b="0">
                <a:latin typeface="Arial" panose="020B0604020202020204" pitchFamily="34" charset="0"/>
              </a:rPr>
              <a:t>”</a:t>
            </a:r>
            <a:r>
              <a:rPr lang="zh-CN" altLang="en-US" sz="2800" b="0"/>
              <a:t>，能把标准输出改成向某个文件输出。</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8C01E1A-14F1-B644-362C-CDE27D9D48F0}"/>
              </a:ext>
            </a:extLst>
          </p:cNvPr>
          <p:cNvSpPr>
            <a:spLocks noGrp="1" noChangeArrowheads="1"/>
          </p:cNvSpPr>
          <p:nvPr>
            <p:ph type="ctrTitle"/>
          </p:nvPr>
        </p:nvSpPr>
        <p:spPr/>
        <p:txBody>
          <a:bodyPr/>
          <a:lstStyle/>
          <a:p>
            <a:pPr eaLnBrk="1" hangingPunct="1"/>
            <a:r>
              <a:rPr lang="en-US" altLang="zh-CN"/>
              <a:t>8.5 (</a:t>
            </a:r>
            <a:r>
              <a:rPr lang="zh-CN" altLang="en-US"/>
              <a:t>自习</a:t>
            </a:r>
            <a:r>
              <a:rPr lang="en-US" altLang="zh-CN"/>
              <a:t>)</a:t>
            </a:r>
          </a:p>
        </p:txBody>
      </p:sp>
      <p:sp>
        <p:nvSpPr>
          <p:cNvPr id="48131" name="Rectangle 3">
            <a:extLst>
              <a:ext uri="{FF2B5EF4-FFF2-40B4-BE49-F238E27FC236}">
                <a16:creationId xmlns:a16="http://schemas.microsoft.com/office/drawing/2014/main" id="{606EF614-9BC7-232A-0F75-8338A07B15B2}"/>
              </a:ext>
            </a:extLst>
          </p:cNvPr>
          <p:cNvSpPr>
            <a:spLocks noGrp="1" noChangeArrowheads="1"/>
          </p:cNvSpPr>
          <p:nvPr>
            <p:ph type="subTitle" idx="1"/>
          </p:nvPr>
        </p:nvSpPr>
        <p:spPr/>
        <p:txBody>
          <a:bodyPr/>
          <a:lstStyle/>
          <a:p>
            <a:pPr eaLnBrk="1" hangingPunct="1"/>
            <a:endParaRPr lang="zh-CN"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9314" name="Rectangle 2">
            <a:extLst>
              <a:ext uri="{FF2B5EF4-FFF2-40B4-BE49-F238E27FC236}">
                <a16:creationId xmlns:a16="http://schemas.microsoft.com/office/drawing/2014/main" id="{A97E475A-2C40-0362-B398-086C629C1E6C}"/>
              </a:ext>
            </a:extLst>
          </p:cNvPr>
          <p:cNvSpPr>
            <a:spLocks noGrp="1" noChangeArrowheads="1"/>
          </p:cNvSpPr>
          <p:nvPr>
            <p:ph type="ctrTitle"/>
          </p:nvPr>
        </p:nvSpPr>
        <p:spPr/>
        <p:txBody>
          <a:bodyPr/>
          <a:lstStyle/>
          <a:p>
            <a:pPr eaLnBrk="1" hangingPunct="1"/>
            <a:r>
              <a:rPr lang="en-US" altLang="zh-CN" sz="6000">
                <a:latin typeface="Comic Sans MS" panose="030F0902030302020204" pitchFamily="66" charset="0"/>
              </a:rPr>
              <a:t>That’s the end of</a:t>
            </a:r>
          </a:p>
        </p:txBody>
      </p:sp>
      <p:sp>
        <p:nvSpPr>
          <p:cNvPr id="909315" name="Rectangle 3">
            <a:extLst>
              <a:ext uri="{FF2B5EF4-FFF2-40B4-BE49-F238E27FC236}">
                <a16:creationId xmlns:a16="http://schemas.microsoft.com/office/drawing/2014/main" id="{5FDBC121-FAE8-2DAB-1C0E-DA3AF9F0E8F9}"/>
              </a:ext>
            </a:extLst>
          </p:cNvPr>
          <p:cNvSpPr>
            <a:spLocks noGrp="1" noChangeArrowheads="1"/>
          </p:cNvSpPr>
          <p:nvPr>
            <p:ph type="subTitle" idx="1"/>
          </p:nvPr>
        </p:nvSpPr>
        <p:spPr/>
        <p:txBody>
          <a:bodyPr/>
          <a:lstStyle/>
          <a:p>
            <a:pPr eaLnBrk="1" hangingPunct="1"/>
            <a:r>
              <a:rPr lang="en-US" altLang="zh-CN" sz="4400">
                <a:latin typeface="Comic Sans MS" panose="030F0902030302020204" pitchFamily="66" charset="0"/>
              </a:rPr>
              <a:t>This  Term</a:t>
            </a:r>
          </a:p>
        </p:txBody>
      </p:sp>
      <p:pic>
        <p:nvPicPr>
          <p:cNvPr id="2" name="Picture 2" descr="BS00559_">
            <a:hlinkClick r:id="rId2" action="ppaction://hlinkpres?slideindex=1&amp;slidetitle=PowerPoint 演示文稿"/>
            <a:extLst>
              <a:ext uri="{FF2B5EF4-FFF2-40B4-BE49-F238E27FC236}">
                <a16:creationId xmlns:a16="http://schemas.microsoft.com/office/drawing/2014/main" id="{C9A1D81A-7D2D-3028-632B-F385E4B22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208" y="404664"/>
            <a:ext cx="25146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09314"/>
                                        </p:tgtEl>
                                        <p:attrNameLst>
                                          <p:attrName>style.visibility</p:attrName>
                                        </p:attrNameLst>
                                      </p:cBhvr>
                                      <p:to>
                                        <p:strVal val="visible"/>
                                      </p:to>
                                    </p:set>
                                    <p:animEffect transition="in" filter="blinds(horizontal)">
                                      <p:cBhvr>
                                        <p:cTn id="7" dur="500"/>
                                        <p:tgtEl>
                                          <p:spTgt spid="90931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09315">
                                            <p:txEl>
                                              <p:pRg st="0" end="0"/>
                                            </p:txEl>
                                          </p:spTgt>
                                        </p:tgtEl>
                                        <p:attrNameLst>
                                          <p:attrName>style.visibility</p:attrName>
                                        </p:attrNameLst>
                                      </p:cBhvr>
                                      <p:to>
                                        <p:strVal val="visible"/>
                                      </p:to>
                                    </p:set>
                                    <p:animEffect transition="in" filter="blinds(horizontal)">
                                      <p:cBhvr>
                                        <p:cTn id="10" dur="500"/>
                                        <p:tgtEl>
                                          <p:spTgt spid="9093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314" grpId="0"/>
      <p:bldP spid="909315" grpId="0" build="p"/>
    </p:bld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Unicode MS"/>
        <a:ea typeface="华文隶书"/>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u"/>
          <a:tabLst/>
          <a:defRPr kumimoji="0" lang="zh-CN" altLang="en-US" sz="3200" b="0" i="1" u="none" strike="noStrike" cap="none" normalizeH="0" baseline="0" smtClean="0">
            <a:ln>
              <a:noFill/>
            </a:ln>
            <a:solidFill>
              <a:schemeClr val="tx1"/>
            </a:solidFill>
            <a:effectLst/>
            <a:latin typeface="Arial Unicode MS" pitchFamily="34" charset="-122"/>
            <a:ea typeface="楷体_GB2312"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u"/>
          <a:tabLst/>
          <a:defRPr kumimoji="0" lang="zh-CN" altLang="en-US" sz="3200" b="0" i="1" u="none" strike="noStrike" cap="none" normalizeH="0" baseline="0" smtClean="0">
            <a:ln>
              <a:noFill/>
            </a:ln>
            <a:solidFill>
              <a:schemeClr val="tx1"/>
            </a:solidFill>
            <a:effectLst/>
            <a:latin typeface="Arial Unicode MS" pitchFamily="34" charset="-122"/>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3744</TotalTime>
  <Words>6397</Words>
  <Application>Microsoft Macintosh PowerPoint</Application>
  <PresentationFormat>全屏显示(4:3)</PresentationFormat>
  <Paragraphs>436</Paragraphs>
  <Slides>51</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51</vt:i4>
      </vt:variant>
    </vt:vector>
  </HeadingPairs>
  <TitlesOfParts>
    <vt:vector size="60" baseType="lpstr">
      <vt:lpstr>SimSun</vt:lpstr>
      <vt:lpstr>Arial Unicode MS</vt:lpstr>
      <vt:lpstr>Arial</vt:lpstr>
      <vt:lpstr>Comic Sans MS</vt:lpstr>
      <vt:lpstr>Helvetica Neue</vt:lpstr>
      <vt:lpstr>Tahoma</vt:lpstr>
      <vt:lpstr>Times New Roman</vt:lpstr>
      <vt:lpstr>Wingdings</vt:lpstr>
      <vt:lpstr>Blends</vt:lpstr>
      <vt:lpstr>C语言程序设计</vt:lpstr>
      <vt:lpstr>第8章  数据文件处理技术</vt:lpstr>
      <vt:lpstr>8.1  文件概述</vt:lpstr>
      <vt:lpstr>文件概述</vt:lpstr>
      <vt:lpstr>正文文件</vt:lpstr>
      <vt:lpstr>二进制文件</vt:lpstr>
      <vt:lpstr>程序与文件交换数据的实现过程</vt:lpstr>
      <vt:lpstr>8.2  文件类型和文件类型指针变量</vt:lpstr>
      <vt:lpstr>文件类型 FILE</vt:lpstr>
      <vt:lpstr>文件类型 FILE</vt:lpstr>
      <vt:lpstr>文件类型指针变量</vt:lpstr>
      <vt:lpstr>8.3 文件打开和关闭库函数</vt:lpstr>
      <vt:lpstr>文件打开库函数fopen()</vt:lpstr>
      <vt:lpstr>文件打开库函数fopen()</vt:lpstr>
      <vt:lpstr>文件打开库函数fopen()</vt:lpstr>
      <vt:lpstr>文件打开库函数fopen()</vt:lpstr>
      <vt:lpstr>文件打开库函数fopen()</vt:lpstr>
      <vt:lpstr>文件关闭库函数fclose()</vt:lpstr>
      <vt:lpstr>为什么fclose()很重要？</vt:lpstr>
      <vt:lpstr>为什么fclose()很重要？</vt:lpstr>
      <vt:lpstr>为什么fclose()很重要？</vt:lpstr>
      <vt:lpstr>8.4 文件处理程序结构和常用文件库函数</vt:lpstr>
      <vt:lpstr>正文文件的输入处理</vt:lpstr>
      <vt:lpstr>fgetc()</vt:lpstr>
      <vt:lpstr>程序8.1(*)</vt:lpstr>
      <vt:lpstr>程序8.1(续)</vt:lpstr>
      <vt:lpstr>二进制文件的输入处理</vt:lpstr>
      <vt:lpstr>feof()</vt:lpstr>
      <vt:lpstr>字符（或字节）逐一生成形成新文件</vt:lpstr>
      <vt:lpstr>fputc()</vt:lpstr>
      <vt:lpstr>程序8.2</vt:lpstr>
      <vt:lpstr>程序8.2（续）</vt:lpstr>
      <vt:lpstr>参照已知文件，生成新文件</vt:lpstr>
      <vt:lpstr>程序8.3(*)</vt:lpstr>
      <vt:lpstr>PowerPoint 演示文稿</vt:lpstr>
      <vt:lpstr>结构化文件的输入输出</vt:lpstr>
      <vt:lpstr>fread()和fwrite()</vt:lpstr>
      <vt:lpstr>fread()和fwrite()</vt:lpstr>
      <vt:lpstr>fread()和fwrite()</vt:lpstr>
      <vt:lpstr>程序8.4(*)</vt:lpstr>
      <vt:lpstr>PowerPoint 演示文稿</vt:lpstr>
      <vt:lpstr>PowerPoint 演示文稿</vt:lpstr>
      <vt:lpstr>其他常用库函数简介—— (1) fprintf()和fscanf()</vt:lpstr>
      <vt:lpstr>其他常用库函数简介—— (2) fgets()和fputs()</vt:lpstr>
      <vt:lpstr>其他常用库函数简介—— (3) rewind()、fseek()和ftell()</vt:lpstr>
      <vt:lpstr>其他常用库函数简介—— (3) rewind()、fseek()和ftell()</vt:lpstr>
      <vt:lpstr>其他常用库函数简介—— (3) rewind()、fseek()和ftell()</vt:lpstr>
      <vt:lpstr>其他常用库函数简介—— (3) rewind()、fseek()和ftell()</vt:lpstr>
      <vt:lpstr>其他</vt:lpstr>
      <vt:lpstr>8.5 (自习)</vt:lpstr>
      <vt:lpstr>That’s the end of</vt:lpstr>
    </vt:vector>
  </TitlesOfParts>
  <Company>fudan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程序设计实习</dc:title>
  <dc:creator>zhenying</dc:creator>
  <cp:lastModifiedBy>Ben</cp:lastModifiedBy>
  <cp:revision>161</cp:revision>
  <dcterms:created xsi:type="dcterms:W3CDTF">2007-01-26T04:19:18Z</dcterms:created>
  <dcterms:modified xsi:type="dcterms:W3CDTF">2025-12-17T15:02:39Z</dcterms:modified>
</cp:coreProperties>
</file>