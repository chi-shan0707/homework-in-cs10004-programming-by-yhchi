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comment1.xml" ContentType="application/vnd.openxmlformats-officedocument.presentationml.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notesMasterIdLst>
    <p:notesMasterId r:id="rId139"/>
  </p:notesMasterIdLst>
  <p:sldIdLst>
    <p:sldId id="256" r:id="rId2"/>
    <p:sldId id="341" r:id="rId3"/>
    <p:sldId id="772" r:id="rId4"/>
    <p:sldId id="555" r:id="rId5"/>
    <p:sldId id="556" r:id="rId6"/>
    <p:sldId id="794" r:id="rId7"/>
    <p:sldId id="795" r:id="rId8"/>
    <p:sldId id="771" r:id="rId9"/>
    <p:sldId id="796" r:id="rId10"/>
    <p:sldId id="773" r:id="rId11"/>
    <p:sldId id="561" r:id="rId12"/>
    <p:sldId id="774" r:id="rId13"/>
    <p:sldId id="797" r:id="rId14"/>
    <p:sldId id="563" r:id="rId15"/>
    <p:sldId id="798" r:id="rId16"/>
    <p:sldId id="799" r:id="rId17"/>
    <p:sldId id="800" r:id="rId18"/>
    <p:sldId id="801" r:id="rId19"/>
    <p:sldId id="802" r:id="rId20"/>
    <p:sldId id="803" r:id="rId21"/>
    <p:sldId id="804" r:id="rId22"/>
    <p:sldId id="805" r:id="rId23"/>
    <p:sldId id="567" r:id="rId24"/>
    <p:sldId id="568" r:id="rId25"/>
    <p:sldId id="807" r:id="rId26"/>
    <p:sldId id="808" r:id="rId27"/>
    <p:sldId id="806" r:id="rId28"/>
    <p:sldId id="809" r:id="rId29"/>
    <p:sldId id="810" r:id="rId30"/>
    <p:sldId id="811" r:id="rId31"/>
    <p:sldId id="812" r:id="rId32"/>
    <p:sldId id="813" r:id="rId33"/>
    <p:sldId id="814" r:id="rId34"/>
    <p:sldId id="815" r:id="rId35"/>
    <p:sldId id="816" r:id="rId36"/>
    <p:sldId id="817" r:id="rId37"/>
    <p:sldId id="818" r:id="rId38"/>
    <p:sldId id="819" r:id="rId39"/>
    <p:sldId id="820" r:id="rId40"/>
    <p:sldId id="821" r:id="rId41"/>
    <p:sldId id="822" r:id="rId42"/>
    <p:sldId id="823" r:id="rId43"/>
    <p:sldId id="824" r:id="rId44"/>
    <p:sldId id="825" r:id="rId45"/>
    <p:sldId id="682" r:id="rId46"/>
    <p:sldId id="911" r:id="rId47"/>
    <p:sldId id="912" r:id="rId48"/>
    <p:sldId id="913" r:id="rId49"/>
    <p:sldId id="914" r:id="rId50"/>
    <p:sldId id="915" r:id="rId51"/>
    <p:sldId id="683" r:id="rId52"/>
    <p:sldId id="685" r:id="rId53"/>
    <p:sldId id="828" r:id="rId54"/>
    <p:sldId id="829" r:id="rId55"/>
    <p:sldId id="830" r:id="rId56"/>
    <p:sldId id="831" r:id="rId57"/>
    <p:sldId id="832" r:id="rId58"/>
    <p:sldId id="827" r:id="rId59"/>
    <p:sldId id="890" r:id="rId60"/>
    <p:sldId id="687" r:id="rId61"/>
    <p:sldId id="891" r:id="rId62"/>
    <p:sldId id="689" r:id="rId63"/>
    <p:sldId id="697" r:id="rId64"/>
    <p:sldId id="833" r:id="rId65"/>
    <p:sldId id="777" r:id="rId66"/>
    <p:sldId id="835" r:id="rId67"/>
    <p:sldId id="837" r:id="rId68"/>
    <p:sldId id="838" r:id="rId69"/>
    <p:sldId id="836" r:id="rId70"/>
    <p:sldId id="840" r:id="rId71"/>
    <p:sldId id="841" r:id="rId72"/>
    <p:sldId id="906" r:id="rId73"/>
    <p:sldId id="907" r:id="rId74"/>
    <p:sldId id="834" r:id="rId75"/>
    <p:sldId id="842" r:id="rId76"/>
    <p:sldId id="779" r:id="rId77"/>
    <p:sldId id="780" r:id="rId78"/>
    <p:sldId id="843" r:id="rId79"/>
    <p:sldId id="783" r:id="rId80"/>
    <p:sldId id="845" r:id="rId81"/>
    <p:sldId id="844" r:id="rId82"/>
    <p:sldId id="781" r:id="rId83"/>
    <p:sldId id="846" r:id="rId84"/>
    <p:sldId id="847" r:id="rId85"/>
    <p:sldId id="785" r:id="rId86"/>
    <p:sldId id="848" r:id="rId87"/>
    <p:sldId id="849" r:id="rId88"/>
    <p:sldId id="850" r:id="rId89"/>
    <p:sldId id="851" r:id="rId90"/>
    <p:sldId id="852" r:id="rId91"/>
    <p:sldId id="853" r:id="rId92"/>
    <p:sldId id="854" r:id="rId93"/>
    <p:sldId id="855" r:id="rId94"/>
    <p:sldId id="856" r:id="rId95"/>
    <p:sldId id="857" r:id="rId96"/>
    <p:sldId id="908" r:id="rId97"/>
    <p:sldId id="910" r:id="rId98"/>
    <p:sldId id="858" r:id="rId99"/>
    <p:sldId id="859" r:id="rId100"/>
    <p:sldId id="860" r:id="rId101"/>
    <p:sldId id="862" r:id="rId102"/>
    <p:sldId id="863" r:id="rId103"/>
    <p:sldId id="864" r:id="rId104"/>
    <p:sldId id="865" r:id="rId105"/>
    <p:sldId id="905" r:id="rId106"/>
    <p:sldId id="725" r:id="rId107"/>
    <p:sldId id="740" r:id="rId108"/>
    <p:sldId id="867" r:id="rId109"/>
    <p:sldId id="866" r:id="rId110"/>
    <p:sldId id="869" r:id="rId111"/>
    <p:sldId id="870" r:id="rId112"/>
    <p:sldId id="872" r:id="rId113"/>
    <p:sldId id="873" r:id="rId114"/>
    <p:sldId id="874" r:id="rId115"/>
    <p:sldId id="875" r:id="rId116"/>
    <p:sldId id="871" r:id="rId117"/>
    <p:sldId id="877" r:id="rId118"/>
    <p:sldId id="878" r:id="rId119"/>
    <p:sldId id="879" r:id="rId120"/>
    <p:sldId id="880" r:id="rId121"/>
    <p:sldId id="881" r:id="rId122"/>
    <p:sldId id="882" r:id="rId123"/>
    <p:sldId id="883" r:id="rId124"/>
    <p:sldId id="892" r:id="rId125"/>
    <p:sldId id="893" r:id="rId126"/>
    <p:sldId id="894" r:id="rId127"/>
    <p:sldId id="895" r:id="rId128"/>
    <p:sldId id="902" r:id="rId129"/>
    <p:sldId id="903" r:id="rId130"/>
    <p:sldId id="904" r:id="rId131"/>
    <p:sldId id="763" r:id="rId132"/>
    <p:sldId id="764" r:id="rId133"/>
    <p:sldId id="791" r:id="rId134"/>
    <p:sldId id="884" r:id="rId135"/>
    <p:sldId id="885" r:id="rId136"/>
    <p:sldId id="886" r:id="rId137"/>
    <p:sldId id="887" r:id="rId138"/>
  </p:sldIdLst>
  <p:sldSz cx="9144000" cy="6858000" type="screen4x3"/>
  <p:notesSz cx="6858000" cy="9144000"/>
  <p:defaultTextStyle>
    <a:defPPr>
      <a:defRPr lang="zh-CN"/>
    </a:defPPr>
    <a:lvl1pPr algn="l" rtl="0" fontAlgn="base">
      <a:spcBef>
        <a:spcPct val="0"/>
      </a:spcBef>
      <a:spcAft>
        <a:spcPct val="0"/>
      </a:spcAft>
      <a:defRPr sz="2400" kern="1200">
        <a:solidFill>
          <a:schemeClr val="tx1"/>
        </a:solidFill>
        <a:latin typeface="Times New Roman" pitchFamily="18" charset="0"/>
        <a:ea typeface="宋体" charset="-122"/>
        <a:cs typeface="+mn-cs"/>
      </a:defRPr>
    </a:lvl1pPr>
    <a:lvl2pPr marL="457200" algn="l" rtl="0" fontAlgn="base">
      <a:spcBef>
        <a:spcPct val="0"/>
      </a:spcBef>
      <a:spcAft>
        <a:spcPct val="0"/>
      </a:spcAft>
      <a:defRPr sz="2400" kern="1200">
        <a:solidFill>
          <a:schemeClr val="tx1"/>
        </a:solidFill>
        <a:latin typeface="Times New Roman" pitchFamily="18" charset="0"/>
        <a:ea typeface="宋体" charset="-122"/>
        <a:cs typeface="+mn-cs"/>
      </a:defRPr>
    </a:lvl2pPr>
    <a:lvl3pPr marL="914400" algn="l" rtl="0" fontAlgn="base">
      <a:spcBef>
        <a:spcPct val="0"/>
      </a:spcBef>
      <a:spcAft>
        <a:spcPct val="0"/>
      </a:spcAft>
      <a:defRPr sz="2400" kern="1200">
        <a:solidFill>
          <a:schemeClr val="tx1"/>
        </a:solidFill>
        <a:latin typeface="Times New Roman" pitchFamily="18" charset="0"/>
        <a:ea typeface="宋体" charset="-122"/>
        <a:cs typeface="+mn-cs"/>
      </a:defRPr>
    </a:lvl3pPr>
    <a:lvl4pPr marL="1371600" algn="l" rtl="0" fontAlgn="base">
      <a:spcBef>
        <a:spcPct val="0"/>
      </a:spcBef>
      <a:spcAft>
        <a:spcPct val="0"/>
      </a:spcAft>
      <a:defRPr sz="2400" kern="1200">
        <a:solidFill>
          <a:schemeClr val="tx1"/>
        </a:solidFill>
        <a:latin typeface="Times New Roman" pitchFamily="18" charset="0"/>
        <a:ea typeface="宋体" charset="-122"/>
        <a:cs typeface="+mn-cs"/>
      </a:defRPr>
    </a:lvl4pPr>
    <a:lvl5pPr marL="1828800" algn="l" rtl="0" fontAlgn="base">
      <a:spcBef>
        <a:spcPct val="0"/>
      </a:spcBef>
      <a:spcAft>
        <a:spcPct val="0"/>
      </a:spcAft>
      <a:defRPr sz="2400" kern="1200">
        <a:solidFill>
          <a:schemeClr val="tx1"/>
        </a:solidFill>
        <a:latin typeface="Times New Roman" pitchFamily="18" charset="0"/>
        <a:ea typeface="宋体" charset="-122"/>
        <a:cs typeface="+mn-cs"/>
      </a:defRPr>
    </a:lvl5pPr>
    <a:lvl6pPr marL="2286000" algn="l" defTabSz="914400" rtl="0" eaLnBrk="1" latinLnBrk="0" hangingPunct="1">
      <a:defRPr sz="2400" kern="1200">
        <a:solidFill>
          <a:schemeClr val="tx1"/>
        </a:solidFill>
        <a:latin typeface="Times New Roman" pitchFamily="18" charset="0"/>
        <a:ea typeface="宋体" charset="-122"/>
        <a:cs typeface="+mn-cs"/>
      </a:defRPr>
    </a:lvl6pPr>
    <a:lvl7pPr marL="2743200" algn="l" defTabSz="914400" rtl="0" eaLnBrk="1" latinLnBrk="0" hangingPunct="1">
      <a:defRPr sz="2400" kern="1200">
        <a:solidFill>
          <a:schemeClr val="tx1"/>
        </a:solidFill>
        <a:latin typeface="Times New Roman" pitchFamily="18" charset="0"/>
        <a:ea typeface="宋体" charset="-122"/>
        <a:cs typeface="+mn-cs"/>
      </a:defRPr>
    </a:lvl7pPr>
    <a:lvl8pPr marL="3200400" algn="l" defTabSz="914400" rtl="0" eaLnBrk="1" latinLnBrk="0" hangingPunct="1">
      <a:defRPr sz="2400" kern="1200">
        <a:solidFill>
          <a:schemeClr val="tx1"/>
        </a:solidFill>
        <a:latin typeface="Times New Roman" pitchFamily="18" charset="0"/>
        <a:ea typeface="宋体" charset="-122"/>
        <a:cs typeface="+mn-cs"/>
      </a:defRPr>
    </a:lvl8pPr>
    <a:lvl9pPr marL="3657600" algn="l" defTabSz="914400" rtl="0" eaLnBrk="1" latinLnBrk="0" hangingPunct="1">
      <a:defRPr sz="2400" kern="1200">
        <a:solidFill>
          <a:schemeClr val="tx1"/>
        </a:solidFill>
        <a:latin typeface="Times New Roman" pitchFamily="18"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an" initials="T" lastIdx="1" clrIdx="0">
    <p:extLst>
      <p:ext uri="{19B8F6BF-5375-455C-9EA6-DF929625EA0E}">
        <p15:presenceInfo xmlns:p15="http://schemas.microsoft.com/office/powerpoint/2012/main" userId="Ta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99"/>
    <a:srgbClr val="008080"/>
    <a:srgbClr val="003399"/>
    <a:srgbClr val="008000"/>
    <a:srgbClr val="FF3300"/>
    <a:srgbClr val="FF6600"/>
    <a:srgbClr val="0000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675" autoAdjust="0"/>
    <p:restoredTop sz="92497" autoAdjust="0"/>
  </p:normalViewPr>
  <p:slideViewPr>
    <p:cSldViewPr>
      <p:cViewPr varScale="1">
        <p:scale>
          <a:sx n="66" d="100"/>
          <a:sy n="66" d="100"/>
        </p:scale>
        <p:origin x="816"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23376"/>
    </p:cViewPr>
  </p:sorterViewPr>
  <p:notesViewPr>
    <p:cSldViewPr>
      <p:cViewPr varScale="1">
        <p:scale>
          <a:sx n="52" d="100"/>
          <a:sy n="52" d="100"/>
        </p:scale>
        <p:origin x="2290" y="53"/>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11-27T15:41:48.789" idx="1">
    <p:pos x="5546" y="135"/>
    <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kumimoji="1" sz="1200">
                <a:ea typeface="宋体" pitchFamily="2" charset="-122"/>
              </a:defRPr>
            </a:lvl1pPr>
          </a:lstStyle>
          <a:p>
            <a:pPr>
              <a:defRPr/>
            </a:pPr>
            <a:endParaRPr lang="en-US" altLang="zh-CN"/>
          </a:p>
        </p:txBody>
      </p:sp>
      <p:sp>
        <p:nvSpPr>
          <p:cNvPr id="5939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kumimoji="1" sz="1200">
                <a:ea typeface="宋体" pitchFamily="2" charset="-122"/>
              </a:defRPr>
            </a:lvl1pPr>
          </a:lstStyle>
          <a:p>
            <a:pPr>
              <a:defRPr/>
            </a:pPr>
            <a:endParaRPr lang="en-US" altLang="zh-CN"/>
          </a:p>
        </p:txBody>
      </p:sp>
      <p:sp>
        <p:nvSpPr>
          <p:cNvPr id="14643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939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939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kumimoji="1" sz="1200">
                <a:ea typeface="宋体" pitchFamily="2" charset="-122"/>
              </a:defRPr>
            </a:lvl1pPr>
          </a:lstStyle>
          <a:p>
            <a:pPr>
              <a:defRPr/>
            </a:pPr>
            <a:endParaRPr lang="en-US" altLang="zh-CN"/>
          </a:p>
        </p:txBody>
      </p:sp>
      <p:sp>
        <p:nvSpPr>
          <p:cNvPr id="5939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1" sz="1200">
                <a:ea typeface="宋体" pitchFamily="2" charset="-122"/>
              </a:defRPr>
            </a:lvl1pPr>
          </a:lstStyle>
          <a:p>
            <a:pPr>
              <a:defRPr/>
            </a:pPr>
            <a:fld id="{C43AFCF5-8013-4F2C-8560-5466B9D6C2B6}" type="slidenum">
              <a:rPr lang="en-US" altLang="zh-CN"/>
              <a:pPr>
                <a:defRPr/>
              </a:pPr>
              <a:t>‹#›</a:t>
            </a:fld>
            <a:endParaRPr lang="en-US" altLang="zh-CN"/>
          </a:p>
        </p:txBody>
      </p:sp>
    </p:spTree>
    <p:extLst>
      <p:ext uri="{BB962C8B-B14F-4D97-AF65-F5344CB8AC3E}">
        <p14:creationId xmlns:p14="http://schemas.microsoft.com/office/powerpoint/2010/main" val="354604529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43AFCF5-8013-4F2C-8560-5466B9D6C2B6}" type="slidenum">
              <a:rPr lang="en-US" altLang="zh-CN" smtClean="0"/>
              <a:pPr>
                <a:defRPr/>
              </a:pPr>
              <a:t>8</a:t>
            </a:fld>
            <a:endParaRPr lang="en-US" altLang="zh-CN"/>
          </a:p>
        </p:txBody>
      </p:sp>
    </p:spTree>
    <p:extLst>
      <p:ext uri="{BB962C8B-B14F-4D97-AF65-F5344CB8AC3E}">
        <p14:creationId xmlns:p14="http://schemas.microsoft.com/office/powerpoint/2010/main" val="9247646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//#pragma pack(n)</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C43AFCF5-8013-4F2C-8560-5466B9D6C2B6}" type="slidenum">
              <a:rPr lang="en-US" altLang="zh-CN" smtClean="0"/>
              <a:pPr>
                <a:defRPr/>
              </a:pPr>
              <a:t>9</a:t>
            </a:fld>
            <a:endParaRPr lang="en-US" altLang="zh-CN"/>
          </a:p>
        </p:txBody>
      </p:sp>
    </p:spTree>
    <p:extLst>
      <p:ext uri="{BB962C8B-B14F-4D97-AF65-F5344CB8AC3E}">
        <p14:creationId xmlns:p14="http://schemas.microsoft.com/office/powerpoint/2010/main" val="30893621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43AFCF5-8013-4F2C-8560-5466B9D6C2B6}" type="slidenum">
              <a:rPr lang="en-US" altLang="zh-CN" smtClean="0"/>
              <a:pPr>
                <a:defRPr/>
              </a:pPr>
              <a:t>10</a:t>
            </a:fld>
            <a:endParaRPr lang="en-US" altLang="zh-CN"/>
          </a:p>
        </p:txBody>
      </p:sp>
    </p:spTree>
    <p:extLst>
      <p:ext uri="{BB962C8B-B14F-4D97-AF65-F5344CB8AC3E}">
        <p14:creationId xmlns:p14="http://schemas.microsoft.com/office/powerpoint/2010/main" val="11818725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43AFCF5-8013-4F2C-8560-5466B9D6C2B6}" type="slidenum">
              <a:rPr lang="en-US" altLang="zh-CN" smtClean="0"/>
              <a:pPr>
                <a:defRPr/>
              </a:pPr>
              <a:t>45</a:t>
            </a:fld>
            <a:endParaRPr lang="en-US" altLang="zh-CN"/>
          </a:p>
        </p:txBody>
      </p:sp>
    </p:spTree>
    <p:extLst>
      <p:ext uri="{BB962C8B-B14F-4D97-AF65-F5344CB8AC3E}">
        <p14:creationId xmlns:p14="http://schemas.microsoft.com/office/powerpoint/2010/main" val="21392807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43AFCF5-8013-4F2C-8560-5466B9D6C2B6}" type="slidenum">
              <a:rPr lang="en-US" altLang="zh-CN" smtClean="0"/>
              <a:pPr>
                <a:defRPr/>
              </a:pPr>
              <a:t>113</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43AFCF5-8013-4F2C-8560-5466B9D6C2B6}" type="slidenum">
              <a:rPr lang="en-US" altLang="zh-CN" smtClean="0"/>
              <a:pPr>
                <a:defRPr/>
              </a:pPr>
              <a:t>127</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ltLang="zh-CN"/>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ltLang="zh-CN"/>
              <a:t>Click to edit Master subtitle style</a:t>
            </a:r>
            <a:endParaRPr kumimoji="0" lang="en-US"/>
          </a:p>
        </p:txBody>
      </p:sp>
      <p:sp>
        <p:nvSpPr>
          <p:cNvPr id="30" name="Date Placeholder 29"/>
          <p:cNvSpPr>
            <a:spLocks noGrp="1"/>
          </p:cNvSpPr>
          <p:nvPr>
            <p:ph type="dt" sz="half" idx="10"/>
          </p:nvPr>
        </p:nvSpPr>
        <p:spPr/>
        <p:txBody>
          <a:bodyPr/>
          <a:lstStyle/>
          <a:p>
            <a:pPr>
              <a:defRPr/>
            </a:pPr>
            <a:endParaRPr lang="en-US" altLang="zh-CN"/>
          </a:p>
        </p:txBody>
      </p:sp>
      <p:sp>
        <p:nvSpPr>
          <p:cNvPr id="19" name="Footer Placeholder 18"/>
          <p:cNvSpPr>
            <a:spLocks noGrp="1"/>
          </p:cNvSpPr>
          <p:nvPr>
            <p:ph type="ftr" sz="quarter" idx="11"/>
          </p:nvPr>
        </p:nvSpPr>
        <p:spPr/>
        <p:txBody>
          <a:bodyPr/>
          <a:lstStyle/>
          <a:p>
            <a:pPr>
              <a:defRPr/>
            </a:pPr>
            <a:endParaRPr lang="en-US" altLang="zh-CN"/>
          </a:p>
        </p:txBody>
      </p:sp>
      <p:sp>
        <p:nvSpPr>
          <p:cNvPr id="27" name="Slide Number Placeholder 26"/>
          <p:cNvSpPr>
            <a:spLocks noGrp="1"/>
          </p:cNvSpPr>
          <p:nvPr>
            <p:ph type="sldNum" sz="quarter" idx="12"/>
          </p:nvPr>
        </p:nvSpPr>
        <p:spPr/>
        <p:txBody>
          <a:bodyPr/>
          <a:lstStyle/>
          <a:p>
            <a:pPr>
              <a:defRPr/>
            </a:pPr>
            <a:fld id="{3FD51CBC-D341-4D1A-9838-3C70B744B68D}" type="slidenum">
              <a:rPr lang="en-US" altLang="zh-CN" smtClean="0"/>
              <a:pPr>
                <a:defRPr/>
              </a:pPr>
              <a:t>‹#›</a:t>
            </a:fld>
            <a:endParaRPr lang="en-US" altLang="zh-CN"/>
          </a:p>
        </p:txBody>
      </p:sp>
    </p:spTree>
  </p:cSld>
  <p:clrMapOvr>
    <a:overrideClrMapping bg1="dk1" tx1="lt1" bg2="dk2" tx2="lt2" accent1="accent1" accent2="accent2" accent3="accent3" accent4="accent4" accent5="accent5" accent6="accent6" hlink="hlink" folHlink="folHlink"/>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zh-CN"/>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3FD51CBC-D341-4D1A-9838-3C70B744B68D}" type="slidenum">
              <a:rPr lang="en-US" altLang="zh-CN" smtClean="0"/>
              <a:pPr>
                <a:defRPr/>
              </a:pPr>
              <a:t>‹#›</a:t>
            </a:fld>
            <a:endParaRPr lang="en-US" altLang="zh-CN"/>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ltLang="zh-CN"/>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ltLang="zh-CN"/>
              <a:t>Click to edit Master text styles</a:t>
            </a:r>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3FD51CBC-D341-4D1A-9838-3C70B744B68D}" type="slidenum">
              <a:rPr lang="en-US" altLang="zh-CN" smtClean="0"/>
              <a:pPr>
                <a:defRPr/>
              </a:pPr>
              <a:t>‹#›</a:t>
            </a:fld>
            <a:endParaRPr lang="en-US" altLang="zh-CN"/>
          </a:p>
        </p:txBody>
      </p:sp>
    </p:spTree>
  </p:cSld>
  <p:clrMapOvr>
    <a:overrideClrMapping bg1="dk1" tx1="lt1" bg2="dk2" tx2="lt2" accent1="accent1" accent2="accent2" accent3="accent3" accent4="accent4" accent5="accent5" accent6="accent6" hlink="hlink" folHlink="folHlink"/>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ltLang="zh-CN"/>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a:defRPr/>
            </a:pPr>
            <a:fld id="{3FD51CBC-D341-4D1A-9838-3C70B744B68D}" type="slidenum">
              <a:rPr lang="en-US" altLang="zh-CN" smtClean="0"/>
              <a:pPr>
                <a:defRPr/>
              </a:pPr>
              <a:t>‹#›</a:t>
            </a:fld>
            <a:endParaRPr lang="en-US" altLang="zh-CN"/>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ltLang="zh-CN"/>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zh-CN"/>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zh-CN"/>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7" name="Date Placeholder 6"/>
          <p:cNvSpPr>
            <a:spLocks noGrp="1"/>
          </p:cNvSpPr>
          <p:nvPr>
            <p:ph type="dt" sz="half" idx="10"/>
          </p:nvPr>
        </p:nvSpPr>
        <p:spPr/>
        <p:txBody>
          <a:bodyPr/>
          <a:lstStyle/>
          <a:p>
            <a:pPr>
              <a:defRPr/>
            </a:pPr>
            <a:endParaRPr lang="en-US" altLang="zh-CN"/>
          </a:p>
        </p:txBody>
      </p:sp>
      <p:sp>
        <p:nvSpPr>
          <p:cNvPr id="8" name="Footer Placeholder 7"/>
          <p:cNvSpPr>
            <a:spLocks noGrp="1"/>
          </p:cNvSpPr>
          <p:nvPr>
            <p:ph type="ftr" sz="quarter" idx="11"/>
          </p:nvPr>
        </p:nvSpPr>
        <p:spPr/>
        <p:txBody>
          <a:bodyPr/>
          <a:lstStyle/>
          <a:p>
            <a:pPr>
              <a:defRPr/>
            </a:pPr>
            <a:endParaRPr lang="en-US" altLang="zh-CN"/>
          </a:p>
        </p:txBody>
      </p:sp>
      <p:sp>
        <p:nvSpPr>
          <p:cNvPr id="9" name="Slide Number Placeholder 8"/>
          <p:cNvSpPr>
            <a:spLocks noGrp="1"/>
          </p:cNvSpPr>
          <p:nvPr>
            <p:ph type="sldNum" sz="quarter" idx="12"/>
          </p:nvPr>
        </p:nvSpPr>
        <p:spPr/>
        <p:txBody>
          <a:bodyPr/>
          <a:lstStyle/>
          <a:p>
            <a:pPr>
              <a:defRPr/>
            </a:pPr>
            <a:fld id="{3FD51CBC-D341-4D1A-9838-3C70B744B68D}" type="slidenum">
              <a:rPr lang="en-US" altLang="zh-CN" smtClean="0"/>
              <a:pPr>
                <a:defRPr/>
              </a:pPr>
              <a:t>‹#›</a:t>
            </a:fld>
            <a:endParaRPr lang="en-US" altLang="zh-CN"/>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ltLang="zh-CN"/>
              <a:t>Click to edit Master title style</a:t>
            </a:r>
            <a:endParaRPr kumimoji="0" lang="en-US"/>
          </a:p>
        </p:txBody>
      </p:sp>
      <p:sp>
        <p:nvSpPr>
          <p:cNvPr id="3" name="Date Placeholder 2"/>
          <p:cNvSpPr>
            <a:spLocks noGrp="1"/>
          </p:cNvSpPr>
          <p:nvPr>
            <p:ph type="dt" sz="half" idx="10"/>
          </p:nvPr>
        </p:nvSpPr>
        <p:spPr/>
        <p:txBody>
          <a:bodyPr/>
          <a:lstStyle/>
          <a:p>
            <a:pPr>
              <a:defRPr/>
            </a:pPr>
            <a:endParaRPr lang="en-US" altLang="zh-CN"/>
          </a:p>
        </p:txBody>
      </p:sp>
      <p:sp>
        <p:nvSpPr>
          <p:cNvPr id="4" name="Footer Placeholder 3"/>
          <p:cNvSpPr>
            <a:spLocks noGrp="1"/>
          </p:cNvSpPr>
          <p:nvPr>
            <p:ph type="ftr" sz="quarter" idx="11"/>
          </p:nvPr>
        </p:nvSpPr>
        <p:spPr/>
        <p:txBody>
          <a:bodyPr/>
          <a:lstStyle/>
          <a:p>
            <a:pPr>
              <a:defRPr/>
            </a:pPr>
            <a:endParaRPr lang="en-US" altLang="zh-CN"/>
          </a:p>
        </p:txBody>
      </p:sp>
      <p:sp>
        <p:nvSpPr>
          <p:cNvPr id="5" name="Slide Number Placeholder 4"/>
          <p:cNvSpPr>
            <a:spLocks noGrp="1"/>
          </p:cNvSpPr>
          <p:nvPr>
            <p:ph type="sldNum" sz="quarter" idx="12"/>
          </p:nvPr>
        </p:nvSpPr>
        <p:spPr/>
        <p:txBody>
          <a:bodyPr/>
          <a:lstStyle/>
          <a:p>
            <a:pPr>
              <a:defRPr/>
            </a:pPr>
            <a:fld id="{3FD51CBC-D341-4D1A-9838-3C70B744B68D}" type="slidenum">
              <a:rPr lang="en-US" altLang="zh-CN" smtClean="0"/>
              <a:pPr>
                <a:defRPr/>
              </a:pPr>
              <a:t>‹#›</a:t>
            </a:fld>
            <a:endParaRPr lang="en-US" altLang="zh-CN"/>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zh-CN"/>
          </a:p>
        </p:txBody>
      </p:sp>
      <p:sp>
        <p:nvSpPr>
          <p:cNvPr id="3" name="Footer Placeholder 2"/>
          <p:cNvSpPr>
            <a:spLocks noGrp="1"/>
          </p:cNvSpPr>
          <p:nvPr>
            <p:ph type="ftr" sz="quarter" idx="11"/>
          </p:nvPr>
        </p:nvSpPr>
        <p:spPr/>
        <p:txBody>
          <a:bodyPr/>
          <a:lstStyle/>
          <a:p>
            <a:pPr>
              <a:defRPr/>
            </a:pPr>
            <a:endParaRPr lang="en-US" altLang="zh-CN"/>
          </a:p>
        </p:txBody>
      </p:sp>
      <p:sp>
        <p:nvSpPr>
          <p:cNvPr id="4" name="Slide Number Placeholder 3"/>
          <p:cNvSpPr>
            <a:spLocks noGrp="1"/>
          </p:cNvSpPr>
          <p:nvPr>
            <p:ph type="sldNum" sz="quarter" idx="12"/>
          </p:nvPr>
        </p:nvSpPr>
        <p:spPr/>
        <p:txBody>
          <a:bodyPr/>
          <a:lstStyle/>
          <a:p>
            <a:pPr>
              <a:defRPr/>
            </a:pPr>
            <a:fld id="{3FD51CBC-D341-4D1A-9838-3C70B744B68D}" type="slidenum">
              <a:rPr lang="en-US" altLang="zh-CN" smtClean="0"/>
              <a:pPr>
                <a:defRPr/>
              </a:pPr>
              <a:t>‹#›</a:t>
            </a:fld>
            <a:endParaRPr lang="en-US" altLang="zh-CN"/>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ltLang="zh-CN"/>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ltLang="zh-CN"/>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a:defRPr/>
            </a:pPr>
            <a:fld id="{3FD51CBC-D341-4D1A-9838-3C70B744B68D}" type="slidenum">
              <a:rPr lang="en-US" altLang="zh-CN" smtClean="0"/>
              <a:pPr>
                <a:defRPr/>
              </a:pPr>
              <a:t>‹#›</a:t>
            </a:fld>
            <a:endParaRPr lang="en-US" altLang="zh-CN"/>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ltLang="zh-CN"/>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ltLang="zh-CN"/>
              <a:t>Click to edit Master text styles</a:t>
            </a:r>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a:xfrm>
            <a:off x="8077200" y="6356350"/>
            <a:ext cx="609600" cy="365125"/>
          </a:xfrm>
        </p:spPr>
        <p:txBody>
          <a:bodyPr/>
          <a:lstStyle/>
          <a:p>
            <a:pPr>
              <a:defRPr/>
            </a:pPr>
            <a:fld id="{3FD51CBC-D341-4D1A-9838-3C70B744B68D}" type="slidenum">
              <a:rPr lang="en-US" altLang="zh-CN" smtClean="0"/>
              <a:pPr>
                <a:defRPr/>
              </a:pPr>
              <a:t>‹#›</a:t>
            </a:fld>
            <a:endParaRPr lang="en-US" altLang="zh-CN"/>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ltLang="zh-CN"/>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zh-CN"/>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3FD51CBC-D341-4D1A-9838-3C70B744B68D}" type="slidenum">
              <a:rPr lang="en-US" altLang="zh-CN" smtClean="0"/>
              <a:pPr>
                <a:defRPr/>
              </a:pPr>
              <a:t>‹#›</a:t>
            </a:fld>
            <a:endParaRPr lang="en-US" altLang="zh-CN"/>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ltLang="zh-CN"/>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3FD51CBC-D341-4D1A-9838-3C70B744B68D}" type="slidenum">
              <a:rPr lang="en-US" altLang="zh-CN" smtClean="0"/>
              <a:pPr>
                <a:defRPr/>
              </a:pPr>
              <a:t>‹#›</a:t>
            </a:fld>
            <a:endParaRPr lang="en-US" altLang="zh-CN"/>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68313" y="333375"/>
            <a:ext cx="8304212" cy="62642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a:ln/>
        </p:spPr>
        <p:txBody>
          <a:bodyPr/>
          <a:lstStyle>
            <a:lvl1pPr>
              <a:defRPr/>
            </a:lvl1pPr>
          </a:lstStyle>
          <a:p>
            <a:pPr>
              <a:defRPr/>
            </a:pPr>
            <a:fld id="{403D815A-A8E0-4F2C-B9BE-F9E79A478144}" type="slidenum">
              <a:rPr lang="en-US" altLang="zh-CN"/>
              <a:pPr>
                <a:defRPr/>
              </a:pPr>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4213" y="333375"/>
            <a:ext cx="7920037" cy="935038"/>
          </a:xfrm>
        </p:spPr>
        <p:txBody>
          <a:bodyPr/>
          <a:lstStyle/>
          <a:p>
            <a:r>
              <a:rPr lang="zh-CN" altLang="en-US"/>
              <a:t>单击此处编辑母版标题样式</a:t>
            </a:r>
          </a:p>
        </p:txBody>
      </p:sp>
      <p:sp>
        <p:nvSpPr>
          <p:cNvPr id="3" name="文本占位符 2"/>
          <p:cNvSpPr>
            <a:spLocks noGrp="1"/>
          </p:cNvSpPr>
          <p:nvPr>
            <p:ph type="body" sz="half" idx="1"/>
          </p:nvPr>
        </p:nvSpPr>
        <p:spPr>
          <a:xfrm>
            <a:off x="468313" y="1628775"/>
            <a:ext cx="4075112" cy="49688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95825" y="1628775"/>
            <a:ext cx="4076700" cy="49688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2208F1EB-DB56-48DA-BF41-7813E56EC047}" type="slidenum">
              <a:rPr lang="en-US" altLang="zh-CN"/>
              <a:pPr>
                <a:defRPr/>
              </a:pPr>
              <a:t>‹#›</a:t>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4213" y="333375"/>
            <a:ext cx="7920037" cy="935038"/>
          </a:xfrm>
        </p:spPr>
        <p:txBody>
          <a:bodyPr/>
          <a:lstStyle/>
          <a:p>
            <a:r>
              <a:rPr lang="zh-CN" altLang="en-US"/>
              <a:t>单击此处编辑母版标题样式</a:t>
            </a:r>
          </a:p>
        </p:txBody>
      </p:sp>
      <p:sp>
        <p:nvSpPr>
          <p:cNvPr id="3" name="文本占位符 2"/>
          <p:cNvSpPr>
            <a:spLocks noGrp="1"/>
          </p:cNvSpPr>
          <p:nvPr>
            <p:ph type="body" sz="half" idx="1"/>
          </p:nvPr>
        </p:nvSpPr>
        <p:spPr>
          <a:xfrm>
            <a:off x="468313" y="1628775"/>
            <a:ext cx="4075112" cy="49688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95825" y="1628775"/>
            <a:ext cx="4076700" cy="24082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95825" y="4189413"/>
            <a:ext cx="4076700" cy="24082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7"/>
          <p:cNvSpPr>
            <a:spLocks noGrp="1" noChangeArrowheads="1"/>
          </p:cNvSpPr>
          <p:nvPr>
            <p:ph type="sldNum" sz="quarter" idx="12"/>
          </p:nvPr>
        </p:nvSpPr>
        <p:spPr>
          <a:ln/>
        </p:spPr>
        <p:txBody>
          <a:bodyPr/>
          <a:lstStyle>
            <a:lvl1pPr>
              <a:defRPr/>
            </a:lvl1pPr>
          </a:lstStyle>
          <a:p>
            <a:pPr>
              <a:defRPr/>
            </a:pPr>
            <a:fld id="{F3358B18-9207-4FD2-8BB7-5B406F34E388}"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ltLang="zh-CN"/>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ltLang="zh-CN"/>
              <a:t>Click to edit Master text styles</a:t>
            </a:r>
          </a:p>
          <a:p>
            <a:pPr lvl="1" eaLnBrk="1" latinLnBrk="0" hangingPunct="1"/>
            <a:r>
              <a:rPr kumimoji="0" lang="en-US" altLang="zh-CN"/>
              <a:t>Second level</a:t>
            </a:r>
          </a:p>
          <a:p>
            <a:pPr lvl="2" eaLnBrk="1" latinLnBrk="0" hangingPunct="1"/>
            <a:r>
              <a:rPr kumimoji="0" lang="en-US" altLang="zh-CN"/>
              <a:t>Third level</a:t>
            </a:r>
          </a:p>
          <a:p>
            <a:pPr lvl="3" eaLnBrk="1" latinLnBrk="0" hangingPunct="1"/>
            <a:r>
              <a:rPr kumimoji="0" lang="en-US" altLang="zh-CN"/>
              <a:t>Fourth level</a:t>
            </a:r>
          </a:p>
          <a:p>
            <a:pPr lvl="4" eaLnBrk="1" latinLnBrk="0" hangingPunct="1"/>
            <a:r>
              <a:rPr kumimoji="0" lang="en-US" altLang="zh-CN"/>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pPr>
              <a:defRPr/>
            </a:pPr>
            <a:fld id="{3FD51CBC-D341-4D1A-9838-3C70B744B68D}" type="slidenum">
              <a:rPr lang="en-US" altLang="zh-CN" smtClean="0"/>
              <a:pPr>
                <a:defRPr/>
              </a:pPr>
              <a:t>‹#›</a:t>
            </a:fld>
            <a:endParaRPr lang="en-US" altLang="zh-CN"/>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Lst>
  <p:hf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7.bin"/><Relationship Id="rId1" Type="http://schemas.openxmlformats.org/officeDocument/2006/relationships/slideLayout" Target="../slideLayouts/slideLayout2.xml"/><Relationship Id="rId5" Type="http://schemas.openxmlformats.org/officeDocument/2006/relationships/image" Target="../media/image8.emf"/><Relationship Id="rId4" Type="http://schemas.openxmlformats.org/officeDocument/2006/relationships/oleObject" Target="../embeddings/oleObject8.bin"/></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11.bin"/><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12.bin"/><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13"/>
          <p:cNvSpPr>
            <a:spLocks noGrp="1" noChangeArrowheads="1"/>
          </p:cNvSpPr>
          <p:nvPr>
            <p:ph type="title"/>
          </p:nvPr>
        </p:nvSpPr>
        <p:spPr>
          <a:xfrm>
            <a:off x="1970088" y="333375"/>
            <a:ext cx="4673600" cy="935038"/>
          </a:xfrm>
        </p:spPr>
        <p:txBody>
          <a:bodyPr/>
          <a:lstStyle/>
          <a:p>
            <a:pPr algn="ctr" eaLnBrk="1" hangingPunct="1"/>
            <a:r>
              <a:rPr lang="zh-CN" altLang="en-US" sz="4400" b="1" dirty="0">
                <a:solidFill>
                  <a:schemeClr val="tx1"/>
                </a:solidFill>
                <a:latin typeface="黑体" pitchFamily="2" charset="-122"/>
                <a:ea typeface="黑体" pitchFamily="2" charset="-122"/>
              </a:rPr>
              <a:t>第</a:t>
            </a:r>
            <a:r>
              <a:rPr lang="en-US" altLang="zh-CN" sz="4400" b="1" dirty="0">
                <a:solidFill>
                  <a:schemeClr val="tx1"/>
                </a:solidFill>
                <a:latin typeface="黑体" pitchFamily="2" charset="-122"/>
                <a:ea typeface="黑体" pitchFamily="2" charset="-122"/>
              </a:rPr>
              <a:t>7</a:t>
            </a:r>
            <a:r>
              <a:rPr lang="zh-CN" altLang="en-US" sz="4400" b="1" dirty="0">
                <a:solidFill>
                  <a:schemeClr val="tx1"/>
                </a:solidFill>
                <a:latin typeface="黑体" pitchFamily="2" charset="-122"/>
                <a:ea typeface="黑体" pitchFamily="2" charset="-122"/>
              </a:rPr>
              <a:t>章 结构与链表</a:t>
            </a:r>
            <a:r>
              <a:rPr lang="zh-CN" altLang="en-US" b="1" dirty="0">
                <a:solidFill>
                  <a:schemeClr val="tx1"/>
                </a:solidFill>
                <a:latin typeface="黑体" pitchFamily="2" charset="-122"/>
                <a:ea typeface="黑体" pitchFamily="2" charset="-122"/>
              </a:rPr>
              <a:t> </a:t>
            </a:r>
          </a:p>
        </p:txBody>
      </p:sp>
      <p:sp>
        <p:nvSpPr>
          <p:cNvPr id="2057" name="Rectangle 9"/>
          <p:cNvSpPr>
            <a:spLocks noGrp="1" noChangeArrowheads="1"/>
          </p:cNvSpPr>
          <p:nvPr>
            <p:ph idx="1"/>
          </p:nvPr>
        </p:nvSpPr>
        <p:spPr>
          <a:xfrm>
            <a:off x="827088" y="1266825"/>
            <a:ext cx="7696200" cy="5257800"/>
          </a:xfrm>
        </p:spPr>
        <p:txBody>
          <a:bodyPr/>
          <a:lstStyle/>
          <a:p>
            <a:pPr eaLnBrk="1" hangingPunct="1">
              <a:buFont typeface="Monotype Sorts" pitchFamily="2" charset="2"/>
              <a:buNone/>
              <a:defRPr/>
            </a:pPr>
            <a:r>
              <a:rPr lang="zh-CN" altLang="en-US" b="1" dirty="0">
                <a:latin typeface="楷体_GB2312" pitchFamily="49" charset="-122"/>
                <a:ea typeface="楷体_GB2312" pitchFamily="49" charset="-122"/>
              </a:rPr>
              <a:t>本章学习的目标是：</a:t>
            </a:r>
          </a:p>
          <a:p>
            <a:pPr eaLnBrk="1" hangingPunct="1">
              <a:buFont typeface="Monotype Sorts" pitchFamily="2" charset="2"/>
              <a:buNone/>
              <a:defRPr/>
            </a:pPr>
            <a:r>
              <a:rPr lang="en-US" altLang="zh-CN" b="1" dirty="0">
                <a:latin typeface="楷体_GB2312" pitchFamily="49" charset="-122"/>
                <a:ea typeface="楷体_GB2312" pitchFamily="49" charset="-122"/>
              </a:rPr>
              <a:t>1</a:t>
            </a:r>
            <a:r>
              <a:rPr lang="zh-CN" altLang="en-US" b="1" dirty="0">
                <a:latin typeface="楷体_GB2312" pitchFamily="49" charset="-122"/>
                <a:ea typeface="楷体_GB2312" pitchFamily="49" charset="-122"/>
              </a:rPr>
              <a:t>、掌握结构数据类型、结构变量和结构指针的定义，结构成分的引用方法；</a:t>
            </a:r>
          </a:p>
          <a:p>
            <a:pPr eaLnBrk="1" hangingPunct="1">
              <a:buFont typeface="Monotype Sorts" pitchFamily="2" charset="2"/>
              <a:buNone/>
              <a:defRPr/>
            </a:pPr>
            <a:r>
              <a:rPr lang="en-US" altLang="zh-CN" b="1" dirty="0">
                <a:latin typeface="楷体_GB2312" pitchFamily="49" charset="-122"/>
                <a:ea typeface="楷体_GB2312" pitchFamily="49" charset="-122"/>
              </a:rPr>
              <a:t>2</a:t>
            </a:r>
            <a:r>
              <a:rPr lang="zh-CN" altLang="en-US" b="1" dirty="0">
                <a:latin typeface="楷体_GB2312" pitchFamily="49" charset="-122"/>
                <a:ea typeface="楷体_GB2312" pitchFamily="49" charset="-122"/>
              </a:rPr>
              <a:t>、掌握结构数组的定义和使用方法；</a:t>
            </a:r>
          </a:p>
          <a:p>
            <a:pPr eaLnBrk="1" hangingPunct="1">
              <a:buFont typeface="Monotype Sorts" pitchFamily="2" charset="2"/>
              <a:buNone/>
              <a:defRPr/>
            </a:pPr>
            <a:r>
              <a:rPr lang="en-US" altLang="zh-CN" b="1" dirty="0">
                <a:latin typeface="楷体_GB2312" pitchFamily="49" charset="-122"/>
                <a:ea typeface="楷体_GB2312" pitchFamily="49" charset="-122"/>
              </a:rPr>
              <a:t>3</a:t>
            </a:r>
            <a:r>
              <a:rPr lang="zh-CN" altLang="en-US" b="1" dirty="0">
                <a:latin typeface="楷体_GB2312" pitchFamily="49" charset="-122"/>
                <a:ea typeface="楷体_GB2312" pitchFamily="49" charset="-122"/>
              </a:rPr>
              <a:t>、掌握编写有结构形参、结构指针形参，以及返回结构的函数的方法；</a:t>
            </a:r>
          </a:p>
          <a:p>
            <a:pPr eaLnBrk="1" hangingPunct="1">
              <a:buFont typeface="Monotype Sorts" pitchFamily="2" charset="2"/>
              <a:buNone/>
              <a:defRPr/>
            </a:pPr>
            <a:r>
              <a:rPr lang="en-US" altLang="zh-CN" b="1" dirty="0">
                <a:latin typeface="楷体_GB2312" pitchFamily="49" charset="-122"/>
                <a:ea typeface="楷体_GB2312" pitchFamily="49" charset="-122"/>
              </a:rPr>
              <a:t>4</a:t>
            </a:r>
            <a:r>
              <a:rPr lang="zh-CN" altLang="en-US" b="1" dirty="0">
                <a:latin typeface="楷体_GB2312" pitchFamily="49" charset="-122"/>
                <a:ea typeface="楷体_GB2312" pitchFamily="49" charset="-122"/>
              </a:rPr>
              <a:t>、掌握链接存储线性表的概念和基本操作；</a:t>
            </a:r>
            <a:endParaRPr lang="en-US" altLang="zh-CN" b="1" dirty="0">
              <a:latin typeface="楷体_GB2312" pitchFamily="49" charset="-122"/>
              <a:ea typeface="楷体_GB2312" pitchFamily="49" charset="-122"/>
            </a:endParaRPr>
          </a:p>
          <a:p>
            <a:pPr eaLnBrk="1" hangingPunct="1">
              <a:buFont typeface="Monotype Sorts" pitchFamily="2" charset="2"/>
              <a:buNone/>
              <a:defRPr/>
            </a:pPr>
            <a:r>
              <a:rPr lang="en-US" altLang="zh-CN" b="1" dirty="0">
                <a:latin typeface="楷体_GB2312" pitchFamily="49" charset="-122"/>
                <a:ea typeface="楷体_GB2312" pitchFamily="49" charset="-122"/>
              </a:rPr>
              <a:t>5</a:t>
            </a:r>
            <a:r>
              <a:rPr lang="zh-CN" altLang="en-US" b="1" dirty="0">
                <a:latin typeface="楷体_GB2312" pitchFamily="49" charset="-122"/>
                <a:ea typeface="楷体_GB2312" pitchFamily="49" charset="-122"/>
              </a:rPr>
              <a:t>、掌握类型定义和变量定义的方法。</a:t>
            </a:r>
          </a:p>
        </p:txBody>
      </p:sp>
      <p:sp>
        <p:nvSpPr>
          <p:cNvPr id="6" name="灯片编号占位符 5"/>
          <p:cNvSpPr>
            <a:spLocks noGrp="1"/>
          </p:cNvSpPr>
          <p:nvPr>
            <p:ph type="sldNum" sz="quarter" idx="12"/>
          </p:nvPr>
        </p:nvSpPr>
        <p:spPr/>
        <p:txBody>
          <a:bodyPr/>
          <a:lstStyle/>
          <a:p>
            <a:pPr>
              <a:defRPr/>
            </a:pPr>
            <a:fld id="{C28FE294-7A24-402E-B76C-BAA635C6AFC9}" type="slidenum">
              <a:rPr lang="en-US" altLang="zh-CN"/>
              <a:pPr>
                <a:defRPr/>
              </a:pPr>
              <a:t>1</a:t>
            </a:fld>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8" name="Rectangle 6"/>
          <p:cNvSpPr>
            <a:spLocks noGrp="1" noChangeArrowheads="1"/>
          </p:cNvSpPr>
          <p:nvPr>
            <p:ph type="title"/>
          </p:nvPr>
        </p:nvSpPr>
        <p:spPr>
          <a:xfrm>
            <a:off x="539750" y="260350"/>
            <a:ext cx="7920038" cy="720725"/>
          </a:xfrm>
        </p:spPr>
        <p:txBody>
          <a:bodyPr>
            <a:normAutofit/>
          </a:bodyPr>
          <a:lstStyle/>
          <a:p>
            <a:pPr eaLnBrk="1" hangingPunct="1">
              <a:lnSpc>
                <a:spcPct val="100000"/>
              </a:lnSpc>
              <a:defRPr/>
            </a:pPr>
            <a:r>
              <a:rPr lang="en-US" altLang="zh-CN" sz="3600" b="1" dirty="0">
                <a:solidFill>
                  <a:schemeClr val="tx1"/>
                </a:solidFill>
                <a:latin typeface="黑体" pitchFamily="2" charset="-122"/>
                <a:ea typeface="黑体" pitchFamily="2" charset="-122"/>
              </a:rPr>
              <a:t>7.1  </a:t>
            </a:r>
            <a:r>
              <a:rPr lang="zh-CN" altLang="en-US" sz="3600" b="1" dirty="0">
                <a:solidFill>
                  <a:schemeClr val="tx1"/>
                </a:solidFill>
                <a:latin typeface="黑体" pitchFamily="2" charset="-122"/>
                <a:ea typeface="黑体" pitchFamily="2" charset="-122"/>
              </a:rPr>
              <a:t>结构类型和结构变量</a:t>
            </a:r>
          </a:p>
        </p:txBody>
      </p:sp>
      <p:sp>
        <p:nvSpPr>
          <p:cNvPr id="90116" name="Rectangle 4"/>
          <p:cNvSpPr>
            <a:spLocks noGrp="1" noChangeArrowheads="1"/>
          </p:cNvSpPr>
          <p:nvPr>
            <p:ph idx="1"/>
          </p:nvPr>
        </p:nvSpPr>
        <p:spPr>
          <a:xfrm>
            <a:off x="468313" y="1125538"/>
            <a:ext cx="8424862" cy="5327650"/>
          </a:xfrm>
        </p:spPr>
        <p:txBody>
          <a:bodyPr/>
          <a:lstStyle/>
          <a:p>
            <a:pPr marL="0" indent="0" algn="just" eaLnBrk="1" hangingPunct="1">
              <a:lnSpc>
                <a:spcPct val="105000"/>
              </a:lnSpc>
              <a:buClr>
                <a:srgbClr val="FF6600"/>
              </a:buClr>
              <a:buSzPct val="55000"/>
              <a:buFont typeface="Wingdings" pitchFamily="2" charset="2"/>
              <a:buNone/>
              <a:defRPr/>
            </a:pPr>
            <a:r>
              <a:rPr lang="zh-CN" altLang="en-US" b="1" dirty="0">
                <a:effectLst>
                  <a:outerShdw blurRad="38100" dist="38100" dir="2700000" algn="tl">
                    <a:srgbClr val="000000"/>
                  </a:outerShdw>
                </a:effectLst>
                <a:latin typeface="楷体_GB2312" pitchFamily="49" charset="-122"/>
                <a:ea typeface="楷体_GB2312" pitchFamily="49" charset="-122"/>
              </a:rPr>
              <a:t>基本类型：如整型、实型、字符型等。</a:t>
            </a:r>
          </a:p>
          <a:p>
            <a:pPr marL="0" indent="0" algn="just" eaLnBrk="1" hangingPunct="1">
              <a:lnSpc>
                <a:spcPct val="105000"/>
              </a:lnSpc>
              <a:buClr>
                <a:srgbClr val="FF6600"/>
              </a:buClr>
              <a:buSzPct val="55000"/>
              <a:buFont typeface="Wingdings" pitchFamily="2" charset="2"/>
              <a:buNone/>
              <a:defRPr/>
            </a:pPr>
            <a:r>
              <a:rPr lang="zh-CN" altLang="en-US" b="1" dirty="0">
                <a:effectLst>
                  <a:outerShdw blurRad="38100" dist="38100" dir="2700000" algn="tl">
                    <a:srgbClr val="000000"/>
                  </a:outerShdw>
                </a:effectLst>
                <a:latin typeface="楷体_GB2312" pitchFamily="49" charset="-122"/>
                <a:ea typeface="楷体_GB2312" pitchFamily="49" charset="-122"/>
              </a:rPr>
              <a:t>构造类型：数组，所有元素是同一个类型。</a:t>
            </a:r>
          </a:p>
          <a:p>
            <a:pPr marL="0" indent="0" algn="just" eaLnBrk="1" hangingPunct="1">
              <a:lnSpc>
                <a:spcPct val="105000"/>
              </a:lnSpc>
              <a:buClr>
                <a:srgbClr val="FF6600"/>
              </a:buClr>
              <a:buSzPct val="55000"/>
              <a:buFont typeface="Wingdings" pitchFamily="2" charset="2"/>
              <a:buNone/>
              <a:defRPr/>
            </a:pPr>
            <a:r>
              <a:rPr lang="zh-CN" altLang="en-US" b="1" dirty="0">
                <a:effectLst>
                  <a:outerShdw blurRad="38100" dist="38100" dir="2700000" algn="tl">
                    <a:srgbClr val="000000"/>
                  </a:outerShdw>
                </a:effectLst>
                <a:latin typeface="楷体_GB2312" pitchFamily="49" charset="-122"/>
                <a:ea typeface="楷体_GB2312" pitchFamily="49" charset="-122"/>
              </a:rPr>
              <a:t>结构类型：不同的数据类型组成一个整体。</a:t>
            </a:r>
          </a:p>
          <a:p>
            <a:pPr marL="0" indent="0" algn="just" eaLnBrk="1" hangingPunct="1">
              <a:lnSpc>
                <a:spcPct val="105000"/>
              </a:lnSpc>
              <a:buClr>
                <a:srgbClr val="FF6600"/>
              </a:buClr>
              <a:buSzPct val="55000"/>
              <a:buFont typeface="Wingdings" pitchFamily="2" charset="2"/>
              <a:buNone/>
              <a:defRPr/>
            </a:pPr>
            <a:r>
              <a:rPr lang="zh-CN" altLang="en-US" b="1" dirty="0">
                <a:effectLst>
                  <a:outerShdw blurRad="38100" dist="38100" dir="2700000" algn="tl">
                    <a:srgbClr val="000000"/>
                  </a:outerShdw>
                </a:effectLst>
                <a:latin typeface="楷体_GB2312" pitchFamily="49" charset="-122"/>
                <a:ea typeface="楷体_GB2312" pitchFamily="49" charset="-122"/>
              </a:rPr>
              <a:t>例如：一个学生数据实体可能有以下多项信息</a:t>
            </a:r>
          </a:p>
          <a:p>
            <a:pPr marL="0" indent="0" algn="just" eaLnBrk="1" hangingPunct="1">
              <a:lnSpc>
                <a:spcPct val="105000"/>
              </a:lnSpc>
              <a:buClr>
                <a:srgbClr val="FF6600"/>
              </a:buClr>
              <a:buSzPct val="55000"/>
              <a:buFont typeface="Wingdings" pitchFamily="2" charset="2"/>
              <a:buNone/>
              <a:defRPr/>
            </a:pPr>
            <a:r>
              <a:rPr lang="zh-CN" altLang="en-US" b="1" dirty="0">
                <a:effectLst>
                  <a:outerShdw blurRad="38100" dist="38100" dir="2700000" algn="tl">
                    <a:srgbClr val="000000"/>
                  </a:outerShdw>
                </a:effectLst>
                <a:latin typeface="楷体_GB2312" pitchFamily="49" charset="-122"/>
                <a:ea typeface="楷体_GB2312" pitchFamily="49" charset="-122"/>
              </a:rPr>
              <a:t>       </a:t>
            </a:r>
            <a:r>
              <a:rPr lang="zh-CN" altLang="en-US" b="1" i="1" dirty="0">
                <a:effectLst>
                  <a:outerShdw blurRad="38100" dist="38100" dir="2700000" algn="tl">
                    <a:srgbClr val="000000"/>
                  </a:outerShdw>
                </a:effectLst>
                <a:latin typeface="楷体_GB2312" pitchFamily="49" charset="-122"/>
                <a:ea typeface="楷体_GB2312" pitchFamily="49" charset="-122"/>
              </a:rPr>
              <a:t>学号、 姓名、 性别、 家庭地址</a:t>
            </a:r>
            <a:endParaRPr lang="zh-CN" altLang="en-US" b="1" dirty="0">
              <a:effectLst>
                <a:outerShdw blurRad="38100" dist="38100" dir="2700000" algn="tl">
                  <a:srgbClr val="000000"/>
                </a:outerShdw>
              </a:effectLst>
              <a:latin typeface="楷体_GB2312" pitchFamily="49" charset="-122"/>
              <a:ea typeface="楷体_GB2312" pitchFamily="49" charset="-122"/>
            </a:endParaRPr>
          </a:p>
          <a:p>
            <a:pPr marL="0" indent="0" algn="just" eaLnBrk="1" hangingPunct="1">
              <a:lnSpc>
                <a:spcPct val="105000"/>
              </a:lnSpc>
              <a:buClr>
                <a:srgbClr val="FF6600"/>
              </a:buClr>
              <a:buSzPct val="55000"/>
              <a:buFont typeface="Wingdings" pitchFamily="2" charset="2"/>
              <a:buNone/>
              <a:defRPr/>
            </a:pPr>
            <a:endParaRPr lang="zh-CN" altLang="en-US" b="1" dirty="0">
              <a:effectLst>
                <a:outerShdw blurRad="38100" dist="38100" dir="2700000" algn="tl">
                  <a:srgbClr val="000000"/>
                </a:outerShdw>
              </a:effectLst>
              <a:latin typeface="楷体_GB2312" pitchFamily="49" charset="-122"/>
              <a:ea typeface="楷体_GB2312" pitchFamily="49" charset="-122"/>
            </a:endParaRPr>
          </a:p>
          <a:p>
            <a:pPr marL="0" indent="0" algn="just" eaLnBrk="1" hangingPunct="1">
              <a:lnSpc>
                <a:spcPct val="105000"/>
              </a:lnSpc>
              <a:buClr>
                <a:srgbClr val="FF6600"/>
              </a:buClr>
              <a:buSzPct val="55000"/>
              <a:buFont typeface="Wingdings" pitchFamily="2" charset="2"/>
              <a:buNone/>
              <a:defRPr/>
            </a:pPr>
            <a:r>
              <a:rPr lang="zh-CN" altLang="en-US" b="1" dirty="0">
                <a:effectLst>
                  <a:outerShdw blurRad="38100" dist="38100" dir="2700000" algn="tl">
                    <a:srgbClr val="FFFFFF"/>
                  </a:outerShdw>
                </a:effectLst>
                <a:latin typeface="楷体_GB2312" pitchFamily="49" charset="-122"/>
                <a:ea typeface="楷体_GB2312" pitchFamily="49" charset="-122"/>
              </a:rPr>
              <a:t>        </a:t>
            </a:r>
            <a:r>
              <a:rPr lang="en-US" altLang="zh-CN" b="1" dirty="0" err="1">
                <a:effectLst>
                  <a:outerShdw blurRad="38100" dist="38100" dir="2700000" algn="tl">
                    <a:srgbClr val="FFFFFF"/>
                  </a:outerShdw>
                </a:effectLst>
                <a:latin typeface="楷体_GB2312" pitchFamily="49" charset="-122"/>
                <a:ea typeface="楷体_GB2312" pitchFamily="49" charset="-122"/>
              </a:rPr>
              <a:t>int</a:t>
            </a:r>
            <a:r>
              <a:rPr lang="en-US" altLang="zh-CN" b="1" dirty="0">
                <a:effectLst>
                  <a:outerShdw blurRad="38100" dist="38100" dir="2700000" algn="tl">
                    <a:srgbClr val="FFFFFF"/>
                  </a:outerShdw>
                </a:effectLst>
                <a:latin typeface="楷体_GB2312" pitchFamily="49" charset="-122"/>
                <a:ea typeface="楷体_GB2312" pitchFamily="49" charset="-122"/>
              </a:rPr>
              <a:t>  char[]  char    </a:t>
            </a:r>
            <a:r>
              <a:rPr lang="en-US" altLang="zh-CN" b="1" dirty="0" err="1">
                <a:effectLst>
                  <a:outerShdw blurRad="38100" dist="38100" dir="2700000" algn="tl">
                    <a:srgbClr val="FFFFFF"/>
                  </a:outerShdw>
                </a:effectLst>
                <a:latin typeface="楷体_GB2312" pitchFamily="49" charset="-122"/>
                <a:ea typeface="楷体_GB2312" pitchFamily="49" charset="-122"/>
              </a:rPr>
              <a:t>char</a:t>
            </a:r>
            <a:r>
              <a:rPr lang="en-US" altLang="zh-CN" b="1" dirty="0">
                <a:effectLst>
                  <a:outerShdw blurRad="38100" dist="38100" dir="2700000" algn="tl">
                    <a:srgbClr val="FFFFFF"/>
                  </a:outerShdw>
                </a:effectLst>
                <a:latin typeface="楷体_GB2312" pitchFamily="49" charset="-122"/>
                <a:ea typeface="楷体_GB2312" pitchFamily="49" charset="-122"/>
              </a:rPr>
              <a:t>[]</a:t>
            </a:r>
          </a:p>
          <a:p>
            <a:pPr marL="0" indent="0" algn="just" eaLnBrk="1" hangingPunct="1">
              <a:lnSpc>
                <a:spcPct val="105000"/>
              </a:lnSpc>
              <a:buClr>
                <a:srgbClr val="FF6600"/>
              </a:buClr>
              <a:buSzPct val="55000"/>
              <a:buFont typeface="Wingdings" pitchFamily="2" charset="2"/>
              <a:buNone/>
              <a:defRPr/>
            </a:pPr>
            <a:r>
              <a:rPr lang="zh-CN" altLang="en-US" b="1" dirty="0">
                <a:effectLst>
                  <a:outerShdw blurRad="38100" dist="38100" dir="2700000" algn="tl">
                    <a:srgbClr val="000000"/>
                  </a:outerShdw>
                </a:effectLst>
                <a:latin typeface="楷体_GB2312" pitchFamily="49" charset="-122"/>
                <a:ea typeface="楷体_GB2312" pitchFamily="49" charset="-122"/>
              </a:rPr>
              <a:t>说明：这类实体的数据因所包含的</a:t>
            </a:r>
            <a:r>
              <a:rPr lang="zh-CN" b="1" dirty="0">
                <a:effectLst>
                  <a:outerShdw blurRad="38100" dist="38100" dir="2700000" algn="tl">
                    <a:srgbClr val="000000"/>
                  </a:outerShdw>
                </a:effectLst>
                <a:latin typeface="楷体_GB2312" pitchFamily="49" charset="-122"/>
                <a:ea typeface="楷体_GB2312" pitchFamily="49" charset="-122"/>
              </a:rPr>
              <a:t>成员</a:t>
            </a:r>
            <a:r>
              <a:rPr lang="zh-CN" altLang="en-US" b="1" dirty="0">
                <a:effectLst>
                  <a:outerShdw blurRad="38100" dist="38100" dir="2700000" algn="tl">
                    <a:srgbClr val="000000"/>
                  </a:outerShdw>
                </a:effectLst>
                <a:latin typeface="楷体_GB2312" pitchFamily="49" charset="-122"/>
                <a:ea typeface="楷体_GB2312" pitchFamily="49" charset="-122"/>
              </a:rPr>
              <a:t>类型不同，不能用单个数组来表示，也不便将它们的</a:t>
            </a:r>
            <a:r>
              <a:rPr lang="zh-CN" b="1" dirty="0">
                <a:effectLst>
                  <a:outerShdw blurRad="38100" dist="38100" dir="2700000" algn="tl">
                    <a:srgbClr val="000000"/>
                  </a:outerShdw>
                </a:effectLst>
                <a:latin typeface="楷体_GB2312" pitchFamily="49" charset="-122"/>
                <a:ea typeface="楷体_GB2312" pitchFamily="49" charset="-122"/>
              </a:rPr>
              <a:t>成员</a:t>
            </a:r>
            <a:r>
              <a:rPr lang="zh-CN" altLang="en-US" b="1" dirty="0">
                <a:effectLst>
                  <a:outerShdw blurRad="38100" dist="38100" dir="2700000" algn="tl">
                    <a:srgbClr val="000000"/>
                  </a:outerShdw>
                </a:effectLst>
                <a:latin typeface="楷体_GB2312" pitchFamily="49" charset="-122"/>
                <a:ea typeface="楷体_GB2312" pitchFamily="49" charset="-122"/>
              </a:rPr>
              <a:t>分拆成多个独立的简单变量，因为这样会失去实体的整体性。    </a:t>
            </a:r>
          </a:p>
        </p:txBody>
      </p:sp>
      <p:sp>
        <p:nvSpPr>
          <p:cNvPr id="10" name="灯片编号占位符 5"/>
          <p:cNvSpPr>
            <a:spLocks noGrp="1"/>
          </p:cNvSpPr>
          <p:nvPr>
            <p:ph type="sldNum" sz="quarter" idx="12"/>
          </p:nvPr>
        </p:nvSpPr>
        <p:spPr/>
        <p:txBody>
          <a:bodyPr/>
          <a:lstStyle/>
          <a:p>
            <a:pPr>
              <a:defRPr/>
            </a:pPr>
            <a:fld id="{3F6412FE-C929-473E-8A30-68F5735927AA}" type="slidenum">
              <a:rPr lang="en-US" altLang="zh-CN"/>
              <a:pPr>
                <a:defRPr/>
              </a:pPr>
              <a:t>2</a:t>
            </a:fld>
            <a:endParaRPr lang="en-US" altLang="zh-CN"/>
          </a:p>
        </p:txBody>
      </p:sp>
      <p:sp>
        <p:nvSpPr>
          <p:cNvPr id="17413" name="Line 7"/>
          <p:cNvSpPr>
            <a:spLocks noChangeShapeType="1"/>
          </p:cNvSpPr>
          <p:nvPr/>
        </p:nvSpPr>
        <p:spPr bwMode="auto">
          <a:xfrm flipV="1">
            <a:off x="1619672" y="3500438"/>
            <a:ext cx="0" cy="647700"/>
          </a:xfrm>
          <a:prstGeom prst="line">
            <a:avLst/>
          </a:prstGeom>
          <a:noFill/>
          <a:ln w="38100">
            <a:solidFill>
              <a:srgbClr val="FF3300"/>
            </a:solidFill>
            <a:round/>
            <a:headEnd/>
            <a:tailEnd type="triangle" w="med" len="med"/>
          </a:ln>
        </p:spPr>
        <p:txBody>
          <a:bodyPr/>
          <a:lstStyle/>
          <a:p>
            <a:endParaRPr lang="zh-CN" altLang="en-US"/>
          </a:p>
        </p:txBody>
      </p:sp>
      <p:sp>
        <p:nvSpPr>
          <p:cNvPr id="17414" name="Line 8"/>
          <p:cNvSpPr>
            <a:spLocks noChangeShapeType="1"/>
          </p:cNvSpPr>
          <p:nvPr/>
        </p:nvSpPr>
        <p:spPr bwMode="auto">
          <a:xfrm flipV="1">
            <a:off x="2699792" y="3429000"/>
            <a:ext cx="0" cy="647700"/>
          </a:xfrm>
          <a:prstGeom prst="line">
            <a:avLst/>
          </a:prstGeom>
          <a:noFill/>
          <a:ln w="38100">
            <a:solidFill>
              <a:srgbClr val="FF3300"/>
            </a:solidFill>
            <a:round/>
            <a:headEnd/>
            <a:tailEnd type="triangle" w="med" len="med"/>
          </a:ln>
        </p:spPr>
        <p:txBody>
          <a:bodyPr/>
          <a:lstStyle/>
          <a:p>
            <a:endParaRPr lang="zh-CN" altLang="en-US"/>
          </a:p>
        </p:txBody>
      </p:sp>
      <p:sp>
        <p:nvSpPr>
          <p:cNvPr id="17415" name="Line 12"/>
          <p:cNvSpPr>
            <a:spLocks noChangeShapeType="1"/>
          </p:cNvSpPr>
          <p:nvPr/>
        </p:nvSpPr>
        <p:spPr bwMode="auto">
          <a:xfrm flipV="1">
            <a:off x="4860032" y="3571876"/>
            <a:ext cx="0" cy="647700"/>
          </a:xfrm>
          <a:prstGeom prst="line">
            <a:avLst/>
          </a:prstGeom>
          <a:noFill/>
          <a:ln w="38100">
            <a:solidFill>
              <a:srgbClr val="FF3300"/>
            </a:solidFill>
            <a:round/>
            <a:headEnd/>
            <a:tailEnd type="triangle" w="med" len="med"/>
          </a:ln>
        </p:spPr>
        <p:txBody>
          <a:bodyPr/>
          <a:lstStyle/>
          <a:p>
            <a:endParaRPr lang="zh-CN" altLang="en-US"/>
          </a:p>
        </p:txBody>
      </p:sp>
      <p:sp>
        <p:nvSpPr>
          <p:cNvPr id="17416" name="Line 14"/>
          <p:cNvSpPr>
            <a:spLocks noChangeShapeType="1"/>
          </p:cNvSpPr>
          <p:nvPr/>
        </p:nvSpPr>
        <p:spPr bwMode="auto">
          <a:xfrm flipV="1">
            <a:off x="3779912" y="3500438"/>
            <a:ext cx="0" cy="647700"/>
          </a:xfrm>
          <a:prstGeom prst="line">
            <a:avLst/>
          </a:prstGeom>
          <a:noFill/>
          <a:ln w="38100">
            <a:solidFill>
              <a:srgbClr val="FF3300"/>
            </a:solidFill>
            <a:round/>
            <a:headEnd/>
            <a:tailEnd type="triangle" w="med" len="med"/>
          </a:ln>
        </p:spPr>
        <p:txBody>
          <a:bodyPr/>
          <a:lstStyle/>
          <a:p>
            <a:endParaRPr lang="zh-CN" altLang="en-US"/>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6" name="Rectangle 2"/>
          <p:cNvSpPr>
            <a:spLocks noGrp="1" noChangeArrowheads="1"/>
          </p:cNvSpPr>
          <p:nvPr>
            <p:ph idx="1"/>
          </p:nvPr>
        </p:nvSpPr>
        <p:spPr>
          <a:xfrm>
            <a:off x="468313" y="1125538"/>
            <a:ext cx="8424862" cy="5199062"/>
          </a:xfrm>
        </p:spPr>
        <p:txBody>
          <a:bodyPr>
            <a:normAutofit/>
          </a:bodyPr>
          <a:lstStyle/>
          <a:p>
            <a:pPr marL="0" indent="0" algn="just" eaLnBrk="1" hangingPunct="1">
              <a:lnSpc>
                <a:spcPct val="115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结构类型</a:t>
            </a:r>
            <a:r>
              <a:rPr lang="en-US" altLang="zh-CN" sz="2800" b="1" dirty="0" err="1">
                <a:latin typeface="楷体_GB2312" pitchFamily="49" charset="-122"/>
                <a:ea typeface="楷体_GB2312" pitchFamily="49" charset="-122"/>
              </a:rPr>
              <a:t>的一般</a:t>
            </a:r>
            <a:r>
              <a:rPr lang="zh-CN" altLang="en-US" sz="2800" b="1" dirty="0">
                <a:latin typeface="楷体_GB2312" pitchFamily="49" charset="-122"/>
                <a:ea typeface="楷体_GB2312" pitchFamily="49" charset="-122"/>
              </a:rPr>
              <a:t>形式：</a:t>
            </a:r>
          </a:p>
          <a:p>
            <a:pPr marL="0" indent="0" algn="just" eaLnBrk="1" hangingPunct="1">
              <a:lnSpc>
                <a:spcPct val="115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struct</a:t>
            </a:r>
            <a:r>
              <a:rPr lang="en-US" altLang="zh-CN" sz="2800" b="1" dirty="0">
                <a:latin typeface="楷体_GB2312" pitchFamily="49" charset="-122"/>
                <a:ea typeface="楷体_GB2312" pitchFamily="49" charset="-122"/>
              </a:rPr>
              <a:t>  </a:t>
            </a:r>
            <a:r>
              <a:rPr lang="zh-CN" altLang="en-US" sz="2800" b="1" dirty="0">
                <a:latin typeface="楷体_GB2312" pitchFamily="49" charset="-122"/>
                <a:ea typeface="楷体_GB2312" pitchFamily="49" charset="-122"/>
              </a:rPr>
              <a:t>标识符</a:t>
            </a:r>
            <a:r>
              <a:rPr lang="en-US" altLang="zh-CN" sz="2800" b="1" dirty="0">
                <a:latin typeface="楷体_GB2312" pitchFamily="49" charset="-122"/>
                <a:ea typeface="楷体_GB2312" pitchFamily="49" charset="-122"/>
              </a:rPr>
              <a:t>{</a:t>
            </a:r>
          </a:p>
          <a:p>
            <a:pPr marL="0" indent="0" algn="just" eaLnBrk="1" hangingPunct="1">
              <a:lnSpc>
                <a:spcPct val="115000"/>
              </a:lnSpc>
              <a:buClr>
                <a:srgbClr val="FF6600"/>
              </a:buClr>
              <a:buSzPct val="55000"/>
              <a:buFont typeface="Wingdings" pitchFamily="2" charset="2"/>
              <a:buNone/>
              <a:defRPr/>
            </a:pPr>
            <a:r>
              <a:rPr lang="en-US" altLang="zh-CN" sz="2800" b="1" dirty="0">
                <a:latin typeface="楷体_GB2312" pitchFamily="49" charset="-122"/>
                <a:ea typeface="楷体_GB2312" pitchFamily="49" charset="-122"/>
              </a:rPr>
              <a:t>         </a:t>
            </a:r>
            <a:r>
              <a:rPr lang="zh-CN" sz="2800" b="1" dirty="0">
                <a:latin typeface="楷体_GB2312" pitchFamily="49" charset="-122"/>
                <a:ea typeface="楷体_GB2312" pitchFamily="49" charset="-122"/>
              </a:rPr>
              <a:t>成员</a:t>
            </a:r>
            <a:r>
              <a:rPr lang="zh-CN" altLang="en-US" sz="2800" b="1" dirty="0">
                <a:latin typeface="楷体_GB2312" pitchFamily="49" charset="-122"/>
                <a:ea typeface="楷体_GB2312" pitchFamily="49" charset="-122"/>
              </a:rPr>
              <a:t>说明表</a:t>
            </a:r>
          </a:p>
          <a:p>
            <a:pPr marL="0" indent="0" algn="just" eaLnBrk="1" hangingPunct="1">
              <a:lnSpc>
                <a:spcPct val="115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      </a:t>
            </a:r>
            <a:r>
              <a:rPr lang="en-US" altLang="zh-CN" sz="2800" b="1" dirty="0">
                <a:latin typeface="楷体_GB2312" pitchFamily="49" charset="-122"/>
                <a:ea typeface="楷体_GB2312" pitchFamily="49" charset="-122"/>
              </a:rPr>
              <a:t>};</a:t>
            </a:r>
          </a:p>
          <a:p>
            <a:pPr marL="0" indent="0" algn="just" eaLnBrk="1" hangingPunct="1">
              <a:lnSpc>
                <a:spcPct val="115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其中</a:t>
            </a:r>
          </a:p>
          <a:p>
            <a:pPr marL="0" indent="0" algn="just" eaLnBrk="1" hangingPunct="1">
              <a:lnSpc>
                <a:spcPct val="115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关键字</a:t>
            </a:r>
            <a:r>
              <a:rPr lang="zh-CN" altLang="en-US" sz="2800" b="1" dirty="0">
                <a:ea typeface="楷体_GB2312" pitchFamily="49" charset="-122"/>
              </a:rPr>
              <a:t>“</a:t>
            </a:r>
            <a:r>
              <a:rPr lang="en-US" altLang="zh-CN" sz="2800" b="1" dirty="0" err="1">
                <a:latin typeface="楷体_GB2312" pitchFamily="49" charset="-122"/>
                <a:ea typeface="楷体_GB2312" pitchFamily="49" charset="-122"/>
              </a:rPr>
              <a:t>struct</a:t>
            </a:r>
            <a:r>
              <a:rPr lang="en-US" altLang="zh-CN" sz="2800" b="1" dirty="0">
                <a:ea typeface="楷体_GB2312" pitchFamily="49" charset="-122"/>
              </a:rPr>
              <a:t>”</a:t>
            </a:r>
            <a:r>
              <a:rPr lang="zh-CN" altLang="en-US" sz="2800" b="1" dirty="0">
                <a:latin typeface="楷体_GB2312" pitchFamily="49" charset="-122"/>
                <a:ea typeface="楷体_GB2312" pitchFamily="49" charset="-122"/>
              </a:rPr>
              <a:t>：引出结构类型的定义。</a:t>
            </a:r>
          </a:p>
          <a:p>
            <a:pPr marL="0" indent="0" algn="just" eaLnBrk="1" hangingPunct="1">
              <a:lnSpc>
                <a:spcPct val="115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标识符：结构类型的名称。</a:t>
            </a:r>
          </a:p>
          <a:p>
            <a:pPr marL="0" indent="0" algn="just" eaLnBrk="1" hangingPunct="1">
              <a:lnSpc>
                <a:spcPct val="115000"/>
              </a:lnSpc>
              <a:buClr>
                <a:srgbClr val="FF6600"/>
              </a:buClr>
              <a:buSzPct val="55000"/>
              <a:buFont typeface="Wingdings" pitchFamily="2" charset="2"/>
              <a:buNone/>
              <a:defRPr/>
            </a:pPr>
            <a:r>
              <a:rPr lang="zh-CN" sz="2800" b="1" dirty="0">
                <a:latin typeface="楷体_GB2312" pitchFamily="49" charset="-122"/>
                <a:ea typeface="楷体_GB2312" pitchFamily="49" charset="-122"/>
              </a:rPr>
              <a:t>成员</a:t>
            </a:r>
            <a:r>
              <a:rPr lang="zh-CN" altLang="en-US" sz="2800" b="1" dirty="0">
                <a:latin typeface="楷体_GB2312" pitchFamily="49" charset="-122"/>
                <a:ea typeface="楷体_GB2312" pitchFamily="49" charset="-122"/>
              </a:rPr>
              <a:t>说明表：指明组成此种结构类型的全部</a:t>
            </a:r>
            <a:r>
              <a:rPr lang="zh-CN" sz="2800" b="1" dirty="0">
                <a:latin typeface="楷体_GB2312" pitchFamily="49" charset="-122"/>
                <a:ea typeface="楷体_GB2312" pitchFamily="49" charset="-122"/>
              </a:rPr>
              <a:t>成员</a:t>
            </a:r>
            <a:r>
              <a:rPr lang="zh-CN" altLang="en-US" sz="2800" b="1" dirty="0">
                <a:latin typeface="楷体_GB2312" pitchFamily="49" charset="-122"/>
                <a:ea typeface="楷体_GB2312" pitchFamily="49" charset="-122"/>
              </a:rPr>
              <a:t>。</a:t>
            </a:r>
          </a:p>
          <a:p>
            <a:pPr marL="0" indent="0" algn="just" eaLnBrk="1" hangingPunct="1">
              <a:lnSpc>
                <a:spcPct val="115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                       </a:t>
            </a:r>
          </a:p>
        </p:txBody>
      </p:sp>
      <p:sp>
        <p:nvSpPr>
          <p:cNvPr id="5" name="灯片编号占位符 5"/>
          <p:cNvSpPr>
            <a:spLocks noGrp="1"/>
          </p:cNvSpPr>
          <p:nvPr>
            <p:ph type="sldNum" sz="quarter" idx="12"/>
          </p:nvPr>
        </p:nvSpPr>
        <p:spPr/>
        <p:txBody>
          <a:bodyPr/>
          <a:lstStyle/>
          <a:p>
            <a:pPr>
              <a:defRPr/>
            </a:pPr>
            <a:fld id="{28A4420F-C1C5-4E37-9C79-49462FE865A2}" type="slidenum">
              <a:rPr lang="en-US" altLang="zh-CN"/>
              <a:pPr>
                <a:defRPr/>
              </a:pPr>
              <a:t>3</a:t>
            </a:fld>
            <a:endParaRPr lang="en-US" altLang="zh-CN"/>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3" name="Rectangle 5"/>
          <p:cNvSpPr>
            <a:spLocks noGrp="1" noChangeArrowheads="1"/>
          </p:cNvSpPr>
          <p:nvPr>
            <p:ph type="title"/>
          </p:nvPr>
        </p:nvSpPr>
        <p:spPr>
          <a:xfrm>
            <a:off x="539750" y="260350"/>
            <a:ext cx="7920038" cy="720725"/>
          </a:xfrm>
        </p:spPr>
        <p:txBody>
          <a:bodyPr>
            <a:normAutofit fontScale="90000"/>
          </a:bodyPr>
          <a:lstStyle/>
          <a:p>
            <a:pPr eaLnBrk="1" hangingPunct="1">
              <a:lnSpc>
                <a:spcPct val="100000"/>
              </a:lnSpc>
              <a:defRPr/>
            </a:pPr>
            <a:br>
              <a:rPr lang="en-US" altLang="zh-CN" dirty="0">
                <a:solidFill>
                  <a:schemeClr val="tx1"/>
                </a:solidFill>
                <a:latin typeface="黑体" pitchFamily="2" charset="-122"/>
                <a:ea typeface="黑体" pitchFamily="2" charset="-122"/>
              </a:rPr>
            </a:br>
            <a:r>
              <a:rPr lang="zh-CN" altLang="en-US" dirty="0">
                <a:solidFill>
                  <a:schemeClr val="tx1"/>
                </a:solidFill>
                <a:latin typeface="黑体" pitchFamily="2" charset="-122"/>
                <a:ea typeface="黑体" pitchFamily="2" charset="-122"/>
              </a:rPr>
              <a:t>结构类型 示例</a:t>
            </a:r>
          </a:p>
        </p:txBody>
      </p:sp>
      <p:sp>
        <p:nvSpPr>
          <p:cNvPr id="365571" name="Rectangle 3"/>
          <p:cNvSpPr>
            <a:spLocks noGrp="1" noChangeArrowheads="1"/>
          </p:cNvSpPr>
          <p:nvPr>
            <p:ph idx="1"/>
          </p:nvPr>
        </p:nvSpPr>
        <p:spPr>
          <a:xfrm>
            <a:off x="250825" y="1125538"/>
            <a:ext cx="8424863" cy="5357812"/>
          </a:xfrm>
        </p:spPr>
        <p:txBody>
          <a:bodyPr/>
          <a:lstStyle/>
          <a:p>
            <a:pPr marL="0" indent="0" algn="just" eaLnBrk="1" hangingPunct="1">
              <a:lnSpc>
                <a:spcPct val="105000"/>
              </a:lnSpc>
              <a:buClr>
                <a:srgbClr val="FF6600"/>
              </a:buClr>
              <a:buSzPct val="55000"/>
              <a:buFont typeface="Wingdings" pitchFamily="2" charset="2"/>
              <a:buNone/>
              <a:defRPr/>
            </a:pPr>
            <a:r>
              <a:rPr lang="zh-CN" altLang="en-US" b="1" dirty="0">
                <a:effectLst>
                  <a:outerShdw blurRad="38100" dist="38100" dir="2700000" algn="tl">
                    <a:srgbClr val="000000"/>
                  </a:outerShdw>
                </a:effectLst>
                <a:latin typeface="楷体_GB2312" pitchFamily="49" charset="-122"/>
                <a:ea typeface="楷体_GB2312" pitchFamily="49" charset="-122"/>
              </a:rPr>
              <a:t>学生数据结构的类型为：</a:t>
            </a:r>
          </a:p>
          <a:p>
            <a:pPr marL="0" indent="0" eaLnBrk="1" hangingPunct="1">
              <a:buFont typeface="Monotype Sorts" pitchFamily="2" charset="2"/>
              <a:buNone/>
              <a:defRPr/>
            </a:pPr>
            <a:r>
              <a:rPr lang="zh-CN" altLang="en-US" b="1" dirty="0">
                <a:solidFill>
                  <a:srgbClr val="0000FF"/>
                </a:solidFill>
                <a:effectLst>
                  <a:outerShdw blurRad="38100" dist="38100" dir="2700000" algn="tl">
                    <a:srgbClr val="000000"/>
                  </a:outerShdw>
                </a:effectLst>
                <a:latin typeface="楷体_GB2312" pitchFamily="49" charset="-122"/>
                <a:ea typeface="楷体_GB2312" pitchFamily="49" charset="-122"/>
              </a:rPr>
              <a:t>    </a:t>
            </a:r>
            <a:r>
              <a:rPr lang="zh-CN" altLang="en-US" dirty="0">
                <a:latin typeface="楷体_GB2312" pitchFamily="49" charset="-122"/>
                <a:ea typeface="楷体_GB2312" pitchFamily="49" charset="-122"/>
              </a:rPr>
              <a:t> </a:t>
            </a:r>
            <a:r>
              <a:rPr lang="en-US" altLang="zh-CN" b="1" dirty="0" err="1">
                <a:effectLst>
                  <a:outerShdw blurRad="38100" dist="38100" dir="2700000" algn="tl">
                    <a:srgbClr val="000000"/>
                  </a:outerShdw>
                </a:effectLst>
                <a:latin typeface="楷体_GB2312" pitchFamily="49" charset="-122"/>
                <a:ea typeface="楷体_GB2312" pitchFamily="49" charset="-122"/>
              </a:rPr>
              <a:t>struct</a:t>
            </a:r>
            <a:r>
              <a:rPr lang="en-US" altLang="zh-CN" b="1" dirty="0">
                <a:effectLst>
                  <a:outerShdw blurRad="38100" dist="38100" dir="2700000" algn="tl">
                    <a:srgbClr val="000000"/>
                  </a:outerShdw>
                </a:effectLst>
                <a:latin typeface="楷体_GB2312" pitchFamily="49" charset="-122"/>
                <a:ea typeface="楷体_GB2312" pitchFamily="49" charset="-122"/>
              </a:rPr>
              <a:t>  student {</a:t>
            </a:r>
          </a:p>
          <a:p>
            <a:pPr marL="0" indent="0" eaLnBrk="1" hangingPunct="1">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a:t>
            </a:r>
            <a:r>
              <a:rPr lang="en-US" altLang="zh-CN" b="1" dirty="0" err="1">
                <a:effectLst>
                  <a:outerShdw blurRad="38100" dist="38100" dir="2700000" algn="tl">
                    <a:srgbClr val="000000"/>
                  </a:outerShdw>
                </a:effectLst>
                <a:latin typeface="楷体_GB2312" pitchFamily="49" charset="-122"/>
                <a:ea typeface="楷体_GB2312" pitchFamily="49" charset="-122"/>
              </a:rPr>
              <a:t>int</a:t>
            </a:r>
            <a:r>
              <a:rPr lang="en-US" altLang="zh-CN" b="1" dirty="0">
                <a:effectLst>
                  <a:outerShdw blurRad="38100" dist="38100" dir="2700000" algn="tl">
                    <a:srgbClr val="000000"/>
                  </a:outerShdw>
                </a:effectLst>
                <a:latin typeface="楷体_GB2312" pitchFamily="49" charset="-122"/>
                <a:ea typeface="楷体_GB2312" pitchFamily="49" charset="-122"/>
              </a:rPr>
              <a:t>  number;      	/* </a:t>
            </a:r>
            <a:r>
              <a:rPr lang="zh-CN" altLang="en-US" b="1" dirty="0">
                <a:effectLst>
                  <a:outerShdw blurRad="38100" dist="38100" dir="2700000" algn="tl">
                    <a:srgbClr val="000000"/>
                  </a:outerShdw>
                </a:effectLst>
                <a:latin typeface="楷体_GB2312" pitchFamily="49" charset="-122"/>
                <a:ea typeface="楷体_GB2312" pitchFamily="49" charset="-122"/>
              </a:rPr>
              <a:t>学号 *</a:t>
            </a:r>
            <a:r>
              <a:rPr lang="en-US" altLang="zh-CN" b="1" dirty="0">
                <a:effectLst>
                  <a:outerShdw blurRad="38100" dist="38100" dir="2700000" algn="tl">
                    <a:srgbClr val="000000"/>
                  </a:outerShdw>
                </a:effectLst>
                <a:latin typeface="楷体_GB2312" pitchFamily="49" charset="-122"/>
                <a:ea typeface="楷体_GB2312" pitchFamily="49" charset="-122"/>
              </a:rPr>
              <a:t>/</a:t>
            </a:r>
          </a:p>
          <a:p>
            <a:pPr marL="0" indent="0" eaLnBrk="1" hangingPunct="1">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char name[20]; </a:t>
            </a:r>
            <a:r>
              <a:rPr lang="en-US" altLang="zh-CN" sz="2000" b="1" dirty="0">
                <a:effectLst>
                  <a:outerShdw blurRad="38100" dist="38100" dir="2700000" algn="tl">
                    <a:srgbClr val="000000"/>
                  </a:outerShdw>
                </a:effectLst>
                <a:latin typeface="楷体_GB2312" pitchFamily="49" charset="-122"/>
                <a:ea typeface="楷体_GB2312" pitchFamily="49" charset="-122"/>
              </a:rPr>
              <a:t>/* </a:t>
            </a:r>
            <a:r>
              <a:rPr lang="zh-CN" altLang="en-US" sz="2000" b="1" dirty="0">
                <a:effectLst>
                  <a:outerShdw blurRad="38100" dist="38100" dir="2700000" algn="tl">
                    <a:srgbClr val="000000"/>
                  </a:outerShdw>
                </a:effectLst>
                <a:latin typeface="楷体_GB2312" pitchFamily="49" charset="-122"/>
                <a:ea typeface="楷体_GB2312" pitchFamily="49" charset="-122"/>
              </a:rPr>
              <a:t>姓名，少于</a:t>
            </a:r>
            <a:r>
              <a:rPr lang="en-US" altLang="zh-CN" sz="2000" b="1" dirty="0">
                <a:effectLst>
                  <a:outerShdw blurRad="38100" dist="38100" dir="2700000" algn="tl">
                    <a:srgbClr val="000000"/>
                  </a:outerShdw>
                </a:effectLst>
                <a:latin typeface="楷体_GB2312" pitchFamily="49" charset="-122"/>
                <a:ea typeface="楷体_GB2312" pitchFamily="49" charset="-122"/>
              </a:rPr>
              <a:t>20</a:t>
            </a:r>
            <a:r>
              <a:rPr lang="zh-CN" altLang="en-US" sz="2000" b="1" dirty="0">
                <a:effectLst>
                  <a:outerShdw blurRad="38100" dist="38100" dir="2700000" algn="tl">
                    <a:srgbClr val="000000"/>
                  </a:outerShdw>
                </a:effectLst>
                <a:latin typeface="楷体_GB2312" pitchFamily="49" charset="-122"/>
                <a:ea typeface="楷体_GB2312" pitchFamily="49" charset="-122"/>
              </a:rPr>
              <a:t>个字符 *</a:t>
            </a:r>
            <a:r>
              <a:rPr lang="en-US" altLang="zh-CN" sz="2000" b="1" dirty="0">
                <a:effectLst>
                  <a:outerShdw blurRad="38100" dist="38100" dir="2700000" algn="tl">
                    <a:srgbClr val="000000"/>
                  </a:outerShdw>
                </a:effectLst>
                <a:latin typeface="楷体_GB2312" pitchFamily="49" charset="-122"/>
                <a:ea typeface="楷体_GB2312" pitchFamily="49" charset="-122"/>
              </a:rPr>
              <a:t>/</a:t>
            </a:r>
          </a:p>
          <a:p>
            <a:pPr marL="0" indent="0" eaLnBrk="1" hangingPunct="1">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char sex;        	/* </a:t>
            </a:r>
            <a:r>
              <a:rPr lang="zh-CN" altLang="en-US" b="1" dirty="0">
                <a:effectLst>
                  <a:outerShdw blurRad="38100" dist="38100" dir="2700000" algn="tl">
                    <a:srgbClr val="000000"/>
                  </a:outerShdw>
                </a:effectLst>
                <a:latin typeface="楷体_GB2312" pitchFamily="49" charset="-122"/>
                <a:ea typeface="楷体_GB2312" pitchFamily="49" charset="-122"/>
              </a:rPr>
              <a:t>性别 *</a:t>
            </a:r>
            <a:r>
              <a:rPr lang="en-US" altLang="zh-CN" b="1" dirty="0">
                <a:effectLst>
                  <a:outerShdw blurRad="38100" dist="38100" dir="2700000" algn="tl">
                    <a:srgbClr val="000000"/>
                  </a:outerShdw>
                </a:effectLst>
                <a:latin typeface="楷体_GB2312" pitchFamily="49" charset="-122"/>
                <a:ea typeface="楷体_GB2312" pitchFamily="49" charset="-122"/>
              </a:rPr>
              <a:t>/</a:t>
            </a:r>
          </a:p>
          <a:p>
            <a:pPr marL="0" indent="0" eaLnBrk="1" hangingPunct="1">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char address[40];   	/* </a:t>
            </a:r>
            <a:r>
              <a:rPr lang="zh-CN" altLang="en-US" b="1" dirty="0">
                <a:effectLst>
                  <a:outerShdw blurRad="38100" dist="38100" dir="2700000" algn="tl">
                    <a:srgbClr val="000000"/>
                  </a:outerShdw>
                </a:effectLst>
                <a:latin typeface="楷体_GB2312" pitchFamily="49" charset="-122"/>
                <a:ea typeface="楷体_GB2312" pitchFamily="49" charset="-122"/>
              </a:rPr>
              <a:t>家庭地址 *</a:t>
            </a:r>
            <a:r>
              <a:rPr lang="en-US" altLang="zh-CN" b="1" dirty="0">
                <a:effectLst>
                  <a:outerShdw blurRad="38100" dist="38100" dir="2700000" algn="tl">
                    <a:srgbClr val="000000"/>
                  </a:outerShdw>
                </a:effectLst>
                <a:latin typeface="楷体_GB2312" pitchFamily="49" charset="-122"/>
                <a:ea typeface="楷体_GB2312" pitchFamily="49" charset="-122"/>
              </a:rPr>
              <a:t>/</a:t>
            </a:r>
          </a:p>
          <a:p>
            <a:pPr marL="0" indent="0" eaLnBrk="1" hangingPunct="1">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a:t>
            </a:r>
          </a:p>
          <a:p>
            <a:pPr marL="0" indent="0" eaLnBrk="1" hangingPunct="1">
              <a:buFont typeface="Monotype Sorts" pitchFamily="2" charset="2"/>
              <a:buNone/>
              <a:defRPr/>
            </a:pPr>
            <a:r>
              <a:rPr lang="zh-CN" altLang="en-US" b="1" dirty="0">
                <a:effectLst>
                  <a:outerShdw blurRad="38100" dist="38100" dir="2700000" algn="tl">
                    <a:srgbClr val="000000"/>
                  </a:outerShdw>
                </a:effectLst>
                <a:latin typeface="楷体_GB2312" pitchFamily="49" charset="-122"/>
                <a:ea typeface="楷体_GB2312" pitchFamily="49" charset="-122"/>
              </a:rPr>
              <a:t>上述代码定义结构类型有</a:t>
            </a:r>
            <a:r>
              <a:rPr lang="en-US" altLang="zh-CN" b="1" dirty="0">
                <a:effectLst>
                  <a:outerShdw blurRad="38100" dist="38100" dir="2700000" algn="tl">
                    <a:srgbClr val="000000"/>
                  </a:outerShdw>
                </a:effectLst>
                <a:latin typeface="楷体_GB2312" pitchFamily="49" charset="-122"/>
                <a:ea typeface="楷体_GB2312" pitchFamily="49" charset="-122"/>
              </a:rPr>
              <a:t>number</a:t>
            </a:r>
            <a:r>
              <a:rPr lang="zh-CN" altLang="en-US" b="1" dirty="0">
                <a:effectLst>
                  <a:outerShdw blurRad="38100" dist="38100" dir="2700000" algn="tl">
                    <a:srgbClr val="000000"/>
                  </a:outerShdw>
                </a:effectLst>
                <a:latin typeface="楷体_GB2312" pitchFamily="49" charset="-122"/>
                <a:ea typeface="楷体_GB2312" pitchFamily="49" charset="-122"/>
              </a:rPr>
              <a:t>、</a:t>
            </a:r>
            <a:r>
              <a:rPr lang="en-US" altLang="zh-CN" b="1" dirty="0">
                <a:effectLst>
                  <a:outerShdw blurRad="38100" dist="38100" dir="2700000" algn="tl">
                    <a:srgbClr val="000000"/>
                  </a:outerShdw>
                </a:effectLst>
                <a:latin typeface="楷体_GB2312" pitchFamily="49" charset="-122"/>
                <a:ea typeface="楷体_GB2312" pitchFamily="49" charset="-122"/>
              </a:rPr>
              <a:t>name</a:t>
            </a:r>
            <a:r>
              <a:rPr lang="zh-CN" altLang="en-US" b="1" dirty="0">
                <a:effectLst>
                  <a:outerShdw blurRad="38100" dist="38100" dir="2700000" algn="tl">
                    <a:srgbClr val="000000"/>
                  </a:outerShdw>
                </a:effectLst>
                <a:latin typeface="楷体_GB2312" pitchFamily="49" charset="-122"/>
                <a:ea typeface="楷体_GB2312" pitchFamily="49" charset="-122"/>
              </a:rPr>
              <a:t>、</a:t>
            </a:r>
            <a:r>
              <a:rPr lang="en-US" altLang="zh-CN" b="1" dirty="0">
                <a:effectLst>
                  <a:outerShdw blurRad="38100" dist="38100" dir="2700000" algn="tl">
                    <a:srgbClr val="000000"/>
                  </a:outerShdw>
                </a:effectLst>
                <a:latin typeface="楷体_GB2312" pitchFamily="49" charset="-122"/>
                <a:ea typeface="楷体_GB2312" pitchFamily="49" charset="-122"/>
              </a:rPr>
              <a:t>sex</a:t>
            </a:r>
            <a:r>
              <a:rPr lang="zh-CN" altLang="en-US" b="1" dirty="0">
                <a:effectLst>
                  <a:outerShdw blurRad="38100" dist="38100" dir="2700000" algn="tl">
                    <a:srgbClr val="000000"/>
                  </a:outerShdw>
                </a:effectLst>
                <a:latin typeface="楷体_GB2312" pitchFamily="49" charset="-122"/>
                <a:ea typeface="楷体_GB2312" pitchFamily="49" charset="-122"/>
              </a:rPr>
              <a:t>和</a:t>
            </a:r>
            <a:r>
              <a:rPr lang="en-US" altLang="zh-CN" b="1" dirty="0">
                <a:effectLst>
                  <a:outerShdw blurRad="38100" dist="38100" dir="2700000" algn="tl">
                    <a:srgbClr val="000000"/>
                  </a:outerShdw>
                </a:effectLst>
                <a:latin typeface="楷体_GB2312" pitchFamily="49" charset="-122"/>
                <a:ea typeface="楷体_GB2312" pitchFamily="49" charset="-122"/>
              </a:rPr>
              <a:t>address</a:t>
            </a:r>
            <a:r>
              <a:rPr lang="zh-CN" altLang="en-US" b="1" dirty="0">
                <a:effectLst>
                  <a:outerShdw blurRad="38100" dist="38100" dir="2700000" algn="tl">
                    <a:srgbClr val="000000"/>
                  </a:outerShdw>
                </a:effectLst>
                <a:latin typeface="楷体_GB2312" pitchFamily="49" charset="-122"/>
                <a:ea typeface="楷体_GB2312" pitchFamily="49" charset="-122"/>
              </a:rPr>
              <a:t>共</a:t>
            </a:r>
            <a:r>
              <a:rPr lang="en-US" altLang="zh-CN" b="1" dirty="0">
                <a:effectLst>
                  <a:outerShdw blurRad="38100" dist="38100" dir="2700000" algn="tl">
                    <a:srgbClr val="000000"/>
                  </a:outerShdw>
                </a:effectLst>
                <a:latin typeface="楷体_GB2312" pitchFamily="49" charset="-122"/>
                <a:ea typeface="楷体_GB2312" pitchFamily="49" charset="-122"/>
              </a:rPr>
              <a:t>4</a:t>
            </a:r>
            <a:r>
              <a:rPr lang="zh-CN" altLang="en-US" b="1" dirty="0">
                <a:effectLst>
                  <a:outerShdw blurRad="38100" dist="38100" dir="2700000" algn="tl">
                    <a:srgbClr val="000000"/>
                  </a:outerShdw>
                </a:effectLst>
                <a:latin typeface="楷体_GB2312" pitchFamily="49" charset="-122"/>
                <a:ea typeface="楷体_GB2312" pitchFamily="49" charset="-122"/>
              </a:rPr>
              <a:t>个成员，各成员的数据类型分别为整型、字符数组、字符型和字符数组。</a:t>
            </a:r>
          </a:p>
        </p:txBody>
      </p:sp>
      <p:sp>
        <p:nvSpPr>
          <p:cNvPr id="6" name="灯片编号占位符 5"/>
          <p:cNvSpPr>
            <a:spLocks noGrp="1"/>
          </p:cNvSpPr>
          <p:nvPr>
            <p:ph type="sldNum" sz="quarter" idx="12"/>
          </p:nvPr>
        </p:nvSpPr>
        <p:spPr/>
        <p:txBody>
          <a:bodyPr/>
          <a:lstStyle/>
          <a:p>
            <a:pPr>
              <a:defRPr/>
            </a:pPr>
            <a:fld id="{A45A907C-EAF1-4FA9-BC93-5EB5161A2722}" type="slidenum">
              <a:rPr lang="en-US" altLang="zh-CN"/>
              <a:pPr>
                <a:defRPr/>
              </a:pPr>
              <a:t>4</a:t>
            </a:fld>
            <a:endParaRPr lang="en-US" altLang="zh-CN"/>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5" name="Rectangle 3"/>
          <p:cNvSpPr>
            <a:spLocks noGrp="1" noChangeArrowheads="1"/>
          </p:cNvSpPr>
          <p:nvPr>
            <p:ph idx="1"/>
          </p:nvPr>
        </p:nvSpPr>
        <p:spPr>
          <a:xfrm>
            <a:off x="323850" y="333375"/>
            <a:ext cx="8496300" cy="6524625"/>
          </a:xfrm>
        </p:spPr>
        <p:txBody>
          <a:bodyPr>
            <a:noAutofit/>
          </a:bodyPr>
          <a:lstStyle/>
          <a:p>
            <a:pPr marL="0" indent="0" eaLnBrk="1" hangingPunct="1">
              <a:lnSpc>
                <a:spcPct val="80000"/>
              </a:lnSpc>
              <a:buFont typeface="Monotype Sorts" pitchFamily="2" charset="2"/>
              <a:buNone/>
              <a:defRPr/>
            </a:pPr>
            <a:r>
              <a:rPr lang="zh-CN" altLang="en-US" sz="2400" b="1" dirty="0">
                <a:latin typeface="楷体_GB2312" pitchFamily="49" charset="-122"/>
                <a:ea typeface="楷体_GB2312" pitchFamily="49" charset="-122"/>
              </a:rPr>
              <a:t>当结构类型中的某个成员又是另一个结构类型时，这种结构类型是一种嵌套的结构类型。例如，给上述学生信息增加出生日期，并将日期定义为一种包含日、月、年</a:t>
            </a:r>
            <a:r>
              <a:rPr lang="en-US" altLang="zh-CN" sz="2400" b="1" dirty="0">
                <a:latin typeface="楷体_GB2312" pitchFamily="49" charset="-122"/>
                <a:ea typeface="楷体_GB2312" pitchFamily="49" charset="-122"/>
              </a:rPr>
              <a:t>3</a:t>
            </a:r>
            <a:r>
              <a:rPr lang="zh-CN" altLang="en-US" sz="2400" b="1" dirty="0">
                <a:latin typeface="楷体_GB2312" pitchFamily="49" charset="-122"/>
                <a:ea typeface="楷体_GB2312" pitchFamily="49" charset="-122"/>
              </a:rPr>
              <a:t>项信息的结构类型，则更完整的学生信息类型就被定义成嵌套的结构类型。</a:t>
            </a:r>
          </a:p>
          <a:p>
            <a:pPr marL="0" indent="0" eaLnBrk="1" hangingPunct="1">
              <a:lnSpc>
                <a:spcPct val="80000"/>
              </a:lnSpc>
              <a:buFont typeface="Monotype Sorts" pitchFamily="2" charset="2"/>
              <a:buNone/>
              <a:defRPr/>
            </a:pPr>
            <a:r>
              <a:rPr lang="zh-CN" altLang="en-US" sz="2400" b="1" dirty="0">
                <a:latin typeface="楷体_GB2312" pitchFamily="49" charset="-122"/>
                <a:ea typeface="楷体_GB2312" pitchFamily="49" charset="-122"/>
              </a:rPr>
              <a:t>       </a:t>
            </a:r>
            <a:r>
              <a:rPr lang="en-US" altLang="zh-CN" sz="2400" b="1" dirty="0" err="1">
                <a:solidFill>
                  <a:schemeClr val="tx1"/>
                </a:solidFill>
                <a:latin typeface="楷体_GB2312" pitchFamily="49" charset="-122"/>
                <a:ea typeface="楷体_GB2312" pitchFamily="49" charset="-122"/>
              </a:rPr>
              <a:t>struct</a:t>
            </a:r>
            <a:r>
              <a:rPr lang="en-US" altLang="zh-CN" sz="2400" b="1" dirty="0">
                <a:solidFill>
                  <a:schemeClr val="tx1"/>
                </a:solidFill>
                <a:latin typeface="楷体_GB2312" pitchFamily="49" charset="-122"/>
                <a:ea typeface="楷体_GB2312" pitchFamily="49" charset="-122"/>
              </a:rPr>
              <a:t> Date		/* </a:t>
            </a:r>
            <a:r>
              <a:rPr lang="zh-CN" altLang="en-US" sz="2400" b="1" dirty="0">
                <a:solidFill>
                  <a:schemeClr val="tx1"/>
                </a:solidFill>
                <a:latin typeface="楷体_GB2312" pitchFamily="49" charset="-122"/>
                <a:ea typeface="楷体_GB2312" pitchFamily="49" charset="-122"/>
              </a:rPr>
              <a:t>说明一个日期 *</a:t>
            </a:r>
            <a:r>
              <a:rPr lang="en-US" altLang="zh-CN" sz="2400" b="1" dirty="0">
                <a:solidFill>
                  <a:schemeClr val="tx1"/>
                </a:solidFill>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400" b="1" dirty="0">
                <a:solidFill>
                  <a:schemeClr val="tx1"/>
                </a:solidFill>
                <a:latin typeface="楷体_GB2312" pitchFamily="49" charset="-122"/>
                <a:ea typeface="楷体_GB2312" pitchFamily="49" charset="-122"/>
              </a:rPr>
              <a:t>       { </a:t>
            </a:r>
            <a:r>
              <a:rPr lang="en-US" altLang="zh-CN" sz="2400" b="1" dirty="0" err="1">
                <a:solidFill>
                  <a:schemeClr val="tx1"/>
                </a:solidFill>
                <a:latin typeface="楷体_GB2312" pitchFamily="49" charset="-122"/>
                <a:ea typeface="楷体_GB2312" pitchFamily="49" charset="-122"/>
              </a:rPr>
              <a:t>int</a:t>
            </a:r>
            <a:r>
              <a:rPr lang="en-US" altLang="zh-CN" sz="2400" b="1" dirty="0">
                <a:solidFill>
                  <a:schemeClr val="tx1"/>
                </a:solidFill>
                <a:latin typeface="楷体_GB2312" pitchFamily="49" charset="-122"/>
                <a:ea typeface="楷体_GB2312" pitchFamily="49" charset="-122"/>
              </a:rPr>
              <a:t>  day;     		/* </a:t>
            </a:r>
            <a:r>
              <a:rPr lang="zh-CN" altLang="en-US" sz="2400" b="1" dirty="0">
                <a:solidFill>
                  <a:schemeClr val="tx1"/>
                </a:solidFill>
                <a:latin typeface="楷体_GB2312" pitchFamily="49" charset="-122"/>
                <a:ea typeface="楷体_GB2312" pitchFamily="49" charset="-122"/>
              </a:rPr>
              <a:t>日 *</a:t>
            </a:r>
            <a:r>
              <a:rPr lang="en-US" altLang="zh-CN" sz="2400" b="1" dirty="0">
                <a:solidFill>
                  <a:schemeClr val="tx1"/>
                </a:solidFill>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400" b="1" dirty="0">
                <a:solidFill>
                  <a:schemeClr val="tx1"/>
                </a:solidFill>
                <a:latin typeface="楷体_GB2312" pitchFamily="49" charset="-122"/>
                <a:ea typeface="楷体_GB2312" pitchFamily="49" charset="-122"/>
              </a:rPr>
              <a:t>         </a:t>
            </a:r>
            <a:r>
              <a:rPr lang="en-US" altLang="zh-CN" sz="2400" b="1" dirty="0" err="1">
                <a:solidFill>
                  <a:schemeClr val="tx1"/>
                </a:solidFill>
                <a:latin typeface="楷体_GB2312" pitchFamily="49" charset="-122"/>
                <a:ea typeface="楷体_GB2312" pitchFamily="49" charset="-122"/>
              </a:rPr>
              <a:t>int</a:t>
            </a:r>
            <a:r>
              <a:rPr lang="en-US" altLang="zh-CN" sz="2400" b="1" dirty="0">
                <a:solidFill>
                  <a:schemeClr val="tx1"/>
                </a:solidFill>
                <a:latin typeface="楷体_GB2312" pitchFamily="49" charset="-122"/>
                <a:ea typeface="楷体_GB2312" pitchFamily="49" charset="-122"/>
              </a:rPr>
              <a:t>  month;   		/* </a:t>
            </a:r>
            <a:r>
              <a:rPr lang="zh-CN" altLang="en-US" sz="2400" b="1" dirty="0">
                <a:solidFill>
                  <a:schemeClr val="tx1"/>
                </a:solidFill>
                <a:latin typeface="楷体_GB2312" pitchFamily="49" charset="-122"/>
                <a:ea typeface="楷体_GB2312" pitchFamily="49" charset="-122"/>
              </a:rPr>
              <a:t>月 *</a:t>
            </a:r>
            <a:r>
              <a:rPr lang="en-US" altLang="zh-CN" sz="2400" b="1" dirty="0">
                <a:solidFill>
                  <a:schemeClr val="tx1"/>
                </a:solidFill>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400" b="1" dirty="0">
                <a:solidFill>
                  <a:schemeClr val="tx1"/>
                </a:solidFill>
                <a:latin typeface="楷体_GB2312" pitchFamily="49" charset="-122"/>
                <a:ea typeface="楷体_GB2312" pitchFamily="49" charset="-122"/>
              </a:rPr>
              <a:t>         </a:t>
            </a:r>
            <a:r>
              <a:rPr lang="en-US" altLang="zh-CN" sz="2400" b="1" dirty="0" err="1">
                <a:solidFill>
                  <a:schemeClr val="tx1"/>
                </a:solidFill>
                <a:latin typeface="楷体_GB2312" pitchFamily="49" charset="-122"/>
                <a:ea typeface="楷体_GB2312" pitchFamily="49" charset="-122"/>
              </a:rPr>
              <a:t>int</a:t>
            </a:r>
            <a:r>
              <a:rPr lang="en-US" altLang="zh-CN" sz="2400" b="1" dirty="0">
                <a:solidFill>
                  <a:schemeClr val="tx1"/>
                </a:solidFill>
                <a:latin typeface="楷体_GB2312" pitchFamily="49" charset="-122"/>
                <a:ea typeface="楷体_GB2312" pitchFamily="49" charset="-122"/>
              </a:rPr>
              <a:t>  year;    		/* </a:t>
            </a:r>
            <a:r>
              <a:rPr lang="zh-CN" altLang="en-US" sz="2400" b="1" dirty="0">
                <a:solidFill>
                  <a:schemeClr val="tx1"/>
                </a:solidFill>
                <a:latin typeface="楷体_GB2312" pitchFamily="49" charset="-122"/>
                <a:ea typeface="楷体_GB2312" pitchFamily="49" charset="-122"/>
              </a:rPr>
              <a:t>年 *</a:t>
            </a:r>
            <a:r>
              <a:rPr lang="en-US" altLang="zh-CN" sz="2400" b="1" dirty="0">
                <a:solidFill>
                  <a:schemeClr val="tx1"/>
                </a:solidFill>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400" b="1" dirty="0">
                <a:solidFill>
                  <a:schemeClr val="tx1"/>
                </a:solidFill>
                <a:latin typeface="楷体_GB2312" pitchFamily="49" charset="-122"/>
                <a:ea typeface="楷体_GB2312" pitchFamily="49" charset="-122"/>
              </a:rPr>
              <a:t>       };</a:t>
            </a:r>
          </a:p>
          <a:p>
            <a:pPr marL="0" indent="0" eaLnBrk="1" hangingPunct="1">
              <a:lnSpc>
                <a:spcPct val="80000"/>
              </a:lnSpc>
              <a:buFont typeface="Monotype Sorts" pitchFamily="2" charset="2"/>
              <a:buNone/>
              <a:defRPr/>
            </a:pPr>
            <a:r>
              <a:rPr lang="en-US" altLang="zh-CN" sz="2400" b="1" dirty="0">
                <a:solidFill>
                  <a:schemeClr val="tx1"/>
                </a:solidFill>
                <a:latin typeface="楷体_GB2312" pitchFamily="49" charset="-122"/>
                <a:ea typeface="楷体_GB2312" pitchFamily="49" charset="-122"/>
              </a:rPr>
              <a:t>       </a:t>
            </a:r>
            <a:r>
              <a:rPr lang="en-US" altLang="zh-CN" sz="2400" b="1" dirty="0" err="1">
                <a:solidFill>
                  <a:schemeClr val="tx1"/>
                </a:solidFill>
                <a:latin typeface="楷体_GB2312" pitchFamily="49" charset="-122"/>
                <a:ea typeface="楷体_GB2312" pitchFamily="49" charset="-122"/>
              </a:rPr>
              <a:t>struct</a:t>
            </a:r>
            <a:r>
              <a:rPr lang="en-US" altLang="zh-CN" sz="2400" b="1" dirty="0">
                <a:solidFill>
                  <a:schemeClr val="tx1"/>
                </a:solidFill>
                <a:latin typeface="楷体_GB2312" pitchFamily="49" charset="-122"/>
                <a:ea typeface="楷体_GB2312" pitchFamily="49" charset="-122"/>
              </a:rPr>
              <a:t>  student </a:t>
            </a:r>
          </a:p>
          <a:p>
            <a:pPr marL="0" indent="0" eaLnBrk="1" hangingPunct="1">
              <a:lnSpc>
                <a:spcPct val="80000"/>
              </a:lnSpc>
              <a:buFont typeface="Monotype Sorts" pitchFamily="2" charset="2"/>
              <a:buNone/>
              <a:defRPr/>
            </a:pPr>
            <a:r>
              <a:rPr lang="en-US" altLang="zh-CN" sz="2400" b="1" dirty="0">
                <a:solidFill>
                  <a:schemeClr val="tx1"/>
                </a:solidFill>
                <a:latin typeface="楷体_GB2312" pitchFamily="49" charset="-122"/>
                <a:ea typeface="楷体_GB2312" pitchFamily="49" charset="-122"/>
              </a:rPr>
              <a:t>       { </a:t>
            </a:r>
            <a:r>
              <a:rPr lang="en-US" altLang="zh-CN" sz="2400" b="1" dirty="0" err="1">
                <a:solidFill>
                  <a:schemeClr val="tx1"/>
                </a:solidFill>
                <a:latin typeface="楷体_GB2312" pitchFamily="49" charset="-122"/>
                <a:ea typeface="楷体_GB2312" pitchFamily="49" charset="-122"/>
              </a:rPr>
              <a:t>int</a:t>
            </a:r>
            <a:r>
              <a:rPr lang="en-US" altLang="zh-CN" sz="2400" b="1" dirty="0">
                <a:solidFill>
                  <a:schemeClr val="tx1"/>
                </a:solidFill>
                <a:latin typeface="楷体_GB2312" pitchFamily="49" charset="-122"/>
                <a:ea typeface="楷体_GB2312" pitchFamily="49" charset="-122"/>
              </a:rPr>
              <a:t>  number;      	/* </a:t>
            </a:r>
            <a:r>
              <a:rPr lang="zh-CN" altLang="en-US" sz="2400" b="1" dirty="0">
                <a:solidFill>
                  <a:schemeClr val="tx1"/>
                </a:solidFill>
                <a:latin typeface="楷体_GB2312" pitchFamily="49" charset="-122"/>
                <a:ea typeface="楷体_GB2312" pitchFamily="49" charset="-122"/>
              </a:rPr>
              <a:t>学号 *</a:t>
            </a:r>
            <a:r>
              <a:rPr lang="en-US" altLang="zh-CN" sz="2400" b="1" dirty="0">
                <a:solidFill>
                  <a:schemeClr val="tx1"/>
                </a:solidFill>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400" b="1" dirty="0">
                <a:solidFill>
                  <a:schemeClr val="tx1"/>
                </a:solidFill>
                <a:latin typeface="楷体_GB2312" pitchFamily="49" charset="-122"/>
                <a:ea typeface="楷体_GB2312" pitchFamily="49" charset="-122"/>
              </a:rPr>
              <a:t>         char name[20];   	/* </a:t>
            </a:r>
            <a:r>
              <a:rPr lang="zh-CN" altLang="en-US" sz="2400" b="1" dirty="0">
                <a:solidFill>
                  <a:schemeClr val="tx1"/>
                </a:solidFill>
                <a:latin typeface="楷体_GB2312" pitchFamily="49" charset="-122"/>
                <a:ea typeface="楷体_GB2312" pitchFamily="49" charset="-122"/>
              </a:rPr>
              <a:t>姓名 *</a:t>
            </a:r>
            <a:r>
              <a:rPr lang="en-US" altLang="zh-CN" sz="2400" b="1" dirty="0">
                <a:solidFill>
                  <a:schemeClr val="tx1"/>
                </a:solidFill>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400" b="1" dirty="0">
                <a:solidFill>
                  <a:schemeClr val="tx1"/>
                </a:solidFill>
                <a:latin typeface="楷体_GB2312" pitchFamily="49" charset="-122"/>
                <a:ea typeface="楷体_GB2312" pitchFamily="49" charset="-122"/>
              </a:rPr>
              <a:t>         char sex;        	/* </a:t>
            </a:r>
            <a:r>
              <a:rPr lang="zh-CN" altLang="en-US" sz="2400" b="1" dirty="0">
                <a:solidFill>
                  <a:schemeClr val="tx1"/>
                </a:solidFill>
                <a:latin typeface="楷体_GB2312" pitchFamily="49" charset="-122"/>
                <a:ea typeface="楷体_GB2312" pitchFamily="49" charset="-122"/>
              </a:rPr>
              <a:t>性别 *</a:t>
            </a:r>
            <a:r>
              <a:rPr lang="en-US" altLang="zh-CN" sz="2400" b="1" dirty="0">
                <a:solidFill>
                  <a:schemeClr val="tx1"/>
                </a:solidFill>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400" b="1" dirty="0">
                <a:solidFill>
                  <a:schemeClr val="tx1"/>
                </a:solidFill>
                <a:latin typeface="楷体_GB2312" pitchFamily="49" charset="-122"/>
                <a:ea typeface="楷体_GB2312" pitchFamily="49" charset="-122"/>
              </a:rPr>
              <a:t>         </a:t>
            </a:r>
            <a:r>
              <a:rPr lang="en-US" altLang="zh-CN" sz="2400" b="1" dirty="0" err="1">
                <a:solidFill>
                  <a:schemeClr val="tx1"/>
                </a:solidFill>
                <a:latin typeface="楷体_GB2312" pitchFamily="49" charset="-122"/>
                <a:ea typeface="楷体_GB2312" pitchFamily="49" charset="-122"/>
              </a:rPr>
              <a:t>struct</a:t>
            </a:r>
            <a:r>
              <a:rPr lang="en-US" altLang="zh-CN" sz="2400" b="1" dirty="0">
                <a:solidFill>
                  <a:schemeClr val="tx1"/>
                </a:solidFill>
                <a:latin typeface="楷体_GB2312" pitchFamily="49" charset="-122"/>
                <a:ea typeface="楷体_GB2312" pitchFamily="49" charset="-122"/>
              </a:rPr>
              <a:t> Date birthday; </a:t>
            </a:r>
          </a:p>
          <a:p>
            <a:pPr marL="0" indent="0" eaLnBrk="1" hangingPunct="1">
              <a:lnSpc>
                <a:spcPct val="80000"/>
              </a:lnSpc>
              <a:buFont typeface="Monotype Sorts" pitchFamily="2" charset="2"/>
              <a:buNone/>
              <a:defRPr/>
            </a:pPr>
            <a:r>
              <a:rPr lang="en-US" altLang="zh-CN" sz="2400" b="1" dirty="0">
                <a:solidFill>
                  <a:schemeClr val="tx1"/>
                </a:solidFill>
                <a:latin typeface="楷体_GB2312" pitchFamily="49" charset="-122"/>
                <a:ea typeface="楷体_GB2312" pitchFamily="49" charset="-122"/>
              </a:rPr>
              <a:t>         char address[40];  /* </a:t>
            </a:r>
            <a:r>
              <a:rPr lang="zh-CN" altLang="en-US" sz="2400" b="1" dirty="0">
                <a:solidFill>
                  <a:schemeClr val="tx1"/>
                </a:solidFill>
                <a:latin typeface="楷体_GB2312" pitchFamily="49" charset="-122"/>
                <a:ea typeface="楷体_GB2312" pitchFamily="49" charset="-122"/>
              </a:rPr>
              <a:t>家庭地址 *</a:t>
            </a:r>
            <a:r>
              <a:rPr lang="en-US" altLang="zh-CN" sz="2400" b="1" dirty="0">
                <a:solidFill>
                  <a:schemeClr val="tx1"/>
                </a:solidFill>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400" b="1" dirty="0">
                <a:solidFill>
                  <a:schemeClr val="tx1"/>
                </a:solidFill>
                <a:latin typeface="楷体_GB2312" pitchFamily="49" charset="-122"/>
                <a:ea typeface="楷体_GB2312" pitchFamily="49" charset="-122"/>
              </a:rPr>
              <a:t>       };</a:t>
            </a:r>
            <a:r>
              <a:rPr lang="en-US" altLang="zh-CN" sz="2400" dirty="0">
                <a:solidFill>
                  <a:schemeClr val="tx1"/>
                </a:solidFill>
                <a:latin typeface="楷体_GB2312" pitchFamily="49" charset="-122"/>
                <a:ea typeface="楷体_GB2312" pitchFamily="49" charset="-122"/>
              </a:rPr>
              <a:t> </a:t>
            </a:r>
          </a:p>
        </p:txBody>
      </p:sp>
      <p:sp>
        <p:nvSpPr>
          <p:cNvPr id="5" name="灯片编号占位符 5"/>
          <p:cNvSpPr>
            <a:spLocks noGrp="1"/>
          </p:cNvSpPr>
          <p:nvPr>
            <p:ph type="sldNum" sz="quarter" idx="12"/>
          </p:nvPr>
        </p:nvSpPr>
        <p:spPr/>
        <p:txBody>
          <a:bodyPr/>
          <a:lstStyle/>
          <a:p>
            <a:pPr>
              <a:defRPr/>
            </a:pPr>
            <a:fld id="{42DCF283-CF80-46EE-B4FC-C69DB51109FD}" type="slidenum">
              <a:rPr lang="en-US" altLang="zh-CN"/>
              <a:pPr>
                <a:defRPr/>
              </a:pPr>
              <a:t>5</a:t>
            </a:fld>
            <a:endParaRPr lang="en-US" altLang="zh-CN"/>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546" name="Rectangle 2"/>
          <p:cNvSpPr>
            <a:spLocks noGrp="1" noChangeArrowheads="1"/>
          </p:cNvSpPr>
          <p:nvPr>
            <p:ph idx="1"/>
          </p:nvPr>
        </p:nvSpPr>
        <p:spPr>
          <a:xfrm>
            <a:off x="323850" y="677863"/>
            <a:ext cx="8496300" cy="5199062"/>
          </a:xfrm>
        </p:spPr>
        <p:txBody>
          <a:bodyPr/>
          <a:lstStyle/>
          <a:p>
            <a:pPr marL="0" indent="0" eaLnBrk="1" hangingPunct="1">
              <a:lnSpc>
                <a:spcPct val="80000"/>
              </a:lnSpc>
              <a:buFont typeface="Monotype Sorts" pitchFamily="2" charset="2"/>
              <a:buNone/>
              <a:defRPr/>
            </a:pPr>
            <a:r>
              <a:rPr lang="zh-CN" altLang="en-US" sz="3200" b="1" dirty="0">
                <a:latin typeface="楷体_GB2312" pitchFamily="49" charset="-122"/>
                <a:ea typeface="楷体_GB2312" pitchFamily="49" charset="-122"/>
              </a:rPr>
              <a:t>上述代码先定义</a:t>
            </a:r>
            <a:r>
              <a:rPr lang="en-US" altLang="zh-CN" sz="3200" b="1" dirty="0">
                <a:latin typeface="楷体_GB2312" pitchFamily="49" charset="-122"/>
                <a:ea typeface="楷体_GB2312" pitchFamily="49" charset="-122"/>
              </a:rPr>
              <a:t>Date</a:t>
            </a:r>
            <a:r>
              <a:rPr lang="zh-CN" altLang="en-US" sz="3200" b="1" dirty="0">
                <a:latin typeface="楷体_GB2312" pitchFamily="49" charset="-122"/>
                <a:ea typeface="楷体_GB2312" pitchFamily="49" charset="-122"/>
              </a:rPr>
              <a:t>结构类型，由</a:t>
            </a:r>
            <a:r>
              <a:rPr lang="en-US" altLang="zh-CN" sz="3200" b="1" dirty="0">
                <a:latin typeface="楷体_GB2312" pitchFamily="49" charset="-122"/>
                <a:ea typeface="楷体_GB2312" pitchFamily="49" charset="-122"/>
              </a:rPr>
              <a:t>day</a:t>
            </a:r>
            <a:r>
              <a:rPr lang="zh-CN" altLang="en-US" sz="3200" b="1" dirty="0">
                <a:latin typeface="楷体_GB2312" pitchFamily="49" charset="-122"/>
                <a:ea typeface="楷体_GB2312" pitchFamily="49" charset="-122"/>
              </a:rPr>
              <a:t>、</a:t>
            </a:r>
            <a:r>
              <a:rPr lang="en-US" altLang="zh-CN" sz="3200" b="1" dirty="0">
                <a:latin typeface="楷体_GB2312" pitchFamily="49" charset="-122"/>
                <a:ea typeface="楷体_GB2312" pitchFamily="49" charset="-122"/>
              </a:rPr>
              <a:t>month</a:t>
            </a:r>
            <a:r>
              <a:rPr lang="zh-CN" altLang="en-US" sz="3200" b="1" dirty="0">
                <a:latin typeface="楷体_GB2312" pitchFamily="49" charset="-122"/>
                <a:ea typeface="楷体_GB2312" pitchFamily="49" charset="-122"/>
              </a:rPr>
              <a:t>和</a:t>
            </a:r>
            <a:r>
              <a:rPr lang="en-US" altLang="zh-CN" sz="3200" b="1" dirty="0">
                <a:latin typeface="楷体_GB2312" pitchFamily="49" charset="-122"/>
                <a:ea typeface="楷体_GB2312" pitchFamily="49" charset="-122"/>
              </a:rPr>
              <a:t>year</a:t>
            </a:r>
            <a:r>
              <a:rPr lang="zh-CN" altLang="en-US" sz="3200" b="1" dirty="0">
                <a:latin typeface="楷体_GB2312" pitchFamily="49" charset="-122"/>
                <a:ea typeface="楷体_GB2312" pitchFamily="49" charset="-122"/>
              </a:rPr>
              <a:t>三个成员组成。</a:t>
            </a:r>
          </a:p>
          <a:p>
            <a:pPr marL="0" indent="0" eaLnBrk="1" hangingPunct="1">
              <a:lnSpc>
                <a:spcPct val="80000"/>
              </a:lnSpc>
              <a:buFont typeface="Monotype Sorts" pitchFamily="2" charset="2"/>
              <a:buNone/>
              <a:defRPr/>
            </a:pPr>
            <a:endParaRPr lang="zh-CN" altLang="en-US" sz="3200" b="1" dirty="0">
              <a:latin typeface="楷体_GB2312" pitchFamily="49" charset="-122"/>
              <a:ea typeface="楷体_GB2312" pitchFamily="49" charset="-122"/>
            </a:endParaRPr>
          </a:p>
          <a:p>
            <a:pPr marL="0" indent="0" eaLnBrk="1" hangingPunct="1">
              <a:lnSpc>
                <a:spcPct val="80000"/>
              </a:lnSpc>
              <a:buFont typeface="Monotype Sorts" pitchFamily="2" charset="2"/>
              <a:buNone/>
              <a:defRPr/>
            </a:pPr>
            <a:r>
              <a:rPr lang="zh-CN" altLang="en-US" sz="3200" b="1" dirty="0">
                <a:latin typeface="楷体_GB2312" pitchFamily="49" charset="-122"/>
                <a:ea typeface="楷体_GB2312" pitchFamily="49" charset="-122"/>
              </a:rPr>
              <a:t>然后在定义</a:t>
            </a:r>
            <a:r>
              <a:rPr lang="en-US" altLang="zh-CN" sz="3200" b="1" dirty="0">
                <a:latin typeface="楷体_GB2312" pitchFamily="49" charset="-122"/>
                <a:ea typeface="楷体_GB2312" pitchFamily="49" charset="-122"/>
              </a:rPr>
              <a:t>student</a:t>
            </a:r>
            <a:r>
              <a:rPr lang="zh-CN" altLang="en-US" sz="3200" b="1" dirty="0">
                <a:latin typeface="楷体_GB2312" pitchFamily="49" charset="-122"/>
                <a:ea typeface="楷体_GB2312" pitchFamily="49" charset="-122"/>
              </a:rPr>
              <a:t>结构类型时，将成员</a:t>
            </a:r>
            <a:r>
              <a:rPr lang="en-US" altLang="zh-CN" sz="3200" b="1" dirty="0">
                <a:latin typeface="楷体_GB2312" pitchFamily="49" charset="-122"/>
                <a:ea typeface="楷体_GB2312" pitchFamily="49" charset="-122"/>
              </a:rPr>
              <a:t>birthday</a:t>
            </a:r>
            <a:r>
              <a:rPr lang="zh-CN" altLang="en-US" sz="3200" b="1" dirty="0">
                <a:latin typeface="楷体_GB2312" pitchFamily="49" charset="-122"/>
                <a:ea typeface="楷体_GB2312" pitchFamily="49" charset="-122"/>
              </a:rPr>
              <a:t>指定为</a:t>
            </a:r>
            <a:r>
              <a:rPr lang="en-US" altLang="zh-CN" sz="3200" b="1" dirty="0">
                <a:latin typeface="楷体_GB2312" pitchFamily="49" charset="-122"/>
                <a:ea typeface="楷体_GB2312" pitchFamily="49" charset="-122"/>
              </a:rPr>
              <a:t>Date</a:t>
            </a:r>
            <a:r>
              <a:rPr lang="zh-CN" altLang="en-US" sz="3200" b="1" dirty="0">
                <a:latin typeface="楷体_GB2312" pitchFamily="49" charset="-122"/>
                <a:ea typeface="楷体_GB2312" pitchFamily="49" charset="-122"/>
              </a:rPr>
              <a:t>结构类型，使类型</a:t>
            </a:r>
            <a:r>
              <a:rPr lang="en-US" altLang="zh-CN" sz="3200" b="1" dirty="0">
                <a:latin typeface="楷体_GB2312" pitchFamily="49" charset="-122"/>
                <a:ea typeface="楷体_GB2312" pitchFamily="49" charset="-122"/>
              </a:rPr>
              <a:t>student</a:t>
            </a:r>
            <a:r>
              <a:rPr lang="zh-CN" altLang="en-US" sz="3200" b="1" dirty="0">
                <a:latin typeface="楷体_GB2312" pitchFamily="49" charset="-122"/>
                <a:ea typeface="楷体_GB2312" pitchFamily="49" charset="-122"/>
              </a:rPr>
              <a:t>是一个嵌套的结构类型。</a:t>
            </a:r>
          </a:p>
          <a:p>
            <a:pPr marL="0" indent="0" eaLnBrk="1" hangingPunct="1">
              <a:lnSpc>
                <a:spcPct val="80000"/>
              </a:lnSpc>
              <a:buFont typeface="Monotype Sorts" pitchFamily="2" charset="2"/>
              <a:buNone/>
              <a:defRPr/>
            </a:pPr>
            <a:endParaRPr lang="zh-CN" altLang="en-US" sz="3200" b="1" dirty="0">
              <a:latin typeface="楷体_GB2312" pitchFamily="49" charset="-122"/>
              <a:ea typeface="楷体_GB2312" pitchFamily="49" charset="-122"/>
            </a:endParaRPr>
          </a:p>
          <a:p>
            <a:pPr marL="0" indent="0" eaLnBrk="1" hangingPunct="1">
              <a:lnSpc>
                <a:spcPct val="80000"/>
              </a:lnSpc>
              <a:buFont typeface="Monotype Sorts" pitchFamily="2" charset="2"/>
              <a:buNone/>
              <a:defRPr/>
            </a:pPr>
            <a:r>
              <a:rPr lang="zh-CN" altLang="en-US" sz="3200" b="1" dirty="0">
                <a:latin typeface="楷体_GB2312" pitchFamily="49" charset="-122"/>
                <a:ea typeface="楷体_GB2312" pitchFamily="49" charset="-122"/>
              </a:rPr>
              <a:t>在实际应用中，为表示复杂的数据结构，常常用到这种嵌套的结构类型。在结构类型中有数组和结构成员，数组的元素又是结构，结构中又有结构，嵌套层次会有许多层。</a:t>
            </a:r>
          </a:p>
        </p:txBody>
      </p:sp>
      <p:sp>
        <p:nvSpPr>
          <p:cNvPr id="5" name="灯片编号占位符 5"/>
          <p:cNvSpPr>
            <a:spLocks noGrp="1"/>
          </p:cNvSpPr>
          <p:nvPr>
            <p:ph type="sldNum" sz="quarter" idx="12"/>
          </p:nvPr>
        </p:nvSpPr>
        <p:spPr/>
        <p:txBody>
          <a:bodyPr/>
          <a:lstStyle/>
          <a:p>
            <a:pPr>
              <a:defRPr/>
            </a:pPr>
            <a:fld id="{8BBCC4CD-7E91-4A5E-9EB0-564E49D77522}" type="slidenum">
              <a:rPr lang="en-US" altLang="zh-CN"/>
              <a:pPr>
                <a:defRPr/>
              </a:pPr>
              <a:t>6</a:t>
            </a:fld>
            <a:endParaRPr lang="en-US" altLang="zh-CN"/>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4" name="Rectangle 2"/>
          <p:cNvSpPr>
            <a:spLocks noGrp="1" noChangeArrowheads="1"/>
          </p:cNvSpPr>
          <p:nvPr>
            <p:ph idx="1"/>
          </p:nvPr>
        </p:nvSpPr>
        <p:spPr>
          <a:xfrm>
            <a:off x="323850" y="677862"/>
            <a:ext cx="8496300" cy="5465781"/>
          </a:xfrm>
        </p:spPr>
        <p:txBody>
          <a:bodyPr>
            <a:normAutofit fontScale="85000" lnSpcReduction="10000"/>
          </a:bodyPr>
          <a:lstStyle/>
          <a:p>
            <a:pPr marL="0" indent="0" eaLnBrk="1" hangingPunct="1">
              <a:lnSpc>
                <a:spcPct val="110000"/>
              </a:lnSpc>
              <a:buFont typeface="Monotype Sorts" pitchFamily="2" charset="2"/>
              <a:buNone/>
              <a:defRPr/>
            </a:pPr>
            <a:r>
              <a:rPr lang="zh-CN" altLang="en-US" sz="3800" b="1" dirty="0">
                <a:latin typeface="黑体" pitchFamily="2" charset="-122"/>
                <a:ea typeface="黑体" pitchFamily="2" charset="-122"/>
              </a:rPr>
              <a:t>结构变量</a:t>
            </a:r>
          </a:p>
          <a:p>
            <a:pPr marL="0" indent="0" eaLnBrk="1" hangingPunct="1">
              <a:lnSpc>
                <a:spcPct val="110000"/>
              </a:lnSpc>
              <a:buFont typeface="Monotype Sorts" pitchFamily="2" charset="2"/>
              <a:buNone/>
              <a:defRPr/>
            </a:pPr>
            <a:endParaRPr lang="zh-CN" altLang="en-US" b="1" dirty="0">
              <a:effectLst>
                <a:outerShdw blurRad="38100" dist="38100" dir="2700000" algn="tl">
                  <a:srgbClr val="000000"/>
                </a:outerShdw>
              </a:effectLst>
              <a:latin typeface="楷体_GB2312" pitchFamily="49" charset="-122"/>
              <a:ea typeface="楷体_GB2312" pitchFamily="49" charset="-122"/>
            </a:endParaRPr>
          </a:p>
          <a:p>
            <a:pPr marL="0" indent="0" eaLnBrk="1" hangingPunct="1">
              <a:lnSpc>
                <a:spcPct val="110000"/>
              </a:lnSpc>
              <a:buFont typeface="Monotype Sorts" pitchFamily="2" charset="2"/>
              <a:buNone/>
              <a:defRPr/>
            </a:pPr>
            <a:r>
              <a:rPr lang="zh-CN" altLang="en-US" sz="3200" b="1" dirty="0">
                <a:latin typeface="楷体_GB2312" pitchFamily="49" charset="-122"/>
                <a:ea typeface="楷体_GB2312" pitchFamily="49" charset="-122"/>
              </a:rPr>
              <a:t>在</a:t>
            </a:r>
            <a:r>
              <a:rPr lang="zh-CN" altLang="en-US" sz="3200" b="1" dirty="0">
                <a:solidFill>
                  <a:srgbClr val="C00000"/>
                </a:solidFill>
                <a:latin typeface="楷体_GB2312" pitchFamily="49" charset="-122"/>
                <a:ea typeface="楷体_GB2312" pitchFamily="49" charset="-122"/>
              </a:rPr>
              <a:t>结构类型定义</a:t>
            </a:r>
            <a:r>
              <a:rPr lang="zh-CN" altLang="en-US" sz="3200" b="1" dirty="0">
                <a:latin typeface="楷体_GB2312" pitchFamily="49" charset="-122"/>
                <a:ea typeface="楷体_GB2312" pitchFamily="49" charset="-122"/>
              </a:rPr>
              <a:t>中，详细列出了结构类型所包含的每个成员的名称及其类型。实际上，结构类型定义只是表明一类实体其数据属性的</a:t>
            </a:r>
            <a:r>
              <a:rPr lang="zh-CN" altLang="en-US" sz="3200" b="1" dirty="0">
                <a:ea typeface="楷体_GB2312" pitchFamily="49" charset="-122"/>
              </a:rPr>
              <a:t>“</a:t>
            </a:r>
            <a:r>
              <a:rPr lang="zh-CN" altLang="en-US" sz="3200" b="1" dirty="0">
                <a:solidFill>
                  <a:srgbClr val="C00000"/>
                </a:solidFill>
                <a:latin typeface="楷体_GB2312" pitchFamily="49" charset="-122"/>
                <a:ea typeface="楷体_GB2312" pitchFamily="49" charset="-122"/>
              </a:rPr>
              <a:t>模式</a:t>
            </a:r>
            <a:r>
              <a:rPr lang="zh-CN" altLang="en-US" sz="3200" b="1" dirty="0">
                <a:ea typeface="楷体_GB2312" pitchFamily="49" charset="-122"/>
              </a:rPr>
              <a:t>”</a:t>
            </a:r>
            <a:r>
              <a:rPr lang="zh-CN" altLang="en-US" sz="3200" b="1" dirty="0">
                <a:latin typeface="楷体_GB2312" pitchFamily="49" charset="-122"/>
                <a:ea typeface="楷体_GB2312" pitchFamily="49" charset="-122"/>
              </a:rPr>
              <a:t>，并不定义一个特定的数据实体，因此</a:t>
            </a:r>
            <a:r>
              <a:rPr lang="zh-CN" altLang="en-US" sz="3200" b="1" dirty="0">
                <a:solidFill>
                  <a:srgbClr val="C00000"/>
                </a:solidFill>
                <a:latin typeface="楷体_GB2312" pitchFamily="49" charset="-122"/>
                <a:ea typeface="楷体_GB2312" pitchFamily="49" charset="-122"/>
              </a:rPr>
              <a:t>不分配存储单元。</a:t>
            </a:r>
          </a:p>
          <a:p>
            <a:pPr marL="0" indent="0" eaLnBrk="1" hangingPunct="1">
              <a:lnSpc>
                <a:spcPct val="110000"/>
              </a:lnSpc>
              <a:buFont typeface="Monotype Sorts" pitchFamily="2" charset="2"/>
              <a:buNone/>
              <a:defRPr/>
            </a:pPr>
            <a:endParaRPr lang="zh-CN" altLang="en-US" sz="3200" b="1" dirty="0">
              <a:latin typeface="楷体_GB2312" pitchFamily="49" charset="-122"/>
              <a:ea typeface="楷体_GB2312" pitchFamily="49" charset="-122"/>
            </a:endParaRPr>
          </a:p>
          <a:p>
            <a:pPr marL="0" indent="0" eaLnBrk="1" hangingPunct="1">
              <a:lnSpc>
                <a:spcPct val="110000"/>
              </a:lnSpc>
              <a:buFont typeface="Monotype Sorts" pitchFamily="2" charset="2"/>
              <a:buNone/>
              <a:defRPr/>
            </a:pPr>
            <a:r>
              <a:rPr lang="zh-CN" altLang="en-US" sz="3200" b="1" dirty="0">
                <a:solidFill>
                  <a:srgbClr val="C00000"/>
                </a:solidFill>
                <a:latin typeface="楷体_GB2312" pitchFamily="49" charset="-122"/>
                <a:ea typeface="楷体_GB2312" pitchFamily="49" charset="-122"/>
              </a:rPr>
              <a:t>程序如果要实际使用结构类型所描述的数据信息，就必须定义结构变量。</a:t>
            </a:r>
            <a:r>
              <a:rPr lang="zh-CN" altLang="en-US" sz="3200" b="1" dirty="0">
                <a:latin typeface="楷体_GB2312" pitchFamily="49" charset="-122"/>
                <a:ea typeface="楷体_GB2312" pitchFamily="49" charset="-122"/>
              </a:rPr>
              <a:t>结构变量要占用存储单元，能存放如结构类型所描述的具体数据。对结构类型和结构变量，我们可以简单地理解为，结构类型是表示数据框架的描述文本，结构变量才能存放实际数据。</a:t>
            </a:r>
            <a:r>
              <a:rPr lang="zh-CN" altLang="en-US" sz="3200" dirty="0">
                <a:latin typeface="楷体_GB2312" pitchFamily="49" charset="-122"/>
                <a:ea typeface="楷体_GB2312" pitchFamily="49" charset="-122"/>
              </a:rPr>
              <a:t> </a:t>
            </a:r>
          </a:p>
        </p:txBody>
      </p:sp>
      <p:sp>
        <p:nvSpPr>
          <p:cNvPr id="5" name="灯片编号占位符 5"/>
          <p:cNvSpPr>
            <a:spLocks noGrp="1"/>
          </p:cNvSpPr>
          <p:nvPr>
            <p:ph type="sldNum" sz="quarter" idx="12"/>
          </p:nvPr>
        </p:nvSpPr>
        <p:spPr/>
        <p:txBody>
          <a:bodyPr/>
          <a:lstStyle/>
          <a:p>
            <a:pPr>
              <a:defRPr/>
            </a:pPr>
            <a:fld id="{191C7270-7EDF-457D-8139-3EC3A39ED2E6}" type="slidenum">
              <a:rPr lang="en-US" altLang="zh-CN"/>
              <a:pPr>
                <a:defRPr/>
              </a:pPr>
              <a:t>7</a:t>
            </a:fld>
            <a:endParaRPr lang="en-US" altLang="zh-CN"/>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901" name="Rectangle 2053"/>
          <p:cNvSpPr>
            <a:spLocks noGrp="1" noChangeArrowheads="1"/>
          </p:cNvSpPr>
          <p:nvPr>
            <p:ph type="title"/>
          </p:nvPr>
        </p:nvSpPr>
        <p:spPr>
          <a:xfrm>
            <a:off x="539750" y="260350"/>
            <a:ext cx="7920038" cy="720725"/>
          </a:xfrm>
        </p:spPr>
        <p:txBody>
          <a:bodyPr>
            <a:normAutofit fontScale="90000"/>
          </a:bodyPr>
          <a:lstStyle/>
          <a:p>
            <a:pPr eaLnBrk="1" hangingPunct="1">
              <a:lnSpc>
                <a:spcPct val="100000"/>
              </a:lnSpc>
              <a:defRPr/>
            </a:pPr>
            <a:r>
              <a:rPr lang="zh-CN" altLang="en-US" dirty="0">
                <a:solidFill>
                  <a:schemeClr val="tx1"/>
                </a:solidFill>
                <a:latin typeface="黑体" pitchFamily="2" charset="-122"/>
                <a:ea typeface="黑体" pitchFamily="2" charset="-122"/>
              </a:rPr>
              <a:t>结构变量的定义</a:t>
            </a:r>
          </a:p>
        </p:txBody>
      </p:sp>
      <p:sp>
        <p:nvSpPr>
          <p:cNvPr id="592899" name="Rectangle 2051"/>
          <p:cNvSpPr>
            <a:spLocks noGrp="1" noChangeArrowheads="1"/>
          </p:cNvSpPr>
          <p:nvPr>
            <p:ph idx="1"/>
          </p:nvPr>
        </p:nvSpPr>
        <p:spPr>
          <a:xfrm>
            <a:off x="250825" y="1052513"/>
            <a:ext cx="8642350" cy="5272087"/>
          </a:xfrm>
        </p:spPr>
        <p:txBody>
          <a:bodyPr/>
          <a:lstStyle/>
          <a:p>
            <a:pPr marL="1071563" indent="-1071563" algn="just" eaLnBrk="1" hangingPunct="1">
              <a:lnSpc>
                <a:spcPct val="115000"/>
              </a:lnSpc>
              <a:buClr>
                <a:srgbClr val="FF6600"/>
              </a:buClr>
              <a:buSzPct val="55000"/>
              <a:buFont typeface="Wingdings" pitchFamily="2" charset="2"/>
              <a:buNone/>
              <a:defRPr/>
            </a:pPr>
            <a:r>
              <a:rPr lang="zh-CN" altLang="en-US" sz="3200" b="1" dirty="0">
                <a:latin typeface="楷体_GB2312" pitchFamily="49" charset="-122"/>
                <a:ea typeface="楷体_GB2312" pitchFamily="49" charset="-122"/>
              </a:rPr>
              <a:t>（</a:t>
            </a:r>
            <a:r>
              <a:rPr lang="en-US" altLang="zh-CN" sz="3200" b="1" dirty="0">
                <a:latin typeface="楷体_GB2312" pitchFamily="49" charset="-122"/>
                <a:ea typeface="楷体_GB2312" pitchFamily="49" charset="-122"/>
              </a:rPr>
              <a:t>1）</a:t>
            </a:r>
            <a:r>
              <a:rPr lang="zh-CN" altLang="en-US" sz="3200" b="1" dirty="0">
                <a:latin typeface="楷体_GB2312" pitchFamily="49" charset="-122"/>
                <a:ea typeface="楷体_GB2312" pitchFamily="49" charset="-122"/>
              </a:rPr>
              <a:t>先定义结构类型，再定义结构变量</a:t>
            </a:r>
          </a:p>
          <a:p>
            <a:pPr marL="1071563" indent="-1071563" algn="just" eaLnBrk="1" hangingPunct="1">
              <a:lnSpc>
                <a:spcPct val="115000"/>
              </a:lnSpc>
              <a:buClr>
                <a:srgbClr val="FF6600"/>
              </a:buClr>
              <a:buSzPct val="55000"/>
              <a:buFont typeface="Wingdings" pitchFamily="2" charset="2"/>
              <a:buNone/>
              <a:defRPr/>
            </a:pPr>
            <a:r>
              <a:rPr lang="zh-CN" altLang="en-US" sz="2400" b="1" dirty="0">
                <a:latin typeface="楷体_GB2312" pitchFamily="49" charset="-122"/>
                <a:ea typeface="楷体_GB2312" pitchFamily="49" charset="-122"/>
              </a:rPr>
              <a:t>形式：</a:t>
            </a:r>
            <a:r>
              <a:rPr lang="en-US" altLang="zh-CN" sz="2400" b="1" dirty="0" err="1">
                <a:latin typeface="楷体_GB2312" pitchFamily="49" charset="-122"/>
                <a:ea typeface="楷体_GB2312" pitchFamily="49" charset="-122"/>
              </a:rPr>
              <a:t>struct</a:t>
            </a: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结构类型名  结构变量表； </a:t>
            </a:r>
            <a:r>
              <a:rPr lang="en-US" altLang="zh-CN" sz="2400" b="1" dirty="0">
                <a:latin typeface="楷体_GB2312" pitchFamily="49" charset="-122"/>
                <a:ea typeface="楷体_GB2312" pitchFamily="49" charset="-122"/>
              </a:rPr>
              <a:t>//C</a:t>
            </a:r>
            <a:r>
              <a:rPr lang="zh-CN" altLang="en-US" sz="2400" b="1" dirty="0">
                <a:latin typeface="楷体_GB2312" pitchFamily="49" charset="-122"/>
                <a:ea typeface="楷体_GB2312" pitchFamily="49" charset="-122"/>
              </a:rPr>
              <a:t>句法</a:t>
            </a:r>
          </a:p>
          <a:p>
            <a:pPr marL="1071563" indent="-1071563" eaLnBrk="1" hangingPunct="1">
              <a:lnSpc>
                <a:spcPct val="115000"/>
              </a:lnSpc>
              <a:buClr>
                <a:srgbClr val="FF6600"/>
              </a:buClr>
              <a:buSzPct val="55000"/>
              <a:buFont typeface="Wingdings" pitchFamily="2" charset="2"/>
              <a:buNone/>
              <a:defRPr/>
            </a:pPr>
            <a:endParaRPr lang="en-US" altLang="zh-CN" sz="2400" b="1" dirty="0">
              <a:latin typeface="楷体_GB2312" pitchFamily="49" charset="-122"/>
              <a:ea typeface="楷体_GB2312" pitchFamily="49" charset="-122"/>
            </a:endParaRPr>
          </a:p>
          <a:p>
            <a:pPr marL="1071563" indent="-1071563" eaLnBrk="1" hangingPunct="1">
              <a:lnSpc>
                <a:spcPct val="115000"/>
              </a:lnSpc>
              <a:buClr>
                <a:srgbClr val="FF6600"/>
              </a:buClr>
              <a:buSzPct val="55000"/>
              <a:buFont typeface="Wingdings" pitchFamily="2" charset="2"/>
              <a:buNone/>
              <a:defRPr/>
            </a:pPr>
            <a:r>
              <a:rPr lang="zh-CN" altLang="en-US" sz="2400" b="1" dirty="0">
                <a:latin typeface="楷体_GB2312" pitchFamily="49" charset="-122"/>
                <a:ea typeface="楷体_GB2312" pitchFamily="49" charset="-122"/>
              </a:rPr>
              <a:t>例如</a:t>
            </a:r>
            <a:r>
              <a:rPr lang="zh-CN" altLang="en-US" sz="2400" b="1" dirty="0">
                <a:latin typeface="楷体_GB2312" pitchFamily="49" charset="-122"/>
                <a:ea typeface="楷体_GB2312" pitchFamily="49" charset="-122"/>
                <a:sym typeface="Wingdings" pitchFamily="2" charset="2"/>
              </a:rPr>
              <a:t>：</a:t>
            </a:r>
            <a:r>
              <a:rPr lang="zh-CN" altLang="en-US" sz="2400" b="1" dirty="0">
                <a:latin typeface="楷体_GB2312" pitchFamily="49" charset="-122"/>
                <a:ea typeface="楷体_GB2312" pitchFamily="49" charset="-122"/>
              </a:rPr>
              <a:t>利用前面已定义的结构类型 </a:t>
            </a:r>
            <a:r>
              <a:rPr lang="en-US" altLang="zh-CN" sz="2400" b="1" dirty="0" err="1">
                <a:latin typeface="楷体_GB2312" pitchFamily="49" charset="-122"/>
                <a:ea typeface="楷体_GB2312" pitchFamily="49" charset="-122"/>
              </a:rPr>
              <a:t>struct</a:t>
            </a:r>
            <a:r>
              <a:rPr lang="en-US" altLang="zh-CN" sz="2400" b="1" dirty="0">
                <a:latin typeface="楷体_GB2312" pitchFamily="49" charset="-122"/>
                <a:ea typeface="楷体_GB2312" pitchFamily="49" charset="-122"/>
              </a:rPr>
              <a:t>  student</a:t>
            </a:r>
          </a:p>
          <a:p>
            <a:pPr marL="1071563" indent="-1071563" eaLnBrk="1" hangingPunct="1">
              <a:lnSpc>
                <a:spcPct val="115000"/>
              </a:lnSpc>
              <a:buClr>
                <a:srgbClr val="FF6600"/>
              </a:buClr>
              <a:buSzPct val="55000"/>
              <a:buFont typeface="Wingdings" pitchFamily="2" charset="2"/>
              <a:buNone/>
              <a:defRPr/>
            </a:pPr>
            <a:r>
              <a:rPr lang="zh-CN" altLang="en-US" sz="2400" b="1" dirty="0">
                <a:latin typeface="楷体_GB2312" pitchFamily="49" charset="-122"/>
                <a:ea typeface="楷体_GB2312" pitchFamily="49" charset="-122"/>
              </a:rPr>
              <a:t>代码： </a:t>
            </a:r>
            <a:r>
              <a:rPr lang="en-US" altLang="zh-CN" sz="2400" b="1" dirty="0" err="1">
                <a:latin typeface="楷体_GB2312" pitchFamily="49" charset="-122"/>
                <a:ea typeface="楷体_GB2312" pitchFamily="49" charset="-122"/>
              </a:rPr>
              <a:t>struct</a:t>
            </a:r>
            <a:r>
              <a:rPr lang="en-US" altLang="zh-CN" sz="2400" b="1" dirty="0">
                <a:latin typeface="楷体_GB2312" pitchFamily="49" charset="-122"/>
                <a:ea typeface="楷体_GB2312" pitchFamily="49" charset="-122"/>
              </a:rPr>
              <a:t>  student  st1,  st2;//C</a:t>
            </a:r>
            <a:r>
              <a:rPr lang="zh-CN" altLang="en-US" sz="2400" b="1" dirty="0">
                <a:latin typeface="楷体_GB2312" pitchFamily="49" charset="-122"/>
                <a:ea typeface="楷体_GB2312" pitchFamily="49" charset="-122"/>
              </a:rPr>
              <a:t>句法</a:t>
            </a:r>
          </a:p>
          <a:p>
            <a:pPr marL="1071563" indent="-1071563" eaLnBrk="1" hangingPunct="1">
              <a:lnSpc>
                <a:spcPct val="115000"/>
              </a:lnSpc>
              <a:buClr>
                <a:srgbClr val="FF6600"/>
              </a:buClr>
              <a:buSzPct val="55000"/>
              <a:buFont typeface="Wingdings" pitchFamily="2" charset="2"/>
              <a:buNone/>
              <a:defRPr/>
            </a:pPr>
            <a:endParaRPr lang="en-US" altLang="zh-CN" sz="2400" b="1" dirty="0">
              <a:latin typeface="楷体_GB2312" pitchFamily="49" charset="-122"/>
              <a:ea typeface="楷体_GB2312" pitchFamily="49" charset="-122"/>
            </a:endParaRPr>
          </a:p>
          <a:p>
            <a:pPr marL="1071563" indent="-1071563" eaLnBrk="1" hangingPunct="1">
              <a:lnSpc>
                <a:spcPct val="115000"/>
              </a:lnSpc>
              <a:buClr>
                <a:srgbClr val="FF6600"/>
              </a:buClr>
              <a:buSzPct val="55000"/>
              <a:buFont typeface="Wingdings" pitchFamily="2" charset="2"/>
              <a:buNone/>
              <a:defRPr/>
            </a:pPr>
            <a:r>
              <a:rPr lang="zh-CN" altLang="en-US" sz="2400" b="1" dirty="0">
                <a:latin typeface="楷体_GB2312" pitchFamily="49" charset="-122"/>
                <a:ea typeface="楷体_GB2312" pitchFamily="49" charset="-122"/>
              </a:rPr>
              <a:t>表示：定义了两个结构变量</a:t>
            </a:r>
            <a:r>
              <a:rPr lang="en-US" altLang="zh-CN" sz="2400" b="1" dirty="0">
                <a:latin typeface="楷体_GB2312" pitchFamily="49" charset="-122"/>
                <a:ea typeface="楷体_GB2312" pitchFamily="49" charset="-122"/>
              </a:rPr>
              <a:t>st1</a:t>
            </a:r>
            <a:r>
              <a:rPr lang="zh-CN" altLang="en-US" sz="2400" b="1" dirty="0">
                <a:latin typeface="楷体_GB2312" pitchFamily="49" charset="-122"/>
                <a:ea typeface="楷体_GB2312" pitchFamily="49" charset="-122"/>
              </a:rPr>
              <a:t>和</a:t>
            </a:r>
            <a:r>
              <a:rPr lang="en-US" altLang="zh-CN" sz="2400" b="1" dirty="0">
                <a:latin typeface="楷体_GB2312" pitchFamily="49" charset="-122"/>
                <a:ea typeface="楷体_GB2312" pitchFamily="49" charset="-122"/>
              </a:rPr>
              <a:t>st2</a:t>
            </a:r>
            <a:r>
              <a:rPr lang="zh-CN" altLang="en-US" sz="2400" b="1" dirty="0">
                <a:latin typeface="楷体_GB2312" pitchFamily="49" charset="-122"/>
                <a:ea typeface="楷体_GB2312" pitchFamily="49" charset="-122"/>
              </a:rPr>
              <a:t>，它的的元素类型为 </a:t>
            </a:r>
            <a:r>
              <a:rPr lang="en-US" altLang="zh-CN" sz="2400" b="1" dirty="0" err="1">
                <a:latin typeface="楷体_GB2312" pitchFamily="49" charset="-122"/>
                <a:ea typeface="楷体_GB2312" pitchFamily="49" charset="-122"/>
              </a:rPr>
              <a:t>struct</a:t>
            </a:r>
            <a:r>
              <a:rPr lang="en-US" altLang="zh-CN" sz="2400" b="1" dirty="0">
                <a:latin typeface="楷体_GB2312" pitchFamily="49" charset="-122"/>
                <a:ea typeface="楷体_GB2312" pitchFamily="49" charset="-122"/>
              </a:rPr>
              <a:t> student</a:t>
            </a:r>
            <a:r>
              <a:rPr lang="zh-CN" altLang="en-US" sz="2400" b="1" dirty="0">
                <a:latin typeface="楷体_GB2312" pitchFamily="49" charset="-122"/>
                <a:ea typeface="楷体_GB2312" pitchFamily="49" charset="-122"/>
              </a:rPr>
              <a:t>结构类型。</a:t>
            </a:r>
          </a:p>
          <a:p>
            <a:pPr marL="1071563" indent="-1071563" eaLnBrk="1" hangingPunct="1">
              <a:lnSpc>
                <a:spcPct val="115000"/>
              </a:lnSpc>
              <a:buClr>
                <a:srgbClr val="FF6600"/>
              </a:buClr>
              <a:buSzPct val="55000"/>
              <a:buFont typeface="Wingdings" pitchFamily="2" charset="2"/>
              <a:buNone/>
              <a:defRPr/>
            </a:pPr>
            <a:r>
              <a:rPr lang="zh-CN" altLang="en-US" sz="2400" b="1" dirty="0">
                <a:latin typeface="楷体_GB2312" pitchFamily="49" charset="-122"/>
                <a:ea typeface="楷体_GB2312" pitchFamily="49" charset="-122"/>
              </a:rPr>
              <a:t>说明：结构变量 </a:t>
            </a:r>
            <a:r>
              <a:rPr lang="en-US" altLang="zh-CN" sz="2400" b="1" dirty="0">
                <a:latin typeface="楷体_GB2312" pitchFamily="49" charset="-122"/>
                <a:ea typeface="楷体_GB2312" pitchFamily="49" charset="-122"/>
              </a:rPr>
              <a:t>st1 </a:t>
            </a:r>
            <a:r>
              <a:rPr lang="zh-CN" altLang="en-US" sz="2400" b="1" dirty="0">
                <a:latin typeface="楷体_GB2312" pitchFamily="49" charset="-122"/>
                <a:ea typeface="楷体_GB2312" pitchFamily="49" charset="-122"/>
              </a:rPr>
              <a:t>和 </a:t>
            </a:r>
            <a:r>
              <a:rPr lang="en-US" altLang="zh-CN" sz="2400" b="1" dirty="0">
                <a:latin typeface="楷体_GB2312" pitchFamily="49" charset="-122"/>
                <a:ea typeface="楷体_GB2312" pitchFamily="49" charset="-122"/>
              </a:rPr>
              <a:t>st2 </a:t>
            </a:r>
            <a:r>
              <a:rPr lang="zh-CN" altLang="en-US" sz="2400" b="1" dirty="0">
                <a:latin typeface="楷体_GB2312" pitchFamily="49" charset="-122"/>
                <a:ea typeface="楷体_GB2312" pitchFamily="49" charset="-122"/>
              </a:rPr>
              <a:t>将具有 </a:t>
            </a:r>
            <a:r>
              <a:rPr lang="en-US" altLang="zh-CN" sz="2400" b="1" dirty="0" err="1">
                <a:latin typeface="楷体_GB2312" pitchFamily="49" charset="-122"/>
                <a:ea typeface="楷体_GB2312" pitchFamily="49" charset="-122"/>
              </a:rPr>
              <a:t>struct</a:t>
            </a:r>
            <a:r>
              <a:rPr lang="en-US" altLang="zh-CN" sz="2400" b="1" dirty="0">
                <a:latin typeface="楷体_GB2312" pitchFamily="49" charset="-122"/>
                <a:ea typeface="楷体_GB2312" pitchFamily="49" charset="-122"/>
              </a:rPr>
              <a:t> student </a:t>
            </a:r>
            <a:r>
              <a:rPr lang="zh-CN" altLang="en-US" sz="2400" b="1" dirty="0">
                <a:latin typeface="楷体_GB2312" pitchFamily="49" charset="-122"/>
                <a:ea typeface="楷体_GB2312" pitchFamily="49" charset="-122"/>
              </a:rPr>
              <a:t>类型的结构。</a:t>
            </a:r>
          </a:p>
        </p:txBody>
      </p:sp>
      <p:sp>
        <p:nvSpPr>
          <p:cNvPr id="6" name="灯片编号占位符 5"/>
          <p:cNvSpPr>
            <a:spLocks noGrp="1"/>
          </p:cNvSpPr>
          <p:nvPr>
            <p:ph type="sldNum" sz="quarter" idx="12"/>
          </p:nvPr>
        </p:nvSpPr>
        <p:spPr/>
        <p:txBody>
          <a:bodyPr/>
          <a:lstStyle/>
          <a:p>
            <a:pPr>
              <a:defRPr/>
            </a:pPr>
            <a:fld id="{C139F16F-AE3E-434D-A425-10F96CD98594}" type="slidenum">
              <a:rPr lang="en-US" altLang="zh-CN"/>
              <a:pPr>
                <a:defRPr/>
              </a:pPr>
              <a:t>8</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92899">
                                            <p:txEl>
                                              <p:pRg st="3" end="3"/>
                                            </p:txEl>
                                          </p:spTgt>
                                        </p:tgtEl>
                                        <p:attrNameLst>
                                          <p:attrName>style.visibility</p:attrName>
                                        </p:attrNameLst>
                                      </p:cBhvr>
                                      <p:to>
                                        <p:strVal val="visible"/>
                                      </p:to>
                                    </p:set>
                                    <p:anim calcmode="lin" valueType="num">
                                      <p:cBhvr additive="base">
                                        <p:cTn id="7" dur="500" fill="hold"/>
                                        <p:tgtEl>
                                          <p:spTgt spid="592899">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92899">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92899">
                                            <p:txEl>
                                              <p:pRg st="4" end="4"/>
                                            </p:txEl>
                                          </p:spTgt>
                                        </p:tgtEl>
                                        <p:attrNameLst>
                                          <p:attrName>style.visibility</p:attrName>
                                        </p:attrNameLst>
                                      </p:cBhvr>
                                      <p:to>
                                        <p:strVal val="visible"/>
                                      </p:to>
                                    </p:set>
                                    <p:anim calcmode="lin" valueType="num">
                                      <p:cBhvr additive="base">
                                        <p:cTn id="11" dur="500" fill="hold"/>
                                        <p:tgtEl>
                                          <p:spTgt spid="592899">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9289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92899">
                                            <p:txEl>
                                              <p:pRg st="6" end="6"/>
                                            </p:txEl>
                                          </p:spTgt>
                                        </p:tgtEl>
                                        <p:attrNameLst>
                                          <p:attrName>style.visibility</p:attrName>
                                        </p:attrNameLst>
                                      </p:cBhvr>
                                      <p:to>
                                        <p:strVal val="visible"/>
                                      </p:to>
                                    </p:set>
                                    <p:anim calcmode="lin" valueType="num">
                                      <p:cBhvr additive="base">
                                        <p:cTn id="17" dur="500" fill="hold"/>
                                        <p:tgtEl>
                                          <p:spTgt spid="592899">
                                            <p:txEl>
                                              <p:pRg st="6" end="6"/>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92899">
                                            <p:txEl>
                                              <p:pRg st="6" end="6"/>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92899">
                                            <p:txEl>
                                              <p:pRg st="7" end="7"/>
                                            </p:txEl>
                                          </p:spTgt>
                                        </p:tgtEl>
                                        <p:attrNameLst>
                                          <p:attrName>style.visibility</p:attrName>
                                        </p:attrNameLst>
                                      </p:cBhvr>
                                      <p:to>
                                        <p:strVal val="visible"/>
                                      </p:to>
                                    </p:set>
                                    <p:anim calcmode="lin" valueType="num">
                                      <p:cBhvr additive="base">
                                        <p:cTn id="21" dur="500" fill="hold"/>
                                        <p:tgtEl>
                                          <p:spTgt spid="592899">
                                            <p:txEl>
                                              <p:pRg st="7" end="7"/>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9289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24828" name="Group 188"/>
          <p:cNvGraphicFramePr>
            <a:graphicFrameLocks noGrp="1"/>
          </p:cNvGraphicFramePr>
          <p:nvPr>
            <p:ph/>
            <p:extLst>
              <p:ext uri="{D42A27DB-BD31-4B8C-83A1-F6EECF244321}">
                <p14:modId xmlns:p14="http://schemas.microsoft.com/office/powerpoint/2010/main" val="2404942929"/>
              </p:ext>
            </p:extLst>
          </p:nvPr>
        </p:nvGraphicFramePr>
        <p:xfrm>
          <a:off x="251520" y="1178343"/>
          <a:ext cx="8304212" cy="1973263"/>
        </p:xfrm>
        <a:graphic>
          <a:graphicData uri="http://schemas.openxmlformats.org/drawingml/2006/table">
            <a:tbl>
              <a:tblPr/>
              <a:tblGrid>
                <a:gridCol w="908050">
                  <a:extLst>
                    <a:ext uri="{9D8B030D-6E8A-4147-A177-3AD203B41FA5}">
                      <a16:colId xmlns:a16="http://schemas.microsoft.com/office/drawing/2014/main" val="20000"/>
                    </a:ext>
                  </a:extLst>
                </a:gridCol>
                <a:gridCol w="906462">
                  <a:extLst>
                    <a:ext uri="{9D8B030D-6E8A-4147-A177-3AD203B41FA5}">
                      <a16:colId xmlns:a16="http://schemas.microsoft.com/office/drawing/2014/main" val="20001"/>
                    </a:ext>
                  </a:extLst>
                </a:gridCol>
                <a:gridCol w="1633538">
                  <a:extLst>
                    <a:ext uri="{9D8B030D-6E8A-4147-A177-3AD203B41FA5}">
                      <a16:colId xmlns:a16="http://schemas.microsoft.com/office/drawing/2014/main" val="20002"/>
                    </a:ext>
                  </a:extLst>
                </a:gridCol>
                <a:gridCol w="544512">
                  <a:extLst>
                    <a:ext uri="{9D8B030D-6E8A-4147-A177-3AD203B41FA5}">
                      <a16:colId xmlns:a16="http://schemas.microsoft.com/office/drawing/2014/main" val="20003"/>
                    </a:ext>
                  </a:extLst>
                </a:gridCol>
                <a:gridCol w="727075">
                  <a:extLst>
                    <a:ext uri="{9D8B030D-6E8A-4147-A177-3AD203B41FA5}">
                      <a16:colId xmlns:a16="http://schemas.microsoft.com/office/drawing/2014/main" val="20004"/>
                    </a:ext>
                  </a:extLst>
                </a:gridCol>
                <a:gridCol w="949325">
                  <a:extLst>
                    <a:ext uri="{9D8B030D-6E8A-4147-A177-3AD203B41FA5}">
                      <a16:colId xmlns:a16="http://schemas.microsoft.com/office/drawing/2014/main" val="20005"/>
                    </a:ext>
                  </a:extLst>
                </a:gridCol>
                <a:gridCol w="865188">
                  <a:extLst>
                    <a:ext uri="{9D8B030D-6E8A-4147-A177-3AD203B41FA5}">
                      <a16:colId xmlns:a16="http://schemas.microsoft.com/office/drawing/2014/main" val="20006"/>
                    </a:ext>
                  </a:extLst>
                </a:gridCol>
                <a:gridCol w="1770062">
                  <a:extLst>
                    <a:ext uri="{9D8B030D-6E8A-4147-A177-3AD203B41FA5}">
                      <a16:colId xmlns:a16="http://schemas.microsoft.com/office/drawing/2014/main" val="20007"/>
                    </a:ext>
                  </a:extLst>
                </a:gridCol>
              </a:tblGrid>
              <a:tr h="390525">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itchFamily="18" charset="0"/>
                          <a:ea typeface="宋体" pitchFamily="2" charset="-122"/>
                        </a:rPr>
                        <a:t>变量名</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宋体" pitchFamily="2" charset="-122"/>
                        </a:rPr>
                        <a:t>number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宋体" pitchFamily="2" charset="-122"/>
                        </a:rPr>
                        <a:t>name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宋体" pitchFamily="2" charset="-122"/>
                        </a:rPr>
                        <a:t>sex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3">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宋体" pitchFamily="2" charset="-122"/>
                        </a:rPr>
                        <a:t>birthday</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rowSpan="2">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宋体" pitchFamily="2" charset="-122"/>
                        </a:rPr>
                        <a:t>address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370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宋体" pitchFamily="2" charset="-122"/>
                        </a:rPr>
                        <a:t>day</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宋体" pitchFamily="2" charset="-122"/>
                        </a:rPr>
                        <a:t>month</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宋体" pitchFamily="2" charset="-122"/>
                        </a:rPr>
                        <a:t>year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1"/>
                  </a:ext>
                </a:extLst>
              </a:tr>
              <a:tr h="59213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st1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itchFamily="18" charset="0"/>
                          <a:ea typeface="宋体" pitchFamily="2" charset="-122"/>
                        </a:rPr>
                        <a:t>10001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itchFamily="18" charset="0"/>
                          <a:ea typeface="宋体" pitchFamily="2" charset="-122"/>
                        </a:rPr>
                        <a:t>Zhang ping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itchFamily="18" charset="0"/>
                          <a:ea typeface="宋体" pitchFamily="2" charset="-122"/>
                        </a:rPr>
                        <a:t>M</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itchFamily="18" charset="0"/>
                          <a:ea typeface="宋体" pitchFamily="2" charset="-122"/>
                        </a:rPr>
                        <a:t>20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itchFamily="18" charset="0"/>
                          <a:ea typeface="宋体" pitchFamily="2" charset="-122"/>
                        </a:rPr>
                        <a:t>11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itchFamily="18" charset="0"/>
                          <a:ea typeface="宋体" pitchFamily="2" charset="-122"/>
                        </a:rPr>
                        <a:t>1985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itchFamily="18" charset="0"/>
                          <a:ea typeface="宋体" pitchFamily="2" charset="-122"/>
                        </a:rPr>
                        <a:t>15 Nanjing Rd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969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itchFamily="18" charset="0"/>
                          <a:ea typeface="宋体" pitchFamily="2" charset="-122"/>
                        </a:rPr>
                        <a:t>st2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10002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Li ying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itchFamily="18" charset="0"/>
                          <a:ea typeface="宋体" pitchFamily="2" charset="-122"/>
                        </a:rPr>
                        <a:t>08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04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itchFamily="18" charset="0"/>
                          <a:ea typeface="宋体" pitchFamily="2" charset="-122"/>
                        </a:rPr>
                        <a:t>1986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itchFamily="18" charset="0"/>
                          <a:ea typeface="宋体" pitchFamily="2" charset="-122"/>
                        </a:rPr>
                        <a:t>100 </a:t>
                      </a:r>
                      <a:r>
                        <a:rPr kumimoji="1" lang="en-US" altLang="zh-CN" sz="1800" b="0" i="0" u="none" strike="noStrike" cap="none" normalizeH="0" baseline="0" dirty="0" err="1">
                          <a:ln>
                            <a:noFill/>
                          </a:ln>
                          <a:solidFill>
                            <a:schemeClr val="tx1"/>
                          </a:solidFill>
                          <a:effectLst/>
                          <a:latin typeface="Times New Roman" pitchFamily="18" charset="0"/>
                          <a:ea typeface="宋体" pitchFamily="2" charset="-122"/>
                        </a:rPr>
                        <a:t>Beijin</a:t>
                      </a:r>
                      <a:r>
                        <a:rPr kumimoji="1" lang="en-US" altLang="zh-CN" sz="1800" b="0" i="0" u="none" strike="noStrike" cap="none" normalizeH="0" baseline="0" dirty="0">
                          <a:ln>
                            <a:noFill/>
                          </a:ln>
                          <a:solidFill>
                            <a:schemeClr val="tx1"/>
                          </a:solidFill>
                          <a:effectLst/>
                          <a:latin typeface="Times New Roman" pitchFamily="18" charset="0"/>
                          <a:ea typeface="宋体" pitchFamily="2" charset="-122"/>
                        </a:rPr>
                        <a:t> Rd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45" name="灯片编号占位符 4"/>
          <p:cNvSpPr>
            <a:spLocks noGrp="1"/>
          </p:cNvSpPr>
          <p:nvPr>
            <p:ph type="sldNum" sz="quarter" idx="12"/>
          </p:nvPr>
        </p:nvSpPr>
        <p:spPr/>
        <p:txBody>
          <a:bodyPr/>
          <a:lstStyle/>
          <a:p>
            <a:pPr>
              <a:defRPr/>
            </a:pPr>
            <a:fld id="{133DA372-5249-48BE-8B65-6F38620A9378}" type="slidenum">
              <a:rPr lang="en-US" altLang="zh-CN"/>
              <a:pPr>
                <a:defRPr/>
              </a:pPr>
              <a:t>9</a:t>
            </a:fld>
            <a:endParaRPr lang="en-US" altLang="zh-CN"/>
          </a:p>
        </p:txBody>
      </p:sp>
      <p:sp>
        <p:nvSpPr>
          <p:cNvPr id="24619" name="Text Box 189"/>
          <p:cNvSpPr txBox="1">
            <a:spLocks noChangeArrowheads="1"/>
          </p:cNvSpPr>
          <p:nvPr/>
        </p:nvSpPr>
        <p:spPr bwMode="auto">
          <a:xfrm>
            <a:off x="2073275" y="620688"/>
            <a:ext cx="4356100" cy="400050"/>
          </a:xfrm>
          <a:prstGeom prst="rect">
            <a:avLst/>
          </a:prstGeom>
          <a:noFill/>
          <a:ln w="9525">
            <a:noFill/>
            <a:miter lim="800000"/>
            <a:headEnd/>
            <a:tailEnd/>
          </a:ln>
        </p:spPr>
        <p:txBody>
          <a:bodyPr wrap="none">
            <a:spAutoFit/>
          </a:bodyPr>
          <a:lstStyle/>
          <a:p>
            <a:r>
              <a:rPr lang="zh-CN" altLang="en-US" sz="2000" b="1" dirty="0"/>
              <a:t>表</a:t>
            </a:r>
            <a:r>
              <a:rPr lang="en-US" altLang="zh-CN" sz="2000" b="1" dirty="0"/>
              <a:t>7.1 </a:t>
            </a:r>
            <a:r>
              <a:rPr lang="zh-CN" altLang="en-US" sz="2000" b="1" dirty="0"/>
              <a:t>结构变量</a:t>
            </a:r>
            <a:r>
              <a:rPr lang="en-US" altLang="zh-CN" sz="2000" b="1" dirty="0"/>
              <a:t>st1</a:t>
            </a:r>
            <a:r>
              <a:rPr lang="zh-CN" altLang="en-US" sz="2000" b="1" dirty="0"/>
              <a:t>和</a:t>
            </a:r>
            <a:r>
              <a:rPr lang="en-US" altLang="zh-CN" sz="2000" b="1" dirty="0"/>
              <a:t>st2</a:t>
            </a:r>
            <a:r>
              <a:rPr lang="zh-CN" altLang="en-US" sz="2000" b="1" dirty="0"/>
              <a:t>占用</a:t>
            </a:r>
            <a:r>
              <a:rPr lang="zh-CN" altLang="en-US" sz="2000" b="1" dirty="0">
                <a:solidFill>
                  <a:srgbClr val="FF0000"/>
                </a:solidFill>
              </a:rPr>
              <a:t>内存</a:t>
            </a:r>
            <a:r>
              <a:rPr lang="zh-CN" altLang="en-US" sz="2000" b="1" dirty="0"/>
              <a:t>情况 </a:t>
            </a:r>
          </a:p>
        </p:txBody>
      </p:sp>
      <p:sp>
        <p:nvSpPr>
          <p:cNvPr id="2" name="TextBox 1"/>
          <p:cNvSpPr txBox="1"/>
          <p:nvPr/>
        </p:nvSpPr>
        <p:spPr>
          <a:xfrm>
            <a:off x="107504" y="3798332"/>
            <a:ext cx="3096344" cy="1200329"/>
          </a:xfrm>
          <a:prstGeom prst="rect">
            <a:avLst/>
          </a:prstGeom>
          <a:noFill/>
        </p:spPr>
        <p:txBody>
          <a:bodyPr wrap="square" rtlCol="0">
            <a:spAutoFit/>
          </a:bodyPr>
          <a:lstStyle/>
          <a:p>
            <a:r>
              <a:rPr lang="zh-CN" altLang="en-US" dirty="0">
                <a:solidFill>
                  <a:srgbClr val="FF0000"/>
                </a:solidFill>
              </a:rPr>
              <a:t>实际的字节数可能会大于各个成员的字节数之和</a:t>
            </a:r>
            <a:endParaRPr lang="en-US" altLang="zh-CN" dirty="0">
              <a:solidFill>
                <a:srgbClr val="FF0000"/>
              </a:solidFill>
            </a:endParaRPr>
          </a:p>
        </p:txBody>
      </p:sp>
      <p:sp>
        <p:nvSpPr>
          <p:cNvPr id="3" name="矩形 2"/>
          <p:cNvSpPr/>
          <p:nvPr/>
        </p:nvSpPr>
        <p:spPr>
          <a:xfrm>
            <a:off x="2987824" y="3429000"/>
            <a:ext cx="6318448" cy="3046988"/>
          </a:xfrm>
          <a:prstGeom prst="rect">
            <a:avLst/>
          </a:prstGeom>
        </p:spPr>
        <p:txBody>
          <a:bodyPr wrap="square">
            <a:spAutoFit/>
          </a:bodyPr>
          <a:lstStyle/>
          <a:p>
            <a:pPr marL="0" indent="0" eaLnBrk="1" hangingPunct="1">
              <a:lnSpc>
                <a:spcPct val="80000"/>
              </a:lnSpc>
              <a:buFont typeface="Monotype Sorts" pitchFamily="2" charset="2"/>
              <a:buNone/>
              <a:defRPr/>
            </a:pPr>
            <a:r>
              <a:rPr lang="en-US" altLang="zh-CN" b="1" dirty="0" err="1">
                <a:latin typeface="楷体_GB2312" pitchFamily="49" charset="-122"/>
                <a:ea typeface="楷体_GB2312" pitchFamily="49" charset="-122"/>
              </a:rPr>
              <a:t>struct</a:t>
            </a:r>
            <a:r>
              <a:rPr lang="en-US" altLang="zh-CN" b="1" dirty="0">
                <a:latin typeface="楷体_GB2312" pitchFamily="49" charset="-122"/>
                <a:ea typeface="楷体_GB2312" pitchFamily="49" charset="-122"/>
              </a:rPr>
              <a:t> Date		</a:t>
            </a:r>
          </a:p>
          <a:p>
            <a:pPr marL="0" indent="0" eaLnBrk="1" hangingPunct="1">
              <a:lnSpc>
                <a:spcPct val="80000"/>
              </a:lnSpc>
              <a:buFont typeface="Monotype Sorts" pitchFamily="2" charset="2"/>
              <a:buNone/>
              <a:defRPr/>
            </a:pPr>
            <a:r>
              <a:rPr lang="en-US" altLang="zh-CN" b="1" dirty="0">
                <a:latin typeface="楷体_GB2312" pitchFamily="49" charset="-122"/>
                <a:ea typeface="楷体_GB2312" pitchFamily="49" charset="-122"/>
              </a:rPr>
              <a:t>   { </a:t>
            </a:r>
            <a:r>
              <a:rPr lang="en-US" altLang="zh-CN" b="1" dirty="0" err="1">
                <a:latin typeface="楷体_GB2312" pitchFamily="49" charset="-122"/>
                <a:ea typeface="楷体_GB2312" pitchFamily="49" charset="-122"/>
              </a:rPr>
              <a:t>int</a:t>
            </a:r>
            <a:r>
              <a:rPr lang="en-US" altLang="zh-CN" b="1" dirty="0">
                <a:latin typeface="楷体_GB2312" pitchFamily="49" charset="-122"/>
                <a:ea typeface="楷体_GB2312" pitchFamily="49" charset="-122"/>
              </a:rPr>
              <a:t>  day; </a:t>
            </a:r>
            <a:r>
              <a:rPr lang="en-US" altLang="zh-CN" b="1" dirty="0" err="1">
                <a:latin typeface="楷体_GB2312" pitchFamily="49" charset="-122"/>
                <a:ea typeface="楷体_GB2312" pitchFamily="49" charset="-122"/>
              </a:rPr>
              <a:t>int</a:t>
            </a:r>
            <a:r>
              <a:rPr lang="en-US" altLang="zh-CN" b="1" dirty="0">
                <a:latin typeface="楷体_GB2312" pitchFamily="49" charset="-122"/>
                <a:ea typeface="楷体_GB2312" pitchFamily="49" charset="-122"/>
              </a:rPr>
              <a:t>  month; </a:t>
            </a:r>
            <a:r>
              <a:rPr lang="en-US" altLang="zh-CN" b="1" dirty="0" err="1">
                <a:latin typeface="楷体_GB2312" pitchFamily="49" charset="-122"/>
                <a:ea typeface="楷体_GB2312" pitchFamily="49" charset="-122"/>
              </a:rPr>
              <a:t>int</a:t>
            </a:r>
            <a:r>
              <a:rPr lang="en-US" altLang="zh-CN" b="1" dirty="0">
                <a:latin typeface="楷体_GB2312" pitchFamily="49" charset="-122"/>
                <a:ea typeface="楷体_GB2312" pitchFamily="49" charset="-122"/>
              </a:rPr>
              <a:t>  year;};</a:t>
            </a:r>
          </a:p>
          <a:p>
            <a:pPr marL="0" indent="0" eaLnBrk="1" hangingPunct="1">
              <a:lnSpc>
                <a:spcPct val="80000"/>
              </a:lnSpc>
              <a:buFont typeface="Monotype Sorts" pitchFamily="2" charset="2"/>
              <a:buNone/>
              <a:defRPr/>
            </a:pPr>
            <a:r>
              <a:rPr lang="en-US" altLang="zh-CN" b="1" dirty="0">
                <a:latin typeface="楷体_GB2312" pitchFamily="49" charset="-122"/>
                <a:ea typeface="楷体_GB2312" pitchFamily="49" charset="-122"/>
              </a:rPr>
              <a:t>       </a:t>
            </a:r>
          </a:p>
          <a:p>
            <a:pPr marL="0" indent="0" eaLnBrk="1" hangingPunct="1">
              <a:lnSpc>
                <a:spcPct val="80000"/>
              </a:lnSpc>
              <a:buFont typeface="Monotype Sorts" pitchFamily="2" charset="2"/>
              <a:buNone/>
              <a:defRPr/>
            </a:pPr>
            <a:r>
              <a:rPr lang="en-US" altLang="zh-CN" b="1" dirty="0" err="1">
                <a:latin typeface="楷体_GB2312" pitchFamily="49" charset="-122"/>
                <a:ea typeface="楷体_GB2312" pitchFamily="49" charset="-122"/>
              </a:rPr>
              <a:t>struct</a:t>
            </a:r>
            <a:r>
              <a:rPr lang="en-US" altLang="zh-CN" b="1" dirty="0">
                <a:latin typeface="楷体_GB2312" pitchFamily="49" charset="-122"/>
                <a:ea typeface="楷体_GB2312" pitchFamily="49" charset="-122"/>
              </a:rPr>
              <a:t>  student </a:t>
            </a:r>
          </a:p>
          <a:p>
            <a:pPr marL="0" indent="0" eaLnBrk="1" hangingPunct="1">
              <a:lnSpc>
                <a:spcPct val="80000"/>
              </a:lnSpc>
              <a:buFont typeface="Monotype Sorts" pitchFamily="2" charset="2"/>
              <a:buNone/>
              <a:defRPr/>
            </a:pPr>
            <a:r>
              <a:rPr lang="en-US" altLang="zh-CN" b="1" dirty="0">
                <a:latin typeface="楷体_GB2312" pitchFamily="49" charset="-122"/>
                <a:ea typeface="楷体_GB2312" pitchFamily="49" charset="-122"/>
              </a:rPr>
              <a:t>   { </a:t>
            </a:r>
            <a:r>
              <a:rPr lang="en-US" altLang="zh-CN" b="1" dirty="0" err="1">
                <a:latin typeface="楷体_GB2312" pitchFamily="49" charset="-122"/>
                <a:ea typeface="楷体_GB2312" pitchFamily="49" charset="-122"/>
              </a:rPr>
              <a:t>int</a:t>
            </a:r>
            <a:r>
              <a:rPr lang="en-US" altLang="zh-CN" b="1" dirty="0">
                <a:latin typeface="楷体_GB2312" pitchFamily="49" charset="-122"/>
                <a:ea typeface="楷体_GB2312" pitchFamily="49" charset="-122"/>
              </a:rPr>
              <a:t>  number; </a:t>
            </a:r>
          </a:p>
          <a:p>
            <a:pPr marL="0" indent="0" eaLnBrk="1" hangingPunct="1">
              <a:lnSpc>
                <a:spcPct val="80000"/>
              </a:lnSpc>
              <a:buFont typeface="Monotype Sorts" pitchFamily="2" charset="2"/>
              <a:buNone/>
              <a:defRPr/>
            </a:pPr>
            <a:r>
              <a:rPr lang="en-US" altLang="zh-CN" b="1" dirty="0">
                <a:latin typeface="楷体_GB2312" pitchFamily="49" charset="-122"/>
                <a:ea typeface="楷体_GB2312" pitchFamily="49" charset="-122"/>
              </a:rPr>
              <a:t>     char name[20];</a:t>
            </a:r>
          </a:p>
          <a:p>
            <a:pPr marL="0" indent="0" eaLnBrk="1" hangingPunct="1">
              <a:lnSpc>
                <a:spcPct val="80000"/>
              </a:lnSpc>
              <a:buFont typeface="Monotype Sorts" pitchFamily="2" charset="2"/>
              <a:buNone/>
              <a:defRPr/>
            </a:pPr>
            <a:r>
              <a:rPr lang="en-US" altLang="zh-CN" b="1" dirty="0">
                <a:latin typeface="楷体_GB2312" pitchFamily="49" charset="-122"/>
                <a:ea typeface="楷体_GB2312" pitchFamily="49" charset="-122"/>
              </a:rPr>
              <a:t>     char sex;</a:t>
            </a:r>
          </a:p>
          <a:p>
            <a:pPr marL="0" indent="0" eaLnBrk="1" hangingPunct="1">
              <a:lnSpc>
                <a:spcPct val="80000"/>
              </a:lnSpc>
              <a:buFont typeface="Monotype Sorts" pitchFamily="2" charset="2"/>
              <a:buNone/>
              <a:defRPr/>
            </a:pPr>
            <a:r>
              <a:rPr lang="en-US" altLang="zh-CN" b="1" dirty="0">
                <a:latin typeface="楷体_GB2312" pitchFamily="49" charset="-122"/>
                <a:ea typeface="楷体_GB2312" pitchFamily="49" charset="-122"/>
              </a:rPr>
              <a:t>     </a:t>
            </a:r>
            <a:r>
              <a:rPr lang="en-US" altLang="zh-CN" b="1" dirty="0" err="1">
                <a:latin typeface="楷体_GB2312" pitchFamily="49" charset="-122"/>
                <a:ea typeface="楷体_GB2312" pitchFamily="49" charset="-122"/>
              </a:rPr>
              <a:t>struct</a:t>
            </a:r>
            <a:r>
              <a:rPr lang="en-US" altLang="zh-CN" b="1" dirty="0">
                <a:latin typeface="楷体_GB2312" pitchFamily="49" charset="-122"/>
                <a:ea typeface="楷体_GB2312" pitchFamily="49" charset="-122"/>
              </a:rPr>
              <a:t> Date birthday; </a:t>
            </a:r>
          </a:p>
          <a:p>
            <a:pPr marL="0" indent="0" eaLnBrk="1" hangingPunct="1">
              <a:lnSpc>
                <a:spcPct val="80000"/>
              </a:lnSpc>
              <a:buFont typeface="Monotype Sorts" pitchFamily="2" charset="2"/>
              <a:buNone/>
              <a:defRPr/>
            </a:pPr>
            <a:r>
              <a:rPr lang="en-US" altLang="zh-CN" b="1" dirty="0">
                <a:latin typeface="楷体_GB2312" pitchFamily="49" charset="-122"/>
                <a:ea typeface="楷体_GB2312" pitchFamily="49" charset="-122"/>
              </a:rPr>
              <a:t>     char address[40]; </a:t>
            </a:r>
          </a:p>
          <a:p>
            <a:pPr marL="0" indent="0" eaLnBrk="1" hangingPunct="1">
              <a:lnSpc>
                <a:spcPct val="80000"/>
              </a:lnSpc>
              <a:buFont typeface="Monotype Sorts" pitchFamily="2" charset="2"/>
              <a:buNone/>
              <a:defRPr/>
            </a:pPr>
            <a:r>
              <a:rPr lang="en-US" altLang="zh-CN" b="1" dirty="0">
                <a:latin typeface="楷体_GB2312" pitchFamily="49" charset="-122"/>
                <a:ea typeface="楷体_GB2312" pitchFamily="49" charset="-122"/>
              </a:rPr>
              <a:t>    };</a:t>
            </a:r>
            <a:r>
              <a:rPr lang="en-US" altLang="zh-CN" dirty="0">
                <a:latin typeface="楷体_GB2312" pitchFamily="49" charset="-122"/>
                <a:ea typeface="楷体_GB2312" pitchFamily="49" charset="-122"/>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71" name="Rectangle 3"/>
          <p:cNvSpPr>
            <a:spLocks noGrp="1" noChangeArrowheads="1"/>
          </p:cNvSpPr>
          <p:nvPr>
            <p:ph type="title"/>
          </p:nvPr>
        </p:nvSpPr>
        <p:spPr>
          <a:xfrm>
            <a:off x="539750" y="260350"/>
            <a:ext cx="7920038" cy="720725"/>
          </a:xfrm>
        </p:spPr>
        <p:txBody>
          <a:bodyPr>
            <a:normAutofit fontScale="90000"/>
          </a:bodyPr>
          <a:lstStyle/>
          <a:p>
            <a:pPr eaLnBrk="1" hangingPunct="1">
              <a:lnSpc>
                <a:spcPct val="100000"/>
              </a:lnSpc>
              <a:defRPr/>
            </a:pPr>
            <a:r>
              <a:rPr lang="zh-CN" altLang="en-US" dirty="0">
                <a:solidFill>
                  <a:schemeClr val="tx1"/>
                </a:solidFill>
                <a:latin typeface="黑体" pitchFamily="2" charset="-122"/>
                <a:ea typeface="黑体" pitchFamily="2" charset="-122"/>
              </a:rPr>
              <a:t>结构变量的定义</a:t>
            </a:r>
          </a:p>
        </p:txBody>
      </p:sp>
      <p:sp>
        <p:nvSpPr>
          <p:cNvPr id="595970" name="Rectangle 2"/>
          <p:cNvSpPr>
            <a:spLocks noGrp="1" noChangeArrowheads="1"/>
          </p:cNvSpPr>
          <p:nvPr>
            <p:ph idx="1"/>
          </p:nvPr>
        </p:nvSpPr>
        <p:spPr>
          <a:xfrm>
            <a:off x="250825" y="1052513"/>
            <a:ext cx="8642350" cy="720725"/>
          </a:xfrm>
        </p:spPr>
        <p:txBody>
          <a:bodyPr/>
          <a:lstStyle/>
          <a:p>
            <a:pPr marL="1071563" indent="-1071563" algn="just" eaLnBrk="1" hangingPunct="1">
              <a:lnSpc>
                <a:spcPct val="115000"/>
              </a:lnSpc>
              <a:buClr>
                <a:srgbClr val="FF6600"/>
              </a:buClr>
              <a:buSzPct val="55000"/>
              <a:buFont typeface="Wingdings" pitchFamily="2" charset="2"/>
              <a:buNone/>
              <a:defRPr/>
            </a:pPr>
            <a:r>
              <a:rPr lang="zh-CN" altLang="en-US" sz="3200" b="1" dirty="0">
                <a:latin typeface="Times New Roman" pitchFamily="18" charset="0"/>
                <a:ea typeface="楷体_GB2312" pitchFamily="49" charset="-122"/>
              </a:rPr>
              <a:t>（</a:t>
            </a:r>
            <a:r>
              <a:rPr lang="en-US" altLang="zh-CN" sz="3200" b="1" dirty="0">
                <a:latin typeface="Times New Roman" pitchFamily="18" charset="0"/>
                <a:ea typeface="楷体_GB2312" pitchFamily="49" charset="-122"/>
              </a:rPr>
              <a:t>2）</a:t>
            </a:r>
            <a:r>
              <a:rPr lang="zh-CN" altLang="en-US" sz="3200" b="1" dirty="0">
                <a:latin typeface="Times New Roman" pitchFamily="18" charset="0"/>
                <a:ea typeface="楷体_GB2312" pitchFamily="49" charset="-122"/>
              </a:rPr>
              <a:t>在定义结构类型的同时定义结构变量</a:t>
            </a:r>
          </a:p>
        </p:txBody>
      </p:sp>
      <p:sp>
        <p:nvSpPr>
          <p:cNvPr id="8" name="灯片编号占位符 5"/>
          <p:cNvSpPr>
            <a:spLocks noGrp="1"/>
          </p:cNvSpPr>
          <p:nvPr>
            <p:ph type="sldNum" sz="quarter" idx="12"/>
          </p:nvPr>
        </p:nvSpPr>
        <p:spPr/>
        <p:txBody>
          <a:bodyPr/>
          <a:lstStyle/>
          <a:p>
            <a:pPr>
              <a:defRPr/>
            </a:pPr>
            <a:fld id="{FFA7CE11-142E-462C-983C-942EF1796C89}" type="slidenum">
              <a:rPr lang="en-US" altLang="zh-CN"/>
              <a:pPr>
                <a:defRPr/>
              </a:pPr>
              <a:t>10</a:t>
            </a:fld>
            <a:endParaRPr lang="en-US" altLang="zh-CN"/>
          </a:p>
        </p:txBody>
      </p:sp>
      <p:sp>
        <p:nvSpPr>
          <p:cNvPr id="595972" name="Rectangle 4"/>
          <p:cNvSpPr>
            <a:spLocks noChangeArrowheads="1"/>
          </p:cNvSpPr>
          <p:nvPr/>
        </p:nvSpPr>
        <p:spPr bwMode="auto">
          <a:xfrm>
            <a:off x="4067174" y="3773488"/>
            <a:ext cx="4362477" cy="2123658"/>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square">
            <a:spAutoFit/>
          </a:bodyPr>
          <a:lstStyle/>
          <a:p>
            <a:pPr>
              <a:defRPr/>
            </a:pPr>
            <a:r>
              <a:rPr kumimoji="1" lang="zh-CN" altLang="en-US" sz="3200" b="1" dirty="0">
                <a:solidFill>
                  <a:schemeClr val="tx1"/>
                </a:solidFill>
                <a:ea typeface="宋体" pitchFamily="2" charset="-122"/>
              </a:rPr>
              <a:t>例如</a:t>
            </a:r>
            <a:r>
              <a:rPr kumimoji="1" lang="zh-CN" altLang="en-US" sz="3200" b="1" dirty="0">
                <a:solidFill>
                  <a:schemeClr val="tx1"/>
                </a:solidFill>
                <a:ea typeface="宋体" pitchFamily="2" charset="-122"/>
                <a:sym typeface="Wingdings" pitchFamily="2" charset="2"/>
              </a:rPr>
              <a:t>：</a:t>
            </a:r>
          </a:p>
          <a:p>
            <a:pPr>
              <a:defRPr/>
            </a:pPr>
            <a:r>
              <a:rPr kumimoji="1" lang="en-US" altLang="zh-CN" sz="2000" b="1" dirty="0" err="1">
                <a:ea typeface="宋体" pitchFamily="2" charset="-122"/>
              </a:rPr>
              <a:t>struct</a:t>
            </a:r>
            <a:r>
              <a:rPr kumimoji="1" lang="en-US" altLang="zh-CN" sz="2000" b="1" dirty="0">
                <a:ea typeface="宋体" pitchFamily="2" charset="-122"/>
              </a:rPr>
              <a:t>  </a:t>
            </a:r>
            <a:r>
              <a:rPr kumimoji="1" lang="en-US" altLang="zh-CN" sz="2000" b="1" dirty="0" err="1">
                <a:ea typeface="宋体" pitchFamily="2" charset="-122"/>
              </a:rPr>
              <a:t>stuSType</a:t>
            </a:r>
            <a:endParaRPr kumimoji="1" lang="en-US" altLang="zh-CN" sz="2000" b="1" dirty="0">
              <a:ea typeface="宋体" pitchFamily="2" charset="-122"/>
            </a:endParaRPr>
          </a:p>
          <a:p>
            <a:pPr>
              <a:defRPr/>
            </a:pPr>
            <a:r>
              <a:rPr kumimoji="1" lang="en-US" altLang="zh-CN" sz="2000" b="1" dirty="0">
                <a:ea typeface="宋体" pitchFamily="2" charset="-122"/>
              </a:rPr>
              <a:t>{   </a:t>
            </a:r>
            <a:r>
              <a:rPr kumimoji="1" lang="en-US" altLang="zh-CN" sz="2000" b="1" dirty="0" err="1">
                <a:ea typeface="宋体" pitchFamily="2" charset="-122"/>
              </a:rPr>
              <a:t>int</a:t>
            </a:r>
            <a:r>
              <a:rPr kumimoji="1" lang="en-US" altLang="zh-CN" sz="2000" b="1" dirty="0">
                <a:ea typeface="宋体" pitchFamily="2" charset="-122"/>
              </a:rPr>
              <a:t>  number;	/* </a:t>
            </a:r>
            <a:r>
              <a:rPr kumimoji="1" lang="zh-CN" altLang="en-US" sz="2000" b="1" dirty="0">
                <a:ea typeface="宋体" pitchFamily="2" charset="-122"/>
              </a:rPr>
              <a:t>学号 *</a:t>
            </a:r>
            <a:r>
              <a:rPr kumimoji="1" lang="en-US" altLang="zh-CN" sz="2000" b="1" dirty="0">
                <a:ea typeface="宋体" pitchFamily="2" charset="-122"/>
              </a:rPr>
              <a:t>/</a:t>
            </a:r>
          </a:p>
          <a:p>
            <a:pPr>
              <a:defRPr/>
            </a:pPr>
            <a:r>
              <a:rPr kumimoji="1" lang="en-US" altLang="zh-CN" sz="2000" b="1" dirty="0">
                <a:ea typeface="宋体" pitchFamily="2" charset="-122"/>
              </a:rPr>
              <a:t>    char name[20];/* </a:t>
            </a:r>
            <a:r>
              <a:rPr kumimoji="1" lang="zh-CN" altLang="en-US" sz="2000" b="1" dirty="0">
                <a:ea typeface="宋体" pitchFamily="2" charset="-122"/>
              </a:rPr>
              <a:t>姓名 *</a:t>
            </a:r>
            <a:r>
              <a:rPr kumimoji="1" lang="en-US" altLang="zh-CN" sz="2000" b="1" dirty="0">
                <a:ea typeface="宋体" pitchFamily="2" charset="-122"/>
              </a:rPr>
              <a:t>/</a:t>
            </a:r>
          </a:p>
          <a:p>
            <a:pPr>
              <a:defRPr/>
            </a:pPr>
            <a:r>
              <a:rPr kumimoji="1" lang="en-US" altLang="zh-CN" sz="2000" b="1" dirty="0">
                <a:ea typeface="宋体" pitchFamily="2" charset="-122"/>
              </a:rPr>
              <a:t>    </a:t>
            </a:r>
            <a:r>
              <a:rPr kumimoji="1" lang="en-US" altLang="zh-CN" sz="2000" b="1" dirty="0" err="1">
                <a:ea typeface="宋体" pitchFamily="2" charset="-122"/>
              </a:rPr>
              <a:t>int</a:t>
            </a:r>
            <a:r>
              <a:rPr kumimoji="1" lang="en-US" altLang="zh-CN" sz="2000" b="1" dirty="0">
                <a:ea typeface="宋体" pitchFamily="2" charset="-122"/>
              </a:rPr>
              <a:t> score;	/* </a:t>
            </a:r>
            <a:r>
              <a:rPr kumimoji="1" lang="zh-CN" altLang="en-US" sz="2000" b="1" dirty="0">
                <a:ea typeface="宋体" pitchFamily="2" charset="-122"/>
              </a:rPr>
              <a:t>成绩 *</a:t>
            </a:r>
            <a:r>
              <a:rPr kumimoji="1" lang="en-US" altLang="zh-CN" sz="2000" b="1" dirty="0">
                <a:ea typeface="宋体" pitchFamily="2" charset="-122"/>
              </a:rPr>
              <a:t>/</a:t>
            </a:r>
          </a:p>
          <a:p>
            <a:pPr>
              <a:defRPr/>
            </a:pPr>
            <a:r>
              <a:rPr kumimoji="1" lang="en-US" altLang="zh-CN" sz="2000" b="1" dirty="0">
                <a:ea typeface="宋体" pitchFamily="2" charset="-122"/>
              </a:rPr>
              <a:t> } </a:t>
            </a:r>
            <a:r>
              <a:rPr kumimoji="1" lang="en-US" altLang="zh-CN" sz="2000" b="1" dirty="0" err="1">
                <a:ea typeface="宋体" pitchFamily="2" charset="-122"/>
              </a:rPr>
              <a:t>stuS</a:t>
            </a:r>
            <a:r>
              <a:rPr kumimoji="1" lang="en-US" altLang="zh-CN" sz="2000" b="1" dirty="0">
                <a:ea typeface="宋体" pitchFamily="2" charset="-122"/>
              </a:rPr>
              <a:t>;</a:t>
            </a:r>
          </a:p>
        </p:txBody>
      </p:sp>
      <p:sp>
        <p:nvSpPr>
          <p:cNvPr id="595973" name="Rectangle 5"/>
          <p:cNvSpPr>
            <a:spLocks noChangeArrowheads="1"/>
          </p:cNvSpPr>
          <p:nvPr/>
        </p:nvSpPr>
        <p:spPr bwMode="auto">
          <a:xfrm>
            <a:off x="468313" y="1989138"/>
            <a:ext cx="4032250" cy="1860550"/>
          </a:xfrm>
          <a:prstGeom prst="rect">
            <a:avLst/>
          </a:prstGeom>
          <a:noFill/>
          <a:ln w="9525">
            <a:noFill/>
            <a:miter lim="800000"/>
            <a:headEnd/>
            <a:tailEnd/>
          </a:ln>
          <a:effectLst/>
        </p:spPr>
        <p:txBody>
          <a:bodyPr>
            <a:spAutoFit/>
          </a:bodyPr>
          <a:lstStyle/>
          <a:p>
            <a:pPr>
              <a:defRPr/>
            </a:pPr>
            <a:r>
              <a:rPr kumimoji="1" lang="zh-CN" altLang="en-US" sz="3200" b="1" dirty="0">
                <a:latin typeface="楷体_GB2312" pitchFamily="49" charset="-122"/>
                <a:ea typeface="楷体_GB2312" pitchFamily="49" charset="-122"/>
              </a:rPr>
              <a:t>形式：</a:t>
            </a:r>
          </a:p>
          <a:p>
            <a:pPr>
              <a:defRPr/>
            </a:pPr>
            <a:r>
              <a:rPr kumimoji="1" lang="en-US" altLang="zh-CN" sz="2800" b="1" dirty="0" err="1">
                <a:latin typeface="楷体_GB2312" pitchFamily="49" charset="-122"/>
                <a:ea typeface="楷体_GB2312" pitchFamily="49" charset="-122"/>
              </a:rPr>
              <a:t>struct</a:t>
            </a:r>
            <a:r>
              <a:rPr kumimoji="1" lang="en-US" altLang="zh-CN" sz="2800" b="1" dirty="0">
                <a:latin typeface="楷体_GB2312" pitchFamily="49" charset="-122"/>
                <a:ea typeface="楷体_GB2312" pitchFamily="49" charset="-122"/>
              </a:rPr>
              <a:t>  </a:t>
            </a:r>
            <a:r>
              <a:rPr kumimoji="1" lang="zh-CN" altLang="en-US" sz="2800" b="1" dirty="0">
                <a:latin typeface="楷体_GB2312" pitchFamily="49" charset="-122"/>
                <a:ea typeface="楷体_GB2312" pitchFamily="49" charset="-122"/>
              </a:rPr>
              <a:t>结构类型名</a:t>
            </a:r>
            <a:r>
              <a:rPr kumimoji="1" lang="en-US" altLang="zh-CN" sz="2800" b="1" dirty="0">
                <a:latin typeface="楷体_GB2312" pitchFamily="49" charset="-122"/>
                <a:ea typeface="楷体_GB2312" pitchFamily="49" charset="-122"/>
              </a:rPr>
              <a:t>{</a:t>
            </a:r>
          </a:p>
          <a:p>
            <a:pPr>
              <a:defRPr/>
            </a:pPr>
            <a:r>
              <a:rPr kumimoji="1" lang="en-US" altLang="zh-CN" sz="2800" b="1" dirty="0">
                <a:latin typeface="楷体_GB2312" pitchFamily="49" charset="-122"/>
                <a:ea typeface="楷体_GB2312" pitchFamily="49" charset="-122"/>
              </a:rPr>
              <a:t>     </a:t>
            </a:r>
            <a:r>
              <a:rPr kumimoji="1" lang="zh-CN" altLang="en-US" sz="2800" b="1" dirty="0">
                <a:latin typeface="楷体_GB2312" pitchFamily="49" charset="-122"/>
                <a:ea typeface="楷体_GB2312" pitchFamily="49" charset="-122"/>
              </a:rPr>
              <a:t>成员说明表</a:t>
            </a:r>
          </a:p>
          <a:p>
            <a:pPr>
              <a:defRPr/>
            </a:pPr>
            <a:r>
              <a:rPr kumimoji="1" lang="zh-CN" altLang="en-US" sz="2800" b="1" dirty="0">
                <a:latin typeface="楷体_GB2312" pitchFamily="49" charset="-122"/>
                <a:ea typeface="楷体_GB2312" pitchFamily="49" charset="-122"/>
              </a:rPr>
              <a:t> </a:t>
            </a:r>
            <a:r>
              <a:rPr kumimoji="1" lang="en-US" altLang="zh-CN" sz="2800" b="1" dirty="0">
                <a:latin typeface="楷体_GB2312" pitchFamily="49" charset="-122"/>
                <a:ea typeface="楷体_GB2312" pitchFamily="49" charset="-122"/>
              </a:rPr>
              <a:t>}   </a:t>
            </a:r>
            <a:r>
              <a:rPr kumimoji="1" lang="zh-CN" altLang="en-US" sz="2800" b="1" dirty="0">
                <a:latin typeface="楷体_GB2312" pitchFamily="49" charset="-122"/>
                <a:ea typeface="楷体_GB2312" pitchFamily="49" charset="-122"/>
              </a:rPr>
              <a:t>结构变量表</a:t>
            </a:r>
            <a:r>
              <a:rPr kumimoji="1" lang="en-US" altLang="zh-CN" sz="2800" b="1" dirty="0">
                <a:latin typeface="楷体_GB2312" pitchFamily="49" charset="-122"/>
                <a:ea typeface="楷体_GB2312" pitchFamily="49" charset="-122"/>
              </a:rPr>
              <a:t>;</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7" name="Rectangle 5"/>
          <p:cNvSpPr>
            <a:spLocks noGrp="1" noChangeArrowheads="1"/>
          </p:cNvSpPr>
          <p:nvPr>
            <p:ph type="title"/>
          </p:nvPr>
        </p:nvSpPr>
        <p:spPr>
          <a:xfrm>
            <a:off x="539750" y="260350"/>
            <a:ext cx="7920038" cy="720725"/>
          </a:xfrm>
        </p:spPr>
        <p:txBody>
          <a:bodyPr>
            <a:normAutofit fontScale="90000"/>
          </a:bodyPr>
          <a:lstStyle/>
          <a:p>
            <a:pPr eaLnBrk="1" hangingPunct="1">
              <a:lnSpc>
                <a:spcPct val="100000"/>
              </a:lnSpc>
              <a:defRPr/>
            </a:pPr>
            <a:r>
              <a:rPr lang="zh-CN" altLang="en-US" dirty="0">
                <a:solidFill>
                  <a:schemeClr val="tx1"/>
                </a:solidFill>
                <a:latin typeface="黑体" pitchFamily="2" charset="-122"/>
                <a:ea typeface="黑体" pitchFamily="2" charset="-122"/>
              </a:rPr>
              <a:t>结构变量初始化</a:t>
            </a:r>
          </a:p>
        </p:txBody>
      </p:sp>
      <p:sp>
        <p:nvSpPr>
          <p:cNvPr id="371715" name="Rectangle 3"/>
          <p:cNvSpPr>
            <a:spLocks noGrp="1" noChangeArrowheads="1"/>
          </p:cNvSpPr>
          <p:nvPr>
            <p:ph idx="1"/>
          </p:nvPr>
        </p:nvSpPr>
        <p:spPr>
          <a:xfrm>
            <a:off x="323850" y="928670"/>
            <a:ext cx="8496300" cy="5813443"/>
          </a:xfrm>
        </p:spPr>
        <p:txBody>
          <a:bodyPr>
            <a:noAutofit/>
          </a:bodyPr>
          <a:lstStyle/>
          <a:p>
            <a:pPr marL="0" indent="0" algn="just" eaLnBrk="1" hangingPunct="1">
              <a:spcBef>
                <a:spcPct val="10000"/>
              </a:spcBef>
              <a:buClr>
                <a:srgbClr val="FF6600"/>
              </a:buClr>
              <a:buSzPct val="55000"/>
              <a:buFont typeface="Wingdings" pitchFamily="2" charset="2"/>
              <a:buNone/>
              <a:defRPr/>
            </a:pPr>
            <a:r>
              <a:rPr lang="zh-CN" altLang="en-US" sz="2800" b="1" dirty="0">
                <a:latin typeface="楷体_GB2312" pitchFamily="49" charset="-122"/>
                <a:ea typeface="楷体_GB2312" pitchFamily="49" charset="-122"/>
              </a:rPr>
              <a:t>在定义结构变量时，同时给它置初值，称为结构变量初始化。</a:t>
            </a:r>
          </a:p>
          <a:p>
            <a:pPr marL="0" indent="0" eaLnBrk="1" hangingPunct="1">
              <a:buFont typeface="Monotype Sorts" pitchFamily="2" charset="2"/>
              <a:buNone/>
              <a:defRPr/>
            </a:pPr>
            <a:r>
              <a:rPr lang="zh-CN" altLang="en-US" sz="2800"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struct</a:t>
            </a:r>
            <a:r>
              <a:rPr lang="en-US" altLang="zh-CN" sz="2800" b="1" dirty="0">
                <a:latin typeface="楷体_GB2312" pitchFamily="49" charset="-122"/>
                <a:ea typeface="楷体_GB2312" pitchFamily="49" charset="-122"/>
              </a:rPr>
              <a:t>  Point { /* </a:t>
            </a:r>
            <a:r>
              <a:rPr lang="zh-CN" altLang="en-US" sz="2800" b="1" dirty="0">
                <a:latin typeface="楷体_GB2312" pitchFamily="49" charset="-122"/>
                <a:ea typeface="楷体_GB2312" pitchFamily="49" charset="-122"/>
              </a:rPr>
              <a:t>说明绘图程序的坐标类型 *</a:t>
            </a:r>
            <a:r>
              <a:rPr lang="en-US" altLang="zh-CN" sz="2800" b="1" dirty="0">
                <a:latin typeface="楷体_GB2312" pitchFamily="49" charset="-122"/>
                <a:ea typeface="楷体_GB2312" pitchFamily="49" charset="-122"/>
              </a:rPr>
              <a:t>/</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int</a:t>
            </a:r>
            <a:r>
              <a:rPr lang="en-US" altLang="zh-CN" sz="2800" b="1" dirty="0">
                <a:latin typeface="楷体_GB2312" pitchFamily="49" charset="-122"/>
                <a:ea typeface="楷体_GB2312" pitchFamily="49" charset="-122"/>
              </a:rPr>
              <a:t>  x;</a:t>
            </a:r>
          </a:p>
          <a:p>
            <a:pPr marL="0" indent="0" eaLnBrk="1" hangingPunct="1">
              <a:buFont typeface="Monotype Sorts" pitchFamily="2" charset="2"/>
              <a:buNone/>
              <a:defRPr/>
            </a:pP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int</a:t>
            </a:r>
            <a:r>
              <a:rPr lang="en-US" altLang="zh-CN" sz="2800" b="1" dirty="0">
                <a:latin typeface="楷体_GB2312" pitchFamily="49" charset="-122"/>
                <a:ea typeface="楷体_GB2312" pitchFamily="49" charset="-122"/>
              </a:rPr>
              <a:t>  y;</a:t>
            </a:r>
          </a:p>
          <a:p>
            <a:pPr marL="0" indent="0" eaLnBrk="1" hangingPunct="1">
              <a:buFont typeface="Monotype Sorts" pitchFamily="2" charset="2"/>
              <a:buNone/>
              <a:defRPr/>
            </a:pPr>
            <a:r>
              <a:rPr lang="en-US" altLang="zh-CN" sz="2800" b="1" dirty="0">
                <a:latin typeface="楷体_GB2312" pitchFamily="49" charset="-122"/>
                <a:ea typeface="楷体_GB2312" pitchFamily="49" charset="-122"/>
              </a:rPr>
              <a:t> } p1 = {20</a:t>
            </a:r>
            <a:r>
              <a:rPr lang="zh-CN" altLang="en-US" sz="2800" b="1" dirty="0">
                <a:latin typeface="楷体_GB2312" pitchFamily="49" charset="-122"/>
                <a:ea typeface="楷体_GB2312" pitchFamily="49" charset="-122"/>
              </a:rPr>
              <a:t>，</a:t>
            </a:r>
            <a:r>
              <a:rPr lang="en-US" altLang="zh-CN" sz="2800" b="1" dirty="0">
                <a:latin typeface="楷体_GB2312" pitchFamily="49" charset="-122"/>
                <a:ea typeface="楷体_GB2312" pitchFamily="49" charset="-122"/>
              </a:rPr>
              <a:t>50},p2;	/* p1</a:t>
            </a:r>
            <a:r>
              <a:rPr lang="zh-CN" altLang="en-US" sz="2800" b="1" dirty="0">
                <a:latin typeface="楷体_GB2312" pitchFamily="49" charset="-122"/>
                <a:ea typeface="楷体_GB2312" pitchFamily="49" charset="-122"/>
              </a:rPr>
              <a:t>的</a:t>
            </a:r>
            <a:r>
              <a:rPr lang="en-US" altLang="zh-CN" sz="2800" b="1" dirty="0">
                <a:latin typeface="楷体_GB2312" pitchFamily="49" charset="-122"/>
                <a:ea typeface="楷体_GB2312" pitchFamily="49" charset="-122"/>
              </a:rPr>
              <a:t>x</a:t>
            </a:r>
            <a:r>
              <a:rPr lang="zh-CN" altLang="en-US" sz="2800" b="1" dirty="0">
                <a:latin typeface="楷体_GB2312" pitchFamily="49" charset="-122"/>
                <a:ea typeface="楷体_GB2312" pitchFamily="49" charset="-122"/>
              </a:rPr>
              <a:t>值为</a:t>
            </a:r>
            <a:r>
              <a:rPr lang="en-US" altLang="zh-CN" sz="2800" b="1" dirty="0">
                <a:latin typeface="楷体_GB2312" pitchFamily="49" charset="-122"/>
                <a:ea typeface="楷体_GB2312" pitchFamily="49" charset="-122"/>
              </a:rPr>
              <a:t>20</a:t>
            </a:r>
            <a:r>
              <a:rPr lang="zh-CN" altLang="en-US" sz="2800" b="1" dirty="0">
                <a:latin typeface="楷体_GB2312" pitchFamily="49" charset="-122"/>
                <a:ea typeface="楷体_GB2312" pitchFamily="49" charset="-122"/>
              </a:rPr>
              <a:t>，</a:t>
            </a:r>
            <a:r>
              <a:rPr lang="en-US" altLang="zh-CN" sz="2800" b="1" dirty="0">
                <a:latin typeface="楷体_GB2312" pitchFamily="49" charset="-122"/>
                <a:ea typeface="楷体_GB2312" pitchFamily="49" charset="-122"/>
              </a:rPr>
              <a:t>p1</a:t>
            </a:r>
            <a:r>
              <a:rPr lang="zh-CN" altLang="en-US" sz="2800" b="1" dirty="0">
                <a:latin typeface="楷体_GB2312" pitchFamily="49" charset="-122"/>
                <a:ea typeface="楷体_GB2312" pitchFamily="49" charset="-122"/>
              </a:rPr>
              <a:t>的</a:t>
            </a:r>
            <a:r>
              <a:rPr lang="en-US" altLang="zh-CN" sz="2800" b="1" dirty="0">
                <a:latin typeface="楷体_GB2312" pitchFamily="49" charset="-122"/>
                <a:ea typeface="楷体_GB2312" pitchFamily="49" charset="-122"/>
              </a:rPr>
              <a:t>y</a:t>
            </a:r>
            <a:r>
              <a:rPr lang="zh-CN" altLang="en-US" sz="2800" b="1" dirty="0">
                <a:latin typeface="楷体_GB2312" pitchFamily="49" charset="-122"/>
                <a:ea typeface="楷体_GB2312" pitchFamily="49" charset="-122"/>
              </a:rPr>
              <a:t>值为</a:t>
            </a:r>
            <a:r>
              <a:rPr lang="en-US" altLang="zh-CN" sz="2800" b="1" dirty="0">
                <a:latin typeface="楷体_GB2312" pitchFamily="49" charset="-122"/>
                <a:ea typeface="楷体_GB2312" pitchFamily="49" charset="-122"/>
              </a:rPr>
              <a:t>50 */</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也可以在定义结构类型与声明结构变量分开的情况下，在声明结构变量时进行初始化。例如，利用已定义的结构类型</a:t>
            </a:r>
            <a:r>
              <a:rPr lang="en-US" altLang="zh-CN" sz="2800" b="1" dirty="0">
                <a:latin typeface="楷体_GB2312" pitchFamily="49" charset="-122"/>
                <a:ea typeface="楷体_GB2312" pitchFamily="49" charset="-122"/>
              </a:rPr>
              <a:t>Point</a:t>
            </a:r>
            <a:r>
              <a:rPr lang="zh-CN" altLang="en-US" sz="2800" b="1" dirty="0">
                <a:latin typeface="楷体_GB2312" pitchFamily="49" charset="-122"/>
                <a:ea typeface="楷体_GB2312" pitchFamily="49" charset="-122"/>
              </a:rPr>
              <a:t>，结合声明结构变量进行初始化：</a:t>
            </a:r>
          </a:p>
          <a:p>
            <a:pPr marL="0" indent="0" eaLnBrk="1" hangingPunct="1">
              <a:buFont typeface="Monotype Sorts" pitchFamily="2" charset="2"/>
              <a:buNone/>
              <a:defRPr/>
            </a:pPr>
            <a:r>
              <a:rPr lang="en-US" altLang="zh-CN" sz="2800" b="1" dirty="0" err="1">
                <a:latin typeface="楷体_GB2312" pitchFamily="49" charset="-122"/>
                <a:ea typeface="楷体_GB2312" pitchFamily="49" charset="-122"/>
              </a:rPr>
              <a:t>struct</a:t>
            </a:r>
            <a:r>
              <a:rPr lang="en-US" altLang="zh-CN" sz="2800" b="1" dirty="0">
                <a:latin typeface="楷体_GB2312" pitchFamily="49" charset="-122"/>
                <a:ea typeface="楷体_GB2312" pitchFamily="49" charset="-122"/>
              </a:rPr>
              <a:t> Point p3={10,40}</a:t>
            </a:r>
            <a:r>
              <a:rPr lang="zh-CN" altLang="en-US" sz="2800" b="1" dirty="0">
                <a:latin typeface="楷体_GB2312" pitchFamily="49" charset="-122"/>
                <a:ea typeface="楷体_GB2312" pitchFamily="49" charset="-122"/>
              </a:rPr>
              <a:t>，</a:t>
            </a:r>
            <a:r>
              <a:rPr lang="en-US" altLang="zh-CN" sz="2800" b="1" dirty="0">
                <a:latin typeface="楷体_GB2312" pitchFamily="49" charset="-122"/>
                <a:ea typeface="楷体_GB2312" pitchFamily="49" charset="-122"/>
              </a:rPr>
              <a:t>p4={ 20,50};</a:t>
            </a:r>
            <a:endParaRPr lang="zh-CN" altLang="en-US" sz="2800" dirty="0">
              <a:latin typeface="楷体_GB2312" pitchFamily="49" charset="-122"/>
              <a:ea typeface="楷体_GB2312" pitchFamily="49" charset="-122"/>
            </a:endParaRPr>
          </a:p>
        </p:txBody>
      </p:sp>
      <p:sp>
        <p:nvSpPr>
          <p:cNvPr id="6" name="灯片编号占位符 5"/>
          <p:cNvSpPr>
            <a:spLocks noGrp="1"/>
          </p:cNvSpPr>
          <p:nvPr>
            <p:ph type="sldNum" sz="quarter" idx="12"/>
          </p:nvPr>
        </p:nvSpPr>
        <p:spPr/>
        <p:txBody>
          <a:bodyPr/>
          <a:lstStyle/>
          <a:p>
            <a:pPr>
              <a:defRPr/>
            </a:pPr>
            <a:fld id="{21F3EBD3-1EA8-4BB4-8075-92EB283F75DD}" type="slidenum">
              <a:rPr lang="en-US" altLang="zh-CN"/>
              <a:pPr>
                <a:defRPr/>
              </a:pPr>
              <a:t>11</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1715">
                                            <p:txEl>
                                              <p:pRg st="5" end="5"/>
                                            </p:txEl>
                                          </p:spTgt>
                                        </p:tgtEl>
                                        <p:attrNameLst>
                                          <p:attrName>style.visibility</p:attrName>
                                        </p:attrNameLst>
                                      </p:cBhvr>
                                      <p:to>
                                        <p:strVal val="visible"/>
                                      </p:to>
                                    </p:set>
                                    <p:anim calcmode="lin" valueType="num">
                                      <p:cBhvr additive="base">
                                        <p:cTn id="7" dur="500" fill="hold"/>
                                        <p:tgtEl>
                                          <p:spTgt spid="371715">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1715">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71715">
                                            <p:txEl>
                                              <p:pRg st="6" end="6"/>
                                            </p:txEl>
                                          </p:spTgt>
                                        </p:tgtEl>
                                        <p:attrNameLst>
                                          <p:attrName>style.visibility</p:attrName>
                                        </p:attrNameLst>
                                      </p:cBhvr>
                                      <p:to>
                                        <p:strVal val="visible"/>
                                      </p:to>
                                    </p:set>
                                    <p:anim calcmode="lin" valueType="num">
                                      <p:cBhvr additive="base">
                                        <p:cTn id="11" dur="500" fill="hold"/>
                                        <p:tgtEl>
                                          <p:spTgt spid="371715">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7171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5" name="Rectangle 3"/>
          <p:cNvSpPr>
            <a:spLocks noGrp="1" noChangeArrowheads="1"/>
          </p:cNvSpPr>
          <p:nvPr>
            <p:ph type="title"/>
          </p:nvPr>
        </p:nvSpPr>
        <p:spPr>
          <a:xfrm>
            <a:off x="539750" y="260350"/>
            <a:ext cx="7920038" cy="720725"/>
          </a:xfrm>
        </p:spPr>
        <p:txBody>
          <a:bodyPr>
            <a:normAutofit fontScale="90000"/>
          </a:bodyPr>
          <a:lstStyle/>
          <a:p>
            <a:pPr eaLnBrk="1" hangingPunct="1">
              <a:lnSpc>
                <a:spcPct val="100000"/>
              </a:lnSpc>
              <a:defRPr/>
            </a:pPr>
            <a:r>
              <a:rPr lang="zh-CN" altLang="en-US" dirty="0">
                <a:solidFill>
                  <a:schemeClr val="tx1"/>
                </a:solidFill>
                <a:latin typeface="黑体" pitchFamily="2" charset="-122"/>
                <a:ea typeface="黑体" pitchFamily="2" charset="-122"/>
              </a:rPr>
              <a:t>结构类型和结构变量的说明</a:t>
            </a:r>
          </a:p>
        </p:txBody>
      </p:sp>
      <p:sp>
        <p:nvSpPr>
          <p:cNvPr id="596994" name="Rectangle 2"/>
          <p:cNvSpPr>
            <a:spLocks noGrp="1" noChangeArrowheads="1"/>
          </p:cNvSpPr>
          <p:nvPr>
            <p:ph idx="1"/>
          </p:nvPr>
        </p:nvSpPr>
        <p:spPr>
          <a:xfrm>
            <a:off x="323850" y="981075"/>
            <a:ext cx="8496300" cy="5530850"/>
          </a:xfrm>
        </p:spPr>
        <p:txBody>
          <a:bodyPr/>
          <a:lstStyle/>
          <a:p>
            <a:pPr marL="0" indent="0" eaLnBrk="1" hangingPunct="1">
              <a:buFont typeface="Monotype Sorts" pitchFamily="2" charset="2"/>
              <a:buNone/>
              <a:defRPr/>
            </a:pPr>
            <a:r>
              <a:rPr lang="en-US" altLang="zh-CN" b="1" dirty="0">
                <a:latin typeface="楷体_GB2312" pitchFamily="49" charset="-122"/>
                <a:ea typeface="楷体_GB2312" pitchFamily="49" charset="-122"/>
              </a:rPr>
              <a:t>1. </a:t>
            </a:r>
            <a:r>
              <a:rPr lang="zh-CN" altLang="en-US" b="1" dirty="0">
                <a:latin typeface="楷体_GB2312" pitchFamily="49" charset="-122"/>
                <a:ea typeface="楷体_GB2312" pitchFamily="49" charset="-122"/>
              </a:rPr>
              <a:t>要注意结构类型名和结构变量名的区别。</a:t>
            </a:r>
          </a:p>
          <a:p>
            <a:pPr marL="0" indent="0" eaLnBrk="1" hangingPunct="1">
              <a:buFont typeface="Monotype Sorts" pitchFamily="2" charset="2"/>
              <a:buNone/>
              <a:defRPr/>
            </a:pPr>
            <a:r>
              <a:rPr lang="zh-CN" altLang="en-US" b="1" dirty="0">
                <a:latin typeface="楷体_GB2312" pitchFamily="49" charset="-122"/>
                <a:ea typeface="楷体_GB2312" pitchFamily="49" charset="-122"/>
              </a:rPr>
              <a:t>不能对结构类型名进行赋值、存取或运算，因为类型不占用存储空间；而结构变量会占用存储空间，定义时可以赋初值，定义后可引用。</a:t>
            </a:r>
            <a:endParaRPr lang="en-US" altLang="zh-CN" b="1" dirty="0">
              <a:latin typeface="楷体_GB2312" pitchFamily="49" charset="-122"/>
              <a:ea typeface="楷体_GB2312" pitchFamily="49" charset="-122"/>
            </a:endParaRPr>
          </a:p>
          <a:p>
            <a:pPr marL="0" indent="0" eaLnBrk="1" hangingPunct="1">
              <a:buFont typeface="Monotype Sorts" pitchFamily="2" charset="2"/>
              <a:buNone/>
              <a:defRPr/>
            </a:pPr>
            <a:endParaRPr lang="zh-CN" altLang="en-US" b="1" dirty="0">
              <a:latin typeface="楷体_GB2312" pitchFamily="49" charset="-122"/>
              <a:ea typeface="楷体_GB2312" pitchFamily="49" charset="-122"/>
            </a:endParaRPr>
          </a:p>
          <a:p>
            <a:pPr marL="0" indent="0" eaLnBrk="1" hangingPunct="1">
              <a:buFont typeface="Monotype Sorts" pitchFamily="2" charset="2"/>
              <a:buNone/>
              <a:defRPr/>
            </a:pPr>
            <a:r>
              <a:rPr lang="en-US" altLang="zh-CN" b="1" dirty="0">
                <a:latin typeface="楷体_GB2312" pitchFamily="49" charset="-122"/>
                <a:ea typeface="楷体_GB2312" pitchFamily="49" charset="-122"/>
              </a:rPr>
              <a:t>2. </a:t>
            </a:r>
            <a:r>
              <a:rPr lang="zh-CN" altLang="en-US" b="1" dirty="0">
                <a:latin typeface="楷体_GB2312" pitchFamily="49" charset="-122"/>
                <a:ea typeface="楷体_GB2312" pitchFamily="49" charset="-122"/>
              </a:rPr>
              <a:t>结构变量初始化的时间。</a:t>
            </a:r>
          </a:p>
          <a:p>
            <a:pPr marL="0" indent="0" eaLnBrk="1" hangingPunct="1">
              <a:buFont typeface="Monotype Sorts" pitchFamily="2" charset="2"/>
              <a:buNone/>
              <a:defRPr/>
            </a:pPr>
            <a:r>
              <a:rPr lang="zh-CN" altLang="en-US" b="1" dirty="0">
                <a:latin typeface="楷体_GB2312" pitchFamily="49" charset="-122"/>
                <a:ea typeface="楷体_GB2312" pitchFamily="49" charset="-122"/>
              </a:rPr>
              <a:t>静态结构变量初始化遵守其它静态变量初始化相同的规则。即静态的和全局的结构变量初始化在程序执行之前完成，静态的结构变量未指定初值时，结构变量的每个成员的值自动置二进制代码为全</a:t>
            </a:r>
            <a:r>
              <a:rPr lang="en-US" altLang="zh-CN" b="1" dirty="0">
                <a:latin typeface="楷体_GB2312" pitchFamily="49" charset="-122"/>
                <a:ea typeface="楷体_GB2312" pitchFamily="49" charset="-122"/>
              </a:rPr>
              <a:t>0</a:t>
            </a:r>
            <a:r>
              <a:rPr lang="zh-CN" altLang="en-US" b="1" dirty="0">
                <a:latin typeface="楷体_GB2312" pitchFamily="49" charset="-122"/>
                <a:ea typeface="楷体_GB2312" pitchFamily="49" charset="-122"/>
              </a:rPr>
              <a:t>的值。局部结构变量初始化是程序控制每次进入它所属辖域时创建并初始化，未指定初值的局部结构变量其初值是不确定的。</a:t>
            </a:r>
          </a:p>
        </p:txBody>
      </p:sp>
      <p:sp>
        <p:nvSpPr>
          <p:cNvPr id="6" name="灯片编号占位符 5"/>
          <p:cNvSpPr>
            <a:spLocks noGrp="1"/>
          </p:cNvSpPr>
          <p:nvPr>
            <p:ph type="sldNum" sz="quarter" idx="12"/>
          </p:nvPr>
        </p:nvSpPr>
        <p:spPr/>
        <p:txBody>
          <a:bodyPr/>
          <a:lstStyle/>
          <a:p>
            <a:pPr>
              <a:defRPr/>
            </a:pPr>
            <a:fld id="{11DDEE32-5110-4530-B2DA-0D7384B0D9F2}" type="slidenum">
              <a:rPr lang="en-US" altLang="zh-CN"/>
              <a:pPr>
                <a:defRPr/>
              </a:pPr>
              <a:t>12</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96994">
                                            <p:txEl>
                                              <p:pRg st="3" end="3"/>
                                            </p:txEl>
                                          </p:spTgt>
                                        </p:tgtEl>
                                        <p:attrNameLst>
                                          <p:attrName>style.visibility</p:attrName>
                                        </p:attrNameLst>
                                      </p:cBhvr>
                                      <p:to>
                                        <p:strVal val="visible"/>
                                      </p:to>
                                    </p:set>
                                    <p:anim calcmode="lin" valueType="num">
                                      <p:cBhvr additive="base">
                                        <p:cTn id="7" dur="500" fill="hold"/>
                                        <p:tgtEl>
                                          <p:spTgt spid="596994">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96994">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96994">
                                            <p:txEl>
                                              <p:pRg st="4" end="4"/>
                                            </p:txEl>
                                          </p:spTgt>
                                        </p:tgtEl>
                                        <p:attrNameLst>
                                          <p:attrName>style.visibility</p:attrName>
                                        </p:attrNameLst>
                                      </p:cBhvr>
                                      <p:to>
                                        <p:strVal val="visible"/>
                                      </p:to>
                                    </p:set>
                                    <p:anim calcmode="lin" valueType="num">
                                      <p:cBhvr additive="base">
                                        <p:cTn id="11" dur="500" fill="hold"/>
                                        <p:tgtEl>
                                          <p:spTgt spid="596994">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9699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6690" name="Rectangle 2"/>
          <p:cNvSpPr>
            <a:spLocks noGrp="1" noChangeArrowheads="1"/>
          </p:cNvSpPr>
          <p:nvPr>
            <p:ph idx="1"/>
          </p:nvPr>
        </p:nvSpPr>
        <p:spPr>
          <a:xfrm>
            <a:off x="323850" y="476250"/>
            <a:ext cx="8496300" cy="6035675"/>
          </a:xfrm>
        </p:spPr>
        <p:txBody>
          <a:bodyPr>
            <a:normAutofit lnSpcReduction="10000"/>
          </a:bodyPr>
          <a:lstStyle/>
          <a:p>
            <a:pPr marL="0" indent="0" eaLnBrk="1" hangingPunct="1">
              <a:buFont typeface="Monotype Sorts" pitchFamily="2" charset="2"/>
              <a:buNone/>
              <a:defRPr/>
            </a:pPr>
            <a:r>
              <a:rPr lang="en-US" altLang="zh-CN" sz="2800" b="1" dirty="0">
                <a:latin typeface="楷体_GB2312" pitchFamily="49" charset="-122"/>
                <a:ea typeface="楷体_GB2312" pitchFamily="49" charset="-122"/>
              </a:rPr>
              <a:t>3. </a:t>
            </a:r>
            <a:r>
              <a:rPr lang="zh-CN" altLang="en-US" sz="2800" b="1" dirty="0">
                <a:latin typeface="楷体_GB2312" pitchFamily="49" charset="-122"/>
                <a:ea typeface="楷体_GB2312" pitchFamily="49" charset="-122"/>
              </a:rPr>
              <a:t>可以定义指向结构的指针变量（结构指针变量简称结构指针）。</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设有结构变量</a:t>
            </a:r>
            <a:r>
              <a:rPr lang="en-US" altLang="zh-CN" sz="2800" b="1" dirty="0">
                <a:latin typeface="楷体_GB2312" pitchFamily="49" charset="-122"/>
                <a:ea typeface="楷体_GB2312" pitchFamily="49" charset="-122"/>
              </a:rPr>
              <a:t>s</a:t>
            </a:r>
            <a:r>
              <a:rPr lang="zh-CN" altLang="en-US" sz="2800" b="1" dirty="0">
                <a:latin typeface="楷体_GB2312" pitchFamily="49" charset="-122"/>
                <a:ea typeface="楷体_GB2312" pitchFamily="49" charset="-122"/>
              </a:rPr>
              <a:t>和能指向该结构的指针变量</a:t>
            </a:r>
            <a:r>
              <a:rPr lang="en-US" altLang="zh-CN" sz="2800" b="1" dirty="0">
                <a:latin typeface="楷体_GB2312" pitchFamily="49" charset="-122"/>
                <a:ea typeface="楷体_GB2312" pitchFamily="49" charset="-122"/>
              </a:rPr>
              <a:t>p</a:t>
            </a:r>
            <a:r>
              <a:rPr lang="zh-CN" altLang="en-US" sz="2800" b="1" dirty="0">
                <a:latin typeface="楷体_GB2312" pitchFamily="49" charset="-122"/>
                <a:ea typeface="楷体_GB2312" pitchFamily="49" charset="-122"/>
              </a:rPr>
              <a:t>，当把</a:t>
            </a:r>
            <a:r>
              <a:rPr lang="en-US" altLang="zh-CN" sz="2800" b="1" dirty="0">
                <a:latin typeface="楷体_GB2312" pitchFamily="49" charset="-122"/>
                <a:ea typeface="楷体_GB2312" pitchFamily="49" charset="-122"/>
              </a:rPr>
              <a:t>s</a:t>
            </a:r>
            <a:r>
              <a:rPr lang="zh-CN" altLang="en-US" sz="2800" b="1" dirty="0">
                <a:latin typeface="楷体_GB2312" pitchFamily="49" charset="-122"/>
                <a:ea typeface="楷体_GB2312" pitchFamily="49" charset="-122"/>
              </a:rPr>
              <a:t>所占据的存储块的开始地址赋值给</a:t>
            </a:r>
            <a:r>
              <a:rPr lang="en-US" altLang="zh-CN" sz="2800" b="1" dirty="0">
                <a:latin typeface="楷体_GB2312" pitchFamily="49" charset="-122"/>
                <a:ea typeface="楷体_GB2312" pitchFamily="49" charset="-122"/>
              </a:rPr>
              <a:t>p</a:t>
            </a:r>
            <a:r>
              <a:rPr lang="zh-CN" altLang="en-US" sz="2800" b="1" dirty="0">
                <a:latin typeface="楷体_GB2312" pitchFamily="49" charset="-122"/>
                <a:ea typeface="楷体_GB2312" pitchFamily="49" charset="-122"/>
              </a:rPr>
              <a:t>时</a:t>
            </a:r>
            <a:r>
              <a:rPr lang="en-US" altLang="zh-CN" sz="2800" b="1" dirty="0">
                <a:latin typeface="楷体_GB2312" pitchFamily="49" charset="-122"/>
                <a:ea typeface="楷体_GB2312" pitchFamily="49" charset="-122"/>
              </a:rPr>
              <a:t>(p = &amp;s)</a:t>
            </a:r>
            <a:r>
              <a:rPr lang="zh-CN" altLang="en-US" sz="2800" b="1" dirty="0">
                <a:latin typeface="楷体_GB2312" pitchFamily="49" charset="-122"/>
                <a:ea typeface="楷体_GB2312" pitchFamily="49" charset="-122"/>
              </a:rPr>
              <a:t>，就说结构指针</a:t>
            </a:r>
            <a:r>
              <a:rPr lang="en-US" altLang="zh-CN" sz="2800" b="1" dirty="0">
                <a:latin typeface="楷体_GB2312" pitchFamily="49" charset="-122"/>
                <a:ea typeface="楷体_GB2312" pitchFamily="49" charset="-122"/>
              </a:rPr>
              <a:t>p</a:t>
            </a:r>
            <a:r>
              <a:rPr lang="zh-CN" altLang="en-US" sz="2800" b="1" dirty="0">
                <a:latin typeface="楷体_GB2312" pitchFamily="49" charset="-122"/>
                <a:ea typeface="楷体_GB2312" pitchFamily="49" charset="-122"/>
              </a:rPr>
              <a:t>指向结构变量</a:t>
            </a:r>
            <a:r>
              <a:rPr lang="en-US" altLang="zh-CN" sz="2800" b="1" dirty="0">
                <a:latin typeface="楷体_GB2312" pitchFamily="49" charset="-122"/>
                <a:ea typeface="楷体_GB2312" pitchFamily="49" charset="-122"/>
              </a:rPr>
              <a:t>s</a:t>
            </a:r>
            <a:r>
              <a:rPr lang="zh-CN" altLang="en-US" sz="2800" b="1" dirty="0">
                <a:latin typeface="楷体_GB2312" pitchFamily="49" charset="-122"/>
                <a:ea typeface="楷体_GB2312" pitchFamily="49" charset="-122"/>
              </a:rPr>
              <a:t>。定义结构指针的方法与定义一般指针变量一样，当类型区分符是结构类型时，所定义的指针变量即为结构指针。</a:t>
            </a:r>
            <a:endParaRPr lang="en-US" altLang="zh-CN" sz="2800" b="1" dirty="0">
              <a:latin typeface="楷体_GB2312" pitchFamily="49" charset="-122"/>
              <a:ea typeface="楷体_GB2312" pitchFamily="49" charset="-122"/>
            </a:endParaRPr>
          </a:p>
          <a:p>
            <a:pPr marL="0" indent="0" eaLnBrk="1" hangingPunct="1">
              <a:buFont typeface="Monotype Sorts" pitchFamily="2" charset="2"/>
              <a:buNone/>
              <a:defRPr/>
            </a:pPr>
            <a:endParaRPr lang="en-US" altLang="zh-CN" sz="2800" b="1" dirty="0">
              <a:latin typeface="楷体_GB2312" pitchFamily="49" charset="-122"/>
              <a:ea typeface="楷体_GB2312" pitchFamily="49" charset="-122"/>
            </a:endParaRP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例如，</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struct</a:t>
            </a:r>
            <a:r>
              <a:rPr lang="en-US" altLang="zh-CN" sz="2800" b="1" dirty="0">
                <a:latin typeface="楷体_GB2312" pitchFamily="49" charset="-122"/>
                <a:ea typeface="楷体_GB2312" pitchFamily="49" charset="-122"/>
              </a:rPr>
              <a:t> Date  *pd, date3; </a:t>
            </a:r>
            <a:endParaRPr lang="zh-CN" altLang="en-US" sz="2800" b="1" dirty="0">
              <a:latin typeface="楷体_GB2312" pitchFamily="49" charset="-122"/>
              <a:ea typeface="楷体_GB2312" pitchFamily="49" charset="-122"/>
            </a:endParaRP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   </a:t>
            </a:r>
            <a:r>
              <a:rPr lang="en-US" altLang="zh-CN" sz="2800" b="1" dirty="0">
                <a:latin typeface="楷体_GB2312" pitchFamily="49" charset="-122"/>
                <a:ea typeface="楷体_GB2312" pitchFamily="49" charset="-122"/>
              </a:rPr>
              <a:t>pd = &amp;date3;</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定义结构指针</a:t>
            </a:r>
            <a:r>
              <a:rPr lang="en-US" altLang="zh-CN" sz="2800" b="1" dirty="0">
                <a:latin typeface="楷体_GB2312" pitchFamily="49" charset="-122"/>
                <a:ea typeface="楷体_GB2312" pitchFamily="49" charset="-122"/>
              </a:rPr>
              <a:t>pd</a:t>
            </a:r>
            <a:r>
              <a:rPr lang="zh-CN" altLang="en-US" sz="2800" b="1" dirty="0">
                <a:latin typeface="楷体_GB2312" pitchFamily="49" charset="-122"/>
                <a:ea typeface="楷体_GB2312" pitchFamily="49" charset="-122"/>
              </a:rPr>
              <a:t>和结构变量</a:t>
            </a:r>
            <a:r>
              <a:rPr lang="en-US" altLang="zh-CN" sz="2800" b="1" dirty="0">
                <a:latin typeface="楷体_GB2312" pitchFamily="49" charset="-122"/>
                <a:ea typeface="楷体_GB2312" pitchFamily="49" charset="-122"/>
              </a:rPr>
              <a:t>date3</a:t>
            </a:r>
            <a:r>
              <a:rPr lang="zh-CN" altLang="en-US" sz="2800" b="1" dirty="0">
                <a:latin typeface="楷体_GB2312" pitchFamily="49" charset="-122"/>
                <a:ea typeface="楷体_GB2312" pitchFamily="49" charset="-122"/>
              </a:rPr>
              <a:t>，并使结构指针</a:t>
            </a:r>
            <a:r>
              <a:rPr lang="en-US" altLang="zh-CN" sz="2800" b="1" dirty="0">
                <a:latin typeface="楷体_GB2312" pitchFamily="49" charset="-122"/>
                <a:ea typeface="楷体_GB2312" pitchFamily="49" charset="-122"/>
              </a:rPr>
              <a:t>pd</a:t>
            </a:r>
            <a:r>
              <a:rPr lang="zh-CN" altLang="en-US" sz="2800" b="1" dirty="0">
                <a:latin typeface="楷体_GB2312" pitchFamily="49" charset="-122"/>
                <a:ea typeface="楷体_GB2312" pitchFamily="49" charset="-122"/>
              </a:rPr>
              <a:t>指向结构变量</a:t>
            </a:r>
            <a:r>
              <a:rPr lang="en-US" altLang="zh-CN" sz="2800" b="1" dirty="0">
                <a:latin typeface="楷体_GB2312" pitchFamily="49" charset="-122"/>
                <a:ea typeface="楷体_GB2312" pitchFamily="49" charset="-122"/>
              </a:rPr>
              <a:t>date3</a:t>
            </a:r>
            <a:r>
              <a:rPr lang="zh-CN" altLang="en-US" sz="2800" b="1" dirty="0">
                <a:latin typeface="楷体_GB2312" pitchFamily="49" charset="-122"/>
                <a:ea typeface="楷体_GB2312" pitchFamily="49" charset="-122"/>
              </a:rPr>
              <a:t>，即结构指针</a:t>
            </a:r>
            <a:r>
              <a:rPr lang="en-US" altLang="zh-CN" sz="2800" b="1" dirty="0">
                <a:latin typeface="楷体_GB2312" pitchFamily="49" charset="-122"/>
                <a:ea typeface="楷体_GB2312" pitchFamily="49" charset="-122"/>
              </a:rPr>
              <a:t>pd</a:t>
            </a:r>
            <a:r>
              <a:rPr lang="zh-CN" altLang="en-US" sz="2800" b="1" dirty="0">
                <a:latin typeface="楷体_GB2312" pitchFamily="49" charset="-122"/>
                <a:ea typeface="楷体_GB2312" pitchFamily="49" charset="-122"/>
              </a:rPr>
              <a:t>的内容为结构变量</a:t>
            </a:r>
            <a:r>
              <a:rPr lang="en-US" altLang="zh-CN" sz="2800" b="1" dirty="0">
                <a:latin typeface="楷体_GB2312" pitchFamily="49" charset="-122"/>
                <a:ea typeface="楷体_GB2312" pitchFamily="49" charset="-122"/>
              </a:rPr>
              <a:t>date3</a:t>
            </a:r>
            <a:r>
              <a:rPr lang="zh-CN" altLang="en-US" sz="2800" b="1" dirty="0">
                <a:latin typeface="楷体_GB2312" pitchFamily="49" charset="-122"/>
                <a:ea typeface="楷体_GB2312" pitchFamily="49" charset="-122"/>
              </a:rPr>
              <a:t>所占据的存储块的首地址。</a:t>
            </a:r>
          </a:p>
        </p:txBody>
      </p:sp>
      <p:sp>
        <p:nvSpPr>
          <p:cNvPr id="5" name="灯片编号占位符 5"/>
          <p:cNvSpPr>
            <a:spLocks noGrp="1"/>
          </p:cNvSpPr>
          <p:nvPr>
            <p:ph type="sldNum" sz="quarter" idx="12"/>
          </p:nvPr>
        </p:nvSpPr>
        <p:spPr/>
        <p:txBody>
          <a:bodyPr/>
          <a:lstStyle/>
          <a:p>
            <a:pPr>
              <a:defRPr/>
            </a:pPr>
            <a:fld id="{BEF0A3A0-30F9-455A-996A-988F5EE78CD1}" type="slidenum">
              <a:rPr lang="en-US" altLang="zh-CN"/>
              <a:pPr>
                <a:defRPr/>
              </a:pPr>
              <a:t>13</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26690">
                                            <p:txEl>
                                              <p:pRg st="3" end="3"/>
                                            </p:txEl>
                                          </p:spTgt>
                                        </p:tgtEl>
                                        <p:attrNameLst>
                                          <p:attrName>style.visibility</p:attrName>
                                        </p:attrNameLst>
                                      </p:cBhvr>
                                      <p:to>
                                        <p:strVal val="visible"/>
                                      </p:to>
                                    </p:set>
                                    <p:anim calcmode="lin" valueType="num">
                                      <p:cBhvr additive="base">
                                        <p:cTn id="7" dur="500" fill="hold"/>
                                        <p:tgtEl>
                                          <p:spTgt spid="626690">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6690">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26690">
                                            <p:txEl>
                                              <p:pRg st="4" end="4"/>
                                            </p:txEl>
                                          </p:spTgt>
                                        </p:tgtEl>
                                        <p:attrNameLst>
                                          <p:attrName>style.visibility</p:attrName>
                                        </p:attrNameLst>
                                      </p:cBhvr>
                                      <p:to>
                                        <p:strVal val="visible"/>
                                      </p:to>
                                    </p:set>
                                    <p:anim calcmode="lin" valueType="num">
                                      <p:cBhvr additive="base">
                                        <p:cTn id="11" dur="500" fill="hold"/>
                                        <p:tgtEl>
                                          <p:spTgt spid="626690">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26690">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26690">
                                            <p:txEl>
                                              <p:pRg st="5" end="5"/>
                                            </p:txEl>
                                          </p:spTgt>
                                        </p:tgtEl>
                                        <p:attrNameLst>
                                          <p:attrName>style.visibility</p:attrName>
                                        </p:attrNameLst>
                                      </p:cBhvr>
                                      <p:to>
                                        <p:strVal val="visible"/>
                                      </p:to>
                                    </p:set>
                                    <p:anim calcmode="lin" valueType="num">
                                      <p:cBhvr additive="base">
                                        <p:cTn id="15" dur="500" fill="hold"/>
                                        <p:tgtEl>
                                          <p:spTgt spid="626690">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26690">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26690">
                                            <p:txEl>
                                              <p:pRg st="6" end="6"/>
                                            </p:txEl>
                                          </p:spTgt>
                                        </p:tgtEl>
                                        <p:attrNameLst>
                                          <p:attrName>style.visibility</p:attrName>
                                        </p:attrNameLst>
                                      </p:cBhvr>
                                      <p:to>
                                        <p:strVal val="visible"/>
                                      </p:to>
                                    </p:set>
                                    <p:anim calcmode="lin" valueType="num">
                                      <p:cBhvr additive="base">
                                        <p:cTn id="19" dur="500" fill="hold"/>
                                        <p:tgtEl>
                                          <p:spTgt spid="626690">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26690">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5" name="Rectangle 5"/>
          <p:cNvSpPr>
            <a:spLocks noGrp="1" noChangeArrowheads="1"/>
          </p:cNvSpPr>
          <p:nvPr>
            <p:ph type="title"/>
          </p:nvPr>
        </p:nvSpPr>
        <p:spPr>
          <a:xfrm>
            <a:off x="539750" y="260350"/>
            <a:ext cx="7920038" cy="720725"/>
          </a:xfrm>
        </p:spPr>
        <p:txBody>
          <a:bodyPr>
            <a:normAutofit fontScale="90000"/>
          </a:bodyPr>
          <a:lstStyle/>
          <a:p>
            <a:pPr eaLnBrk="1" hangingPunct="1">
              <a:lnSpc>
                <a:spcPct val="100000"/>
              </a:lnSpc>
              <a:defRPr/>
            </a:pPr>
            <a:r>
              <a:rPr lang="zh-CN" altLang="en-US" dirty="0">
                <a:solidFill>
                  <a:schemeClr val="tx1"/>
                </a:solidFill>
                <a:latin typeface="黑体" pitchFamily="2" charset="-122"/>
                <a:ea typeface="黑体" pitchFamily="2" charset="-122"/>
              </a:rPr>
              <a:t>结构变量的引用</a:t>
            </a:r>
          </a:p>
        </p:txBody>
      </p:sp>
      <p:sp>
        <p:nvSpPr>
          <p:cNvPr id="373763" name="Rectangle 3"/>
          <p:cNvSpPr>
            <a:spLocks noGrp="1" noChangeArrowheads="1"/>
          </p:cNvSpPr>
          <p:nvPr>
            <p:ph idx="1"/>
          </p:nvPr>
        </p:nvSpPr>
        <p:spPr>
          <a:xfrm>
            <a:off x="250825" y="1052513"/>
            <a:ext cx="8642350" cy="5184775"/>
          </a:xfrm>
        </p:spPr>
        <p:txBody>
          <a:bodyPr>
            <a:normAutofit/>
          </a:bodyPr>
          <a:lstStyle/>
          <a:p>
            <a:pPr marL="0" indent="0" eaLnBrk="1" hangingPunct="1">
              <a:buFont typeface="Monotype Sorts" pitchFamily="2" charset="2"/>
              <a:buNone/>
              <a:defRPr/>
            </a:pPr>
            <a:r>
              <a:rPr lang="zh-CN" altLang="en-US" sz="3200" b="1" dirty="0">
                <a:latin typeface="楷体_GB2312" pitchFamily="49" charset="-122"/>
                <a:ea typeface="楷体_GB2312" pitchFamily="49" charset="-122"/>
              </a:rPr>
              <a:t>用结构变量名直接引用结构变量和指向结构变量的指针间接引用结构变量。程序引用结构变量有以下多种应用。</a:t>
            </a:r>
          </a:p>
          <a:p>
            <a:pPr marL="0" indent="0" eaLnBrk="1" hangingPunct="1">
              <a:buFont typeface="Monotype Sorts" pitchFamily="2" charset="2"/>
              <a:buNone/>
              <a:defRPr/>
            </a:pPr>
            <a:r>
              <a:rPr lang="zh-CN" altLang="en-US" sz="3200" b="1" dirty="0">
                <a:latin typeface="楷体_GB2312" pitchFamily="49" charset="-122"/>
                <a:ea typeface="楷体_GB2312" pitchFamily="49" charset="-122"/>
              </a:rPr>
              <a:t>●相同类型的结构变量相互赋值</a:t>
            </a:r>
          </a:p>
          <a:p>
            <a:pPr marL="0" indent="0" eaLnBrk="1" hangingPunct="1">
              <a:buFont typeface="Monotype Sorts" pitchFamily="2" charset="2"/>
              <a:buNone/>
              <a:defRPr/>
            </a:pPr>
            <a:r>
              <a:rPr lang="zh-CN" altLang="en-US" sz="3200" b="1" dirty="0">
                <a:latin typeface="楷体_GB2312" pitchFamily="49" charset="-122"/>
                <a:ea typeface="楷体_GB2312" pitchFamily="49" charset="-122"/>
              </a:rPr>
              <a:t>●让结构指针指向结构变量</a:t>
            </a:r>
          </a:p>
          <a:p>
            <a:pPr marL="0" indent="0" eaLnBrk="1" hangingPunct="1">
              <a:buFont typeface="Monotype Sorts" pitchFamily="2" charset="2"/>
              <a:buNone/>
              <a:defRPr/>
            </a:pPr>
            <a:r>
              <a:rPr lang="zh-CN" altLang="en-US" sz="3200" b="1" dirty="0">
                <a:latin typeface="楷体_GB2312" pitchFamily="49" charset="-122"/>
                <a:ea typeface="楷体_GB2312" pitchFamily="49" charset="-122"/>
              </a:rPr>
              <a:t>●将结构变量作为实参调用带结构形参的函数</a:t>
            </a:r>
          </a:p>
        </p:txBody>
      </p:sp>
      <p:sp>
        <p:nvSpPr>
          <p:cNvPr id="6" name="灯片编号占位符 5"/>
          <p:cNvSpPr>
            <a:spLocks noGrp="1"/>
          </p:cNvSpPr>
          <p:nvPr>
            <p:ph type="sldNum" sz="quarter" idx="12"/>
          </p:nvPr>
        </p:nvSpPr>
        <p:spPr/>
        <p:txBody>
          <a:bodyPr/>
          <a:lstStyle/>
          <a:p>
            <a:pPr>
              <a:defRPr/>
            </a:pPr>
            <a:fld id="{2A65C22F-49C8-4E77-95DE-1A9AE063C4DB}" type="slidenum">
              <a:rPr lang="en-US" altLang="zh-CN"/>
              <a:pPr>
                <a:defRPr/>
              </a:pPr>
              <a:t>14</a:t>
            </a:fld>
            <a:endParaRPr lang="en-US" altLang="zh-CN"/>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714" name="Rectangle 2"/>
          <p:cNvSpPr>
            <a:spLocks noGrp="1" noChangeArrowheads="1"/>
          </p:cNvSpPr>
          <p:nvPr>
            <p:ph idx="1"/>
          </p:nvPr>
        </p:nvSpPr>
        <p:spPr>
          <a:xfrm>
            <a:off x="250825" y="620713"/>
            <a:ext cx="8642350" cy="5616575"/>
          </a:xfrm>
        </p:spPr>
        <p:txBody>
          <a:bodyPr>
            <a:noAutofit/>
          </a:bodyPr>
          <a:lstStyle/>
          <a:p>
            <a:pPr marL="0" indent="0" eaLnBrk="1" hangingPunct="1">
              <a:buFont typeface="Monotype Sorts" pitchFamily="2" charset="2"/>
              <a:buNone/>
              <a:defRPr/>
            </a:pPr>
            <a:r>
              <a:rPr lang="zh-CN" altLang="en-US" sz="2800" b="1" dirty="0">
                <a:latin typeface="楷体_GB2312" pitchFamily="49" charset="-122"/>
                <a:ea typeface="楷体_GB2312" pitchFamily="49" charset="-122"/>
              </a:rPr>
              <a:t>例如：</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struct</a:t>
            </a:r>
            <a:r>
              <a:rPr lang="en-US" altLang="zh-CN" sz="2800" b="1" dirty="0">
                <a:latin typeface="楷体_GB2312" pitchFamily="49" charset="-122"/>
                <a:ea typeface="楷体_GB2312" pitchFamily="49" charset="-122"/>
              </a:rPr>
              <a:t> student st3 = { 10005, </a:t>
            </a:r>
            <a:r>
              <a:rPr lang="en-US" altLang="zh-CN" sz="2800" b="1" dirty="0">
                <a:ea typeface="楷体_GB2312" pitchFamily="49" charset="-122"/>
              </a:rPr>
              <a:t>“</a:t>
            </a:r>
            <a:r>
              <a:rPr lang="en-US" altLang="zh-CN" sz="2800" b="1" dirty="0">
                <a:latin typeface="楷体_GB2312" pitchFamily="49" charset="-122"/>
                <a:ea typeface="楷体_GB2312" pitchFamily="49" charset="-122"/>
              </a:rPr>
              <a:t>Zhang wen</a:t>
            </a:r>
            <a:r>
              <a:rPr lang="en-US" altLang="zh-CN" sz="2800" b="1" dirty="0">
                <a:ea typeface="楷体_GB2312" pitchFamily="49" charset="-122"/>
              </a:rPr>
              <a:t>”</a:t>
            </a:r>
            <a:r>
              <a:rPr lang="en-US" altLang="zh-CN" sz="2800" b="1" dirty="0">
                <a:latin typeface="楷体_GB2312" pitchFamily="49" charset="-122"/>
                <a:ea typeface="楷体_GB2312" pitchFamily="49" charset="-122"/>
              </a:rPr>
              <a:t>, </a:t>
            </a:r>
            <a:r>
              <a:rPr lang="en-US" altLang="zh-CN" sz="2800" b="1" dirty="0">
                <a:ea typeface="楷体_GB2312" pitchFamily="49" charset="-122"/>
              </a:rPr>
              <a:t>‘</a:t>
            </a:r>
            <a:r>
              <a:rPr lang="en-US" altLang="zh-CN" sz="2800" b="1" dirty="0">
                <a:latin typeface="楷体_GB2312" pitchFamily="49" charset="-122"/>
                <a:ea typeface="楷体_GB2312" pitchFamily="49" charset="-122"/>
              </a:rPr>
              <a:t>F</a:t>
            </a:r>
            <a:r>
              <a:rPr lang="en-US" altLang="zh-CN" sz="2800" b="1" dirty="0">
                <a:ea typeface="楷体_GB2312" pitchFamily="49" charset="-122"/>
              </a:rPr>
              <a:t>’</a:t>
            </a:r>
            <a:r>
              <a:rPr lang="en-US" altLang="zh-CN" sz="2800" b="1" dirty="0">
                <a:latin typeface="楷体_GB2312" pitchFamily="49" charset="-122"/>
                <a:ea typeface="楷体_GB2312" pitchFamily="49" charset="-122"/>
              </a:rPr>
              <a:t>, {20, 11, 1985}, </a:t>
            </a:r>
            <a:r>
              <a:rPr lang="en-US" altLang="zh-CN" sz="2800" b="1" dirty="0">
                <a:ea typeface="楷体_GB2312" pitchFamily="49" charset="-122"/>
              </a:rPr>
              <a:t>“</a:t>
            </a:r>
            <a:r>
              <a:rPr lang="en-US" altLang="zh-CN" sz="2800" b="1" dirty="0">
                <a:latin typeface="楷体_GB2312" pitchFamily="49" charset="-122"/>
                <a:ea typeface="楷体_GB2312" pitchFamily="49" charset="-122"/>
              </a:rPr>
              <a:t>15 Nanjing Rd</a:t>
            </a:r>
            <a:r>
              <a:rPr lang="en-US" altLang="zh-CN" sz="2800" b="1" dirty="0">
                <a:ea typeface="楷体_GB2312" pitchFamily="49" charset="-122"/>
              </a:rPr>
              <a:t>”</a:t>
            </a:r>
            <a:r>
              <a:rPr lang="en-US" altLang="zh-CN" sz="2800" b="1" dirty="0">
                <a:latin typeface="楷体_GB2312" pitchFamily="49" charset="-122"/>
                <a:ea typeface="楷体_GB2312" pitchFamily="49" charset="-122"/>
              </a:rPr>
              <a:t>}, st4;</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把一个结构变量赋值给同类型的另一个结构变量。</a:t>
            </a:r>
            <a:endParaRPr lang="en-US" altLang="zh-CN" sz="2800" b="1" dirty="0">
              <a:latin typeface="楷体_GB2312" pitchFamily="49" charset="-122"/>
              <a:ea typeface="楷体_GB2312" pitchFamily="49" charset="-122"/>
            </a:endParaRP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例如        </a:t>
            </a:r>
            <a:r>
              <a:rPr lang="en-US" altLang="zh-CN" sz="2800" b="1" dirty="0">
                <a:latin typeface="楷体_GB2312" pitchFamily="49" charset="-122"/>
                <a:ea typeface="楷体_GB2312" pitchFamily="49" charset="-122"/>
              </a:rPr>
              <a:t>st4 = st3; 	</a:t>
            </a:r>
          </a:p>
          <a:p>
            <a:pPr marL="0" indent="0" eaLnBrk="1" hangingPunct="1">
              <a:buFont typeface="Monotype Sorts" pitchFamily="2" charset="2"/>
              <a:buNone/>
              <a:defRPr/>
            </a:pPr>
            <a:r>
              <a:rPr lang="en-US" altLang="zh-CN" sz="2400" b="1" dirty="0">
                <a:solidFill>
                  <a:srgbClr val="00B0F0"/>
                </a:solidFill>
                <a:latin typeface="楷体_GB2312" pitchFamily="49" charset="-122"/>
                <a:ea typeface="楷体_GB2312" pitchFamily="49" charset="-122"/>
              </a:rPr>
              <a:t>/* </a:t>
            </a:r>
            <a:r>
              <a:rPr lang="zh-CN" altLang="en-US" sz="2400" b="1" dirty="0">
                <a:solidFill>
                  <a:srgbClr val="00B0F0"/>
                </a:solidFill>
                <a:latin typeface="楷体_GB2312" pitchFamily="49" charset="-122"/>
                <a:ea typeface="楷体_GB2312" pitchFamily="49" charset="-122"/>
              </a:rPr>
              <a:t>将</a:t>
            </a:r>
            <a:r>
              <a:rPr lang="en-US" altLang="zh-CN" sz="2400" b="1" dirty="0">
                <a:solidFill>
                  <a:srgbClr val="00B0F0"/>
                </a:solidFill>
                <a:latin typeface="楷体_GB2312" pitchFamily="49" charset="-122"/>
                <a:ea typeface="楷体_GB2312" pitchFamily="49" charset="-122"/>
              </a:rPr>
              <a:t>st3</a:t>
            </a:r>
            <a:r>
              <a:rPr lang="zh-CN" altLang="en-US" sz="2400" b="1" dirty="0">
                <a:solidFill>
                  <a:srgbClr val="00B0F0"/>
                </a:solidFill>
                <a:latin typeface="楷体_GB2312" pitchFamily="49" charset="-122"/>
                <a:ea typeface="楷体_GB2312" pitchFamily="49" charset="-122"/>
              </a:rPr>
              <a:t>整体赋值给结构变量</a:t>
            </a:r>
            <a:r>
              <a:rPr lang="en-US" altLang="zh-CN" sz="2400" b="1" dirty="0">
                <a:solidFill>
                  <a:srgbClr val="00B0F0"/>
                </a:solidFill>
                <a:latin typeface="楷体_GB2312" pitchFamily="49" charset="-122"/>
                <a:ea typeface="楷体_GB2312" pitchFamily="49" charset="-122"/>
              </a:rPr>
              <a:t>st4</a:t>
            </a:r>
            <a:r>
              <a:rPr lang="zh-CN" altLang="en-US" sz="2400" b="1" dirty="0">
                <a:solidFill>
                  <a:srgbClr val="00B0F0"/>
                </a:solidFill>
                <a:latin typeface="楷体_GB2312" pitchFamily="49" charset="-122"/>
                <a:ea typeface="楷体_GB2312" pitchFamily="49" charset="-122"/>
              </a:rPr>
              <a:t>，</a:t>
            </a:r>
            <a:r>
              <a:rPr lang="zh-CN" altLang="en-US" sz="2400" b="1" dirty="0">
                <a:solidFill>
                  <a:srgbClr val="FF0000"/>
                </a:solidFill>
                <a:latin typeface="楷体_GB2312" pitchFamily="49" charset="-122"/>
                <a:ea typeface="楷体_GB2312" pitchFamily="49" charset="-122"/>
              </a:rPr>
              <a:t>包括内部的数组</a:t>
            </a:r>
            <a:r>
              <a:rPr lang="en-US" altLang="zh-CN" sz="2400" b="1" dirty="0">
                <a:solidFill>
                  <a:srgbClr val="FF0000"/>
                </a:solidFill>
                <a:latin typeface="楷体_GB2312" pitchFamily="49" charset="-122"/>
                <a:ea typeface="楷体_GB2312" pitchFamily="49" charset="-122"/>
              </a:rPr>
              <a:t> </a:t>
            </a:r>
            <a:r>
              <a:rPr lang="en-US" altLang="zh-CN" sz="2400" b="1" dirty="0">
                <a:solidFill>
                  <a:srgbClr val="00B0F0"/>
                </a:solidFill>
                <a:latin typeface="楷体_GB2312" pitchFamily="49" charset="-122"/>
                <a:ea typeface="楷体_GB2312" pitchFamily="49" charset="-122"/>
              </a:rPr>
              <a:t>*/</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假设前面已定义了一个结构类型</a:t>
            </a:r>
            <a:r>
              <a:rPr lang="en-US" altLang="zh-CN" sz="2800" b="1" dirty="0">
                <a:latin typeface="楷体_GB2312" pitchFamily="49" charset="-122"/>
                <a:ea typeface="楷体_GB2312" pitchFamily="49" charset="-122"/>
              </a:rPr>
              <a:t>student</a:t>
            </a:r>
            <a:r>
              <a:rPr lang="zh-CN" altLang="en-US" sz="2800" b="1" dirty="0">
                <a:latin typeface="楷体_GB2312" pitchFamily="49" charset="-122"/>
                <a:ea typeface="楷体_GB2312" pitchFamily="49" charset="-122"/>
              </a:rPr>
              <a:t>和结构变量</a:t>
            </a:r>
            <a:r>
              <a:rPr lang="en-US" altLang="zh-CN" sz="2800" b="1" dirty="0">
                <a:latin typeface="楷体_GB2312" pitchFamily="49" charset="-122"/>
                <a:ea typeface="楷体_GB2312" pitchFamily="49" charset="-122"/>
              </a:rPr>
              <a:t>st1</a:t>
            </a:r>
            <a:r>
              <a:rPr lang="zh-CN" altLang="en-US" sz="2800" b="1" dirty="0">
                <a:latin typeface="楷体_GB2312" pitchFamily="49" charset="-122"/>
                <a:ea typeface="楷体_GB2312" pitchFamily="49" charset="-122"/>
              </a:rPr>
              <a:t>，可以将结构变量</a:t>
            </a:r>
            <a:r>
              <a:rPr lang="en-US" altLang="zh-CN" sz="2800" b="1" dirty="0">
                <a:latin typeface="楷体_GB2312" pitchFamily="49" charset="-122"/>
                <a:ea typeface="楷体_GB2312" pitchFamily="49" charset="-122"/>
              </a:rPr>
              <a:t>st1</a:t>
            </a:r>
            <a:r>
              <a:rPr lang="zh-CN" altLang="en-US" sz="2800" b="1" dirty="0">
                <a:latin typeface="楷体_GB2312" pitchFamily="49" charset="-122"/>
                <a:ea typeface="楷体_GB2312" pitchFamily="49" charset="-122"/>
              </a:rPr>
              <a:t>所占据的存储块的首地址赋值给结构指针变量。例如</a:t>
            </a:r>
          </a:p>
          <a:p>
            <a:pPr marL="0" indent="0" eaLnBrk="1" hangingPunct="1">
              <a:buFont typeface="Monotype Sorts" pitchFamily="2" charset="2"/>
              <a:buNone/>
              <a:defRPr/>
            </a:pPr>
            <a:r>
              <a:rPr lang="en-US" altLang="zh-CN" sz="2800" b="1" dirty="0" err="1">
                <a:latin typeface="楷体_GB2312" pitchFamily="49" charset="-122"/>
                <a:ea typeface="楷体_GB2312" pitchFamily="49" charset="-122"/>
              </a:rPr>
              <a:t>struct</a:t>
            </a:r>
            <a:r>
              <a:rPr lang="en-US" altLang="zh-CN" sz="2800" b="1" dirty="0">
                <a:latin typeface="楷体_GB2312" pitchFamily="49" charset="-122"/>
                <a:ea typeface="楷体_GB2312" pitchFamily="49" charset="-122"/>
              </a:rPr>
              <a:t> student *</a:t>
            </a:r>
            <a:r>
              <a:rPr lang="en-US" altLang="zh-CN" sz="2800" b="1" dirty="0" err="1">
                <a:latin typeface="楷体_GB2312" pitchFamily="49" charset="-122"/>
                <a:ea typeface="楷体_GB2312" pitchFamily="49" charset="-122"/>
              </a:rPr>
              <a:t>stp</a:t>
            </a:r>
            <a:r>
              <a:rPr lang="en-US" altLang="zh-CN" sz="2800" b="1" dirty="0">
                <a:latin typeface="楷体_GB2312" pitchFamily="49" charset="-122"/>
                <a:ea typeface="楷体_GB2312" pitchFamily="49" charset="-122"/>
              </a:rPr>
              <a:t>=&amp;st1;</a:t>
            </a:r>
          </a:p>
          <a:p>
            <a:pPr marL="0" indent="0" eaLnBrk="1" hangingPunct="1">
              <a:buFont typeface="Monotype Sorts" pitchFamily="2" charset="2"/>
              <a:buNone/>
              <a:defRPr/>
            </a:pPr>
            <a:r>
              <a:rPr lang="en-US" altLang="zh-CN" sz="2400" b="1" dirty="0">
                <a:solidFill>
                  <a:srgbClr val="00B0F0"/>
                </a:solidFill>
                <a:latin typeface="楷体_GB2312" pitchFamily="49" charset="-122"/>
                <a:ea typeface="楷体_GB2312" pitchFamily="49" charset="-122"/>
              </a:rPr>
              <a:t>/*</a:t>
            </a:r>
            <a:r>
              <a:rPr lang="zh-CN" altLang="en-US" sz="2400" b="1" dirty="0">
                <a:solidFill>
                  <a:srgbClr val="00B0F0"/>
                </a:solidFill>
                <a:latin typeface="楷体_GB2312" pitchFamily="49" charset="-122"/>
                <a:ea typeface="楷体_GB2312" pitchFamily="49" charset="-122"/>
              </a:rPr>
              <a:t>定义指向结构变量</a:t>
            </a:r>
            <a:r>
              <a:rPr lang="en-US" altLang="zh-CN" sz="2400" b="1" dirty="0">
                <a:solidFill>
                  <a:srgbClr val="00B0F0"/>
                </a:solidFill>
                <a:latin typeface="楷体_GB2312" pitchFamily="49" charset="-122"/>
                <a:ea typeface="楷体_GB2312" pitchFamily="49" charset="-122"/>
              </a:rPr>
              <a:t>st1</a:t>
            </a:r>
            <a:r>
              <a:rPr lang="zh-CN" altLang="en-US" sz="2400" b="1" dirty="0">
                <a:solidFill>
                  <a:srgbClr val="00B0F0"/>
                </a:solidFill>
                <a:latin typeface="楷体_GB2312" pitchFamily="49" charset="-122"/>
                <a:ea typeface="楷体_GB2312" pitchFamily="49" charset="-122"/>
              </a:rPr>
              <a:t>的结构指针</a:t>
            </a:r>
            <a:r>
              <a:rPr lang="en-US" altLang="zh-CN" sz="2400" b="1" dirty="0">
                <a:solidFill>
                  <a:srgbClr val="00B0F0"/>
                </a:solidFill>
                <a:latin typeface="楷体_GB2312" pitchFamily="49" charset="-122"/>
                <a:ea typeface="楷体_GB2312" pitchFamily="49" charset="-122"/>
              </a:rPr>
              <a:t>p1*/</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上述代码定义结构指针变量</a:t>
            </a:r>
            <a:r>
              <a:rPr lang="en-US" altLang="zh-CN" sz="2800" b="1" dirty="0" err="1">
                <a:latin typeface="楷体_GB2312" pitchFamily="49" charset="-122"/>
                <a:ea typeface="楷体_GB2312" pitchFamily="49" charset="-122"/>
              </a:rPr>
              <a:t>stp</a:t>
            </a:r>
            <a:r>
              <a:rPr lang="zh-CN" altLang="en-US" sz="2800" b="1" dirty="0">
                <a:latin typeface="楷体_GB2312" pitchFamily="49" charset="-122"/>
                <a:ea typeface="楷体_GB2312" pitchFamily="49" charset="-122"/>
              </a:rPr>
              <a:t>，并让它指向结构变量</a:t>
            </a:r>
            <a:r>
              <a:rPr lang="en-US" altLang="zh-CN" sz="2800" b="1" dirty="0">
                <a:latin typeface="楷体_GB2312" pitchFamily="49" charset="-122"/>
                <a:ea typeface="楷体_GB2312" pitchFamily="49" charset="-122"/>
              </a:rPr>
              <a:t>st1</a:t>
            </a:r>
            <a:r>
              <a:rPr lang="zh-CN" altLang="en-US" sz="2800" b="1" dirty="0">
                <a:latin typeface="楷体_GB2312" pitchFamily="49" charset="-122"/>
                <a:ea typeface="楷体_GB2312" pitchFamily="49" charset="-122"/>
              </a:rPr>
              <a:t>。 </a:t>
            </a:r>
          </a:p>
        </p:txBody>
      </p:sp>
      <p:sp>
        <p:nvSpPr>
          <p:cNvPr id="5" name="灯片编号占位符 5"/>
          <p:cNvSpPr>
            <a:spLocks noGrp="1"/>
          </p:cNvSpPr>
          <p:nvPr>
            <p:ph type="sldNum" sz="quarter" idx="12"/>
          </p:nvPr>
        </p:nvSpPr>
        <p:spPr/>
        <p:txBody>
          <a:bodyPr/>
          <a:lstStyle/>
          <a:p>
            <a:pPr>
              <a:defRPr/>
            </a:pPr>
            <a:fld id="{E16EAF3F-F419-492D-A205-DD335A17B069}" type="slidenum">
              <a:rPr lang="en-US" altLang="zh-CN"/>
              <a:pPr>
                <a:defRPr/>
              </a:pPr>
              <a:t>15</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27714">
                                            <p:txEl>
                                              <p:pRg st="5" end="5"/>
                                            </p:txEl>
                                          </p:spTgt>
                                        </p:tgtEl>
                                        <p:attrNameLst>
                                          <p:attrName>style.visibility</p:attrName>
                                        </p:attrNameLst>
                                      </p:cBhvr>
                                      <p:to>
                                        <p:strVal val="visible"/>
                                      </p:to>
                                    </p:set>
                                    <p:anim calcmode="lin" valueType="num">
                                      <p:cBhvr additive="base">
                                        <p:cTn id="7" dur="500" fill="hold"/>
                                        <p:tgtEl>
                                          <p:spTgt spid="627714">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7714">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27714">
                                            <p:txEl>
                                              <p:pRg st="6" end="6"/>
                                            </p:txEl>
                                          </p:spTgt>
                                        </p:tgtEl>
                                        <p:attrNameLst>
                                          <p:attrName>style.visibility</p:attrName>
                                        </p:attrNameLst>
                                      </p:cBhvr>
                                      <p:to>
                                        <p:strVal val="visible"/>
                                      </p:to>
                                    </p:set>
                                    <p:anim calcmode="lin" valueType="num">
                                      <p:cBhvr additive="base">
                                        <p:cTn id="11" dur="500" fill="hold"/>
                                        <p:tgtEl>
                                          <p:spTgt spid="627714">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27714">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27714">
                                            <p:txEl>
                                              <p:pRg st="7" end="7"/>
                                            </p:txEl>
                                          </p:spTgt>
                                        </p:tgtEl>
                                        <p:attrNameLst>
                                          <p:attrName>style.visibility</p:attrName>
                                        </p:attrNameLst>
                                      </p:cBhvr>
                                      <p:to>
                                        <p:strVal val="visible"/>
                                      </p:to>
                                    </p:set>
                                    <p:anim calcmode="lin" valueType="num">
                                      <p:cBhvr additive="base">
                                        <p:cTn id="15" dur="500" fill="hold"/>
                                        <p:tgtEl>
                                          <p:spTgt spid="627714">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27714">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27714">
                                            <p:txEl>
                                              <p:pRg st="8" end="8"/>
                                            </p:txEl>
                                          </p:spTgt>
                                        </p:tgtEl>
                                        <p:attrNameLst>
                                          <p:attrName>style.visibility</p:attrName>
                                        </p:attrNameLst>
                                      </p:cBhvr>
                                      <p:to>
                                        <p:strVal val="visible"/>
                                      </p:to>
                                    </p:set>
                                    <p:anim calcmode="lin" valueType="num">
                                      <p:cBhvr additive="base">
                                        <p:cTn id="19" dur="500" fill="hold"/>
                                        <p:tgtEl>
                                          <p:spTgt spid="627714">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2771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738" name="Rectangle 2"/>
          <p:cNvSpPr>
            <a:spLocks noGrp="1" noChangeArrowheads="1"/>
          </p:cNvSpPr>
          <p:nvPr>
            <p:ph idx="1"/>
          </p:nvPr>
        </p:nvSpPr>
        <p:spPr>
          <a:xfrm>
            <a:off x="250825" y="620713"/>
            <a:ext cx="8642350" cy="5616575"/>
          </a:xfrm>
        </p:spPr>
        <p:txBody>
          <a:bodyPr>
            <a:noAutofit/>
          </a:bodyPr>
          <a:lstStyle/>
          <a:p>
            <a:pPr marL="0" indent="0" eaLnBrk="1" hangingPunct="1">
              <a:buFont typeface="Monotype Sorts" pitchFamily="2" charset="2"/>
              <a:buNone/>
              <a:defRPr/>
            </a:pPr>
            <a:r>
              <a:rPr lang="zh-CN" altLang="en-US" sz="3200" b="1" dirty="0">
                <a:latin typeface="黑体" pitchFamily="2" charset="-122"/>
                <a:ea typeface="黑体" pitchFamily="2" charset="-122"/>
              </a:rPr>
              <a:t>引用结构成员</a:t>
            </a:r>
          </a:p>
          <a:p>
            <a:pPr marL="0" indent="0" eaLnBrk="1" hangingPunct="1">
              <a:buFont typeface="Monotype Sorts" pitchFamily="2" charset="2"/>
              <a:buNone/>
              <a:defRPr/>
            </a:pPr>
            <a:r>
              <a:rPr lang="zh-CN" altLang="en-US" sz="3200" b="1" dirty="0">
                <a:latin typeface="楷体_GB2312" pitchFamily="49" charset="-122"/>
                <a:ea typeface="楷体_GB2312" pitchFamily="49" charset="-122"/>
              </a:rPr>
              <a:t>引用结构成员有以下</a:t>
            </a:r>
            <a:r>
              <a:rPr lang="en-US" altLang="zh-CN" sz="3200" b="1" dirty="0">
                <a:latin typeface="楷体_GB2312" pitchFamily="49" charset="-122"/>
                <a:ea typeface="楷体_GB2312" pitchFamily="49" charset="-122"/>
              </a:rPr>
              <a:t>3</a:t>
            </a:r>
            <a:r>
              <a:rPr lang="zh-CN" altLang="en-US" sz="3200" b="1" dirty="0">
                <a:latin typeface="楷体_GB2312" pitchFamily="49" charset="-122"/>
                <a:ea typeface="楷体_GB2312" pitchFamily="49" charset="-122"/>
              </a:rPr>
              <a:t>种方法。</a:t>
            </a:r>
          </a:p>
          <a:p>
            <a:pPr marL="0" indent="0">
              <a:defRPr/>
            </a:pPr>
            <a:r>
              <a:rPr lang="zh-CN" altLang="en-US" sz="3200" b="1" dirty="0">
                <a:latin typeface="楷体_GB2312" pitchFamily="49" charset="-122"/>
                <a:ea typeface="楷体_GB2312" pitchFamily="49" charset="-122"/>
              </a:rPr>
              <a:t>使用结构变量和成员运算符</a:t>
            </a:r>
          </a:p>
          <a:p>
            <a:pPr marL="0" indent="0">
              <a:defRPr/>
            </a:pPr>
            <a:r>
              <a:rPr lang="zh-CN" altLang="en-US" sz="3200" b="1" dirty="0">
                <a:latin typeface="楷体_GB2312" pitchFamily="49" charset="-122"/>
                <a:ea typeface="楷体_GB2312" pitchFamily="49" charset="-122"/>
              </a:rPr>
              <a:t>使用结构指针和指针运算符</a:t>
            </a:r>
          </a:p>
          <a:p>
            <a:pPr marL="0" indent="0">
              <a:defRPr/>
            </a:pPr>
            <a:r>
              <a:rPr lang="zh-CN" altLang="en-US" sz="3200" b="1" dirty="0">
                <a:latin typeface="楷体_GB2312" pitchFamily="49" charset="-122"/>
                <a:ea typeface="楷体_GB2312" pitchFamily="49" charset="-122"/>
              </a:rPr>
              <a:t>使用结构指针和成员运算符</a:t>
            </a:r>
          </a:p>
          <a:p>
            <a:pPr marL="0" indent="0" eaLnBrk="1" hangingPunct="1">
              <a:buFont typeface="Monotype Sorts" pitchFamily="2" charset="2"/>
              <a:buNone/>
              <a:defRPr/>
            </a:pPr>
            <a:endParaRPr lang="en-US" altLang="zh-CN" sz="3200" b="1" dirty="0">
              <a:latin typeface="楷体_GB2312" pitchFamily="49" charset="-122"/>
              <a:ea typeface="楷体_GB2312" pitchFamily="49" charset="-122"/>
            </a:endParaRPr>
          </a:p>
          <a:p>
            <a:pPr marL="0" indent="0" eaLnBrk="1" hangingPunct="1">
              <a:buFont typeface="Monotype Sorts" pitchFamily="2" charset="2"/>
              <a:buNone/>
              <a:defRPr/>
            </a:pPr>
            <a:r>
              <a:rPr lang="zh-CN" altLang="en-US" sz="3200" b="1" dirty="0">
                <a:latin typeface="楷体_GB2312" pitchFamily="49" charset="-122"/>
                <a:ea typeface="楷体_GB2312" pitchFamily="49" charset="-122"/>
              </a:rPr>
              <a:t>使用结构变量和成员运算符引用结构成员：</a:t>
            </a:r>
          </a:p>
          <a:p>
            <a:pPr marL="0" indent="0" eaLnBrk="1" hangingPunct="1">
              <a:buFont typeface="Monotype Sorts" pitchFamily="2" charset="2"/>
              <a:buNone/>
              <a:defRPr/>
            </a:pPr>
            <a:r>
              <a:rPr lang="zh-CN" altLang="en-US" sz="3200" b="1" dirty="0">
                <a:solidFill>
                  <a:srgbClr val="0000FF"/>
                </a:solidFill>
                <a:latin typeface="楷体_GB2312" pitchFamily="49" charset="-122"/>
                <a:ea typeface="楷体_GB2312" pitchFamily="49" charset="-122"/>
              </a:rPr>
              <a:t>结构变量名</a:t>
            </a:r>
            <a:r>
              <a:rPr lang="en-US" altLang="zh-CN" sz="3200" b="1" dirty="0">
                <a:solidFill>
                  <a:srgbClr val="0000FF"/>
                </a:solidFill>
                <a:latin typeface="楷体_GB2312" pitchFamily="49" charset="-122"/>
                <a:ea typeface="楷体_GB2312" pitchFamily="49" charset="-122"/>
              </a:rPr>
              <a:t>.</a:t>
            </a:r>
            <a:r>
              <a:rPr lang="zh-CN" altLang="en-US" sz="3200" b="1" dirty="0">
                <a:solidFill>
                  <a:srgbClr val="0000FF"/>
                </a:solidFill>
                <a:latin typeface="楷体_GB2312" pitchFamily="49" charset="-122"/>
                <a:ea typeface="楷体_GB2312" pitchFamily="49" charset="-122"/>
              </a:rPr>
              <a:t>成员名</a:t>
            </a:r>
          </a:p>
          <a:p>
            <a:pPr marL="0" indent="0" eaLnBrk="1" hangingPunct="1">
              <a:buFont typeface="Monotype Sorts" pitchFamily="2" charset="2"/>
              <a:buNone/>
              <a:defRPr/>
            </a:pPr>
            <a:r>
              <a:rPr lang="zh-CN" altLang="en-US" sz="3200" b="1" dirty="0">
                <a:latin typeface="楷体_GB2312" pitchFamily="49" charset="-122"/>
                <a:ea typeface="楷体_GB2312" pitchFamily="49" charset="-122"/>
              </a:rPr>
              <a:t>在这里，点符号</a:t>
            </a:r>
            <a:r>
              <a:rPr lang="zh-CN" altLang="en-US" sz="3200" b="1" dirty="0">
                <a:ea typeface="楷体_GB2312" pitchFamily="49" charset="-122"/>
              </a:rPr>
              <a:t>“</a:t>
            </a:r>
            <a:r>
              <a:rPr lang="en-US" altLang="zh-CN" sz="3200" b="1" dirty="0">
                <a:latin typeface="楷体_GB2312" pitchFamily="49" charset="-122"/>
                <a:ea typeface="楷体_GB2312" pitchFamily="49" charset="-122"/>
              </a:rPr>
              <a:t>.</a:t>
            </a:r>
            <a:r>
              <a:rPr lang="en-US" altLang="zh-CN" sz="3200" b="1" dirty="0">
                <a:ea typeface="楷体_GB2312" pitchFamily="49" charset="-122"/>
              </a:rPr>
              <a:t>”</a:t>
            </a:r>
            <a:r>
              <a:rPr lang="zh-CN" altLang="en-US" sz="3200" b="1" dirty="0">
                <a:latin typeface="楷体_GB2312" pitchFamily="49" charset="-122"/>
                <a:ea typeface="楷体_GB2312" pitchFamily="49" charset="-122"/>
              </a:rPr>
              <a:t>是结构的成员运算符，是优先级最高运算符之一。 </a:t>
            </a:r>
          </a:p>
        </p:txBody>
      </p:sp>
      <p:sp>
        <p:nvSpPr>
          <p:cNvPr id="5" name="灯片编号占位符 5"/>
          <p:cNvSpPr>
            <a:spLocks noGrp="1"/>
          </p:cNvSpPr>
          <p:nvPr>
            <p:ph type="sldNum" sz="quarter" idx="12"/>
          </p:nvPr>
        </p:nvSpPr>
        <p:spPr/>
        <p:txBody>
          <a:bodyPr/>
          <a:lstStyle/>
          <a:p>
            <a:pPr>
              <a:defRPr/>
            </a:pPr>
            <a:fld id="{8BFBA0E0-BF9B-4133-B0CD-BE2908FA41F6}" type="slidenum">
              <a:rPr lang="en-US" altLang="zh-CN"/>
              <a:pPr>
                <a:defRPr/>
              </a:pPr>
              <a:t>16</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28738">
                                            <p:txEl>
                                              <p:pRg st="6" end="6"/>
                                            </p:txEl>
                                          </p:spTgt>
                                        </p:tgtEl>
                                        <p:attrNameLst>
                                          <p:attrName>style.visibility</p:attrName>
                                        </p:attrNameLst>
                                      </p:cBhvr>
                                      <p:to>
                                        <p:strVal val="visible"/>
                                      </p:to>
                                    </p:set>
                                    <p:anim calcmode="lin" valueType="num">
                                      <p:cBhvr additive="base">
                                        <p:cTn id="7" dur="500" fill="hold"/>
                                        <p:tgtEl>
                                          <p:spTgt spid="628738">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8738">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28738">
                                            <p:txEl>
                                              <p:pRg st="7" end="7"/>
                                            </p:txEl>
                                          </p:spTgt>
                                        </p:tgtEl>
                                        <p:attrNameLst>
                                          <p:attrName>style.visibility</p:attrName>
                                        </p:attrNameLst>
                                      </p:cBhvr>
                                      <p:to>
                                        <p:strVal val="visible"/>
                                      </p:to>
                                    </p:set>
                                    <p:anim calcmode="lin" valueType="num">
                                      <p:cBhvr additive="base">
                                        <p:cTn id="11" dur="500" fill="hold"/>
                                        <p:tgtEl>
                                          <p:spTgt spid="628738">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28738">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28738">
                                            <p:txEl>
                                              <p:pRg st="8" end="8"/>
                                            </p:txEl>
                                          </p:spTgt>
                                        </p:tgtEl>
                                        <p:attrNameLst>
                                          <p:attrName>style.visibility</p:attrName>
                                        </p:attrNameLst>
                                      </p:cBhvr>
                                      <p:to>
                                        <p:strVal val="visible"/>
                                      </p:to>
                                    </p:set>
                                    <p:anim calcmode="lin" valueType="num">
                                      <p:cBhvr additive="base">
                                        <p:cTn id="15" dur="500" fill="hold"/>
                                        <p:tgtEl>
                                          <p:spTgt spid="628738">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28738">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762" name="Rectangle 2"/>
          <p:cNvSpPr>
            <a:spLocks noGrp="1" noChangeArrowheads="1"/>
          </p:cNvSpPr>
          <p:nvPr>
            <p:ph idx="1"/>
          </p:nvPr>
        </p:nvSpPr>
        <p:spPr>
          <a:xfrm>
            <a:off x="250825" y="620713"/>
            <a:ext cx="8642350" cy="5616575"/>
          </a:xfrm>
        </p:spPr>
        <p:txBody>
          <a:bodyPr/>
          <a:lstStyle/>
          <a:p>
            <a:pPr marL="0" indent="0" eaLnBrk="1" hangingPunct="1">
              <a:buFont typeface="Monotype Sorts" pitchFamily="2" charset="2"/>
              <a:buNone/>
              <a:defRPr/>
            </a:pPr>
            <a:r>
              <a:rPr lang="zh-CN" altLang="en-US" sz="2800" b="1" dirty="0">
                <a:latin typeface="楷体_GB2312" pitchFamily="49" charset="-122"/>
                <a:ea typeface="楷体_GB2312" pitchFamily="49" charset="-122"/>
              </a:rPr>
              <a:t>用代码</a:t>
            </a:r>
            <a:r>
              <a:rPr lang="en-US" altLang="zh-CN" sz="2800" b="1" dirty="0">
                <a:latin typeface="楷体_GB2312" pitchFamily="49" charset="-122"/>
                <a:ea typeface="楷体_GB2312" pitchFamily="49" charset="-122"/>
              </a:rPr>
              <a:t>stuS.name</a:t>
            </a:r>
            <a:r>
              <a:rPr lang="zh-CN" altLang="en-US" sz="2800" b="1" dirty="0">
                <a:latin typeface="楷体_GB2312" pitchFamily="49" charset="-122"/>
                <a:ea typeface="楷体_GB2312" pitchFamily="49" charset="-122"/>
              </a:rPr>
              <a:t>直接引用</a:t>
            </a:r>
            <a:r>
              <a:rPr lang="en-US" altLang="zh-CN" sz="2800" b="1" dirty="0" err="1">
                <a:latin typeface="楷体_GB2312" pitchFamily="49" charset="-122"/>
                <a:ea typeface="楷体_GB2312" pitchFamily="49" charset="-122"/>
              </a:rPr>
              <a:t>stuS</a:t>
            </a:r>
            <a:r>
              <a:rPr lang="zh-CN" altLang="en-US" sz="2800" b="1" dirty="0">
                <a:latin typeface="楷体_GB2312" pitchFamily="49" charset="-122"/>
                <a:ea typeface="楷体_GB2312" pitchFamily="49" charset="-122"/>
              </a:rPr>
              <a:t>结构变量的</a:t>
            </a:r>
            <a:r>
              <a:rPr lang="en-US" altLang="zh-CN" sz="2800" b="1" dirty="0">
                <a:latin typeface="楷体_GB2312" pitchFamily="49" charset="-122"/>
                <a:ea typeface="楷体_GB2312" pitchFamily="49" charset="-122"/>
              </a:rPr>
              <a:t>name</a:t>
            </a:r>
            <a:r>
              <a:rPr lang="zh-CN" altLang="en-US" sz="2800" b="1" dirty="0">
                <a:latin typeface="楷体_GB2312" pitchFamily="49" charset="-122"/>
                <a:ea typeface="楷体_GB2312" pitchFamily="49" charset="-122"/>
              </a:rPr>
              <a:t>成员。</a:t>
            </a:r>
          </a:p>
          <a:p>
            <a:pPr marL="0" indent="0" eaLnBrk="1" hangingPunct="1">
              <a:buFont typeface="Monotype Sorts" pitchFamily="2" charset="2"/>
              <a:buNone/>
              <a:defRPr/>
            </a:pPr>
            <a:endParaRPr lang="zh-CN" altLang="en-US" b="1" dirty="0">
              <a:effectLst>
                <a:outerShdw blurRad="38100" dist="38100" dir="2700000" algn="tl">
                  <a:srgbClr val="000000"/>
                </a:outerShdw>
              </a:effectLst>
              <a:latin typeface="楷体_GB2312" pitchFamily="49" charset="-122"/>
              <a:ea typeface="楷体_GB2312" pitchFamily="49" charset="-122"/>
            </a:endParaRP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引用结构变量的成员对该成员进行输入输出、赋值、运算等操作。例如</a:t>
            </a:r>
            <a:r>
              <a:rPr lang="en-US" altLang="zh-CN" sz="28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800" b="1" dirty="0" err="1">
                <a:latin typeface="楷体_GB2312" pitchFamily="49" charset="-122"/>
                <a:ea typeface="楷体_GB2312" pitchFamily="49" charset="-122"/>
              </a:rPr>
              <a:t>printf</a:t>
            </a:r>
            <a:r>
              <a:rPr lang="en-US" altLang="zh-CN" sz="2800" b="1" dirty="0">
                <a:latin typeface="楷体_GB2312" pitchFamily="49" charset="-122"/>
                <a:ea typeface="楷体_GB2312" pitchFamily="49" charset="-122"/>
              </a:rPr>
              <a:t>(</a:t>
            </a:r>
            <a:r>
              <a:rPr lang="en-US" altLang="zh-CN" sz="2800" b="1" dirty="0">
                <a:ea typeface="楷体_GB2312" pitchFamily="49" charset="-122"/>
              </a:rPr>
              <a:t>”</a:t>
            </a:r>
            <a:r>
              <a:rPr lang="zh-CN" altLang="en-US" sz="2800" b="1" dirty="0">
                <a:latin typeface="楷体_GB2312" pitchFamily="49" charset="-122"/>
                <a:ea typeface="楷体_GB2312" pitchFamily="49" charset="-122"/>
              </a:rPr>
              <a:t>学号：</a:t>
            </a:r>
            <a:r>
              <a:rPr lang="en-US" altLang="zh-CN" sz="2800" b="1" dirty="0">
                <a:latin typeface="楷体_GB2312" pitchFamily="49" charset="-122"/>
                <a:ea typeface="楷体_GB2312" pitchFamily="49" charset="-122"/>
              </a:rPr>
              <a:t>%d  </a:t>
            </a:r>
            <a:r>
              <a:rPr lang="zh-CN" altLang="en-US" sz="2800" b="1" dirty="0">
                <a:latin typeface="楷体_GB2312" pitchFamily="49" charset="-122"/>
                <a:ea typeface="楷体_GB2312" pitchFamily="49" charset="-122"/>
              </a:rPr>
              <a:t>姓名：</a:t>
            </a:r>
            <a:r>
              <a:rPr lang="en-US" altLang="zh-CN" sz="2800" b="1" dirty="0">
                <a:latin typeface="楷体_GB2312" pitchFamily="49" charset="-122"/>
                <a:ea typeface="楷体_GB2312" pitchFamily="49" charset="-122"/>
              </a:rPr>
              <a:t>%s  </a:t>
            </a:r>
            <a:r>
              <a:rPr lang="zh-CN" altLang="en-US" sz="2800" b="1" dirty="0">
                <a:latin typeface="楷体_GB2312" pitchFamily="49" charset="-122"/>
                <a:ea typeface="楷体_GB2312" pitchFamily="49" charset="-122"/>
              </a:rPr>
              <a:t>成绩：</a:t>
            </a:r>
            <a:r>
              <a:rPr lang="en-US" altLang="zh-CN" sz="2800" b="1" dirty="0">
                <a:latin typeface="楷体_GB2312" pitchFamily="49" charset="-122"/>
                <a:ea typeface="楷体_GB2312" pitchFamily="49" charset="-122"/>
              </a:rPr>
              <a:t>%d\n</a:t>
            </a:r>
            <a:r>
              <a:rPr lang="en-US" altLang="zh-CN" sz="2800" b="1" dirty="0">
                <a:ea typeface="楷体_GB2312" pitchFamily="49" charset="-122"/>
              </a:rPr>
              <a:t>”</a:t>
            </a:r>
            <a:r>
              <a:rPr lang="en-US" altLang="zh-CN" sz="2800" b="1" dirty="0">
                <a:latin typeface="楷体_GB2312" pitchFamily="49" charset="-122"/>
                <a:ea typeface="楷体_GB2312" pitchFamily="49" charset="-122"/>
              </a:rPr>
              <a:t>, </a:t>
            </a:r>
            <a:r>
              <a:rPr lang="en-US" altLang="zh-CN" sz="2800" b="1" dirty="0" err="1">
                <a:solidFill>
                  <a:srgbClr val="FF0000"/>
                </a:solidFill>
                <a:latin typeface="楷体_GB2312" pitchFamily="49" charset="-122"/>
                <a:ea typeface="楷体_GB2312" pitchFamily="49" charset="-122"/>
              </a:rPr>
              <a:t>stuS.number</a:t>
            </a:r>
            <a:r>
              <a:rPr lang="en-US" altLang="zh-CN" sz="2800" b="1" dirty="0">
                <a:solidFill>
                  <a:srgbClr val="FF0000"/>
                </a:solidFill>
                <a:latin typeface="楷体_GB2312" pitchFamily="49" charset="-122"/>
                <a:ea typeface="楷体_GB2312" pitchFamily="49" charset="-122"/>
              </a:rPr>
              <a:t>, stuS.name, </a:t>
            </a:r>
            <a:r>
              <a:rPr lang="en-US" altLang="zh-CN" sz="2800" b="1" dirty="0" err="1">
                <a:solidFill>
                  <a:srgbClr val="FF0000"/>
                </a:solidFill>
                <a:latin typeface="楷体_GB2312" pitchFamily="49" charset="-122"/>
                <a:ea typeface="楷体_GB2312" pitchFamily="49" charset="-122"/>
              </a:rPr>
              <a:t>stuS.score</a:t>
            </a:r>
            <a:r>
              <a:rPr lang="en-US" altLang="zh-CN" sz="2800" b="1" dirty="0">
                <a:latin typeface="楷体_GB2312" pitchFamily="49" charset="-122"/>
                <a:ea typeface="楷体_GB2312" pitchFamily="49" charset="-122"/>
              </a:rPr>
              <a:t>);</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输出学生</a:t>
            </a:r>
            <a:r>
              <a:rPr lang="en-US" altLang="zh-CN" sz="2800" b="1" dirty="0" err="1">
                <a:latin typeface="楷体_GB2312" pitchFamily="49" charset="-122"/>
                <a:ea typeface="楷体_GB2312" pitchFamily="49" charset="-122"/>
              </a:rPr>
              <a:t>stuS</a:t>
            </a:r>
            <a:r>
              <a:rPr lang="zh-CN" altLang="en-US" sz="2800" b="1" dirty="0">
                <a:latin typeface="楷体_GB2312" pitchFamily="49" charset="-122"/>
                <a:ea typeface="楷体_GB2312" pitchFamily="49" charset="-122"/>
              </a:rPr>
              <a:t>的信息。代码：</a:t>
            </a:r>
          </a:p>
          <a:p>
            <a:pPr marL="0" indent="0" eaLnBrk="1" hangingPunct="1">
              <a:buFont typeface="Monotype Sorts" pitchFamily="2" charset="2"/>
              <a:buNone/>
              <a:defRPr/>
            </a:pPr>
            <a:r>
              <a:rPr lang="en-US" altLang="zh-CN" sz="2800" b="1" dirty="0" err="1">
                <a:solidFill>
                  <a:srgbClr val="FF0000"/>
                </a:solidFill>
                <a:latin typeface="楷体_GB2312" pitchFamily="49" charset="-122"/>
                <a:ea typeface="楷体_GB2312" pitchFamily="49" charset="-122"/>
              </a:rPr>
              <a:t>stuS.score</a:t>
            </a:r>
            <a:r>
              <a:rPr lang="en-US" altLang="zh-CN" sz="2800" b="1" dirty="0">
                <a:latin typeface="楷体_GB2312" pitchFamily="49" charset="-122"/>
                <a:ea typeface="楷体_GB2312" pitchFamily="49" charset="-122"/>
              </a:rPr>
              <a:t> += 5;</a:t>
            </a:r>
          </a:p>
          <a:p>
            <a:pPr marL="0" indent="0" eaLnBrk="1" hangingPunct="1">
              <a:buFont typeface="Monotype Sorts" pitchFamily="2" charset="2"/>
              <a:buNone/>
              <a:defRPr/>
            </a:pPr>
            <a:r>
              <a:rPr lang="en-US" altLang="zh-CN" sz="2800" b="1" dirty="0" err="1">
                <a:latin typeface="楷体_GB2312" pitchFamily="49" charset="-122"/>
                <a:ea typeface="楷体_GB2312" pitchFamily="49" charset="-122"/>
              </a:rPr>
              <a:t>strcpy</a:t>
            </a:r>
            <a:r>
              <a:rPr lang="en-US" altLang="zh-CN" sz="2800" b="1" dirty="0">
                <a:latin typeface="楷体_GB2312" pitchFamily="49" charset="-122"/>
                <a:ea typeface="楷体_GB2312" pitchFamily="49" charset="-122"/>
              </a:rPr>
              <a:t>(</a:t>
            </a:r>
            <a:r>
              <a:rPr lang="en-US" altLang="zh-CN" sz="2800" b="1" dirty="0">
                <a:solidFill>
                  <a:srgbClr val="FF0000"/>
                </a:solidFill>
                <a:latin typeface="楷体_GB2312" pitchFamily="49" charset="-122"/>
                <a:ea typeface="楷体_GB2312" pitchFamily="49" charset="-122"/>
              </a:rPr>
              <a:t>stuS.name</a:t>
            </a:r>
            <a:r>
              <a:rPr lang="en-US" altLang="zh-CN" sz="2800" b="1" dirty="0">
                <a:latin typeface="楷体_GB2312" pitchFamily="49" charset="-122"/>
                <a:ea typeface="楷体_GB2312" pitchFamily="49" charset="-122"/>
              </a:rPr>
              <a:t>, </a:t>
            </a:r>
            <a:r>
              <a:rPr lang="en-US" altLang="zh-CN" sz="2800" b="1" dirty="0">
                <a:ea typeface="楷体_GB2312" pitchFamily="49" charset="-122"/>
              </a:rPr>
              <a:t>“</a:t>
            </a:r>
            <a:r>
              <a:rPr lang="en-US" altLang="zh-CN" sz="2800" b="1" dirty="0">
                <a:latin typeface="楷体_GB2312" pitchFamily="49" charset="-122"/>
                <a:ea typeface="楷体_GB2312" pitchFamily="49" charset="-122"/>
              </a:rPr>
              <a:t>Li </a:t>
            </a:r>
            <a:r>
              <a:rPr lang="en-US" altLang="zh-CN" sz="2800" b="1" dirty="0" err="1">
                <a:latin typeface="楷体_GB2312" pitchFamily="49" charset="-122"/>
                <a:ea typeface="楷体_GB2312" pitchFamily="49" charset="-122"/>
              </a:rPr>
              <a:t>ming</a:t>
            </a:r>
            <a:r>
              <a:rPr lang="en-US" altLang="zh-CN" sz="2800" b="1" dirty="0">
                <a:ea typeface="楷体_GB2312" pitchFamily="49" charset="-122"/>
              </a:rPr>
              <a:t>”</a:t>
            </a:r>
            <a:r>
              <a:rPr lang="en-US" altLang="zh-CN" sz="2800" b="1" dirty="0">
                <a:latin typeface="楷体_GB2312" pitchFamily="49" charset="-122"/>
                <a:ea typeface="楷体_GB2312" pitchFamily="49" charset="-122"/>
              </a:rPr>
              <a:t>);</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更新学生</a:t>
            </a:r>
            <a:r>
              <a:rPr lang="en-US" altLang="zh-CN" sz="2800" b="1" dirty="0" err="1">
                <a:latin typeface="楷体_GB2312" pitchFamily="49" charset="-122"/>
                <a:ea typeface="楷体_GB2312" pitchFamily="49" charset="-122"/>
              </a:rPr>
              <a:t>stuS</a:t>
            </a:r>
            <a:r>
              <a:rPr lang="zh-CN" altLang="en-US" sz="2800" b="1" dirty="0">
                <a:latin typeface="楷体_GB2312" pitchFamily="49" charset="-122"/>
                <a:ea typeface="楷体_GB2312" pitchFamily="49" charset="-122"/>
              </a:rPr>
              <a:t>的成绩，更正学生</a:t>
            </a:r>
            <a:r>
              <a:rPr lang="en-US" altLang="zh-CN" sz="2800" b="1" dirty="0" err="1">
                <a:latin typeface="楷体_GB2312" pitchFamily="49" charset="-122"/>
                <a:ea typeface="楷体_GB2312" pitchFamily="49" charset="-122"/>
              </a:rPr>
              <a:t>stuS</a:t>
            </a:r>
            <a:r>
              <a:rPr lang="zh-CN" altLang="en-US" sz="2800" b="1" dirty="0">
                <a:latin typeface="楷体_GB2312" pitchFamily="49" charset="-122"/>
                <a:ea typeface="楷体_GB2312" pitchFamily="49" charset="-122"/>
              </a:rPr>
              <a:t>的姓名。</a:t>
            </a:r>
          </a:p>
        </p:txBody>
      </p:sp>
      <p:sp>
        <p:nvSpPr>
          <p:cNvPr id="5" name="灯片编号占位符 5"/>
          <p:cNvSpPr>
            <a:spLocks noGrp="1"/>
          </p:cNvSpPr>
          <p:nvPr>
            <p:ph type="sldNum" sz="quarter" idx="12"/>
          </p:nvPr>
        </p:nvSpPr>
        <p:spPr/>
        <p:txBody>
          <a:bodyPr/>
          <a:lstStyle/>
          <a:p>
            <a:pPr>
              <a:defRPr/>
            </a:pPr>
            <a:fld id="{A525B68B-2D72-41C3-AED0-ACD799FC6A57}" type="slidenum">
              <a:rPr lang="en-US" altLang="zh-CN"/>
              <a:pPr>
                <a:defRPr/>
              </a:pPr>
              <a:t>17</a:t>
            </a:fld>
            <a:endParaRPr lang="en-US" altLang="zh-CN"/>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786" name="Rectangle 2"/>
          <p:cNvSpPr>
            <a:spLocks noGrp="1" noChangeArrowheads="1"/>
          </p:cNvSpPr>
          <p:nvPr>
            <p:ph idx="1"/>
          </p:nvPr>
        </p:nvSpPr>
        <p:spPr>
          <a:xfrm>
            <a:off x="250825" y="260350"/>
            <a:ext cx="8642350" cy="5976938"/>
          </a:xfrm>
        </p:spPr>
        <p:txBody>
          <a:bodyPr>
            <a:normAutofit/>
          </a:bodyPr>
          <a:lstStyle/>
          <a:p>
            <a:pPr marL="0" indent="0" eaLnBrk="1" hangingPunct="1">
              <a:buFont typeface="Monotype Sorts" pitchFamily="2" charset="2"/>
              <a:buNone/>
              <a:defRPr/>
            </a:pPr>
            <a:endParaRPr lang="en-US" altLang="zh-CN" sz="2800" b="1" dirty="0">
              <a:latin typeface="楷体_GB2312" pitchFamily="49" charset="-122"/>
              <a:ea typeface="楷体_GB2312" pitchFamily="49" charset="-122"/>
            </a:endParaRP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使用结构指针和指针运算符引用结构成员：</a:t>
            </a:r>
            <a:endParaRPr lang="en-US" altLang="zh-CN" sz="2800" b="1" dirty="0">
              <a:latin typeface="楷体_GB2312" pitchFamily="49" charset="-122"/>
              <a:ea typeface="楷体_GB2312" pitchFamily="49" charset="-122"/>
            </a:endParaRP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指针变量名</a:t>
            </a:r>
            <a:r>
              <a:rPr lang="en-US" altLang="zh-CN" sz="2800" b="1" dirty="0">
                <a:latin typeface="楷体_GB2312" pitchFamily="49" charset="-122"/>
                <a:ea typeface="楷体_GB2312" pitchFamily="49" charset="-122"/>
              </a:rPr>
              <a:t>-&gt;</a:t>
            </a:r>
            <a:r>
              <a:rPr lang="zh-CN" altLang="en-US" sz="2800" b="1" dirty="0">
                <a:latin typeface="楷体_GB2312" pitchFamily="49" charset="-122"/>
                <a:ea typeface="楷体_GB2312" pitchFamily="49" charset="-122"/>
              </a:rPr>
              <a:t>成员名</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其中双字符</a:t>
            </a:r>
            <a:r>
              <a:rPr lang="zh-CN" altLang="en-US" sz="2800" b="1" dirty="0">
                <a:ea typeface="楷体_GB2312" pitchFamily="49" charset="-122"/>
              </a:rPr>
              <a:t>“</a:t>
            </a:r>
            <a:r>
              <a:rPr lang="en-US" altLang="zh-CN" sz="2800" b="1" dirty="0">
                <a:latin typeface="楷体_GB2312" pitchFamily="49" charset="-122"/>
                <a:ea typeface="楷体_GB2312" pitchFamily="49" charset="-122"/>
              </a:rPr>
              <a:t>-&gt;</a:t>
            </a:r>
            <a:r>
              <a:rPr lang="en-US" altLang="zh-CN" sz="2800" b="1" dirty="0">
                <a:ea typeface="楷体_GB2312" pitchFamily="49" charset="-122"/>
              </a:rPr>
              <a:t>”</a:t>
            </a:r>
            <a:r>
              <a:rPr lang="zh-CN" altLang="en-US" sz="2800" b="1" dirty="0">
                <a:latin typeface="楷体_GB2312" pitchFamily="49" charset="-122"/>
                <a:ea typeface="楷体_GB2312" pitchFamily="49" charset="-122"/>
              </a:rPr>
              <a:t>是指针运算符，它是由减号</a:t>
            </a:r>
            <a:r>
              <a:rPr lang="zh-CN" altLang="en-US" sz="2800" b="1" dirty="0">
                <a:ea typeface="楷体_GB2312" pitchFamily="49" charset="-122"/>
              </a:rPr>
              <a:t>“</a:t>
            </a:r>
            <a:r>
              <a:rPr lang="en-US" altLang="zh-CN" sz="2800" b="1" dirty="0">
                <a:latin typeface="楷体_GB2312" pitchFamily="49" charset="-122"/>
                <a:ea typeface="楷体_GB2312" pitchFamily="49" charset="-122"/>
              </a:rPr>
              <a:t>-</a:t>
            </a:r>
            <a:r>
              <a:rPr lang="en-US" altLang="zh-CN" sz="2800" b="1" dirty="0">
                <a:ea typeface="楷体_GB2312" pitchFamily="49" charset="-122"/>
              </a:rPr>
              <a:t>”</a:t>
            </a:r>
            <a:r>
              <a:rPr lang="zh-CN" altLang="en-US" sz="2800" b="1" dirty="0">
                <a:latin typeface="楷体_GB2312" pitchFamily="49" charset="-122"/>
                <a:ea typeface="楷体_GB2312" pitchFamily="49" charset="-122"/>
              </a:rPr>
              <a:t>和大于号</a:t>
            </a:r>
            <a:r>
              <a:rPr lang="zh-CN" altLang="en-US" sz="2800" b="1" dirty="0">
                <a:ea typeface="楷体_GB2312" pitchFamily="49" charset="-122"/>
              </a:rPr>
              <a:t>“</a:t>
            </a:r>
            <a:r>
              <a:rPr lang="en-US" altLang="zh-CN" sz="2800" b="1" dirty="0">
                <a:latin typeface="楷体_GB2312" pitchFamily="49" charset="-122"/>
                <a:ea typeface="楷体_GB2312" pitchFamily="49" charset="-122"/>
              </a:rPr>
              <a:t>&gt;</a:t>
            </a:r>
            <a:r>
              <a:rPr lang="en-US" altLang="zh-CN" sz="2800" b="1" dirty="0">
                <a:ea typeface="楷体_GB2312" pitchFamily="49" charset="-122"/>
              </a:rPr>
              <a:t>”</a:t>
            </a:r>
            <a:r>
              <a:rPr lang="zh-CN" altLang="en-US" sz="2800" b="1" dirty="0">
                <a:latin typeface="楷体_GB2312" pitchFamily="49" charset="-122"/>
                <a:ea typeface="楷体_GB2312" pitchFamily="49" charset="-122"/>
              </a:rPr>
              <a:t>两个字符组成（请注意中间不能有空格符），其优先级与成员运算符</a:t>
            </a:r>
            <a:r>
              <a:rPr lang="zh-CN" altLang="en-US" sz="2800" b="1" dirty="0">
                <a:ea typeface="楷体_GB2312" pitchFamily="49" charset="-122"/>
              </a:rPr>
              <a:t>“</a:t>
            </a:r>
            <a:r>
              <a:rPr lang="en-US" altLang="zh-CN" sz="2800" b="1" dirty="0">
                <a:latin typeface="楷体_GB2312" pitchFamily="49" charset="-122"/>
                <a:ea typeface="楷体_GB2312" pitchFamily="49" charset="-122"/>
              </a:rPr>
              <a:t>.</a:t>
            </a:r>
            <a:r>
              <a:rPr lang="en-US" altLang="zh-CN" sz="2800" b="1" dirty="0">
                <a:ea typeface="楷体_GB2312" pitchFamily="49" charset="-122"/>
              </a:rPr>
              <a:t>”</a:t>
            </a:r>
            <a:r>
              <a:rPr lang="zh-CN" altLang="en-US" sz="2800" b="1" dirty="0">
                <a:latin typeface="楷体_GB2312" pitchFamily="49" charset="-122"/>
                <a:ea typeface="楷体_GB2312" pitchFamily="49" charset="-122"/>
              </a:rPr>
              <a:t>一样，也是最高优先级的运算符。</a:t>
            </a:r>
          </a:p>
          <a:p>
            <a:pPr marL="0" indent="0" eaLnBrk="1" hangingPunct="1">
              <a:buFont typeface="Monotype Sorts" pitchFamily="2" charset="2"/>
              <a:buNone/>
              <a:defRPr/>
            </a:pPr>
            <a:r>
              <a:rPr lang="zh-CN" altLang="en-US" sz="2800" b="1" dirty="0">
                <a:solidFill>
                  <a:srgbClr val="C00000"/>
                </a:solidFill>
                <a:latin typeface="楷体_GB2312" pitchFamily="49" charset="-122"/>
                <a:ea typeface="楷体_GB2312" pitchFamily="49" charset="-122"/>
              </a:rPr>
              <a:t>可以使用结构指针间接引用</a:t>
            </a:r>
            <a:r>
              <a:rPr lang="en-US" altLang="zh-CN" sz="2800" b="1" dirty="0" err="1">
                <a:solidFill>
                  <a:srgbClr val="C00000"/>
                </a:solidFill>
                <a:latin typeface="楷体_GB2312" pitchFamily="49" charset="-122"/>
                <a:ea typeface="楷体_GB2312" pitchFamily="49" charset="-122"/>
              </a:rPr>
              <a:t>stuS</a:t>
            </a:r>
            <a:r>
              <a:rPr lang="zh-CN" altLang="en-US" sz="2800" b="1" dirty="0">
                <a:solidFill>
                  <a:srgbClr val="C00000"/>
                </a:solidFill>
                <a:latin typeface="楷体_GB2312" pitchFamily="49" charset="-122"/>
                <a:ea typeface="楷体_GB2312" pitchFamily="49" charset="-122"/>
              </a:rPr>
              <a:t>结构变量的成员</a:t>
            </a:r>
            <a:r>
              <a:rPr lang="zh-CN" altLang="en-US" sz="2800" b="1" dirty="0">
                <a:latin typeface="楷体_GB2312" pitchFamily="49" charset="-122"/>
                <a:ea typeface="楷体_GB2312" pitchFamily="49" charset="-122"/>
              </a:rPr>
              <a:t>。</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例如</a:t>
            </a:r>
          </a:p>
          <a:p>
            <a:pPr marL="0" indent="0" eaLnBrk="1" hangingPunct="1">
              <a:buFont typeface="Monotype Sorts" pitchFamily="2" charset="2"/>
              <a:buNone/>
              <a:defRPr/>
            </a:pPr>
            <a:r>
              <a:rPr lang="en-US" altLang="zh-CN" sz="2800" b="1" dirty="0" err="1">
                <a:latin typeface="楷体_GB2312" pitchFamily="49" charset="-122"/>
                <a:ea typeface="楷体_GB2312" pitchFamily="49" charset="-122"/>
              </a:rPr>
              <a:t>stuSType</a:t>
            </a:r>
            <a:r>
              <a:rPr lang="en-US" altLang="zh-CN" sz="2800" b="1" dirty="0">
                <a:latin typeface="楷体_GB2312" pitchFamily="49" charset="-122"/>
                <a:ea typeface="楷体_GB2312" pitchFamily="49" charset="-122"/>
              </a:rPr>
              <a:t> *sp = &amp;</a:t>
            </a:r>
            <a:r>
              <a:rPr lang="en-US" altLang="zh-CN" sz="2800" b="1" dirty="0" err="1">
                <a:latin typeface="楷体_GB2312" pitchFamily="49" charset="-122"/>
                <a:ea typeface="楷体_GB2312" pitchFamily="49" charset="-122"/>
              </a:rPr>
              <a:t>stuS</a:t>
            </a:r>
            <a:r>
              <a:rPr lang="en-US" altLang="zh-CN" sz="2800" b="1" dirty="0">
                <a:latin typeface="楷体_GB2312" pitchFamily="49" charset="-122"/>
                <a:ea typeface="楷体_GB2312" pitchFamily="49" charset="-122"/>
              </a:rPr>
              <a:t>;	/* </a:t>
            </a:r>
            <a:r>
              <a:rPr lang="zh-CN" altLang="en-US" sz="2800" b="1" dirty="0">
                <a:latin typeface="楷体_GB2312" pitchFamily="49" charset="-122"/>
                <a:ea typeface="楷体_GB2312" pitchFamily="49" charset="-122"/>
              </a:rPr>
              <a:t>定义指向结构变量</a:t>
            </a:r>
            <a:r>
              <a:rPr lang="en-US" altLang="zh-CN" sz="2800" b="1" dirty="0" err="1">
                <a:latin typeface="楷体_GB2312" pitchFamily="49" charset="-122"/>
                <a:ea typeface="楷体_GB2312" pitchFamily="49" charset="-122"/>
              </a:rPr>
              <a:t>stuS</a:t>
            </a:r>
            <a:r>
              <a:rPr lang="zh-CN" altLang="en-US" sz="2800" b="1" dirty="0">
                <a:latin typeface="楷体_GB2312" pitchFamily="49" charset="-122"/>
                <a:ea typeface="楷体_GB2312" pitchFamily="49" charset="-122"/>
              </a:rPr>
              <a:t>的结构指针</a:t>
            </a:r>
            <a:r>
              <a:rPr lang="en-US" altLang="zh-CN" sz="2800" b="1" dirty="0">
                <a:latin typeface="楷体_GB2312" pitchFamily="49" charset="-122"/>
                <a:ea typeface="楷体_GB2312" pitchFamily="49" charset="-122"/>
              </a:rPr>
              <a:t>sp */</a:t>
            </a:r>
          </a:p>
          <a:p>
            <a:pPr marL="0" indent="0" eaLnBrk="1" hangingPunct="1">
              <a:buFont typeface="Monotype Sorts" pitchFamily="2" charset="2"/>
              <a:buNone/>
              <a:defRPr/>
            </a:pPr>
            <a:r>
              <a:rPr lang="en-US" altLang="zh-CN" sz="2800" b="1" dirty="0">
                <a:latin typeface="楷体_GB2312" pitchFamily="49" charset="-122"/>
                <a:ea typeface="楷体_GB2312" pitchFamily="49" charset="-122"/>
              </a:rPr>
              <a:t>sp-&gt;number = 10002;   sp-&gt;score = 95;</a:t>
            </a:r>
          </a:p>
        </p:txBody>
      </p:sp>
      <p:sp>
        <p:nvSpPr>
          <p:cNvPr id="5" name="灯片编号占位符 5"/>
          <p:cNvSpPr>
            <a:spLocks noGrp="1"/>
          </p:cNvSpPr>
          <p:nvPr>
            <p:ph type="sldNum" sz="quarter" idx="12"/>
          </p:nvPr>
        </p:nvSpPr>
        <p:spPr/>
        <p:txBody>
          <a:bodyPr/>
          <a:lstStyle/>
          <a:p>
            <a:pPr>
              <a:defRPr/>
            </a:pPr>
            <a:fld id="{86044165-95AD-4203-9897-6921460B8D67}" type="slidenum">
              <a:rPr lang="en-US" altLang="zh-CN"/>
              <a:pPr>
                <a:defRPr/>
              </a:pPr>
              <a:t>18</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30786">
                                            <p:txEl>
                                              <p:pRg st="5" end="5"/>
                                            </p:txEl>
                                          </p:spTgt>
                                        </p:tgtEl>
                                        <p:attrNameLst>
                                          <p:attrName>style.visibility</p:attrName>
                                        </p:attrNameLst>
                                      </p:cBhvr>
                                      <p:to>
                                        <p:strVal val="visible"/>
                                      </p:to>
                                    </p:set>
                                    <p:anim calcmode="lin" valueType="num">
                                      <p:cBhvr additive="base">
                                        <p:cTn id="7" dur="500" fill="hold"/>
                                        <p:tgtEl>
                                          <p:spTgt spid="630786">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30786">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30786">
                                            <p:txEl>
                                              <p:pRg st="6" end="6"/>
                                            </p:txEl>
                                          </p:spTgt>
                                        </p:tgtEl>
                                        <p:attrNameLst>
                                          <p:attrName>style.visibility</p:attrName>
                                        </p:attrNameLst>
                                      </p:cBhvr>
                                      <p:to>
                                        <p:strVal val="visible"/>
                                      </p:to>
                                    </p:set>
                                    <p:anim calcmode="lin" valueType="num">
                                      <p:cBhvr additive="base">
                                        <p:cTn id="11" dur="500" fill="hold"/>
                                        <p:tgtEl>
                                          <p:spTgt spid="630786">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30786">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30786">
                                            <p:txEl>
                                              <p:pRg st="7" end="7"/>
                                            </p:txEl>
                                          </p:spTgt>
                                        </p:tgtEl>
                                        <p:attrNameLst>
                                          <p:attrName>style.visibility</p:attrName>
                                        </p:attrNameLst>
                                      </p:cBhvr>
                                      <p:to>
                                        <p:strVal val="visible"/>
                                      </p:to>
                                    </p:set>
                                    <p:anim calcmode="lin" valueType="num">
                                      <p:cBhvr additive="base">
                                        <p:cTn id="15" dur="500" fill="hold"/>
                                        <p:tgtEl>
                                          <p:spTgt spid="630786">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30786">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810" name="Rectangle 2"/>
          <p:cNvSpPr>
            <a:spLocks noGrp="1" noChangeArrowheads="1"/>
          </p:cNvSpPr>
          <p:nvPr>
            <p:ph idx="1"/>
          </p:nvPr>
        </p:nvSpPr>
        <p:spPr>
          <a:xfrm>
            <a:off x="250825" y="620713"/>
            <a:ext cx="8642350" cy="5976937"/>
          </a:xfrm>
        </p:spPr>
        <p:txBody>
          <a:bodyPr>
            <a:normAutofit/>
          </a:bodyPr>
          <a:lstStyle/>
          <a:p>
            <a:pPr marL="0" indent="0" eaLnBrk="1" hangingPunct="1">
              <a:buFont typeface="Monotype Sorts" pitchFamily="2" charset="2"/>
              <a:buNone/>
              <a:defRPr/>
            </a:pPr>
            <a:r>
              <a:rPr lang="zh-CN" altLang="en-US" sz="3200" b="1" dirty="0">
                <a:latin typeface="楷体_GB2312" pitchFamily="49" charset="-122"/>
                <a:ea typeface="楷体_GB2312" pitchFamily="49" charset="-122"/>
              </a:rPr>
              <a:t>使用结构指针和成员运算符引用结构成员：</a:t>
            </a:r>
          </a:p>
          <a:p>
            <a:pPr marL="0" indent="0" eaLnBrk="1" hangingPunct="1">
              <a:buFont typeface="Monotype Sorts" pitchFamily="2" charset="2"/>
              <a:buNone/>
              <a:defRPr/>
            </a:pPr>
            <a:r>
              <a:rPr lang="en-US" altLang="zh-CN" sz="3200" b="1" dirty="0">
                <a:latin typeface="楷体_GB2312" pitchFamily="49" charset="-122"/>
                <a:ea typeface="楷体_GB2312" pitchFamily="49" charset="-122"/>
              </a:rPr>
              <a:t>(* </a:t>
            </a:r>
            <a:r>
              <a:rPr lang="zh-CN" altLang="en-US" sz="3200" b="1" dirty="0">
                <a:latin typeface="楷体_GB2312" pitchFamily="49" charset="-122"/>
                <a:ea typeface="楷体_GB2312" pitchFamily="49" charset="-122"/>
              </a:rPr>
              <a:t>指针变量名</a:t>
            </a:r>
            <a:r>
              <a:rPr lang="en-US" altLang="zh-CN" sz="3200" b="1" dirty="0">
                <a:latin typeface="楷体_GB2312" pitchFamily="49" charset="-122"/>
                <a:ea typeface="楷体_GB2312" pitchFamily="49" charset="-122"/>
              </a:rPr>
              <a:t>).</a:t>
            </a:r>
            <a:r>
              <a:rPr lang="zh-CN" altLang="en-US" sz="3200" b="1" dirty="0">
                <a:latin typeface="楷体_GB2312" pitchFamily="49" charset="-122"/>
                <a:ea typeface="楷体_GB2312" pitchFamily="49" charset="-122"/>
              </a:rPr>
              <a:t>成员名</a:t>
            </a:r>
          </a:p>
          <a:p>
            <a:pPr marL="0" indent="0" eaLnBrk="1" hangingPunct="1">
              <a:buFont typeface="Monotype Sorts" pitchFamily="2" charset="2"/>
              <a:buNone/>
              <a:defRPr/>
            </a:pPr>
            <a:r>
              <a:rPr lang="zh-CN" altLang="en-US" sz="3200" b="1" dirty="0">
                <a:latin typeface="楷体_GB2312" pitchFamily="49" charset="-122"/>
                <a:ea typeface="楷体_GB2312" pitchFamily="49" charset="-122"/>
              </a:rPr>
              <a:t>其中圆括号是必要的。若省略，由于成员运算符</a:t>
            </a:r>
            <a:r>
              <a:rPr lang="zh-CN" altLang="en-US" sz="3200" b="1" dirty="0">
                <a:ea typeface="楷体_GB2312" pitchFamily="49" charset="-122"/>
              </a:rPr>
              <a:t>“</a:t>
            </a:r>
            <a:r>
              <a:rPr lang="en-US" altLang="zh-CN" sz="3200" b="1" dirty="0">
                <a:latin typeface="楷体_GB2312" pitchFamily="49" charset="-122"/>
                <a:ea typeface="楷体_GB2312" pitchFamily="49" charset="-122"/>
              </a:rPr>
              <a:t>.</a:t>
            </a:r>
            <a:r>
              <a:rPr lang="en-US" altLang="zh-CN" sz="3200" b="1" dirty="0">
                <a:ea typeface="楷体_GB2312" pitchFamily="49" charset="-122"/>
              </a:rPr>
              <a:t>”</a:t>
            </a:r>
            <a:r>
              <a:rPr lang="zh-CN" altLang="en-US" sz="3200" b="1" dirty="0">
                <a:latin typeface="楷体_GB2312" pitchFamily="49" charset="-122"/>
                <a:ea typeface="楷体_GB2312" pitchFamily="49" charset="-122"/>
              </a:rPr>
              <a:t>优先级高于</a:t>
            </a:r>
            <a:r>
              <a:rPr lang="zh-CN" altLang="en-US" sz="3200" b="1" dirty="0">
                <a:ea typeface="楷体_GB2312" pitchFamily="49" charset="-122"/>
              </a:rPr>
              <a:t>“</a:t>
            </a:r>
            <a:r>
              <a:rPr lang="zh-CN" altLang="en-US" sz="3200" b="1" dirty="0">
                <a:latin typeface="楷体_GB2312" pitchFamily="49" charset="-122"/>
                <a:ea typeface="楷体_GB2312" pitchFamily="49" charset="-122"/>
              </a:rPr>
              <a:t>*</a:t>
            </a:r>
            <a:r>
              <a:rPr lang="zh-CN" altLang="en-US" sz="3200" b="1" dirty="0">
                <a:ea typeface="楷体_GB2312" pitchFamily="49" charset="-122"/>
              </a:rPr>
              <a:t>”</a:t>
            </a:r>
            <a:r>
              <a:rPr lang="zh-CN" altLang="en-US" sz="3200" b="1" dirty="0">
                <a:latin typeface="楷体_GB2312" pitchFamily="49" charset="-122"/>
                <a:ea typeface="楷体_GB2312" pitchFamily="49" charset="-122"/>
              </a:rPr>
              <a:t>，将会导致编译错误。例如</a:t>
            </a:r>
          </a:p>
          <a:p>
            <a:pPr marL="0" indent="0" eaLnBrk="1" hangingPunct="1">
              <a:buFont typeface="Monotype Sorts" pitchFamily="2" charset="2"/>
              <a:buNone/>
              <a:defRPr/>
            </a:pPr>
            <a:r>
              <a:rPr lang="en-US" altLang="zh-CN" sz="3200" b="1" dirty="0" err="1">
                <a:latin typeface="楷体_GB2312" pitchFamily="49" charset="-122"/>
                <a:ea typeface="楷体_GB2312" pitchFamily="49" charset="-122"/>
              </a:rPr>
              <a:t>struct</a:t>
            </a:r>
            <a:r>
              <a:rPr lang="en-US" altLang="zh-CN" sz="3200" b="1" dirty="0">
                <a:latin typeface="楷体_GB2312" pitchFamily="49" charset="-122"/>
                <a:ea typeface="楷体_GB2312" pitchFamily="49" charset="-122"/>
              </a:rPr>
              <a:t> </a:t>
            </a:r>
            <a:r>
              <a:rPr lang="en-US" altLang="zh-CN" sz="3200" b="1" dirty="0" err="1">
                <a:latin typeface="楷体_GB2312" pitchFamily="49" charset="-122"/>
                <a:ea typeface="楷体_GB2312" pitchFamily="49" charset="-122"/>
              </a:rPr>
              <a:t>stuSType</a:t>
            </a:r>
            <a:r>
              <a:rPr lang="en-US" altLang="zh-CN" sz="3200" b="1" dirty="0">
                <a:latin typeface="楷体_GB2312" pitchFamily="49" charset="-122"/>
                <a:ea typeface="楷体_GB2312" pitchFamily="49" charset="-122"/>
              </a:rPr>
              <a:t> *sp=&amp;</a:t>
            </a:r>
            <a:r>
              <a:rPr lang="en-US" altLang="zh-CN" sz="3200" b="1" dirty="0" err="1">
                <a:latin typeface="楷体_GB2312" pitchFamily="49" charset="-122"/>
                <a:ea typeface="楷体_GB2312" pitchFamily="49" charset="-122"/>
              </a:rPr>
              <a:t>stuS</a:t>
            </a:r>
            <a:r>
              <a:rPr lang="en-US" altLang="zh-CN" sz="32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3200" b="1" dirty="0">
                <a:latin typeface="楷体_GB2312" pitchFamily="49" charset="-122"/>
                <a:ea typeface="楷体_GB2312" pitchFamily="49" charset="-122"/>
              </a:rPr>
              <a:t>(*sp).score = 95; </a:t>
            </a:r>
          </a:p>
          <a:p>
            <a:pPr marL="0" indent="0" eaLnBrk="1" hangingPunct="1">
              <a:buFont typeface="Monotype Sorts" pitchFamily="2" charset="2"/>
              <a:buNone/>
              <a:defRPr/>
            </a:pPr>
            <a:r>
              <a:rPr lang="en-US" altLang="zh-CN" sz="2800" b="1" dirty="0">
                <a:solidFill>
                  <a:srgbClr val="00B0F0"/>
                </a:solidFill>
                <a:latin typeface="楷体_GB2312" pitchFamily="49" charset="-122"/>
                <a:ea typeface="楷体_GB2312" pitchFamily="49" charset="-122"/>
              </a:rPr>
              <a:t>/*</a:t>
            </a:r>
            <a:r>
              <a:rPr lang="zh-CN" altLang="en-US" sz="2800" b="1" dirty="0">
                <a:solidFill>
                  <a:srgbClr val="00B0F0"/>
                </a:solidFill>
                <a:latin typeface="楷体_GB2312" pitchFamily="49" charset="-122"/>
                <a:ea typeface="楷体_GB2312" pitchFamily="49" charset="-122"/>
              </a:rPr>
              <a:t>与代码</a:t>
            </a:r>
            <a:r>
              <a:rPr lang="en-US" altLang="zh-CN" sz="2800" b="1" dirty="0">
                <a:solidFill>
                  <a:srgbClr val="00B0F0"/>
                </a:solidFill>
                <a:latin typeface="楷体_GB2312" pitchFamily="49" charset="-122"/>
                <a:ea typeface="楷体_GB2312" pitchFamily="49" charset="-122"/>
              </a:rPr>
              <a:t>sp-&gt;score=95;</a:t>
            </a:r>
            <a:r>
              <a:rPr lang="zh-CN" altLang="en-US" sz="2800" b="1" dirty="0">
                <a:solidFill>
                  <a:srgbClr val="00B0F0"/>
                </a:solidFill>
                <a:latin typeface="楷体_GB2312" pitchFamily="49" charset="-122"/>
                <a:ea typeface="楷体_GB2312" pitchFamily="49" charset="-122"/>
              </a:rPr>
              <a:t>等价 *</a:t>
            </a:r>
            <a:r>
              <a:rPr lang="en-US" altLang="zh-CN" sz="2800" b="1" dirty="0">
                <a:solidFill>
                  <a:srgbClr val="00B0F0"/>
                </a:solidFill>
                <a:latin typeface="楷体_GB2312" pitchFamily="49" charset="-122"/>
                <a:ea typeface="楷体_GB2312" pitchFamily="49" charset="-122"/>
              </a:rPr>
              <a:t>/</a:t>
            </a:r>
            <a:r>
              <a:rPr lang="en-US" altLang="zh-CN" sz="2800" dirty="0">
                <a:solidFill>
                  <a:srgbClr val="00B0F0"/>
                </a:solidFill>
                <a:latin typeface="楷体_GB2312" pitchFamily="49" charset="-122"/>
                <a:ea typeface="楷体_GB2312" pitchFamily="49" charset="-122"/>
              </a:rPr>
              <a:t> </a:t>
            </a:r>
          </a:p>
        </p:txBody>
      </p:sp>
      <p:sp>
        <p:nvSpPr>
          <p:cNvPr id="5" name="灯片编号占位符 5"/>
          <p:cNvSpPr>
            <a:spLocks noGrp="1"/>
          </p:cNvSpPr>
          <p:nvPr>
            <p:ph type="sldNum" sz="quarter" idx="12"/>
          </p:nvPr>
        </p:nvSpPr>
        <p:spPr/>
        <p:txBody>
          <a:bodyPr/>
          <a:lstStyle/>
          <a:p>
            <a:pPr>
              <a:defRPr/>
            </a:pPr>
            <a:fld id="{167CFBBD-D047-47DE-8C88-CEB1EF5B5A17}" type="slidenum">
              <a:rPr lang="en-US" altLang="zh-CN"/>
              <a:pPr>
                <a:defRPr/>
              </a:pPr>
              <a:t>19</a:t>
            </a:fld>
            <a:endParaRPr lang="en-US" altLang="zh-CN"/>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2834" name="Rectangle 2"/>
          <p:cNvSpPr>
            <a:spLocks noGrp="1" noChangeArrowheads="1"/>
          </p:cNvSpPr>
          <p:nvPr>
            <p:ph idx="1"/>
          </p:nvPr>
        </p:nvSpPr>
        <p:spPr>
          <a:xfrm>
            <a:off x="250825" y="620713"/>
            <a:ext cx="8642350" cy="5976937"/>
          </a:xfrm>
        </p:spPr>
        <p:txBody>
          <a:bodyPr>
            <a:normAutofit/>
          </a:bodyPr>
          <a:lstStyle/>
          <a:p>
            <a:pPr marL="0" indent="0" eaLnBrk="1" hangingPunct="1">
              <a:lnSpc>
                <a:spcPct val="90000"/>
              </a:lnSpc>
              <a:buFont typeface="Monotype Sorts" pitchFamily="2" charset="2"/>
              <a:buNone/>
              <a:defRPr/>
            </a:pPr>
            <a:r>
              <a:rPr lang="en-US" altLang="zh-CN" sz="2800" b="1" dirty="0">
                <a:latin typeface="楷体_GB2312" pitchFamily="49" charset="-122"/>
                <a:ea typeface="楷体_GB2312" pitchFamily="49" charset="-122"/>
              </a:rPr>
              <a:t>(1) </a:t>
            </a:r>
            <a:r>
              <a:rPr lang="zh-CN" altLang="en-US" sz="2800" b="1" dirty="0">
                <a:latin typeface="楷体_GB2312" pitchFamily="49" charset="-122"/>
                <a:ea typeface="楷体_GB2312" pitchFamily="49" charset="-122"/>
              </a:rPr>
              <a:t>不能直接对结构变量进行输入或输出，只允许对结构变量的成员变量进行输入和输出。以下分别是错误</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正确的代码：</a:t>
            </a:r>
          </a:p>
          <a:p>
            <a:pPr marL="0" indent="0" eaLnBrk="1" hangingPunct="1">
              <a:lnSpc>
                <a:spcPct val="90000"/>
              </a:lnSpc>
              <a:buFont typeface="Monotype Sorts" pitchFamily="2" charset="2"/>
              <a:buNone/>
              <a:defRPr/>
            </a:pPr>
            <a:r>
              <a:rPr lang="zh-CN" altLang="en-US"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printf</a:t>
            </a:r>
            <a:r>
              <a:rPr lang="en-US" altLang="zh-CN" sz="2800" b="1" dirty="0">
                <a:latin typeface="楷体_GB2312" pitchFamily="49" charset="-122"/>
                <a:ea typeface="楷体_GB2312" pitchFamily="49" charset="-122"/>
              </a:rPr>
              <a:t>(</a:t>
            </a:r>
            <a:r>
              <a:rPr lang="en-US" altLang="zh-CN" sz="2800" b="1" dirty="0">
                <a:ea typeface="楷体_GB2312" pitchFamily="49" charset="-122"/>
              </a:rPr>
              <a:t>”</a:t>
            </a:r>
            <a:r>
              <a:rPr lang="en-US" altLang="zh-CN" sz="2800" b="1" dirty="0">
                <a:latin typeface="楷体_GB2312" pitchFamily="49" charset="-122"/>
                <a:ea typeface="楷体_GB2312" pitchFamily="49" charset="-122"/>
              </a:rPr>
              <a:t>%s</a:t>
            </a:r>
            <a:r>
              <a:rPr lang="en-US" altLang="zh-CN" sz="2800" b="1" dirty="0">
                <a:ea typeface="楷体_GB2312" pitchFamily="49" charset="-122"/>
              </a:rPr>
              <a:t>”</a:t>
            </a:r>
            <a:r>
              <a:rPr lang="en-US" altLang="zh-CN" sz="2800" b="1" dirty="0">
                <a:latin typeface="楷体_GB2312" pitchFamily="49" charset="-122"/>
                <a:ea typeface="楷体_GB2312" pitchFamily="49" charset="-122"/>
              </a:rPr>
              <a:t>, st1);	</a:t>
            </a:r>
            <a:r>
              <a:rPr lang="en-US" altLang="zh-CN" sz="2800" b="1" dirty="0">
                <a:solidFill>
                  <a:schemeClr val="tx1"/>
                </a:solidFill>
                <a:latin typeface="楷体_GB2312" pitchFamily="49" charset="-122"/>
                <a:ea typeface="楷体_GB2312" pitchFamily="49" charset="-122"/>
              </a:rPr>
              <a:t>/* </a:t>
            </a:r>
            <a:r>
              <a:rPr lang="zh-CN" altLang="en-US" sz="2800" b="1" dirty="0">
                <a:solidFill>
                  <a:schemeClr val="tx1"/>
                </a:solidFill>
                <a:latin typeface="楷体_GB2312" pitchFamily="49" charset="-122"/>
                <a:ea typeface="楷体_GB2312" pitchFamily="49" charset="-122"/>
              </a:rPr>
              <a:t>错误，</a:t>
            </a:r>
            <a:r>
              <a:rPr lang="en-US" altLang="zh-CN" sz="2800" b="1" dirty="0">
                <a:solidFill>
                  <a:schemeClr val="tx1"/>
                </a:solidFill>
                <a:latin typeface="楷体_GB2312" pitchFamily="49" charset="-122"/>
                <a:ea typeface="楷体_GB2312" pitchFamily="49" charset="-122"/>
              </a:rPr>
              <a:t>st1</a:t>
            </a:r>
            <a:r>
              <a:rPr lang="zh-CN" altLang="en-US" sz="2800" b="1" dirty="0">
                <a:solidFill>
                  <a:schemeClr val="tx1"/>
                </a:solidFill>
                <a:latin typeface="楷体_GB2312" pitchFamily="49" charset="-122"/>
                <a:ea typeface="楷体_GB2312" pitchFamily="49" charset="-122"/>
              </a:rPr>
              <a:t>是结构变量不能直接输出 *</a:t>
            </a:r>
            <a:r>
              <a:rPr lang="en-US" altLang="zh-CN" sz="2800" b="1" dirty="0">
                <a:solidFill>
                  <a:schemeClr val="tx1"/>
                </a:solidFill>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printf</a:t>
            </a:r>
            <a:r>
              <a:rPr lang="en-US" altLang="zh-CN" sz="2800" b="1" dirty="0">
                <a:latin typeface="楷体_GB2312" pitchFamily="49" charset="-122"/>
                <a:ea typeface="楷体_GB2312" pitchFamily="49" charset="-122"/>
              </a:rPr>
              <a:t>(</a:t>
            </a:r>
            <a:r>
              <a:rPr lang="en-US" altLang="zh-CN" sz="2800" b="1" dirty="0">
                <a:ea typeface="楷体_GB2312" pitchFamily="49" charset="-122"/>
              </a:rPr>
              <a:t>”</a:t>
            </a:r>
            <a:r>
              <a:rPr lang="en-US" altLang="zh-CN" sz="2800" b="1" dirty="0">
                <a:latin typeface="楷体_GB2312" pitchFamily="49" charset="-122"/>
                <a:ea typeface="楷体_GB2312" pitchFamily="49" charset="-122"/>
              </a:rPr>
              <a:t>%s</a:t>
            </a:r>
            <a:r>
              <a:rPr lang="en-US" altLang="zh-CN" sz="2800" b="1" dirty="0">
                <a:ea typeface="楷体_GB2312" pitchFamily="49" charset="-122"/>
              </a:rPr>
              <a:t>”</a:t>
            </a:r>
            <a:r>
              <a:rPr lang="en-US" altLang="zh-CN" sz="2800" b="1" dirty="0">
                <a:latin typeface="楷体_GB2312" pitchFamily="49" charset="-122"/>
                <a:ea typeface="楷体_GB2312" pitchFamily="49" charset="-122"/>
              </a:rPr>
              <a:t>, st1.name); </a:t>
            </a:r>
            <a:r>
              <a:rPr lang="en-US" altLang="zh-CN" sz="2800" b="1" dirty="0">
                <a:solidFill>
                  <a:schemeClr val="tx1"/>
                </a:solidFill>
                <a:latin typeface="楷体_GB2312" pitchFamily="49" charset="-122"/>
                <a:ea typeface="楷体_GB2312" pitchFamily="49" charset="-122"/>
              </a:rPr>
              <a:t>/* </a:t>
            </a:r>
            <a:r>
              <a:rPr lang="zh-CN" altLang="en-US" sz="2800" b="1" dirty="0">
                <a:solidFill>
                  <a:schemeClr val="tx1"/>
                </a:solidFill>
                <a:latin typeface="楷体_GB2312" pitchFamily="49" charset="-122"/>
                <a:ea typeface="楷体_GB2312" pitchFamily="49" charset="-122"/>
              </a:rPr>
              <a:t>正确，仅输出</a:t>
            </a:r>
            <a:r>
              <a:rPr lang="en-US" altLang="zh-CN" sz="2800" b="1" dirty="0">
                <a:solidFill>
                  <a:schemeClr val="tx1"/>
                </a:solidFill>
                <a:latin typeface="楷体_GB2312" pitchFamily="49" charset="-122"/>
                <a:ea typeface="楷体_GB2312" pitchFamily="49" charset="-122"/>
              </a:rPr>
              <a:t>st1</a:t>
            </a:r>
            <a:r>
              <a:rPr lang="zh-CN" altLang="en-US" sz="2800" b="1" dirty="0">
                <a:solidFill>
                  <a:schemeClr val="tx1"/>
                </a:solidFill>
                <a:latin typeface="楷体_GB2312" pitchFamily="49" charset="-122"/>
                <a:ea typeface="楷体_GB2312" pitchFamily="49" charset="-122"/>
              </a:rPr>
              <a:t>变量的</a:t>
            </a:r>
            <a:r>
              <a:rPr lang="en-US" altLang="zh-CN" sz="2800" b="1" dirty="0">
                <a:solidFill>
                  <a:schemeClr val="tx1"/>
                </a:solidFill>
                <a:latin typeface="楷体_GB2312" pitchFamily="49" charset="-122"/>
                <a:ea typeface="楷体_GB2312" pitchFamily="49" charset="-122"/>
              </a:rPr>
              <a:t>name</a:t>
            </a:r>
            <a:r>
              <a:rPr lang="zh-CN" altLang="en-US" sz="2800" b="1" dirty="0">
                <a:solidFill>
                  <a:schemeClr val="tx1"/>
                </a:solidFill>
                <a:latin typeface="楷体_GB2312" pitchFamily="49" charset="-122"/>
                <a:ea typeface="楷体_GB2312" pitchFamily="49" charset="-122"/>
              </a:rPr>
              <a:t>成员 *</a:t>
            </a:r>
            <a:r>
              <a:rPr lang="en-US" altLang="zh-CN" sz="2800" b="1" dirty="0">
                <a:solidFill>
                  <a:schemeClr val="tx1"/>
                </a:solidFill>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800" b="1" dirty="0">
                <a:latin typeface="楷体_GB2312" pitchFamily="49" charset="-122"/>
                <a:ea typeface="楷体_GB2312" pitchFamily="49" charset="-122"/>
              </a:rPr>
              <a:t>(2) </a:t>
            </a:r>
            <a:r>
              <a:rPr lang="zh-CN" altLang="en-US" sz="2800" b="1" dirty="0">
                <a:latin typeface="楷体_GB2312" pitchFamily="49" charset="-122"/>
                <a:ea typeface="楷体_GB2312" pitchFamily="49" charset="-122"/>
              </a:rPr>
              <a:t>如果结构中的成员本身也是一个结构类型，在引用该成员的成员时需使用多个成员运算符</a:t>
            </a:r>
            <a:r>
              <a:rPr lang="zh-CN" altLang="en-US" sz="2800" b="1" dirty="0">
                <a:ea typeface="楷体_GB2312" pitchFamily="49" charset="-122"/>
              </a:rPr>
              <a:t>“</a:t>
            </a:r>
            <a:r>
              <a:rPr lang="en-US" altLang="zh-CN" sz="2800" b="1" dirty="0">
                <a:latin typeface="楷体_GB2312" pitchFamily="49" charset="-122"/>
                <a:ea typeface="楷体_GB2312" pitchFamily="49" charset="-122"/>
              </a:rPr>
              <a:t>.</a:t>
            </a:r>
            <a:r>
              <a:rPr lang="en-US" altLang="zh-CN" sz="2800" b="1" dirty="0">
                <a:ea typeface="楷体_GB2312" pitchFamily="49" charset="-122"/>
              </a:rPr>
              <a:t>”</a:t>
            </a:r>
            <a:r>
              <a:rPr lang="zh-CN" altLang="en-US" sz="2800" b="1" dirty="0">
                <a:latin typeface="楷体_GB2312" pitchFamily="49" charset="-122"/>
                <a:ea typeface="楷体_GB2312" pitchFamily="49" charset="-122"/>
              </a:rPr>
              <a:t>，将嵌套的结构成员一级一级地连续指定。例如，想引用早先定义的结构变量</a:t>
            </a:r>
            <a:r>
              <a:rPr lang="en-US" altLang="zh-CN" sz="2800" b="1" dirty="0">
                <a:latin typeface="楷体_GB2312" pitchFamily="49" charset="-122"/>
                <a:ea typeface="楷体_GB2312" pitchFamily="49" charset="-122"/>
              </a:rPr>
              <a:t>st1</a:t>
            </a:r>
            <a:r>
              <a:rPr lang="zh-CN" altLang="en-US" sz="2800" b="1" dirty="0">
                <a:latin typeface="楷体_GB2312" pitchFamily="49" charset="-122"/>
                <a:ea typeface="楷体_GB2312" pitchFamily="49" charset="-122"/>
              </a:rPr>
              <a:t>中成员</a:t>
            </a:r>
            <a:r>
              <a:rPr lang="en-US" altLang="zh-CN" sz="2800" b="1" dirty="0">
                <a:latin typeface="楷体_GB2312" pitchFamily="49" charset="-122"/>
                <a:ea typeface="楷体_GB2312" pitchFamily="49" charset="-122"/>
              </a:rPr>
              <a:t>birthday</a:t>
            </a:r>
            <a:r>
              <a:rPr lang="zh-CN" altLang="en-US" sz="2800" b="1" dirty="0">
                <a:latin typeface="楷体_GB2312" pitchFamily="49" charset="-122"/>
                <a:ea typeface="楷体_GB2312" pitchFamily="49" charset="-122"/>
              </a:rPr>
              <a:t>成员</a:t>
            </a:r>
            <a:r>
              <a:rPr lang="en-US" altLang="zh-CN" sz="2800" b="1" dirty="0">
                <a:latin typeface="楷体_GB2312" pitchFamily="49" charset="-122"/>
                <a:ea typeface="楷体_GB2312" pitchFamily="49" charset="-122"/>
              </a:rPr>
              <a:t>year</a:t>
            </a:r>
            <a:r>
              <a:rPr lang="zh-CN" altLang="en-US" sz="2800" b="1" dirty="0">
                <a:latin typeface="楷体_GB2312" pitchFamily="49" charset="-122"/>
                <a:ea typeface="楷体_GB2312" pitchFamily="49" charset="-122"/>
              </a:rPr>
              <a:t>，正确的写法是：</a:t>
            </a:r>
          </a:p>
          <a:p>
            <a:pPr marL="0" indent="0" eaLnBrk="1" hangingPunct="1">
              <a:lnSpc>
                <a:spcPct val="90000"/>
              </a:lnSpc>
              <a:buFont typeface="Monotype Sorts" pitchFamily="2" charset="2"/>
              <a:buNone/>
              <a:defRPr/>
            </a:pPr>
            <a:r>
              <a:rPr lang="zh-CN" altLang="en-US" sz="2800" b="1" dirty="0">
                <a:latin typeface="楷体_GB2312" pitchFamily="49" charset="-122"/>
                <a:ea typeface="楷体_GB2312" pitchFamily="49" charset="-122"/>
              </a:rPr>
              <a:t>  </a:t>
            </a:r>
            <a:r>
              <a:rPr lang="en-US" altLang="zh-CN" sz="2800" b="1" dirty="0">
                <a:latin typeface="楷体_GB2312" pitchFamily="49" charset="-122"/>
                <a:ea typeface="楷体_GB2312" pitchFamily="49" charset="-122"/>
              </a:rPr>
              <a:t>st1.birthday.year</a:t>
            </a:r>
          </a:p>
        </p:txBody>
      </p:sp>
      <p:sp>
        <p:nvSpPr>
          <p:cNvPr id="5" name="灯片编号占位符 5"/>
          <p:cNvSpPr>
            <a:spLocks noGrp="1"/>
          </p:cNvSpPr>
          <p:nvPr>
            <p:ph type="sldNum" sz="quarter" idx="12"/>
          </p:nvPr>
        </p:nvSpPr>
        <p:spPr/>
        <p:txBody>
          <a:bodyPr/>
          <a:lstStyle/>
          <a:p>
            <a:pPr>
              <a:defRPr/>
            </a:pPr>
            <a:fld id="{69539CCF-2CEA-4E9E-B9D6-83886329AD9A}" type="slidenum">
              <a:rPr lang="en-US" altLang="zh-CN"/>
              <a:pPr>
                <a:defRPr/>
              </a:pPr>
              <a:t>20</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32834">
                                            <p:txEl>
                                              <p:pRg st="3" end="3"/>
                                            </p:txEl>
                                          </p:spTgt>
                                        </p:tgtEl>
                                        <p:attrNameLst>
                                          <p:attrName>style.visibility</p:attrName>
                                        </p:attrNameLst>
                                      </p:cBhvr>
                                      <p:to>
                                        <p:strVal val="visible"/>
                                      </p:to>
                                    </p:set>
                                    <p:anim calcmode="lin" valueType="num">
                                      <p:cBhvr additive="base">
                                        <p:cTn id="7" dur="500" fill="hold"/>
                                        <p:tgtEl>
                                          <p:spTgt spid="632834">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32834">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32834">
                                            <p:txEl>
                                              <p:pRg st="4" end="4"/>
                                            </p:txEl>
                                          </p:spTgt>
                                        </p:tgtEl>
                                        <p:attrNameLst>
                                          <p:attrName>style.visibility</p:attrName>
                                        </p:attrNameLst>
                                      </p:cBhvr>
                                      <p:to>
                                        <p:strVal val="visible"/>
                                      </p:to>
                                    </p:set>
                                    <p:anim calcmode="lin" valueType="num">
                                      <p:cBhvr additive="base">
                                        <p:cTn id="11" dur="500" fill="hold"/>
                                        <p:tgtEl>
                                          <p:spTgt spid="632834">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3283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858" name="Rectangle 2"/>
          <p:cNvSpPr>
            <a:spLocks noGrp="1" noChangeArrowheads="1"/>
          </p:cNvSpPr>
          <p:nvPr>
            <p:ph idx="1"/>
          </p:nvPr>
        </p:nvSpPr>
        <p:spPr>
          <a:xfrm>
            <a:off x="250825" y="620713"/>
            <a:ext cx="8642350" cy="5976937"/>
          </a:xfrm>
        </p:spPr>
        <p:txBody>
          <a:bodyPr>
            <a:normAutofit/>
          </a:bodyPr>
          <a:lstStyle/>
          <a:p>
            <a:pPr marL="0" indent="0" eaLnBrk="1" hangingPunct="1">
              <a:buFont typeface="Monotype Sorts" pitchFamily="2" charset="2"/>
              <a:buNone/>
              <a:defRPr/>
            </a:pP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例</a:t>
            </a:r>
            <a:r>
              <a:rPr lang="en-US" altLang="zh-CN" sz="2800" b="1" dirty="0">
                <a:latin typeface="楷体_GB2312" pitchFamily="49" charset="-122"/>
                <a:ea typeface="楷体_GB2312" pitchFamily="49" charset="-122"/>
              </a:rPr>
              <a:t>7.1】</a:t>
            </a:r>
            <a:r>
              <a:rPr lang="zh-CN" altLang="en-US" sz="2800" b="1" dirty="0">
                <a:latin typeface="楷体_GB2312" pitchFamily="49" charset="-122"/>
                <a:ea typeface="楷体_GB2312" pitchFamily="49" charset="-122"/>
              </a:rPr>
              <a:t>利用结构变量，输入</a:t>
            </a:r>
            <a:r>
              <a:rPr lang="en-US" altLang="zh-CN" sz="2800" b="1" dirty="0">
                <a:latin typeface="楷体_GB2312" pitchFamily="49" charset="-122"/>
                <a:ea typeface="楷体_GB2312" pitchFamily="49" charset="-122"/>
              </a:rPr>
              <a:t>3</a:t>
            </a:r>
            <a:r>
              <a:rPr lang="zh-CN" altLang="en-US" sz="2800" b="1" dirty="0">
                <a:latin typeface="楷体_GB2312" pitchFamily="49" charset="-122"/>
                <a:ea typeface="楷体_GB2312" pitchFamily="49" charset="-122"/>
              </a:rPr>
              <a:t>个学生的姓名、语文成绩和数学成绩，然后计算每个学生的平均成绩并输出。</a:t>
            </a:r>
          </a:p>
          <a:p>
            <a:pPr marL="0" indent="0" eaLnBrk="1" hangingPunct="1">
              <a:buFont typeface="Monotype Sorts" pitchFamily="2" charset="2"/>
              <a:buNone/>
              <a:defRPr/>
            </a:pPr>
            <a:r>
              <a:rPr lang="en-US" altLang="zh-CN" sz="2800" b="1" dirty="0">
                <a:latin typeface="楷体_GB2312" pitchFamily="49" charset="-122"/>
                <a:ea typeface="楷体_GB2312" pitchFamily="49" charset="-122"/>
              </a:rPr>
              <a:t>#include &lt;</a:t>
            </a:r>
            <a:r>
              <a:rPr lang="en-US" altLang="zh-CN" sz="2800" b="1" dirty="0" err="1">
                <a:latin typeface="楷体_GB2312" pitchFamily="49" charset="-122"/>
                <a:ea typeface="楷体_GB2312" pitchFamily="49" charset="-122"/>
              </a:rPr>
              <a:t>stdio.h</a:t>
            </a:r>
            <a:r>
              <a:rPr lang="en-US" altLang="zh-CN" sz="2800" b="1" dirty="0">
                <a:latin typeface="楷体_GB2312" pitchFamily="49" charset="-122"/>
                <a:ea typeface="楷体_GB2312" pitchFamily="49" charset="-122"/>
              </a:rPr>
              <a:t>&gt;</a:t>
            </a:r>
          </a:p>
          <a:p>
            <a:pPr marL="0" indent="0" eaLnBrk="1" hangingPunct="1">
              <a:buFont typeface="Monotype Sorts" pitchFamily="2" charset="2"/>
              <a:buNone/>
              <a:defRPr/>
            </a:pPr>
            <a:r>
              <a:rPr lang="en-US" altLang="zh-CN" sz="2800" b="1" dirty="0" err="1">
                <a:latin typeface="楷体_GB2312" pitchFamily="49" charset="-122"/>
                <a:ea typeface="楷体_GB2312" pitchFamily="49" charset="-122"/>
              </a:rPr>
              <a:t>struct</a:t>
            </a: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stuScore</a:t>
            </a:r>
            <a:endParaRPr lang="en-US" altLang="zh-CN" sz="2800" b="1" dirty="0">
              <a:latin typeface="楷体_GB2312" pitchFamily="49" charset="-122"/>
              <a:ea typeface="楷体_GB2312" pitchFamily="49" charset="-122"/>
            </a:endParaRPr>
          </a:p>
          <a:p>
            <a:pPr marL="0" indent="0" eaLnBrk="1" hangingPunct="1">
              <a:buFont typeface="Monotype Sorts" pitchFamily="2" charset="2"/>
              <a:buNone/>
              <a:defRPr/>
            </a:pPr>
            <a:r>
              <a:rPr lang="en-US" altLang="zh-CN" sz="2800" b="1" dirty="0">
                <a:latin typeface="楷体_GB2312" pitchFamily="49" charset="-122"/>
                <a:ea typeface="楷体_GB2312" pitchFamily="49" charset="-122"/>
              </a:rPr>
              <a:t>{	char name[20];</a:t>
            </a:r>
          </a:p>
          <a:p>
            <a:pPr marL="0" indent="0" eaLnBrk="1" hangingPunct="1">
              <a:buFont typeface="Monotype Sorts" pitchFamily="2" charset="2"/>
              <a:buNone/>
              <a:defRPr/>
            </a:pP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int</a:t>
            </a: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chinese</a:t>
            </a:r>
            <a:r>
              <a:rPr lang="en-US" altLang="zh-CN" sz="28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int</a:t>
            </a:r>
            <a:r>
              <a:rPr lang="en-US" altLang="zh-CN" sz="2800" b="1" dirty="0">
                <a:latin typeface="楷体_GB2312" pitchFamily="49" charset="-122"/>
                <a:ea typeface="楷体_GB2312" pitchFamily="49" charset="-122"/>
              </a:rPr>
              <a:t> math;</a:t>
            </a:r>
          </a:p>
          <a:p>
            <a:pPr marL="0" indent="0" eaLnBrk="1" hangingPunct="1">
              <a:buFont typeface="Monotype Sorts" pitchFamily="2" charset="2"/>
              <a:buNone/>
              <a:defRPr/>
            </a:pPr>
            <a:r>
              <a:rPr lang="en-US" altLang="zh-CN" sz="2800" b="1" dirty="0">
                <a:latin typeface="楷体_GB2312" pitchFamily="49" charset="-122"/>
                <a:ea typeface="楷体_GB2312" pitchFamily="49" charset="-122"/>
              </a:rPr>
              <a:t>};</a:t>
            </a:r>
          </a:p>
        </p:txBody>
      </p:sp>
      <p:sp>
        <p:nvSpPr>
          <p:cNvPr id="5" name="灯片编号占位符 5"/>
          <p:cNvSpPr>
            <a:spLocks noGrp="1"/>
          </p:cNvSpPr>
          <p:nvPr>
            <p:ph type="sldNum" sz="quarter" idx="12"/>
          </p:nvPr>
        </p:nvSpPr>
        <p:spPr/>
        <p:txBody>
          <a:bodyPr/>
          <a:lstStyle/>
          <a:p>
            <a:pPr>
              <a:defRPr/>
            </a:pPr>
            <a:fld id="{02D04647-0C0C-464A-A54E-E2E9A974C34B}" type="slidenum">
              <a:rPr lang="en-US" altLang="zh-CN"/>
              <a:pPr>
                <a:defRPr/>
              </a:pPr>
              <a:t>21</a:t>
            </a:fld>
            <a:endParaRPr lang="en-US" altLang="zh-CN"/>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82" name="Rectangle 2"/>
          <p:cNvSpPr>
            <a:spLocks noGrp="1" noChangeArrowheads="1"/>
          </p:cNvSpPr>
          <p:nvPr>
            <p:ph idx="1"/>
          </p:nvPr>
        </p:nvSpPr>
        <p:spPr>
          <a:xfrm>
            <a:off x="250825" y="333375"/>
            <a:ext cx="8642350" cy="6264275"/>
          </a:xfrm>
        </p:spPr>
        <p:txBody>
          <a:bodyPr>
            <a:normAutofit lnSpcReduction="10000"/>
          </a:bodyPr>
          <a:lstStyle/>
          <a:p>
            <a:pPr marL="0" indent="0" eaLnBrk="1" hangingPunct="1">
              <a:lnSpc>
                <a:spcPct val="80000"/>
              </a:lnSpc>
              <a:buFont typeface="Monotype Sorts" pitchFamily="2" charset="2"/>
              <a:buNone/>
              <a:defRPr/>
            </a:pPr>
            <a:r>
              <a:rPr lang="en-US" altLang="zh-CN" sz="2000" b="1" dirty="0">
                <a:latin typeface="楷体_GB2312" pitchFamily="49" charset="-122"/>
                <a:ea typeface="楷体_GB2312" pitchFamily="49" charset="-122"/>
              </a:rPr>
              <a:t>void main()</a:t>
            </a:r>
          </a:p>
          <a:p>
            <a:pPr marL="0" indent="0" eaLnBrk="1" hangingPunct="1">
              <a:lnSpc>
                <a:spcPct val="80000"/>
              </a:lnSpc>
              <a:buFont typeface="Monotype Sorts" pitchFamily="2" charset="2"/>
              <a:buNone/>
              <a:defRPr/>
            </a:pPr>
            <a:r>
              <a:rPr lang="en-US" altLang="zh-CN" sz="2000" b="1" dirty="0">
                <a:latin typeface="楷体_GB2312" pitchFamily="49" charset="-122"/>
                <a:ea typeface="楷体_GB2312" pitchFamily="49" charset="-122"/>
              </a:rPr>
              <a:t>{ float aver1,aver2,aver3;</a:t>
            </a:r>
          </a:p>
          <a:p>
            <a:pPr marL="0" indent="0" eaLnBrk="1" hangingPunct="1">
              <a:lnSpc>
                <a:spcPct val="80000"/>
              </a:lnSpc>
              <a:buFont typeface="Monotype Sorts" pitchFamily="2" charset="2"/>
              <a:buNone/>
              <a:defRPr/>
            </a:pPr>
            <a:r>
              <a:rPr lang="en-US" altLang="zh-CN" sz="2000" b="1" dirty="0">
                <a:latin typeface="楷体_GB2312" pitchFamily="49" charset="-122"/>
                <a:ea typeface="楷体_GB2312" pitchFamily="49" charset="-122"/>
              </a:rPr>
              <a:t>  </a:t>
            </a:r>
            <a:r>
              <a:rPr lang="en-US" altLang="zh-CN" sz="2000" b="1" dirty="0" err="1">
                <a:latin typeface="楷体_GB2312" pitchFamily="49" charset="-122"/>
                <a:ea typeface="楷体_GB2312" pitchFamily="49" charset="-122"/>
              </a:rPr>
              <a:t>struct</a:t>
            </a:r>
            <a:r>
              <a:rPr lang="en-US" altLang="zh-CN" sz="2000" b="1" dirty="0">
                <a:latin typeface="楷体_GB2312" pitchFamily="49" charset="-122"/>
                <a:ea typeface="楷体_GB2312" pitchFamily="49" charset="-122"/>
              </a:rPr>
              <a:t> </a:t>
            </a:r>
            <a:r>
              <a:rPr lang="en-US" altLang="zh-CN" sz="2000" b="1" dirty="0" err="1">
                <a:latin typeface="楷体_GB2312" pitchFamily="49" charset="-122"/>
                <a:ea typeface="楷体_GB2312" pitchFamily="49" charset="-122"/>
              </a:rPr>
              <a:t>stuScore</a:t>
            </a:r>
            <a:r>
              <a:rPr lang="en-US" altLang="zh-CN" sz="2000" b="1" dirty="0">
                <a:latin typeface="楷体_GB2312" pitchFamily="49" charset="-122"/>
                <a:ea typeface="楷体_GB2312" pitchFamily="49" charset="-122"/>
              </a:rPr>
              <a:t> st1,st2,st3;</a:t>
            </a:r>
            <a:r>
              <a:rPr lang="en-US" altLang="zh-CN" sz="2000" b="1">
                <a:latin typeface="楷体_GB2312" pitchFamily="49" charset="-122"/>
                <a:ea typeface="楷体_GB2312" pitchFamily="49" charset="-122"/>
              </a:rPr>
              <a:t>	</a:t>
            </a:r>
            <a:endParaRPr lang="en-US" altLang="zh-CN" sz="2000" b="1" dirty="0">
              <a:latin typeface="楷体_GB2312" pitchFamily="49" charset="-122"/>
              <a:ea typeface="楷体_GB2312" pitchFamily="49" charset="-122"/>
            </a:endParaRP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printf</a:t>
            </a:r>
            <a:r>
              <a:rPr lang="en-US" altLang="zh-CN" sz="2400" b="1" dirty="0">
                <a:latin typeface="楷体_GB2312" pitchFamily="49" charset="-122"/>
                <a:ea typeface="楷体_GB2312" pitchFamily="49" charset="-122"/>
              </a:rPr>
              <a:t>(</a:t>
            </a:r>
            <a:r>
              <a:rPr lang="en-US" altLang="zh-CN" sz="2400" b="1" dirty="0">
                <a:ea typeface="楷体_GB2312" pitchFamily="49" charset="-122"/>
              </a:rPr>
              <a:t>”</a:t>
            </a:r>
            <a:r>
              <a:rPr lang="zh-CN" altLang="en-US" sz="2400" b="1" dirty="0">
                <a:latin typeface="楷体_GB2312" pitchFamily="49" charset="-122"/>
                <a:ea typeface="楷体_GB2312" pitchFamily="49" charset="-122"/>
              </a:rPr>
              <a:t>请输入</a:t>
            </a:r>
            <a:r>
              <a:rPr lang="en-US" altLang="zh-CN" sz="2400" b="1" dirty="0">
                <a:latin typeface="楷体_GB2312" pitchFamily="49" charset="-122"/>
                <a:ea typeface="楷体_GB2312" pitchFamily="49" charset="-122"/>
              </a:rPr>
              <a:t>3</a:t>
            </a:r>
            <a:r>
              <a:rPr lang="zh-CN" altLang="en-US" sz="2400" b="1" dirty="0">
                <a:latin typeface="楷体_GB2312" pitchFamily="49" charset="-122"/>
                <a:ea typeface="楷体_GB2312" pitchFamily="49" charset="-122"/>
              </a:rPr>
              <a:t>位学生的姓名、语文成绩、数学成绩</a:t>
            </a:r>
            <a:r>
              <a:rPr lang="en-US" altLang="zh-CN" sz="2400" b="1" dirty="0">
                <a:latin typeface="楷体_GB2312" pitchFamily="49" charset="-122"/>
                <a:ea typeface="楷体_GB2312" pitchFamily="49" charset="-122"/>
              </a:rPr>
              <a:t>\n</a:t>
            </a:r>
            <a:r>
              <a:rPr lang="en-US" altLang="zh-CN" sz="2400" b="1" dirty="0">
                <a:ea typeface="楷体_GB2312" pitchFamily="49" charset="-122"/>
              </a:rPr>
              <a:t>”</a:t>
            </a:r>
            <a:r>
              <a:rPr lang="en-US" altLang="zh-CN" sz="2400" b="1" dirty="0">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scanf</a:t>
            </a:r>
            <a:r>
              <a:rPr lang="en-US" altLang="zh-CN" sz="2400" b="1" dirty="0">
                <a:latin typeface="楷体_GB2312" pitchFamily="49" charset="-122"/>
                <a:ea typeface="楷体_GB2312" pitchFamily="49" charset="-122"/>
              </a:rPr>
              <a:t>(</a:t>
            </a:r>
            <a:r>
              <a:rPr lang="en-US" altLang="zh-CN" sz="2400" b="1" dirty="0">
                <a:ea typeface="楷体_GB2312" pitchFamily="49" charset="-122"/>
              </a:rPr>
              <a:t>”</a:t>
            </a:r>
            <a:r>
              <a:rPr lang="en-US" altLang="zh-CN" sz="2400" b="1" dirty="0">
                <a:latin typeface="楷体_GB2312" pitchFamily="49" charset="-122"/>
                <a:ea typeface="楷体_GB2312" pitchFamily="49" charset="-122"/>
              </a:rPr>
              <a:t>%s%d%d</a:t>
            </a:r>
            <a:r>
              <a:rPr lang="en-US" altLang="zh-CN" sz="2400" b="1" dirty="0">
                <a:ea typeface="楷体_GB2312" pitchFamily="49" charset="-122"/>
              </a:rPr>
              <a:t>”</a:t>
            </a:r>
            <a:r>
              <a:rPr lang="en-US" altLang="zh-CN" sz="2400" b="1" dirty="0">
                <a:latin typeface="楷体_GB2312" pitchFamily="49" charset="-122"/>
                <a:ea typeface="楷体_GB2312" pitchFamily="49" charset="-122"/>
              </a:rPr>
              <a:t>,st1.name,&amp;st1.chinese,&amp;st1.math);</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scanf</a:t>
            </a:r>
            <a:r>
              <a:rPr lang="en-US" altLang="zh-CN" sz="2400" b="1" dirty="0">
                <a:latin typeface="楷体_GB2312" pitchFamily="49" charset="-122"/>
                <a:ea typeface="楷体_GB2312" pitchFamily="49" charset="-122"/>
              </a:rPr>
              <a:t>(</a:t>
            </a:r>
            <a:r>
              <a:rPr lang="en-US" altLang="zh-CN" sz="2400" b="1" dirty="0">
                <a:ea typeface="楷体_GB2312" pitchFamily="49" charset="-122"/>
              </a:rPr>
              <a:t>”</a:t>
            </a:r>
            <a:r>
              <a:rPr lang="en-US" altLang="zh-CN" sz="2400" b="1" dirty="0">
                <a:latin typeface="楷体_GB2312" pitchFamily="49" charset="-122"/>
                <a:ea typeface="楷体_GB2312" pitchFamily="49" charset="-122"/>
              </a:rPr>
              <a:t>%s%d%d</a:t>
            </a:r>
            <a:r>
              <a:rPr lang="en-US" altLang="zh-CN" sz="2400" b="1" dirty="0">
                <a:ea typeface="楷体_GB2312" pitchFamily="49" charset="-122"/>
              </a:rPr>
              <a:t>”</a:t>
            </a:r>
            <a:r>
              <a:rPr lang="en-US" altLang="zh-CN" sz="2400" b="1" dirty="0">
                <a:latin typeface="楷体_GB2312" pitchFamily="49" charset="-122"/>
                <a:ea typeface="楷体_GB2312" pitchFamily="49" charset="-122"/>
              </a:rPr>
              <a:t>,st2.name,&amp;st2.chinese,&amp;st2.math);</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scanf</a:t>
            </a:r>
            <a:r>
              <a:rPr lang="en-US" altLang="zh-CN" sz="2400" b="1" dirty="0">
                <a:latin typeface="楷体_GB2312" pitchFamily="49" charset="-122"/>
                <a:ea typeface="楷体_GB2312" pitchFamily="49" charset="-122"/>
              </a:rPr>
              <a:t>(</a:t>
            </a:r>
            <a:r>
              <a:rPr lang="en-US" altLang="zh-CN" sz="2400" b="1" dirty="0">
                <a:ea typeface="楷体_GB2312" pitchFamily="49" charset="-122"/>
              </a:rPr>
              <a:t>”</a:t>
            </a:r>
            <a:r>
              <a:rPr lang="en-US" altLang="zh-CN" sz="2400" b="1" dirty="0">
                <a:latin typeface="楷体_GB2312" pitchFamily="49" charset="-122"/>
                <a:ea typeface="楷体_GB2312" pitchFamily="49" charset="-122"/>
              </a:rPr>
              <a:t>%s%d%d</a:t>
            </a:r>
            <a:r>
              <a:rPr lang="en-US" altLang="zh-CN" sz="2400" b="1" dirty="0">
                <a:ea typeface="楷体_GB2312" pitchFamily="49" charset="-122"/>
              </a:rPr>
              <a:t>”</a:t>
            </a:r>
            <a:r>
              <a:rPr lang="en-US" altLang="zh-CN" sz="2400" b="1" dirty="0">
                <a:latin typeface="楷体_GB2312" pitchFamily="49" charset="-122"/>
                <a:ea typeface="楷体_GB2312" pitchFamily="49" charset="-122"/>
              </a:rPr>
              <a:t>,st3.name,&amp;st3.chinese,&amp;st3.math);</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aver1=(st1.chinese+st1.math)/2.0;	/* </a:t>
            </a:r>
            <a:r>
              <a:rPr lang="zh-CN" altLang="en-US" sz="2400" b="1" dirty="0">
                <a:latin typeface="楷体_GB2312" pitchFamily="49" charset="-122"/>
                <a:ea typeface="楷体_GB2312" pitchFamily="49" charset="-122"/>
              </a:rPr>
              <a:t>计算平均成绩 *</a:t>
            </a:r>
            <a:r>
              <a:rPr lang="en-US" altLang="zh-CN" sz="2400" b="1" dirty="0">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aver2=(st2.chinese+st2.math)/2.0;</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aver3=(st3.chinese+st3.math)/2.0;</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printf</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姓名</a:t>
            </a:r>
            <a:r>
              <a:rPr lang="en-US" altLang="zh-CN" sz="2400" b="1" dirty="0">
                <a:latin typeface="楷体_GB2312" pitchFamily="49" charset="-122"/>
                <a:ea typeface="楷体_GB2312" pitchFamily="49" charset="-122"/>
              </a:rPr>
              <a:t>\t</a:t>
            </a:r>
            <a:r>
              <a:rPr lang="zh-CN" altLang="en-US" sz="2400" b="1" dirty="0">
                <a:latin typeface="楷体_GB2312" pitchFamily="49" charset="-122"/>
                <a:ea typeface="楷体_GB2312" pitchFamily="49" charset="-122"/>
              </a:rPr>
              <a:t>语文</a:t>
            </a:r>
            <a:r>
              <a:rPr lang="en-US" altLang="zh-CN" sz="2400" b="1" dirty="0">
                <a:latin typeface="楷体_GB2312" pitchFamily="49" charset="-122"/>
                <a:ea typeface="楷体_GB2312" pitchFamily="49" charset="-122"/>
              </a:rPr>
              <a:t>\t</a:t>
            </a:r>
            <a:r>
              <a:rPr lang="zh-CN" altLang="en-US" sz="2400" b="1" dirty="0">
                <a:latin typeface="楷体_GB2312" pitchFamily="49" charset="-122"/>
                <a:ea typeface="楷体_GB2312" pitchFamily="49" charset="-122"/>
              </a:rPr>
              <a:t>数学</a:t>
            </a:r>
            <a:r>
              <a:rPr lang="en-US" altLang="zh-CN" sz="2400" b="1" dirty="0">
                <a:latin typeface="楷体_GB2312" pitchFamily="49" charset="-122"/>
                <a:ea typeface="楷体_GB2312" pitchFamily="49" charset="-122"/>
              </a:rPr>
              <a:t>\t</a:t>
            </a:r>
            <a:r>
              <a:rPr lang="zh-CN" altLang="en-US" sz="2400" b="1" dirty="0">
                <a:latin typeface="楷体_GB2312" pitchFamily="49" charset="-122"/>
                <a:ea typeface="楷体_GB2312" pitchFamily="49" charset="-122"/>
              </a:rPr>
              <a:t>平均成绩</a:t>
            </a:r>
            <a:r>
              <a:rPr lang="en-US" altLang="zh-CN" sz="2400" b="1" dirty="0">
                <a:latin typeface="楷体_GB2312" pitchFamily="49" charset="-122"/>
                <a:ea typeface="楷体_GB2312" pitchFamily="49" charset="-122"/>
              </a:rPr>
              <a:t>\n"); </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printf</a:t>
            </a:r>
            <a:r>
              <a:rPr lang="en-US" altLang="zh-CN" sz="2400" b="1" dirty="0">
                <a:latin typeface="楷体_GB2312" pitchFamily="49" charset="-122"/>
                <a:ea typeface="楷体_GB2312" pitchFamily="49" charset="-122"/>
              </a:rPr>
              <a:t>("%s\t%4d\t%4d\t%6.2f\n</a:t>
            </a:r>
            <a:r>
              <a:rPr lang="en-US" altLang="zh-CN" sz="2400" b="1" dirty="0">
                <a:ea typeface="楷体_GB2312" pitchFamily="49" charset="-122"/>
              </a:rPr>
              <a:t>”</a:t>
            </a:r>
            <a:r>
              <a:rPr lang="en-US" altLang="zh-CN" sz="2400" b="1" dirty="0">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st1.name,st1.chinese,st1.math,aver1); </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printf</a:t>
            </a:r>
            <a:r>
              <a:rPr lang="en-US" altLang="zh-CN" sz="2400" b="1" dirty="0">
                <a:latin typeface="楷体_GB2312" pitchFamily="49" charset="-122"/>
                <a:ea typeface="楷体_GB2312" pitchFamily="49" charset="-122"/>
              </a:rPr>
              <a:t>("%s\t%4d\t%4d\t%6.2f\n</a:t>
            </a:r>
            <a:r>
              <a:rPr lang="en-US" altLang="zh-CN" sz="2400" b="1" dirty="0">
                <a:ea typeface="楷体_GB2312" pitchFamily="49" charset="-122"/>
              </a:rPr>
              <a:t>”</a:t>
            </a:r>
            <a:r>
              <a:rPr lang="en-US" altLang="zh-CN" sz="2400" b="1" dirty="0">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st2.name,st2.chinese,st2.math,aver2);   </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printf</a:t>
            </a:r>
            <a:r>
              <a:rPr lang="en-US" altLang="zh-CN" sz="2400" b="1" dirty="0">
                <a:latin typeface="楷体_GB2312" pitchFamily="49" charset="-122"/>
                <a:ea typeface="楷体_GB2312" pitchFamily="49" charset="-122"/>
              </a:rPr>
              <a:t>("%s\t%4d\t%4d\t%6.2f\n</a:t>
            </a:r>
            <a:r>
              <a:rPr lang="en-US" altLang="zh-CN" sz="2400" b="1" dirty="0">
                <a:ea typeface="楷体_GB2312" pitchFamily="49" charset="-122"/>
              </a:rPr>
              <a:t>”</a:t>
            </a:r>
            <a:r>
              <a:rPr lang="en-US" altLang="zh-CN" sz="2400" b="1" dirty="0">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st3.name,st3.chinese,st3.math,aver3);</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a:t>
            </a:r>
          </a:p>
        </p:txBody>
      </p:sp>
      <p:sp>
        <p:nvSpPr>
          <p:cNvPr id="5" name="灯片编号占位符 5"/>
          <p:cNvSpPr>
            <a:spLocks noGrp="1"/>
          </p:cNvSpPr>
          <p:nvPr>
            <p:ph type="sldNum" sz="quarter" idx="12"/>
          </p:nvPr>
        </p:nvSpPr>
        <p:spPr/>
        <p:txBody>
          <a:bodyPr/>
          <a:lstStyle/>
          <a:p>
            <a:pPr>
              <a:defRPr/>
            </a:pPr>
            <a:fld id="{683C2084-FF7D-4E36-834E-75463D4A9F33}" type="slidenum">
              <a:rPr lang="en-US" altLang="zh-CN"/>
              <a:pPr>
                <a:defRPr/>
              </a:pPr>
              <a:t>22</a:t>
            </a:fld>
            <a:endParaRPr lang="en-US" altLang="zh-CN"/>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61" name="Rectangle 5"/>
          <p:cNvSpPr>
            <a:spLocks noGrp="1" noChangeArrowheads="1"/>
          </p:cNvSpPr>
          <p:nvPr>
            <p:ph type="title"/>
          </p:nvPr>
        </p:nvSpPr>
        <p:spPr>
          <a:xfrm>
            <a:off x="539750" y="260350"/>
            <a:ext cx="7920038" cy="720725"/>
          </a:xfrm>
        </p:spPr>
        <p:txBody>
          <a:bodyPr>
            <a:normAutofit fontScale="90000"/>
          </a:bodyPr>
          <a:lstStyle/>
          <a:p>
            <a:pPr eaLnBrk="1" hangingPunct="1">
              <a:lnSpc>
                <a:spcPct val="100000"/>
              </a:lnSpc>
              <a:defRPr/>
            </a:pPr>
            <a:r>
              <a:rPr lang="en-US" altLang="zh-CN" sz="3600" dirty="0">
                <a:solidFill>
                  <a:schemeClr val="tx1"/>
                </a:solidFill>
                <a:latin typeface="黑体" pitchFamily="2" charset="-122"/>
                <a:ea typeface="黑体" pitchFamily="2" charset="-122"/>
              </a:rPr>
              <a:t>7.2 </a:t>
            </a:r>
            <a:r>
              <a:rPr lang="zh-CN" altLang="en-US" dirty="0">
                <a:solidFill>
                  <a:schemeClr val="tx1"/>
                </a:solidFill>
                <a:latin typeface="黑体" pitchFamily="2" charset="-122"/>
                <a:ea typeface="黑体" pitchFamily="2" charset="-122"/>
              </a:rPr>
              <a:t>结构数组</a:t>
            </a:r>
          </a:p>
        </p:txBody>
      </p:sp>
      <p:sp>
        <p:nvSpPr>
          <p:cNvPr id="377859" name="Rectangle 3"/>
          <p:cNvSpPr>
            <a:spLocks noGrp="1" noChangeArrowheads="1"/>
          </p:cNvSpPr>
          <p:nvPr>
            <p:ph idx="1"/>
          </p:nvPr>
        </p:nvSpPr>
        <p:spPr>
          <a:xfrm>
            <a:off x="323850" y="981075"/>
            <a:ext cx="8496300" cy="5472113"/>
          </a:xfrm>
        </p:spPr>
        <p:txBody>
          <a:bodyPr/>
          <a:lstStyle/>
          <a:p>
            <a:pPr marL="0" indent="0" algn="just" eaLnBrk="1" hangingPunct="1">
              <a:lnSpc>
                <a:spcPct val="110000"/>
              </a:lnSpc>
              <a:buClr>
                <a:srgbClr val="FF6600"/>
              </a:buClr>
              <a:buSzPct val="55000"/>
              <a:buFont typeface="Wingdings" pitchFamily="2" charset="2"/>
              <a:buNone/>
              <a:defRPr/>
            </a:pPr>
            <a:r>
              <a:rPr lang="zh-CN" altLang="en-US" b="1" dirty="0">
                <a:latin typeface="楷体_GB2312" pitchFamily="49" charset="-122"/>
                <a:ea typeface="楷体_GB2312" pitchFamily="49" charset="-122"/>
              </a:rPr>
              <a:t>通常用结构（变量）描述个体，用数组描述个体的集合。当数组的元素是结构时，这种数组就称为结构数组。</a:t>
            </a:r>
          </a:p>
          <a:p>
            <a:pPr marL="0" indent="0" algn="just" eaLnBrk="1" hangingPunct="1">
              <a:lnSpc>
                <a:spcPct val="110000"/>
              </a:lnSpc>
              <a:buClr>
                <a:srgbClr val="FF6600"/>
              </a:buClr>
              <a:buSzPct val="55000"/>
              <a:buFont typeface="Wingdings" pitchFamily="2" charset="2"/>
              <a:buNone/>
              <a:defRPr/>
            </a:pPr>
            <a:r>
              <a:rPr lang="zh-CN" altLang="en-US" b="1" dirty="0">
                <a:latin typeface="楷体_GB2312" pitchFamily="49" charset="-122"/>
                <a:ea typeface="楷体_GB2312" pitchFamily="49" charset="-122"/>
              </a:rPr>
              <a:t>例如：用结构变量</a:t>
            </a:r>
            <a:r>
              <a:rPr lang="en-US" altLang="zh-CN" b="1" dirty="0">
                <a:latin typeface="楷体_GB2312" pitchFamily="49" charset="-122"/>
                <a:ea typeface="楷体_GB2312" pitchFamily="49" charset="-122"/>
              </a:rPr>
              <a:t>st1</a:t>
            </a:r>
            <a:r>
              <a:rPr lang="zh-CN" altLang="en-US" b="1" dirty="0">
                <a:latin typeface="楷体_GB2312" pitchFamily="49" charset="-122"/>
                <a:ea typeface="楷体_GB2312" pitchFamily="49" charset="-122"/>
              </a:rPr>
              <a:t>描述某学生的有关信息，而用结构数组可表示一个班的学生。</a:t>
            </a:r>
          </a:p>
          <a:p>
            <a:pPr marL="0" indent="0" algn="just" eaLnBrk="1" hangingPunct="1">
              <a:lnSpc>
                <a:spcPct val="110000"/>
              </a:lnSpc>
              <a:buClr>
                <a:srgbClr val="FF6600"/>
              </a:buClr>
              <a:buSzPct val="55000"/>
              <a:buFont typeface="Wingdings" pitchFamily="2" charset="2"/>
              <a:buNone/>
              <a:defRPr/>
            </a:pPr>
            <a:r>
              <a:rPr lang="zh-CN" altLang="en-US" b="1" dirty="0">
                <a:latin typeface="楷体_GB2312" pitchFamily="49" charset="-122"/>
                <a:ea typeface="楷体_GB2312" pitchFamily="49" charset="-122"/>
              </a:rPr>
              <a:t>    </a:t>
            </a:r>
            <a:r>
              <a:rPr lang="en-US" altLang="zh-CN" b="1" dirty="0" err="1">
                <a:latin typeface="楷体_GB2312" pitchFamily="49" charset="-122"/>
                <a:ea typeface="楷体_GB2312" pitchFamily="49" charset="-122"/>
              </a:rPr>
              <a:t>struct</a:t>
            </a:r>
            <a:r>
              <a:rPr lang="en-US" altLang="zh-CN" b="1" dirty="0">
                <a:latin typeface="楷体_GB2312" pitchFamily="49" charset="-122"/>
                <a:ea typeface="楷体_GB2312" pitchFamily="49" charset="-122"/>
              </a:rPr>
              <a:t>  student {</a:t>
            </a:r>
          </a:p>
          <a:p>
            <a:pPr marL="0" indent="0" eaLnBrk="1" hangingPunct="1">
              <a:lnSpc>
                <a:spcPct val="110000"/>
              </a:lnSpc>
              <a:buFont typeface="Monotype Sorts" pitchFamily="2" charset="2"/>
              <a:buNone/>
              <a:defRPr/>
            </a:pPr>
            <a:r>
              <a:rPr lang="en-US" altLang="zh-CN" b="1" dirty="0">
                <a:latin typeface="楷体_GB2312" pitchFamily="49" charset="-122"/>
                <a:ea typeface="楷体_GB2312" pitchFamily="49" charset="-122"/>
              </a:rPr>
              <a:t>    </a:t>
            </a:r>
            <a:r>
              <a:rPr lang="en-US" altLang="zh-CN" b="1" dirty="0" err="1">
                <a:latin typeface="楷体_GB2312" pitchFamily="49" charset="-122"/>
                <a:ea typeface="楷体_GB2312" pitchFamily="49" charset="-122"/>
              </a:rPr>
              <a:t>int</a:t>
            </a:r>
            <a:r>
              <a:rPr lang="en-US" altLang="zh-CN" b="1" dirty="0">
                <a:latin typeface="楷体_GB2312" pitchFamily="49" charset="-122"/>
                <a:ea typeface="楷体_GB2312" pitchFamily="49" charset="-122"/>
              </a:rPr>
              <a:t>  num;</a:t>
            </a:r>
          </a:p>
          <a:p>
            <a:pPr marL="0" indent="0" eaLnBrk="1" hangingPunct="1">
              <a:lnSpc>
                <a:spcPct val="110000"/>
              </a:lnSpc>
              <a:buFont typeface="Monotype Sorts" pitchFamily="2" charset="2"/>
              <a:buNone/>
              <a:defRPr/>
            </a:pPr>
            <a:r>
              <a:rPr lang="en-US" altLang="zh-CN" b="1" dirty="0">
                <a:latin typeface="楷体_GB2312" pitchFamily="49" charset="-122"/>
                <a:ea typeface="楷体_GB2312" pitchFamily="49" charset="-122"/>
              </a:rPr>
              <a:t>    char name[20];</a:t>
            </a:r>
          </a:p>
          <a:p>
            <a:pPr marL="0" indent="0" eaLnBrk="1" hangingPunct="1">
              <a:lnSpc>
                <a:spcPct val="110000"/>
              </a:lnSpc>
              <a:buFont typeface="Monotype Sorts" pitchFamily="2" charset="2"/>
              <a:buNone/>
              <a:defRPr/>
            </a:pPr>
            <a:r>
              <a:rPr lang="en-US" altLang="zh-CN" b="1" dirty="0">
                <a:latin typeface="楷体_GB2312" pitchFamily="49" charset="-122"/>
                <a:ea typeface="楷体_GB2312" pitchFamily="49" charset="-122"/>
              </a:rPr>
              <a:t>    char  sex;</a:t>
            </a:r>
          </a:p>
          <a:p>
            <a:pPr marL="0" indent="0" eaLnBrk="1" hangingPunct="1">
              <a:lnSpc>
                <a:spcPct val="110000"/>
              </a:lnSpc>
              <a:buFont typeface="Monotype Sorts" pitchFamily="2" charset="2"/>
              <a:buNone/>
              <a:defRPr/>
            </a:pPr>
            <a:r>
              <a:rPr lang="en-US" altLang="zh-CN" b="1" dirty="0">
                <a:latin typeface="楷体_GB2312" pitchFamily="49" charset="-122"/>
                <a:ea typeface="楷体_GB2312" pitchFamily="49" charset="-122"/>
              </a:rPr>
              <a:t>    } </a:t>
            </a:r>
            <a:r>
              <a:rPr lang="en-US" altLang="zh-CN" b="1" dirty="0" err="1">
                <a:latin typeface="楷体_GB2312" pitchFamily="49" charset="-122"/>
                <a:ea typeface="楷体_GB2312" pitchFamily="49" charset="-122"/>
              </a:rPr>
              <a:t>stu</a:t>
            </a:r>
            <a:r>
              <a:rPr lang="en-US" altLang="zh-CN" b="1" dirty="0">
                <a:latin typeface="楷体_GB2312" pitchFamily="49" charset="-122"/>
                <a:ea typeface="楷体_GB2312" pitchFamily="49" charset="-122"/>
              </a:rPr>
              <a:t>[100];   </a:t>
            </a:r>
          </a:p>
        </p:txBody>
      </p:sp>
      <p:sp>
        <p:nvSpPr>
          <p:cNvPr id="6" name="灯片编号占位符 5"/>
          <p:cNvSpPr>
            <a:spLocks noGrp="1"/>
          </p:cNvSpPr>
          <p:nvPr>
            <p:ph type="sldNum" sz="quarter" idx="12"/>
          </p:nvPr>
        </p:nvSpPr>
        <p:spPr/>
        <p:txBody>
          <a:bodyPr/>
          <a:lstStyle/>
          <a:p>
            <a:pPr>
              <a:defRPr/>
            </a:pPr>
            <a:fld id="{6FD20B20-0156-438E-B2FF-AADB4F209601}" type="slidenum">
              <a:rPr lang="en-US" altLang="zh-CN"/>
              <a:pPr>
                <a:defRPr/>
              </a:pPr>
              <a:t>23</a:t>
            </a:fld>
            <a:endParaRPr lang="en-US" altLang="zh-CN"/>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3" name="Rectangle 3"/>
          <p:cNvSpPr>
            <a:spLocks noGrp="1" noChangeArrowheads="1"/>
          </p:cNvSpPr>
          <p:nvPr>
            <p:ph type="body" sz="half" idx="1"/>
          </p:nvPr>
        </p:nvSpPr>
        <p:spPr>
          <a:xfrm>
            <a:off x="684213" y="836613"/>
            <a:ext cx="8023225" cy="4965700"/>
          </a:xfrm>
        </p:spPr>
        <p:txBody>
          <a:bodyPr>
            <a:noAutofit/>
          </a:bodyPr>
          <a:lstStyle/>
          <a:p>
            <a:pPr marL="0" indent="0" algn="just" eaLnBrk="1" hangingPunct="1">
              <a:lnSpc>
                <a:spcPct val="95000"/>
              </a:lnSpc>
              <a:spcBef>
                <a:spcPct val="15000"/>
              </a:spcBef>
              <a:buClr>
                <a:srgbClr val="FF6600"/>
              </a:buClr>
              <a:buSzPct val="55000"/>
              <a:buFont typeface="Wingdings" pitchFamily="2" charset="2"/>
              <a:buNone/>
              <a:defRPr/>
            </a:pPr>
            <a:r>
              <a:rPr lang="zh-CN" altLang="en-US" sz="3600" b="1" dirty="0">
                <a:latin typeface="楷体_GB2312" pitchFamily="49" charset="-122"/>
                <a:ea typeface="楷体_GB2312" pitchFamily="49" charset="-122"/>
              </a:rPr>
              <a:t>结构数组的定义</a:t>
            </a:r>
          </a:p>
          <a:p>
            <a:pPr marL="0" indent="0" eaLnBrk="1" hangingPunct="1">
              <a:lnSpc>
                <a:spcPct val="90000"/>
              </a:lnSpc>
              <a:buFont typeface="Monotype Sorts" pitchFamily="2" charset="2"/>
              <a:buNone/>
              <a:defRPr/>
            </a:pPr>
            <a:r>
              <a:rPr lang="en-US" altLang="zh-CN" sz="2800" b="1" dirty="0">
                <a:latin typeface="楷体_GB2312" pitchFamily="49" charset="-122"/>
                <a:ea typeface="楷体_GB2312" pitchFamily="49" charset="-122"/>
              </a:rPr>
              <a:t>(1) </a:t>
            </a:r>
            <a:r>
              <a:rPr lang="zh-CN" altLang="en-US" sz="2800" b="1" dirty="0">
                <a:latin typeface="楷体_GB2312" pitchFamily="49" charset="-122"/>
                <a:ea typeface="楷体_GB2312" pitchFamily="49" charset="-122"/>
              </a:rPr>
              <a:t>先定义结构类型，再定义结构数组</a:t>
            </a:r>
          </a:p>
          <a:p>
            <a:pPr marL="0" indent="0" eaLnBrk="1" hangingPunct="1">
              <a:lnSpc>
                <a:spcPct val="90000"/>
              </a:lnSpc>
              <a:buFont typeface="Monotype Sorts" pitchFamily="2" charset="2"/>
              <a:buNone/>
              <a:defRPr/>
            </a:pPr>
            <a:r>
              <a:rPr lang="zh-CN" altLang="en-US" sz="2800" b="1" dirty="0">
                <a:latin typeface="楷体_GB2312" pitchFamily="49" charset="-122"/>
                <a:ea typeface="楷体_GB2312" pitchFamily="49" charset="-122"/>
              </a:rPr>
              <a:t>以下代码先定义结构类型</a:t>
            </a:r>
            <a:r>
              <a:rPr lang="en-US" altLang="zh-CN" sz="2800" b="1" dirty="0" err="1">
                <a:latin typeface="楷体_GB2312" pitchFamily="49" charset="-122"/>
                <a:ea typeface="楷体_GB2312" pitchFamily="49" charset="-122"/>
              </a:rPr>
              <a:t>stuScore</a:t>
            </a:r>
            <a:r>
              <a:rPr lang="zh-CN" altLang="en-US" sz="2800" b="1" dirty="0">
                <a:latin typeface="楷体_GB2312" pitchFamily="49" charset="-122"/>
                <a:ea typeface="楷体_GB2312" pitchFamily="49" charset="-122"/>
              </a:rPr>
              <a:t>，然后用这个结构类型定义结构数组：</a:t>
            </a:r>
          </a:p>
          <a:p>
            <a:pPr marL="0" indent="0" eaLnBrk="1" hangingPunct="1">
              <a:lnSpc>
                <a:spcPct val="90000"/>
              </a:lnSpc>
              <a:buFont typeface="Monotype Sorts" pitchFamily="2" charset="2"/>
              <a:buNone/>
              <a:defRPr/>
            </a:pPr>
            <a:r>
              <a:rPr lang="en-US" altLang="zh-CN" sz="2800" b="1" dirty="0" err="1">
                <a:latin typeface="楷体_GB2312" pitchFamily="49" charset="-122"/>
                <a:ea typeface="楷体_GB2312" pitchFamily="49" charset="-122"/>
              </a:rPr>
              <a:t>struct</a:t>
            </a: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stuScore</a:t>
            </a:r>
            <a:endParaRPr lang="en-US" altLang="zh-CN" sz="2800" b="1" dirty="0">
              <a:latin typeface="楷体_GB2312" pitchFamily="49" charset="-122"/>
              <a:ea typeface="楷体_GB2312" pitchFamily="49" charset="-122"/>
            </a:endParaRPr>
          </a:p>
          <a:p>
            <a:pPr marL="0" indent="0" eaLnBrk="1" hangingPunct="1">
              <a:lnSpc>
                <a:spcPct val="90000"/>
              </a:lnSpc>
              <a:buFont typeface="Monotype Sorts" pitchFamily="2" charset="2"/>
              <a:buNone/>
              <a:defRPr/>
            </a:pPr>
            <a:r>
              <a:rPr lang="en-US" altLang="zh-CN" sz="2800" b="1" dirty="0">
                <a:latin typeface="楷体_GB2312" pitchFamily="49" charset="-122"/>
                <a:ea typeface="楷体_GB2312" pitchFamily="49" charset="-122"/>
              </a:rPr>
              <a:t>{	char name[20];</a:t>
            </a:r>
          </a:p>
          <a:p>
            <a:pPr marL="0" indent="0" eaLnBrk="1" hangingPunct="1">
              <a:lnSpc>
                <a:spcPct val="90000"/>
              </a:lnSpc>
              <a:buFont typeface="Monotype Sorts" pitchFamily="2" charset="2"/>
              <a:buNone/>
              <a:defRPr/>
            </a:pP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int</a:t>
            </a: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chinese</a:t>
            </a:r>
            <a:r>
              <a:rPr lang="en-US" altLang="zh-CN" sz="2800" b="1" dirty="0">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int</a:t>
            </a:r>
            <a:r>
              <a:rPr lang="en-US" altLang="zh-CN" sz="2800" b="1" dirty="0">
                <a:latin typeface="楷体_GB2312" pitchFamily="49" charset="-122"/>
                <a:ea typeface="楷体_GB2312" pitchFamily="49" charset="-122"/>
              </a:rPr>
              <a:t> math;</a:t>
            </a:r>
          </a:p>
          <a:p>
            <a:pPr marL="0" indent="0" eaLnBrk="1" hangingPunct="1">
              <a:lnSpc>
                <a:spcPct val="90000"/>
              </a:lnSpc>
              <a:buFont typeface="Monotype Sorts" pitchFamily="2" charset="2"/>
              <a:buNone/>
              <a:defRPr/>
            </a:pPr>
            <a:r>
              <a:rPr lang="en-US" altLang="zh-CN" sz="2800" b="1" dirty="0">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800" b="1" dirty="0" err="1">
                <a:latin typeface="楷体_GB2312" pitchFamily="49" charset="-122"/>
                <a:ea typeface="楷体_GB2312" pitchFamily="49" charset="-122"/>
              </a:rPr>
              <a:t>struct</a:t>
            </a: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stuScore</a:t>
            </a: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st</a:t>
            </a:r>
            <a:r>
              <a:rPr lang="en-US" altLang="zh-CN" sz="2800" b="1" dirty="0">
                <a:latin typeface="楷体_GB2312" pitchFamily="49" charset="-122"/>
                <a:ea typeface="楷体_GB2312" pitchFamily="49" charset="-122"/>
              </a:rPr>
              <a:t>[3]; 	</a:t>
            </a:r>
          </a:p>
        </p:txBody>
      </p:sp>
      <p:sp>
        <p:nvSpPr>
          <p:cNvPr id="5" name="灯片编号占位符 6"/>
          <p:cNvSpPr>
            <a:spLocks noGrp="1"/>
          </p:cNvSpPr>
          <p:nvPr>
            <p:ph type="sldNum" sz="quarter" idx="12"/>
          </p:nvPr>
        </p:nvSpPr>
        <p:spPr/>
        <p:txBody>
          <a:bodyPr/>
          <a:lstStyle/>
          <a:p>
            <a:pPr>
              <a:defRPr/>
            </a:pPr>
            <a:fld id="{4AA5879A-8D05-4930-A081-2AFBCEE472BC}" type="slidenum">
              <a:rPr lang="en-US" altLang="zh-CN"/>
              <a:pPr>
                <a:defRPr/>
              </a:pPr>
              <a:t>24</a:t>
            </a:fld>
            <a:endParaRPr lang="en-US" altLang="zh-CN"/>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930" name="Rectangle 2"/>
          <p:cNvSpPr>
            <a:spLocks noGrp="1" noChangeArrowheads="1"/>
          </p:cNvSpPr>
          <p:nvPr>
            <p:ph type="body" sz="half" idx="1"/>
          </p:nvPr>
        </p:nvSpPr>
        <p:spPr>
          <a:xfrm>
            <a:off x="684213" y="836613"/>
            <a:ext cx="8023225" cy="4965700"/>
          </a:xfrm>
        </p:spPr>
        <p:txBody>
          <a:bodyPr>
            <a:normAutofit/>
          </a:bodyPr>
          <a:lstStyle/>
          <a:p>
            <a:pPr marL="0" indent="0" eaLnBrk="1" hangingPunct="1">
              <a:buFont typeface="Monotype Sorts" pitchFamily="2" charset="2"/>
              <a:buNone/>
              <a:defRPr/>
            </a:pPr>
            <a:r>
              <a:rPr lang="en-US" altLang="zh-CN" sz="2800" b="1" dirty="0">
                <a:latin typeface="楷体_GB2312" pitchFamily="49" charset="-122"/>
                <a:ea typeface="楷体_GB2312" pitchFamily="49" charset="-122"/>
              </a:rPr>
              <a:t>(2) </a:t>
            </a:r>
            <a:r>
              <a:rPr lang="zh-CN" altLang="en-US" sz="2800" b="1" dirty="0">
                <a:latin typeface="楷体_GB2312" pitchFamily="49" charset="-122"/>
                <a:ea typeface="楷体_GB2312" pitchFamily="49" charset="-122"/>
              </a:rPr>
              <a:t>在定义结构类型的同时定义结构数组</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以下代码实现与前面代码同样的效果，在定义结构类型</a:t>
            </a:r>
            <a:r>
              <a:rPr lang="en-US" altLang="zh-CN" sz="2800" b="1" dirty="0" err="1">
                <a:latin typeface="楷体_GB2312" pitchFamily="49" charset="-122"/>
                <a:ea typeface="楷体_GB2312" pitchFamily="49" charset="-122"/>
              </a:rPr>
              <a:t>stuScore</a:t>
            </a:r>
            <a:r>
              <a:rPr lang="zh-CN" altLang="en-US" sz="2800" b="1" dirty="0">
                <a:latin typeface="楷体_GB2312" pitchFamily="49" charset="-122"/>
                <a:ea typeface="楷体_GB2312" pitchFamily="49" charset="-122"/>
              </a:rPr>
              <a:t>同时定义结构数组：</a:t>
            </a:r>
          </a:p>
          <a:p>
            <a:pPr marL="0" indent="0" eaLnBrk="1" hangingPunct="1">
              <a:buFont typeface="Monotype Sorts" pitchFamily="2" charset="2"/>
              <a:buNone/>
              <a:defRPr/>
            </a:pPr>
            <a:r>
              <a:rPr lang="en-US" altLang="zh-CN" sz="2800" b="1" dirty="0" err="1">
                <a:latin typeface="楷体_GB2312" pitchFamily="49" charset="-122"/>
                <a:ea typeface="楷体_GB2312" pitchFamily="49" charset="-122"/>
              </a:rPr>
              <a:t>struct</a:t>
            </a: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stuScore</a:t>
            </a:r>
            <a:endParaRPr lang="en-US" altLang="zh-CN" sz="2800" b="1" dirty="0">
              <a:latin typeface="楷体_GB2312" pitchFamily="49" charset="-122"/>
              <a:ea typeface="楷体_GB2312" pitchFamily="49" charset="-122"/>
            </a:endParaRPr>
          </a:p>
          <a:p>
            <a:pPr marL="0" indent="0" eaLnBrk="1" hangingPunct="1">
              <a:buFont typeface="Monotype Sorts" pitchFamily="2" charset="2"/>
              <a:buNone/>
              <a:defRPr/>
            </a:pPr>
            <a:r>
              <a:rPr lang="en-US" altLang="zh-CN" sz="2800" b="1" dirty="0">
                <a:latin typeface="楷体_GB2312" pitchFamily="49" charset="-122"/>
                <a:ea typeface="楷体_GB2312" pitchFamily="49" charset="-122"/>
              </a:rPr>
              <a:t>{	char name[20];</a:t>
            </a:r>
          </a:p>
          <a:p>
            <a:pPr marL="0" indent="0" eaLnBrk="1" hangingPunct="1">
              <a:buFont typeface="Monotype Sorts" pitchFamily="2" charset="2"/>
              <a:buNone/>
              <a:defRPr/>
            </a:pP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int</a:t>
            </a: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chinese</a:t>
            </a:r>
            <a:r>
              <a:rPr lang="en-US" altLang="zh-CN" sz="28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int</a:t>
            </a:r>
            <a:r>
              <a:rPr lang="en-US" altLang="zh-CN" sz="2800" b="1" dirty="0">
                <a:latin typeface="楷体_GB2312" pitchFamily="49" charset="-122"/>
                <a:ea typeface="楷体_GB2312" pitchFamily="49" charset="-122"/>
              </a:rPr>
              <a:t> math;</a:t>
            </a:r>
          </a:p>
          <a:p>
            <a:pPr marL="0" indent="0" eaLnBrk="1" hangingPunct="1">
              <a:buFont typeface="Monotype Sorts" pitchFamily="2" charset="2"/>
              <a:buNone/>
              <a:defRPr/>
            </a:pPr>
            <a:r>
              <a:rPr lang="en-US" altLang="zh-CN" sz="2800" b="1" dirty="0">
                <a:latin typeface="楷体_GB2312" pitchFamily="49" charset="-122"/>
                <a:ea typeface="楷体_GB2312" pitchFamily="49" charset="-122"/>
              </a:rPr>
              <a:t>}</a:t>
            </a:r>
            <a:r>
              <a:rPr lang="en-US" altLang="zh-CN" sz="2800" b="1" dirty="0" err="1">
                <a:latin typeface="楷体_GB2312" pitchFamily="49" charset="-122"/>
                <a:ea typeface="楷体_GB2312" pitchFamily="49" charset="-122"/>
              </a:rPr>
              <a:t>st</a:t>
            </a:r>
            <a:r>
              <a:rPr lang="en-US" altLang="zh-CN" sz="2800" b="1" dirty="0">
                <a:latin typeface="楷体_GB2312" pitchFamily="49" charset="-122"/>
                <a:ea typeface="楷体_GB2312" pitchFamily="49" charset="-122"/>
              </a:rPr>
              <a:t>[3];</a:t>
            </a:r>
          </a:p>
        </p:txBody>
      </p:sp>
      <p:sp>
        <p:nvSpPr>
          <p:cNvPr id="5" name="灯片编号占位符 6"/>
          <p:cNvSpPr>
            <a:spLocks noGrp="1"/>
          </p:cNvSpPr>
          <p:nvPr>
            <p:ph type="sldNum" sz="quarter" idx="12"/>
          </p:nvPr>
        </p:nvSpPr>
        <p:spPr/>
        <p:txBody>
          <a:bodyPr/>
          <a:lstStyle/>
          <a:p>
            <a:pPr>
              <a:defRPr/>
            </a:pPr>
            <a:fld id="{7C964223-EDFC-4CA8-B3B6-CECC25BA098A}" type="slidenum">
              <a:rPr lang="en-US" altLang="zh-CN"/>
              <a:pPr>
                <a:defRPr/>
              </a:pPr>
              <a:t>25</a:t>
            </a:fld>
            <a:endParaRPr lang="en-US" altLang="zh-CN"/>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7954" name="Rectangle 2"/>
          <p:cNvSpPr>
            <a:spLocks noGrp="1" noChangeArrowheads="1"/>
          </p:cNvSpPr>
          <p:nvPr>
            <p:ph type="body" sz="half" idx="1"/>
          </p:nvPr>
        </p:nvSpPr>
        <p:spPr>
          <a:xfrm>
            <a:off x="684213" y="836613"/>
            <a:ext cx="8023225" cy="3240087"/>
          </a:xfrm>
        </p:spPr>
        <p:txBody>
          <a:bodyPr>
            <a:noAutofit/>
          </a:bodyPr>
          <a:lstStyle/>
          <a:p>
            <a:pPr marL="0" indent="0" eaLnBrk="1" hangingPunct="1">
              <a:lnSpc>
                <a:spcPct val="90000"/>
              </a:lnSpc>
              <a:buFont typeface="Monotype Sorts" pitchFamily="2" charset="2"/>
              <a:buNone/>
              <a:defRPr/>
            </a:pPr>
            <a:r>
              <a:rPr lang="zh-CN" altLang="en-US" sz="2800" b="1" dirty="0">
                <a:latin typeface="楷体_GB2312" pitchFamily="49" charset="-122"/>
                <a:ea typeface="楷体_GB2312" pitchFamily="49" charset="-122"/>
              </a:rPr>
              <a:t>与结构变量初始化相仿，在定义结构数组时，也可给结构数组赋初值。例如：</a:t>
            </a:r>
          </a:p>
          <a:p>
            <a:pPr marL="0" indent="0" eaLnBrk="1" hangingPunct="1">
              <a:lnSpc>
                <a:spcPct val="90000"/>
              </a:lnSpc>
              <a:buFont typeface="Monotype Sorts" pitchFamily="2" charset="2"/>
              <a:buNone/>
              <a:defRPr/>
            </a:pPr>
            <a:r>
              <a:rPr lang="en-US" altLang="zh-CN" sz="2800" b="1" dirty="0" err="1">
                <a:latin typeface="楷体_GB2312" pitchFamily="49" charset="-122"/>
                <a:ea typeface="楷体_GB2312" pitchFamily="49" charset="-122"/>
              </a:rPr>
              <a:t>struct</a:t>
            </a: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stuScore</a:t>
            </a:r>
            <a:endParaRPr lang="en-US" altLang="zh-CN" sz="2800" b="1" dirty="0">
              <a:latin typeface="楷体_GB2312" pitchFamily="49" charset="-122"/>
              <a:ea typeface="楷体_GB2312" pitchFamily="49" charset="-122"/>
            </a:endParaRPr>
          </a:p>
          <a:p>
            <a:pPr marL="0" indent="0" eaLnBrk="1" hangingPunct="1">
              <a:lnSpc>
                <a:spcPct val="90000"/>
              </a:lnSpc>
              <a:buFont typeface="Monotype Sorts" pitchFamily="2" charset="2"/>
              <a:buNone/>
              <a:defRPr/>
            </a:pPr>
            <a:r>
              <a:rPr lang="en-US" altLang="zh-CN" sz="2800" b="1" dirty="0">
                <a:latin typeface="楷体_GB2312" pitchFamily="49" charset="-122"/>
                <a:ea typeface="楷体_GB2312" pitchFamily="49" charset="-122"/>
              </a:rPr>
              <a:t>{	char name[20];</a:t>
            </a:r>
          </a:p>
          <a:p>
            <a:pPr marL="0" indent="0" eaLnBrk="1" hangingPunct="1">
              <a:lnSpc>
                <a:spcPct val="90000"/>
              </a:lnSpc>
              <a:buFont typeface="Monotype Sorts" pitchFamily="2" charset="2"/>
              <a:buNone/>
              <a:defRPr/>
            </a:pP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int</a:t>
            </a: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chinese</a:t>
            </a:r>
            <a:r>
              <a:rPr lang="en-US" altLang="zh-CN" sz="2800" b="1" dirty="0">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int</a:t>
            </a:r>
            <a:r>
              <a:rPr lang="en-US" altLang="zh-CN" sz="2800" b="1" dirty="0">
                <a:latin typeface="楷体_GB2312" pitchFamily="49" charset="-122"/>
                <a:ea typeface="楷体_GB2312" pitchFamily="49" charset="-122"/>
              </a:rPr>
              <a:t> math;</a:t>
            </a:r>
          </a:p>
          <a:p>
            <a:pPr marL="0" indent="0" eaLnBrk="1" hangingPunct="1">
              <a:lnSpc>
                <a:spcPct val="90000"/>
              </a:lnSpc>
              <a:buFont typeface="Monotype Sorts" pitchFamily="2" charset="2"/>
              <a:buNone/>
              <a:defRPr/>
            </a:pPr>
            <a:r>
              <a:rPr lang="en-US" altLang="zh-CN" sz="2800" b="1" dirty="0">
                <a:latin typeface="楷体_GB2312" pitchFamily="49" charset="-122"/>
                <a:ea typeface="楷体_GB2312" pitchFamily="49" charset="-122"/>
              </a:rPr>
              <a:t>}</a:t>
            </a:r>
            <a:r>
              <a:rPr lang="en-US" altLang="zh-CN" sz="2800" b="1" dirty="0" err="1">
                <a:latin typeface="楷体_GB2312" pitchFamily="49" charset="-122"/>
                <a:ea typeface="楷体_GB2312" pitchFamily="49" charset="-122"/>
              </a:rPr>
              <a:t>st</a:t>
            </a:r>
            <a:r>
              <a:rPr lang="en-US" altLang="zh-CN" sz="2800" b="1" dirty="0">
                <a:latin typeface="楷体_GB2312" pitchFamily="49" charset="-122"/>
                <a:ea typeface="楷体_GB2312" pitchFamily="49" charset="-122"/>
              </a:rPr>
              <a:t>[3]={{</a:t>
            </a:r>
            <a:r>
              <a:rPr lang="en-US" altLang="zh-CN" sz="2800" b="1" dirty="0">
                <a:ea typeface="楷体_GB2312" pitchFamily="49" charset="-122"/>
              </a:rPr>
              <a:t>”</a:t>
            </a:r>
            <a:r>
              <a:rPr lang="en-US" altLang="zh-CN" sz="2800" b="1" dirty="0">
                <a:latin typeface="楷体_GB2312" pitchFamily="49" charset="-122"/>
                <a:ea typeface="楷体_GB2312" pitchFamily="49" charset="-122"/>
              </a:rPr>
              <a:t>Zhang</a:t>
            </a:r>
            <a:r>
              <a:rPr lang="en-US" altLang="zh-CN" sz="2800" b="1" dirty="0">
                <a:ea typeface="楷体_GB2312" pitchFamily="49" charset="-122"/>
              </a:rPr>
              <a:t>”</a:t>
            </a:r>
            <a:r>
              <a:rPr lang="en-US" altLang="zh-CN" sz="2800" b="1" dirty="0">
                <a:latin typeface="楷体_GB2312" pitchFamily="49" charset="-122"/>
                <a:ea typeface="楷体_GB2312" pitchFamily="49" charset="-122"/>
              </a:rPr>
              <a:t>,80,85},{</a:t>
            </a:r>
            <a:r>
              <a:rPr lang="en-US" altLang="zh-CN" sz="2800" b="1" dirty="0">
                <a:ea typeface="楷体_GB2312" pitchFamily="49" charset="-122"/>
              </a:rPr>
              <a:t>”</a:t>
            </a:r>
            <a:r>
              <a:rPr lang="en-US" altLang="zh-CN" sz="2800" b="1" dirty="0">
                <a:latin typeface="楷体_GB2312" pitchFamily="49" charset="-122"/>
                <a:ea typeface="楷体_GB2312" pitchFamily="49" charset="-122"/>
              </a:rPr>
              <a:t>Li</a:t>
            </a:r>
            <a:r>
              <a:rPr lang="en-US" altLang="zh-CN" sz="2800" b="1" dirty="0">
                <a:ea typeface="楷体_GB2312" pitchFamily="49" charset="-122"/>
              </a:rPr>
              <a:t>”</a:t>
            </a:r>
            <a:r>
              <a:rPr lang="en-US" altLang="zh-CN" sz="2800" b="1" dirty="0">
                <a:latin typeface="楷体_GB2312" pitchFamily="49" charset="-122"/>
                <a:ea typeface="楷体_GB2312" pitchFamily="49" charset="-122"/>
              </a:rPr>
              <a:t>,85,90},</a:t>
            </a:r>
          </a:p>
          <a:p>
            <a:pPr marL="0" indent="0" eaLnBrk="1" hangingPunct="1">
              <a:lnSpc>
                <a:spcPct val="90000"/>
              </a:lnSpc>
              <a:buFont typeface="Monotype Sorts" pitchFamily="2" charset="2"/>
              <a:buNone/>
              <a:defRPr/>
            </a:pPr>
            <a:r>
              <a:rPr lang="en-US" altLang="zh-CN" sz="2800" b="1" dirty="0">
                <a:latin typeface="楷体_GB2312" pitchFamily="49" charset="-122"/>
                <a:ea typeface="楷体_GB2312" pitchFamily="49" charset="-122"/>
              </a:rPr>
              <a:t>        {</a:t>
            </a:r>
            <a:r>
              <a:rPr lang="en-US" altLang="zh-CN" sz="2800" b="1" dirty="0">
                <a:ea typeface="楷体_GB2312" pitchFamily="49" charset="-122"/>
              </a:rPr>
              <a:t>”</a:t>
            </a:r>
            <a:r>
              <a:rPr lang="en-US" altLang="zh-CN" sz="2800" b="1" dirty="0">
                <a:latin typeface="楷体_GB2312" pitchFamily="49" charset="-122"/>
                <a:ea typeface="楷体_GB2312" pitchFamily="49" charset="-122"/>
              </a:rPr>
              <a:t>Wang</a:t>
            </a:r>
            <a:r>
              <a:rPr lang="en-US" altLang="zh-CN" sz="2800" b="1" dirty="0">
                <a:ea typeface="楷体_GB2312" pitchFamily="49" charset="-122"/>
              </a:rPr>
              <a:t>”</a:t>
            </a:r>
            <a:r>
              <a:rPr lang="en-US" altLang="zh-CN" sz="2800" b="1" dirty="0">
                <a:latin typeface="楷体_GB2312" pitchFamily="49" charset="-122"/>
                <a:ea typeface="楷体_GB2312" pitchFamily="49" charset="-122"/>
              </a:rPr>
              <a:t>,90,70}};</a:t>
            </a:r>
          </a:p>
        </p:txBody>
      </p:sp>
      <p:graphicFrame>
        <p:nvGraphicFramePr>
          <p:cNvPr id="638062" name="Group 110"/>
          <p:cNvGraphicFramePr>
            <a:graphicFrameLocks noGrp="1"/>
          </p:cNvGraphicFramePr>
          <p:nvPr>
            <p:ph sz="half" idx="2"/>
          </p:nvPr>
        </p:nvGraphicFramePr>
        <p:xfrm>
          <a:off x="468313" y="4995863"/>
          <a:ext cx="8304212" cy="1219200"/>
        </p:xfrm>
        <a:graphic>
          <a:graphicData uri="http://schemas.openxmlformats.org/drawingml/2006/table">
            <a:tbl>
              <a:tblPr/>
              <a:tblGrid>
                <a:gridCol w="1465262">
                  <a:extLst>
                    <a:ext uri="{9D8B030D-6E8A-4147-A177-3AD203B41FA5}">
                      <a16:colId xmlns:a16="http://schemas.microsoft.com/office/drawing/2014/main" val="20000"/>
                    </a:ext>
                  </a:extLst>
                </a:gridCol>
                <a:gridCol w="2703513">
                  <a:extLst>
                    <a:ext uri="{9D8B030D-6E8A-4147-A177-3AD203B41FA5}">
                      <a16:colId xmlns:a16="http://schemas.microsoft.com/office/drawing/2014/main" val="20001"/>
                    </a:ext>
                  </a:extLst>
                </a:gridCol>
                <a:gridCol w="2181225">
                  <a:extLst>
                    <a:ext uri="{9D8B030D-6E8A-4147-A177-3AD203B41FA5}">
                      <a16:colId xmlns:a16="http://schemas.microsoft.com/office/drawing/2014/main" val="20002"/>
                    </a:ext>
                  </a:extLst>
                </a:gridCol>
                <a:gridCol w="1954212">
                  <a:extLst>
                    <a:ext uri="{9D8B030D-6E8A-4147-A177-3AD203B41FA5}">
                      <a16:colId xmlns:a16="http://schemas.microsoft.com/office/drawing/2014/main" val="20003"/>
                    </a:ext>
                  </a:extLst>
                </a:gridCol>
              </a:tblGrid>
              <a:tr h="288925">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tabLst/>
                      </a:pPr>
                      <a:endParaRPr kumimoji="1" lang="zh-CN" altLang="zh-CN" sz="1400" b="0" i="0" u="none" strike="noStrike" cap="none" normalizeH="0" baseline="0" dirty="0">
                        <a:ln>
                          <a:noFill/>
                        </a:ln>
                        <a:solidFill>
                          <a:srgbClr val="008000"/>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name</a:t>
                      </a:r>
                      <a:endParaRPr kumimoji="1" lang="en-US" altLang="zh-CN" sz="1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Chinese</a:t>
                      </a:r>
                      <a:endParaRPr kumimoji="1" lang="en-US" altLang="zh-CN" sz="1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math</a:t>
                      </a:r>
                      <a:endParaRPr kumimoji="1" lang="en-US" altLang="zh-CN" sz="1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968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st[0]</a:t>
                      </a:r>
                      <a:endParaRPr kumimoji="1" lang="en-US" altLang="zh-CN" sz="1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Zhang</a:t>
                      </a:r>
                      <a:endParaRPr kumimoji="1" lang="en-US" altLang="zh-CN" sz="1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80</a:t>
                      </a:r>
                      <a:endParaRPr kumimoji="1" lang="en-US" altLang="zh-CN" sz="1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85</a:t>
                      </a:r>
                      <a:endParaRPr kumimoji="1" lang="en-US" altLang="zh-CN" sz="1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952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st[1]</a:t>
                      </a:r>
                      <a:endParaRPr kumimoji="1" lang="en-US" altLang="zh-CN" sz="1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Li</a:t>
                      </a:r>
                      <a:endParaRPr kumimoji="1" lang="en-US" altLang="zh-CN" sz="14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85</a:t>
                      </a:r>
                      <a:endParaRPr kumimoji="1" lang="en-US" altLang="zh-CN" sz="1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90</a:t>
                      </a:r>
                      <a:endParaRPr kumimoji="1" lang="en-US" altLang="zh-CN" sz="1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968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st[2]</a:t>
                      </a:r>
                      <a:endParaRPr kumimoji="1" lang="en-US" altLang="zh-CN" sz="1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Wang</a:t>
                      </a:r>
                      <a:endParaRPr kumimoji="1" lang="en-US" altLang="zh-CN" sz="1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90</a:t>
                      </a:r>
                      <a:endParaRPr kumimoji="1" lang="en-US" altLang="zh-CN" sz="1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70</a:t>
                      </a:r>
                      <a:endParaRPr kumimoji="1" lang="en-US" altLang="zh-CN" sz="14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3" name="灯片编号占位符 6"/>
          <p:cNvSpPr>
            <a:spLocks noGrp="1"/>
          </p:cNvSpPr>
          <p:nvPr>
            <p:ph type="sldNum" sz="quarter" idx="12"/>
          </p:nvPr>
        </p:nvSpPr>
        <p:spPr/>
        <p:txBody>
          <a:bodyPr/>
          <a:lstStyle/>
          <a:p>
            <a:pPr>
              <a:defRPr/>
            </a:pPr>
            <a:fld id="{16F14B47-E93F-402B-AD61-22750A76672D}" type="slidenum">
              <a:rPr lang="en-US" altLang="zh-CN"/>
              <a:pPr>
                <a:defRPr/>
              </a:pPr>
              <a:t>26</a:t>
            </a:fld>
            <a:endParaRPr lang="en-US" altLang="zh-CN"/>
          </a:p>
        </p:txBody>
      </p:sp>
      <p:sp>
        <p:nvSpPr>
          <p:cNvPr id="42015" name="Text Box 111"/>
          <p:cNvSpPr txBox="1">
            <a:spLocks noChangeArrowheads="1"/>
          </p:cNvSpPr>
          <p:nvPr/>
        </p:nvSpPr>
        <p:spPr bwMode="auto">
          <a:xfrm>
            <a:off x="2363788" y="4572000"/>
            <a:ext cx="3398837" cy="400050"/>
          </a:xfrm>
          <a:prstGeom prst="rect">
            <a:avLst/>
          </a:prstGeom>
          <a:noFill/>
          <a:ln w="9525">
            <a:noFill/>
            <a:miter lim="800000"/>
            <a:headEnd/>
            <a:tailEnd/>
          </a:ln>
        </p:spPr>
        <p:txBody>
          <a:bodyPr wrap="none">
            <a:spAutoFit/>
          </a:bodyPr>
          <a:lstStyle/>
          <a:p>
            <a:r>
              <a:rPr lang="zh-CN" altLang="en-US" sz="2000" b="1" dirty="0"/>
              <a:t>表</a:t>
            </a:r>
            <a:r>
              <a:rPr lang="en-US" altLang="zh-CN" sz="2000" b="1" dirty="0"/>
              <a:t>7.2 </a:t>
            </a:r>
            <a:r>
              <a:rPr lang="zh-CN" altLang="en-US" sz="2000" b="1" dirty="0"/>
              <a:t>结构数组</a:t>
            </a:r>
            <a:r>
              <a:rPr lang="en-US" altLang="zh-CN" sz="2000" b="1" dirty="0" err="1"/>
              <a:t>st</a:t>
            </a:r>
            <a:r>
              <a:rPr lang="zh-CN" altLang="en-US" sz="2000" b="1" dirty="0"/>
              <a:t>的逻辑结构 </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906" name="Rectangle 2"/>
          <p:cNvSpPr>
            <a:spLocks noGrp="1" noChangeArrowheads="1"/>
          </p:cNvSpPr>
          <p:nvPr>
            <p:ph type="title"/>
          </p:nvPr>
        </p:nvSpPr>
        <p:spPr/>
        <p:txBody>
          <a:bodyPr/>
          <a:lstStyle/>
          <a:p>
            <a:pPr eaLnBrk="1" hangingPunct="1">
              <a:lnSpc>
                <a:spcPct val="100000"/>
              </a:lnSpc>
              <a:defRPr/>
            </a:pPr>
            <a:r>
              <a:rPr lang="zh-CN" altLang="en-US" dirty="0">
                <a:solidFill>
                  <a:schemeClr val="tx1"/>
                </a:solidFill>
                <a:latin typeface="黑体" pitchFamily="2" charset="-122"/>
                <a:ea typeface="黑体" pitchFamily="2" charset="-122"/>
              </a:rPr>
              <a:t>结构数组的引用 </a:t>
            </a:r>
          </a:p>
        </p:txBody>
      </p:sp>
      <p:sp>
        <p:nvSpPr>
          <p:cNvPr id="635907" name="Rectangle 3"/>
          <p:cNvSpPr>
            <a:spLocks noGrp="1" noChangeArrowheads="1"/>
          </p:cNvSpPr>
          <p:nvPr>
            <p:ph type="body" sz="half" idx="1"/>
          </p:nvPr>
        </p:nvSpPr>
        <p:spPr>
          <a:xfrm>
            <a:off x="611188" y="1416050"/>
            <a:ext cx="8096250" cy="4965700"/>
          </a:xfrm>
        </p:spPr>
        <p:txBody>
          <a:bodyPr>
            <a:normAutofit/>
          </a:bodyPr>
          <a:lstStyle/>
          <a:p>
            <a:pPr marL="0" indent="0" eaLnBrk="1" hangingPunct="1">
              <a:buFont typeface="Monotype Sorts" pitchFamily="2" charset="2"/>
              <a:buNone/>
              <a:defRPr/>
            </a:pPr>
            <a:r>
              <a:rPr lang="en-US" altLang="zh-CN" sz="2800" b="1" dirty="0">
                <a:latin typeface="楷体_GB2312" pitchFamily="49" charset="-122"/>
                <a:ea typeface="楷体_GB2312" pitchFamily="49" charset="-122"/>
              </a:rPr>
              <a:t>(1) </a:t>
            </a:r>
            <a:r>
              <a:rPr lang="zh-CN" altLang="en-US" sz="2800" b="1" dirty="0">
                <a:latin typeface="楷体_GB2312" pitchFamily="49" charset="-122"/>
                <a:ea typeface="楷体_GB2312" pitchFamily="49" charset="-122"/>
              </a:rPr>
              <a:t>使用结构数组元素和成员运算符</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使用结构数组元素和成员运算符引用结构数组元素成员的一般形式为：</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结构数组名</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元素下标</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结构成员名</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例如：</a:t>
            </a:r>
            <a:r>
              <a:rPr lang="en-US" altLang="zh-CN" sz="2800" b="1" dirty="0" err="1">
                <a:latin typeface="楷体_GB2312" pitchFamily="49" charset="-122"/>
                <a:ea typeface="楷体_GB2312" pitchFamily="49" charset="-122"/>
              </a:rPr>
              <a:t>printf</a:t>
            </a:r>
            <a:r>
              <a:rPr lang="en-US" altLang="zh-CN" sz="2800" b="1" dirty="0">
                <a:latin typeface="楷体_GB2312" pitchFamily="49" charset="-122"/>
                <a:ea typeface="楷体_GB2312" pitchFamily="49" charset="-122"/>
              </a:rPr>
              <a:t>(</a:t>
            </a:r>
            <a:r>
              <a:rPr lang="en-US" altLang="zh-CN" sz="2800" b="1" dirty="0">
                <a:ea typeface="楷体_GB2312" pitchFamily="49" charset="-122"/>
              </a:rPr>
              <a:t>”</a:t>
            </a:r>
            <a:r>
              <a:rPr lang="en-US" altLang="zh-CN" sz="2800" b="1" dirty="0">
                <a:latin typeface="楷体_GB2312" pitchFamily="49" charset="-122"/>
                <a:ea typeface="楷体_GB2312" pitchFamily="49" charset="-122"/>
              </a:rPr>
              <a:t>%s</a:t>
            </a:r>
            <a:r>
              <a:rPr lang="en-US" altLang="zh-CN" sz="2800" b="1" dirty="0">
                <a:ea typeface="楷体_GB2312" pitchFamily="49" charset="-122"/>
              </a:rPr>
              <a:t>”</a:t>
            </a: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st</a:t>
            </a:r>
            <a:r>
              <a:rPr lang="en-US" altLang="zh-CN" sz="2800" b="1" dirty="0">
                <a:latin typeface="楷体_GB2312" pitchFamily="49" charset="-122"/>
                <a:ea typeface="楷体_GB2312" pitchFamily="49" charset="-122"/>
              </a:rPr>
              <a:t>[0].name); </a:t>
            </a:r>
          </a:p>
          <a:p>
            <a:pPr marL="0" indent="0" eaLnBrk="1" hangingPunct="1">
              <a:buFont typeface="Monotype Sorts" pitchFamily="2" charset="2"/>
              <a:buNone/>
              <a:defRPr/>
            </a:pPr>
            <a:r>
              <a:rPr lang="en-US" altLang="zh-CN" sz="2800" b="1" dirty="0">
                <a:latin typeface="楷体_GB2312" pitchFamily="49" charset="-122"/>
                <a:ea typeface="楷体_GB2312" pitchFamily="49" charset="-122"/>
              </a:rPr>
              <a:t>/* </a:t>
            </a:r>
            <a:r>
              <a:rPr lang="zh-CN" altLang="en-US" sz="2800" b="1" dirty="0">
                <a:latin typeface="楷体_GB2312" pitchFamily="49" charset="-122"/>
                <a:ea typeface="楷体_GB2312" pitchFamily="49" charset="-122"/>
              </a:rPr>
              <a:t>输出第</a:t>
            </a:r>
            <a:r>
              <a:rPr lang="en-US" altLang="zh-CN" sz="2800" b="1" dirty="0">
                <a:latin typeface="楷体_GB2312" pitchFamily="49" charset="-122"/>
                <a:ea typeface="楷体_GB2312" pitchFamily="49" charset="-122"/>
              </a:rPr>
              <a:t>1</a:t>
            </a:r>
            <a:r>
              <a:rPr lang="zh-CN" altLang="en-US" sz="2800" b="1" dirty="0">
                <a:latin typeface="楷体_GB2312" pitchFamily="49" charset="-122"/>
                <a:ea typeface="楷体_GB2312" pitchFamily="49" charset="-122"/>
              </a:rPr>
              <a:t>个学生的姓名，即</a:t>
            </a:r>
            <a:r>
              <a:rPr lang="en-US" altLang="zh-CN" sz="2800" b="1" dirty="0">
                <a:latin typeface="楷体_GB2312" pitchFamily="49" charset="-122"/>
                <a:ea typeface="楷体_GB2312" pitchFamily="49" charset="-122"/>
              </a:rPr>
              <a:t>Zhang */</a:t>
            </a:r>
            <a:endParaRPr lang="en-US" altLang="zh-CN" sz="2800" b="1" dirty="0">
              <a:solidFill>
                <a:srgbClr val="CC0099"/>
              </a:solidFill>
              <a:latin typeface="楷体_GB2312" pitchFamily="49" charset="-122"/>
              <a:ea typeface="楷体_GB2312" pitchFamily="49" charset="-122"/>
            </a:endParaRPr>
          </a:p>
        </p:txBody>
      </p:sp>
      <p:sp>
        <p:nvSpPr>
          <p:cNvPr id="6" name="灯片编号占位符 6"/>
          <p:cNvSpPr>
            <a:spLocks noGrp="1"/>
          </p:cNvSpPr>
          <p:nvPr>
            <p:ph type="sldNum" sz="quarter" idx="12"/>
          </p:nvPr>
        </p:nvSpPr>
        <p:spPr/>
        <p:txBody>
          <a:bodyPr/>
          <a:lstStyle/>
          <a:p>
            <a:pPr>
              <a:defRPr/>
            </a:pPr>
            <a:fld id="{66F2DAF9-CF1B-4039-90DC-82CA1ECAFF5A}" type="slidenum">
              <a:rPr lang="en-US" altLang="zh-CN"/>
              <a:pPr>
                <a:defRPr/>
              </a:pPr>
              <a:t>27</a:t>
            </a:fld>
            <a:endParaRPr lang="en-US" altLang="zh-CN"/>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8979" name="Rectangle 3"/>
          <p:cNvSpPr>
            <a:spLocks noGrp="1" noChangeArrowheads="1"/>
          </p:cNvSpPr>
          <p:nvPr>
            <p:ph type="body" sz="half" idx="1"/>
          </p:nvPr>
        </p:nvSpPr>
        <p:spPr>
          <a:xfrm>
            <a:off x="539552" y="620688"/>
            <a:ext cx="8096250" cy="5953146"/>
          </a:xfrm>
        </p:spPr>
        <p:txBody>
          <a:bodyPr>
            <a:noAutofit/>
          </a:bodyPr>
          <a:lstStyle/>
          <a:p>
            <a:pPr marL="0" indent="0" eaLnBrk="1" hangingPunct="1">
              <a:buFont typeface="Monotype Sorts" pitchFamily="2" charset="2"/>
              <a:buNone/>
              <a:defRPr/>
            </a:pPr>
            <a:r>
              <a:rPr lang="en-US" altLang="zh-CN" sz="2800" b="1" dirty="0">
                <a:latin typeface="楷体_GB2312" pitchFamily="49" charset="-122"/>
                <a:ea typeface="楷体_GB2312" pitchFamily="49" charset="-122"/>
              </a:rPr>
              <a:t>(2) </a:t>
            </a:r>
            <a:r>
              <a:rPr lang="zh-CN" altLang="en-US" sz="2800" b="1" dirty="0">
                <a:latin typeface="楷体_GB2312" pitchFamily="49" charset="-122"/>
                <a:ea typeface="楷体_GB2312" pitchFamily="49" charset="-122"/>
              </a:rPr>
              <a:t>使用结构指针和指针运算符</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使用结构指针和指针运算符引用结构数组元素成员的一般形式为：</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        指针变量名</a:t>
            </a:r>
            <a:r>
              <a:rPr lang="en-US" altLang="zh-CN" sz="2800" b="1" dirty="0">
                <a:latin typeface="楷体_GB2312" pitchFamily="49" charset="-122"/>
                <a:ea typeface="楷体_GB2312" pitchFamily="49" charset="-122"/>
              </a:rPr>
              <a:t>-&gt;</a:t>
            </a:r>
            <a:r>
              <a:rPr lang="zh-CN" altLang="en-US" sz="2800" b="1" dirty="0">
                <a:latin typeface="楷体_GB2312" pitchFamily="49" charset="-122"/>
                <a:ea typeface="楷体_GB2312" pitchFamily="49" charset="-122"/>
              </a:rPr>
              <a:t>成员名</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例如：</a:t>
            </a:r>
          </a:p>
          <a:p>
            <a:pPr marL="0" indent="0" eaLnBrk="1" hangingPunct="1">
              <a:buFont typeface="Monotype Sorts" pitchFamily="2" charset="2"/>
              <a:buNone/>
              <a:defRPr/>
            </a:pPr>
            <a:r>
              <a:rPr lang="en-US" altLang="zh-CN" sz="2800" b="1" dirty="0" err="1">
                <a:latin typeface="楷体_GB2312" pitchFamily="49" charset="-122"/>
                <a:ea typeface="楷体_GB2312" pitchFamily="49" charset="-122"/>
              </a:rPr>
              <a:t>struct</a:t>
            </a: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stuScore</a:t>
            </a:r>
            <a:r>
              <a:rPr lang="en-US" altLang="zh-CN" sz="2800" b="1" dirty="0">
                <a:latin typeface="楷体_GB2312" pitchFamily="49" charset="-122"/>
                <a:ea typeface="楷体_GB2312" pitchFamily="49" charset="-122"/>
              </a:rPr>
              <a:t> *sp = </a:t>
            </a:r>
            <a:r>
              <a:rPr lang="en-US" altLang="zh-CN" sz="2800" b="1" dirty="0" err="1">
                <a:latin typeface="楷体_GB2312" pitchFamily="49" charset="-122"/>
                <a:ea typeface="楷体_GB2312" pitchFamily="49" charset="-122"/>
              </a:rPr>
              <a:t>st</a:t>
            </a:r>
            <a:r>
              <a:rPr lang="en-US" altLang="zh-CN" sz="28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solidFill>
                  <a:srgbClr val="00B0F0"/>
                </a:solidFill>
                <a:latin typeface="楷体_GB2312" pitchFamily="49" charset="-122"/>
                <a:ea typeface="楷体_GB2312" pitchFamily="49" charset="-122"/>
              </a:rPr>
              <a:t>/* </a:t>
            </a:r>
            <a:r>
              <a:rPr lang="zh-CN" altLang="en-US" sz="2400" b="1" dirty="0">
                <a:solidFill>
                  <a:srgbClr val="00B0F0"/>
                </a:solidFill>
                <a:latin typeface="楷体_GB2312" pitchFamily="49" charset="-122"/>
                <a:ea typeface="楷体_GB2312" pitchFamily="49" charset="-122"/>
              </a:rPr>
              <a:t>定义结构指针</a:t>
            </a:r>
            <a:r>
              <a:rPr lang="en-US" altLang="zh-CN" sz="2400" b="1" dirty="0">
                <a:solidFill>
                  <a:srgbClr val="00B0F0"/>
                </a:solidFill>
                <a:latin typeface="楷体_GB2312" pitchFamily="49" charset="-122"/>
                <a:ea typeface="楷体_GB2312" pitchFamily="49" charset="-122"/>
              </a:rPr>
              <a:t>sp,</a:t>
            </a:r>
            <a:r>
              <a:rPr lang="zh-CN" altLang="en-US" sz="2400" b="1" dirty="0">
                <a:solidFill>
                  <a:srgbClr val="00B0F0"/>
                </a:solidFill>
                <a:latin typeface="楷体_GB2312" pitchFamily="49" charset="-122"/>
                <a:ea typeface="楷体_GB2312" pitchFamily="49" charset="-122"/>
              </a:rPr>
              <a:t>指向结构数组</a:t>
            </a:r>
            <a:r>
              <a:rPr lang="en-US" altLang="zh-CN" sz="2400" b="1" dirty="0" err="1">
                <a:solidFill>
                  <a:srgbClr val="00B0F0"/>
                </a:solidFill>
                <a:latin typeface="楷体_GB2312" pitchFamily="49" charset="-122"/>
                <a:ea typeface="楷体_GB2312" pitchFamily="49" charset="-122"/>
              </a:rPr>
              <a:t>st</a:t>
            </a:r>
            <a:r>
              <a:rPr lang="zh-CN" altLang="en-US" sz="2400" b="1" dirty="0">
                <a:solidFill>
                  <a:srgbClr val="00B0F0"/>
                </a:solidFill>
                <a:latin typeface="楷体_GB2312" pitchFamily="49" charset="-122"/>
                <a:ea typeface="楷体_GB2312" pitchFamily="49" charset="-122"/>
              </a:rPr>
              <a:t>首元素*</a:t>
            </a:r>
            <a:r>
              <a:rPr lang="en-US" altLang="zh-CN" sz="2400" b="1" dirty="0">
                <a:solidFill>
                  <a:srgbClr val="00B0F0"/>
                </a:solidFill>
                <a:latin typeface="楷体_GB2312" pitchFamily="49" charset="-122"/>
                <a:ea typeface="楷体_GB2312" pitchFamily="49" charset="-122"/>
              </a:rPr>
              <a:t>/</a:t>
            </a:r>
          </a:p>
          <a:p>
            <a:pPr marL="0" indent="0" eaLnBrk="1" hangingPunct="1">
              <a:buFont typeface="Monotype Sorts" pitchFamily="2" charset="2"/>
              <a:buNone/>
              <a:defRPr/>
            </a:pPr>
            <a:r>
              <a:rPr lang="en-US" altLang="zh-CN" sz="2800" b="1" dirty="0" err="1">
                <a:latin typeface="楷体_GB2312" pitchFamily="49" charset="-122"/>
                <a:ea typeface="楷体_GB2312" pitchFamily="49" charset="-122"/>
              </a:rPr>
              <a:t>printf</a:t>
            </a:r>
            <a:r>
              <a:rPr lang="en-US" altLang="zh-CN" sz="2800" b="1" dirty="0">
                <a:latin typeface="楷体_GB2312" pitchFamily="49" charset="-122"/>
                <a:ea typeface="楷体_GB2312" pitchFamily="49" charset="-122"/>
              </a:rPr>
              <a:t>(</a:t>
            </a:r>
            <a:r>
              <a:rPr lang="en-US" altLang="zh-CN" sz="2800" b="1" dirty="0">
                <a:ea typeface="楷体_GB2312" pitchFamily="49" charset="-122"/>
              </a:rPr>
              <a:t>”</a:t>
            </a:r>
            <a:r>
              <a:rPr lang="en-US" altLang="zh-CN" sz="2800" b="1" dirty="0">
                <a:latin typeface="楷体_GB2312" pitchFamily="49" charset="-122"/>
                <a:ea typeface="楷体_GB2312" pitchFamily="49" charset="-122"/>
              </a:rPr>
              <a:t>%s\n</a:t>
            </a:r>
            <a:r>
              <a:rPr lang="en-US" altLang="zh-CN" sz="2800" b="1" dirty="0">
                <a:ea typeface="楷体_GB2312" pitchFamily="49" charset="-122"/>
              </a:rPr>
              <a:t>”</a:t>
            </a:r>
            <a:r>
              <a:rPr lang="en-US" altLang="zh-CN" sz="2800" b="1" dirty="0">
                <a:latin typeface="楷体_GB2312" pitchFamily="49" charset="-122"/>
                <a:ea typeface="楷体_GB2312" pitchFamily="49" charset="-122"/>
              </a:rPr>
              <a:t>, sp-&gt;name);</a:t>
            </a:r>
          </a:p>
          <a:p>
            <a:pPr marL="0" indent="0" eaLnBrk="1" hangingPunct="1">
              <a:buFont typeface="Monotype Sorts" pitchFamily="2" charset="2"/>
              <a:buNone/>
              <a:defRPr/>
            </a:pPr>
            <a:r>
              <a:rPr lang="en-US" altLang="zh-CN" sz="2400" b="1" dirty="0">
                <a:solidFill>
                  <a:srgbClr val="00B0F0"/>
                </a:solidFill>
                <a:latin typeface="楷体_GB2312" pitchFamily="49" charset="-122"/>
                <a:ea typeface="楷体_GB2312" pitchFamily="49" charset="-122"/>
              </a:rPr>
              <a:t> /* </a:t>
            </a:r>
            <a:r>
              <a:rPr lang="zh-CN" altLang="en-US" sz="2400" b="1" dirty="0">
                <a:solidFill>
                  <a:srgbClr val="00B0F0"/>
                </a:solidFill>
                <a:latin typeface="楷体_GB2312" pitchFamily="49" charset="-122"/>
                <a:ea typeface="楷体_GB2312" pitchFamily="49" charset="-122"/>
              </a:rPr>
              <a:t>输出第</a:t>
            </a:r>
            <a:r>
              <a:rPr lang="en-US" altLang="zh-CN" sz="2400" b="1" dirty="0">
                <a:solidFill>
                  <a:srgbClr val="00B0F0"/>
                </a:solidFill>
                <a:latin typeface="楷体_GB2312" pitchFamily="49" charset="-122"/>
                <a:ea typeface="楷体_GB2312" pitchFamily="49" charset="-122"/>
              </a:rPr>
              <a:t>1</a:t>
            </a:r>
            <a:r>
              <a:rPr lang="zh-CN" altLang="en-US" sz="2400" b="1" dirty="0">
                <a:solidFill>
                  <a:srgbClr val="00B0F0"/>
                </a:solidFill>
                <a:latin typeface="楷体_GB2312" pitchFamily="49" charset="-122"/>
                <a:ea typeface="楷体_GB2312" pitchFamily="49" charset="-122"/>
              </a:rPr>
              <a:t>个学生姓名，</a:t>
            </a:r>
            <a:r>
              <a:rPr lang="en-US" altLang="zh-CN" sz="2400" b="1" dirty="0">
                <a:solidFill>
                  <a:srgbClr val="00B0F0"/>
                </a:solidFill>
                <a:latin typeface="楷体_GB2312" pitchFamily="49" charset="-122"/>
                <a:ea typeface="楷体_GB2312" pitchFamily="49" charset="-122"/>
              </a:rPr>
              <a:t>Zhang */</a:t>
            </a:r>
            <a:endParaRPr lang="en-US" altLang="zh-CN" sz="2000" b="1" dirty="0">
              <a:solidFill>
                <a:srgbClr val="00B0F0"/>
              </a:solidFill>
              <a:latin typeface="楷体_GB2312" pitchFamily="49" charset="-122"/>
              <a:ea typeface="楷体_GB2312" pitchFamily="49" charset="-122"/>
            </a:endParaRPr>
          </a:p>
          <a:p>
            <a:pPr marL="0" indent="0" eaLnBrk="1" hangingPunct="1">
              <a:buFont typeface="Monotype Sorts" pitchFamily="2" charset="2"/>
              <a:buNone/>
              <a:defRPr/>
            </a:pPr>
            <a:r>
              <a:rPr lang="en-US" altLang="zh-CN" sz="2800" b="1" dirty="0">
                <a:latin typeface="楷体_GB2312" pitchFamily="49" charset="-122"/>
                <a:ea typeface="楷体_GB2312" pitchFamily="49" charset="-122"/>
              </a:rPr>
              <a:t>sp++;		</a:t>
            </a:r>
            <a:r>
              <a:rPr lang="en-US" altLang="zh-CN" sz="2400" b="1" dirty="0">
                <a:solidFill>
                  <a:srgbClr val="00B0F0"/>
                </a:solidFill>
                <a:latin typeface="楷体_GB2312" pitchFamily="49" charset="-122"/>
                <a:ea typeface="楷体_GB2312" pitchFamily="49" charset="-122"/>
              </a:rPr>
              <a:t>/* </a:t>
            </a:r>
            <a:r>
              <a:rPr lang="zh-CN" altLang="en-US" sz="2400" b="1" dirty="0">
                <a:solidFill>
                  <a:srgbClr val="00B0F0"/>
                </a:solidFill>
                <a:latin typeface="楷体_GB2312" pitchFamily="49" charset="-122"/>
                <a:ea typeface="楷体_GB2312" pitchFamily="49" charset="-122"/>
              </a:rPr>
              <a:t>结构指针指向下一个元素 *</a:t>
            </a:r>
            <a:r>
              <a:rPr lang="en-US" altLang="zh-CN" sz="2400" b="1" dirty="0">
                <a:solidFill>
                  <a:srgbClr val="00B0F0"/>
                </a:solidFill>
                <a:latin typeface="楷体_GB2312" pitchFamily="49" charset="-122"/>
                <a:ea typeface="楷体_GB2312" pitchFamily="49" charset="-122"/>
              </a:rPr>
              <a:t>/</a:t>
            </a:r>
            <a:endParaRPr lang="en-US" altLang="zh-CN" sz="2800" b="1" dirty="0">
              <a:solidFill>
                <a:srgbClr val="00B0F0"/>
              </a:solidFill>
              <a:latin typeface="楷体_GB2312" pitchFamily="49" charset="-122"/>
              <a:ea typeface="楷体_GB2312" pitchFamily="49" charset="-122"/>
            </a:endParaRPr>
          </a:p>
          <a:p>
            <a:pPr marL="0" indent="0" eaLnBrk="1" hangingPunct="1">
              <a:buFont typeface="Monotype Sorts" pitchFamily="2" charset="2"/>
              <a:buNone/>
              <a:defRPr/>
            </a:pPr>
            <a:r>
              <a:rPr lang="en-US" altLang="zh-CN" sz="2800" b="1" dirty="0" err="1">
                <a:latin typeface="楷体_GB2312" pitchFamily="49" charset="-122"/>
                <a:ea typeface="楷体_GB2312" pitchFamily="49" charset="-122"/>
              </a:rPr>
              <a:t>printf</a:t>
            </a:r>
            <a:r>
              <a:rPr lang="en-US" altLang="zh-CN" sz="2800" b="1" dirty="0">
                <a:latin typeface="楷体_GB2312" pitchFamily="49" charset="-122"/>
                <a:ea typeface="楷体_GB2312" pitchFamily="49" charset="-122"/>
              </a:rPr>
              <a:t>(</a:t>
            </a:r>
            <a:r>
              <a:rPr lang="en-US" altLang="zh-CN" sz="2800" b="1" dirty="0">
                <a:ea typeface="楷体_GB2312" pitchFamily="49" charset="-122"/>
              </a:rPr>
              <a:t>”</a:t>
            </a:r>
            <a:r>
              <a:rPr lang="en-US" altLang="zh-CN" sz="2800" b="1" dirty="0">
                <a:latin typeface="楷体_GB2312" pitchFamily="49" charset="-122"/>
                <a:ea typeface="楷体_GB2312" pitchFamily="49" charset="-122"/>
              </a:rPr>
              <a:t>%s\n</a:t>
            </a:r>
            <a:r>
              <a:rPr lang="en-US" altLang="zh-CN" sz="2800" b="1" dirty="0">
                <a:ea typeface="楷体_GB2312" pitchFamily="49" charset="-122"/>
              </a:rPr>
              <a:t>”</a:t>
            </a:r>
            <a:r>
              <a:rPr lang="en-US" altLang="zh-CN" sz="2800" b="1" dirty="0">
                <a:latin typeface="楷体_GB2312" pitchFamily="49" charset="-122"/>
                <a:ea typeface="楷体_GB2312" pitchFamily="49" charset="-122"/>
              </a:rPr>
              <a:t>, sp-&gt;name);</a:t>
            </a:r>
            <a:r>
              <a:rPr lang="en-US" altLang="zh-CN" sz="2800" b="1" dirty="0">
                <a:solidFill>
                  <a:srgbClr val="00B0F0"/>
                </a:solidFill>
                <a:latin typeface="楷体_GB2312" pitchFamily="49" charset="-122"/>
                <a:ea typeface="楷体_GB2312" pitchFamily="49" charset="-122"/>
              </a:rPr>
              <a:t> </a:t>
            </a:r>
            <a:r>
              <a:rPr lang="en-US" altLang="zh-CN" sz="2000" b="1" dirty="0">
                <a:solidFill>
                  <a:srgbClr val="00B0F0"/>
                </a:solidFill>
                <a:latin typeface="楷体_GB2312" pitchFamily="49" charset="-122"/>
                <a:ea typeface="楷体_GB2312" pitchFamily="49" charset="-122"/>
              </a:rPr>
              <a:t>/* </a:t>
            </a:r>
            <a:r>
              <a:rPr lang="zh-CN" altLang="en-US" sz="2000" b="1" dirty="0">
                <a:solidFill>
                  <a:srgbClr val="00B0F0"/>
                </a:solidFill>
                <a:latin typeface="楷体_GB2312" pitchFamily="49" charset="-122"/>
                <a:ea typeface="楷体_GB2312" pitchFamily="49" charset="-122"/>
              </a:rPr>
              <a:t>输出第</a:t>
            </a:r>
            <a:r>
              <a:rPr lang="en-US" altLang="zh-CN" sz="2000" b="1" dirty="0">
                <a:solidFill>
                  <a:srgbClr val="00B0F0"/>
                </a:solidFill>
                <a:latin typeface="楷体_GB2312" pitchFamily="49" charset="-122"/>
                <a:ea typeface="楷体_GB2312" pitchFamily="49" charset="-122"/>
              </a:rPr>
              <a:t>2</a:t>
            </a:r>
            <a:r>
              <a:rPr lang="zh-CN" altLang="en-US" sz="2000" b="1" dirty="0">
                <a:solidFill>
                  <a:srgbClr val="00B0F0"/>
                </a:solidFill>
                <a:latin typeface="楷体_GB2312" pitchFamily="49" charset="-122"/>
                <a:ea typeface="楷体_GB2312" pitchFamily="49" charset="-122"/>
              </a:rPr>
              <a:t>个学生姓名，</a:t>
            </a:r>
            <a:r>
              <a:rPr lang="en-US" altLang="zh-CN" sz="2000" b="1" dirty="0">
                <a:solidFill>
                  <a:srgbClr val="00B0F0"/>
                </a:solidFill>
                <a:latin typeface="楷体_GB2312" pitchFamily="49" charset="-122"/>
                <a:ea typeface="楷体_GB2312" pitchFamily="49" charset="-122"/>
              </a:rPr>
              <a:t>Li */</a:t>
            </a:r>
          </a:p>
        </p:txBody>
      </p:sp>
      <p:sp>
        <p:nvSpPr>
          <p:cNvPr id="5" name="灯片编号占位符 6"/>
          <p:cNvSpPr>
            <a:spLocks noGrp="1"/>
          </p:cNvSpPr>
          <p:nvPr>
            <p:ph type="sldNum" sz="quarter" idx="12"/>
          </p:nvPr>
        </p:nvSpPr>
        <p:spPr/>
        <p:txBody>
          <a:bodyPr/>
          <a:lstStyle/>
          <a:p>
            <a:pPr>
              <a:defRPr/>
            </a:pPr>
            <a:fld id="{62130B8F-A564-4CCB-A715-A186A375C8A4}" type="slidenum">
              <a:rPr lang="en-US" altLang="zh-CN"/>
              <a:pPr>
                <a:defRPr/>
              </a:pPr>
              <a:t>28</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38979">
                                            <p:txEl>
                                              <p:pRg st="6" end="6"/>
                                            </p:txEl>
                                          </p:spTgt>
                                        </p:tgtEl>
                                        <p:attrNameLst>
                                          <p:attrName>style.visibility</p:attrName>
                                        </p:attrNameLst>
                                      </p:cBhvr>
                                      <p:to>
                                        <p:strVal val="visible"/>
                                      </p:to>
                                    </p:set>
                                    <p:anim calcmode="lin" valueType="num">
                                      <p:cBhvr additive="base">
                                        <p:cTn id="7" dur="500" fill="hold"/>
                                        <p:tgtEl>
                                          <p:spTgt spid="638979">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38979">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38979">
                                            <p:txEl>
                                              <p:pRg st="7" end="7"/>
                                            </p:txEl>
                                          </p:spTgt>
                                        </p:tgtEl>
                                        <p:attrNameLst>
                                          <p:attrName>style.visibility</p:attrName>
                                        </p:attrNameLst>
                                      </p:cBhvr>
                                      <p:to>
                                        <p:strVal val="visible"/>
                                      </p:to>
                                    </p:set>
                                    <p:anim calcmode="lin" valueType="num">
                                      <p:cBhvr additive="base">
                                        <p:cTn id="11" dur="500" fill="hold"/>
                                        <p:tgtEl>
                                          <p:spTgt spid="638979">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3897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38979">
                                            <p:txEl>
                                              <p:pRg st="8" end="8"/>
                                            </p:txEl>
                                          </p:spTgt>
                                        </p:tgtEl>
                                        <p:attrNameLst>
                                          <p:attrName>style.visibility</p:attrName>
                                        </p:attrNameLst>
                                      </p:cBhvr>
                                      <p:to>
                                        <p:strVal val="visible"/>
                                      </p:to>
                                    </p:set>
                                    <p:anim calcmode="lin" valueType="num">
                                      <p:cBhvr additive="base">
                                        <p:cTn id="17" dur="500" fill="hold"/>
                                        <p:tgtEl>
                                          <p:spTgt spid="638979">
                                            <p:txEl>
                                              <p:pRg st="8" end="8"/>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38979">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638979">
                                            <p:txEl>
                                              <p:pRg st="9" end="9"/>
                                            </p:txEl>
                                          </p:spTgt>
                                        </p:tgtEl>
                                        <p:attrNameLst>
                                          <p:attrName>style.visibility</p:attrName>
                                        </p:attrNameLst>
                                      </p:cBhvr>
                                      <p:to>
                                        <p:strVal val="visible"/>
                                      </p:to>
                                    </p:set>
                                    <p:anim calcmode="lin" valueType="num">
                                      <p:cBhvr additive="base">
                                        <p:cTn id="23" dur="500" fill="hold"/>
                                        <p:tgtEl>
                                          <p:spTgt spid="638979">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38979">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0002" name="Rectangle 2"/>
          <p:cNvSpPr>
            <a:spLocks noGrp="1" noChangeArrowheads="1"/>
          </p:cNvSpPr>
          <p:nvPr>
            <p:ph type="body" sz="half" idx="1"/>
          </p:nvPr>
        </p:nvSpPr>
        <p:spPr>
          <a:xfrm>
            <a:off x="611188" y="571481"/>
            <a:ext cx="8096250" cy="5810270"/>
          </a:xfrm>
        </p:spPr>
        <p:txBody>
          <a:bodyPr>
            <a:noAutofit/>
          </a:bodyPr>
          <a:lstStyle/>
          <a:p>
            <a:pPr marL="0" indent="0" eaLnBrk="1" hangingPunct="1">
              <a:buFont typeface="Monotype Sorts" pitchFamily="2" charset="2"/>
              <a:buNone/>
              <a:defRPr/>
            </a:pPr>
            <a:r>
              <a:rPr lang="en-US" altLang="zh-CN" sz="2800" b="1" dirty="0">
                <a:latin typeface="楷体_GB2312" pitchFamily="49" charset="-122"/>
                <a:ea typeface="楷体_GB2312" pitchFamily="49" charset="-122"/>
              </a:rPr>
              <a:t>(3)</a:t>
            </a:r>
            <a:r>
              <a:rPr lang="zh-CN" altLang="en-US" sz="2800" b="1" dirty="0">
                <a:latin typeface="楷体_GB2312" pitchFamily="49" charset="-122"/>
                <a:ea typeface="楷体_GB2312" pitchFamily="49" charset="-122"/>
              </a:rPr>
              <a:t>使用结构指针和成员运算符</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使用结构指针和成员运算符引用结构数组元素成员的一般形式为：</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       </a:t>
            </a:r>
            <a:r>
              <a:rPr lang="en-US" altLang="zh-CN" sz="2800" b="1" dirty="0">
                <a:latin typeface="楷体_GB2312" pitchFamily="49" charset="-122"/>
                <a:ea typeface="楷体_GB2312" pitchFamily="49" charset="-122"/>
              </a:rPr>
              <a:t>(* </a:t>
            </a:r>
            <a:r>
              <a:rPr lang="zh-CN" altLang="en-US" sz="2800" b="1" dirty="0">
                <a:latin typeface="楷体_GB2312" pitchFamily="49" charset="-122"/>
                <a:ea typeface="楷体_GB2312" pitchFamily="49" charset="-122"/>
              </a:rPr>
              <a:t>指针变量名</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成员名</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例如：</a:t>
            </a:r>
          </a:p>
          <a:p>
            <a:pPr marL="0" indent="0" eaLnBrk="1" hangingPunct="1">
              <a:buFont typeface="Monotype Sorts" pitchFamily="2" charset="2"/>
              <a:buNone/>
              <a:defRPr/>
            </a:pPr>
            <a:r>
              <a:rPr lang="en-US" altLang="zh-CN" sz="2800" b="1" dirty="0" err="1">
                <a:latin typeface="楷体_GB2312" pitchFamily="49" charset="-122"/>
                <a:ea typeface="楷体_GB2312" pitchFamily="49" charset="-122"/>
              </a:rPr>
              <a:t>stuScore</a:t>
            </a: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spt</a:t>
            </a:r>
            <a:r>
              <a:rPr lang="en-US" altLang="zh-CN" sz="2800" b="1" dirty="0">
                <a:latin typeface="楷体_GB2312" pitchFamily="49" charset="-122"/>
                <a:ea typeface="楷体_GB2312" pitchFamily="49" charset="-122"/>
              </a:rPr>
              <a:t> = </a:t>
            </a:r>
            <a:r>
              <a:rPr lang="en-US" altLang="zh-CN" sz="2800" b="1" dirty="0" err="1">
                <a:latin typeface="楷体_GB2312" pitchFamily="49" charset="-122"/>
                <a:ea typeface="楷体_GB2312" pitchFamily="49" charset="-122"/>
              </a:rPr>
              <a:t>st</a:t>
            </a:r>
            <a:r>
              <a:rPr lang="en-US" altLang="zh-CN" sz="2800" b="1" dirty="0">
                <a:latin typeface="楷体_GB2312" pitchFamily="49" charset="-122"/>
                <a:ea typeface="楷体_GB2312" pitchFamily="49" charset="-122"/>
              </a:rPr>
              <a:t>; </a:t>
            </a:r>
            <a:r>
              <a:rPr lang="en-US" altLang="zh-CN" sz="2400" b="1" dirty="0">
                <a:solidFill>
                  <a:srgbClr val="00B0F0"/>
                </a:solidFill>
                <a:latin typeface="楷体_GB2312" pitchFamily="49" charset="-122"/>
                <a:ea typeface="楷体_GB2312" pitchFamily="49" charset="-122"/>
              </a:rPr>
              <a:t>/* </a:t>
            </a:r>
            <a:r>
              <a:rPr lang="zh-CN" altLang="en-US" sz="2400" b="1" dirty="0">
                <a:solidFill>
                  <a:srgbClr val="00B0F0"/>
                </a:solidFill>
                <a:latin typeface="楷体_GB2312" pitchFamily="49" charset="-122"/>
                <a:ea typeface="楷体_GB2312" pitchFamily="49" charset="-122"/>
              </a:rPr>
              <a:t>定义</a:t>
            </a:r>
            <a:r>
              <a:rPr lang="en-US" altLang="zh-CN" sz="2400" b="1" dirty="0" err="1">
                <a:solidFill>
                  <a:srgbClr val="00B0F0"/>
                </a:solidFill>
                <a:latin typeface="楷体_GB2312" pitchFamily="49" charset="-122"/>
                <a:ea typeface="楷体_GB2312" pitchFamily="49" charset="-122"/>
              </a:rPr>
              <a:t>stuScore</a:t>
            </a:r>
            <a:r>
              <a:rPr lang="zh-CN" altLang="en-US" sz="2400" b="1" dirty="0">
                <a:solidFill>
                  <a:srgbClr val="00B0F0"/>
                </a:solidFill>
                <a:latin typeface="楷体_GB2312" pitchFamily="49" charset="-122"/>
                <a:ea typeface="楷体_GB2312" pitchFamily="49" charset="-122"/>
              </a:rPr>
              <a:t>结构指针</a:t>
            </a:r>
            <a:r>
              <a:rPr lang="en-US" altLang="zh-CN" sz="2400" b="1" dirty="0" err="1">
                <a:solidFill>
                  <a:srgbClr val="00B0F0"/>
                </a:solidFill>
                <a:latin typeface="楷体_GB2312" pitchFamily="49" charset="-122"/>
                <a:ea typeface="楷体_GB2312" pitchFamily="49" charset="-122"/>
              </a:rPr>
              <a:t>spt</a:t>
            </a:r>
            <a:r>
              <a:rPr lang="en-US" altLang="zh-CN" sz="2400" b="1" dirty="0">
                <a:solidFill>
                  <a:srgbClr val="00B0F0"/>
                </a:solidFill>
                <a:latin typeface="楷体_GB2312" pitchFamily="49" charset="-122"/>
                <a:ea typeface="楷体_GB2312" pitchFamily="49" charset="-122"/>
              </a:rPr>
              <a:t>,</a:t>
            </a:r>
            <a:r>
              <a:rPr lang="zh-CN" altLang="en-US" sz="2400" b="1" dirty="0">
                <a:solidFill>
                  <a:srgbClr val="00B0F0"/>
                </a:solidFill>
                <a:latin typeface="楷体_GB2312" pitchFamily="49" charset="-122"/>
                <a:ea typeface="楷体_GB2312" pitchFamily="49" charset="-122"/>
              </a:rPr>
              <a:t>指向结构数组</a:t>
            </a:r>
            <a:r>
              <a:rPr lang="en-US" altLang="zh-CN" sz="2400" b="1" dirty="0" err="1">
                <a:solidFill>
                  <a:srgbClr val="00B0F0"/>
                </a:solidFill>
                <a:latin typeface="楷体_GB2312" pitchFamily="49" charset="-122"/>
                <a:ea typeface="楷体_GB2312" pitchFamily="49" charset="-122"/>
              </a:rPr>
              <a:t>st</a:t>
            </a:r>
            <a:r>
              <a:rPr lang="zh-CN" altLang="en-US" sz="2400" b="1" dirty="0">
                <a:solidFill>
                  <a:srgbClr val="00B0F0"/>
                </a:solidFill>
                <a:latin typeface="楷体_GB2312" pitchFamily="49" charset="-122"/>
                <a:ea typeface="楷体_GB2312" pitchFamily="49" charset="-122"/>
              </a:rPr>
              <a:t>首元素*</a:t>
            </a:r>
            <a:r>
              <a:rPr lang="en-US" altLang="zh-CN" sz="2400" b="1" dirty="0">
                <a:solidFill>
                  <a:srgbClr val="00B0F0"/>
                </a:solidFill>
                <a:latin typeface="楷体_GB2312" pitchFamily="49" charset="-122"/>
                <a:ea typeface="楷体_GB2312" pitchFamily="49" charset="-122"/>
              </a:rPr>
              <a:t>/</a:t>
            </a:r>
            <a:endParaRPr lang="en-US" altLang="zh-CN" sz="2800" b="1" dirty="0">
              <a:solidFill>
                <a:srgbClr val="00B0F0"/>
              </a:solidFill>
              <a:latin typeface="楷体_GB2312" pitchFamily="49" charset="-122"/>
              <a:ea typeface="楷体_GB2312" pitchFamily="49" charset="-122"/>
            </a:endParaRPr>
          </a:p>
          <a:p>
            <a:pPr marL="0" indent="0" eaLnBrk="1" hangingPunct="1">
              <a:buFont typeface="Monotype Sorts" pitchFamily="2" charset="2"/>
              <a:buNone/>
              <a:defRPr/>
            </a:pPr>
            <a:r>
              <a:rPr lang="en-US" altLang="zh-CN" sz="2800" b="1" dirty="0" err="1">
                <a:latin typeface="楷体_GB2312" pitchFamily="49" charset="-122"/>
                <a:ea typeface="楷体_GB2312" pitchFamily="49" charset="-122"/>
              </a:rPr>
              <a:t>printf</a:t>
            </a:r>
            <a:r>
              <a:rPr lang="en-US" altLang="zh-CN" sz="2800" b="1" dirty="0">
                <a:latin typeface="楷体_GB2312" pitchFamily="49" charset="-122"/>
                <a:ea typeface="楷体_GB2312" pitchFamily="49" charset="-122"/>
              </a:rPr>
              <a:t>(</a:t>
            </a:r>
            <a:r>
              <a:rPr lang="en-US" altLang="zh-CN" sz="2800" b="1" dirty="0">
                <a:ea typeface="楷体_GB2312" pitchFamily="49" charset="-122"/>
              </a:rPr>
              <a:t>”</a:t>
            </a:r>
            <a:r>
              <a:rPr lang="en-US" altLang="zh-CN" sz="2800" b="1" dirty="0">
                <a:latin typeface="楷体_GB2312" pitchFamily="49" charset="-122"/>
                <a:ea typeface="楷体_GB2312" pitchFamily="49" charset="-122"/>
              </a:rPr>
              <a:t>%s\n</a:t>
            </a:r>
            <a:r>
              <a:rPr lang="en-US" altLang="zh-CN" sz="2800" b="1" dirty="0">
                <a:ea typeface="楷体_GB2312" pitchFamily="49" charset="-122"/>
              </a:rPr>
              <a:t>”</a:t>
            </a: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spt</a:t>
            </a:r>
            <a:r>
              <a:rPr lang="en-US" altLang="zh-CN" sz="2800" b="1" dirty="0">
                <a:latin typeface="楷体_GB2312" pitchFamily="49" charset="-122"/>
                <a:ea typeface="楷体_GB2312" pitchFamily="49" charset="-122"/>
              </a:rPr>
              <a:t>).name</a:t>
            </a:r>
            <a:r>
              <a:rPr lang="en-US" altLang="zh-CN" sz="2800" b="1" dirty="0">
                <a:solidFill>
                  <a:srgbClr val="00B0F0"/>
                </a:solidFill>
                <a:latin typeface="楷体_GB2312" pitchFamily="49" charset="-122"/>
                <a:ea typeface="楷体_GB2312" pitchFamily="49" charset="-122"/>
              </a:rPr>
              <a:t>);</a:t>
            </a:r>
            <a:r>
              <a:rPr lang="en-US" altLang="zh-CN" sz="2400" b="1" dirty="0">
                <a:solidFill>
                  <a:srgbClr val="00B0F0"/>
                </a:solidFill>
                <a:latin typeface="楷体_GB2312" pitchFamily="49" charset="-122"/>
                <a:ea typeface="楷体_GB2312" pitchFamily="49" charset="-122"/>
              </a:rPr>
              <a:t>/* </a:t>
            </a:r>
            <a:r>
              <a:rPr lang="zh-CN" altLang="en-US" sz="2400" b="1" dirty="0">
                <a:solidFill>
                  <a:srgbClr val="00B0F0"/>
                </a:solidFill>
                <a:latin typeface="楷体_GB2312" pitchFamily="49" charset="-122"/>
                <a:ea typeface="楷体_GB2312" pitchFamily="49" charset="-122"/>
              </a:rPr>
              <a:t>输出学生</a:t>
            </a:r>
            <a:r>
              <a:rPr lang="en-US" altLang="zh-CN" sz="2400" b="1" dirty="0" err="1">
                <a:solidFill>
                  <a:srgbClr val="00B0F0"/>
                </a:solidFill>
                <a:latin typeface="楷体_GB2312" pitchFamily="49" charset="-122"/>
                <a:ea typeface="楷体_GB2312" pitchFamily="49" charset="-122"/>
              </a:rPr>
              <a:t>st</a:t>
            </a:r>
            <a:r>
              <a:rPr lang="en-US" altLang="zh-CN" sz="2400" b="1" dirty="0">
                <a:solidFill>
                  <a:srgbClr val="00B0F0"/>
                </a:solidFill>
                <a:latin typeface="楷体_GB2312" pitchFamily="49" charset="-122"/>
                <a:ea typeface="楷体_GB2312" pitchFamily="49" charset="-122"/>
              </a:rPr>
              <a:t>[0]</a:t>
            </a:r>
            <a:r>
              <a:rPr lang="zh-CN" altLang="en-US" sz="2400" b="1" dirty="0">
                <a:solidFill>
                  <a:srgbClr val="00B0F0"/>
                </a:solidFill>
                <a:latin typeface="楷体_GB2312" pitchFamily="49" charset="-122"/>
                <a:ea typeface="楷体_GB2312" pitchFamily="49" charset="-122"/>
              </a:rPr>
              <a:t>姓名，</a:t>
            </a:r>
            <a:r>
              <a:rPr lang="en-US" altLang="zh-CN" sz="2400" b="1" dirty="0">
                <a:solidFill>
                  <a:srgbClr val="00B0F0"/>
                </a:solidFill>
                <a:latin typeface="楷体_GB2312" pitchFamily="49" charset="-122"/>
                <a:ea typeface="楷体_GB2312" pitchFamily="49" charset="-122"/>
              </a:rPr>
              <a:t>Zhang */</a:t>
            </a:r>
          </a:p>
          <a:p>
            <a:pPr marL="0" indent="0" eaLnBrk="1" hangingPunct="1">
              <a:buFont typeface="Monotype Sorts" pitchFamily="2" charset="2"/>
              <a:buNone/>
              <a:defRPr/>
            </a:pPr>
            <a:r>
              <a:rPr lang="en-US" altLang="zh-CN" sz="2800" b="1" dirty="0" err="1">
                <a:latin typeface="楷体_GB2312" pitchFamily="49" charset="-122"/>
                <a:ea typeface="楷体_GB2312" pitchFamily="49" charset="-122"/>
              </a:rPr>
              <a:t>spt</a:t>
            </a:r>
            <a:r>
              <a:rPr lang="en-US" altLang="zh-CN" sz="2800" b="1" dirty="0">
                <a:latin typeface="楷体_GB2312" pitchFamily="49" charset="-122"/>
                <a:ea typeface="楷体_GB2312" pitchFamily="49" charset="-122"/>
              </a:rPr>
              <a:t>++; </a:t>
            </a:r>
            <a:r>
              <a:rPr lang="en-US" altLang="zh-CN" sz="2400" b="1" dirty="0">
                <a:solidFill>
                  <a:srgbClr val="00B0F0"/>
                </a:solidFill>
                <a:latin typeface="楷体_GB2312" pitchFamily="49" charset="-122"/>
                <a:ea typeface="楷体_GB2312" pitchFamily="49" charset="-122"/>
              </a:rPr>
              <a:t>/* </a:t>
            </a:r>
            <a:r>
              <a:rPr lang="zh-CN" altLang="en-US" sz="2400" b="1" dirty="0">
                <a:solidFill>
                  <a:srgbClr val="00B0F0"/>
                </a:solidFill>
                <a:latin typeface="楷体_GB2312" pitchFamily="49" charset="-122"/>
                <a:ea typeface="楷体_GB2312" pitchFamily="49" charset="-122"/>
              </a:rPr>
              <a:t>结构指针指向下一个元素，指向</a:t>
            </a:r>
            <a:r>
              <a:rPr lang="en-US" altLang="zh-CN" sz="2400" b="1" dirty="0" err="1">
                <a:solidFill>
                  <a:srgbClr val="00B0F0"/>
                </a:solidFill>
                <a:latin typeface="楷体_GB2312" pitchFamily="49" charset="-122"/>
                <a:ea typeface="楷体_GB2312" pitchFamily="49" charset="-122"/>
              </a:rPr>
              <a:t>st</a:t>
            </a:r>
            <a:r>
              <a:rPr lang="en-US" altLang="zh-CN" sz="2400" b="1" dirty="0">
                <a:solidFill>
                  <a:srgbClr val="00B0F0"/>
                </a:solidFill>
                <a:latin typeface="楷体_GB2312" pitchFamily="49" charset="-122"/>
                <a:ea typeface="楷体_GB2312" pitchFamily="49" charset="-122"/>
              </a:rPr>
              <a:t>[1] */</a:t>
            </a:r>
            <a:endParaRPr lang="en-US" altLang="zh-CN" sz="2800" b="1" dirty="0">
              <a:solidFill>
                <a:srgbClr val="00B0F0"/>
              </a:solidFill>
              <a:latin typeface="楷体_GB2312" pitchFamily="49" charset="-122"/>
              <a:ea typeface="楷体_GB2312" pitchFamily="49" charset="-122"/>
            </a:endParaRPr>
          </a:p>
          <a:p>
            <a:pPr marL="0" indent="0" eaLnBrk="1" hangingPunct="1">
              <a:buFont typeface="Monotype Sorts" pitchFamily="2" charset="2"/>
              <a:buNone/>
              <a:defRPr/>
            </a:pPr>
            <a:r>
              <a:rPr lang="en-US" altLang="zh-CN" sz="2800" b="1" dirty="0" err="1">
                <a:latin typeface="楷体_GB2312" pitchFamily="49" charset="-122"/>
                <a:ea typeface="楷体_GB2312" pitchFamily="49" charset="-122"/>
              </a:rPr>
              <a:t>printf</a:t>
            </a:r>
            <a:r>
              <a:rPr lang="en-US" altLang="zh-CN" sz="2800" b="1" dirty="0">
                <a:latin typeface="楷体_GB2312" pitchFamily="49" charset="-122"/>
                <a:ea typeface="楷体_GB2312" pitchFamily="49" charset="-122"/>
              </a:rPr>
              <a:t>(</a:t>
            </a:r>
            <a:r>
              <a:rPr lang="en-US" altLang="zh-CN" sz="2800" b="1" dirty="0">
                <a:ea typeface="楷体_GB2312" pitchFamily="49" charset="-122"/>
              </a:rPr>
              <a:t>”</a:t>
            </a:r>
            <a:r>
              <a:rPr lang="en-US" altLang="zh-CN" sz="2800" b="1" dirty="0">
                <a:latin typeface="楷体_GB2312" pitchFamily="49" charset="-122"/>
                <a:ea typeface="楷体_GB2312" pitchFamily="49" charset="-122"/>
              </a:rPr>
              <a:t>%s\n</a:t>
            </a:r>
            <a:r>
              <a:rPr lang="en-US" altLang="zh-CN" sz="2800" b="1" dirty="0">
                <a:ea typeface="楷体_GB2312" pitchFamily="49" charset="-122"/>
              </a:rPr>
              <a:t>”</a:t>
            </a: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spt</a:t>
            </a:r>
            <a:r>
              <a:rPr lang="en-US" altLang="zh-CN" sz="2800" b="1" dirty="0">
                <a:latin typeface="楷体_GB2312" pitchFamily="49" charset="-122"/>
                <a:ea typeface="楷体_GB2312" pitchFamily="49" charset="-122"/>
              </a:rPr>
              <a:t>-&gt;name</a:t>
            </a:r>
            <a:r>
              <a:rPr lang="en-US" altLang="zh-CN" sz="2800" b="1" dirty="0">
                <a:solidFill>
                  <a:srgbClr val="00B0F0"/>
                </a:solidFill>
                <a:latin typeface="楷体_GB2312" pitchFamily="49" charset="-122"/>
                <a:ea typeface="楷体_GB2312" pitchFamily="49" charset="-122"/>
              </a:rPr>
              <a:t>);</a:t>
            </a:r>
            <a:r>
              <a:rPr lang="en-US" altLang="zh-CN" sz="2400" b="1" dirty="0">
                <a:solidFill>
                  <a:srgbClr val="00B0F0"/>
                </a:solidFill>
                <a:latin typeface="楷体_GB2312" pitchFamily="49" charset="-122"/>
                <a:ea typeface="楷体_GB2312" pitchFamily="49" charset="-122"/>
              </a:rPr>
              <a:t>/* </a:t>
            </a:r>
            <a:r>
              <a:rPr lang="zh-CN" altLang="en-US" sz="2400" b="1" dirty="0">
                <a:solidFill>
                  <a:srgbClr val="00B0F0"/>
                </a:solidFill>
                <a:latin typeface="楷体_GB2312" pitchFamily="49" charset="-122"/>
                <a:ea typeface="楷体_GB2312" pitchFamily="49" charset="-122"/>
              </a:rPr>
              <a:t>输出学生</a:t>
            </a:r>
            <a:r>
              <a:rPr lang="en-US" altLang="zh-CN" sz="2400" b="1" dirty="0" err="1">
                <a:solidFill>
                  <a:srgbClr val="00B0F0"/>
                </a:solidFill>
                <a:latin typeface="楷体_GB2312" pitchFamily="49" charset="-122"/>
                <a:ea typeface="楷体_GB2312" pitchFamily="49" charset="-122"/>
              </a:rPr>
              <a:t>st</a:t>
            </a:r>
            <a:r>
              <a:rPr lang="en-US" altLang="zh-CN" sz="2400" b="1" dirty="0">
                <a:solidFill>
                  <a:srgbClr val="00B0F0"/>
                </a:solidFill>
                <a:latin typeface="楷体_GB2312" pitchFamily="49" charset="-122"/>
                <a:ea typeface="楷体_GB2312" pitchFamily="49" charset="-122"/>
              </a:rPr>
              <a:t>[1] </a:t>
            </a:r>
            <a:r>
              <a:rPr lang="zh-CN" altLang="en-US" sz="2400" b="1" dirty="0">
                <a:solidFill>
                  <a:srgbClr val="00B0F0"/>
                </a:solidFill>
                <a:latin typeface="楷体_GB2312" pitchFamily="49" charset="-122"/>
                <a:ea typeface="楷体_GB2312" pitchFamily="49" charset="-122"/>
              </a:rPr>
              <a:t>姓名，</a:t>
            </a:r>
            <a:r>
              <a:rPr lang="en-US" altLang="zh-CN" sz="2400" b="1" dirty="0">
                <a:solidFill>
                  <a:srgbClr val="00B0F0"/>
                </a:solidFill>
                <a:latin typeface="楷体_GB2312" pitchFamily="49" charset="-122"/>
                <a:ea typeface="楷体_GB2312" pitchFamily="49" charset="-122"/>
              </a:rPr>
              <a:t>Li */</a:t>
            </a:r>
          </a:p>
        </p:txBody>
      </p:sp>
      <p:sp>
        <p:nvSpPr>
          <p:cNvPr id="5" name="灯片编号占位符 6"/>
          <p:cNvSpPr>
            <a:spLocks noGrp="1"/>
          </p:cNvSpPr>
          <p:nvPr>
            <p:ph type="sldNum" sz="quarter" idx="12"/>
          </p:nvPr>
        </p:nvSpPr>
        <p:spPr/>
        <p:txBody>
          <a:bodyPr/>
          <a:lstStyle/>
          <a:p>
            <a:pPr>
              <a:defRPr/>
            </a:pPr>
            <a:fld id="{18966683-30CF-4708-8E4F-476B407B84E4}" type="slidenum">
              <a:rPr lang="en-US" altLang="zh-CN"/>
              <a:pPr>
                <a:defRPr/>
              </a:pPr>
              <a:t>29</a:t>
            </a:fld>
            <a:endParaRPr lang="en-US" altLang="zh-CN"/>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6" name="Rectangle 2"/>
          <p:cNvSpPr>
            <a:spLocks noGrp="1" noChangeArrowheads="1"/>
          </p:cNvSpPr>
          <p:nvPr>
            <p:ph type="body" sz="half" idx="1"/>
          </p:nvPr>
        </p:nvSpPr>
        <p:spPr>
          <a:xfrm>
            <a:off x="611188" y="404813"/>
            <a:ext cx="8096250" cy="5976937"/>
          </a:xfrm>
        </p:spPr>
        <p:txBody>
          <a:bodyPr>
            <a:normAutofit/>
          </a:bodyPr>
          <a:lstStyle/>
          <a:p>
            <a:pPr marL="0" indent="0" eaLnBrk="1" hangingPunct="1">
              <a:buFont typeface="Monotype Sorts" pitchFamily="2" charset="2"/>
              <a:buNone/>
              <a:defRPr/>
            </a:pP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例</a:t>
            </a:r>
            <a:r>
              <a:rPr lang="en-US" altLang="zh-CN" sz="2800" b="1" dirty="0">
                <a:latin typeface="楷体_GB2312" pitchFamily="49" charset="-122"/>
                <a:ea typeface="楷体_GB2312" pitchFamily="49" charset="-122"/>
              </a:rPr>
              <a:t>7.2】</a:t>
            </a:r>
            <a:r>
              <a:rPr lang="zh-CN" altLang="en-US" sz="2800" b="1" dirty="0">
                <a:latin typeface="楷体_GB2312" pitchFamily="49" charset="-122"/>
                <a:ea typeface="楷体_GB2312" pitchFamily="49" charset="-122"/>
              </a:rPr>
              <a:t>利用结构数组，输入</a:t>
            </a:r>
            <a:r>
              <a:rPr lang="en-US" altLang="zh-CN" sz="2800" b="1" dirty="0">
                <a:latin typeface="楷体_GB2312" pitchFamily="49" charset="-122"/>
                <a:ea typeface="楷体_GB2312" pitchFamily="49" charset="-122"/>
              </a:rPr>
              <a:t>3</a:t>
            </a:r>
            <a:r>
              <a:rPr lang="zh-CN" altLang="en-US" sz="2800" b="1" dirty="0">
                <a:latin typeface="楷体_GB2312" pitchFamily="49" charset="-122"/>
                <a:ea typeface="楷体_GB2312" pitchFamily="49" charset="-122"/>
              </a:rPr>
              <a:t>个学生的姓名、语文成绩和数学成绩，然后计算每个学生的平均成绩并输出（即用结构数组替换例</a:t>
            </a:r>
            <a:r>
              <a:rPr lang="en-US" altLang="zh-CN" sz="2800" b="1" dirty="0">
                <a:latin typeface="楷体_GB2312" pitchFamily="49" charset="-122"/>
                <a:ea typeface="楷体_GB2312" pitchFamily="49" charset="-122"/>
              </a:rPr>
              <a:t>7.1</a:t>
            </a:r>
            <a:r>
              <a:rPr lang="zh-CN" altLang="en-US" sz="2800" b="1" dirty="0">
                <a:latin typeface="楷体_GB2312" pitchFamily="49" charset="-122"/>
                <a:ea typeface="楷体_GB2312" pitchFamily="49" charset="-122"/>
              </a:rPr>
              <a:t>中的结构变量）。</a:t>
            </a:r>
          </a:p>
          <a:p>
            <a:pPr marL="0" indent="0" eaLnBrk="1" hangingPunct="1">
              <a:buFont typeface="Monotype Sorts" pitchFamily="2" charset="2"/>
              <a:buNone/>
              <a:defRPr/>
            </a:pPr>
            <a:endParaRPr lang="zh-CN" altLang="en-US" sz="2800" b="1" dirty="0">
              <a:latin typeface="楷体_GB2312" pitchFamily="49" charset="-122"/>
              <a:ea typeface="楷体_GB2312" pitchFamily="49" charset="-122"/>
            </a:endParaRPr>
          </a:p>
          <a:p>
            <a:pPr marL="0" indent="0" eaLnBrk="1" hangingPunct="1">
              <a:buFont typeface="Monotype Sorts" pitchFamily="2" charset="2"/>
              <a:buNone/>
              <a:defRPr/>
            </a:pPr>
            <a:r>
              <a:rPr lang="en-US" altLang="zh-CN" sz="2800" b="1" dirty="0">
                <a:latin typeface="楷体_GB2312" pitchFamily="49" charset="-122"/>
                <a:ea typeface="楷体_GB2312" pitchFamily="49" charset="-122"/>
              </a:rPr>
              <a:t>#include &lt;</a:t>
            </a:r>
            <a:r>
              <a:rPr lang="en-US" altLang="zh-CN" sz="2800" b="1" dirty="0" err="1">
                <a:latin typeface="楷体_GB2312" pitchFamily="49" charset="-122"/>
                <a:ea typeface="楷体_GB2312" pitchFamily="49" charset="-122"/>
              </a:rPr>
              <a:t>stdio.h</a:t>
            </a:r>
            <a:r>
              <a:rPr lang="en-US" altLang="zh-CN" sz="2800" b="1" dirty="0">
                <a:latin typeface="楷体_GB2312" pitchFamily="49" charset="-122"/>
                <a:ea typeface="楷体_GB2312" pitchFamily="49" charset="-122"/>
              </a:rPr>
              <a:t>&gt;</a:t>
            </a:r>
          </a:p>
          <a:p>
            <a:pPr marL="0" indent="0" eaLnBrk="1" hangingPunct="1">
              <a:buFont typeface="Monotype Sorts" pitchFamily="2" charset="2"/>
              <a:buNone/>
              <a:defRPr/>
            </a:pPr>
            <a:r>
              <a:rPr lang="en-US" altLang="zh-CN" sz="2800" b="1" dirty="0" err="1">
                <a:latin typeface="楷体_GB2312" pitchFamily="49" charset="-122"/>
                <a:ea typeface="楷体_GB2312" pitchFamily="49" charset="-122"/>
              </a:rPr>
              <a:t>struct</a:t>
            </a: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stuScore</a:t>
            </a:r>
            <a:endParaRPr lang="en-US" altLang="zh-CN" sz="2800" b="1" dirty="0">
              <a:latin typeface="楷体_GB2312" pitchFamily="49" charset="-122"/>
              <a:ea typeface="楷体_GB2312" pitchFamily="49" charset="-122"/>
            </a:endParaRPr>
          </a:p>
          <a:p>
            <a:pPr marL="0" indent="0" eaLnBrk="1" hangingPunct="1">
              <a:buFont typeface="Monotype Sorts" pitchFamily="2" charset="2"/>
              <a:buNone/>
              <a:defRPr/>
            </a:pPr>
            <a:r>
              <a:rPr lang="en-US" altLang="zh-CN" sz="2800" b="1" dirty="0">
                <a:latin typeface="楷体_GB2312" pitchFamily="49" charset="-122"/>
                <a:ea typeface="楷体_GB2312" pitchFamily="49" charset="-122"/>
              </a:rPr>
              <a:t>{	char name[20];</a:t>
            </a:r>
          </a:p>
          <a:p>
            <a:pPr marL="0" indent="0" eaLnBrk="1" hangingPunct="1">
              <a:buFont typeface="Monotype Sorts" pitchFamily="2" charset="2"/>
              <a:buNone/>
              <a:defRPr/>
            </a:pP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int</a:t>
            </a: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chinese</a:t>
            </a:r>
            <a:r>
              <a:rPr lang="en-US" altLang="zh-CN" sz="28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int</a:t>
            </a:r>
            <a:r>
              <a:rPr lang="en-US" altLang="zh-CN" sz="2800" b="1" dirty="0">
                <a:latin typeface="楷体_GB2312" pitchFamily="49" charset="-122"/>
                <a:ea typeface="楷体_GB2312" pitchFamily="49" charset="-122"/>
              </a:rPr>
              <a:t> math;</a:t>
            </a:r>
          </a:p>
          <a:p>
            <a:pPr marL="0" indent="0" eaLnBrk="1" hangingPunct="1">
              <a:buFont typeface="Monotype Sorts" pitchFamily="2" charset="2"/>
              <a:buNone/>
              <a:defRPr/>
            </a:pPr>
            <a:r>
              <a:rPr lang="en-US" altLang="zh-CN" sz="2800" b="1" dirty="0">
                <a:latin typeface="楷体_GB2312" pitchFamily="49" charset="-122"/>
                <a:ea typeface="楷体_GB2312" pitchFamily="49" charset="-122"/>
              </a:rPr>
              <a:t>};</a:t>
            </a:r>
          </a:p>
        </p:txBody>
      </p:sp>
      <p:sp>
        <p:nvSpPr>
          <p:cNvPr id="5" name="灯片编号占位符 6"/>
          <p:cNvSpPr>
            <a:spLocks noGrp="1"/>
          </p:cNvSpPr>
          <p:nvPr>
            <p:ph type="sldNum" sz="quarter" idx="12"/>
          </p:nvPr>
        </p:nvSpPr>
        <p:spPr/>
        <p:txBody>
          <a:bodyPr/>
          <a:lstStyle/>
          <a:p>
            <a:pPr>
              <a:defRPr/>
            </a:pPr>
            <a:fld id="{5DA31D40-B94E-4985-A393-B69DA86EF13C}" type="slidenum">
              <a:rPr lang="en-US" altLang="zh-CN"/>
              <a:pPr>
                <a:defRPr/>
              </a:pPr>
              <a:t>30</a:t>
            </a:fld>
            <a:endParaRPr lang="en-US" altLang="zh-CN"/>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0" name="Rectangle 2"/>
          <p:cNvSpPr>
            <a:spLocks noGrp="1" noChangeArrowheads="1"/>
          </p:cNvSpPr>
          <p:nvPr>
            <p:ph type="body" sz="half" idx="1"/>
          </p:nvPr>
        </p:nvSpPr>
        <p:spPr>
          <a:xfrm>
            <a:off x="611188" y="214291"/>
            <a:ext cx="8096250" cy="6167460"/>
          </a:xfrm>
        </p:spPr>
        <p:txBody>
          <a:bodyPr>
            <a:noAutofit/>
          </a:bodyPr>
          <a:lstStyle/>
          <a:p>
            <a:pPr marL="0" indent="0" eaLnBrk="1" hangingPunct="1">
              <a:buFont typeface="Monotype Sorts" pitchFamily="2" charset="2"/>
              <a:buNone/>
              <a:defRPr/>
            </a:pPr>
            <a:r>
              <a:rPr lang="en-US" altLang="zh-CN" sz="2400" b="1" dirty="0">
                <a:latin typeface="楷体_GB2312" pitchFamily="49" charset="-122"/>
                <a:ea typeface="楷体_GB2312" pitchFamily="49" charset="-122"/>
              </a:rPr>
              <a:t>void main()</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int</a:t>
            </a: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i</a:t>
            </a:r>
            <a:r>
              <a:rPr lang="en-US" altLang="zh-CN" sz="24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float aver[3];</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stuScore</a:t>
            </a: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st</a:t>
            </a:r>
            <a:r>
              <a:rPr lang="en-US" altLang="zh-CN" sz="2400" b="1" dirty="0">
                <a:latin typeface="楷体_GB2312" pitchFamily="49" charset="-122"/>
                <a:ea typeface="楷体_GB2312" pitchFamily="49" charset="-122"/>
              </a:rPr>
              <a:t>[3];  </a:t>
            </a:r>
            <a:r>
              <a:rPr lang="en-US" altLang="zh-CN" sz="20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定义结构数组，含</a:t>
            </a:r>
            <a:r>
              <a:rPr lang="en-US" altLang="zh-CN" sz="2000" b="1" dirty="0">
                <a:latin typeface="楷体_GB2312" pitchFamily="49" charset="-122"/>
                <a:ea typeface="楷体_GB2312" pitchFamily="49" charset="-122"/>
              </a:rPr>
              <a:t>3</a:t>
            </a:r>
            <a:r>
              <a:rPr lang="zh-CN" altLang="en-US" sz="2000" b="1" dirty="0">
                <a:latin typeface="楷体_GB2312" pitchFamily="49" charset="-122"/>
                <a:ea typeface="楷体_GB2312" pitchFamily="49" charset="-122"/>
              </a:rPr>
              <a:t>个元素 *</a:t>
            </a:r>
            <a:r>
              <a:rPr lang="en-US" altLang="zh-CN" sz="2000" b="1" dirty="0">
                <a:latin typeface="楷体_GB2312" pitchFamily="49" charset="-122"/>
                <a:ea typeface="楷体_GB2312" pitchFamily="49" charset="-122"/>
              </a:rPr>
              <a:t>/</a:t>
            </a:r>
            <a:endParaRPr lang="en-US" altLang="zh-CN" sz="2400" b="1" dirty="0">
              <a:latin typeface="楷体_GB2312" pitchFamily="49" charset="-122"/>
              <a:ea typeface="楷体_GB2312" pitchFamily="49" charset="-122"/>
            </a:endParaRP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printf</a:t>
            </a:r>
            <a:r>
              <a:rPr lang="en-US" altLang="zh-CN" sz="2400" b="1" dirty="0">
                <a:latin typeface="楷体_GB2312" pitchFamily="49" charset="-122"/>
                <a:ea typeface="楷体_GB2312" pitchFamily="49" charset="-122"/>
              </a:rPr>
              <a:t>(</a:t>
            </a:r>
            <a:r>
              <a:rPr lang="en-US" altLang="zh-CN" sz="2400" b="1" dirty="0">
                <a:ea typeface="楷体_GB2312" pitchFamily="49" charset="-122"/>
              </a:rPr>
              <a:t>”</a:t>
            </a:r>
            <a:r>
              <a:rPr lang="zh-CN" altLang="en-US" sz="2000" b="1" dirty="0">
                <a:latin typeface="楷体_GB2312" pitchFamily="49" charset="-122"/>
                <a:ea typeface="楷体_GB2312" pitchFamily="49" charset="-122"/>
              </a:rPr>
              <a:t>请输入</a:t>
            </a:r>
            <a:r>
              <a:rPr lang="en-US" altLang="zh-CN" sz="2000" b="1" dirty="0">
                <a:latin typeface="楷体_GB2312" pitchFamily="49" charset="-122"/>
                <a:ea typeface="楷体_GB2312" pitchFamily="49" charset="-122"/>
              </a:rPr>
              <a:t>3</a:t>
            </a:r>
            <a:r>
              <a:rPr lang="zh-CN" altLang="en-US" sz="2000" b="1" dirty="0">
                <a:latin typeface="楷体_GB2312" pitchFamily="49" charset="-122"/>
                <a:ea typeface="楷体_GB2312" pitchFamily="49" charset="-122"/>
              </a:rPr>
              <a:t>位学生的姓名、语文成绩、数学成绩</a:t>
            </a:r>
            <a:r>
              <a:rPr lang="en-US" altLang="zh-CN" sz="2000" b="1" dirty="0">
                <a:latin typeface="楷体_GB2312" pitchFamily="49" charset="-122"/>
                <a:ea typeface="楷体_GB2312" pitchFamily="49" charset="-122"/>
              </a:rPr>
              <a:t>\n</a:t>
            </a:r>
            <a:r>
              <a:rPr lang="en-US" altLang="zh-CN" sz="2400" b="1" dirty="0">
                <a:ea typeface="楷体_GB2312" pitchFamily="49" charset="-122"/>
              </a:rPr>
              <a:t>”</a:t>
            </a:r>
            <a:r>
              <a:rPr lang="en-US" altLang="zh-CN" sz="24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for(</a:t>
            </a:r>
            <a:r>
              <a:rPr lang="en-US" altLang="zh-CN" sz="2400" b="1" dirty="0" err="1">
                <a:latin typeface="楷体_GB2312" pitchFamily="49" charset="-122"/>
                <a:ea typeface="楷体_GB2312" pitchFamily="49" charset="-122"/>
              </a:rPr>
              <a:t>i</a:t>
            </a:r>
            <a:r>
              <a:rPr lang="en-US" altLang="zh-CN" sz="2400" b="1" dirty="0">
                <a:latin typeface="楷体_GB2312" pitchFamily="49" charset="-122"/>
                <a:ea typeface="楷体_GB2312" pitchFamily="49" charset="-122"/>
              </a:rPr>
              <a:t>=0;i&lt;3;i++)</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scanf</a:t>
            </a:r>
            <a:r>
              <a:rPr lang="en-US" altLang="zh-CN" sz="2400" b="1" dirty="0">
                <a:latin typeface="楷体_GB2312" pitchFamily="49" charset="-122"/>
                <a:ea typeface="楷体_GB2312" pitchFamily="49" charset="-122"/>
              </a:rPr>
              <a:t>(</a:t>
            </a:r>
            <a:r>
              <a:rPr lang="en-US" altLang="zh-CN" sz="2400" b="1" dirty="0">
                <a:ea typeface="楷体_GB2312" pitchFamily="49" charset="-122"/>
              </a:rPr>
              <a:t>”</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s%d%d</a:t>
            </a:r>
            <a:r>
              <a:rPr lang="en-US" altLang="zh-CN" sz="2400" b="1" dirty="0">
                <a:ea typeface="楷体_GB2312" pitchFamily="49" charset="-122"/>
              </a:rPr>
              <a:t>”</a:t>
            </a: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st</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i</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name,&amp;st</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i</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chinese,&amp;st</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i</a:t>
            </a:r>
            <a:r>
              <a:rPr lang="en-US" altLang="zh-CN" sz="2400" b="1" dirty="0">
                <a:latin typeface="楷体_GB2312" pitchFamily="49" charset="-122"/>
                <a:ea typeface="楷体_GB2312" pitchFamily="49" charset="-122"/>
              </a:rPr>
              <a:t>].math);</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printf</a:t>
            </a:r>
            <a:r>
              <a:rPr lang="en-US" altLang="zh-CN" sz="24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姓名</a:t>
            </a:r>
            <a:r>
              <a:rPr lang="en-US" altLang="zh-CN" sz="2000" b="1" dirty="0">
                <a:latin typeface="楷体_GB2312" pitchFamily="49" charset="-122"/>
                <a:ea typeface="楷体_GB2312" pitchFamily="49" charset="-122"/>
              </a:rPr>
              <a:t>\t</a:t>
            </a:r>
            <a:r>
              <a:rPr lang="zh-CN" altLang="en-US" sz="2000" b="1" dirty="0">
                <a:latin typeface="楷体_GB2312" pitchFamily="49" charset="-122"/>
                <a:ea typeface="楷体_GB2312" pitchFamily="49" charset="-122"/>
              </a:rPr>
              <a:t>语文</a:t>
            </a:r>
            <a:r>
              <a:rPr lang="en-US" altLang="zh-CN" sz="2000" b="1" dirty="0">
                <a:latin typeface="楷体_GB2312" pitchFamily="49" charset="-122"/>
                <a:ea typeface="楷体_GB2312" pitchFamily="49" charset="-122"/>
              </a:rPr>
              <a:t>\t</a:t>
            </a:r>
            <a:r>
              <a:rPr lang="zh-CN" altLang="en-US" sz="2000" b="1" dirty="0">
                <a:latin typeface="楷体_GB2312" pitchFamily="49" charset="-122"/>
                <a:ea typeface="楷体_GB2312" pitchFamily="49" charset="-122"/>
              </a:rPr>
              <a:t>数学</a:t>
            </a:r>
            <a:r>
              <a:rPr lang="en-US" altLang="zh-CN" sz="2000" b="1" dirty="0">
                <a:latin typeface="楷体_GB2312" pitchFamily="49" charset="-122"/>
                <a:ea typeface="楷体_GB2312" pitchFamily="49" charset="-122"/>
              </a:rPr>
              <a:t>\t</a:t>
            </a:r>
            <a:r>
              <a:rPr lang="zh-CN" altLang="en-US" sz="2000" b="1" dirty="0">
                <a:latin typeface="楷体_GB2312" pitchFamily="49" charset="-122"/>
                <a:ea typeface="楷体_GB2312" pitchFamily="49" charset="-122"/>
              </a:rPr>
              <a:t>平均成绩</a:t>
            </a:r>
            <a:r>
              <a:rPr lang="en-US" altLang="zh-CN" sz="2000" b="1" dirty="0">
                <a:latin typeface="楷体_GB2312" pitchFamily="49" charset="-122"/>
                <a:ea typeface="楷体_GB2312" pitchFamily="49" charset="-122"/>
              </a:rPr>
              <a:t>\n</a:t>
            </a:r>
            <a:r>
              <a:rPr lang="en-US" altLang="zh-CN" sz="24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for(</a:t>
            </a:r>
            <a:r>
              <a:rPr lang="en-US" altLang="zh-CN" sz="2400" b="1" dirty="0" err="1">
                <a:latin typeface="楷体_GB2312" pitchFamily="49" charset="-122"/>
                <a:ea typeface="楷体_GB2312" pitchFamily="49" charset="-122"/>
              </a:rPr>
              <a:t>i</a:t>
            </a:r>
            <a:r>
              <a:rPr lang="en-US" altLang="zh-CN" sz="2400" b="1" dirty="0">
                <a:latin typeface="楷体_GB2312" pitchFamily="49" charset="-122"/>
                <a:ea typeface="楷体_GB2312" pitchFamily="49" charset="-122"/>
              </a:rPr>
              <a:t> = 0; </a:t>
            </a:r>
            <a:r>
              <a:rPr lang="en-US" altLang="zh-CN" sz="2400" b="1" dirty="0" err="1">
                <a:latin typeface="楷体_GB2312" pitchFamily="49" charset="-122"/>
                <a:ea typeface="楷体_GB2312" pitchFamily="49" charset="-122"/>
              </a:rPr>
              <a:t>i</a:t>
            </a:r>
            <a:r>
              <a:rPr lang="en-US" altLang="zh-CN" sz="2400" b="1" dirty="0">
                <a:latin typeface="楷体_GB2312" pitchFamily="49" charset="-122"/>
                <a:ea typeface="楷体_GB2312" pitchFamily="49" charset="-122"/>
              </a:rPr>
              <a:t> &lt; 3; </a:t>
            </a:r>
            <a:r>
              <a:rPr lang="en-US" altLang="zh-CN" sz="2400" b="1" dirty="0" err="1">
                <a:latin typeface="楷体_GB2312" pitchFamily="49" charset="-122"/>
                <a:ea typeface="楷体_GB2312" pitchFamily="49" charset="-122"/>
              </a:rPr>
              <a:t>i</a:t>
            </a:r>
            <a:r>
              <a:rPr lang="en-US" altLang="zh-CN" sz="2400" b="1" dirty="0">
                <a:latin typeface="楷体_GB2312" pitchFamily="49" charset="-122"/>
                <a:ea typeface="楷体_GB2312" pitchFamily="49" charset="-122"/>
              </a:rPr>
              <a:t>++){ </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aver[</a:t>
            </a:r>
            <a:r>
              <a:rPr lang="en-US" altLang="zh-CN" sz="2400" b="1" dirty="0" err="1">
                <a:latin typeface="楷体_GB2312" pitchFamily="49" charset="-122"/>
                <a:ea typeface="楷体_GB2312" pitchFamily="49" charset="-122"/>
              </a:rPr>
              <a:t>i</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st</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i</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chinese+st</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i</a:t>
            </a:r>
            <a:r>
              <a:rPr lang="en-US" altLang="zh-CN" sz="2400" b="1" dirty="0">
                <a:latin typeface="楷体_GB2312" pitchFamily="49" charset="-122"/>
                <a:ea typeface="楷体_GB2312" pitchFamily="49" charset="-122"/>
              </a:rPr>
              <a:t>].math)/2.0;</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printf</a:t>
            </a:r>
            <a:r>
              <a:rPr lang="en-US" altLang="zh-CN" sz="2400" b="1" dirty="0">
                <a:latin typeface="楷体_GB2312" pitchFamily="49" charset="-122"/>
                <a:ea typeface="楷体_GB2312" pitchFamily="49" charset="-122"/>
              </a:rPr>
              <a:t>("%s\t%4d\t%4d\t%6.2f\n</a:t>
            </a:r>
            <a:r>
              <a:rPr lang="en-US" altLang="zh-CN" sz="2400" b="1" dirty="0">
                <a:ea typeface="楷体_GB2312" pitchFamily="49" charset="-122"/>
              </a:rPr>
              <a:t>”</a:t>
            </a: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st</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i</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name,st</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i</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chinese,st</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i</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math,aver</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i</a:t>
            </a:r>
            <a:r>
              <a:rPr lang="en-US" altLang="zh-CN" sz="24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a:t>
            </a:r>
          </a:p>
        </p:txBody>
      </p:sp>
      <p:sp>
        <p:nvSpPr>
          <p:cNvPr id="5" name="灯片编号占位符 6"/>
          <p:cNvSpPr>
            <a:spLocks noGrp="1"/>
          </p:cNvSpPr>
          <p:nvPr>
            <p:ph type="sldNum" sz="quarter" idx="12"/>
          </p:nvPr>
        </p:nvSpPr>
        <p:spPr/>
        <p:txBody>
          <a:bodyPr/>
          <a:lstStyle/>
          <a:p>
            <a:pPr>
              <a:defRPr/>
            </a:pPr>
            <a:fld id="{59807D5E-3DF5-4B5E-A5C5-C6FC09B488C4}" type="slidenum">
              <a:rPr lang="en-US" altLang="zh-CN"/>
              <a:pPr>
                <a:defRPr/>
              </a:pPr>
              <a:t>31</a:t>
            </a:fld>
            <a:endParaRPr lang="en-US" altLang="zh-CN"/>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075" name="Rectangle 3"/>
          <p:cNvSpPr>
            <a:spLocks noGrp="1" noChangeArrowheads="1"/>
          </p:cNvSpPr>
          <p:nvPr>
            <p:ph type="title"/>
          </p:nvPr>
        </p:nvSpPr>
        <p:spPr>
          <a:xfrm>
            <a:off x="323850" y="188913"/>
            <a:ext cx="7920038" cy="647700"/>
          </a:xfrm>
        </p:spPr>
        <p:txBody>
          <a:bodyPr/>
          <a:lstStyle/>
          <a:p>
            <a:pPr eaLnBrk="1" hangingPunct="1">
              <a:lnSpc>
                <a:spcPct val="100000"/>
              </a:lnSpc>
              <a:defRPr/>
            </a:pPr>
            <a:r>
              <a:rPr lang="en-US" altLang="zh-CN" sz="3600" dirty="0">
                <a:solidFill>
                  <a:schemeClr val="tx1"/>
                </a:solidFill>
                <a:latin typeface="黑体" pitchFamily="2" charset="-122"/>
                <a:ea typeface="黑体" pitchFamily="2" charset="-122"/>
              </a:rPr>
              <a:t>7.3  </a:t>
            </a:r>
            <a:r>
              <a:rPr lang="zh-CN" altLang="en-US" sz="3600" dirty="0">
                <a:solidFill>
                  <a:schemeClr val="tx1"/>
                </a:solidFill>
                <a:latin typeface="黑体" pitchFamily="2" charset="-122"/>
                <a:ea typeface="黑体" pitchFamily="2" charset="-122"/>
              </a:rPr>
              <a:t>结构和函数</a:t>
            </a:r>
          </a:p>
        </p:txBody>
      </p:sp>
      <p:sp>
        <p:nvSpPr>
          <p:cNvPr id="643074" name="Rectangle 2"/>
          <p:cNvSpPr>
            <a:spLocks noGrp="1" noChangeArrowheads="1"/>
          </p:cNvSpPr>
          <p:nvPr>
            <p:ph type="body" sz="half" idx="1"/>
          </p:nvPr>
        </p:nvSpPr>
        <p:spPr>
          <a:xfrm>
            <a:off x="611188" y="1196975"/>
            <a:ext cx="8425308" cy="4752975"/>
          </a:xfrm>
        </p:spPr>
        <p:txBody>
          <a:bodyPr>
            <a:noAutofit/>
          </a:bodyPr>
          <a:lstStyle/>
          <a:p>
            <a:pPr marL="0" indent="0" eaLnBrk="1" hangingPunct="1">
              <a:buFont typeface="Monotype Sorts" pitchFamily="2" charset="2"/>
              <a:buNone/>
              <a:defRPr/>
            </a:pPr>
            <a:r>
              <a:rPr lang="zh-CN" altLang="en-US" sz="2800" b="1" dirty="0">
                <a:latin typeface="楷体_GB2312" pitchFamily="49" charset="-122"/>
                <a:ea typeface="楷体_GB2312" pitchFamily="49" charset="-122"/>
              </a:rPr>
              <a:t>函数的形参可以是基本类型变量、指针、数组，也允许是结构。</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将一个结构传递给函数有三种方式：</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传递单个成员、传递整个结构、传递指向结构的指针。</a:t>
            </a:r>
          </a:p>
          <a:p>
            <a:pPr marL="0" indent="0" eaLnBrk="1" hangingPunct="1">
              <a:buFont typeface="Monotype Sorts" pitchFamily="2" charset="2"/>
              <a:buNone/>
              <a:defRPr/>
            </a:pPr>
            <a:endParaRPr lang="zh-CN" altLang="en-US" sz="2800" b="1" dirty="0">
              <a:latin typeface="楷体_GB2312" pitchFamily="49" charset="-122"/>
              <a:ea typeface="楷体_GB2312" pitchFamily="49" charset="-122"/>
            </a:endParaRPr>
          </a:p>
          <a:p>
            <a:pPr marL="0" indent="0" eaLnBrk="1" hangingPunct="1">
              <a:buFont typeface="Monotype Sorts" pitchFamily="2" charset="2"/>
              <a:buNone/>
              <a:defRPr/>
            </a:pPr>
            <a:r>
              <a:rPr lang="zh-CN" altLang="en-US" sz="2800" b="1" dirty="0">
                <a:solidFill>
                  <a:srgbClr val="C00000"/>
                </a:solidFill>
                <a:latin typeface="楷体_GB2312" pitchFamily="49" charset="-122"/>
                <a:ea typeface="楷体_GB2312" pitchFamily="49" charset="-122"/>
              </a:rPr>
              <a:t>传递单个成员或整个结构给函数在</a:t>
            </a:r>
            <a:r>
              <a:rPr lang="en-US" altLang="zh-CN" sz="2800" b="1" dirty="0">
                <a:solidFill>
                  <a:srgbClr val="C00000"/>
                </a:solidFill>
                <a:latin typeface="楷体_GB2312" pitchFamily="49" charset="-122"/>
                <a:ea typeface="楷体_GB2312" pitchFamily="49" charset="-122"/>
              </a:rPr>
              <a:t>C</a:t>
            </a:r>
            <a:r>
              <a:rPr lang="zh-CN" altLang="en-US" sz="2800" b="1" dirty="0">
                <a:solidFill>
                  <a:srgbClr val="C00000"/>
                </a:solidFill>
                <a:latin typeface="楷体_GB2312" pitchFamily="49" charset="-122"/>
                <a:ea typeface="楷体_GB2312" pitchFamily="49" charset="-122"/>
              </a:rPr>
              <a:t>中认为是值调用</a:t>
            </a:r>
            <a:r>
              <a:rPr lang="zh-CN" altLang="en-US" sz="2800" b="1" dirty="0">
                <a:latin typeface="楷体_GB2312" pitchFamily="49" charset="-122"/>
                <a:ea typeface="楷体_GB2312" pitchFamily="49" charset="-122"/>
              </a:rPr>
              <a:t>，即在被调用的函数中尽管修改了形参的值，但不会改变调用函数时提供的实参变量的值。</a:t>
            </a:r>
            <a:r>
              <a:rPr lang="zh-CN" altLang="en-US" sz="2800" dirty="0">
                <a:latin typeface="楷体_GB2312" pitchFamily="49" charset="-122"/>
                <a:ea typeface="楷体_GB2312" pitchFamily="49" charset="-122"/>
              </a:rPr>
              <a:t> </a:t>
            </a:r>
          </a:p>
        </p:txBody>
      </p:sp>
      <p:sp>
        <p:nvSpPr>
          <p:cNvPr id="6" name="灯片编号占位符 6"/>
          <p:cNvSpPr>
            <a:spLocks noGrp="1"/>
          </p:cNvSpPr>
          <p:nvPr>
            <p:ph type="sldNum" sz="quarter" idx="12"/>
          </p:nvPr>
        </p:nvSpPr>
        <p:spPr/>
        <p:txBody>
          <a:bodyPr/>
          <a:lstStyle/>
          <a:p>
            <a:pPr>
              <a:defRPr/>
            </a:pPr>
            <a:fld id="{44E2D3D8-AC78-40E2-87E4-E49837DC84F3}" type="slidenum">
              <a:rPr lang="en-US" altLang="zh-CN"/>
              <a:pPr>
                <a:defRPr/>
              </a:pPr>
              <a:t>32</a:t>
            </a:fld>
            <a:endParaRPr lang="en-US" altLang="zh-CN"/>
          </a:p>
        </p:txBody>
      </p:sp>
      <p:sp>
        <p:nvSpPr>
          <p:cNvPr id="2" name="椭圆 1"/>
          <p:cNvSpPr/>
          <p:nvPr/>
        </p:nvSpPr>
        <p:spPr>
          <a:xfrm>
            <a:off x="6156176" y="4797151"/>
            <a:ext cx="2530624" cy="19243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包括结构内的数组！！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43074">
                                            <p:txEl>
                                              <p:pRg st="4" end="4"/>
                                            </p:txEl>
                                          </p:spTgt>
                                        </p:tgtEl>
                                        <p:attrNameLst>
                                          <p:attrName>style.visibility</p:attrName>
                                        </p:attrNameLst>
                                      </p:cBhvr>
                                      <p:to>
                                        <p:strVal val="visible"/>
                                      </p:to>
                                    </p:set>
                                    <p:anim calcmode="lin" valueType="num">
                                      <p:cBhvr additive="base">
                                        <p:cTn id="7" dur="500" fill="hold"/>
                                        <p:tgtEl>
                                          <p:spTgt spid="643074">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4307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4098" name="Rectangle 2"/>
          <p:cNvSpPr>
            <a:spLocks noGrp="1" noChangeArrowheads="1"/>
          </p:cNvSpPr>
          <p:nvPr>
            <p:ph type="body" sz="half" idx="1"/>
          </p:nvPr>
        </p:nvSpPr>
        <p:spPr>
          <a:xfrm>
            <a:off x="611188" y="692150"/>
            <a:ext cx="8096250" cy="5257800"/>
          </a:xfrm>
        </p:spPr>
        <p:txBody>
          <a:bodyPr>
            <a:normAutofit lnSpcReduction="10000"/>
          </a:bodyPr>
          <a:lstStyle/>
          <a:p>
            <a:pPr marL="0" indent="0" eaLnBrk="1" hangingPunct="1">
              <a:buFont typeface="Monotype Sorts" pitchFamily="2" charset="2"/>
              <a:buNone/>
              <a:defRPr/>
            </a:pP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例</a:t>
            </a:r>
            <a:r>
              <a:rPr lang="en-US" altLang="zh-CN" sz="2400" b="1" dirty="0">
                <a:latin typeface="楷体_GB2312" pitchFamily="49" charset="-122"/>
                <a:ea typeface="楷体_GB2312" pitchFamily="49" charset="-122"/>
              </a:rPr>
              <a:t>7.3】</a:t>
            </a:r>
            <a:r>
              <a:rPr lang="zh-CN" altLang="en-US" sz="2400" b="1" dirty="0">
                <a:latin typeface="楷体_GB2312" pitchFamily="49" charset="-122"/>
                <a:ea typeface="楷体_GB2312" pitchFamily="49" charset="-122"/>
              </a:rPr>
              <a:t>日期转换程序，根据输入的年月日，输出是该年中的第几天。</a:t>
            </a:r>
          </a:p>
          <a:p>
            <a:pPr marL="0" indent="0" eaLnBrk="1" hangingPunct="1">
              <a:buFont typeface="Monotype Sorts" pitchFamily="2" charset="2"/>
              <a:buNone/>
              <a:defRPr/>
            </a:pPr>
            <a:r>
              <a:rPr lang="en-US" altLang="zh-CN" sz="2400" b="1" dirty="0"/>
              <a:t>#include  &lt;</a:t>
            </a:r>
            <a:r>
              <a:rPr lang="en-US" altLang="zh-CN" sz="2400" b="1" dirty="0" err="1"/>
              <a:t>stdio.h</a:t>
            </a:r>
            <a:r>
              <a:rPr lang="en-US" altLang="zh-CN" sz="2400" b="1" dirty="0"/>
              <a:t>&gt;</a:t>
            </a:r>
          </a:p>
          <a:p>
            <a:pPr marL="0" indent="0" eaLnBrk="1" hangingPunct="1">
              <a:buFont typeface="Monotype Sorts" pitchFamily="2" charset="2"/>
              <a:buNone/>
              <a:defRPr/>
            </a:pPr>
            <a:r>
              <a:rPr lang="en-US" altLang="zh-CN" sz="2400" b="1" dirty="0" err="1"/>
              <a:t>int</a:t>
            </a:r>
            <a:r>
              <a:rPr lang="en-US" altLang="zh-CN" sz="2400" b="1" dirty="0"/>
              <a:t> </a:t>
            </a:r>
            <a:r>
              <a:rPr lang="en-US" altLang="zh-CN" sz="2400" b="1" dirty="0" err="1"/>
              <a:t>dayTable</a:t>
            </a:r>
            <a:r>
              <a:rPr lang="en-US" altLang="zh-CN" sz="2400" b="1" dirty="0"/>
              <a:t>[ ][12]={</a:t>
            </a:r>
          </a:p>
          <a:p>
            <a:pPr marL="0" indent="0" eaLnBrk="1" hangingPunct="1">
              <a:buFont typeface="Monotype Sorts" pitchFamily="2" charset="2"/>
              <a:buNone/>
              <a:defRPr/>
            </a:pPr>
            <a:r>
              <a:rPr lang="en-US" altLang="zh-CN" sz="2400" b="1" dirty="0"/>
              <a:t>          {31,28,31,30,31,30,31,31,30,31,30,31}, /* </a:t>
            </a:r>
            <a:r>
              <a:rPr lang="zh-CN" altLang="en-US" sz="2400" b="1" dirty="0"/>
              <a:t>平年 *</a:t>
            </a:r>
            <a:r>
              <a:rPr lang="en-US" altLang="zh-CN" sz="2400" b="1" dirty="0"/>
              <a:t>/</a:t>
            </a:r>
          </a:p>
          <a:p>
            <a:pPr marL="0" indent="0" eaLnBrk="1" hangingPunct="1">
              <a:buFont typeface="Monotype Sorts" pitchFamily="2" charset="2"/>
              <a:buNone/>
              <a:defRPr/>
            </a:pPr>
            <a:r>
              <a:rPr lang="en-US" altLang="zh-CN" sz="2400" b="1" dirty="0"/>
              <a:t>	{31,29,31,30,31,30,31,31,30,31,30,31}};/* </a:t>
            </a:r>
            <a:r>
              <a:rPr lang="zh-CN" altLang="en-US" sz="2400" b="1" dirty="0"/>
              <a:t>闰年 *</a:t>
            </a:r>
            <a:r>
              <a:rPr lang="en-US" altLang="zh-CN" sz="2400" b="1" dirty="0"/>
              <a:t>/</a:t>
            </a:r>
          </a:p>
          <a:p>
            <a:pPr marL="0" indent="0" eaLnBrk="1" hangingPunct="1">
              <a:buFont typeface="Monotype Sorts" pitchFamily="2" charset="2"/>
              <a:buNone/>
              <a:defRPr/>
            </a:pPr>
            <a:endParaRPr lang="en-US" altLang="zh-CN" sz="2400" b="1" dirty="0"/>
          </a:p>
          <a:p>
            <a:pPr marL="0" indent="0" eaLnBrk="1" hangingPunct="1">
              <a:buFont typeface="Monotype Sorts" pitchFamily="2" charset="2"/>
              <a:buNone/>
              <a:defRPr/>
            </a:pPr>
            <a:r>
              <a:rPr lang="en-US" altLang="zh-CN" sz="2400" b="1" dirty="0" err="1"/>
              <a:t>struct</a:t>
            </a:r>
            <a:r>
              <a:rPr lang="en-US" altLang="zh-CN" sz="2400" b="1" dirty="0"/>
              <a:t> Date	/* </a:t>
            </a:r>
            <a:r>
              <a:rPr lang="zh-CN" altLang="en-US" sz="2400" b="1" dirty="0"/>
              <a:t>定义一个</a:t>
            </a:r>
            <a:r>
              <a:rPr lang="en-US" altLang="zh-CN" sz="2400" b="1" dirty="0"/>
              <a:t>Date</a:t>
            </a:r>
            <a:r>
              <a:rPr lang="zh-CN" altLang="en-US" sz="2400" b="1" dirty="0"/>
              <a:t>结构类型 *</a:t>
            </a:r>
            <a:r>
              <a:rPr lang="en-US" altLang="zh-CN" sz="2400" b="1" dirty="0"/>
              <a:t>/</a:t>
            </a:r>
          </a:p>
          <a:p>
            <a:pPr marL="0" indent="0" eaLnBrk="1" hangingPunct="1">
              <a:buFont typeface="Monotype Sorts" pitchFamily="2" charset="2"/>
              <a:buNone/>
              <a:defRPr/>
            </a:pPr>
            <a:r>
              <a:rPr lang="en-US" altLang="zh-CN" sz="2400" b="1" dirty="0"/>
              <a:t>{  </a:t>
            </a:r>
            <a:r>
              <a:rPr lang="en-US" altLang="zh-CN" sz="2400" b="1" dirty="0" err="1"/>
              <a:t>int</a:t>
            </a:r>
            <a:r>
              <a:rPr lang="en-US" altLang="zh-CN" sz="2400" b="1" dirty="0"/>
              <a:t>  day;</a:t>
            </a:r>
          </a:p>
          <a:p>
            <a:pPr marL="0" indent="0" eaLnBrk="1" hangingPunct="1">
              <a:buFont typeface="Monotype Sorts" pitchFamily="2" charset="2"/>
              <a:buNone/>
              <a:defRPr/>
            </a:pPr>
            <a:r>
              <a:rPr lang="en-US" altLang="zh-CN" sz="2400" b="1" dirty="0"/>
              <a:t>   </a:t>
            </a:r>
            <a:r>
              <a:rPr lang="en-US" altLang="zh-CN" sz="2400" b="1" dirty="0" err="1"/>
              <a:t>int</a:t>
            </a:r>
            <a:r>
              <a:rPr lang="en-US" altLang="zh-CN" sz="2400" b="1" dirty="0"/>
              <a:t>  month;</a:t>
            </a:r>
          </a:p>
          <a:p>
            <a:pPr marL="0" indent="0" eaLnBrk="1" hangingPunct="1">
              <a:buFont typeface="Monotype Sorts" pitchFamily="2" charset="2"/>
              <a:buNone/>
              <a:defRPr/>
            </a:pPr>
            <a:r>
              <a:rPr lang="en-US" altLang="zh-CN" sz="2400" b="1" dirty="0"/>
              <a:t>   </a:t>
            </a:r>
            <a:r>
              <a:rPr lang="en-US" altLang="zh-CN" sz="2400" b="1" dirty="0" err="1"/>
              <a:t>int</a:t>
            </a:r>
            <a:r>
              <a:rPr lang="en-US" altLang="zh-CN" sz="2400" b="1" dirty="0"/>
              <a:t>  year;</a:t>
            </a:r>
          </a:p>
          <a:p>
            <a:pPr marL="0" indent="0" eaLnBrk="1" hangingPunct="1">
              <a:buFont typeface="Monotype Sorts" pitchFamily="2" charset="2"/>
              <a:buNone/>
              <a:defRPr/>
            </a:pPr>
            <a:r>
              <a:rPr lang="en-US" altLang="zh-CN" sz="2400" b="1" dirty="0"/>
              <a:t>   </a:t>
            </a:r>
            <a:r>
              <a:rPr lang="en-US" altLang="zh-CN" sz="2400" b="1" dirty="0" err="1">
                <a:solidFill>
                  <a:srgbClr val="FF0000"/>
                </a:solidFill>
              </a:rPr>
              <a:t>int</a:t>
            </a:r>
            <a:r>
              <a:rPr lang="en-US" altLang="zh-CN" sz="2400" b="1" dirty="0">
                <a:solidFill>
                  <a:srgbClr val="FF0000"/>
                </a:solidFill>
              </a:rPr>
              <a:t>  </a:t>
            </a:r>
            <a:r>
              <a:rPr lang="en-US" altLang="zh-CN" sz="2400" b="1" dirty="0" err="1">
                <a:solidFill>
                  <a:srgbClr val="FF0000"/>
                </a:solidFill>
              </a:rPr>
              <a:t>yearDay</a:t>
            </a:r>
            <a:r>
              <a:rPr lang="en-US" altLang="zh-CN" sz="2400" b="1" dirty="0">
                <a:solidFill>
                  <a:srgbClr val="FF0000"/>
                </a:solidFill>
              </a:rPr>
              <a:t>;</a:t>
            </a:r>
          </a:p>
          <a:p>
            <a:pPr marL="0" indent="0" eaLnBrk="1" hangingPunct="1">
              <a:buFont typeface="Monotype Sorts" pitchFamily="2" charset="2"/>
              <a:buNone/>
              <a:defRPr/>
            </a:pPr>
            <a:r>
              <a:rPr lang="en-US" altLang="zh-CN" sz="2400" b="1" dirty="0"/>
              <a:t>} date; /* </a:t>
            </a:r>
            <a:r>
              <a:rPr lang="zh-CN" altLang="en-US" sz="2400" b="1" dirty="0"/>
              <a:t>定义一个</a:t>
            </a:r>
            <a:r>
              <a:rPr lang="en-US" altLang="zh-CN" sz="2400" b="1" dirty="0"/>
              <a:t>Date</a:t>
            </a:r>
            <a:r>
              <a:rPr lang="zh-CN" altLang="en-US" sz="2400" b="1" dirty="0"/>
              <a:t>结构类型的结构变量 *</a:t>
            </a:r>
            <a:r>
              <a:rPr lang="en-US" altLang="zh-CN" sz="2400" b="1" dirty="0"/>
              <a:t>/</a:t>
            </a:r>
            <a:r>
              <a:rPr lang="en-US" altLang="zh-CN" sz="2400" dirty="0"/>
              <a:t> </a:t>
            </a:r>
          </a:p>
        </p:txBody>
      </p:sp>
      <p:sp>
        <p:nvSpPr>
          <p:cNvPr id="5" name="灯片编号占位符 6"/>
          <p:cNvSpPr>
            <a:spLocks noGrp="1"/>
          </p:cNvSpPr>
          <p:nvPr>
            <p:ph type="sldNum" sz="quarter" idx="12"/>
          </p:nvPr>
        </p:nvSpPr>
        <p:spPr/>
        <p:txBody>
          <a:bodyPr/>
          <a:lstStyle/>
          <a:p>
            <a:pPr>
              <a:defRPr/>
            </a:pPr>
            <a:fld id="{0E2CD8ED-F72E-42B9-AEF0-54DA144B2EE0}" type="slidenum">
              <a:rPr lang="en-US" altLang="zh-CN"/>
              <a:pPr>
                <a:defRPr/>
              </a:pPr>
              <a:t>33</a:t>
            </a:fld>
            <a:endParaRPr lang="en-US" altLang="zh-CN"/>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22" name="Rectangle 2"/>
          <p:cNvSpPr>
            <a:spLocks noGrp="1" noChangeArrowheads="1"/>
          </p:cNvSpPr>
          <p:nvPr>
            <p:ph type="body" sz="half" idx="1"/>
          </p:nvPr>
        </p:nvSpPr>
        <p:spPr>
          <a:xfrm>
            <a:off x="611188" y="692150"/>
            <a:ext cx="8096250" cy="5257800"/>
          </a:xfrm>
        </p:spPr>
        <p:txBody>
          <a:bodyPr/>
          <a:lstStyle/>
          <a:p>
            <a:pPr marL="0" indent="0" eaLnBrk="1" hangingPunct="1">
              <a:lnSpc>
                <a:spcPct val="90000"/>
              </a:lnSpc>
              <a:buFont typeface="Monotype Sorts" pitchFamily="2" charset="2"/>
              <a:buNone/>
              <a:defRPr/>
            </a:pPr>
            <a:r>
              <a:rPr lang="en-US" altLang="zh-CN" sz="2400" b="1" dirty="0" err="1"/>
              <a:t>int</a:t>
            </a:r>
            <a:r>
              <a:rPr lang="en-US" altLang="zh-CN" sz="2400" b="1" dirty="0"/>
              <a:t> </a:t>
            </a:r>
            <a:r>
              <a:rPr lang="en-US" altLang="zh-CN" sz="2400" b="1" dirty="0" err="1"/>
              <a:t>dayofYear</a:t>
            </a:r>
            <a:r>
              <a:rPr lang="en-US" altLang="zh-CN" sz="2400" b="1" dirty="0"/>
              <a:t>(</a:t>
            </a:r>
            <a:r>
              <a:rPr lang="en-US" altLang="zh-CN" sz="2400" b="1" dirty="0" err="1"/>
              <a:t>int</a:t>
            </a:r>
            <a:r>
              <a:rPr lang="en-US" altLang="zh-CN" sz="2400" b="1" dirty="0"/>
              <a:t> d, </a:t>
            </a:r>
            <a:r>
              <a:rPr lang="en-US" altLang="zh-CN" sz="2400" b="1" dirty="0" err="1"/>
              <a:t>int</a:t>
            </a:r>
            <a:r>
              <a:rPr lang="en-US" altLang="zh-CN" sz="2400" b="1" dirty="0"/>
              <a:t> m, </a:t>
            </a:r>
            <a:r>
              <a:rPr lang="en-US" altLang="zh-CN" sz="2400" b="1" dirty="0" err="1"/>
              <a:t>int</a:t>
            </a:r>
            <a:r>
              <a:rPr lang="en-US" altLang="zh-CN" sz="2400" b="1" dirty="0"/>
              <a:t> y) /* </a:t>
            </a:r>
            <a:r>
              <a:rPr lang="zh-CN" altLang="en-US" sz="2400" b="1" dirty="0"/>
              <a:t>计算年中第几天函数 *</a:t>
            </a:r>
            <a:r>
              <a:rPr lang="en-US" altLang="zh-CN" sz="2400" b="1" dirty="0"/>
              <a:t>/</a:t>
            </a:r>
          </a:p>
          <a:p>
            <a:pPr marL="0" indent="0" eaLnBrk="1" hangingPunct="1">
              <a:lnSpc>
                <a:spcPct val="90000"/>
              </a:lnSpc>
              <a:buFont typeface="Monotype Sorts" pitchFamily="2" charset="2"/>
              <a:buNone/>
              <a:defRPr/>
            </a:pPr>
            <a:r>
              <a:rPr lang="en-US" altLang="zh-CN" sz="2400" b="1" dirty="0"/>
              <a:t>{ </a:t>
            </a:r>
            <a:r>
              <a:rPr lang="en-US" altLang="zh-CN" sz="2400" b="1" dirty="0" err="1"/>
              <a:t>int</a:t>
            </a:r>
            <a:r>
              <a:rPr lang="en-US" altLang="zh-CN" sz="2400" b="1" dirty="0"/>
              <a:t>  </a:t>
            </a:r>
            <a:r>
              <a:rPr lang="en-US" altLang="zh-CN" sz="2400" b="1" dirty="0" err="1"/>
              <a:t>i</a:t>
            </a:r>
            <a:r>
              <a:rPr lang="en-US" altLang="zh-CN" sz="2400" b="1" dirty="0"/>
              <a:t>, leap, day = d;</a:t>
            </a:r>
          </a:p>
          <a:p>
            <a:pPr marL="0" indent="0" eaLnBrk="1" hangingPunct="1">
              <a:lnSpc>
                <a:spcPct val="90000"/>
              </a:lnSpc>
              <a:buFont typeface="Monotype Sorts" pitchFamily="2" charset="2"/>
              <a:buNone/>
              <a:defRPr/>
            </a:pPr>
            <a:r>
              <a:rPr lang="en-US" altLang="zh-CN" sz="2400" b="1" dirty="0"/>
              <a:t>  leap = (y%4 == 0 &amp;&amp; y%100) || y%400 == 0; </a:t>
            </a:r>
            <a:r>
              <a:rPr lang="en-US" altLang="zh-CN" sz="2000" b="1" dirty="0"/>
              <a:t>/* </a:t>
            </a:r>
            <a:r>
              <a:rPr lang="zh-CN" altLang="en-US" sz="2000" b="1" dirty="0"/>
              <a:t>是否闰年 *</a:t>
            </a:r>
            <a:r>
              <a:rPr lang="en-US" altLang="zh-CN" sz="2000" b="1" dirty="0"/>
              <a:t>/</a:t>
            </a:r>
          </a:p>
          <a:p>
            <a:pPr marL="0" indent="0" eaLnBrk="1" hangingPunct="1">
              <a:lnSpc>
                <a:spcPct val="90000"/>
              </a:lnSpc>
              <a:buFont typeface="Monotype Sorts" pitchFamily="2" charset="2"/>
              <a:buNone/>
              <a:defRPr/>
            </a:pPr>
            <a:r>
              <a:rPr lang="en-US" altLang="zh-CN" sz="2400" b="1" dirty="0"/>
              <a:t>  for (</a:t>
            </a:r>
            <a:r>
              <a:rPr lang="en-US" altLang="zh-CN" sz="2400" b="1" dirty="0" err="1"/>
              <a:t>i</a:t>
            </a:r>
            <a:r>
              <a:rPr lang="en-US" altLang="zh-CN" sz="2400" b="1" dirty="0"/>
              <a:t> = 0; </a:t>
            </a:r>
            <a:r>
              <a:rPr lang="en-US" altLang="zh-CN" sz="2400" b="1" dirty="0" err="1"/>
              <a:t>i</a:t>
            </a:r>
            <a:r>
              <a:rPr lang="en-US" altLang="zh-CN" sz="2400" b="1" dirty="0"/>
              <a:t> &lt; m-1; </a:t>
            </a:r>
            <a:r>
              <a:rPr lang="en-US" altLang="zh-CN" sz="2400" b="1" dirty="0" err="1"/>
              <a:t>i</a:t>
            </a:r>
            <a:r>
              <a:rPr lang="en-US" altLang="zh-CN" sz="2400" b="1" dirty="0"/>
              <a:t>++)</a:t>
            </a:r>
          </a:p>
          <a:p>
            <a:pPr marL="0" indent="0" eaLnBrk="1" hangingPunct="1">
              <a:lnSpc>
                <a:spcPct val="90000"/>
              </a:lnSpc>
              <a:buFont typeface="Monotype Sorts" pitchFamily="2" charset="2"/>
              <a:buNone/>
              <a:defRPr/>
            </a:pPr>
            <a:r>
              <a:rPr lang="en-US" altLang="zh-CN" sz="2400" b="1" dirty="0"/>
              <a:t>     day += </a:t>
            </a:r>
            <a:r>
              <a:rPr lang="en-US" altLang="zh-CN" sz="2400" b="1" dirty="0" err="1"/>
              <a:t>dayTable</a:t>
            </a:r>
            <a:r>
              <a:rPr lang="en-US" altLang="zh-CN" sz="2400" b="1" dirty="0"/>
              <a:t>[leap][</a:t>
            </a:r>
            <a:r>
              <a:rPr lang="en-US" altLang="zh-CN" sz="2400" b="1" dirty="0" err="1"/>
              <a:t>i</a:t>
            </a:r>
            <a:r>
              <a:rPr lang="en-US" altLang="zh-CN" sz="2400" b="1" dirty="0"/>
              <a:t>];</a:t>
            </a:r>
          </a:p>
          <a:p>
            <a:pPr marL="0" indent="0" eaLnBrk="1" hangingPunct="1">
              <a:lnSpc>
                <a:spcPct val="90000"/>
              </a:lnSpc>
              <a:buFont typeface="Monotype Sorts" pitchFamily="2" charset="2"/>
              <a:buNone/>
              <a:defRPr/>
            </a:pPr>
            <a:r>
              <a:rPr lang="en-US" altLang="zh-CN" sz="2400" b="1" dirty="0"/>
              <a:t>  return day;	/* </a:t>
            </a:r>
            <a:r>
              <a:rPr lang="zh-CN" altLang="en-US" sz="2400" b="1" dirty="0"/>
              <a:t>返回计算的结果 *</a:t>
            </a:r>
            <a:r>
              <a:rPr lang="en-US" altLang="zh-CN" sz="2400" b="1" dirty="0"/>
              <a:t>/</a:t>
            </a:r>
          </a:p>
          <a:p>
            <a:pPr marL="0" indent="0" eaLnBrk="1" hangingPunct="1">
              <a:lnSpc>
                <a:spcPct val="90000"/>
              </a:lnSpc>
              <a:buFont typeface="Monotype Sorts" pitchFamily="2" charset="2"/>
              <a:buNone/>
              <a:defRPr/>
            </a:pPr>
            <a:r>
              <a:rPr lang="en-US" altLang="zh-CN" sz="2400" b="1" dirty="0"/>
              <a:t>}</a:t>
            </a:r>
          </a:p>
          <a:p>
            <a:pPr marL="0" indent="0" eaLnBrk="1" hangingPunct="1">
              <a:lnSpc>
                <a:spcPct val="90000"/>
              </a:lnSpc>
              <a:buFont typeface="Monotype Sorts" pitchFamily="2" charset="2"/>
              <a:buNone/>
              <a:defRPr/>
            </a:pPr>
            <a:r>
              <a:rPr lang="en-US" altLang="zh-CN" sz="2400" b="1" dirty="0"/>
              <a:t>void main()</a:t>
            </a:r>
          </a:p>
          <a:p>
            <a:pPr marL="0" indent="0" eaLnBrk="1" hangingPunct="1">
              <a:lnSpc>
                <a:spcPct val="90000"/>
              </a:lnSpc>
              <a:buFont typeface="Monotype Sorts" pitchFamily="2" charset="2"/>
              <a:buNone/>
              <a:defRPr/>
            </a:pPr>
            <a:r>
              <a:rPr lang="en-US" altLang="zh-CN" sz="2400" b="1" dirty="0"/>
              <a:t>{ </a:t>
            </a:r>
            <a:r>
              <a:rPr lang="en-US" altLang="zh-CN" sz="2400" b="1" dirty="0" err="1"/>
              <a:t>int</a:t>
            </a:r>
            <a:r>
              <a:rPr lang="en-US" altLang="zh-CN" sz="2400" b="1" dirty="0"/>
              <a:t> leap, days;</a:t>
            </a:r>
          </a:p>
          <a:p>
            <a:pPr marL="0" indent="0" eaLnBrk="1" hangingPunct="1">
              <a:lnSpc>
                <a:spcPct val="90000"/>
              </a:lnSpc>
              <a:buFont typeface="Monotype Sorts" pitchFamily="2" charset="2"/>
              <a:buNone/>
              <a:defRPr/>
            </a:pPr>
            <a:r>
              <a:rPr lang="en-US" altLang="zh-CN" sz="2400" b="1" dirty="0"/>
              <a:t>  </a:t>
            </a:r>
            <a:r>
              <a:rPr lang="en-US" altLang="zh-CN" sz="2400" b="1" dirty="0" err="1"/>
              <a:t>printf</a:t>
            </a:r>
            <a:r>
              <a:rPr lang="en-US" altLang="zh-CN" sz="2400" b="1" dirty="0"/>
              <a:t>("\</a:t>
            </a:r>
            <a:r>
              <a:rPr lang="en-US" altLang="zh-CN" sz="2400" b="1" dirty="0" err="1"/>
              <a:t>tDate</a:t>
            </a:r>
            <a:r>
              <a:rPr lang="en-US" altLang="zh-CN" sz="2400" b="1" dirty="0"/>
              <a:t> Conversion Program\n");</a:t>
            </a:r>
          </a:p>
          <a:p>
            <a:pPr marL="0" indent="0" eaLnBrk="1" hangingPunct="1">
              <a:lnSpc>
                <a:spcPct val="90000"/>
              </a:lnSpc>
              <a:buFont typeface="Monotype Sorts" pitchFamily="2" charset="2"/>
              <a:buNone/>
              <a:defRPr/>
            </a:pPr>
            <a:r>
              <a:rPr lang="en-US" altLang="zh-CN" sz="2400" b="1" dirty="0"/>
              <a:t>  </a:t>
            </a:r>
            <a:r>
              <a:rPr lang="en-US" altLang="zh-CN" sz="2400" b="1" dirty="0" err="1"/>
              <a:t>printf</a:t>
            </a:r>
            <a:r>
              <a:rPr lang="en-US" altLang="zh-CN" sz="2400" b="1" dirty="0"/>
              <a:t>("Year = ");</a:t>
            </a:r>
          </a:p>
          <a:p>
            <a:pPr marL="0" indent="0" eaLnBrk="1" hangingPunct="1">
              <a:lnSpc>
                <a:spcPct val="90000"/>
              </a:lnSpc>
              <a:buFont typeface="Monotype Sorts" pitchFamily="2" charset="2"/>
              <a:buNone/>
              <a:defRPr/>
            </a:pPr>
            <a:r>
              <a:rPr lang="en-US" altLang="zh-CN" sz="2400" b="1" dirty="0"/>
              <a:t>  </a:t>
            </a:r>
            <a:r>
              <a:rPr lang="en-US" altLang="zh-CN" sz="2400" b="1" dirty="0" err="1"/>
              <a:t>scanf</a:t>
            </a:r>
            <a:r>
              <a:rPr lang="en-US" altLang="zh-CN" sz="2400" b="1" dirty="0"/>
              <a:t>("%d”, &amp;</a:t>
            </a:r>
            <a:r>
              <a:rPr lang="en-US" altLang="zh-CN" sz="2400" b="1" dirty="0" err="1"/>
              <a:t>date.year</a:t>
            </a:r>
            <a:r>
              <a:rPr lang="en-US" altLang="zh-CN" sz="2400" b="1" dirty="0"/>
              <a:t>);	/* </a:t>
            </a:r>
            <a:r>
              <a:rPr lang="zh-CN" altLang="en-US" sz="2400" b="1" dirty="0"/>
              <a:t>输入年份 *</a:t>
            </a:r>
            <a:r>
              <a:rPr lang="en-US" altLang="zh-CN" sz="2400" b="1" dirty="0"/>
              <a:t>/</a:t>
            </a:r>
          </a:p>
        </p:txBody>
      </p:sp>
      <p:sp>
        <p:nvSpPr>
          <p:cNvPr id="5" name="灯片编号占位符 6"/>
          <p:cNvSpPr>
            <a:spLocks noGrp="1"/>
          </p:cNvSpPr>
          <p:nvPr>
            <p:ph type="sldNum" sz="quarter" idx="12"/>
          </p:nvPr>
        </p:nvSpPr>
        <p:spPr/>
        <p:txBody>
          <a:bodyPr/>
          <a:lstStyle/>
          <a:p>
            <a:pPr>
              <a:defRPr/>
            </a:pPr>
            <a:fld id="{5889884B-37AA-47FE-AE01-F36A19EB7B5E}" type="slidenum">
              <a:rPr lang="en-US" altLang="zh-CN"/>
              <a:pPr>
                <a:defRPr/>
              </a:pPr>
              <a:t>34</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45122">
                                            <p:txEl>
                                              <p:pRg st="7" end="7"/>
                                            </p:txEl>
                                          </p:spTgt>
                                        </p:tgtEl>
                                        <p:attrNameLst>
                                          <p:attrName>style.visibility</p:attrName>
                                        </p:attrNameLst>
                                      </p:cBhvr>
                                      <p:to>
                                        <p:strVal val="visible"/>
                                      </p:to>
                                    </p:set>
                                    <p:anim calcmode="lin" valueType="num">
                                      <p:cBhvr additive="base">
                                        <p:cTn id="7" dur="500" fill="hold"/>
                                        <p:tgtEl>
                                          <p:spTgt spid="645122">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45122">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45122">
                                            <p:txEl>
                                              <p:pRg st="8" end="8"/>
                                            </p:txEl>
                                          </p:spTgt>
                                        </p:tgtEl>
                                        <p:attrNameLst>
                                          <p:attrName>style.visibility</p:attrName>
                                        </p:attrNameLst>
                                      </p:cBhvr>
                                      <p:to>
                                        <p:strVal val="visible"/>
                                      </p:to>
                                    </p:set>
                                    <p:anim calcmode="lin" valueType="num">
                                      <p:cBhvr additive="base">
                                        <p:cTn id="11" dur="500" fill="hold"/>
                                        <p:tgtEl>
                                          <p:spTgt spid="645122">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45122">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45122">
                                            <p:txEl>
                                              <p:pRg st="9" end="9"/>
                                            </p:txEl>
                                          </p:spTgt>
                                        </p:tgtEl>
                                        <p:attrNameLst>
                                          <p:attrName>style.visibility</p:attrName>
                                        </p:attrNameLst>
                                      </p:cBhvr>
                                      <p:to>
                                        <p:strVal val="visible"/>
                                      </p:to>
                                    </p:set>
                                    <p:anim calcmode="lin" valueType="num">
                                      <p:cBhvr additive="base">
                                        <p:cTn id="15" dur="500" fill="hold"/>
                                        <p:tgtEl>
                                          <p:spTgt spid="645122">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45122">
                                            <p:txEl>
                                              <p:pRg st="9" end="9"/>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45122">
                                            <p:txEl>
                                              <p:pRg st="10" end="10"/>
                                            </p:txEl>
                                          </p:spTgt>
                                        </p:tgtEl>
                                        <p:attrNameLst>
                                          <p:attrName>style.visibility</p:attrName>
                                        </p:attrNameLst>
                                      </p:cBhvr>
                                      <p:to>
                                        <p:strVal val="visible"/>
                                      </p:to>
                                    </p:set>
                                    <p:anim calcmode="lin" valueType="num">
                                      <p:cBhvr additive="base">
                                        <p:cTn id="19" dur="500" fill="hold"/>
                                        <p:tgtEl>
                                          <p:spTgt spid="645122">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45122">
                                            <p:txEl>
                                              <p:pRg st="10" end="1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45122">
                                            <p:txEl>
                                              <p:pRg st="11" end="11"/>
                                            </p:txEl>
                                          </p:spTgt>
                                        </p:tgtEl>
                                        <p:attrNameLst>
                                          <p:attrName>style.visibility</p:attrName>
                                        </p:attrNameLst>
                                      </p:cBhvr>
                                      <p:to>
                                        <p:strVal val="visible"/>
                                      </p:to>
                                    </p:set>
                                    <p:anim calcmode="lin" valueType="num">
                                      <p:cBhvr additive="base">
                                        <p:cTn id="23" dur="500" fill="hold"/>
                                        <p:tgtEl>
                                          <p:spTgt spid="645122">
                                            <p:txEl>
                                              <p:pRg st="11" end="1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45122">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146" name="Rectangle 2"/>
          <p:cNvSpPr>
            <a:spLocks noGrp="1" noChangeArrowheads="1"/>
          </p:cNvSpPr>
          <p:nvPr>
            <p:ph type="body" sz="half" idx="1"/>
          </p:nvPr>
        </p:nvSpPr>
        <p:spPr>
          <a:xfrm>
            <a:off x="611188" y="333375"/>
            <a:ext cx="8096250" cy="6264275"/>
          </a:xfrm>
        </p:spPr>
        <p:txBody>
          <a:bodyPr/>
          <a:lstStyle/>
          <a:p>
            <a:pPr marL="0" indent="0" eaLnBrk="1" hangingPunct="1">
              <a:buFont typeface="Monotype Sorts" pitchFamily="2" charset="2"/>
              <a:buNone/>
              <a:defRPr/>
            </a:pPr>
            <a:r>
              <a:rPr lang="en-US" altLang="zh-CN" sz="2000" dirty="0"/>
              <a:t> </a:t>
            </a:r>
            <a:r>
              <a:rPr lang="en-US" altLang="zh-CN" sz="2000" b="1" dirty="0"/>
              <a:t>for (; ;)	/* </a:t>
            </a:r>
            <a:r>
              <a:rPr lang="zh-CN" altLang="en-US" sz="2000" b="1" dirty="0"/>
              <a:t>输入月份，并检查是否在</a:t>
            </a:r>
            <a:r>
              <a:rPr lang="en-US" altLang="zh-CN" sz="2000" b="1" dirty="0"/>
              <a:t>1</a:t>
            </a:r>
            <a:r>
              <a:rPr lang="zh-CN" altLang="en-US" sz="2000" b="1" dirty="0"/>
              <a:t>～</a:t>
            </a:r>
            <a:r>
              <a:rPr lang="en-US" altLang="zh-CN" sz="2000" b="1" dirty="0"/>
              <a:t>12</a:t>
            </a:r>
            <a:r>
              <a:rPr lang="zh-CN" altLang="en-US" sz="2000" b="1" dirty="0"/>
              <a:t>之间 *</a:t>
            </a:r>
            <a:r>
              <a:rPr lang="en-US" altLang="zh-CN" sz="2000" b="1" dirty="0"/>
              <a:t>/</a:t>
            </a:r>
          </a:p>
          <a:p>
            <a:pPr marL="0" indent="0" eaLnBrk="1" hangingPunct="1">
              <a:buFont typeface="Monotype Sorts" pitchFamily="2" charset="2"/>
              <a:buNone/>
              <a:defRPr/>
            </a:pPr>
            <a:r>
              <a:rPr lang="en-US" altLang="zh-CN" sz="2000" b="1" dirty="0"/>
              <a:t>  {  </a:t>
            </a:r>
            <a:r>
              <a:rPr lang="en-US" altLang="zh-CN" sz="2000" b="1" dirty="0" err="1"/>
              <a:t>printf</a:t>
            </a:r>
            <a:r>
              <a:rPr lang="en-US" altLang="zh-CN" sz="2000" b="1" dirty="0"/>
              <a:t>("Month = ");   </a:t>
            </a:r>
            <a:r>
              <a:rPr lang="en-US" altLang="zh-CN" sz="2000" b="1" dirty="0" err="1"/>
              <a:t>scanf</a:t>
            </a:r>
            <a:r>
              <a:rPr lang="en-US" altLang="zh-CN" sz="2000" b="1" dirty="0"/>
              <a:t>("%d”, &amp;</a:t>
            </a:r>
            <a:r>
              <a:rPr lang="en-US" altLang="zh-CN" sz="2000" b="1" dirty="0" err="1"/>
              <a:t>date.month</a:t>
            </a:r>
            <a:r>
              <a:rPr lang="en-US" altLang="zh-CN" sz="2000" b="1" dirty="0"/>
              <a:t>);</a:t>
            </a:r>
          </a:p>
          <a:p>
            <a:pPr marL="0" indent="0" eaLnBrk="1" hangingPunct="1">
              <a:buFont typeface="Monotype Sorts" pitchFamily="2" charset="2"/>
              <a:buNone/>
              <a:defRPr/>
            </a:pPr>
            <a:r>
              <a:rPr lang="en-US" altLang="zh-CN" sz="2000" b="1" dirty="0"/>
              <a:t>     if (</a:t>
            </a:r>
            <a:r>
              <a:rPr lang="en-US" altLang="zh-CN" sz="2000" b="1" dirty="0" err="1">
                <a:solidFill>
                  <a:srgbClr val="FF0000"/>
                </a:solidFill>
              </a:rPr>
              <a:t>date.month</a:t>
            </a:r>
            <a:r>
              <a:rPr lang="en-US" altLang="zh-CN" sz="2000" b="1" dirty="0">
                <a:solidFill>
                  <a:srgbClr val="FF0000"/>
                </a:solidFill>
              </a:rPr>
              <a:t> &gt;= 1 &amp;&amp; </a:t>
            </a:r>
            <a:r>
              <a:rPr lang="en-US" altLang="zh-CN" sz="2000" b="1" dirty="0" err="1">
                <a:solidFill>
                  <a:srgbClr val="FF0000"/>
                </a:solidFill>
              </a:rPr>
              <a:t>date.month</a:t>
            </a:r>
            <a:r>
              <a:rPr lang="en-US" altLang="zh-CN" sz="2000" b="1" dirty="0">
                <a:solidFill>
                  <a:srgbClr val="FF0000"/>
                </a:solidFill>
              </a:rPr>
              <a:t> &lt;= 12</a:t>
            </a:r>
            <a:r>
              <a:rPr lang="en-US" altLang="zh-CN" sz="2000" b="1" dirty="0"/>
              <a:t>) break; </a:t>
            </a:r>
          </a:p>
          <a:p>
            <a:pPr marL="0" indent="0" eaLnBrk="1" hangingPunct="1">
              <a:buFont typeface="Monotype Sorts" pitchFamily="2" charset="2"/>
              <a:buNone/>
              <a:defRPr/>
            </a:pPr>
            <a:r>
              <a:rPr lang="en-US" altLang="zh-CN" sz="2000" b="1" dirty="0"/>
              <a:t>     </a:t>
            </a:r>
            <a:r>
              <a:rPr lang="en-US" altLang="zh-CN" sz="2000" b="1" dirty="0" err="1"/>
              <a:t>printf</a:t>
            </a:r>
            <a:r>
              <a:rPr lang="en-US" altLang="zh-CN" sz="2000" b="1" dirty="0"/>
              <a:t>("</a:t>
            </a:r>
            <a:r>
              <a:rPr lang="zh-CN" altLang="en-US" sz="2000" b="1" dirty="0"/>
              <a:t>输入的月份必须在 </a:t>
            </a:r>
            <a:r>
              <a:rPr lang="en-US" altLang="zh-CN" sz="2000" b="1" dirty="0"/>
              <a:t>1 </a:t>
            </a:r>
            <a:r>
              <a:rPr lang="zh-CN" altLang="en-US" sz="2000" b="1" dirty="0"/>
              <a:t>到 </a:t>
            </a:r>
            <a:r>
              <a:rPr lang="en-US" altLang="zh-CN" sz="2000" b="1" dirty="0"/>
              <a:t>12 </a:t>
            </a:r>
            <a:r>
              <a:rPr lang="zh-CN" altLang="en-US" sz="2000" b="1" dirty="0"/>
              <a:t>之间</a:t>
            </a:r>
            <a:r>
              <a:rPr lang="en-US" altLang="zh-CN" sz="2000" b="1" dirty="0"/>
              <a:t>\n" );</a:t>
            </a:r>
          </a:p>
          <a:p>
            <a:pPr marL="0" indent="0" eaLnBrk="1" hangingPunct="1">
              <a:buFont typeface="Monotype Sorts" pitchFamily="2" charset="2"/>
              <a:buNone/>
              <a:defRPr/>
            </a:pPr>
            <a:r>
              <a:rPr lang="en-US" altLang="zh-CN" sz="2000" b="1" dirty="0"/>
              <a:t>  }</a:t>
            </a:r>
          </a:p>
          <a:p>
            <a:pPr marL="0" indent="0" eaLnBrk="1" hangingPunct="1">
              <a:buFont typeface="Monotype Sorts" pitchFamily="2" charset="2"/>
              <a:buNone/>
              <a:defRPr/>
            </a:pPr>
            <a:r>
              <a:rPr lang="en-US" altLang="zh-CN" sz="2000" b="1" dirty="0"/>
              <a:t>/* leap=1</a:t>
            </a:r>
            <a:r>
              <a:rPr lang="zh-CN" altLang="en-US" sz="2000" b="1" dirty="0"/>
              <a:t>是闰年，</a:t>
            </a:r>
            <a:r>
              <a:rPr lang="en-US" altLang="zh-CN" sz="2000" b="1" dirty="0"/>
              <a:t>leap=0 </a:t>
            </a:r>
            <a:r>
              <a:rPr lang="zh-CN" altLang="en-US" sz="2000" b="1" dirty="0"/>
              <a:t>不是闰年 *</a:t>
            </a:r>
            <a:r>
              <a:rPr lang="en-US" altLang="zh-CN" sz="2000" b="1" dirty="0"/>
              <a:t>/</a:t>
            </a:r>
          </a:p>
          <a:p>
            <a:pPr marL="0" indent="0" eaLnBrk="1" hangingPunct="1">
              <a:buFont typeface="Monotype Sorts" pitchFamily="2" charset="2"/>
              <a:buNone/>
              <a:defRPr/>
            </a:pPr>
            <a:r>
              <a:rPr lang="en-US" altLang="zh-CN" sz="2000" b="1" dirty="0"/>
              <a:t>  leap = (date.year%4 == 0&amp;&amp;date.year%100)||date.year%400==0;</a:t>
            </a:r>
          </a:p>
          <a:p>
            <a:pPr marL="0" indent="0" eaLnBrk="1" hangingPunct="1">
              <a:buFont typeface="Monotype Sorts" pitchFamily="2" charset="2"/>
              <a:buNone/>
              <a:defRPr/>
            </a:pPr>
            <a:r>
              <a:rPr lang="en-US" altLang="zh-CN" sz="2000" b="1" dirty="0"/>
              <a:t>  </a:t>
            </a:r>
            <a:r>
              <a:rPr lang="en-US" altLang="zh-CN" sz="2000" b="1" dirty="0">
                <a:solidFill>
                  <a:srgbClr val="FF0000"/>
                </a:solidFill>
              </a:rPr>
              <a:t>days = </a:t>
            </a:r>
            <a:r>
              <a:rPr lang="en-US" altLang="zh-CN" sz="2000" b="1" dirty="0" err="1">
                <a:solidFill>
                  <a:srgbClr val="FF0000"/>
                </a:solidFill>
              </a:rPr>
              <a:t>dayTable</a:t>
            </a:r>
            <a:r>
              <a:rPr lang="en-US" altLang="zh-CN" sz="2000" b="1" dirty="0">
                <a:solidFill>
                  <a:srgbClr val="FF0000"/>
                </a:solidFill>
              </a:rPr>
              <a:t>[leap][date.month-1];</a:t>
            </a:r>
          </a:p>
          <a:p>
            <a:pPr marL="0" indent="0" eaLnBrk="1" hangingPunct="1">
              <a:buFont typeface="Monotype Sorts" pitchFamily="2" charset="2"/>
              <a:buNone/>
              <a:defRPr/>
            </a:pPr>
            <a:r>
              <a:rPr lang="en-US" altLang="zh-CN" sz="2000" b="1" dirty="0"/>
              <a:t>  for (; ;)	/* </a:t>
            </a:r>
            <a:r>
              <a:rPr lang="zh-CN" altLang="en-US" sz="2000" b="1" dirty="0"/>
              <a:t>输入日期，并检查是否输入正确 *</a:t>
            </a:r>
            <a:r>
              <a:rPr lang="en-US" altLang="zh-CN" sz="2000" b="1" dirty="0"/>
              <a:t>/</a:t>
            </a:r>
          </a:p>
          <a:p>
            <a:pPr marL="0" indent="0" eaLnBrk="1" hangingPunct="1">
              <a:buFont typeface="Monotype Sorts" pitchFamily="2" charset="2"/>
              <a:buNone/>
              <a:defRPr/>
            </a:pPr>
            <a:r>
              <a:rPr lang="en-US" altLang="zh-CN" sz="2000" b="1" dirty="0"/>
              <a:t>  {  </a:t>
            </a:r>
            <a:r>
              <a:rPr lang="en-US" altLang="zh-CN" sz="2000" b="1" dirty="0" err="1"/>
              <a:t>printf</a:t>
            </a:r>
            <a:r>
              <a:rPr lang="en-US" altLang="zh-CN" sz="2000" b="1" dirty="0"/>
              <a:t>("Day = ");      </a:t>
            </a:r>
            <a:r>
              <a:rPr lang="en-US" altLang="zh-CN" sz="2000" b="1" dirty="0" err="1"/>
              <a:t>scanf</a:t>
            </a:r>
            <a:r>
              <a:rPr lang="en-US" altLang="zh-CN" sz="2000" b="1" dirty="0"/>
              <a:t>("%d”, &amp;</a:t>
            </a:r>
            <a:r>
              <a:rPr lang="en-US" altLang="zh-CN" sz="2000" b="1" dirty="0" err="1"/>
              <a:t>date.day</a:t>
            </a:r>
            <a:r>
              <a:rPr lang="en-US" altLang="zh-CN" sz="2000" b="1" dirty="0"/>
              <a:t>);</a:t>
            </a:r>
          </a:p>
          <a:p>
            <a:pPr marL="0" indent="0" eaLnBrk="1" hangingPunct="1">
              <a:buFont typeface="Monotype Sorts" pitchFamily="2" charset="2"/>
              <a:buNone/>
              <a:defRPr/>
            </a:pPr>
            <a:r>
              <a:rPr lang="en-US" altLang="zh-CN" sz="2000" b="1" dirty="0"/>
              <a:t>     if (</a:t>
            </a:r>
            <a:r>
              <a:rPr lang="en-US" altLang="zh-CN" sz="2000" b="1" dirty="0" err="1">
                <a:solidFill>
                  <a:srgbClr val="FF0000"/>
                </a:solidFill>
              </a:rPr>
              <a:t>date.day</a:t>
            </a:r>
            <a:r>
              <a:rPr lang="en-US" altLang="zh-CN" sz="2000" b="1" dirty="0">
                <a:solidFill>
                  <a:srgbClr val="FF0000"/>
                </a:solidFill>
              </a:rPr>
              <a:t> &gt;= 1 &amp;&amp; </a:t>
            </a:r>
            <a:r>
              <a:rPr lang="en-US" altLang="zh-CN" sz="2000" b="1" dirty="0" err="1">
                <a:solidFill>
                  <a:srgbClr val="FF0000"/>
                </a:solidFill>
              </a:rPr>
              <a:t>date.day</a:t>
            </a:r>
            <a:r>
              <a:rPr lang="en-US" altLang="zh-CN" sz="2000" b="1" dirty="0">
                <a:solidFill>
                  <a:srgbClr val="FF0000"/>
                </a:solidFill>
              </a:rPr>
              <a:t> &lt;= days</a:t>
            </a:r>
            <a:r>
              <a:rPr lang="en-US" altLang="zh-CN" sz="2000" b="1" dirty="0"/>
              <a:t>) break; </a:t>
            </a:r>
          </a:p>
          <a:p>
            <a:pPr marL="0" indent="0" eaLnBrk="1" hangingPunct="1">
              <a:buFont typeface="Monotype Sorts" pitchFamily="2" charset="2"/>
              <a:buNone/>
              <a:defRPr/>
            </a:pPr>
            <a:r>
              <a:rPr lang="en-US" altLang="zh-CN" sz="2000" b="1" dirty="0"/>
              <a:t>     </a:t>
            </a:r>
            <a:r>
              <a:rPr lang="en-US" altLang="zh-CN" sz="2000" b="1" dirty="0" err="1"/>
              <a:t>printf</a:t>
            </a:r>
            <a:r>
              <a:rPr lang="en-US" altLang="zh-CN" sz="2000" b="1" dirty="0"/>
              <a:t>("</a:t>
            </a:r>
            <a:r>
              <a:rPr lang="zh-CN" altLang="en-US" sz="2000" b="1" dirty="0"/>
              <a:t>输入的天必须在 </a:t>
            </a:r>
            <a:r>
              <a:rPr lang="en-US" altLang="zh-CN" sz="2000" b="1" dirty="0"/>
              <a:t>1 </a:t>
            </a:r>
            <a:r>
              <a:rPr lang="zh-CN" altLang="en-US" sz="2000" b="1" dirty="0"/>
              <a:t>到 </a:t>
            </a:r>
            <a:r>
              <a:rPr lang="en-US" altLang="zh-CN" sz="2000" b="1" dirty="0"/>
              <a:t>%d </a:t>
            </a:r>
            <a:r>
              <a:rPr lang="zh-CN" altLang="en-US" sz="2000" b="1" dirty="0"/>
              <a:t>之间</a:t>
            </a:r>
            <a:r>
              <a:rPr lang="en-US" altLang="zh-CN" sz="2000" b="1" dirty="0"/>
              <a:t>\</a:t>
            </a:r>
            <a:r>
              <a:rPr lang="en-US" altLang="zh-CN" sz="2000" b="1" dirty="0" err="1"/>
              <a:t>n",days</a:t>
            </a:r>
            <a:r>
              <a:rPr lang="en-US" altLang="zh-CN" sz="2000" b="1" dirty="0"/>
              <a:t>);</a:t>
            </a:r>
          </a:p>
          <a:p>
            <a:pPr marL="0" indent="0" eaLnBrk="1" hangingPunct="1">
              <a:buFont typeface="Monotype Sorts" pitchFamily="2" charset="2"/>
              <a:buNone/>
              <a:defRPr/>
            </a:pPr>
            <a:r>
              <a:rPr lang="en-US" altLang="zh-CN" sz="2000" b="1" dirty="0"/>
              <a:t>  }</a:t>
            </a:r>
          </a:p>
          <a:p>
            <a:pPr marL="0" indent="0" eaLnBrk="1" hangingPunct="1">
              <a:buFont typeface="Monotype Sorts" pitchFamily="2" charset="2"/>
              <a:buNone/>
              <a:defRPr/>
            </a:pPr>
            <a:r>
              <a:rPr lang="en-US" altLang="zh-CN" sz="2000" b="1" dirty="0"/>
              <a:t>/* </a:t>
            </a:r>
            <a:r>
              <a:rPr lang="zh-CN" altLang="en-US" sz="2000" b="1" dirty="0"/>
              <a:t>调用</a:t>
            </a:r>
            <a:r>
              <a:rPr lang="en-US" altLang="zh-CN" sz="2000" b="1" dirty="0" err="1"/>
              <a:t>dateofYear</a:t>
            </a:r>
            <a:r>
              <a:rPr lang="zh-CN" altLang="en-US" sz="2000" b="1" dirty="0"/>
              <a:t>函数，实参为结构</a:t>
            </a:r>
            <a:r>
              <a:rPr lang="en-US" altLang="zh-CN" sz="2000" b="1" dirty="0"/>
              <a:t>date</a:t>
            </a:r>
            <a:r>
              <a:rPr lang="zh-CN" altLang="en-US" sz="2000" b="1" dirty="0"/>
              <a:t>的</a:t>
            </a:r>
            <a:r>
              <a:rPr lang="en-US" altLang="zh-CN" sz="2000" b="1" dirty="0"/>
              <a:t>3</a:t>
            </a:r>
            <a:r>
              <a:rPr lang="zh-CN" altLang="en-US" sz="2000" b="1" dirty="0"/>
              <a:t>个成员 *</a:t>
            </a:r>
            <a:r>
              <a:rPr lang="en-US" altLang="zh-CN" sz="2000" b="1" dirty="0"/>
              <a:t>/</a:t>
            </a:r>
          </a:p>
          <a:p>
            <a:pPr marL="0" indent="0" eaLnBrk="1" hangingPunct="1">
              <a:buFont typeface="Monotype Sorts" pitchFamily="2" charset="2"/>
              <a:buNone/>
              <a:defRPr/>
            </a:pPr>
            <a:r>
              <a:rPr lang="en-US" altLang="zh-CN" sz="2000" b="1" dirty="0"/>
              <a:t>  </a:t>
            </a:r>
            <a:r>
              <a:rPr lang="en-US" altLang="zh-CN" sz="2000" b="1" dirty="0" err="1"/>
              <a:t>date.yearDay</a:t>
            </a:r>
            <a:r>
              <a:rPr lang="en-US" altLang="zh-CN" sz="2000" b="1" dirty="0"/>
              <a:t> = </a:t>
            </a:r>
            <a:r>
              <a:rPr lang="en-US" altLang="zh-CN" sz="2000" b="1" dirty="0" err="1"/>
              <a:t>dayofYear</a:t>
            </a:r>
            <a:r>
              <a:rPr lang="en-US" altLang="zh-CN" sz="2000" b="1" dirty="0"/>
              <a:t>(</a:t>
            </a:r>
            <a:r>
              <a:rPr lang="en-US" altLang="zh-CN" sz="2000" b="1" dirty="0" err="1"/>
              <a:t>date.day</a:t>
            </a:r>
            <a:r>
              <a:rPr lang="en-US" altLang="zh-CN" sz="2000" b="1" dirty="0"/>
              <a:t>, </a:t>
            </a:r>
            <a:r>
              <a:rPr lang="en-US" altLang="zh-CN" sz="2000" b="1" dirty="0" err="1"/>
              <a:t>date.month</a:t>
            </a:r>
            <a:r>
              <a:rPr lang="en-US" altLang="zh-CN" sz="2000" b="1" dirty="0"/>
              <a:t>, </a:t>
            </a:r>
            <a:r>
              <a:rPr lang="en-US" altLang="zh-CN" sz="2000" b="1" dirty="0" err="1"/>
              <a:t>date.year</a:t>
            </a:r>
            <a:r>
              <a:rPr lang="en-US" altLang="zh-CN" sz="2000" b="1" dirty="0"/>
              <a:t>);</a:t>
            </a:r>
          </a:p>
          <a:p>
            <a:pPr marL="0" indent="0" eaLnBrk="1" hangingPunct="1">
              <a:buFont typeface="Monotype Sorts" pitchFamily="2" charset="2"/>
              <a:buNone/>
              <a:defRPr/>
            </a:pPr>
            <a:r>
              <a:rPr lang="en-US" altLang="zh-CN" sz="2000" b="1" dirty="0"/>
              <a:t>  </a:t>
            </a:r>
            <a:r>
              <a:rPr lang="en-US" altLang="zh-CN" sz="2000" b="1" dirty="0" err="1"/>
              <a:t>printf</a:t>
            </a:r>
            <a:r>
              <a:rPr lang="en-US" altLang="zh-CN" sz="2000" b="1" dirty="0"/>
              <a:t>("The days of the year are: %d\</a:t>
            </a:r>
            <a:r>
              <a:rPr lang="en-US" altLang="zh-CN" sz="2000" b="1" dirty="0" err="1"/>
              <a:t>n",date.yearDay</a:t>
            </a:r>
            <a:r>
              <a:rPr lang="en-US" altLang="zh-CN" sz="2000" b="1" dirty="0"/>
              <a:t>);</a:t>
            </a:r>
          </a:p>
          <a:p>
            <a:pPr marL="0" indent="0" eaLnBrk="1" hangingPunct="1">
              <a:buFont typeface="Monotype Sorts" pitchFamily="2" charset="2"/>
              <a:buNone/>
              <a:defRPr/>
            </a:pPr>
            <a:r>
              <a:rPr lang="en-US" altLang="zh-CN" sz="2000" b="1" dirty="0"/>
              <a:t>}</a:t>
            </a:r>
          </a:p>
        </p:txBody>
      </p:sp>
      <p:sp>
        <p:nvSpPr>
          <p:cNvPr id="5" name="灯片编号占位符 6"/>
          <p:cNvSpPr>
            <a:spLocks noGrp="1"/>
          </p:cNvSpPr>
          <p:nvPr>
            <p:ph type="sldNum" sz="quarter" idx="12"/>
          </p:nvPr>
        </p:nvSpPr>
        <p:spPr/>
        <p:txBody>
          <a:bodyPr/>
          <a:lstStyle/>
          <a:p>
            <a:pPr>
              <a:defRPr/>
            </a:pPr>
            <a:fld id="{9C6CDA23-EBA5-4AD7-BCC1-114756E5B2FE}" type="slidenum">
              <a:rPr lang="en-US" altLang="zh-CN"/>
              <a:pPr>
                <a:defRPr/>
              </a:pPr>
              <a:t>35</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46146">
                                            <p:txEl>
                                              <p:pRg st="0" end="0"/>
                                            </p:txEl>
                                          </p:spTgt>
                                        </p:tgtEl>
                                        <p:attrNameLst>
                                          <p:attrName>style.visibility</p:attrName>
                                        </p:attrNameLst>
                                      </p:cBhvr>
                                      <p:to>
                                        <p:strVal val="visible"/>
                                      </p:to>
                                    </p:set>
                                    <p:anim calcmode="lin" valueType="num">
                                      <p:cBhvr additive="base">
                                        <p:cTn id="7" dur="500" fill="hold"/>
                                        <p:tgtEl>
                                          <p:spTgt spid="64614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4614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46146">
                                            <p:txEl>
                                              <p:pRg st="1" end="1"/>
                                            </p:txEl>
                                          </p:spTgt>
                                        </p:tgtEl>
                                        <p:attrNameLst>
                                          <p:attrName>style.visibility</p:attrName>
                                        </p:attrNameLst>
                                      </p:cBhvr>
                                      <p:to>
                                        <p:strVal val="visible"/>
                                      </p:to>
                                    </p:set>
                                    <p:anim calcmode="lin" valueType="num">
                                      <p:cBhvr additive="base">
                                        <p:cTn id="11" dur="500" fill="hold"/>
                                        <p:tgtEl>
                                          <p:spTgt spid="64614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4614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46146">
                                            <p:txEl>
                                              <p:pRg st="2" end="2"/>
                                            </p:txEl>
                                          </p:spTgt>
                                        </p:tgtEl>
                                        <p:attrNameLst>
                                          <p:attrName>style.visibility</p:attrName>
                                        </p:attrNameLst>
                                      </p:cBhvr>
                                      <p:to>
                                        <p:strVal val="visible"/>
                                      </p:to>
                                    </p:set>
                                    <p:anim calcmode="lin" valueType="num">
                                      <p:cBhvr additive="base">
                                        <p:cTn id="15" dur="500" fill="hold"/>
                                        <p:tgtEl>
                                          <p:spTgt spid="64614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46146">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46146">
                                            <p:txEl>
                                              <p:pRg st="3" end="3"/>
                                            </p:txEl>
                                          </p:spTgt>
                                        </p:tgtEl>
                                        <p:attrNameLst>
                                          <p:attrName>style.visibility</p:attrName>
                                        </p:attrNameLst>
                                      </p:cBhvr>
                                      <p:to>
                                        <p:strVal val="visible"/>
                                      </p:to>
                                    </p:set>
                                    <p:anim calcmode="lin" valueType="num">
                                      <p:cBhvr additive="base">
                                        <p:cTn id="19" dur="500" fill="hold"/>
                                        <p:tgtEl>
                                          <p:spTgt spid="64614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46146">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46146">
                                            <p:txEl>
                                              <p:pRg st="4" end="4"/>
                                            </p:txEl>
                                          </p:spTgt>
                                        </p:tgtEl>
                                        <p:attrNameLst>
                                          <p:attrName>style.visibility</p:attrName>
                                        </p:attrNameLst>
                                      </p:cBhvr>
                                      <p:to>
                                        <p:strVal val="visible"/>
                                      </p:to>
                                    </p:set>
                                    <p:anim calcmode="lin" valueType="num">
                                      <p:cBhvr additive="base">
                                        <p:cTn id="23" dur="500" fill="hold"/>
                                        <p:tgtEl>
                                          <p:spTgt spid="646146">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4614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646146">
                                            <p:txEl>
                                              <p:pRg st="5" end="5"/>
                                            </p:txEl>
                                          </p:spTgt>
                                        </p:tgtEl>
                                        <p:attrNameLst>
                                          <p:attrName>style.visibility</p:attrName>
                                        </p:attrNameLst>
                                      </p:cBhvr>
                                      <p:to>
                                        <p:strVal val="visible"/>
                                      </p:to>
                                    </p:set>
                                    <p:anim calcmode="lin" valueType="num">
                                      <p:cBhvr additive="base">
                                        <p:cTn id="29" dur="500" fill="hold"/>
                                        <p:tgtEl>
                                          <p:spTgt spid="646146">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46146">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646146">
                                            <p:txEl>
                                              <p:pRg st="6" end="6"/>
                                            </p:txEl>
                                          </p:spTgt>
                                        </p:tgtEl>
                                        <p:attrNameLst>
                                          <p:attrName>style.visibility</p:attrName>
                                        </p:attrNameLst>
                                      </p:cBhvr>
                                      <p:to>
                                        <p:strVal val="visible"/>
                                      </p:to>
                                    </p:set>
                                    <p:anim calcmode="lin" valueType="num">
                                      <p:cBhvr additive="base">
                                        <p:cTn id="33" dur="500" fill="hold"/>
                                        <p:tgtEl>
                                          <p:spTgt spid="646146">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646146">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646146">
                                            <p:txEl>
                                              <p:pRg st="7" end="7"/>
                                            </p:txEl>
                                          </p:spTgt>
                                        </p:tgtEl>
                                        <p:attrNameLst>
                                          <p:attrName>style.visibility</p:attrName>
                                        </p:attrNameLst>
                                      </p:cBhvr>
                                      <p:to>
                                        <p:strVal val="visible"/>
                                      </p:to>
                                    </p:set>
                                    <p:anim calcmode="lin" valueType="num">
                                      <p:cBhvr additive="base">
                                        <p:cTn id="37" dur="500" fill="hold"/>
                                        <p:tgtEl>
                                          <p:spTgt spid="646146">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4614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646146">
                                            <p:txEl>
                                              <p:pRg st="8" end="8"/>
                                            </p:txEl>
                                          </p:spTgt>
                                        </p:tgtEl>
                                        <p:attrNameLst>
                                          <p:attrName>style.visibility</p:attrName>
                                        </p:attrNameLst>
                                      </p:cBhvr>
                                      <p:to>
                                        <p:strVal val="visible"/>
                                      </p:to>
                                    </p:set>
                                    <p:anim calcmode="lin" valueType="num">
                                      <p:cBhvr additive="base">
                                        <p:cTn id="43" dur="500" fill="hold"/>
                                        <p:tgtEl>
                                          <p:spTgt spid="646146">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46146">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646146">
                                            <p:txEl>
                                              <p:pRg st="9" end="9"/>
                                            </p:txEl>
                                          </p:spTgt>
                                        </p:tgtEl>
                                        <p:attrNameLst>
                                          <p:attrName>style.visibility</p:attrName>
                                        </p:attrNameLst>
                                      </p:cBhvr>
                                      <p:to>
                                        <p:strVal val="visible"/>
                                      </p:to>
                                    </p:set>
                                    <p:anim calcmode="lin" valueType="num">
                                      <p:cBhvr additive="base">
                                        <p:cTn id="47" dur="500" fill="hold"/>
                                        <p:tgtEl>
                                          <p:spTgt spid="646146">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646146">
                                            <p:txEl>
                                              <p:pRg st="9" end="9"/>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646146">
                                            <p:txEl>
                                              <p:pRg st="10" end="10"/>
                                            </p:txEl>
                                          </p:spTgt>
                                        </p:tgtEl>
                                        <p:attrNameLst>
                                          <p:attrName>style.visibility</p:attrName>
                                        </p:attrNameLst>
                                      </p:cBhvr>
                                      <p:to>
                                        <p:strVal val="visible"/>
                                      </p:to>
                                    </p:set>
                                    <p:anim calcmode="lin" valueType="num">
                                      <p:cBhvr additive="base">
                                        <p:cTn id="51" dur="500" fill="hold"/>
                                        <p:tgtEl>
                                          <p:spTgt spid="646146">
                                            <p:txEl>
                                              <p:pRg st="10" end="1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646146">
                                            <p:txEl>
                                              <p:pRg st="10" end="10"/>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646146">
                                            <p:txEl>
                                              <p:pRg st="11" end="11"/>
                                            </p:txEl>
                                          </p:spTgt>
                                        </p:tgtEl>
                                        <p:attrNameLst>
                                          <p:attrName>style.visibility</p:attrName>
                                        </p:attrNameLst>
                                      </p:cBhvr>
                                      <p:to>
                                        <p:strVal val="visible"/>
                                      </p:to>
                                    </p:set>
                                    <p:anim calcmode="lin" valueType="num">
                                      <p:cBhvr additive="base">
                                        <p:cTn id="55" dur="500" fill="hold"/>
                                        <p:tgtEl>
                                          <p:spTgt spid="646146">
                                            <p:txEl>
                                              <p:pRg st="11" end="1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646146">
                                            <p:txEl>
                                              <p:pRg st="11" end="11"/>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646146">
                                            <p:txEl>
                                              <p:pRg st="12" end="12"/>
                                            </p:txEl>
                                          </p:spTgt>
                                        </p:tgtEl>
                                        <p:attrNameLst>
                                          <p:attrName>style.visibility</p:attrName>
                                        </p:attrNameLst>
                                      </p:cBhvr>
                                      <p:to>
                                        <p:strVal val="visible"/>
                                      </p:to>
                                    </p:set>
                                    <p:anim calcmode="lin" valueType="num">
                                      <p:cBhvr additive="base">
                                        <p:cTn id="59" dur="500" fill="hold"/>
                                        <p:tgtEl>
                                          <p:spTgt spid="646146">
                                            <p:txEl>
                                              <p:pRg st="12" end="12"/>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646146">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646146">
                                            <p:txEl>
                                              <p:pRg st="13" end="13"/>
                                            </p:txEl>
                                          </p:spTgt>
                                        </p:tgtEl>
                                        <p:attrNameLst>
                                          <p:attrName>style.visibility</p:attrName>
                                        </p:attrNameLst>
                                      </p:cBhvr>
                                      <p:to>
                                        <p:strVal val="visible"/>
                                      </p:to>
                                    </p:set>
                                    <p:anim calcmode="lin" valueType="num">
                                      <p:cBhvr additive="base">
                                        <p:cTn id="65" dur="500" fill="hold"/>
                                        <p:tgtEl>
                                          <p:spTgt spid="646146">
                                            <p:txEl>
                                              <p:pRg st="13" end="13"/>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646146">
                                            <p:txEl>
                                              <p:pRg st="13" end="13"/>
                                            </p:txEl>
                                          </p:spTgt>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646146">
                                            <p:txEl>
                                              <p:pRg st="14" end="14"/>
                                            </p:txEl>
                                          </p:spTgt>
                                        </p:tgtEl>
                                        <p:attrNameLst>
                                          <p:attrName>style.visibility</p:attrName>
                                        </p:attrNameLst>
                                      </p:cBhvr>
                                      <p:to>
                                        <p:strVal val="visible"/>
                                      </p:to>
                                    </p:set>
                                    <p:anim calcmode="lin" valueType="num">
                                      <p:cBhvr additive="base">
                                        <p:cTn id="69" dur="500" fill="hold"/>
                                        <p:tgtEl>
                                          <p:spTgt spid="646146">
                                            <p:txEl>
                                              <p:pRg st="14" end="14"/>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646146">
                                            <p:txEl>
                                              <p:pRg st="14" end="14"/>
                                            </p:txEl>
                                          </p:spTgt>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646146">
                                            <p:txEl>
                                              <p:pRg st="15" end="15"/>
                                            </p:txEl>
                                          </p:spTgt>
                                        </p:tgtEl>
                                        <p:attrNameLst>
                                          <p:attrName>style.visibility</p:attrName>
                                        </p:attrNameLst>
                                      </p:cBhvr>
                                      <p:to>
                                        <p:strVal val="visible"/>
                                      </p:to>
                                    </p:set>
                                    <p:anim calcmode="lin" valueType="num">
                                      <p:cBhvr additive="base">
                                        <p:cTn id="73" dur="500" fill="hold"/>
                                        <p:tgtEl>
                                          <p:spTgt spid="646146">
                                            <p:txEl>
                                              <p:pRg st="15" end="15"/>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646146">
                                            <p:txEl>
                                              <p:pRg st="15" end="15"/>
                                            </p:txEl>
                                          </p:spTgt>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646146">
                                            <p:txEl>
                                              <p:pRg st="16" end="16"/>
                                            </p:txEl>
                                          </p:spTgt>
                                        </p:tgtEl>
                                        <p:attrNameLst>
                                          <p:attrName>style.visibility</p:attrName>
                                        </p:attrNameLst>
                                      </p:cBhvr>
                                      <p:to>
                                        <p:strVal val="visible"/>
                                      </p:to>
                                    </p:set>
                                    <p:anim calcmode="lin" valueType="num">
                                      <p:cBhvr additive="base">
                                        <p:cTn id="77" dur="500" fill="hold"/>
                                        <p:tgtEl>
                                          <p:spTgt spid="646146">
                                            <p:txEl>
                                              <p:pRg st="16" end="16"/>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646146">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7170" name="Rectangle 2"/>
          <p:cNvSpPr>
            <a:spLocks noGrp="1" noChangeArrowheads="1"/>
          </p:cNvSpPr>
          <p:nvPr>
            <p:ph type="body" sz="half" idx="1"/>
          </p:nvPr>
        </p:nvSpPr>
        <p:spPr>
          <a:xfrm>
            <a:off x="611188" y="692150"/>
            <a:ext cx="8096250" cy="5257800"/>
          </a:xfrm>
        </p:spPr>
        <p:txBody>
          <a:bodyPr/>
          <a:lstStyle/>
          <a:p>
            <a:pPr marL="0" indent="0" eaLnBrk="1" hangingPunct="1">
              <a:buFont typeface="Monotype Sorts" pitchFamily="2" charset="2"/>
              <a:buNone/>
              <a:defRPr/>
            </a:pPr>
            <a:r>
              <a:rPr lang="zh-CN" altLang="en-US" b="1" dirty="0">
                <a:effectLst>
                  <a:outerShdw blurRad="38100" dist="38100" dir="2700000" algn="tl">
                    <a:srgbClr val="000000"/>
                  </a:outerShdw>
                </a:effectLst>
                <a:latin typeface="楷体_GB2312" pitchFamily="49" charset="-122"/>
                <a:ea typeface="楷体_GB2312" pitchFamily="49" charset="-122"/>
              </a:rPr>
              <a:t>在上述主函数中，调用</a:t>
            </a:r>
            <a:r>
              <a:rPr lang="en-US" altLang="zh-CN" b="1" dirty="0" err="1">
                <a:effectLst>
                  <a:outerShdw blurRad="38100" dist="38100" dir="2700000" algn="tl">
                    <a:srgbClr val="000000"/>
                  </a:outerShdw>
                </a:effectLst>
                <a:latin typeface="楷体_GB2312" pitchFamily="49" charset="-122"/>
                <a:ea typeface="楷体_GB2312" pitchFamily="49" charset="-122"/>
              </a:rPr>
              <a:t>dayofYear</a:t>
            </a:r>
            <a:r>
              <a:rPr lang="zh-CN" altLang="en-US" b="1" dirty="0">
                <a:effectLst>
                  <a:outerShdw blurRad="38100" dist="38100" dir="2700000" algn="tl">
                    <a:srgbClr val="000000"/>
                  </a:outerShdw>
                </a:effectLst>
                <a:latin typeface="楷体_GB2312" pitchFamily="49" charset="-122"/>
                <a:ea typeface="楷体_GB2312" pitchFamily="49" charset="-122"/>
              </a:rPr>
              <a:t>函数使用了</a:t>
            </a:r>
            <a:r>
              <a:rPr lang="en-US" altLang="zh-CN" b="1" dirty="0">
                <a:effectLst>
                  <a:outerShdw blurRad="38100" dist="38100" dir="2700000" algn="tl">
                    <a:srgbClr val="000000"/>
                  </a:outerShdw>
                </a:effectLst>
                <a:latin typeface="楷体_GB2312" pitchFamily="49" charset="-122"/>
                <a:ea typeface="楷体_GB2312" pitchFamily="49" charset="-122"/>
              </a:rPr>
              <a:t>date</a:t>
            </a:r>
            <a:r>
              <a:rPr lang="zh-CN" altLang="en-US" b="1" dirty="0">
                <a:effectLst>
                  <a:outerShdw blurRad="38100" dist="38100" dir="2700000" algn="tl">
                    <a:srgbClr val="000000"/>
                  </a:outerShdw>
                </a:effectLst>
                <a:latin typeface="楷体_GB2312" pitchFamily="49" charset="-122"/>
                <a:ea typeface="楷体_GB2312" pitchFamily="49" charset="-122"/>
              </a:rPr>
              <a:t>结构的</a:t>
            </a:r>
            <a:r>
              <a:rPr lang="en-US" altLang="zh-CN" b="1" dirty="0">
                <a:effectLst>
                  <a:outerShdw blurRad="38100" dist="38100" dir="2700000" algn="tl">
                    <a:srgbClr val="000000"/>
                  </a:outerShdw>
                </a:effectLst>
                <a:latin typeface="楷体_GB2312" pitchFamily="49" charset="-122"/>
                <a:ea typeface="楷体_GB2312" pitchFamily="49" charset="-122"/>
              </a:rPr>
              <a:t>3</a:t>
            </a:r>
            <a:r>
              <a:rPr lang="zh-CN" altLang="en-US" b="1" dirty="0">
                <a:effectLst>
                  <a:outerShdw blurRad="38100" dist="38100" dir="2700000" algn="tl">
                    <a:srgbClr val="000000"/>
                  </a:outerShdw>
                </a:effectLst>
                <a:latin typeface="楷体_GB2312" pitchFamily="49" charset="-122"/>
                <a:ea typeface="楷体_GB2312" pitchFamily="49" charset="-122"/>
              </a:rPr>
              <a:t>个成员</a:t>
            </a:r>
            <a:r>
              <a:rPr lang="en-US" altLang="zh-CN" b="1" dirty="0">
                <a:effectLst>
                  <a:outerShdw blurRad="38100" dist="38100" dir="2700000" algn="tl">
                    <a:srgbClr val="000000"/>
                  </a:outerShdw>
                </a:effectLst>
                <a:latin typeface="楷体_GB2312" pitchFamily="49" charset="-122"/>
                <a:ea typeface="楷体_GB2312" pitchFamily="49" charset="-122"/>
              </a:rPr>
              <a:t>:</a:t>
            </a:r>
          </a:p>
          <a:p>
            <a:pPr marL="0" indent="0" eaLnBrk="1" hangingPunct="1">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day  </a:t>
            </a:r>
            <a:r>
              <a:rPr lang="zh-CN" altLang="en-US" b="1" dirty="0">
                <a:effectLst>
                  <a:outerShdw blurRad="38100" dist="38100" dir="2700000" algn="tl">
                    <a:srgbClr val="000000"/>
                  </a:outerShdw>
                </a:effectLst>
                <a:latin typeface="楷体_GB2312" pitchFamily="49" charset="-122"/>
                <a:ea typeface="楷体_GB2312" pitchFamily="49" charset="-122"/>
              </a:rPr>
              <a:t> </a:t>
            </a:r>
            <a:r>
              <a:rPr lang="en-US" altLang="zh-CN" b="1" dirty="0">
                <a:effectLst>
                  <a:outerShdw blurRad="38100" dist="38100" dir="2700000" algn="tl">
                    <a:srgbClr val="000000"/>
                  </a:outerShdw>
                </a:effectLst>
                <a:latin typeface="楷体_GB2312" pitchFamily="49" charset="-122"/>
                <a:ea typeface="楷体_GB2312" pitchFamily="49" charset="-122"/>
              </a:rPr>
              <a:t>month   year</a:t>
            </a:r>
          </a:p>
          <a:p>
            <a:pPr marL="0" indent="0" eaLnBrk="1" hangingPunct="1">
              <a:buFont typeface="Monotype Sorts" pitchFamily="2" charset="2"/>
              <a:buNone/>
              <a:defRPr/>
            </a:pPr>
            <a:r>
              <a:rPr lang="zh-CN" altLang="en-US" b="1" dirty="0">
                <a:effectLst>
                  <a:outerShdw blurRad="38100" dist="38100" dir="2700000" algn="tl">
                    <a:srgbClr val="000000"/>
                  </a:outerShdw>
                </a:effectLst>
                <a:latin typeface="楷体_GB2312" pitchFamily="49" charset="-122"/>
                <a:ea typeface="楷体_GB2312" pitchFamily="49" charset="-122"/>
              </a:rPr>
              <a:t>作为实参。</a:t>
            </a:r>
          </a:p>
          <a:p>
            <a:pPr marL="0" indent="0" eaLnBrk="1" hangingPunct="1">
              <a:buFont typeface="Monotype Sorts" pitchFamily="2" charset="2"/>
              <a:buNone/>
              <a:defRPr/>
            </a:pPr>
            <a:r>
              <a:rPr lang="zh-CN" altLang="en-US" b="1" dirty="0">
                <a:effectLst>
                  <a:outerShdw blurRad="38100" dist="38100" dir="2700000" algn="tl">
                    <a:srgbClr val="000000"/>
                  </a:outerShdw>
                </a:effectLst>
                <a:latin typeface="楷体_GB2312" pitchFamily="49" charset="-122"/>
                <a:ea typeface="楷体_GB2312" pitchFamily="49" charset="-122"/>
              </a:rPr>
              <a:t>在</a:t>
            </a:r>
            <a:r>
              <a:rPr lang="en-US" altLang="zh-CN" b="1" dirty="0" err="1">
                <a:effectLst>
                  <a:outerShdw blurRad="38100" dist="38100" dir="2700000" algn="tl">
                    <a:srgbClr val="000000"/>
                  </a:outerShdw>
                </a:effectLst>
                <a:latin typeface="楷体_GB2312" pitchFamily="49" charset="-122"/>
                <a:ea typeface="楷体_GB2312" pitchFamily="49" charset="-122"/>
              </a:rPr>
              <a:t>dayofYear</a:t>
            </a:r>
            <a:r>
              <a:rPr lang="zh-CN" altLang="en-US" b="1" dirty="0">
                <a:effectLst>
                  <a:outerShdw blurRad="38100" dist="38100" dir="2700000" algn="tl">
                    <a:srgbClr val="000000"/>
                  </a:outerShdw>
                </a:effectLst>
                <a:latin typeface="楷体_GB2312" pitchFamily="49" charset="-122"/>
                <a:ea typeface="楷体_GB2312" pitchFamily="49" charset="-122"/>
              </a:rPr>
              <a:t>函数中用</a:t>
            </a:r>
            <a:r>
              <a:rPr lang="en-US" altLang="zh-CN" b="1" dirty="0">
                <a:effectLst>
                  <a:outerShdw blurRad="38100" dist="38100" dir="2700000" algn="tl">
                    <a:srgbClr val="000000"/>
                  </a:outerShdw>
                </a:effectLst>
                <a:latin typeface="楷体_GB2312" pitchFamily="49" charset="-122"/>
                <a:ea typeface="楷体_GB2312" pitchFamily="49" charset="-122"/>
              </a:rPr>
              <a:t>3</a:t>
            </a:r>
            <a:r>
              <a:rPr lang="zh-CN" altLang="en-US" b="1" dirty="0">
                <a:effectLst>
                  <a:outerShdw blurRad="38100" dist="38100" dir="2700000" algn="tl">
                    <a:srgbClr val="000000"/>
                  </a:outerShdw>
                </a:effectLst>
                <a:latin typeface="楷体_GB2312" pitchFamily="49" charset="-122"/>
                <a:ea typeface="楷体_GB2312" pitchFamily="49" charset="-122"/>
              </a:rPr>
              <a:t>个形参：</a:t>
            </a:r>
          </a:p>
          <a:p>
            <a:pPr marL="0" indent="0" eaLnBrk="1" hangingPunct="1">
              <a:buFont typeface="Monotype Sorts" pitchFamily="2" charset="2"/>
              <a:buNone/>
              <a:defRPr/>
            </a:pPr>
            <a:r>
              <a:rPr lang="zh-CN" altLang="en-US" b="1" dirty="0">
                <a:effectLst>
                  <a:outerShdw blurRad="38100" dist="38100" dir="2700000" algn="tl">
                    <a:srgbClr val="000000"/>
                  </a:outerShdw>
                </a:effectLst>
                <a:latin typeface="楷体_GB2312" pitchFamily="49" charset="-122"/>
                <a:ea typeface="楷体_GB2312" pitchFamily="49" charset="-122"/>
              </a:rPr>
              <a:t>　</a:t>
            </a:r>
            <a:r>
              <a:rPr lang="en-US" altLang="zh-CN" b="1" dirty="0">
                <a:effectLst>
                  <a:outerShdw blurRad="38100" dist="38100" dir="2700000" algn="tl">
                    <a:srgbClr val="000000"/>
                  </a:outerShdw>
                </a:effectLst>
                <a:latin typeface="楷体_GB2312" pitchFamily="49" charset="-122"/>
                <a:ea typeface="楷体_GB2312" pitchFamily="49" charset="-122"/>
              </a:rPr>
              <a:t>d</a:t>
            </a:r>
            <a:r>
              <a:rPr lang="zh-CN" altLang="en-US" b="1" dirty="0">
                <a:effectLst>
                  <a:outerShdw blurRad="38100" dist="38100" dir="2700000" algn="tl">
                    <a:srgbClr val="000000"/>
                  </a:outerShdw>
                </a:effectLst>
                <a:latin typeface="楷体_GB2312" pitchFamily="49" charset="-122"/>
                <a:ea typeface="楷体_GB2312" pitchFamily="49" charset="-122"/>
              </a:rPr>
              <a:t>   </a:t>
            </a:r>
            <a:r>
              <a:rPr lang="en-US" altLang="zh-CN" b="1" dirty="0">
                <a:effectLst>
                  <a:outerShdw blurRad="38100" dist="38100" dir="2700000" algn="tl">
                    <a:srgbClr val="000000"/>
                  </a:outerShdw>
                </a:effectLst>
                <a:latin typeface="楷体_GB2312" pitchFamily="49" charset="-122"/>
                <a:ea typeface="楷体_GB2312" pitchFamily="49" charset="-122"/>
              </a:rPr>
              <a:t>m</a:t>
            </a:r>
            <a:r>
              <a:rPr lang="zh-CN" altLang="en-US" b="1" dirty="0">
                <a:effectLst>
                  <a:outerShdw blurRad="38100" dist="38100" dir="2700000" algn="tl">
                    <a:srgbClr val="000000"/>
                  </a:outerShdw>
                </a:effectLst>
                <a:latin typeface="楷体_GB2312" pitchFamily="49" charset="-122"/>
                <a:ea typeface="楷体_GB2312" pitchFamily="49" charset="-122"/>
              </a:rPr>
              <a:t>   </a:t>
            </a:r>
            <a:r>
              <a:rPr lang="en-US" altLang="zh-CN" b="1" dirty="0">
                <a:effectLst>
                  <a:outerShdw blurRad="38100" dist="38100" dir="2700000" algn="tl">
                    <a:srgbClr val="000000"/>
                  </a:outerShdw>
                </a:effectLst>
                <a:latin typeface="楷体_GB2312" pitchFamily="49" charset="-122"/>
                <a:ea typeface="楷体_GB2312" pitchFamily="49" charset="-122"/>
              </a:rPr>
              <a:t>y</a:t>
            </a:r>
          </a:p>
          <a:p>
            <a:pPr marL="0" indent="0" eaLnBrk="1" hangingPunct="1">
              <a:buFont typeface="Monotype Sorts" pitchFamily="2" charset="2"/>
              <a:buNone/>
              <a:defRPr/>
            </a:pPr>
            <a:r>
              <a:rPr lang="zh-CN" altLang="en-US" b="1" dirty="0">
                <a:effectLst>
                  <a:outerShdw blurRad="38100" dist="38100" dir="2700000" algn="tl">
                    <a:srgbClr val="000000"/>
                  </a:outerShdw>
                </a:effectLst>
                <a:latin typeface="楷体_GB2312" pitchFamily="49" charset="-122"/>
                <a:ea typeface="楷体_GB2312" pitchFamily="49" charset="-122"/>
              </a:rPr>
              <a:t>与之对应，并将最后的计算结果通过执行</a:t>
            </a:r>
            <a:r>
              <a:rPr lang="zh-CN" altLang="en-US" b="1" dirty="0">
                <a:effectLst>
                  <a:outerShdw blurRad="38100" dist="38100" dir="2700000" algn="tl">
                    <a:srgbClr val="000000"/>
                  </a:outerShdw>
                </a:effectLst>
                <a:ea typeface="楷体_GB2312" pitchFamily="49" charset="-122"/>
              </a:rPr>
              <a:t>“</a:t>
            </a:r>
            <a:r>
              <a:rPr lang="en-US" altLang="zh-CN" b="1" dirty="0">
                <a:effectLst>
                  <a:outerShdw blurRad="38100" dist="38100" dir="2700000" algn="tl">
                    <a:srgbClr val="000000"/>
                  </a:outerShdw>
                </a:effectLst>
                <a:latin typeface="楷体_GB2312" pitchFamily="49" charset="-122"/>
                <a:ea typeface="楷体_GB2312" pitchFamily="49" charset="-122"/>
              </a:rPr>
              <a:t>return day;</a:t>
            </a:r>
            <a:r>
              <a:rPr lang="en-US" altLang="zh-CN" b="1" dirty="0">
                <a:effectLst>
                  <a:outerShdw blurRad="38100" dist="38100" dir="2700000" algn="tl">
                    <a:srgbClr val="000000"/>
                  </a:outerShdw>
                </a:effectLst>
                <a:ea typeface="楷体_GB2312" pitchFamily="49" charset="-122"/>
              </a:rPr>
              <a:t>”</a:t>
            </a:r>
            <a:r>
              <a:rPr lang="zh-CN" altLang="en-US" b="1" dirty="0">
                <a:effectLst>
                  <a:outerShdw blurRad="38100" dist="38100" dir="2700000" algn="tl">
                    <a:srgbClr val="000000"/>
                  </a:outerShdw>
                </a:effectLst>
                <a:latin typeface="楷体_GB2312" pitchFamily="49" charset="-122"/>
                <a:ea typeface="楷体_GB2312" pitchFamily="49" charset="-122"/>
              </a:rPr>
              <a:t>语句返回给主函数，并赋值给</a:t>
            </a:r>
            <a:r>
              <a:rPr lang="en-US" altLang="zh-CN" b="1" dirty="0">
                <a:effectLst>
                  <a:outerShdw blurRad="38100" dist="38100" dir="2700000" algn="tl">
                    <a:srgbClr val="000000"/>
                  </a:outerShdw>
                </a:effectLst>
                <a:latin typeface="楷体_GB2312" pitchFamily="49" charset="-122"/>
                <a:ea typeface="楷体_GB2312" pitchFamily="49" charset="-122"/>
              </a:rPr>
              <a:t>Date</a:t>
            </a:r>
            <a:r>
              <a:rPr lang="zh-CN" altLang="en-US" b="1" dirty="0">
                <a:effectLst>
                  <a:outerShdw blurRad="38100" dist="38100" dir="2700000" algn="tl">
                    <a:srgbClr val="000000"/>
                  </a:outerShdw>
                </a:effectLst>
                <a:latin typeface="楷体_GB2312" pitchFamily="49" charset="-122"/>
                <a:ea typeface="楷体_GB2312" pitchFamily="49" charset="-122"/>
              </a:rPr>
              <a:t>结构类型变量的</a:t>
            </a:r>
            <a:r>
              <a:rPr lang="en-US" altLang="zh-CN" b="1" dirty="0" err="1">
                <a:effectLst>
                  <a:outerShdw blurRad="38100" dist="38100" dir="2700000" algn="tl">
                    <a:srgbClr val="000000"/>
                  </a:outerShdw>
                </a:effectLst>
                <a:latin typeface="楷体_GB2312" pitchFamily="49" charset="-122"/>
                <a:ea typeface="楷体_GB2312" pitchFamily="49" charset="-122"/>
              </a:rPr>
              <a:t>yearDay</a:t>
            </a:r>
            <a:r>
              <a:rPr lang="zh-CN" altLang="en-US" b="1" dirty="0">
                <a:effectLst>
                  <a:outerShdw blurRad="38100" dist="38100" dir="2700000" algn="tl">
                    <a:srgbClr val="000000"/>
                  </a:outerShdw>
                </a:effectLst>
                <a:latin typeface="楷体_GB2312" pitchFamily="49" charset="-122"/>
                <a:ea typeface="楷体_GB2312" pitchFamily="49" charset="-122"/>
              </a:rPr>
              <a:t>成员。</a:t>
            </a:r>
            <a:r>
              <a:rPr lang="zh-CN" altLang="en-US" dirty="0">
                <a:latin typeface="楷体_GB2312" pitchFamily="49" charset="-122"/>
                <a:ea typeface="楷体_GB2312" pitchFamily="49" charset="-122"/>
              </a:rPr>
              <a:t> </a:t>
            </a:r>
          </a:p>
        </p:txBody>
      </p:sp>
      <p:sp>
        <p:nvSpPr>
          <p:cNvPr id="5" name="灯片编号占位符 6"/>
          <p:cNvSpPr>
            <a:spLocks noGrp="1"/>
          </p:cNvSpPr>
          <p:nvPr>
            <p:ph type="sldNum" sz="quarter" idx="12"/>
          </p:nvPr>
        </p:nvSpPr>
        <p:spPr/>
        <p:txBody>
          <a:bodyPr/>
          <a:lstStyle/>
          <a:p>
            <a:pPr>
              <a:defRPr/>
            </a:pPr>
            <a:fld id="{0B1B7E21-04C4-42AB-9420-078CA93D3177}" type="slidenum">
              <a:rPr lang="en-US" altLang="zh-CN"/>
              <a:pPr>
                <a:defRPr/>
              </a:pPr>
              <a:t>36</a:t>
            </a:fld>
            <a:endParaRPr lang="en-US" altLang="zh-CN"/>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body" sz="half" idx="1"/>
          </p:nvPr>
        </p:nvSpPr>
        <p:spPr>
          <a:xfrm>
            <a:off x="611188" y="333375"/>
            <a:ext cx="8096250" cy="6524625"/>
          </a:xfrm>
        </p:spPr>
        <p:txBody>
          <a:bodyPr>
            <a:normAutofit/>
          </a:bodyPr>
          <a:lstStyle/>
          <a:p>
            <a:pPr marL="0" indent="0" eaLnBrk="1" hangingPunct="1">
              <a:buFont typeface="Monotype Sorts" pitchFamily="2" charset="2"/>
              <a:buNone/>
              <a:defRPr/>
            </a:pPr>
            <a:r>
              <a:rPr lang="zh-CN" altLang="en-US" sz="4400" b="1" dirty="0">
                <a:latin typeface="楷体_GB2312" pitchFamily="49" charset="-122"/>
                <a:ea typeface="楷体_GB2312" pitchFamily="49" charset="-122"/>
              </a:rPr>
              <a:t>结构作为函数参数</a:t>
            </a:r>
            <a:r>
              <a:rPr lang="zh-CN" altLang="en-US" sz="2800" b="1" dirty="0">
                <a:latin typeface="楷体_GB2312" pitchFamily="49" charset="-122"/>
                <a:ea typeface="楷体_GB2312" pitchFamily="49" charset="-122"/>
              </a:rPr>
              <a:t> </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用结构作为实参，将这个结构的所有成员都传递给了被调用函数的形参。</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以例</a:t>
            </a:r>
            <a:r>
              <a:rPr lang="en-US" altLang="zh-CN" sz="2800" b="1" dirty="0">
                <a:latin typeface="楷体_GB2312" pitchFamily="49" charset="-122"/>
                <a:ea typeface="楷体_GB2312" pitchFamily="49" charset="-122"/>
              </a:rPr>
              <a:t>7.3</a:t>
            </a:r>
            <a:r>
              <a:rPr lang="zh-CN" altLang="en-US" sz="2800" b="1" dirty="0">
                <a:latin typeface="楷体_GB2312" pitchFamily="49" charset="-122"/>
                <a:ea typeface="楷体_GB2312" pitchFamily="49" charset="-122"/>
              </a:rPr>
              <a:t>程序为例，对主函数中对函数</a:t>
            </a:r>
            <a:r>
              <a:rPr lang="en-US" altLang="zh-CN" sz="2800" b="1" dirty="0" err="1">
                <a:latin typeface="楷体_GB2312" pitchFamily="49" charset="-122"/>
                <a:ea typeface="楷体_GB2312" pitchFamily="49" charset="-122"/>
              </a:rPr>
              <a:t>dayofYear</a:t>
            </a:r>
            <a:r>
              <a:rPr lang="zh-CN" altLang="en-US" sz="2800" b="1" dirty="0">
                <a:latin typeface="楷体_GB2312" pitchFamily="49" charset="-122"/>
                <a:ea typeface="楷体_GB2312" pitchFamily="49" charset="-122"/>
              </a:rPr>
              <a:t>的调用，原来使用表示日、月、年的</a:t>
            </a:r>
            <a:r>
              <a:rPr lang="en-US" altLang="zh-CN" sz="2800" b="1" dirty="0">
                <a:latin typeface="楷体_GB2312" pitchFamily="49" charset="-122"/>
                <a:ea typeface="楷体_GB2312" pitchFamily="49" charset="-122"/>
              </a:rPr>
              <a:t>3</a:t>
            </a:r>
            <a:r>
              <a:rPr lang="zh-CN" altLang="en-US" sz="2800" b="1" dirty="0">
                <a:latin typeface="楷体_GB2312" pitchFamily="49" charset="-122"/>
                <a:ea typeface="楷体_GB2312" pitchFamily="49" charset="-122"/>
              </a:rPr>
              <a:t>个结构成员作为实参改为用一个结构变量</a:t>
            </a:r>
            <a:r>
              <a:rPr lang="en-US" altLang="zh-CN" sz="2800" b="1" dirty="0">
                <a:latin typeface="楷体_GB2312" pitchFamily="49" charset="-122"/>
                <a:ea typeface="楷体_GB2312" pitchFamily="49" charset="-122"/>
              </a:rPr>
              <a:t>date</a:t>
            </a:r>
            <a:r>
              <a:rPr lang="zh-CN" altLang="en-US" sz="2800" b="1" dirty="0">
                <a:latin typeface="楷体_GB2312" pitchFamily="49" charset="-122"/>
                <a:ea typeface="楷体_GB2312" pitchFamily="49" charset="-122"/>
              </a:rPr>
              <a:t>作为实参。即将代码</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date.yearDay</a:t>
            </a:r>
            <a:r>
              <a:rPr lang="en-US" altLang="zh-CN" sz="2800" b="1" dirty="0">
                <a:latin typeface="楷体_GB2312" pitchFamily="49" charset="-122"/>
                <a:ea typeface="楷体_GB2312" pitchFamily="49" charset="-122"/>
              </a:rPr>
              <a:t> = </a:t>
            </a:r>
            <a:r>
              <a:rPr lang="en-US" altLang="zh-CN" sz="2800" b="1" dirty="0" err="1">
                <a:latin typeface="楷体_GB2312" pitchFamily="49" charset="-122"/>
                <a:ea typeface="楷体_GB2312" pitchFamily="49" charset="-122"/>
              </a:rPr>
              <a:t>dayofYear</a:t>
            </a:r>
            <a:r>
              <a:rPr lang="en-US" altLang="zh-CN" sz="2800" b="1" dirty="0">
                <a:latin typeface="楷体_GB2312" pitchFamily="49" charset="-122"/>
                <a:ea typeface="楷体_GB2312" pitchFamily="49" charset="-122"/>
              </a:rPr>
              <a:t>(</a:t>
            </a:r>
            <a:r>
              <a:rPr lang="en-US" altLang="zh-CN" sz="2800" b="1" dirty="0" err="1">
                <a:latin typeface="楷体_GB2312" pitchFamily="49" charset="-122"/>
                <a:ea typeface="楷体_GB2312" pitchFamily="49" charset="-122"/>
              </a:rPr>
              <a:t>date.day</a:t>
            </a: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date.month</a:t>
            </a: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date.year</a:t>
            </a:r>
            <a:r>
              <a:rPr lang="en-US" altLang="zh-CN" sz="2800" b="1" dirty="0">
                <a:latin typeface="楷体_GB2312" pitchFamily="49" charset="-122"/>
                <a:ea typeface="楷体_GB2312" pitchFamily="49" charset="-122"/>
              </a:rPr>
              <a:t>);</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改写成</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date.yearDay</a:t>
            </a:r>
            <a:r>
              <a:rPr lang="en-US" altLang="zh-CN" sz="2800" b="1" dirty="0">
                <a:latin typeface="楷体_GB2312" pitchFamily="49" charset="-122"/>
                <a:ea typeface="楷体_GB2312" pitchFamily="49" charset="-122"/>
              </a:rPr>
              <a:t> = </a:t>
            </a:r>
            <a:r>
              <a:rPr lang="en-US" altLang="zh-CN" sz="2800" b="1" dirty="0" err="1">
                <a:latin typeface="楷体_GB2312" pitchFamily="49" charset="-122"/>
                <a:ea typeface="楷体_GB2312" pitchFamily="49" charset="-122"/>
              </a:rPr>
              <a:t>dayofYear</a:t>
            </a:r>
            <a:r>
              <a:rPr lang="en-US" altLang="zh-CN" sz="2800" b="1" dirty="0">
                <a:latin typeface="楷体_GB2312" pitchFamily="49" charset="-122"/>
                <a:ea typeface="楷体_GB2312" pitchFamily="49" charset="-122"/>
              </a:rPr>
              <a:t>(date);</a:t>
            </a:r>
          </a:p>
        </p:txBody>
      </p:sp>
      <p:sp>
        <p:nvSpPr>
          <p:cNvPr id="5" name="灯片编号占位符 6"/>
          <p:cNvSpPr>
            <a:spLocks noGrp="1"/>
          </p:cNvSpPr>
          <p:nvPr>
            <p:ph type="sldNum" sz="quarter" idx="12"/>
          </p:nvPr>
        </p:nvSpPr>
        <p:spPr/>
        <p:txBody>
          <a:bodyPr/>
          <a:lstStyle/>
          <a:p>
            <a:pPr>
              <a:defRPr/>
            </a:pPr>
            <a:fld id="{81F7EE05-A3D7-4832-B874-853F060571D3}" type="slidenum">
              <a:rPr lang="en-US" altLang="zh-CN"/>
              <a:pPr>
                <a:defRPr/>
              </a:pPr>
              <a:t>37</a:t>
            </a:fld>
            <a:endParaRPr lang="en-US" altLang="zh-CN"/>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218" name="Rectangle 2"/>
          <p:cNvSpPr>
            <a:spLocks noGrp="1" noChangeArrowheads="1"/>
          </p:cNvSpPr>
          <p:nvPr>
            <p:ph type="body" sz="half" idx="1"/>
          </p:nvPr>
        </p:nvSpPr>
        <p:spPr>
          <a:xfrm>
            <a:off x="611188" y="333375"/>
            <a:ext cx="8096250" cy="6524625"/>
          </a:xfrm>
        </p:spPr>
        <p:txBody>
          <a:bodyPr/>
          <a:lstStyle/>
          <a:p>
            <a:pPr marL="0" indent="0" eaLnBrk="1" hangingPunct="1">
              <a:buFont typeface="Monotype Sorts" pitchFamily="2" charset="2"/>
              <a:buNone/>
              <a:defRPr/>
            </a:pPr>
            <a:r>
              <a:rPr lang="zh-CN" altLang="en-US" sz="2400" b="1" dirty="0">
                <a:latin typeface="楷体_GB2312" pitchFamily="49" charset="-122"/>
                <a:ea typeface="楷体_GB2312" pitchFamily="49" charset="-122"/>
              </a:rPr>
              <a:t>当然，对应的</a:t>
            </a:r>
            <a:r>
              <a:rPr lang="en-US" altLang="zh-CN" sz="2400" b="1" dirty="0" err="1">
                <a:latin typeface="楷体_GB2312" pitchFamily="49" charset="-122"/>
                <a:ea typeface="楷体_GB2312" pitchFamily="49" charset="-122"/>
              </a:rPr>
              <a:t>dayofYear</a:t>
            </a:r>
            <a:r>
              <a:rPr lang="zh-CN" altLang="en-US" sz="2400" b="1" dirty="0">
                <a:latin typeface="楷体_GB2312" pitchFamily="49" charset="-122"/>
                <a:ea typeface="楷体_GB2312" pitchFamily="49" charset="-122"/>
              </a:rPr>
              <a:t>函数也要作如下的修改：</a:t>
            </a:r>
          </a:p>
          <a:p>
            <a:pPr marL="0" indent="0" eaLnBrk="1" hangingPunct="1">
              <a:buFont typeface="Monotype Sorts" pitchFamily="2" charset="2"/>
              <a:buNone/>
              <a:defRPr/>
            </a:pPr>
            <a:r>
              <a:rPr lang="en-US" altLang="zh-CN" sz="2400" b="1" dirty="0" err="1">
                <a:latin typeface="楷体_GB2312" pitchFamily="49" charset="-122"/>
                <a:ea typeface="楷体_GB2312" pitchFamily="49" charset="-122"/>
              </a:rPr>
              <a:t>int</a:t>
            </a: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dayofYear</a:t>
            </a:r>
            <a:r>
              <a:rPr lang="en-US" altLang="zh-CN" sz="2400" b="1" dirty="0">
                <a:latin typeface="楷体_GB2312" pitchFamily="49" charset="-122"/>
                <a:ea typeface="楷体_GB2312" pitchFamily="49" charset="-122"/>
              </a:rPr>
              <a:t>(Date d) /* </a:t>
            </a:r>
            <a:r>
              <a:rPr lang="zh-CN" altLang="en-US" sz="2400" b="1" dirty="0">
                <a:latin typeface="楷体_GB2312" pitchFamily="49" charset="-122"/>
                <a:ea typeface="楷体_GB2312" pitchFamily="49" charset="-122"/>
              </a:rPr>
              <a:t>计算年中第几天，设有结构形参 *</a:t>
            </a:r>
            <a:r>
              <a:rPr lang="en-US" altLang="zh-CN" sz="24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int</a:t>
            </a: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i</a:t>
            </a:r>
            <a:r>
              <a:rPr lang="en-US" altLang="zh-CN" sz="2400" b="1" dirty="0">
                <a:latin typeface="楷体_GB2312" pitchFamily="49" charset="-122"/>
                <a:ea typeface="楷体_GB2312" pitchFamily="49" charset="-122"/>
              </a:rPr>
              <a:t>, leap, day = </a:t>
            </a:r>
            <a:r>
              <a:rPr lang="en-US" altLang="zh-CN" sz="2400" b="1" dirty="0" err="1">
                <a:latin typeface="楷体_GB2312" pitchFamily="49" charset="-122"/>
                <a:ea typeface="楷体_GB2312" pitchFamily="49" charset="-122"/>
              </a:rPr>
              <a:t>d.day</a:t>
            </a:r>
            <a:r>
              <a:rPr lang="en-US" altLang="zh-CN" sz="24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leap = (d.year%4 == 0 &amp;&amp; d.year%100)||</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d.year%400 == 0;/* </a:t>
            </a:r>
            <a:r>
              <a:rPr lang="zh-CN" altLang="en-US" sz="2400" b="1" dirty="0">
                <a:latin typeface="楷体_GB2312" pitchFamily="49" charset="-122"/>
                <a:ea typeface="楷体_GB2312" pitchFamily="49" charset="-122"/>
              </a:rPr>
              <a:t>计算是否闰年 *</a:t>
            </a:r>
            <a:r>
              <a:rPr lang="en-US" altLang="zh-CN" sz="24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for (</a:t>
            </a:r>
            <a:r>
              <a:rPr lang="en-US" altLang="zh-CN" sz="2400" b="1" dirty="0" err="1">
                <a:latin typeface="楷体_GB2312" pitchFamily="49" charset="-122"/>
                <a:ea typeface="楷体_GB2312" pitchFamily="49" charset="-122"/>
              </a:rPr>
              <a:t>i</a:t>
            </a:r>
            <a:r>
              <a:rPr lang="en-US" altLang="zh-CN" sz="2400" b="1" dirty="0">
                <a:latin typeface="楷体_GB2312" pitchFamily="49" charset="-122"/>
                <a:ea typeface="楷体_GB2312" pitchFamily="49" charset="-122"/>
              </a:rPr>
              <a:t> = 0; </a:t>
            </a:r>
            <a:r>
              <a:rPr lang="en-US" altLang="zh-CN" sz="2400" b="1" dirty="0" err="1">
                <a:latin typeface="楷体_GB2312" pitchFamily="49" charset="-122"/>
                <a:ea typeface="楷体_GB2312" pitchFamily="49" charset="-122"/>
              </a:rPr>
              <a:t>i</a:t>
            </a:r>
            <a:r>
              <a:rPr lang="en-US" altLang="zh-CN" sz="2400" b="1" dirty="0">
                <a:latin typeface="楷体_GB2312" pitchFamily="49" charset="-122"/>
                <a:ea typeface="楷体_GB2312" pitchFamily="49" charset="-122"/>
              </a:rPr>
              <a:t> &lt; d.month-1; </a:t>
            </a:r>
            <a:r>
              <a:rPr lang="en-US" altLang="zh-CN" sz="2400" b="1" dirty="0" err="1">
                <a:latin typeface="楷体_GB2312" pitchFamily="49" charset="-122"/>
                <a:ea typeface="楷体_GB2312" pitchFamily="49" charset="-122"/>
              </a:rPr>
              <a:t>i</a:t>
            </a:r>
            <a:r>
              <a:rPr lang="en-US" altLang="zh-CN" sz="24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day += </a:t>
            </a:r>
            <a:r>
              <a:rPr lang="en-US" altLang="zh-CN" sz="2400" b="1" dirty="0" err="1">
                <a:latin typeface="楷体_GB2312" pitchFamily="49" charset="-122"/>
                <a:ea typeface="楷体_GB2312" pitchFamily="49" charset="-122"/>
              </a:rPr>
              <a:t>dayTable</a:t>
            </a:r>
            <a:r>
              <a:rPr lang="en-US" altLang="zh-CN" sz="2400" b="1" dirty="0">
                <a:latin typeface="楷体_GB2312" pitchFamily="49" charset="-122"/>
                <a:ea typeface="楷体_GB2312" pitchFamily="49" charset="-122"/>
              </a:rPr>
              <a:t>[leap][</a:t>
            </a:r>
            <a:r>
              <a:rPr lang="en-US" altLang="zh-CN" sz="2400" b="1" dirty="0" err="1">
                <a:latin typeface="楷体_GB2312" pitchFamily="49" charset="-122"/>
                <a:ea typeface="楷体_GB2312" pitchFamily="49" charset="-122"/>
              </a:rPr>
              <a:t>i</a:t>
            </a:r>
            <a:r>
              <a:rPr lang="en-US" altLang="zh-CN" sz="24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return day; 	/* </a:t>
            </a:r>
            <a:r>
              <a:rPr lang="zh-CN" altLang="en-US" sz="2400" b="1" dirty="0">
                <a:latin typeface="楷体_GB2312" pitchFamily="49" charset="-122"/>
                <a:ea typeface="楷体_GB2312" pitchFamily="49" charset="-122"/>
              </a:rPr>
              <a:t>返回计算的结果 *</a:t>
            </a:r>
            <a:r>
              <a:rPr lang="en-US" altLang="zh-CN" sz="24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a:t>
            </a:r>
          </a:p>
          <a:p>
            <a:pPr marL="0" indent="0" eaLnBrk="1" hangingPunct="1">
              <a:buFont typeface="Monotype Sorts" pitchFamily="2" charset="2"/>
              <a:buNone/>
              <a:defRPr/>
            </a:pPr>
            <a:r>
              <a:rPr lang="zh-CN" altLang="en-US" sz="2400" b="1" dirty="0">
                <a:latin typeface="楷体_GB2312" pitchFamily="49" charset="-122"/>
                <a:ea typeface="楷体_GB2312" pitchFamily="49" charset="-122"/>
              </a:rPr>
              <a:t>在主函数中，对</a:t>
            </a:r>
            <a:r>
              <a:rPr lang="en-US" altLang="zh-CN" sz="2400" b="1" dirty="0" err="1">
                <a:latin typeface="楷体_GB2312" pitchFamily="49" charset="-122"/>
                <a:ea typeface="楷体_GB2312" pitchFamily="49" charset="-122"/>
              </a:rPr>
              <a:t>dayofYear</a:t>
            </a:r>
            <a:r>
              <a:rPr lang="zh-CN" altLang="en-US" sz="2400" b="1" dirty="0">
                <a:latin typeface="楷体_GB2312" pitchFamily="49" charset="-122"/>
                <a:ea typeface="楷体_GB2312" pitchFamily="49" charset="-122"/>
              </a:rPr>
              <a:t>函数的调用直接使用了</a:t>
            </a:r>
            <a:r>
              <a:rPr lang="en-US" altLang="zh-CN" sz="2400" b="1" dirty="0">
                <a:latin typeface="楷体_GB2312" pitchFamily="49" charset="-122"/>
                <a:ea typeface="楷体_GB2312" pitchFamily="49" charset="-122"/>
              </a:rPr>
              <a:t>date</a:t>
            </a:r>
            <a:r>
              <a:rPr lang="zh-CN" altLang="en-US" sz="2400" b="1" dirty="0">
                <a:latin typeface="楷体_GB2312" pitchFamily="49" charset="-122"/>
                <a:ea typeface="楷体_GB2312" pitchFamily="49" charset="-122"/>
              </a:rPr>
              <a:t>为实参，在</a:t>
            </a:r>
            <a:r>
              <a:rPr lang="en-US" altLang="zh-CN" sz="2400" b="1" dirty="0" err="1">
                <a:latin typeface="楷体_GB2312" pitchFamily="49" charset="-122"/>
                <a:ea typeface="楷体_GB2312" pitchFamily="49" charset="-122"/>
              </a:rPr>
              <a:t>dayofYear</a:t>
            </a:r>
            <a:r>
              <a:rPr lang="zh-CN" altLang="en-US" sz="2400" b="1" dirty="0">
                <a:latin typeface="楷体_GB2312" pitchFamily="49" charset="-122"/>
                <a:ea typeface="楷体_GB2312" pitchFamily="49" charset="-122"/>
              </a:rPr>
              <a:t>函数中用结构形参</a:t>
            </a:r>
            <a:r>
              <a:rPr lang="en-US" altLang="zh-CN" sz="2400" b="1" dirty="0">
                <a:latin typeface="楷体_GB2312" pitchFamily="49" charset="-122"/>
                <a:ea typeface="楷体_GB2312" pitchFamily="49" charset="-122"/>
              </a:rPr>
              <a:t>Date d</a:t>
            </a:r>
            <a:r>
              <a:rPr lang="zh-CN" altLang="en-US" sz="2400" b="1" dirty="0">
                <a:latin typeface="楷体_GB2312" pitchFamily="49" charset="-122"/>
                <a:ea typeface="楷体_GB2312" pitchFamily="49" charset="-122"/>
              </a:rPr>
              <a:t>。</a:t>
            </a:r>
          </a:p>
          <a:p>
            <a:pPr marL="0" indent="0" eaLnBrk="1" hangingPunct="1">
              <a:buFont typeface="Monotype Sorts" pitchFamily="2" charset="2"/>
              <a:buNone/>
              <a:defRPr/>
            </a:pPr>
            <a:r>
              <a:rPr lang="zh-CN" altLang="en-US" sz="2400" b="1" dirty="0">
                <a:latin typeface="楷体_GB2312" pitchFamily="49" charset="-122"/>
                <a:ea typeface="楷体_GB2312" pitchFamily="49" charset="-122"/>
              </a:rPr>
              <a:t>结构变量或结构成员作为实参传递给函数形参是值传递。</a:t>
            </a:r>
            <a:r>
              <a:rPr lang="en-US" altLang="zh-CN" sz="2400" b="1" dirty="0" err="1">
                <a:latin typeface="楷体_GB2312" pitchFamily="49" charset="-122"/>
                <a:ea typeface="楷体_GB2312" pitchFamily="49" charset="-122"/>
              </a:rPr>
              <a:t>dayofYear</a:t>
            </a:r>
            <a:r>
              <a:rPr lang="zh-CN" altLang="en-US" sz="2400" b="1" dirty="0">
                <a:latin typeface="楷体_GB2312" pitchFamily="49" charset="-122"/>
                <a:ea typeface="楷体_GB2312" pitchFamily="49" charset="-122"/>
              </a:rPr>
              <a:t>函数只能把计算结果返回给主函数，而不能简单地将计算结果直接赋值给形参的</a:t>
            </a:r>
            <a:r>
              <a:rPr lang="en-US" altLang="zh-CN" sz="2400" b="1" dirty="0" err="1">
                <a:latin typeface="楷体_GB2312" pitchFamily="49" charset="-122"/>
                <a:ea typeface="楷体_GB2312" pitchFamily="49" charset="-122"/>
              </a:rPr>
              <a:t>yearDay</a:t>
            </a:r>
            <a:r>
              <a:rPr lang="zh-CN" altLang="en-US" sz="2400" b="1" dirty="0">
                <a:latin typeface="楷体_GB2312" pitchFamily="49" charset="-122"/>
                <a:ea typeface="楷体_GB2312" pitchFamily="49" charset="-122"/>
              </a:rPr>
              <a:t>成员。</a:t>
            </a:r>
            <a:r>
              <a:rPr lang="zh-CN" altLang="en-US" sz="2400" dirty="0">
                <a:latin typeface="楷体_GB2312" pitchFamily="49" charset="-122"/>
                <a:ea typeface="楷体_GB2312" pitchFamily="49" charset="-122"/>
              </a:rPr>
              <a:t> </a:t>
            </a:r>
          </a:p>
        </p:txBody>
      </p:sp>
      <p:sp>
        <p:nvSpPr>
          <p:cNvPr id="5" name="灯片编号占位符 6"/>
          <p:cNvSpPr>
            <a:spLocks noGrp="1"/>
          </p:cNvSpPr>
          <p:nvPr>
            <p:ph type="sldNum" sz="quarter" idx="12"/>
          </p:nvPr>
        </p:nvSpPr>
        <p:spPr/>
        <p:txBody>
          <a:bodyPr/>
          <a:lstStyle/>
          <a:p>
            <a:pPr>
              <a:defRPr/>
            </a:pPr>
            <a:fld id="{6265C9C2-53E3-4EE5-91DC-80A22480A9ED}" type="slidenum">
              <a:rPr lang="en-US" altLang="zh-CN"/>
              <a:pPr>
                <a:defRPr/>
              </a:pPr>
              <a:t>38</a:t>
            </a:fld>
            <a:endParaRPr lang="en-US" altLang="zh-CN"/>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242" name="Rectangle 2"/>
          <p:cNvSpPr>
            <a:spLocks noGrp="1" noChangeArrowheads="1"/>
          </p:cNvSpPr>
          <p:nvPr>
            <p:ph type="body" sz="half" idx="1"/>
          </p:nvPr>
        </p:nvSpPr>
        <p:spPr>
          <a:xfrm>
            <a:off x="611188" y="333375"/>
            <a:ext cx="8096250" cy="6524625"/>
          </a:xfrm>
        </p:spPr>
        <p:txBody>
          <a:bodyPr/>
          <a:lstStyle/>
          <a:p>
            <a:pPr marL="0" indent="0" eaLnBrk="1" hangingPunct="1">
              <a:buFont typeface="Monotype Sorts" pitchFamily="2" charset="2"/>
              <a:buNone/>
              <a:defRPr/>
            </a:pPr>
            <a:r>
              <a:rPr lang="zh-CN" altLang="en-US" sz="3200" b="1" dirty="0">
                <a:latin typeface="楷体_GB2312" pitchFamily="49" charset="-122"/>
                <a:ea typeface="楷体_GB2312" pitchFamily="49" charset="-122"/>
              </a:rPr>
              <a:t>结构指针作为函数参数</a:t>
            </a:r>
            <a:r>
              <a:rPr lang="zh-CN" altLang="en-US" sz="3200" dirty="0">
                <a:latin typeface="楷体_GB2312" pitchFamily="49" charset="-122"/>
                <a:ea typeface="楷体_GB2312" pitchFamily="49" charset="-122"/>
              </a:rPr>
              <a:t> </a:t>
            </a:r>
            <a:endParaRPr lang="zh-CN" altLang="en-US" sz="3200" b="1" dirty="0">
              <a:latin typeface="楷体_GB2312" pitchFamily="49" charset="-122"/>
              <a:ea typeface="楷体_GB2312" pitchFamily="49" charset="-122"/>
            </a:endParaRPr>
          </a:p>
          <a:p>
            <a:pPr marL="0" indent="0" eaLnBrk="1" hangingPunct="1">
              <a:buFont typeface="Monotype Sorts" pitchFamily="2" charset="2"/>
              <a:buNone/>
              <a:defRPr/>
            </a:pPr>
            <a:r>
              <a:rPr lang="zh-CN" altLang="en-US" sz="2400" b="1" dirty="0">
                <a:latin typeface="楷体_GB2312" pitchFamily="49" charset="-122"/>
                <a:ea typeface="楷体_GB2312" pitchFamily="49" charset="-122"/>
              </a:rPr>
              <a:t>使用结构变量作为函数的形参，在函数调用时，系统要为结构形参分配存储单元，并为实参结构向形参结构完成值传递等。</a:t>
            </a:r>
            <a:r>
              <a:rPr lang="zh-CN" altLang="en-US" sz="2400" b="1" dirty="0">
                <a:solidFill>
                  <a:srgbClr val="C00000"/>
                </a:solidFill>
                <a:latin typeface="楷体_GB2312" pitchFamily="49" charset="-122"/>
                <a:ea typeface="楷体_GB2312" pitchFamily="49" charset="-122"/>
              </a:rPr>
              <a:t>为了减少系统开销并提高效率，</a:t>
            </a:r>
            <a:r>
              <a:rPr lang="en-US" altLang="zh-CN" sz="2400" b="1" dirty="0">
                <a:solidFill>
                  <a:srgbClr val="C00000"/>
                </a:solidFill>
                <a:latin typeface="楷体_GB2312" pitchFamily="49" charset="-122"/>
                <a:ea typeface="楷体_GB2312" pitchFamily="49" charset="-122"/>
              </a:rPr>
              <a:t>C</a:t>
            </a:r>
            <a:r>
              <a:rPr lang="zh-CN" altLang="en-US" sz="2400" b="1" dirty="0">
                <a:solidFill>
                  <a:srgbClr val="C00000"/>
                </a:solidFill>
                <a:latin typeface="楷体_GB2312" pitchFamily="49" charset="-122"/>
                <a:ea typeface="楷体_GB2312" pitchFamily="49" charset="-122"/>
              </a:rPr>
              <a:t>语言也允许指向结构的指针作为函数的形参</a:t>
            </a:r>
            <a:r>
              <a:rPr lang="zh-CN" altLang="en-US" sz="2400" b="1" dirty="0">
                <a:latin typeface="楷体_GB2312" pitchFamily="49" charset="-122"/>
                <a:ea typeface="楷体_GB2312" pitchFamily="49" charset="-122"/>
              </a:rPr>
              <a:t>。实参可以是结构的地址，也可以是指向结构的指针变量。</a:t>
            </a:r>
          </a:p>
          <a:p>
            <a:pPr marL="0" indent="0" eaLnBrk="1" hangingPunct="1">
              <a:buFont typeface="Monotype Sorts" pitchFamily="2" charset="2"/>
              <a:buNone/>
              <a:defRPr/>
            </a:pPr>
            <a:r>
              <a:rPr lang="zh-CN" altLang="en-US" sz="2400" b="1" dirty="0">
                <a:latin typeface="楷体_GB2312" pitchFamily="49" charset="-122"/>
                <a:ea typeface="楷体_GB2312" pitchFamily="49" charset="-122"/>
              </a:rPr>
              <a:t>仍以例</a:t>
            </a:r>
            <a:r>
              <a:rPr lang="en-US" altLang="zh-CN" sz="2400" b="1" dirty="0">
                <a:latin typeface="楷体_GB2312" pitchFamily="49" charset="-122"/>
                <a:ea typeface="楷体_GB2312" pitchFamily="49" charset="-122"/>
              </a:rPr>
              <a:t>7.3</a:t>
            </a:r>
            <a:r>
              <a:rPr lang="zh-CN" altLang="en-US" sz="2400" b="1" dirty="0">
                <a:latin typeface="楷体_GB2312" pitchFamily="49" charset="-122"/>
                <a:ea typeface="楷体_GB2312" pitchFamily="49" charset="-122"/>
              </a:rPr>
              <a:t>程序为例，主函数中对函数</a:t>
            </a:r>
            <a:r>
              <a:rPr lang="en-US" altLang="zh-CN" sz="2400" b="1" dirty="0" err="1">
                <a:latin typeface="楷体_GB2312" pitchFamily="49" charset="-122"/>
                <a:ea typeface="楷体_GB2312" pitchFamily="49" charset="-122"/>
              </a:rPr>
              <a:t>dayofYear</a:t>
            </a:r>
            <a:r>
              <a:rPr lang="zh-CN" altLang="en-US" sz="2400" b="1" dirty="0">
                <a:latin typeface="楷体_GB2312" pitchFamily="49" charset="-122"/>
                <a:ea typeface="楷体_GB2312" pitchFamily="49" charset="-122"/>
              </a:rPr>
              <a:t>的调用，由使用结构变量</a:t>
            </a:r>
            <a:r>
              <a:rPr lang="en-US" altLang="zh-CN" sz="2400" b="1" dirty="0">
                <a:latin typeface="楷体_GB2312" pitchFamily="49" charset="-122"/>
                <a:ea typeface="楷体_GB2312" pitchFamily="49" charset="-122"/>
              </a:rPr>
              <a:t>date</a:t>
            </a:r>
            <a:r>
              <a:rPr lang="zh-CN" altLang="en-US" sz="2400" b="1" dirty="0">
                <a:latin typeface="楷体_GB2312" pitchFamily="49" charset="-122"/>
                <a:ea typeface="楷体_GB2312" pitchFamily="49" charset="-122"/>
              </a:rPr>
              <a:t>作为实参现改为用结构变量</a:t>
            </a:r>
            <a:r>
              <a:rPr lang="en-US" altLang="zh-CN" sz="2400" b="1" dirty="0">
                <a:latin typeface="楷体_GB2312" pitchFamily="49" charset="-122"/>
                <a:ea typeface="楷体_GB2312" pitchFamily="49" charset="-122"/>
              </a:rPr>
              <a:t>date</a:t>
            </a:r>
            <a:r>
              <a:rPr lang="zh-CN" altLang="en-US" sz="2400" b="1" dirty="0">
                <a:latin typeface="楷体_GB2312" pitchFamily="49" charset="-122"/>
                <a:ea typeface="楷体_GB2312" pitchFamily="49" charset="-122"/>
              </a:rPr>
              <a:t>的地址作为实参。即，将代码</a:t>
            </a:r>
          </a:p>
          <a:p>
            <a:pPr marL="0" indent="0" eaLnBrk="1" hangingPunct="1">
              <a:buFont typeface="Monotype Sorts" pitchFamily="2" charset="2"/>
              <a:buNone/>
              <a:defRPr/>
            </a:pPr>
            <a:r>
              <a:rPr lang="zh-CN" altLang="en-US"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date.yearDay</a:t>
            </a:r>
            <a:r>
              <a:rPr lang="en-US" altLang="zh-CN" sz="2400" b="1" dirty="0">
                <a:latin typeface="楷体_GB2312" pitchFamily="49" charset="-122"/>
                <a:ea typeface="楷体_GB2312" pitchFamily="49" charset="-122"/>
              </a:rPr>
              <a:t> = </a:t>
            </a:r>
            <a:r>
              <a:rPr lang="en-US" altLang="zh-CN" sz="2400" b="1" dirty="0" err="1">
                <a:latin typeface="楷体_GB2312" pitchFamily="49" charset="-122"/>
                <a:ea typeface="楷体_GB2312" pitchFamily="49" charset="-122"/>
              </a:rPr>
              <a:t>dayofYear</a:t>
            </a:r>
            <a:r>
              <a:rPr lang="en-US" altLang="zh-CN" sz="2400" b="1" dirty="0">
                <a:latin typeface="楷体_GB2312" pitchFamily="49" charset="-122"/>
                <a:ea typeface="楷体_GB2312" pitchFamily="49" charset="-122"/>
              </a:rPr>
              <a:t>(date);</a:t>
            </a:r>
          </a:p>
          <a:p>
            <a:pPr marL="0" indent="0" eaLnBrk="1" hangingPunct="1">
              <a:buFont typeface="Monotype Sorts" pitchFamily="2" charset="2"/>
              <a:buNone/>
              <a:defRPr/>
            </a:pPr>
            <a:r>
              <a:rPr lang="zh-CN" altLang="en-US" sz="2400" b="1" dirty="0">
                <a:latin typeface="楷体_GB2312" pitchFamily="49" charset="-122"/>
                <a:ea typeface="楷体_GB2312" pitchFamily="49" charset="-122"/>
              </a:rPr>
              <a:t>改写成</a:t>
            </a:r>
          </a:p>
          <a:p>
            <a:pPr marL="0" indent="0" eaLnBrk="1" hangingPunct="1">
              <a:buFont typeface="Monotype Sorts" pitchFamily="2" charset="2"/>
              <a:buNone/>
              <a:defRPr/>
            </a:pPr>
            <a:r>
              <a:rPr lang="zh-CN" altLang="en-US"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dayofYear</a:t>
            </a:r>
            <a:r>
              <a:rPr lang="en-US" altLang="zh-CN" sz="2400" b="1" dirty="0">
                <a:latin typeface="楷体_GB2312" pitchFamily="49" charset="-122"/>
                <a:ea typeface="楷体_GB2312" pitchFamily="49" charset="-122"/>
              </a:rPr>
              <a:t>(&amp;date);</a:t>
            </a:r>
          </a:p>
          <a:p>
            <a:pPr marL="0" indent="0" eaLnBrk="1" hangingPunct="1">
              <a:buFont typeface="Monotype Sorts" pitchFamily="2" charset="2"/>
              <a:buNone/>
              <a:defRPr/>
            </a:pPr>
            <a:r>
              <a:rPr lang="zh-CN" altLang="en-US" sz="2400" b="1" dirty="0">
                <a:latin typeface="楷体_GB2312" pitchFamily="49" charset="-122"/>
                <a:ea typeface="楷体_GB2312" pitchFamily="49" charset="-122"/>
              </a:rPr>
              <a:t>对应的</a:t>
            </a:r>
            <a:r>
              <a:rPr lang="en-US" altLang="zh-CN" sz="2400" b="1" dirty="0" err="1">
                <a:latin typeface="楷体_GB2312" pitchFamily="49" charset="-122"/>
                <a:ea typeface="楷体_GB2312" pitchFamily="49" charset="-122"/>
              </a:rPr>
              <a:t>dayofYear</a:t>
            </a:r>
            <a:r>
              <a:rPr lang="zh-CN" altLang="en-US" sz="2400" b="1" dirty="0">
                <a:latin typeface="楷体_GB2312" pitchFamily="49" charset="-122"/>
                <a:ea typeface="楷体_GB2312" pitchFamily="49" charset="-122"/>
              </a:rPr>
              <a:t>函数也要作如下的修改：</a:t>
            </a:r>
          </a:p>
        </p:txBody>
      </p:sp>
      <p:sp>
        <p:nvSpPr>
          <p:cNvPr id="5" name="灯片编号占位符 6"/>
          <p:cNvSpPr>
            <a:spLocks noGrp="1"/>
          </p:cNvSpPr>
          <p:nvPr>
            <p:ph type="sldNum" sz="quarter" idx="12"/>
          </p:nvPr>
        </p:nvSpPr>
        <p:spPr/>
        <p:txBody>
          <a:bodyPr/>
          <a:lstStyle/>
          <a:p>
            <a:pPr>
              <a:defRPr/>
            </a:pPr>
            <a:fld id="{D06F8490-EF7E-4789-9171-9FAC6A671D1F}" type="slidenum">
              <a:rPr lang="en-US" altLang="zh-CN"/>
              <a:pPr>
                <a:defRPr/>
              </a:pPr>
              <a:t>39</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50242">
                                            <p:txEl>
                                              <p:pRg st="2" end="2"/>
                                            </p:txEl>
                                          </p:spTgt>
                                        </p:tgtEl>
                                        <p:attrNameLst>
                                          <p:attrName>style.visibility</p:attrName>
                                        </p:attrNameLst>
                                      </p:cBhvr>
                                      <p:to>
                                        <p:strVal val="visible"/>
                                      </p:to>
                                    </p:set>
                                    <p:anim calcmode="lin" valueType="num">
                                      <p:cBhvr additive="base">
                                        <p:cTn id="7" dur="500" fill="hold"/>
                                        <p:tgtEl>
                                          <p:spTgt spid="650242">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50242">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50242">
                                            <p:txEl>
                                              <p:pRg st="3" end="3"/>
                                            </p:txEl>
                                          </p:spTgt>
                                        </p:tgtEl>
                                        <p:attrNameLst>
                                          <p:attrName>style.visibility</p:attrName>
                                        </p:attrNameLst>
                                      </p:cBhvr>
                                      <p:to>
                                        <p:strVal val="visible"/>
                                      </p:to>
                                    </p:set>
                                    <p:anim calcmode="lin" valueType="num">
                                      <p:cBhvr additive="base">
                                        <p:cTn id="11" dur="500" fill="hold"/>
                                        <p:tgtEl>
                                          <p:spTgt spid="650242">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50242">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50242">
                                            <p:txEl>
                                              <p:pRg st="4" end="4"/>
                                            </p:txEl>
                                          </p:spTgt>
                                        </p:tgtEl>
                                        <p:attrNameLst>
                                          <p:attrName>style.visibility</p:attrName>
                                        </p:attrNameLst>
                                      </p:cBhvr>
                                      <p:to>
                                        <p:strVal val="visible"/>
                                      </p:to>
                                    </p:set>
                                    <p:anim calcmode="lin" valueType="num">
                                      <p:cBhvr additive="base">
                                        <p:cTn id="15" dur="500" fill="hold"/>
                                        <p:tgtEl>
                                          <p:spTgt spid="650242">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50242">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50242">
                                            <p:txEl>
                                              <p:pRg st="5" end="5"/>
                                            </p:txEl>
                                          </p:spTgt>
                                        </p:tgtEl>
                                        <p:attrNameLst>
                                          <p:attrName>style.visibility</p:attrName>
                                        </p:attrNameLst>
                                      </p:cBhvr>
                                      <p:to>
                                        <p:strVal val="visible"/>
                                      </p:to>
                                    </p:set>
                                    <p:anim calcmode="lin" valueType="num">
                                      <p:cBhvr additive="base">
                                        <p:cTn id="19" dur="500" fill="hold"/>
                                        <p:tgtEl>
                                          <p:spTgt spid="650242">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50242">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50242">
                                            <p:txEl>
                                              <p:pRg st="6" end="6"/>
                                            </p:txEl>
                                          </p:spTgt>
                                        </p:tgtEl>
                                        <p:attrNameLst>
                                          <p:attrName>style.visibility</p:attrName>
                                        </p:attrNameLst>
                                      </p:cBhvr>
                                      <p:to>
                                        <p:strVal val="visible"/>
                                      </p:to>
                                    </p:set>
                                    <p:anim calcmode="lin" valueType="num">
                                      <p:cBhvr additive="base">
                                        <p:cTn id="23" dur="500" fill="hold"/>
                                        <p:tgtEl>
                                          <p:spTgt spid="650242">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5024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266" name="Rectangle 2"/>
          <p:cNvSpPr>
            <a:spLocks noGrp="1" noChangeArrowheads="1"/>
          </p:cNvSpPr>
          <p:nvPr>
            <p:ph type="body" sz="half" idx="1"/>
          </p:nvPr>
        </p:nvSpPr>
        <p:spPr>
          <a:xfrm>
            <a:off x="611188" y="333375"/>
            <a:ext cx="8096250" cy="6524625"/>
          </a:xfrm>
        </p:spPr>
        <p:txBody>
          <a:bodyPr/>
          <a:lstStyle/>
          <a:p>
            <a:pPr marL="0" indent="0" eaLnBrk="1" hangingPunct="1">
              <a:buFont typeface="Monotype Sorts" pitchFamily="2" charset="2"/>
              <a:buNone/>
              <a:defRPr/>
            </a:pPr>
            <a:r>
              <a:rPr lang="en-US" altLang="zh-CN" sz="2400" dirty="0">
                <a:effectLst>
                  <a:outerShdw blurRad="38100" dist="38100" dir="2700000" algn="tl">
                    <a:srgbClr val="000000">
                      <a:alpha val="43137"/>
                    </a:srgbClr>
                  </a:outerShdw>
                </a:effectLst>
                <a:latin typeface="楷体_GB2312" pitchFamily="49" charset="-122"/>
                <a:ea typeface="楷体_GB2312" pitchFamily="49" charset="-122"/>
              </a:rPr>
              <a:t> </a:t>
            </a:r>
            <a:r>
              <a:rPr lang="en-US" altLang="zh-CN" sz="2400" b="1" dirty="0">
                <a:effectLst>
                  <a:outerShdw blurRad="38100" dist="38100" dir="2700000" algn="tl">
                    <a:srgbClr val="000000">
                      <a:alpha val="43137"/>
                    </a:srgbClr>
                  </a:outerShdw>
                </a:effectLst>
                <a:latin typeface="楷体_GB2312" pitchFamily="49" charset="-122"/>
                <a:ea typeface="楷体_GB2312" pitchFamily="49" charset="-122"/>
              </a:rPr>
              <a:t>void </a:t>
            </a:r>
            <a:r>
              <a:rPr lang="en-US" altLang="zh-CN" sz="2400" b="1" dirty="0" err="1">
                <a:effectLst>
                  <a:outerShdw blurRad="38100" dist="38100" dir="2700000" algn="tl">
                    <a:srgbClr val="000000">
                      <a:alpha val="43137"/>
                    </a:srgbClr>
                  </a:outerShdw>
                </a:effectLst>
                <a:latin typeface="楷体_GB2312" pitchFamily="49" charset="-122"/>
                <a:ea typeface="楷体_GB2312" pitchFamily="49" charset="-122"/>
              </a:rPr>
              <a:t>dayofYear</a:t>
            </a:r>
            <a:r>
              <a:rPr lang="en-US" altLang="zh-CN" sz="2400" b="1" dirty="0">
                <a:effectLst>
                  <a:outerShdw blurRad="38100" dist="38100" dir="2700000" algn="tl">
                    <a:srgbClr val="000000">
                      <a:alpha val="43137"/>
                    </a:srgbClr>
                  </a:outerShdw>
                </a:effectLst>
                <a:latin typeface="楷体_GB2312" pitchFamily="49" charset="-122"/>
                <a:ea typeface="楷体_GB2312" pitchFamily="49" charset="-122"/>
              </a:rPr>
              <a:t>(Date *</a:t>
            </a:r>
            <a:r>
              <a:rPr lang="en-US" altLang="zh-CN" sz="2400" b="1" dirty="0" err="1">
                <a:effectLst>
                  <a:outerShdw blurRad="38100" dist="38100" dir="2700000" algn="tl">
                    <a:srgbClr val="000000">
                      <a:alpha val="43137"/>
                    </a:srgbClr>
                  </a:outerShdw>
                </a:effectLst>
                <a:latin typeface="楷体_GB2312" pitchFamily="49" charset="-122"/>
                <a:ea typeface="楷体_GB2312" pitchFamily="49" charset="-122"/>
              </a:rPr>
              <a:t>dp</a:t>
            </a:r>
            <a:r>
              <a:rPr lang="en-US" altLang="zh-CN" sz="2400" b="1" dirty="0">
                <a:effectLst>
                  <a:outerShdw blurRad="38100" dist="38100" dir="2700000" algn="tl">
                    <a:srgbClr val="000000">
                      <a:alpha val="43137"/>
                    </a:srgbClr>
                  </a:outerShdw>
                </a:effectLst>
                <a:latin typeface="楷体_GB2312" pitchFamily="49" charset="-122"/>
                <a:ea typeface="楷体_GB2312" pitchFamily="49" charset="-122"/>
              </a:rPr>
              <a:t>)/* </a:t>
            </a:r>
            <a:r>
              <a:rPr lang="zh-CN" altLang="en-US" sz="2400" b="1" dirty="0">
                <a:effectLst>
                  <a:outerShdw blurRad="38100" dist="38100" dir="2700000" algn="tl">
                    <a:srgbClr val="000000">
                      <a:alpha val="43137"/>
                    </a:srgbClr>
                  </a:outerShdw>
                </a:effectLst>
                <a:latin typeface="楷体_GB2312" pitchFamily="49" charset="-122"/>
                <a:ea typeface="楷体_GB2312" pitchFamily="49" charset="-122"/>
              </a:rPr>
              <a:t>计算年中第几天函数，设有结构指针形参，无返回值 *</a:t>
            </a:r>
            <a:r>
              <a:rPr lang="en-US" altLang="zh-CN" sz="2400" b="1" dirty="0">
                <a:effectLst>
                  <a:outerShdw blurRad="38100" dist="38100" dir="2700000" algn="tl">
                    <a:srgbClr val="000000">
                      <a:alpha val="43137"/>
                    </a:srgbClr>
                  </a:outerShdw>
                </a:effectLst>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effectLst>
                  <a:outerShdw blurRad="38100" dist="38100" dir="2700000" algn="tl">
                    <a:srgbClr val="000000">
                      <a:alpha val="43137"/>
                    </a:srgbClr>
                  </a:outerShdw>
                </a:effectLst>
                <a:latin typeface="楷体_GB2312" pitchFamily="49" charset="-122"/>
                <a:ea typeface="楷体_GB2312" pitchFamily="49" charset="-122"/>
              </a:rPr>
              <a:t>{ </a:t>
            </a:r>
            <a:r>
              <a:rPr lang="en-US" altLang="zh-CN" sz="2400" b="1" dirty="0" err="1">
                <a:effectLst>
                  <a:outerShdw blurRad="38100" dist="38100" dir="2700000" algn="tl">
                    <a:srgbClr val="000000">
                      <a:alpha val="43137"/>
                    </a:srgbClr>
                  </a:outerShdw>
                </a:effectLst>
                <a:latin typeface="楷体_GB2312" pitchFamily="49" charset="-122"/>
                <a:ea typeface="楷体_GB2312" pitchFamily="49" charset="-122"/>
              </a:rPr>
              <a:t>int</a:t>
            </a:r>
            <a:r>
              <a:rPr lang="en-US" altLang="zh-CN" sz="2400" b="1" dirty="0">
                <a:effectLst>
                  <a:outerShdw blurRad="38100" dist="38100" dir="2700000" algn="tl">
                    <a:srgbClr val="000000">
                      <a:alpha val="43137"/>
                    </a:srgbClr>
                  </a:outerShdw>
                </a:effectLst>
                <a:latin typeface="楷体_GB2312" pitchFamily="49" charset="-122"/>
                <a:ea typeface="楷体_GB2312" pitchFamily="49" charset="-122"/>
              </a:rPr>
              <a:t> </a:t>
            </a:r>
            <a:r>
              <a:rPr lang="en-US" altLang="zh-CN" sz="2400" b="1" dirty="0" err="1">
                <a:effectLst>
                  <a:outerShdw blurRad="38100" dist="38100" dir="2700000" algn="tl">
                    <a:srgbClr val="000000">
                      <a:alpha val="43137"/>
                    </a:srgbClr>
                  </a:outerShdw>
                </a:effectLst>
                <a:latin typeface="楷体_GB2312" pitchFamily="49" charset="-122"/>
                <a:ea typeface="楷体_GB2312" pitchFamily="49" charset="-122"/>
              </a:rPr>
              <a:t>i</a:t>
            </a:r>
            <a:r>
              <a:rPr lang="en-US" altLang="zh-CN" sz="2400" b="1" dirty="0">
                <a:effectLst>
                  <a:outerShdw blurRad="38100" dist="38100" dir="2700000" algn="tl">
                    <a:srgbClr val="000000">
                      <a:alpha val="43137"/>
                    </a:srgbClr>
                  </a:outerShdw>
                </a:effectLst>
                <a:latin typeface="楷体_GB2312" pitchFamily="49" charset="-122"/>
                <a:ea typeface="楷体_GB2312" pitchFamily="49" charset="-122"/>
              </a:rPr>
              <a:t>, leap, day = </a:t>
            </a:r>
            <a:r>
              <a:rPr lang="en-US" altLang="zh-CN" sz="2400" b="1" dirty="0" err="1">
                <a:effectLst>
                  <a:outerShdw blurRad="38100" dist="38100" dir="2700000" algn="tl">
                    <a:srgbClr val="000000">
                      <a:alpha val="43137"/>
                    </a:srgbClr>
                  </a:outerShdw>
                </a:effectLst>
                <a:latin typeface="楷体_GB2312" pitchFamily="49" charset="-122"/>
                <a:ea typeface="楷体_GB2312" pitchFamily="49" charset="-122"/>
              </a:rPr>
              <a:t>dp</a:t>
            </a:r>
            <a:r>
              <a:rPr lang="en-US" altLang="zh-CN" sz="2400" b="1" dirty="0">
                <a:effectLst>
                  <a:outerShdw blurRad="38100" dist="38100" dir="2700000" algn="tl">
                    <a:srgbClr val="000000">
                      <a:alpha val="43137"/>
                    </a:srgbClr>
                  </a:outerShdw>
                </a:effectLst>
                <a:latin typeface="楷体_GB2312" pitchFamily="49" charset="-122"/>
                <a:ea typeface="楷体_GB2312" pitchFamily="49" charset="-122"/>
              </a:rPr>
              <a:t>-&gt;day;	/*</a:t>
            </a:r>
            <a:r>
              <a:rPr lang="zh-CN" altLang="en-US" sz="2400" b="1" dirty="0">
                <a:effectLst>
                  <a:outerShdw blurRad="38100" dist="38100" dir="2700000" algn="tl">
                    <a:srgbClr val="000000">
                      <a:alpha val="43137"/>
                    </a:srgbClr>
                  </a:outerShdw>
                </a:effectLst>
                <a:latin typeface="楷体_GB2312" pitchFamily="49" charset="-122"/>
                <a:ea typeface="楷体_GB2312" pitchFamily="49" charset="-122"/>
              </a:rPr>
              <a:t>确定是闰年或平年*</a:t>
            </a:r>
            <a:r>
              <a:rPr lang="en-US" altLang="zh-CN" sz="2400" b="1" dirty="0">
                <a:effectLst>
                  <a:outerShdw blurRad="38100" dist="38100" dir="2700000" algn="tl">
                    <a:srgbClr val="000000">
                      <a:alpha val="43137"/>
                    </a:srgbClr>
                  </a:outerShdw>
                </a:effectLst>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effectLst>
                  <a:outerShdw blurRad="38100" dist="38100" dir="2700000" algn="tl">
                    <a:srgbClr val="000000">
                      <a:alpha val="43137"/>
                    </a:srgbClr>
                  </a:outerShdw>
                </a:effectLst>
                <a:latin typeface="楷体_GB2312" pitchFamily="49" charset="-122"/>
                <a:ea typeface="楷体_GB2312" pitchFamily="49" charset="-122"/>
              </a:rPr>
              <a:t>  leap =(</a:t>
            </a:r>
            <a:r>
              <a:rPr lang="en-US" altLang="zh-CN" sz="2400" b="1" dirty="0" err="1">
                <a:effectLst>
                  <a:outerShdw blurRad="38100" dist="38100" dir="2700000" algn="tl">
                    <a:srgbClr val="000000">
                      <a:alpha val="43137"/>
                    </a:srgbClr>
                  </a:outerShdw>
                </a:effectLst>
                <a:latin typeface="楷体_GB2312" pitchFamily="49" charset="-122"/>
                <a:ea typeface="楷体_GB2312" pitchFamily="49" charset="-122"/>
              </a:rPr>
              <a:t>dp</a:t>
            </a:r>
            <a:r>
              <a:rPr lang="en-US" altLang="zh-CN" sz="2400" b="1" dirty="0">
                <a:effectLst>
                  <a:outerShdw blurRad="38100" dist="38100" dir="2700000" algn="tl">
                    <a:srgbClr val="000000">
                      <a:alpha val="43137"/>
                    </a:srgbClr>
                  </a:outerShdw>
                </a:effectLst>
                <a:latin typeface="楷体_GB2312" pitchFamily="49" charset="-122"/>
                <a:ea typeface="楷体_GB2312" pitchFamily="49" charset="-122"/>
              </a:rPr>
              <a:t>-&gt;year%4 == 0 &amp;&amp; </a:t>
            </a:r>
            <a:r>
              <a:rPr lang="en-US" altLang="zh-CN" sz="2400" b="1" dirty="0" err="1">
                <a:effectLst>
                  <a:outerShdw blurRad="38100" dist="38100" dir="2700000" algn="tl">
                    <a:srgbClr val="000000">
                      <a:alpha val="43137"/>
                    </a:srgbClr>
                  </a:outerShdw>
                </a:effectLst>
                <a:latin typeface="楷体_GB2312" pitchFamily="49" charset="-122"/>
                <a:ea typeface="楷体_GB2312" pitchFamily="49" charset="-122"/>
              </a:rPr>
              <a:t>dp</a:t>
            </a:r>
            <a:r>
              <a:rPr lang="en-US" altLang="zh-CN" sz="2400" b="1" dirty="0">
                <a:effectLst>
                  <a:outerShdw blurRad="38100" dist="38100" dir="2700000" algn="tl">
                    <a:srgbClr val="000000">
                      <a:alpha val="43137"/>
                    </a:srgbClr>
                  </a:outerShdw>
                </a:effectLst>
                <a:latin typeface="楷体_GB2312" pitchFamily="49" charset="-122"/>
                <a:ea typeface="楷体_GB2312" pitchFamily="49" charset="-122"/>
              </a:rPr>
              <a:t>-&gt;year%100)|| </a:t>
            </a:r>
            <a:r>
              <a:rPr lang="en-US" altLang="zh-CN" sz="2400" b="1" dirty="0" err="1">
                <a:effectLst>
                  <a:outerShdw blurRad="38100" dist="38100" dir="2700000" algn="tl">
                    <a:srgbClr val="000000">
                      <a:alpha val="43137"/>
                    </a:srgbClr>
                  </a:outerShdw>
                </a:effectLst>
                <a:latin typeface="楷体_GB2312" pitchFamily="49" charset="-122"/>
                <a:ea typeface="楷体_GB2312" pitchFamily="49" charset="-122"/>
              </a:rPr>
              <a:t>dp</a:t>
            </a:r>
            <a:r>
              <a:rPr lang="en-US" altLang="zh-CN" sz="2400" b="1" dirty="0">
                <a:effectLst>
                  <a:outerShdw blurRad="38100" dist="38100" dir="2700000" algn="tl">
                    <a:srgbClr val="000000">
                      <a:alpha val="43137"/>
                    </a:srgbClr>
                  </a:outerShdw>
                </a:effectLst>
                <a:latin typeface="楷体_GB2312" pitchFamily="49" charset="-122"/>
                <a:ea typeface="楷体_GB2312" pitchFamily="49" charset="-122"/>
              </a:rPr>
              <a:t>-&gt;year%400 == 0; </a:t>
            </a:r>
          </a:p>
          <a:p>
            <a:pPr marL="0" indent="0" eaLnBrk="1" hangingPunct="1">
              <a:buFont typeface="Monotype Sorts" pitchFamily="2" charset="2"/>
              <a:buNone/>
              <a:defRPr/>
            </a:pPr>
            <a:r>
              <a:rPr lang="en-US" altLang="zh-CN" sz="2400" b="1" dirty="0">
                <a:effectLst>
                  <a:outerShdw blurRad="38100" dist="38100" dir="2700000" algn="tl">
                    <a:srgbClr val="000000">
                      <a:alpha val="43137"/>
                    </a:srgbClr>
                  </a:outerShdw>
                </a:effectLst>
                <a:latin typeface="楷体_GB2312" pitchFamily="49" charset="-122"/>
                <a:ea typeface="楷体_GB2312" pitchFamily="49" charset="-122"/>
              </a:rPr>
              <a:t>  for(</a:t>
            </a:r>
            <a:r>
              <a:rPr lang="en-US" altLang="zh-CN" sz="2400" b="1" dirty="0" err="1">
                <a:effectLst>
                  <a:outerShdw blurRad="38100" dist="38100" dir="2700000" algn="tl">
                    <a:srgbClr val="000000">
                      <a:alpha val="43137"/>
                    </a:srgbClr>
                  </a:outerShdw>
                </a:effectLst>
                <a:latin typeface="楷体_GB2312" pitchFamily="49" charset="-122"/>
                <a:ea typeface="楷体_GB2312" pitchFamily="49" charset="-122"/>
              </a:rPr>
              <a:t>i</a:t>
            </a:r>
            <a:r>
              <a:rPr lang="en-US" altLang="zh-CN" sz="2400" b="1" dirty="0">
                <a:effectLst>
                  <a:outerShdw blurRad="38100" dist="38100" dir="2700000" algn="tl">
                    <a:srgbClr val="000000">
                      <a:alpha val="43137"/>
                    </a:srgbClr>
                  </a:outerShdw>
                </a:effectLst>
                <a:latin typeface="楷体_GB2312" pitchFamily="49" charset="-122"/>
                <a:ea typeface="楷体_GB2312" pitchFamily="49" charset="-122"/>
              </a:rPr>
              <a:t> = 0; </a:t>
            </a:r>
            <a:r>
              <a:rPr lang="en-US" altLang="zh-CN" sz="2400" b="1" dirty="0" err="1">
                <a:effectLst>
                  <a:outerShdw blurRad="38100" dist="38100" dir="2700000" algn="tl">
                    <a:srgbClr val="000000">
                      <a:alpha val="43137"/>
                    </a:srgbClr>
                  </a:outerShdw>
                </a:effectLst>
                <a:latin typeface="楷体_GB2312" pitchFamily="49" charset="-122"/>
                <a:ea typeface="楷体_GB2312" pitchFamily="49" charset="-122"/>
              </a:rPr>
              <a:t>i</a:t>
            </a:r>
            <a:r>
              <a:rPr lang="en-US" altLang="zh-CN" sz="2400" b="1" dirty="0">
                <a:effectLst>
                  <a:outerShdw blurRad="38100" dist="38100" dir="2700000" algn="tl">
                    <a:srgbClr val="000000">
                      <a:alpha val="43137"/>
                    </a:srgbClr>
                  </a:outerShdw>
                </a:effectLst>
                <a:latin typeface="楷体_GB2312" pitchFamily="49" charset="-122"/>
                <a:ea typeface="楷体_GB2312" pitchFamily="49" charset="-122"/>
              </a:rPr>
              <a:t> &lt; </a:t>
            </a:r>
            <a:r>
              <a:rPr lang="en-US" altLang="zh-CN" sz="2400" b="1" dirty="0" err="1">
                <a:effectLst>
                  <a:outerShdw blurRad="38100" dist="38100" dir="2700000" algn="tl">
                    <a:srgbClr val="000000">
                      <a:alpha val="43137"/>
                    </a:srgbClr>
                  </a:outerShdw>
                </a:effectLst>
                <a:latin typeface="楷体_GB2312" pitchFamily="49" charset="-122"/>
                <a:ea typeface="楷体_GB2312" pitchFamily="49" charset="-122"/>
              </a:rPr>
              <a:t>dp</a:t>
            </a:r>
            <a:r>
              <a:rPr lang="en-US" altLang="zh-CN" sz="2400" b="1" dirty="0">
                <a:effectLst>
                  <a:outerShdw blurRad="38100" dist="38100" dir="2700000" algn="tl">
                    <a:srgbClr val="000000">
                      <a:alpha val="43137"/>
                    </a:srgbClr>
                  </a:outerShdw>
                </a:effectLst>
                <a:latin typeface="楷体_GB2312" pitchFamily="49" charset="-122"/>
                <a:ea typeface="楷体_GB2312" pitchFamily="49" charset="-122"/>
              </a:rPr>
              <a:t>-&gt;month-1; </a:t>
            </a:r>
            <a:r>
              <a:rPr lang="en-US" altLang="zh-CN" sz="2400" b="1" dirty="0" err="1">
                <a:effectLst>
                  <a:outerShdw blurRad="38100" dist="38100" dir="2700000" algn="tl">
                    <a:srgbClr val="000000">
                      <a:alpha val="43137"/>
                    </a:srgbClr>
                  </a:outerShdw>
                </a:effectLst>
                <a:latin typeface="楷体_GB2312" pitchFamily="49" charset="-122"/>
                <a:ea typeface="楷体_GB2312" pitchFamily="49" charset="-122"/>
              </a:rPr>
              <a:t>i</a:t>
            </a:r>
            <a:r>
              <a:rPr lang="en-US" altLang="zh-CN" sz="2400" b="1" dirty="0">
                <a:effectLst>
                  <a:outerShdw blurRad="38100" dist="38100" dir="2700000" algn="tl">
                    <a:srgbClr val="000000">
                      <a:alpha val="43137"/>
                    </a:srgbClr>
                  </a:outerShdw>
                </a:effectLst>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effectLst>
                  <a:outerShdw blurRad="38100" dist="38100" dir="2700000" algn="tl">
                    <a:srgbClr val="000000">
                      <a:alpha val="43137"/>
                    </a:srgbClr>
                  </a:outerShdw>
                </a:effectLst>
                <a:latin typeface="楷体_GB2312" pitchFamily="49" charset="-122"/>
                <a:ea typeface="楷体_GB2312" pitchFamily="49" charset="-122"/>
              </a:rPr>
              <a:t>      day += </a:t>
            </a:r>
            <a:r>
              <a:rPr lang="en-US" altLang="zh-CN" sz="2400" b="1" dirty="0" err="1">
                <a:effectLst>
                  <a:outerShdw blurRad="38100" dist="38100" dir="2700000" algn="tl">
                    <a:srgbClr val="000000">
                      <a:alpha val="43137"/>
                    </a:srgbClr>
                  </a:outerShdw>
                </a:effectLst>
                <a:latin typeface="楷体_GB2312" pitchFamily="49" charset="-122"/>
                <a:ea typeface="楷体_GB2312" pitchFamily="49" charset="-122"/>
              </a:rPr>
              <a:t>dayTable</a:t>
            </a:r>
            <a:r>
              <a:rPr lang="en-US" altLang="zh-CN" sz="2400" b="1" dirty="0">
                <a:effectLst>
                  <a:outerShdw blurRad="38100" dist="38100" dir="2700000" algn="tl">
                    <a:srgbClr val="000000">
                      <a:alpha val="43137"/>
                    </a:srgbClr>
                  </a:outerShdw>
                </a:effectLst>
                <a:latin typeface="楷体_GB2312" pitchFamily="49" charset="-122"/>
                <a:ea typeface="楷体_GB2312" pitchFamily="49" charset="-122"/>
              </a:rPr>
              <a:t>[leap][</a:t>
            </a:r>
            <a:r>
              <a:rPr lang="en-US" altLang="zh-CN" sz="2400" b="1" dirty="0" err="1">
                <a:effectLst>
                  <a:outerShdw blurRad="38100" dist="38100" dir="2700000" algn="tl">
                    <a:srgbClr val="000000">
                      <a:alpha val="43137"/>
                    </a:srgbClr>
                  </a:outerShdw>
                </a:effectLst>
                <a:latin typeface="楷体_GB2312" pitchFamily="49" charset="-122"/>
                <a:ea typeface="楷体_GB2312" pitchFamily="49" charset="-122"/>
              </a:rPr>
              <a:t>i</a:t>
            </a:r>
            <a:r>
              <a:rPr lang="en-US" altLang="zh-CN" sz="2400" b="1" dirty="0">
                <a:effectLst>
                  <a:outerShdw blurRad="38100" dist="38100" dir="2700000" algn="tl">
                    <a:srgbClr val="000000">
                      <a:alpha val="43137"/>
                    </a:srgbClr>
                  </a:outerShdw>
                </a:effectLst>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effectLst>
                  <a:outerShdw blurRad="38100" dist="38100" dir="2700000" algn="tl">
                    <a:srgbClr val="000000">
                      <a:alpha val="43137"/>
                    </a:srgbClr>
                  </a:outerShdw>
                </a:effectLst>
                <a:latin typeface="楷体_GB2312" pitchFamily="49" charset="-122"/>
                <a:ea typeface="楷体_GB2312" pitchFamily="49" charset="-122"/>
              </a:rPr>
              <a:t>  </a:t>
            </a:r>
            <a:r>
              <a:rPr lang="en-US" altLang="zh-CN" sz="2400" b="1" dirty="0" err="1">
                <a:solidFill>
                  <a:srgbClr val="FF0000"/>
                </a:solidFill>
                <a:effectLst>
                  <a:outerShdw blurRad="38100" dist="38100" dir="2700000" algn="tl">
                    <a:srgbClr val="000000">
                      <a:alpha val="43137"/>
                    </a:srgbClr>
                  </a:outerShdw>
                </a:effectLst>
                <a:latin typeface="楷体_GB2312" pitchFamily="49" charset="-122"/>
                <a:ea typeface="楷体_GB2312" pitchFamily="49" charset="-122"/>
              </a:rPr>
              <a:t>dp</a:t>
            </a:r>
            <a:r>
              <a:rPr lang="en-US" altLang="zh-CN" sz="2400" b="1" dirty="0">
                <a:solidFill>
                  <a:srgbClr val="FF0000"/>
                </a:solidFill>
                <a:effectLst>
                  <a:outerShdw blurRad="38100" dist="38100" dir="2700000" algn="tl">
                    <a:srgbClr val="000000">
                      <a:alpha val="43137"/>
                    </a:srgbClr>
                  </a:outerShdw>
                </a:effectLst>
                <a:latin typeface="楷体_GB2312" pitchFamily="49" charset="-122"/>
                <a:ea typeface="楷体_GB2312" pitchFamily="49" charset="-122"/>
              </a:rPr>
              <a:t>-&gt;</a:t>
            </a:r>
            <a:r>
              <a:rPr lang="en-US" altLang="zh-CN" sz="2400" b="1" dirty="0" err="1">
                <a:solidFill>
                  <a:srgbClr val="FF0000"/>
                </a:solidFill>
                <a:effectLst>
                  <a:outerShdw blurRad="38100" dist="38100" dir="2700000" algn="tl">
                    <a:srgbClr val="000000">
                      <a:alpha val="43137"/>
                    </a:srgbClr>
                  </a:outerShdw>
                </a:effectLst>
                <a:latin typeface="楷体_GB2312" pitchFamily="49" charset="-122"/>
                <a:ea typeface="楷体_GB2312" pitchFamily="49" charset="-122"/>
              </a:rPr>
              <a:t>yearDay</a:t>
            </a:r>
            <a:r>
              <a:rPr lang="en-US" altLang="zh-CN" sz="2400" b="1" dirty="0">
                <a:solidFill>
                  <a:srgbClr val="FF0000"/>
                </a:solidFill>
                <a:effectLst>
                  <a:outerShdw blurRad="38100" dist="38100" dir="2700000" algn="tl">
                    <a:srgbClr val="000000">
                      <a:alpha val="43137"/>
                    </a:srgbClr>
                  </a:outerShdw>
                </a:effectLst>
                <a:latin typeface="楷体_GB2312" pitchFamily="49" charset="-122"/>
                <a:ea typeface="楷体_GB2312" pitchFamily="49" charset="-122"/>
              </a:rPr>
              <a:t> = day; </a:t>
            </a:r>
            <a:r>
              <a:rPr lang="en-US" altLang="zh-CN" sz="2400" b="1" dirty="0">
                <a:effectLst>
                  <a:outerShdw blurRad="38100" dist="38100" dir="2700000" algn="tl">
                    <a:srgbClr val="000000">
                      <a:alpha val="43137"/>
                    </a:srgbClr>
                  </a:outerShdw>
                </a:effectLst>
                <a:latin typeface="楷体_GB2312" pitchFamily="49" charset="-122"/>
                <a:ea typeface="楷体_GB2312" pitchFamily="49" charset="-122"/>
              </a:rPr>
              <a:t>	/* </a:t>
            </a:r>
            <a:r>
              <a:rPr lang="zh-CN" altLang="en-US" sz="2400" b="1" dirty="0">
                <a:effectLst>
                  <a:outerShdw blurRad="38100" dist="38100" dir="2700000" algn="tl">
                    <a:srgbClr val="000000">
                      <a:alpha val="43137"/>
                    </a:srgbClr>
                  </a:outerShdw>
                </a:effectLst>
                <a:latin typeface="楷体_GB2312" pitchFamily="49" charset="-122"/>
                <a:ea typeface="楷体_GB2312" pitchFamily="49" charset="-122"/>
              </a:rPr>
              <a:t>计算结果回填到</a:t>
            </a:r>
            <a:r>
              <a:rPr lang="en-US" altLang="zh-CN" sz="2400" b="1" dirty="0" err="1">
                <a:effectLst>
                  <a:outerShdw blurRad="38100" dist="38100" dir="2700000" algn="tl">
                    <a:srgbClr val="000000">
                      <a:alpha val="43137"/>
                    </a:srgbClr>
                  </a:outerShdw>
                </a:effectLst>
                <a:latin typeface="楷体_GB2312" pitchFamily="49" charset="-122"/>
                <a:ea typeface="楷体_GB2312" pitchFamily="49" charset="-122"/>
              </a:rPr>
              <a:t>yearDay</a:t>
            </a:r>
            <a:r>
              <a:rPr lang="zh-CN" altLang="en-US" sz="2400" b="1" dirty="0">
                <a:effectLst>
                  <a:outerShdw blurRad="38100" dist="38100" dir="2700000" algn="tl">
                    <a:srgbClr val="000000">
                      <a:alpha val="43137"/>
                    </a:srgbClr>
                  </a:outerShdw>
                </a:effectLst>
                <a:latin typeface="楷体_GB2312" pitchFamily="49" charset="-122"/>
                <a:ea typeface="楷体_GB2312" pitchFamily="49" charset="-122"/>
              </a:rPr>
              <a:t>成员，没有</a:t>
            </a:r>
            <a:r>
              <a:rPr lang="en-US" altLang="zh-CN" sz="2400" b="1" dirty="0">
                <a:effectLst>
                  <a:outerShdw blurRad="38100" dist="38100" dir="2700000" algn="tl">
                    <a:srgbClr val="000000">
                      <a:alpha val="43137"/>
                    </a:srgbClr>
                  </a:outerShdw>
                </a:effectLst>
                <a:latin typeface="楷体_GB2312" pitchFamily="49" charset="-122"/>
                <a:ea typeface="楷体_GB2312" pitchFamily="49" charset="-122"/>
              </a:rPr>
              <a:t>return</a:t>
            </a:r>
            <a:r>
              <a:rPr lang="zh-CN" altLang="en-US" sz="2400" b="1" dirty="0">
                <a:effectLst>
                  <a:outerShdw blurRad="38100" dist="38100" dir="2700000" algn="tl">
                    <a:srgbClr val="000000">
                      <a:alpha val="43137"/>
                    </a:srgbClr>
                  </a:outerShdw>
                </a:effectLst>
                <a:latin typeface="楷体_GB2312" pitchFamily="49" charset="-122"/>
                <a:ea typeface="楷体_GB2312" pitchFamily="49" charset="-122"/>
              </a:rPr>
              <a:t>语句 *</a:t>
            </a:r>
            <a:r>
              <a:rPr lang="en-US" altLang="zh-CN" sz="2400" b="1" dirty="0">
                <a:effectLst>
                  <a:outerShdw blurRad="38100" dist="38100" dir="2700000" algn="tl">
                    <a:srgbClr val="000000">
                      <a:alpha val="43137"/>
                    </a:srgbClr>
                  </a:outerShdw>
                </a:effectLst>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effectLst>
                  <a:outerShdw blurRad="38100" dist="38100" dir="2700000" algn="tl">
                    <a:srgbClr val="000000">
                      <a:alpha val="43137"/>
                    </a:srgbClr>
                  </a:outerShdw>
                </a:effectLst>
                <a:latin typeface="楷体_GB2312" pitchFamily="49" charset="-122"/>
                <a:ea typeface="楷体_GB2312" pitchFamily="49" charset="-122"/>
              </a:rPr>
              <a:t>}</a:t>
            </a:r>
          </a:p>
          <a:p>
            <a:pPr marL="0" indent="0" eaLnBrk="1" hangingPunct="1">
              <a:buFont typeface="Monotype Sorts" pitchFamily="2" charset="2"/>
              <a:buNone/>
              <a:defRPr/>
            </a:pPr>
            <a:r>
              <a:rPr lang="zh-CN" altLang="en-US" sz="2400" b="1" dirty="0">
                <a:solidFill>
                  <a:schemeClr val="tx1"/>
                </a:solidFill>
                <a:effectLst>
                  <a:outerShdw blurRad="38100" dist="38100" dir="2700000" algn="tl">
                    <a:srgbClr val="000000">
                      <a:alpha val="43137"/>
                    </a:srgbClr>
                  </a:outerShdw>
                </a:effectLst>
                <a:latin typeface="楷体_GB2312" pitchFamily="49" charset="-122"/>
                <a:ea typeface="楷体_GB2312" pitchFamily="49" charset="-122"/>
              </a:rPr>
              <a:t>在主函数中，对</a:t>
            </a:r>
            <a:r>
              <a:rPr lang="en-US" altLang="zh-CN" sz="2400" b="1" dirty="0" err="1">
                <a:solidFill>
                  <a:schemeClr val="tx1"/>
                </a:solidFill>
                <a:effectLst>
                  <a:outerShdw blurRad="38100" dist="38100" dir="2700000" algn="tl">
                    <a:srgbClr val="000000">
                      <a:alpha val="43137"/>
                    </a:srgbClr>
                  </a:outerShdw>
                </a:effectLst>
                <a:latin typeface="楷体_GB2312" pitchFamily="49" charset="-122"/>
                <a:ea typeface="楷体_GB2312" pitchFamily="49" charset="-122"/>
              </a:rPr>
              <a:t>dayofYear</a:t>
            </a:r>
            <a:r>
              <a:rPr lang="zh-CN" altLang="en-US" sz="2400" b="1" dirty="0">
                <a:solidFill>
                  <a:schemeClr val="tx1"/>
                </a:solidFill>
                <a:effectLst>
                  <a:outerShdw blurRad="38100" dist="38100" dir="2700000" algn="tl">
                    <a:srgbClr val="000000">
                      <a:alpha val="43137"/>
                    </a:srgbClr>
                  </a:outerShdw>
                </a:effectLst>
                <a:latin typeface="楷体_GB2312" pitchFamily="49" charset="-122"/>
                <a:ea typeface="楷体_GB2312" pitchFamily="49" charset="-122"/>
              </a:rPr>
              <a:t>函数的调用使用</a:t>
            </a:r>
            <a:r>
              <a:rPr lang="en-US" altLang="zh-CN" sz="2400" b="1" dirty="0">
                <a:solidFill>
                  <a:schemeClr val="tx1"/>
                </a:solidFill>
                <a:effectLst>
                  <a:outerShdw blurRad="38100" dist="38100" dir="2700000" algn="tl">
                    <a:srgbClr val="000000">
                      <a:alpha val="43137"/>
                    </a:srgbClr>
                  </a:outerShdw>
                </a:effectLst>
                <a:latin typeface="楷体_GB2312" pitchFamily="49" charset="-122"/>
                <a:ea typeface="楷体_GB2312" pitchFamily="49" charset="-122"/>
              </a:rPr>
              <a:t>date</a:t>
            </a:r>
            <a:r>
              <a:rPr lang="zh-CN" altLang="en-US" sz="2400" b="1" dirty="0">
                <a:solidFill>
                  <a:schemeClr val="tx1"/>
                </a:solidFill>
                <a:effectLst>
                  <a:outerShdw blurRad="38100" dist="38100" dir="2700000" algn="tl">
                    <a:srgbClr val="000000">
                      <a:alpha val="43137"/>
                    </a:srgbClr>
                  </a:outerShdw>
                </a:effectLst>
                <a:latin typeface="楷体_GB2312" pitchFamily="49" charset="-122"/>
                <a:ea typeface="楷体_GB2312" pitchFamily="49" charset="-122"/>
              </a:rPr>
              <a:t>结构变量的地址作为实参，因此在</a:t>
            </a:r>
            <a:r>
              <a:rPr lang="en-US" altLang="zh-CN" sz="2400" b="1" dirty="0" err="1">
                <a:solidFill>
                  <a:schemeClr val="tx1"/>
                </a:solidFill>
                <a:effectLst>
                  <a:outerShdw blurRad="38100" dist="38100" dir="2700000" algn="tl">
                    <a:srgbClr val="000000">
                      <a:alpha val="43137"/>
                    </a:srgbClr>
                  </a:outerShdw>
                </a:effectLst>
                <a:latin typeface="楷体_GB2312" pitchFamily="49" charset="-122"/>
                <a:ea typeface="楷体_GB2312" pitchFamily="49" charset="-122"/>
              </a:rPr>
              <a:t>dayofYear</a:t>
            </a:r>
            <a:r>
              <a:rPr lang="zh-CN" altLang="en-US" sz="2400" b="1" dirty="0">
                <a:solidFill>
                  <a:schemeClr val="tx1"/>
                </a:solidFill>
                <a:effectLst>
                  <a:outerShdw blurRad="38100" dist="38100" dir="2700000" algn="tl">
                    <a:srgbClr val="000000">
                      <a:alpha val="43137"/>
                    </a:srgbClr>
                  </a:outerShdw>
                </a:effectLst>
                <a:latin typeface="楷体_GB2312" pitchFamily="49" charset="-122"/>
                <a:ea typeface="楷体_GB2312" pitchFamily="49" charset="-122"/>
              </a:rPr>
              <a:t>函数中必须用结构指针形参</a:t>
            </a:r>
            <a:r>
              <a:rPr lang="en-US" altLang="zh-CN" sz="2400" b="1" dirty="0">
                <a:solidFill>
                  <a:schemeClr val="tx1"/>
                </a:solidFill>
                <a:effectLst>
                  <a:outerShdw blurRad="38100" dist="38100" dir="2700000" algn="tl">
                    <a:srgbClr val="000000">
                      <a:alpha val="43137"/>
                    </a:srgbClr>
                  </a:outerShdw>
                </a:effectLst>
                <a:latin typeface="楷体_GB2312" pitchFamily="49" charset="-122"/>
                <a:ea typeface="楷体_GB2312" pitchFamily="49" charset="-122"/>
              </a:rPr>
              <a:t>Date *</a:t>
            </a:r>
            <a:r>
              <a:rPr lang="en-US" altLang="zh-CN" sz="2400" b="1" dirty="0" err="1">
                <a:solidFill>
                  <a:schemeClr val="tx1"/>
                </a:solidFill>
                <a:effectLst>
                  <a:outerShdw blurRad="38100" dist="38100" dir="2700000" algn="tl">
                    <a:srgbClr val="000000">
                      <a:alpha val="43137"/>
                    </a:srgbClr>
                  </a:outerShdw>
                </a:effectLst>
                <a:latin typeface="楷体_GB2312" pitchFamily="49" charset="-122"/>
                <a:ea typeface="楷体_GB2312" pitchFamily="49" charset="-122"/>
              </a:rPr>
              <a:t>dp</a:t>
            </a:r>
            <a:r>
              <a:rPr lang="zh-CN" altLang="en-US" sz="2400" b="1" dirty="0">
                <a:solidFill>
                  <a:schemeClr val="tx1"/>
                </a:solidFill>
                <a:effectLst>
                  <a:outerShdw blurRad="38100" dist="38100" dir="2700000" algn="tl">
                    <a:srgbClr val="000000">
                      <a:alpha val="43137"/>
                    </a:srgbClr>
                  </a:outerShdw>
                </a:effectLst>
                <a:latin typeface="楷体_GB2312" pitchFamily="49" charset="-122"/>
                <a:ea typeface="楷体_GB2312" pitchFamily="49" charset="-122"/>
              </a:rPr>
              <a:t>与之对应。被调用函数</a:t>
            </a:r>
            <a:r>
              <a:rPr lang="en-US" altLang="zh-CN" sz="2400" b="1" dirty="0" err="1">
                <a:solidFill>
                  <a:schemeClr val="tx1"/>
                </a:solidFill>
                <a:effectLst>
                  <a:outerShdw blurRad="38100" dist="38100" dir="2700000" algn="tl">
                    <a:srgbClr val="000000">
                      <a:alpha val="43137"/>
                    </a:srgbClr>
                  </a:outerShdw>
                </a:effectLst>
                <a:latin typeface="楷体_GB2312" pitchFamily="49" charset="-122"/>
                <a:ea typeface="楷体_GB2312" pitchFamily="49" charset="-122"/>
              </a:rPr>
              <a:t>dayofYear</a:t>
            </a:r>
            <a:r>
              <a:rPr lang="zh-CN" altLang="en-US" sz="2400" b="1" dirty="0">
                <a:solidFill>
                  <a:schemeClr val="tx1"/>
                </a:solidFill>
                <a:effectLst>
                  <a:outerShdw blurRad="38100" dist="38100" dir="2700000" algn="tl">
                    <a:srgbClr val="000000">
                      <a:alpha val="43137"/>
                    </a:srgbClr>
                  </a:outerShdw>
                </a:effectLst>
                <a:latin typeface="楷体_GB2312" pitchFamily="49" charset="-122"/>
                <a:ea typeface="楷体_GB2312" pitchFamily="49" charset="-122"/>
              </a:rPr>
              <a:t>通过结构指针形参引用所指向的结构成员，并将计算结果存放到所指结构的相应成员</a:t>
            </a:r>
            <a:r>
              <a:rPr lang="en-US" altLang="zh-CN" sz="2400" b="1" dirty="0" err="1">
                <a:solidFill>
                  <a:schemeClr val="tx1"/>
                </a:solidFill>
                <a:effectLst>
                  <a:outerShdw blurRad="38100" dist="38100" dir="2700000" algn="tl">
                    <a:srgbClr val="000000">
                      <a:alpha val="43137"/>
                    </a:srgbClr>
                  </a:outerShdw>
                </a:effectLst>
                <a:latin typeface="楷体_GB2312" pitchFamily="49" charset="-122"/>
                <a:ea typeface="楷体_GB2312" pitchFamily="49" charset="-122"/>
              </a:rPr>
              <a:t>yearDay</a:t>
            </a:r>
            <a:r>
              <a:rPr lang="zh-CN" altLang="en-US" sz="2400" b="1" dirty="0">
                <a:solidFill>
                  <a:schemeClr val="tx1"/>
                </a:solidFill>
                <a:effectLst>
                  <a:outerShdw blurRad="38100" dist="38100" dir="2700000" algn="tl">
                    <a:srgbClr val="000000">
                      <a:alpha val="43137"/>
                    </a:srgbClr>
                  </a:outerShdw>
                </a:effectLst>
                <a:latin typeface="楷体_GB2312" pitchFamily="49" charset="-122"/>
                <a:ea typeface="楷体_GB2312" pitchFamily="49" charset="-122"/>
              </a:rPr>
              <a:t>，不必再返回结果。</a:t>
            </a:r>
            <a:r>
              <a:rPr lang="zh-CN" altLang="en-US" sz="2400" dirty="0">
                <a:solidFill>
                  <a:schemeClr val="tx1"/>
                </a:solidFill>
                <a:effectLst>
                  <a:outerShdw blurRad="38100" dist="38100" dir="2700000" algn="tl">
                    <a:srgbClr val="000000">
                      <a:alpha val="43137"/>
                    </a:srgbClr>
                  </a:outerShdw>
                </a:effectLst>
                <a:latin typeface="楷体_GB2312" pitchFamily="49" charset="-122"/>
                <a:ea typeface="楷体_GB2312" pitchFamily="49" charset="-122"/>
              </a:rPr>
              <a:t> </a:t>
            </a:r>
          </a:p>
        </p:txBody>
      </p:sp>
      <p:sp>
        <p:nvSpPr>
          <p:cNvPr id="5" name="灯片编号占位符 6"/>
          <p:cNvSpPr>
            <a:spLocks noGrp="1"/>
          </p:cNvSpPr>
          <p:nvPr>
            <p:ph type="sldNum" sz="quarter" idx="12"/>
          </p:nvPr>
        </p:nvSpPr>
        <p:spPr/>
        <p:txBody>
          <a:bodyPr/>
          <a:lstStyle/>
          <a:p>
            <a:pPr>
              <a:defRPr/>
            </a:pPr>
            <a:fld id="{8F869EE7-63E7-46C9-B387-7A1554D6B587}" type="slidenum">
              <a:rPr lang="en-US" altLang="zh-CN"/>
              <a:pPr>
                <a:defRPr/>
              </a:pPr>
              <a:t>40</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51266">
                                            <p:txEl>
                                              <p:pRg st="7" end="7"/>
                                            </p:txEl>
                                          </p:spTgt>
                                        </p:tgtEl>
                                        <p:attrNameLst>
                                          <p:attrName>style.visibility</p:attrName>
                                        </p:attrNameLst>
                                      </p:cBhvr>
                                      <p:to>
                                        <p:strVal val="visible"/>
                                      </p:to>
                                    </p:set>
                                    <p:anim calcmode="lin" valueType="num">
                                      <p:cBhvr additive="base">
                                        <p:cTn id="7" dur="500" fill="hold"/>
                                        <p:tgtEl>
                                          <p:spTgt spid="651266">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51266">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90" name="Rectangle 2"/>
          <p:cNvSpPr>
            <a:spLocks noGrp="1" noChangeArrowheads="1"/>
          </p:cNvSpPr>
          <p:nvPr>
            <p:ph type="body" sz="half" idx="1"/>
          </p:nvPr>
        </p:nvSpPr>
        <p:spPr>
          <a:xfrm>
            <a:off x="571472" y="500042"/>
            <a:ext cx="8096250" cy="5857915"/>
          </a:xfrm>
        </p:spPr>
        <p:txBody>
          <a:bodyPr>
            <a:normAutofit lnSpcReduction="10000"/>
          </a:bodyPr>
          <a:lstStyle/>
          <a:p>
            <a:pPr marL="0" indent="0" eaLnBrk="1" hangingPunct="1">
              <a:buFont typeface="Monotype Sorts" pitchFamily="2" charset="2"/>
              <a:buNone/>
              <a:defRPr/>
            </a:pPr>
            <a:r>
              <a:rPr lang="en-US" altLang="zh-CN" sz="2400" b="1" dirty="0">
                <a:latin typeface="楷体_GB2312" pitchFamily="49" charset="-122"/>
                <a:ea typeface="楷体_GB2312" pitchFamily="49" charset="-122"/>
              </a:rPr>
              <a:t>(1) </a:t>
            </a:r>
            <a:r>
              <a:rPr lang="zh-CN" altLang="en-US" sz="2400" b="1" dirty="0">
                <a:latin typeface="楷体_GB2312" pitchFamily="49" charset="-122"/>
                <a:ea typeface="楷体_GB2312" pitchFamily="49" charset="-122"/>
              </a:rPr>
              <a:t>结构或结构成员作为函数参数是值传递方式，在被调用函数</a:t>
            </a:r>
            <a:r>
              <a:rPr lang="en-US" altLang="zh-CN" sz="2400" b="1" dirty="0" err="1">
                <a:latin typeface="楷体_GB2312" pitchFamily="49" charset="-122"/>
                <a:ea typeface="楷体_GB2312" pitchFamily="49" charset="-122"/>
              </a:rPr>
              <a:t>dayofYear</a:t>
            </a:r>
            <a:r>
              <a:rPr lang="zh-CN" altLang="en-US" sz="2400" b="1" dirty="0">
                <a:latin typeface="楷体_GB2312" pitchFamily="49" charset="-122"/>
                <a:ea typeface="楷体_GB2312" pitchFamily="49" charset="-122"/>
              </a:rPr>
              <a:t>中必须用</a:t>
            </a:r>
            <a:r>
              <a:rPr lang="en-US" altLang="zh-CN" sz="2400" b="1" dirty="0">
                <a:latin typeface="楷体_GB2312" pitchFamily="49" charset="-122"/>
                <a:ea typeface="楷体_GB2312" pitchFamily="49" charset="-122"/>
              </a:rPr>
              <a:t>return </a:t>
            </a:r>
            <a:r>
              <a:rPr lang="zh-CN" altLang="en-US" sz="2400" b="1" dirty="0">
                <a:latin typeface="楷体_GB2312" pitchFamily="49" charset="-122"/>
                <a:ea typeface="楷体_GB2312" pitchFamily="49" charset="-122"/>
              </a:rPr>
              <a:t>语句返回结果。如果不用</a:t>
            </a:r>
            <a:r>
              <a:rPr lang="en-US" altLang="zh-CN" sz="2400" b="1" dirty="0">
                <a:latin typeface="楷体_GB2312" pitchFamily="49" charset="-122"/>
                <a:ea typeface="楷体_GB2312" pitchFamily="49" charset="-122"/>
              </a:rPr>
              <a:t>return</a:t>
            </a:r>
            <a:r>
              <a:rPr lang="zh-CN" altLang="en-US" sz="2400" b="1" dirty="0">
                <a:latin typeface="楷体_GB2312" pitchFamily="49" charset="-122"/>
                <a:ea typeface="楷体_GB2312" pitchFamily="49" charset="-122"/>
              </a:rPr>
              <a:t>语句，写成</a:t>
            </a:r>
            <a:r>
              <a:rPr lang="zh-CN" altLang="en-US" sz="2400" b="1" dirty="0">
                <a:ea typeface="楷体_GB2312" pitchFamily="49" charset="-122"/>
              </a:rPr>
              <a:t>“</a:t>
            </a:r>
            <a:r>
              <a:rPr lang="en-US" altLang="zh-CN" sz="2400" b="1" dirty="0" err="1">
                <a:latin typeface="楷体_GB2312" pitchFamily="49" charset="-122"/>
                <a:ea typeface="楷体_GB2312" pitchFamily="49" charset="-122"/>
              </a:rPr>
              <a:t>d.yearDay</a:t>
            </a:r>
            <a:r>
              <a:rPr lang="en-US" altLang="zh-CN" sz="2400" b="1" dirty="0">
                <a:latin typeface="楷体_GB2312" pitchFamily="49" charset="-122"/>
                <a:ea typeface="楷体_GB2312" pitchFamily="49" charset="-122"/>
              </a:rPr>
              <a:t> = day</a:t>
            </a:r>
            <a:r>
              <a:rPr lang="zh-CN" altLang="en-US" sz="2400" b="1" dirty="0">
                <a:latin typeface="楷体_GB2312" pitchFamily="49" charset="-122"/>
                <a:ea typeface="楷体_GB2312" pitchFamily="49" charset="-122"/>
              </a:rPr>
              <a:t>；</a:t>
            </a:r>
            <a:r>
              <a:rPr lang="zh-CN" altLang="en-US" sz="2400" b="1" dirty="0">
                <a:ea typeface="楷体_GB2312" pitchFamily="49" charset="-122"/>
              </a:rPr>
              <a:t>”</a:t>
            </a:r>
            <a:r>
              <a:rPr lang="zh-CN" altLang="en-US" sz="2400" b="1" dirty="0">
                <a:latin typeface="楷体_GB2312" pitchFamily="49" charset="-122"/>
                <a:ea typeface="楷体_GB2312" pitchFamily="49" charset="-122"/>
              </a:rPr>
              <a:t>，主函数不能获得函数结果。因为函数的形参是函数的局部变量，函数调用时，将结构</a:t>
            </a:r>
            <a:r>
              <a:rPr lang="en-US" altLang="zh-CN" sz="2400" b="1" dirty="0">
                <a:latin typeface="楷体_GB2312" pitchFamily="49" charset="-122"/>
                <a:ea typeface="楷体_GB2312" pitchFamily="49" charset="-122"/>
              </a:rPr>
              <a:t>date</a:t>
            </a:r>
            <a:r>
              <a:rPr lang="zh-CN" altLang="en-US" sz="2400" b="1" dirty="0">
                <a:latin typeface="楷体_GB2312" pitchFamily="49" charset="-122"/>
                <a:ea typeface="楷体_GB2312" pitchFamily="49" charset="-122"/>
              </a:rPr>
              <a:t>的各成员值依次送给形参</a:t>
            </a:r>
            <a:r>
              <a:rPr lang="en-US" altLang="zh-CN" sz="2400" b="1" dirty="0">
                <a:latin typeface="楷体_GB2312" pitchFamily="49" charset="-122"/>
                <a:ea typeface="楷体_GB2312" pitchFamily="49" charset="-122"/>
              </a:rPr>
              <a:t>d</a:t>
            </a:r>
            <a:r>
              <a:rPr lang="zh-CN" altLang="en-US" sz="2400" b="1" dirty="0">
                <a:latin typeface="楷体_GB2312" pitchFamily="49" charset="-122"/>
                <a:ea typeface="楷体_GB2312" pitchFamily="49" charset="-122"/>
              </a:rPr>
              <a:t>的各成员中，以后函数对</a:t>
            </a:r>
            <a:r>
              <a:rPr lang="en-US" altLang="zh-CN" sz="2400" b="1" dirty="0">
                <a:latin typeface="楷体_GB2312" pitchFamily="49" charset="-122"/>
                <a:ea typeface="楷体_GB2312" pitchFamily="49" charset="-122"/>
              </a:rPr>
              <a:t>d</a:t>
            </a:r>
            <a:r>
              <a:rPr lang="zh-CN" altLang="en-US" sz="2400" b="1" dirty="0">
                <a:latin typeface="楷体_GB2312" pitchFamily="49" charset="-122"/>
                <a:ea typeface="楷体_GB2312" pitchFamily="49" charset="-122"/>
              </a:rPr>
              <a:t>作任何的改变与</a:t>
            </a:r>
            <a:r>
              <a:rPr lang="en-US" altLang="zh-CN" sz="2400" b="1" dirty="0">
                <a:latin typeface="楷体_GB2312" pitchFamily="49" charset="-122"/>
                <a:ea typeface="楷体_GB2312" pitchFamily="49" charset="-122"/>
              </a:rPr>
              <a:t>date</a:t>
            </a:r>
            <a:r>
              <a:rPr lang="zh-CN" altLang="en-US" sz="2400" b="1" dirty="0">
                <a:latin typeface="楷体_GB2312" pitchFamily="49" charset="-122"/>
                <a:ea typeface="楷体_GB2312" pitchFamily="49" charset="-122"/>
              </a:rPr>
              <a:t>无关。见图</a:t>
            </a:r>
            <a:r>
              <a:rPr lang="en-US" altLang="zh-CN" sz="2400" b="1" dirty="0">
                <a:latin typeface="楷体_GB2312" pitchFamily="49" charset="-122"/>
                <a:ea typeface="楷体_GB2312" pitchFamily="49" charset="-122"/>
              </a:rPr>
              <a:t>7.1</a:t>
            </a:r>
            <a:r>
              <a:rPr lang="zh-CN" altLang="en-US" sz="24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main</a:t>
            </a:r>
            <a:r>
              <a:rPr lang="zh-CN" altLang="en-US" sz="2400" b="1" dirty="0">
                <a:latin typeface="楷体_GB2312" pitchFamily="49" charset="-122"/>
                <a:ea typeface="楷体_GB2312" pitchFamily="49" charset="-122"/>
              </a:rPr>
              <a:t>函数调用语句			 </a:t>
            </a:r>
            <a:r>
              <a:rPr lang="en-US" altLang="zh-CN" sz="2400" b="1" dirty="0" err="1">
                <a:latin typeface="楷体_GB2312" pitchFamily="49" charset="-122"/>
                <a:ea typeface="楷体_GB2312" pitchFamily="49" charset="-122"/>
              </a:rPr>
              <a:t>dayofYear</a:t>
            </a:r>
            <a:r>
              <a:rPr lang="zh-CN" altLang="en-US" sz="2400" b="1" dirty="0">
                <a:latin typeface="楷体_GB2312" pitchFamily="49" charset="-122"/>
                <a:ea typeface="楷体_GB2312" pitchFamily="49" charset="-122"/>
              </a:rPr>
              <a:t>函数</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 </a:t>
            </a:r>
            <a:r>
              <a:rPr lang="en-US" altLang="zh-CN" sz="2800" b="1" dirty="0">
                <a:latin typeface="楷体_GB2312" pitchFamily="49" charset="-122"/>
                <a:ea typeface="楷体_GB2312" pitchFamily="49" charset="-122"/>
              </a:rPr>
              <a:t>date</a:t>
            </a:r>
            <a:r>
              <a:rPr lang="zh-CN" altLang="en-US" sz="2800" b="1" dirty="0">
                <a:latin typeface="楷体_GB2312" pitchFamily="49" charset="-122"/>
                <a:ea typeface="楷体_GB2312" pitchFamily="49" charset="-122"/>
              </a:rPr>
              <a:t>结构（实参）			  </a:t>
            </a:r>
            <a:r>
              <a:rPr lang="en-US" altLang="zh-CN" sz="2800" b="1" dirty="0">
                <a:latin typeface="楷体_GB2312" pitchFamily="49" charset="-122"/>
                <a:ea typeface="楷体_GB2312" pitchFamily="49" charset="-122"/>
              </a:rPr>
              <a:t>d</a:t>
            </a:r>
            <a:r>
              <a:rPr lang="zh-CN" altLang="en-US" sz="2800" b="1" dirty="0">
                <a:latin typeface="楷体_GB2312" pitchFamily="49" charset="-122"/>
                <a:ea typeface="楷体_GB2312" pitchFamily="49" charset="-122"/>
              </a:rPr>
              <a:t>结构（形参）</a:t>
            </a:r>
          </a:p>
          <a:p>
            <a:pPr marL="0" indent="0" eaLnBrk="1" hangingPunct="1">
              <a:buFont typeface="Monotype Sorts" pitchFamily="2" charset="2"/>
              <a:buNone/>
              <a:defRPr/>
            </a:pPr>
            <a:endParaRPr lang="zh-CN" altLang="en-US" sz="2400" b="1" dirty="0">
              <a:effectLst>
                <a:outerShdw blurRad="38100" dist="38100" dir="2700000" algn="tl">
                  <a:srgbClr val="000000"/>
                </a:outerShdw>
              </a:effectLst>
              <a:latin typeface="楷体_GB2312" pitchFamily="49" charset="-122"/>
              <a:ea typeface="楷体_GB2312" pitchFamily="49" charset="-122"/>
            </a:endParaRPr>
          </a:p>
          <a:p>
            <a:pPr marL="0" indent="0" eaLnBrk="1" hangingPunct="1">
              <a:buFont typeface="Monotype Sorts" pitchFamily="2" charset="2"/>
              <a:buNone/>
              <a:defRPr/>
            </a:pPr>
            <a:endParaRPr lang="zh-CN" altLang="en-US" sz="2400" b="1" dirty="0">
              <a:effectLst>
                <a:outerShdw blurRad="38100" dist="38100" dir="2700000" algn="tl">
                  <a:srgbClr val="000000"/>
                </a:outerShdw>
              </a:effectLst>
              <a:latin typeface="楷体_GB2312" pitchFamily="49" charset="-122"/>
              <a:ea typeface="楷体_GB2312" pitchFamily="49" charset="-122"/>
            </a:endParaRPr>
          </a:p>
          <a:p>
            <a:pPr marL="0" indent="0" eaLnBrk="1" hangingPunct="1">
              <a:buFont typeface="Monotype Sorts" pitchFamily="2" charset="2"/>
              <a:buNone/>
              <a:defRPr/>
            </a:pPr>
            <a:endParaRPr lang="zh-CN" altLang="en-US" sz="2400" b="1" dirty="0">
              <a:effectLst>
                <a:outerShdw blurRad="38100" dist="38100" dir="2700000" algn="tl">
                  <a:srgbClr val="000000"/>
                </a:outerShdw>
              </a:effectLst>
              <a:latin typeface="楷体_GB2312" pitchFamily="49" charset="-122"/>
              <a:ea typeface="楷体_GB2312" pitchFamily="49" charset="-122"/>
            </a:endParaRPr>
          </a:p>
          <a:p>
            <a:pPr marL="0" indent="0" eaLnBrk="1" hangingPunct="1">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             </a:t>
            </a:r>
            <a:endParaRPr lang="en-US" altLang="zh-CN" sz="2400" b="1" dirty="0">
              <a:effectLst>
                <a:outerShdw blurRad="38100" dist="38100" dir="2700000" algn="tl">
                  <a:srgbClr val="000000"/>
                </a:outerShdw>
              </a:effectLst>
              <a:latin typeface="楷体_GB2312" pitchFamily="49" charset="-122"/>
              <a:ea typeface="楷体_GB2312" pitchFamily="49" charset="-122"/>
            </a:endParaRP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图</a:t>
            </a:r>
            <a:r>
              <a:rPr lang="en-US" altLang="zh-CN" sz="2400" b="1" dirty="0">
                <a:latin typeface="楷体_GB2312" pitchFamily="49" charset="-122"/>
                <a:ea typeface="楷体_GB2312" pitchFamily="49" charset="-122"/>
              </a:rPr>
              <a:t>7.1 </a:t>
            </a:r>
            <a:r>
              <a:rPr lang="zh-CN" altLang="en-US" sz="2400" b="1" dirty="0">
                <a:latin typeface="楷体_GB2312" pitchFamily="49" charset="-122"/>
                <a:ea typeface="楷体_GB2312" pitchFamily="49" charset="-122"/>
              </a:rPr>
              <a:t>结构作为函数参数</a:t>
            </a:r>
          </a:p>
        </p:txBody>
      </p:sp>
      <p:sp>
        <p:nvSpPr>
          <p:cNvPr id="19" name="灯片编号占位符 6"/>
          <p:cNvSpPr>
            <a:spLocks noGrp="1"/>
          </p:cNvSpPr>
          <p:nvPr>
            <p:ph type="sldNum" sz="quarter" idx="12"/>
          </p:nvPr>
        </p:nvSpPr>
        <p:spPr/>
        <p:txBody>
          <a:bodyPr/>
          <a:lstStyle/>
          <a:p>
            <a:pPr>
              <a:defRPr/>
            </a:pPr>
            <a:fld id="{16309414-B878-4E69-B0FF-5DC8D8063C14}" type="slidenum">
              <a:rPr lang="en-US" altLang="zh-CN"/>
              <a:pPr>
                <a:defRPr/>
              </a:pPr>
              <a:t>41</a:t>
            </a:fld>
            <a:endParaRPr lang="en-US" altLang="zh-CN"/>
          </a:p>
        </p:txBody>
      </p:sp>
      <p:grpSp>
        <p:nvGrpSpPr>
          <p:cNvPr id="57348" name="Group 3"/>
          <p:cNvGrpSpPr>
            <a:grpSpLocks/>
          </p:cNvGrpSpPr>
          <p:nvPr/>
        </p:nvGrpSpPr>
        <p:grpSpPr bwMode="auto">
          <a:xfrm>
            <a:off x="1571604" y="4287843"/>
            <a:ext cx="1214446" cy="1284297"/>
            <a:chOff x="5580" y="13140"/>
            <a:chExt cx="1080" cy="1305"/>
          </a:xfrm>
        </p:grpSpPr>
        <p:sp>
          <p:nvSpPr>
            <p:cNvPr id="57358" name="Rectangle 4"/>
            <p:cNvSpPr>
              <a:spLocks noChangeArrowheads="1"/>
            </p:cNvSpPr>
            <p:nvPr/>
          </p:nvSpPr>
          <p:spPr bwMode="auto">
            <a:xfrm>
              <a:off x="5580" y="13140"/>
              <a:ext cx="1080" cy="369"/>
            </a:xfrm>
            <a:prstGeom prst="rect">
              <a:avLst/>
            </a:prstGeom>
            <a:solidFill>
              <a:srgbClr val="FFFFFF"/>
            </a:solidFill>
            <a:ln w="9525">
              <a:solidFill>
                <a:srgbClr val="000000"/>
              </a:solidFill>
              <a:miter lim="800000"/>
              <a:headEnd/>
              <a:tailEnd/>
            </a:ln>
          </p:spPr>
          <p:txBody>
            <a:bodyPr/>
            <a:lstStyle/>
            <a:p>
              <a:pPr algn="ctr">
                <a:lnSpc>
                  <a:spcPct val="72000"/>
                </a:lnSpc>
              </a:pPr>
              <a:r>
                <a:rPr lang="en-US" altLang="zh-CN" sz="1800" b="1" dirty="0"/>
                <a:t>day</a:t>
              </a:r>
              <a:endParaRPr lang="en-US" altLang="zh-CN" sz="4000" b="1" dirty="0"/>
            </a:p>
          </p:txBody>
        </p:sp>
        <p:sp>
          <p:nvSpPr>
            <p:cNvPr id="57359" name="Rectangle 5"/>
            <p:cNvSpPr>
              <a:spLocks noChangeArrowheads="1"/>
            </p:cNvSpPr>
            <p:nvPr/>
          </p:nvSpPr>
          <p:spPr bwMode="auto">
            <a:xfrm>
              <a:off x="5580" y="13452"/>
              <a:ext cx="1080" cy="369"/>
            </a:xfrm>
            <a:prstGeom prst="rect">
              <a:avLst/>
            </a:prstGeom>
            <a:solidFill>
              <a:srgbClr val="FFFFFF"/>
            </a:solidFill>
            <a:ln w="9525">
              <a:solidFill>
                <a:srgbClr val="000000"/>
              </a:solidFill>
              <a:miter lim="800000"/>
              <a:headEnd/>
              <a:tailEnd/>
            </a:ln>
          </p:spPr>
          <p:txBody>
            <a:bodyPr/>
            <a:lstStyle/>
            <a:p>
              <a:pPr algn="ctr">
                <a:lnSpc>
                  <a:spcPct val="72000"/>
                </a:lnSpc>
              </a:pPr>
              <a:r>
                <a:rPr lang="en-US" altLang="zh-CN" sz="1800" b="1"/>
                <a:t>month</a:t>
              </a:r>
              <a:endParaRPr lang="en-US" altLang="zh-CN" sz="4000" b="1"/>
            </a:p>
          </p:txBody>
        </p:sp>
        <p:sp>
          <p:nvSpPr>
            <p:cNvPr id="57360" name="Rectangle 6"/>
            <p:cNvSpPr>
              <a:spLocks noChangeArrowheads="1"/>
            </p:cNvSpPr>
            <p:nvPr/>
          </p:nvSpPr>
          <p:spPr bwMode="auto">
            <a:xfrm>
              <a:off x="5580" y="13764"/>
              <a:ext cx="1080" cy="369"/>
            </a:xfrm>
            <a:prstGeom prst="rect">
              <a:avLst/>
            </a:prstGeom>
            <a:solidFill>
              <a:srgbClr val="FFFFFF"/>
            </a:solidFill>
            <a:ln w="9525">
              <a:solidFill>
                <a:srgbClr val="000000"/>
              </a:solidFill>
              <a:miter lim="800000"/>
              <a:headEnd/>
              <a:tailEnd/>
            </a:ln>
          </p:spPr>
          <p:txBody>
            <a:bodyPr/>
            <a:lstStyle/>
            <a:p>
              <a:pPr algn="ctr">
                <a:lnSpc>
                  <a:spcPct val="72000"/>
                </a:lnSpc>
              </a:pPr>
              <a:r>
                <a:rPr lang="en-US" altLang="zh-CN" sz="1800" b="1"/>
                <a:t>year</a:t>
              </a:r>
              <a:endParaRPr lang="en-US" altLang="zh-CN" sz="4000" b="1"/>
            </a:p>
          </p:txBody>
        </p:sp>
        <p:sp>
          <p:nvSpPr>
            <p:cNvPr id="57361" name="Rectangle 7"/>
            <p:cNvSpPr>
              <a:spLocks noChangeArrowheads="1"/>
            </p:cNvSpPr>
            <p:nvPr/>
          </p:nvSpPr>
          <p:spPr bwMode="auto">
            <a:xfrm>
              <a:off x="5580" y="14076"/>
              <a:ext cx="1080" cy="369"/>
            </a:xfrm>
            <a:prstGeom prst="rect">
              <a:avLst/>
            </a:prstGeom>
            <a:solidFill>
              <a:srgbClr val="FFFFFF"/>
            </a:solidFill>
            <a:ln w="9525">
              <a:solidFill>
                <a:srgbClr val="000000"/>
              </a:solidFill>
              <a:miter lim="800000"/>
              <a:headEnd/>
              <a:tailEnd/>
            </a:ln>
          </p:spPr>
          <p:txBody>
            <a:bodyPr/>
            <a:lstStyle/>
            <a:p>
              <a:pPr algn="ctr">
                <a:lnSpc>
                  <a:spcPct val="72000"/>
                </a:lnSpc>
              </a:pPr>
              <a:r>
                <a:rPr lang="en-US" altLang="zh-CN" sz="1800" b="1" dirty="0" err="1"/>
                <a:t>yearDay</a:t>
              </a:r>
              <a:endParaRPr lang="en-US" altLang="zh-CN" sz="4000" b="1" dirty="0"/>
            </a:p>
          </p:txBody>
        </p:sp>
      </p:grpSp>
      <p:grpSp>
        <p:nvGrpSpPr>
          <p:cNvPr id="57349" name="Group 8"/>
          <p:cNvGrpSpPr>
            <a:grpSpLocks/>
          </p:cNvGrpSpPr>
          <p:nvPr/>
        </p:nvGrpSpPr>
        <p:grpSpPr bwMode="auto">
          <a:xfrm>
            <a:off x="5838825" y="4297368"/>
            <a:ext cx="1162067" cy="1346210"/>
            <a:chOff x="5580" y="13140"/>
            <a:chExt cx="1080" cy="1305"/>
          </a:xfrm>
        </p:grpSpPr>
        <p:sp>
          <p:nvSpPr>
            <p:cNvPr id="57354" name="Rectangle 9"/>
            <p:cNvSpPr>
              <a:spLocks noChangeArrowheads="1"/>
            </p:cNvSpPr>
            <p:nvPr/>
          </p:nvSpPr>
          <p:spPr bwMode="auto">
            <a:xfrm>
              <a:off x="5580" y="13140"/>
              <a:ext cx="1080" cy="369"/>
            </a:xfrm>
            <a:prstGeom prst="rect">
              <a:avLst/>
            </a:prstGeom>
            <a:solidFill>
              <a:srgbClr val="FFFFFF"/>
            </a:solidFill>
            <a:ln w="9525">
              <a:solidFill>
                <a:srgbClr val="000000"/>
              </a:solidFill>
              <a:miter lim="800000"/>
              <a:headEnd/>
              <a:tailEnd/>
            </a:ln>
          </p:spPr>
          <p:txBody>
            <a:bodyPr/>
            <a:lstStyle/>
            <a:p>
              <a:pPr algn="ctr">
                <a:lnSpc>
                  <a:spcPct val="72000"/>
                </a:lnSpc>
              </a:pPr>
              <a:r>
                <a:rPr lang="en-US" altLang="zh-CN" sz="1800" b="1" dirty="0"/>
                <a:t>day</a:t>
              </a:r>
              <a:endParaRPr lang="en-US" altLang="zh-CN" sz="4000" b="1" dirty="0"/>
            </a:p>
          </p:txBody>
        </p:sp>
        <p:sp>
          <p:nvSpPr>
            <p:cNvPr id="57355" name="Rectangle 10"/>
            <p:cNvSpPr>
              <a:spLocks noChangeArrowheads="1"/>
            </p:cNvSpPr>
            <p:nvPr/>
          </p:nvSpPr>
          <p:spPr bwMode="auto">
            <a:xfrm>
              <a:off x="5580" y="13452"/>
              <a:ext cx="1080" cy="369"/>
            </a:xfrm>
            <a:prstGeom prst="rect">
              <a:avLst/>
            </a:prstGeom>
            <a:solidFill>
              <a:srgbClr val="FFFFFF"/>
            </a:solidFill>
            <a:ln w="9525">
              <a:solidFill>
                <a:srgbClr val="000000"/>
              </a:solidFill>
              <a:miter lim="800000"/>
              <a:headEnd/>
              <a:tailEnd/>
            </a:ln>
          </p:spPr>
          <p:txBody>
            <a:bodyPr/>
            <a:lstStyle/>
            <a:p>
              <a:pPr algn="ctr">
                <a:lnSpc>
                  <a:spcPct val="72000"/>
                </a:lnSpc>
              </a:pPr>
              <a:r>
                <a:rPr lang="en-US" altLang="zh-CN" sz="1800" b="1"/>
                <a:t>month</a:t>
              </a:r>
              <a:endParaRPr lang="en-US" altLang="zh-CN" sz="4000" b="1"/>
            </a:p>
          </p:txBody>
        </p:sp>
        <p:sp>
          <p:nvSpPr>
            <p:cNvPr id="57356" name="Rectangle 11"/>
            <p:cNvSpPr>
              <a:spLocks noChangeArrowheads="1"/>
            </p:cNvSpPr>
            <p:nvPr/>
          </p:nvSpPr>
          <p:spPr bwMode="auto">
            <a:xfrm>
              <a:off x="5580" y="13764"/>
              <a:ext cx="1080" cy="369"/>
            </a:xfrm>
            <a:prstGeom prst="rect">
              <a:avLst/>
            </a:prstGeom>
            <a:solidFill>
              <a:srgbClr val="FFFFFF"/>
            </a:solidFill>
            <a:ln w="9525">
              <a:solidFill>
                <a:srgbClr val="000000"/>
              </a:solidFill>
              <a:miter lim="800000"/>
              <a:headEnd/>
              <a:tailEnd/>
            </a:ln>
          </p:spPr>
          <p:txBody>
            <a:bodyPr/>
            <a:lstStyle/>
            <a:p>
              <a:pPr algn="ctr">
                <a:lnSpc>
                  <a:spcPct val="72000"/>
                </a:lnSpc>
              </a:pPr>
              <a:r>
                <a:rPr lang="en-US" altLang="zh-CN" sz="1800" b="1"/>
                <a:t>year</a:t>
              </a:r>
              <a:endParaRPr lang="en-US" altLang="zh-CN" sz="4000" b="1"/>
            </a:p>
          </p:txBody>
        </p:sp>
        <p:sp>
          <p:nvSpPr>
            <p:cNvPr id="57357" name="Rectangle 12"/>
            <p:cNvSpPr>
              <a:spLocks noChangeArrowheads="1"/>
            </p:cNvSpPr>
            <p:nvPr/>
          </p:nvSpPr>
          <p:spPr bwMode="auto">
            <a:xfrm>
              <a:off x="5580" y="14076"/>
              <a:ext cx="1080" cy="369"/>
            </a:xfrm>
            <a:prstGeom prst="rect">
              <a:avLst/>
            </a:prstGeom>
            <a:solidFill>
              <a:srgbClr val="FFFFFF"/>
            </a:solidFill>
            <a:ln w="9525">
              <a:solidFill>
                <a:srgbClr val="000000"/>
              </a:solidFill>
              <a:miter lim="800000"/>
              <a:headEnd/>
              <a:tailEnd/>
            </a:ln>
          </p:spPr>
          <p:txBody>
            <a:bodyPr/>
            <a:lstStyle/>
            <a:p>
              <a:pPr algn="ctr">
                <a:lnSpc>
                  <a:spcPct val="72000"/>
                </a:lnSpc>
              </a:pPr>
              <a:r>
                <a:rPr lang="en-US" altLang="zh-CN" sz="1800" b="1"/>
                <a:t>yearDay</a:t>
              </a:r>
              <a:endParaRPr lang="en-US" altLang="zh-CN" sz="4000" b="1"/>
            </a:p>
          </p:txBody>
        </p:sp>
      </p:grpSp>
      <p:sp>
        <p:nvSpPr>
          <p:cNvPr id="57350" name="Line 14"/>
          <p:cNvSpPr>
            <a:spLocks noChangeShapeType="1"/>
          </p:cNvSpPr>
          <p:nvPr/>
        </p:nvSpPr>
        <p:spPr bwMode="auto">
          <a:xfrm>
            <a:off x="2835284" y="4786322"/>
            <a:ext cx="2951162" cy="0"/>
          </a:xfrm>
          <a:prstGeom prst="line">
            <a:avLst/>
          </a:prstGeom>
          <a:noFill/>
          <a:ln w="9525">
            <a:solidFill>
              <a:schemeClr val="tx1"/>
            </a:solidFill>
            <a:round/>
            <a:headEnd/>
            <a:tailEnd type="triangle" w="med" len="med"/>
          </a:ln>
        </p:spPr>
        <p:txBody>
          <a:bodyPr/>
          <a:lstStyle/>
          <a:p>
            <a:endParaRPr lang="zh-CN" altLang="en-US"/>
          </a:p>
        </p:txBody>
      </p:sp>
      <p:sp>
        <p:nvSpPr>
          <p:cNvPr id="57351" name="Line 15"/>
          <p:cNvSpPr>
            <a:spLocks noChangeShapeType="1"/>
          </p:cNvSpPr>
          <p:nvPr/>
        </p:nvSpPr>
        <p:spPr bwMode="auto">
          <a:xfrm>
            <a:off x="2857488" y="5072074"/>
            <a:ext cx="2951162" cy="0"/>
          </a:xfrm>
          <a:prstGeom prst="line">
            <a:avLst/>
          </a:prstGeom>
          <a:noFill/>
          <a:ln w="9525">
            <a:solidFill>
              <a:schemeClr val="tx1"/>
            </a:solidFill>
            <a:round/>
            <a:headEnd/>
            <a:tailEnd type="triangle" w="med" len="med"/>
          </a:ln>
        </p:spPr>
        <p:txBody>
          <a:bodyPr/>
          <a:lstStyle/>
          <a:p>
            <a:endParaRPr lang="zh-CN" altLang="en-US"/>
          </a:p>
        </p:txBody>
      </p:sp>
      <p:sp>
        <p:nvSpPr>
          <p:cNvPr id="57352" name="Line 16"/>
          <p:cNvSpPr>
            <a:spLocks noChangeShapeType="1"/>
          </p:cNvSpPr>
          <p:nvPr/>
        </p:nvSpPr>
        <p:spPr bwMode="auto">
          <a:xfrm>
            <a:off x="2857488" y="5357826"/>
            <a:ext cx="2951162" cy="0"/>
          </a:xfrm>
          <a:prstGeom prst="line">
            <a:avLst/>
          </a:prstGeom>
          <a:noFill/>
          <a:ln w="9525">
            <a:solidFill>
              <a:schemeClr val="tx1"/>
            </a:solidFill>
            <a:round/>
            <a:headEnd/>
            <a:tailEnd type="triangle" w="med" len="med"/>
          </a:ln>
        </p:spPr>
        <p:txBody>
          <a:bodyPr/>
          <a:lstStyle/>
          <a:p>
            <a:endParaRPr lang="zh-CN" altLang="en-US"/>
          </a:p>
        </p:txBody>
      </p:sp>
      <p:sp>
        <p:nvSpPr>
          <p:cNvPr id="57353" name="Line 17"/>
          <p:cNvSpPr>
            <a:spLocks noChangeShapeType="1"/>
          </p:cNvSpPr>
          <p:nvPr/>
        </p:nvSpPr>
        <p:spPr bwMode="auto">
          <a:xfrm>
            <a:off x="2835284" y="4429132"/>
            <a:ext cx="2951162" cy="0"/>
          </a:xfrm>
          <a:prstGeom prst="line">
            <a:avLst/>
          </a:prstGeom>
          <a:noFill/>
          <a:ln w="9525">
            <a:solidFill>
              <a:schemeClr val="tx1"/>
            </a:solidFill>
            <a:round/>
            <a:headEnd/>
            <a:tailEnd type="triangle" w="med" len="med"/>
          </a:ln>
        </p:spPr>
        <p:txBody>
          <a:bodyPr/>
          <a:lstStyle/>
          <a:p>
            <a:endParaRPr lang="zh-CN" altLang="en-US"/>
          </a:p>
        </p:txBody>
      </p:sp>
      <p:sp>
        <p:nvSpPr>
          <p:cNvPr id="18" name="TextBox 17"/>
          <p:cNvSpPr txBox="1"/>
          <p:nvPr/>
        </p:nvSpPr>
        <p:spPr>
          <a:xfrm>
            <a:off x="3786182" y="3857628"/>
            <a:ext cx="782587" cy="461665"/>
          </a:xfrm>
          <a:prstGeom prst="rect">
            <a:avLst/>
          </a:prstGeom>
          <a:noFill/>
        </p:spPr>
        <p:txBody>
          <a:bodyPr wrap="none" rtlCol="0">
            <a:spAutoFit/>
          </a:bodyPr>
          <a:lstStyle/>
          <a:p>
            <a:r>
              <a:rPr lang="en-US" altLang="zh-CN" dirty="0"/>
              <a:t>copy</a:t>
            </a:r>
            <a:endParaRPr lang="zh-CN" altLang="en-US" dirty="0"/>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3314" name="Rectangle 2"/>
          <p:cNvSpPr>
            <a:spLocks noGrp="1" noChangeArrowheads="1"/>
          </p:cNvSpPr>
          <p:nvPr>
            <p:ph type="body" sz="half" idx="1"/>
          </p:nvPr>
        </p:nvSpPr>
        <p:spPr>
          <a:xfrm>
            <a:off x="611188" y="333375"/>
            <a:ext cx="8096250" cy="6524625"/>
          </a:xfrm>
        </p:spPr>
        <p:txBody>
          <a:bodyPr>
            <a:normAutofit/>
          </a:bodyPr>
          <a:lstStyle/>
          <a:p>
            <a:pPr marL="0" indent="0" eaLnBrk="1" hangingPunct="1">
              <a:buFont typeface="Monotype Sorts" pitchFamily="2" charset="2"/>
              <a:buNone/>
              <a:defRPr/>
            </a:pPr>
            <a:r>
              <a:rPr lang="en-US" altLang="zh-CN" sz="2800" b="1" dirty="0">
                <a:latin typeface="楷体_GB2312" pitchFamily="49" charset="-122"/>
                <a:ea typeface="楷体_GB2312" pitchFamily="49" charset="-122"/>
              </a:rPr>
              <a:t>(2) </a:t>
            </a:r>
            <a:r>
              <a:rPr lang="zh-CN" altLang="en-US" sz="2800" b="1" dirty="0">
                <a:latin typeface="楷体_GB2312" pitchFamily="49" charset="-122"/>
                <a:ea typeface="楷体_GB2312" pitchFamily="49" charset="-122"/>
              </a:rPr>
              <a:t>使用结构地址或结构指针作为函数的参数，函数调用时，虽只传递结构的地址给结构指针形参，但通过该结构指针形参间接引用所指向的结构变量。因此，函数既可以引用结构指针形参所指向结构的成员，也可把计算结果存储于结构指针形参所指向结构的成员中。见图</a:t>
            </a:r>
            <a:r>
              <a:rPr lang="en-US" altLang="zh-CN" sz="2800" b="1" dirty="0">
                <a:latin typeface="楷体_GB2312" pitchFamily="49" charset="-122"/>
                <a:ea typeface="楷体_GB2312" pitchFamily="49" charset="-122"/>
              </a:rPr>
              <a:t>7.2</a:t>
            </a:r>
            <a:r>
              <a:rPr lang="zh-CN" altLang="en-US" sz="2800" b="1" dirty="0">
                <a:latin typeface="楷体_GB2312" pitchFamily="49" charset="-122"/>
                <a:ea typeface="楷体_GB2312" pitchFamily="49" charset="-122"/>
              </a:rPr>
              <a:t>。</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              </a:t>
            </a:r>
            <a:r>
              <a:rPr lang="en-US" altLang="zh-CN" sz="2800" b="1" dirty="0">
                <a:latin typeface="楷体_GB2312" pitchFamily="49" charset="-122"/>
                <a:ea typeface="楷体_GB2312" pitchFamily="49" charset="-122"/>
              </a:rPr>
              <a:t>date</a:t>
            </a:r>
            <a:r>
              <a:rPr lang="zh-CN" altLang="en-US" sz="2800" b="1" dirty="0">
                <a:latin typeface="楷体_GB2312" pitchFamily="49" charset="-122"/>
                <a:ea typeface="楷体_GB2312" pitchFamily="49" charset="-122"/>
              </a:rPr>
              <a:t>结构  </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     形参</a:t>
            </a:r>
            <a:r>
              <a:rPr lang="en-US" altLang="zh-CN" sz="2800" b="1" dirty="0" err="1">
                <a:latin typeface="楷体_GB2312" pitchFamily="49" charset="-122"/>
                <a:ea typeface="楷体_GB2312" pitchFamily="49" charset="-122"/>
              </a:rPr>
              <a:t>dp</a:t>
            </a:r>
            <a:endParaRPr lang="en-US" altLang="zh-CN" sz="2800" b="1" dirty="0">
              <a:latin typeface="楷体_GB2312" pitchFamily="49" charset="-122"/>
              <a:ea typeface="楷体_GB2312" pitchFamily="49" charset="-122"/>
            </a:endParaRPr>
          </a:p>
          <a:p>
            <a:pPr marL="0" indent="0" eaLnBrk="1" hangingPunct="1">
              <a:buFont typeface="Monotype Sorts" pitchFamily="2" charset="2"/>
              <a:buNone/>
              <a:defRPr/>
            </a:pPr>
            <a:endParaRPr lang="en-US" altLang="zh-CN" sz="2800" b="1" dirty="0">
              <a:latin typeface="楷体_GB2312" pitchFamily="49" charset="-122"/>
              <a:ea typeface="楷体_GB2312" pitchFamily="49" charset="-122"/>
            </a:endParaRPr>
          </a:p>
          <a:p>
            <a:pPr marL="0" indent="0" eaLnBrk="1" hangingPunct="1">
              <a:buFont typeface="Monotype Sorts" pitchFamily="2" charset="2"/>
              <a:buNone/>
              <a:defRPr/>
            </a:pPr>
            <a:endParaRPr lang="en-US" altLang="zh-CN" sz="2800" b="1" dirty="0">
              <a:latin typeface="楷体_GB2312" pitchFamily="49" charset="-122"/>
              <a:ea typeface="楷体_GB2312" pitchFamily="49" charset="-122"/>
            </a:endParaRPr>
          </a:p>
          <a:p>
            <a:pPr marL="0" indent="0" eaLnBrk="1" hangingPunct="1">
              <a:buFont typeface="Monotype Sorts" pitchFamily="2" charset="2"/>
              <a:buNone/>
              <a:defRPr/>
            </a:pPr>
            <a:r>
              <a:rPr lang="en-US" altLang="zh-CN" sz="2800" b="1" dirty="0">
                <a:latin typeface="楷体_GB2312" pitchFamily="49" charset="-122"/>
                <a:ea typeface="楷体_GB2312" pitchFamily="49" charset="-122"/>
              </a:rPr>
              <a:t>       </a:t>
            </a:r>
            <a:r>
              <a:rPr lang="zh-CN" altLang="en-US" sz="2800" b="1" dirty="0">
                <a:latin typeface="楷体_GB2312" pitchFamily="49" charset="-122"/>
                <a:ea typeface="楷体_GB2312" pitchFamily="49" charset="-122"/>
              </a:rPr>
              <a:t>图</a:t>
            </a:r>
            <a:r>
              <a:rPr lang="en-US" altLang="zh-CN" sz="2800" b="1" dirty="0">
                <a:latin typeface="楷体_GB2312" pitchFamily="49" charset="-122"/>
                <a:ea typeface="楷体_GB2312" pitchFamily="49" charset="-122"/>
              </a:rPr>
              <a:t>7.2 </a:t>
            </a:r>
            <a:r>
              <a:rPr lang="zh-CN" altLang="en-US" sz="2800" b="1" dirty="0">
                <a:latin typeface="楷体_GB2312" pitchFamily="49" charset="-122"/>
                <a:ea typeface="楷体_GB2312" pitchFamily="49" charset="-122"/>
              </a:rPr>
              <a:t>结构地址作为函数参数</a:t>
            </a:r>
          </a:p>
        </p:txBody>
      </p:sp>
      <p:sp>
        <p:nvSpPr>
          <p:cNvPr id="11" name="灯片编号占位符 6"/>
          <p:cNvSpPr>
            <a:spLocks noGrp="1"/>
          </p:cNvSpPr>
          <p:nvPr>
            <p:ph type="sldNum" sz="quarter" idx="12"/>
          </p:nvPr>
        </p:nvSpPr>
        <p:spPr/>
        <p:txBody>
          <a:bodyPr/>
          <a:lstStyle/>
          <a:p>
            <a:pPr>
              <a:defRPr/>
            </a:pPr>
            <a:fld id="{DD117449-1AED-49B0-A2F0-5E9D58F2CC98}" type="slidenum">
              <a:rPr lang="en-US" altLang="zh-CN"/>
              <a:pPr>
                <a:defRPr/>
              </a:pPr>
              <a:t>42</a:t>
            </a:fld>
            <a:endParaRPr lang="en-US" altLang="zh-CN"/>
          </a:p>
        </p:txBody>
      </p:sp>
      <p:grpSp>
        <p:nvGrpSpPr>
          <p:cNvPr id="58372" name="Group 17"/>
          <p:cNvGrpSpPr>
            <a:grpSpLocks/>
          </p:cNvGrpSpPr>
          <p:nvPr/>
        </p:nvGrpSpPr>
        <p:grpSpPr bwMode="auto">
          <a:xfrm>
            <a:off x="3714744" y="3857628"/>
            <a:ext cx="1357322" cy="1143008"/>
            <a:chOff x="5580" y="13140"/>
            <a:chExt cx="1080" cy="1305"/>
          </a:xfrm>
        </p:grpSpPr>
        <p:sp>
          <p:nvSpPr>
            <p:cNvPr id="58374" name="Rectangle 18"/>
            <p:cNvSpPr>
              <a:spLocks noChangeArrowheads="1"/>
            </p:cNvSpPr>
            <p:nvPr/>
          </p:nvSpPr>
          <p:spPr bwMode="auto">
            <a:xfrm>
              <a:off x="5580" y="13140"/>
              <a:ext cx="1080" cy="369"/>
            </a:xfrm>
            <a:prstGeom prst="rect">
              <a:avLst/>
            </a:prstGeom>
            <a:solidFill>
              <a:srgbClr val="FFFFFF"/>
            </a:solidFill>
            <a:ln w="9525">
              <a:solidFill>
                <a:srgbClr val="000000"/>
              </a:solidFill>
              <a:miter lim="800000"/>
              <a:headEnd/>
              <a:tailEnd/>
            </a:ln>
          </p:spPr>
          <p:txBody>
            <a:bodyPr/>
            <a:lstStyle/>
            <a:p>
              <a:pPr algn="ctr">
                <a:lnSpc>
                  <a:spcPct val="72000"/>
                </a:lnSpc>
              </a:pPr>
              <a:r>
                <a:rPr lang="en-US" altLang="zh-CN" sz="2000" b="1"/>
                <a:t>day</a:t>
              </a:r>
              <a:endParaRPr lang="en-US" altLang="zh-CN" sz="4400" b="1"/>
            </a:p>
          </p:txBody>
        </p:sp>
        <p:sp>
          <p:nvSpPr>
            <p:cNvPr id="58375" name="Rectangle 19"/>
            <p:cNvSpPr>
              <a:spLocks noChangeArrowheads="1"/>
            </p:cNvSpPr>
            <p:nvPr/>
          </p:nvSpPr>
          <p:spPr bwMode="auto">
            <a:xfrm>
              <a:off x="5580" y="13452"/>
              <a:ext cx="1080" cy="369"/>
            </a:xfrm>
            <a:prstGeom prst="rect">
              <a:avLst/>
            </a:prstGeom>
            <a:solidFill>
              <a:srgbClr val="FFFFFF"/>
            </a:solidFill>
            <a:ln w="9525">
              <a:solidFill>
                <a:srgbClr val="000000"/>
              </a:solidFill>
              <a:miter lim="800000"/>
              <a:headEnd/>
              <a:tailEnd/>
            </a:ln>
          </p:spPr>
          <p:txBody>
            <a:bodyPr/>
            <a:lstStyle/>
            <a:p>
              <a:pPr algn="ctr">
                <a:lnSpc>
                  <a:spcPct val="72000"/>
                </a:lnSpc>
              </a:pPr>
              <a:r>
                <a:rPr lang="en-US" altLang="zh-CN" sz="2000" b="1"/>
                <a:t>month</a:t>
              </a:r>
              <a:endParaRPr lang="en-US" altLang="zh-CN" sz="4400" b="1"/>
            </a:p>
          </p:txBody>
        </p:sp>
        <p:sp>
          <p:nvSpPr>
            <p:cNvPr id="58376" name="Rectangle 20"/>
            <p:cNvSpPr>
              <a:spLocks noChangeArrowheads="1"/>
            </p:cNvSpPr>
            <p:nvPr/>
          </p:nvSpPr>
          <p:spPr bwMode="auto">
            <a:xfrm>
              <a:off x="5580" y="13764"/>
              <a:ext cx="1080" cy="369"/>
            </a:xfrm>
            <a:prstGeom prst="rect">
              <a:avLst/>
            </a:prstGeom>
            <a:solidFill>
              <a:srgbClr val="FFFFFF"/>
            </a:solidFill>
            <a:ln w="9525">
              <a:solidFill>
                <a:srgbClr val="000000"/>
              </a:solidFill>
              <a:miter lim="800000"/>
              <a:headEnd/>
              <a:tailEnd/>
            </a:ln>
          </p:spPr>
          <p:txBody>
            <a:bodyPr/>
            <a:lstStyle/>
            <a:p>
              <a:pPr algn="ctr">
                <a:lnSpc>
                  <a:spcPct val="72000"/>
                </a:lnSpc>
              </a:pPr>
              <a:r>
                <a:rPr lang="en-US" altLang="zh-CN" sz="2000" b="1"/>
                <a:t>year</a:t>
              </a:r>
              <a:endParaRPr lang="en-US" altLang="zh-CN" sz="4400" b="1"/>
            </a:p>
          </p:txBody>
        </p:sp>
        <p:sp>
          <p:nvSpPr>
            <p:cNvPr id="58377" name="Rectangle 21"/>
            <p:cNvSpPr>
              <a:spLocks noChangeArrowheads="1"/>
            </p:cNvSpPr>
            <p:nvPr/>
          </p:nvSpPr>
          <p:spPr bwMode="auto">
            <a:xfrm>
              <a:off x="5580" y="14076"/>
              <a:ext cx="1080" cy="369"/>
            </a:xfrm>
            <a:prstGeom prst="rect">
              <a:avLst/>
            </a:prstGeom>
            <a:solidFill>
              <a:srgbClr val="FFFFFF"/>
            </a:solidFill>
            <a:ln w="9525">
              <a:solidFill>
                <a:srgbClr val="000000"/>
              </a:solidFill>
              <a:miter lim="800000"/>
              <a:headEnd/>
              <a:tailEnd/>
            </a:ln>
          </p:spPr>
          <p:txBody>
            <a:bodyPr/>
            <a:lstStyle/>
            <a:p>
              <a:pPr algn="ctr">
                <a:lnSpc>
                  <a:spcPct val="72000"/>
                </a:lnSpc>
              </a:pPr>
              <a:r>
                <a:rPr lang="en-US" altLang="zh-CN" sz="2000" b="1"/>
                <a:t>yearDay</a:t>
              </a:r>
              <a:endParaRPr lang="en-US" altLang="zh-CN" sz="4400" b="1"/>
            </a:p>
          </p:txBody>
        </p:sp>
      </p:grpSp>
      <p:sp>
        <p:nvSpPr>
          <p:cNvPr id="58373" name="Line 22"/>
          <p:cNvSpPr>
            <a:spLocks noChangeShapeType="1"/>
          </p:cNvSpPr>
          <p:nvPr/>
        </p:nvSpPr>
        <p:spPr bwMode="auto">
          <a:xfrm>
            <a:off x="3000364" y="4000504"/>
            <a:ext cx="647700" cy="0"/>
          </a:xfrm>
          <a:prstGeom prst="line">
            <a:avLst/>
          </a:prstGeom>
          <a:noFill/>
          <a:ln w="9525">
            <a:solidFill>
              <a:schemeClr val="tx1"/>
            </a:solidFill>
            <a:round/>
            <a:headEnd/>
            <a:tailEnd type="triangle" w="med" len="med"/>
          </a:ln>
        </p:spPr>
        <p:txBody>
          <a:bodyPr/>
          <a:lstStyle/>
          <a:p>
            <a:endParaRPr lang="zh-CN" altLang="en-US"/>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338" name="Rectangle 2"/>
          <p:cNvSpPr>
            <a:spLocks noGrp="1" noChangeArrowheads="1"/>
          </p:cNvSpPr>
          <p:nvPr>
            <p:ph type="body" sz="half" idx="1"/>
          </p:nvPr>
        </p:nvSpPr>
        <p:spPr>
          <a:xfrm>
            <a:off x="611188" y="333375"/>
            <a:ext cx="8096250" cy="6524625"/>
          </a:xfrm>
        </p:spPr>
        <p:txBody>
          <a:bodyPr/>
          <a:lstStyle/>
          <a:p>
            <a:pPr marL="0" indent="0" eaLnBrk="1" hangingPunct="1">
              <a:lnSpc>
                <a:spcPct val="90000"/>
              </a:lnSpc>
              <a:buFont typeface="Monotype Sorts" pitchFamily="2" charset="2"/>
              <a:buNone/>
              <a:defRPr/>
            </a:pPr>
            <a:r>
              <a:rPr lang="zh-CN" altLang="en-US" sz="3200" b="1" dirty="0">
                <a:latin typeface="楷体_GB2312" pitchFamily="49" charset="-122"/>
                <a:ea typeface="楷体_GB2312" pitchFamily="49" charset="-122"/>
              </a:rPr>
              <a:t>函数返回结构类型值</a:t>
            </a:r>
          </a:p>
          <a:p>
            <a:pPr marL="0" indent="0" eaLnBrk="1" hangingPunct="1">
              <a:lnSpc>
                <a:spcPct val="90000"/>
              </a:lnSpc>
              <a:buFont typeface="Monotype Sorts" pitchFamily="2" charset="2"/>
              <a:buNone/>
              <a:defRPr/>
            </a:pPr>
            <a:endParaRPr lang="zh-CN" altLang="en-US" sz="2400" b="1" dirty="0">
              <a:solidFill>
                <a:srgbClr val="CC0099"/>
              </a:solidFill>
              <a:latin typeface="楷体_GB2312" pitchFamily="49" charset="-122"/>
              <a:ea typeface="楷体_GB2312" pitchFamily="49" charset="-122"/>
            </a:endParaRPr>
          </a:p>
          <a:p>
            <a:pPr marL="0" indent="0" eaLnBrk="1" hangingPunct="1">
              <a:lnSpc>
                <a:spcPct val="90000"/>
              </a:lnSpc>
              <a:buFont typeface="Monotype Sorts" pitchFamily="2" charset="2"/>
              <a:buNone/>
              <a:defRPr/>
            </a:pPr>
            <a:r>
              <a:rPr lang="zh-CN" altLang="en-US" sz="2400" b="1" dirty="0">
                <a:latin typeface="楷体_GB2312" pitchFamily="49" charset="-122"/>
                <a:ea typeface="楷体_GB2312" pitchFamily="49" charset="-122"/>
              </a:rPr>
              <a:t>在</a:t>
            </a:r>
            <a:r>
              <a:rPr lang="en-US" altLang="zh-CN" sz="2400" b="1" dirty="0">
                <a:latin typeface="楷体_GB2312" pitchFamily="49" charset="-122"/>
                <a:ea typeface="楷体_GB2312" pitchFamily="49" charset="-122"/>
              </a:rPr>
              <a:t>7.3</a:t>
            </a:r>
            <a:r>
              <a:rPr lang="zh-CN" altLang="en-US" sz="2400" b="1" dirty="0">
                <a:latin typeface="楷体_GB2312" pitchFamily="49" charset="-122"/>
                <a:ea typeface="楷体_GB2312" pitchFamily="49" charset="-122"/>
              </a:rPr>
              <a:t>的</a:t>
            </a:r>
            <a:r>
              <a:rPr lang="en-US" altLang="zh-CN" sz="2400" b="1" dirty="0">
                <a:latin typeface="楷体_GB2312" pitchFamily="49" charset="-122"/>
                <a:ea typeface="楷体_GB2312" pitchFamily="49" charset="-122"/>
              </a:rPr>
              <a:t>2</a:t>
            </a:r>
            <a:r>
              <a:rPr lang="zh-CN" altLang="en-US" sz="2400" b="1" dirty="0">
                <a:latin typeface="楷体_GB2312" pitchFamily="49" charset="-122"/>
                <a:ea typeface="楷体_GB2312" pitchFamily="49" charset="-122"/>
              </a:rPr>
              <a:t>中，将结构</a:t>
            </a:r>
            <a:r>
              <a:rPr lang="en-US" altLang="zh-CN" sz="2400" b="1" dirty="0">
                <a:latin typeface="楷体_GB2312" pitchFamily="49" charset="-122"/>
                <a:ea typeface="楷体_GB2312" pitchFamily="49" charset="-122"/>
              </a:rPr>
              <a:t>date</a:t>
            </a:r>
            <a:r>
              <a:rPr lang="zh-CN" altLang="en-US" sz="2400" b="1" dirty="0">
                <a:latin typeface="楷体_GB2312" pitchFamily="49" charset="-122"/>
                <a:ea typeface="楷体_GB2312" pitchFamily="49" charset="-122"/>
              </a:rPr>
              <a:t>作为实参传递给</a:t>
            </a:r>
            <a:r>
              <a:rPr lang="en-US" altLang="zh-CN" sz="2400" b="1" dirty="0" err="1">
                <a:latin typeface="楷体_GB2312" pitchFamily="49" charset="-122"/>
                <a:ea typeface="楷体_GB2312" pitchFamily="49" charset="-122"/>
              </a:rPr>
              <a:t>dayofYear</a:t>
            </a:r>
            <a:r>
              <a:rPr lang="zh-CN" altLang="en-US" sz="2400" b="1" dirty="0">
                <a:latin typeface="楷体_GB2312" pitchFamily="49" charset="-122"/>
                <a:ea typeface="楷体_GB2312" pitchFamily="49" charset="-122"/>
              </a:rPr>
              <a:t>函数的结构类型形参</a:t>
            </a:r>
            <a:r>
              <a:rPr lang="en-US" altLang="zh-CN" sz="2400" b="1" dirty="0">
                <a:latin typeface="楷体_GB2312" pitchFamily="49" charset="-122"/>
                <a:ea typeface="楷体_GB2312" pitchFamily="49" charset="-122"/>
              </a:rPr>
              <a:t>d</a:t>
            </a:r>
            <a:r>
              <a:rPr lang="zh-CN" altLang="en-US" sz="2400" b="1" dirty="0">
                <a:latin typeface="楷体_GB2312" pitchFamily="49" charset="-122"/>
                <a:ea typeface="楷体_GB2312" pitchFamily="49" charset="-122"/>
              </a:rPr>
              <a:t>，但计算结果是通过</a:t>
            </a:r>
            <a:r>
              <a:rPr lang="en-US" altLang="zh-CN" sz="2400" b="1" dirty="0">
                <a:latin typeface="楷体_GB2312" pitchFamily="49" charset="-122"/>
                <a:ea typeface="楷体_GB2312" pitchFamily="49" charset="-122"/>
              </a:rPr>
              <a:t>return day;</a:t>
            </a:r>
            <a:r>
              <a:rPr lang="zh-CN" altLang="en-US" sz="2400" b="1" dirty="0">
                <a:latin typeface="楷体_GB2312" pitchFamily="49" charset="-122"/>
                <a:ea typeface="楷体_GB2312" pitchFamily="49" charset="-122"/>
              </a:rPr>
              <a:t>语句返回到主函数的调用语句。如果希望将计算的结果先保存到结构类型形参</a:t>
            </a:r>
            <a:r>
              <a:rPr lang="en-US" altLang="zh-CN" sz="2400" b="1" dirty="0">
                <a:latin typeface="楷体_GB2312" pitchFamily="49" charset="-122"/>
                <a:ea typeface="楷体_GB2312" pitchFamily="49" charset="-122"/>
              </a:rPr>
              <a:t>d</a:t>
            </a:r>
            <a:r>
              <a:rPr lang="zh-CN" altLang="en-US" sz="2400" b="1" dirty="0">
                <a:latin typeface="楷体_GB2312" pitchFamily="49" charset="-122"/>
                <a:ea typeface="楷体_GB2312" pitchFamily="49" charset="-122"/>
              </a:rPr>
              <a:t>的成员</a:t>
            </a:r>
            <a:r>
              <a:rPr lang="en-US" altLang="zh-CN" sz="2400" b="1" dirty="0" err="1">
                <a:latin typeface="楷体_GB2312" pitchFamily="49" charset="-122"/>
                <a:ea typeface="楷体_GB2312" pitchFamily="49" charset="-122"/>
              </a:rPr>
              <a:t>yearDay</a:t>
            </a:r>
            <a:r>
              <a:rPr lang="zh-CN" altLang="en-US" sz="2400" b="1" dirty="0">
                <a:latin typeface="楷体_GB2312" pitchFamily="49" charset="-122"/>
                <a:ea typeface="楷体_GB2312" pitchFamily="49" charset="-122"/>
              </a:rPr>
              <a:t>中，然后返回结构类型形参</a:t>
            </a:r>
            <a:r>
              <a:rPr lang="en-US" altLang="zh-CN" sz="2400" b="1" dirty="0">
                <a:latin typeface="楷体_GB2312" pitchFamily="49" charset="-122"/>
                <a:ea typeface="楷体_GB2312" pitchFamily="49" charset="-122"/>
              </a:rPr>
              <a:t>d</a:t>
            </a:r>
            <a:r>
              <a:rPr lang="zh-CN" altLang="en-US" sz="2400" b="1" dirty="0">
                <a:latin typeface="楷体_GB2312" pitchFamily="49" charset="-122"/>
                <a:ea typeface="楷体_GB2312" pitchFamily="49" charset="-122"/>
              </a:rPr>
              <a:t>的值，可以对函数</a:t>
            </a:r>
            <a:r>
              <a:rPr lang="en-US" altLang="zh-CN" sz="2400" b="1" dirty="0" err="1">
                <a:latin typeface="楷体_GB2312" pitchFamily="49" charset="-122"/>
                <a:ea typeface="楷体_GB2312" pitchFamily="49" charset="-122"/>
              </a:rPr>
              <a:t>dayofYear</a:t>
            </a:r>
            <a:r>
              <a:rPr lang="zh-CN" altLang="en-US" sz="2400" b="1" dirty="0">
                <a:latin typeface="楷体_GB2312" pitchFamily="49" charset="-122"/>
                <a:ea typeface="楷体_GB2312" pitchFamily="49" charset="-122"/>
              </a:rPr>
              <a:t>重新改写如下：</a:t>
            </a:r>
          </a:p>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Date </a:t>
            </a:r>
            <a:r>
              <a:rPr lang="en-US" altLang="zh-CN" sz="2400" b="1" dirty="0" err="1">
                <a:latin typeface="楷体_GB2312" pitchFamily="49" charset="-122"/>
                <a:ea typeface="楷体_GB2312" pitchFamily="49" charset="-122"/>
              </a:rPr>
              <a:t>dayofYear</a:t>
            </a:r>
            <a:r>
              <a:rPr lang="en-US" altLang="zh-CN" sz="2400" b="1" dirty="0">
                <a:latin typeface="楷体_GB2312" pitchFamily="49" charset="-122"/>
                <a:ea typeface="楷体_GB2312" pitchFamily="49" charset="-122"/>
              </a:rPr>
              <a:t>(Date d)</a:t>
            </a:r>
          </a:p>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int</a:t>
            </a: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i</a:t>
            </a:r>
            <a:r>
              <a:rPr lang="en-US" altLang="zh-CN" sz="2400" b="1" dirty="0">
                <a:latin typeface="楷体_GB2312" pitchFamily="49" charset="-122"/>
                <a:ea typeface="楷体_GB2312" pitchFamily="49" charset="-122"/>
              </a:rPr>
              <a:t>, leap;</a:t>
            </a:r>
          </a:p>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d.yearDay</a:t>
            </a:r>
            <a:r>
              <a:rPr lang="en-US" altLang="zh-CN" sz="2400" b="1" dirty="0">
                <a:latin typeface="楷体_GB2312" pitchFamily="49" charset="-122"/>
                <a:ea typeface="楷体_GB2312" pitchFamily="49" charset="-122"/>
              </a:rPr>
              <a:t> = </a:t>
            </a:r>
            <a:r>
              <a:rPr lang="en-US" altLang="zh-CN" sz="2400" b="1" dirty="0" err="1">
                <a:latin typeface="楷体_GB2312" pitchFamily="49" charset="-122"/>
                <a:ea typeface="楷体_GB2312" pitchFamily="49" charset="-122"/>
              </a:rPr>
              <a:t>d.day</a:t>
            </a:r>
            <a:r>
              <a:rPr lang="en-US" altLang="zh-CN" sz="2400" b="1" dirty="0">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  leap = (d.year%4 == 0 &amp;&amp; d.year%100) ||</a:t>
            </a:r>
          </a:p>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          d.year%400 == 0; /* </a:t>
            </a:r>
            <a:r>
              <a:rPr lang="zh-CN" altLang="en-US" sz="2400" b="1" dirty="0">
                <a:latin typeface="楷体_GB2312" pitchFamily="49" charset="-122"/>
                <a:ea typeface="楷体_GB2312" pitchFamily="49" charset="-122"/>
              </a:rPr>
              <a:t>计算是否闰年 *</a:t>
            </a:r>
            <a:r>
              <a:rPr lang="en-US" altLang="zh-CN" sz="2400" b="1" dirty="0">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  for(</a:t>
            </a:r>
            <a:r>
              <a:rPr lang="en-US" altLang="zh-CN" sz="2400" b="1" dirty="0" err="1">
                <a:latin typeface="楷体_GB2312" pitchFamily="49" charset="-122"/>
                <a:ea typeface="楷体_GB2312" pitchFamily="49" charset="-122"/>
              </a:rPr>
              <a:t>i</a:t>
            </a:r>
            <a:r>
              <a:rPr lang="en-US" altLang="zh-CN" sz="2400" b="1" dirty="0">
                <a:latin typeface="楷体_GB2312" pitchFamily="49" charset="-122"/>
                <a:ea typeface="楷体_GB2312" pitchFamily="49" charset="-122"/>
              </a:rPr>
              <a:t> = 0; </a:t>
            </a:r>
            <a:r>
              <a:rPr lang="en-US" altLang="zh-CN" sz="2400" b="1" dirty="0" err="1">
                <a:latin typeface="楷体_GB2312" pitchFamily="49" charset="-122"/>
                <a:ea typeface="楷体_GB2312" pitchFamily="49" charset="-122"/>
              </a:rPr>
              <a:t>i</a:t>
            </a:r>
            <a:r>
              <a:rPr lang="en-US" altLang="zh-CN" sz="2400" b="1" dirty="0">
                <a:latin typeface="楷体_GB2312" pitchFamily="49" charset="-122"/>
                <a:ea typeface="楷体_GB2312" pitchFamily="49" charset="-122"/>
              </a:rPr>
              <a:t> &lt; d.month-1; </a:t>
            </a:r>
            <a:r>
              <a:rPr lang="en-US" altLang="zh-CN" sz="2400" b="1" dirty="0" err="1">
                <a:latin typeface="楷体_GB2312" pitchFamily="49" charset="-122"/>
                <a:ea typeface="楷体_GB2312" pitchFamily="49" charset="-122"/>
              </a:rPr>
              <a:t>i</a:t>
            </a:r>
            <a:r>
              <a:rPr lang="en-US" altLang="zh-CN" sz="2400" b="1" dirty="0">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d.yearDay</a:t>
            </a:r>
            <a:r>
              <a:rPr lang="en-US" altLang="zh-CN" sz="2400" b="1" dirty="0">
                <a:latin typeface="楷体_GB2312" pitchFamily="49" charset="-122"/>
                <a:ea typeface="楷体_GB2312" pitchFamily="49" charset="-122"/>
              </a:rPr>
              <a:t> += </a:t>
            </a:r>
            <a:r>
              <a:rPr lang="en-US" altLang="zh-CN" sz="2400" b="1" dirty="0" err="1">
                <a:latin typeface="楷体_GB2312" pitchFamily="49" charset="-122"/>
                <a:ea typeface="楷体_GB2312" pitchFamily="49" charset="-122"/>
              </a:rPr>
              <a:t>dayTable</a:t>
            </a:r>
            <a:r>
              <a:rPr lang="en-US" altLang="zh-CN" sz="2400" b="1" dirty="0">
                <a:latin typeface="楷体_GB2312" pitchFamily="49" charset="-122"/>
                <a:ea typeface="楷体_GB2312" pitchFamily="49" charset="-122"/>
              </a:rPr>
              <a:t>[leap][</a:t>
            </a:r>
            <a:r>
              <a:rPr lang="en-US" altLang="zh-CN" sz="2400" b="1" dirty="0" err="1">
                <a:latin typeface="楷体_GB2312" pitchFamily="49" charset="-122"/>
                <a:ea typeface="楷体_GB2312" pitchFamily="49" charset="-122"/>
              </a:rPr>
              <a:t>i</a:t>
            </a:r>
            <a:r>
              <a:rPr lang="en-US" altLang="zh-CN" sz="2400" b="1" dirty="0">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  return d;			/* </a:t>
            </a:r>
            <a:r>
              <a:rPr lang="zh-CN" altLang="en-US" sz="2400" b="1" dirty="0">
                <a:latin typeface="楷体_GB2312" pitchFamily="49" charset="-122"/>
                <a:ea typeface="楷体_GB2312" pitchFamily="49" charset="-122"/>
              </a:rPr>
              <a:t>返回结构类型 *</a:t>
            </a:r>
            <a:r>
              <a:rPr lang="en-US" altLang="zh-CN" sz="2400" b="1" dirty="0">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 </a:t>
            </a:r>
          </a:p>
        </p:txBody>
      </p:sp>
      <p:sp>
        <p:nvSpPr>
          <p:cNvPr id="5" name="灯片编号占位符 6"/>
          <p:cNvSpPr>
            <a:spLocks noGrp="1"/>
          </p:cNvSpPr>
          <p:nvPr>
            <p:ph type="sldNum" sz="quarter" idx="12"/>
          </p:nvPr>
        </p:nvSpPr>
        <p:spPr/>
        <p:txBody>
          <a:bodyPr/>
          <a:lstStyle/>
          <a:p>
            <a:pPr>
              <a:defRPr/>
            </a:pPr>
            <a:fld id="{56643A6A-40DB-4E43-97DF-90174E711DDC}" type="slidenum">
              <a:rPr lang="en-US" altLang="zh-CN"/>
              <a:pPr>
                <a:defRPr/>
              </a:pPr>
              <a:t>43</a:t>
            </a:fld>
            <a:endParaRPr lang="en-US" altLang="zh-CN"/>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62" name="Rectangle 2"/>
          <p:cNvSpPr>
            <a:spLocks noGrp="1" noChangeArrowheads="1"/>
          </p:cNvSpPr>
          <p:nvPr>
            <p:ph type="body" sz="half" idx="1"/>
          </p:nvPr>
        </p:nvSpPr>
        <p:spPr>
          <a:xfrm>
            <a:off x="611188" y="333375"/>
            <a:ext cx="8096250" cy="6524625"/>
          </a:xfrm>
        </p:spPr>
        <p:txBody>
          <a:bodyPr>
            <a:normAutofit/>
          </a:bodyPr>
          <a:lstStyle/>
          <a:p>
            <a:pPr marL="0" indent="0" eaLnBrk="1" hangingPunct="1">
              <a:buFont typeface="Monotype Sorts" pitchFamily="2" charset="2"/>
              <a:buNone/>
              <a:defRPr/>
            </a:pPr>
            <a:r>
              <a:rPr lang="zh-CN" altLang="en-US" sz="2800" b="1" dirty="0">
                <a:latin typeface="楷体_GB2312" pitchFamily="49" charset="-122"/>
                <a:ea typeface="楷体_GB2312" pitchFamily="49" charset="-122"/>
              </a:rPr>
              <a:t>经上述改动后，主函数调用</a:t>
            </a:r>
            <a:r>
              <a:rPr lang="en-US" altLang="zh-CN" sz="2800" b="1" dirty="0" err="1">
                <a:latin typeface="楷体_GB2312" pitchFamily="49" charset="-122"/>
                <a:ea typeface="楷体_GB2312" pitchFamily="49" charset="-122"/>
              </a:rPr>
              <a:t>dayofYear</a:t>
            </a:r>
            <a:r>
              <a:rPr lang="zh-CN" altLang="en-US" sz="2800" b="1" dirty="0">
                <a:latin typeface="楷体_GB2312" pitchFamily="49" charset="-122"/>
                <a:ea typeface="楷体_GB2312" pitchFamily="49" charset="-122"/>
              </a:rPr>
              <a:t>函数后，需要把返回的结构赋值给结构变量</a:t>
            </a:r>
            <a:r>
              <a:rPr lang="en-US" altLang="zh-CN" sz="2800" b="1" dirty="0">
                <a:latin typeface="楷体_GB2312" pitchFamily="49" charset="-122"/>
                <a:ea typeface="楷体_GB2312" pitchFamily="49" charset="-122"/>
              </a:rPr>
              <a:t>date</a:t>
            </a:r>
            <a:r>
              <a:rPr lang="zh-CN" altLang="en-US" sz="2800" b="1" dirty="0">
                <a:latin typeface="楷体_GB2312" pitchFamily="49" charset="-122"/>
                <a:ea typeface="楷体_GB2312" pitchFamily="49" charset="-122"/>
              </a:rPr>
              <a:t>，调用语句也作相应的修改。即将</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date.yearDay</a:t>
            </a:r>
            <a:r>
              <a:rPr lang="en-US" altLang="zh-CN" sz="2800" b="1" dirty="0">
                <a:latin typeface="楷体_GB2312" pitchFamily="49" charset="-122"/>
                <a:ea typeface="楷体_GB2312" pitchFamily="49" charset="-122"/>
              </a:rPr>
              <a:t> = </a:t>
            </a:r>
            <a:r>
              <a:rPr lang="en-US" altLang="zh-CN" sz="2800" b="1" dirty="0" err="1">
                <a:latin typeface="楷体_GB2312" pitchFamily="49" charset="-122"/>
                <a:ea typeface="楷体_GB2312" pitchFamily="49" charset="-122"/>
              </a:rPr>
              <a:t>dayofYear</a:t>
            </a:r>
            <a:r>
              <a:rPr lang="en-US" altLang="zh-CN" sz="2800" b="1" dirty="0">
                <a:latin typeface="楷体_GB2312" pitchFamily="49" charset="-122"/>
                <a:ea typeface="楷体_GB2312" pitchFamily="49" charset="-122"/>
              </a:rPr>
              <a:t>(date);</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改写成</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         </a:t>
            </a:r>
            <a:r>
              <a:rPr lang="en-US" altLang="zh-CN" sz="2800" b="1" dirty="0">
                <a:latin typeface="楷体_GB2312" pitchFamily="49" charset="-122"/>
                <a:ea typeface="楷体_GB2312" pitchFamily="49" charset="-122"/>
              </a:rPr>
              <a:t>date = </a:t>
            </a:r>
            <a:r>
              <a:rPr lang="en-US" altLang="zh-CN" sz="2800" b="1" dirty="0" err="1">
                <a:latin typeface="楷体_GB2312" pitchFamily="49" charset="-122"/>
                <a:ea typeface="楷体_GB2312" pitchFamily="49" charset="-122"/>
              </a:rPr>
              <a:t>dayofYear</a:t>
            </a:r>
            <a:r>
              <a:rPr lang="en-US" altLang="zh-CN" sz="2800" b="1" dirty="0">
                <a:latin typeface="楷体_GB2312" pitchFamily="49" charset="-122"/>
                <a:ea typeface="楷体_GB2312" pitchFamily="49" charset="-122"/>
              </a:rPr>
              <a:t>(date);</a:t>
            </a:r>
          </a:p>
          <a:p>
            <a:pPr marL="0" indent="0" eaLnBrk="1" hangingPunct="1">
              <a:buFont typeface="Monotype Sorts" pitchFamily="2" charset="2"/>
              <a:buNone/>
              <a:defRPr/>
            </a:pPr>
            <a:r>
              <a:rPr lang="zh-CN" altLang="en-US" sz="2800" b="1" dirty="0">
                <a:solidFill>
                  <a:srgbClr val="C00000"/>
                </a:solidFill>
                <a:latin typeface="楷体_GB2312" pitchFamily="49" charset="-122"/>
                <a:ea typeface="楷体_GB2312" pitchFamily="49" charset="-122"/>
              </a:rPr>
              <a:t>调用带有结构类型形参的函数时，实参结构的各成员的值需要全部拷贝给形参结构的相应成员，费时间又费空间</a:t>
            </a:r>
            <a:r>
              <a:rPr lang="zh-CN" altLang="en-US" sz="2800" b="1" dirty="0">
                <a:latin typeface="楷体_GB2312" pitchFamily="49" charset="-122"/>
                <a:ea typeface="楷体_GB2312" pitchFamily="49" charset="-122"/>
              </a:rPr>
              <a:t>。</a:t>
            </a:r>
            <a:endParaRPr lang="en-US" altLang="zh-CN" sz="2800" b="1" dirty="0">
              <a:solidFill>
                <a:srgbClr val="C00000"/>
              </a:solidFill>
              <a:latin typeface="楷体_GB2312" pitchFamily="49" charset="-122"/>
              <a:ea typeface="楷体_GB2312" pitchFamily="49" charset="-122"/>
            </a:endParaRP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有时为了程序的安全性，确保函数不能修改实参结构情况下，可使用结构作为形参。调用函数返回结构值的函数，需要将函数的返回值赋值保存于某个结构变量。对于复杂的结构类型，实现的效率较低。</a:t>
            </a:r>
          </a:p>
        </p:txBody>
      </p:sp>
      <p:sp>
        <p:nvSpPr>
          <p:cNvPr id="5" name="灯片编号占位符 6"/>
          <p:cNvSpPr>
            <a:spLocks noGrp="1"/>
          </p:cNvSpPr>
          <p:nvPr>
            <p:ph type="sldNum" sz="quarter" idx="12"/>
          </p:nvPr>
        </p:nvSpPr>
        <p:spPr/>
        <p:txBody>
          <a:bodyPr/>
          <a:lstStyle/>
          <a:p>
            <a:pPr>
              <a:defRPr/>
            </a:pPr>
            <a:fld id="{F0566027-D867-4FBA-A059-458F1A080094}" type="slidenum">
              <a:rPr lang="en-US" altLang="zh-CN"/>
              <a:pPr>
                <a:defRPr/>
              </a:pPr>
              <a:t>44</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55362">
                                            <p:txEl>
                                              <p:pRg st="4" end="4"/>
                                            </p:txEl>
                                          </p:spTgt>
                                        </p:tgtEl>
                                        <p:attrNameLst>
                                          <p:attrName>style.visibility</p:attrName>
                                        </p:attrNameLst>
                                      </p:cBhvr>
                                      <p:to>
                                        <p:strVal val="visible"/>
                                      </p:to>
                                    </p:set>
                                    <p:anim calcmode="lin" valueType="num">
                                      <p:cBhvr additive="base">
                                        <p:cTn id="7" dur="500" fill="hold"/>
                                        <p:tgtEl>
                                          <p:spTgt spid="655362">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55362">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55362">
                                            <p:txEl>
                                              <p:pRg st="5" end="5"/>
                                            </p:txEl>
                                          </p:spTgt>
                                        </p:tgtEl>
                                        <p:attrNameLst>
                                          <p:attrName>style.visibility</p:attrName>
                                        </p:attrNameLst>
                                      </p:cBhvr>
                                      <p:to>
                                        <p:strVal val="visible"/>
                                      </p:to>
                                    </p:set>
                                    <p:anim calcmode="lin" valueType="num">
                                      <p:cBhvr additive="base">
                                        <p:cTn id="11" dur="500" fill="hold"/>
                                        <p:tgtEl>
                                          <p:spTgt spid="655362">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5536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6" name="Rectangle 6"/>
          <p:cNvSpPr>
            <a:spLocks noGrp="1" noChangeArrowheads="1"/>
          </p:cNvSpPr>
          <p:nvPr>
            <p:ph type="title"/>
          </p:nvPr>
        </p:nvSpPr>
        <p:spPr>
          <a:xfrm>
            <a:off x="323850" y="260350"/>
            <a:ext cx="7920038" cy="720725"/>
          </a:xfrm>
        </p:spPr>
        <p:txBody>
          <a:bodyPr>
            <a:normAutofit fontScale="90000"/>
          </a:bodyPr>
          <a:lstStyle/>
          <a:p>
            <a:pPr eaLnBrk="1" hangingPunct="1">
              <a:lnSpc>
                <a:spcPct val="100000"/>
              </a:lnSpc>
              <a:defRPr/>
            </a:pPr>
            <a:r>
              <a:rPr lang="en-US" altLang="zh-CN" dirty="0">
                <a:solidFill>
                  <a:schemeClr val="tx1"/>
                </a:solidFill>
                <a:latin typeface="黑体" pitchFamily="2" charset="-122"/>
                <a:ea typeface="黑体" pitchFamily="2" charset="-122"/>
              </a:rPr>
              <a:t>7.4  </a:t>
            </a:r>
            <a:r>
              <a:rPr lang="zh-CN" altLang="en-US" dirty="0">
                <a:solidFill>
                  <a:schemeClr val="tx1"/>
                </a:solidFill>
                <a:latin typeface="黑体" pitchFamily="2" charset="-122"/>
                <a:ea typeface="黑体" pitchFamily="2" charset="-122"/>
              </a:rPr>
              <a:t>链表</a:t>
            </a:r>
          </a:p>
        </p:txBody>
      </p:sp>
      <p:sp>
        <p:nvSpPr>
          <p:cNvPr id="501763" name="Rectangle 3"/>
          <p:cNvSpPr>
            <a:spLocks noGrp="1" noChangeArrowheads="1"/>
          </p:cNvSpPr>
          <p:nvPr>
            <p:ph idx="1"/>
          </p:nvPr>
        </p:nvSpPr>
        <p:spPr>
          <a:xfrm>
            <a:off x="395288" y="1125538"/>
            <a:ext cx="8424862" cy="5111750"/>
          </a:xfrm>
        </p:spPr>
        <p:txBody>
          <a:bodyPr>
            <a:normAutofit/>
          </a:bodyPr>
          <a:lstStyle/>
          <a:p>
            <a:pPr marL="0" indent="0" algn="just" eaLnBrk="1" hangingPunct="1">
              <a:lnSpc>
                <a:spcPct val="110000"/>
              </a:lnSpc>
              <a:buClr>
                <a:srgbClr val="FF6600"/>
              </a:buClr>
              <a:buSzPct val="55000"/>
              <a:buFont typeface="Wingdings" pitchFamily="2" charset="2"/>
              <a:buNone/>
              <a:defRPr/>
            </a:pPr>
            <a:r>
              <a:rPr lang="zh-CN" altLang="en-US" b="1" dirty="0">
                <a:ea typeface="楷体_GB2312" pitchFamily="49" charset="-122"/>
              </a:rPr>
              <a:t>存储分配的现有方式：</a:t>
            </a:r>
            <a:endParaRPr lang="en-US" altLang="zh-CN" b="1" dirty="0">
              <a:ea typeface="楷体_GB2312" pitchFamily="49" charset="-122"/>
            </a:endParaRPr>
          </a:p>
          <a:p>
            <a:pPr marL="0" indent="0" algn="just" eaLnBrk="1" hangingPunct="1">
              <a:lnSpc>
                <a:spcPct val="110000"/>
              </a:lnSpc>
              <a:buClr>
                <a:srgbClr val="FF6600"/>
              </a:buClr>
              <a:buSzPct val="55000"/>
              <a:buFont typeface="Wingdings" pitchFamily="2" charset="2"/>
              <a:buNone/>
              <a:defRPr/>
            </a:pPr>
            <a:r>
              <a:rPr lang="zh-CN" altLang="en-US" b="1" dirty="0">
                <a:ea typeface="楷体_GB2312" pitchFamily="49" charset="-122"/>
              </a:rPr>
              <a:t>项目制员工：</a:t>
            </a:r>
            <a:r>
              <a:rPr lang="zh-CN" altLang="en-US" b="1" dirty="0">
                <a:solidFill>
                  <a:srgbClr val="FF0000"/>
                </a:solidFill>
                <a:ea typeface="楷体_GB2312" pitchFamily="49" charset="-122"/>
              </a:rPr>
              <a:t>局部自动变量</a:t>
            </a:r>
            <a:endParaRPr lang="en-US" altLang="zh-CN" b="1" dirty="0">
              <a:solidFill>
                <a:srgbClr val="FF0000"/>
              </a:solidFill>
              <a:ea typeface="楷体_GB2312" pitchFamily="49" charset="-122"/>
            </a:endParaRPr>
          </a:p>
          <a:p>
            <a:pPr marL="0" indent="0" algn="just" eaLnBrk="1" hangingPunct="1">
              <a:lnSpc>
                <a:spcPct val="110000"/>
              </a:lnSpc>
              <a:buClr>
                <a:srgbClr val="FF6600"/>
              </a:buClr>
              <a:buSzPct val="55000"/>
              <a:buFont typeface="Wingdings" pitchFamily="2" charset="2"/>
              <a:buNone/>
              <a:defRPr/>
            </a:pPr>
            <a:r>
              <a:rPr lang="zh-CN" altLang="en-US" b="1" dirty="0">
                <a:ea typeface="楷体_GB2312" pitchFamily="49" charset="-122"/>
              </a:rPr>
              <a:t>长聘员工：</a:t>
            </a:r>
            <a:r>
              <a:rPr lang="zh-CN" altLang="en-US" b="1" dirty="0">
                <a:solidFill>
                  <a:srgbClr val="FF0000"/>
                </a:solidFill>
                <a:ea typeface="楷体_GB2312" pitchFamily="49" charset="-122"/>
              </a:rPr>
              <a:t>全局量和局部</a:t>
            </a:r>
            <a:r>
              <a:rPr lang="en-US" altLang="zh-CN" b="1" dirty="0">
                <a:solidFill>
                  <a:srgbClr val="FF0000"/>
                </a:solidFill>
                <a:ea typeface="楷体_GB2312" pitchFamily="49" charset="-122"/>
              </a:rPr>
              <a:t>static</a:t>
            </a:r>
            <a:r>
              <a:rPr lang="zh-CN" altLang="en-US" b="1" dirty="0">
                <a:solidFill>
                  <a:srgbClr val="FF0000"/>
                </a:solidFill>
                <a:ea typeface="楷体_GB2312" pitchFamily="49" charset="-122"/>
              </a:rPr>
              <a:t>变量</a:t>
            </a:r>
            <a:endParaRPr lang="en-US" altLang="zh-CN" b="1" dirty="0">
              <a:solidFill>
                <a:srgbClr val="FF0000"/>
              </a:solidFill>
              <a:ea typeface="楷体_GB2312" pitchFamily="49" charset="-122"/>
            </a:endParaRPr>
          </a:p>
          <a:p>
            <a:pPr marL="0" indent="0" algn="just" eaLnBrk="1" hangingPunct="1">
              <a:lnSpc>
                <a:spcPct val="110000"/>
              </a:lnSpc>
              <a:buClr>
                <a:srgbClr val="FF6600"/>
              </a:buClr>
              <a:buSzPct val="55000"/>
              <a:buFont typeface="Wingdings" pitchFamily="2" charset="2"/>
              <a:buNone/>
              <a:defRPr/>
            </a:pPr>
            <a:endParaRPr lang="en-US" altLang="zh-CN" b="1" dirty="0">
              <a:solidFill>
                <a:srgbClr val="FF0000"/>
              </a:solidFill>
              <a:ea typeface="楷体_GB2312" pitchFamily="49" charset="-122"/>
            </a:endParaRPr>
          </a:p>
          <a:p>
            <a:pPr marL="0" indent="0" algn="just" eaLnBrk="1" hangingPunct="1">
              <a:lnSpc>
                <a:spcPct val="110000"/>
              </a:lnSpc>
              <a:buClr>
                <a:srgbClr val="FF6600"/>
              </a:buClr>
              <a:buSzPct val="55000"/>
              <a:buFont typeface="Wingdings" pitchFamily="2" charset="2"/>
              <a:buNone/>
              <a:defRPr/>
            </a:pPr>
            <a:r>
              <a:rPr lang="zh-CN" altLang="en-US" b="1" dirty="0">
                <a:ea typeface="楷体_GB2312" pitchFamily="49" charset="-122"/>
              </a:rPr>
              <a:t>全局量用不用总是占着位置，局部变量（即使是静态的）无法跨函数使用</a:t>
            </a:r>
            <a:endParaRPr lang="en-US" altLang="zh-CN" b="1" dirty="0">
              <a:ea typeface="楷体_GB2312" pitchFamily="49" charset="-122"/>
            </a:endParaRPr>
          </a:p>
          <a:p>
            <a:pPr marL="0" indent="0" algn="just" eaLnBrk="1" hangingPunct="1">
              <a:lnSpc>
                <a:spcPct val="110000"/>
              </a:lnSpc>
              <a:buClr>
                <a:srgbClr val="FF6600"/>
              </a:buClr>
              <a:buSzPct val="55000"/>
              <a:buFont typeface="Wingdings" pitchFamily="2" charset="2"/>
              <a:buNone/>
              <a:defRPr/>
            </a:pPr>
            <a:endParaRPr lang="en-US" altLang="zh-CN" dirty="0"/>
          </a:p>
          <a:p>
            <a:pPr marL="0" indent="0" algn="just" eaLnBrk="1" hangingPunct="1">
              <a:lnSpc>
                <a:spcPct val="110000"/>
              </a:lnSpc>
              <a:buClr>
                <a:srgbClr val="FF6600"/>
              </a:buClr>
              <a:buSzPct val="55000"/>
              <a:buFont typeface="Wingdings" pitchFamily="2" charset="2"/>
              <a:buNone/>
              <a:defRPr/>
            </a:pPr>
            <a:r>
              <a:rPr lang="zh-CN" altLang="en-US" b="1" dirty="0">
                <a:latin typeface="楷体_GB2312" pitchFamily="49" charset="-122"/>
                <a:ea typeface="楷体_GB2312" pitchFamily="49" charset="-122"/>
              </a:rPr>
              <a:t>按需要随时生成和消去数据对象，这种实现方法称为</a:t>
            </a:r>
            <a:r>
              <a:rPr lang="zh-CN" altLang="en-US" b="1" dirty="0">
                <a:solidFill>
                  <a:srgbClr val="C00000"/>
                </a:solidFill>
                <a:latin typeface="楷体_GB2312" pitchFamily="49" charset="-122"/>
                <a:ea typeface="楷体_GB2312" pitchFamily="49" charset="-122"/>
              </a:rPr>
              <a:t>动态方法</a:t>
            </a:r>
            <a:r>
              <a:rPr lang="zh-CN" altLang="en-US" b="1" dirty="0">
                <a:latin typeface="楷体_GB2312" pitchFamily="49" charset="-122"/>
                <a:ea typeface="楷体_GB2312" pitchFamily="49" charset="-122"/>
              </a:rPr>
              <a:t>。</a:t>
            </a:r>
            <a:endParaRPr lang="en-US" altLang="zh-CN" b="1" dirty="0">
              <a:latin typeface="楷体_GB2312" pitchFamily="49" charset="-122"/>
              <a:ea typeface="楷体_GB2312" pitchFamily="49" charset="-122"/>
            </a:endParaRPr>
          </a:p>
          <a:p>
            <a:pPr marL="0" indent="0" algn="just" eaLnBrk="1" hangingPunct="1">
              <a:lnSpc>
                <a:spcPct val="110000"/>
              </a:lnSpc>
              <a:buClr>
                <a:srgbClr val="FF6600"/>
              </a:buClr>
              <a:buSzPct val="55000"/>
              <a:buFont typeface="Wingdings" pitchFamily="2" charset="2"/>
              <a:buNone/>
              <a:defRPr/>
            </a:pPr>
            <a:endParaRPr lang="en-US" altLang="zh-CN" b="1" dirty="0">
              <a:latin typeface="楷体_GB2312" pitchFamily="49" charset="-122"/>
              <a:ea typeface="楷体_GB2312" pitchFamily="49" charset="-122"/>
            </a:endParaRPr>
          </a:p>
        </p:txBody>
      </p:sp>
      <p:sp>
        <p:nvSpPr>
          <p:cNvPr id="6" name="灯片编号占位符 5"/>
          <p:cNvSpPr>
            <a:spLocks noGrp="1"/>
          </p:cNvSpPr>
          <p:nvPr>
            <p:ph type="sldNum" sz="quarter" idx="12"/>
          </p:nvPr>
        </p:nvSpPr>
        <p:spPr/>
        <p:txBody>
          <a:bodyPr/>
          <a:lstStyle/>
          <a:p>
            <a:pPr>
              <a:defRPr/>
            </a:pPr>
            <a:fld id="{C80AA48E-A764-432B-8414-070256B64CE6}" type="slidenum">
              <a:rPr lang="en-US" altLang="zh-CN"/>
              <a:pPr>
                <a:defRPr/>
              </a:pPr>
              <a:t>45</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1763">
                                            <p:txEl>
                                              <p:pRg st="0" end="0"/>
                                            </p:txEl>
                                          </p:spTgt>
                                        </p:tgtEl>
                                        <p:attrNameLst>
                                          <p:attrName>style.visibility</p:attrName>
                                        </p:attrNameLst>
                                      </p:cBhvr>
                                      <p:to>
                                        <p:strVal val="visible"/>
                                      </p:to>
                                    </p:set>
                                    <p:anim calcmode="lin" valueType="num">
                                      <p:cBhvr additive="base">
                                        <p:cTn id="7" dur="500" fill="hold"/>
                                        <p:tgtEl>
                                          <p:spTgt spid="5017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17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01763">
                                            <p:txEl>
                                              <p:pRg st="1" end="1"/>
                                            </p:txEl>
                                          </p:spTgt>
                                        </p:tgtEl>
                                        <p:attrNameLst>
                                          <p:attrName>style.visibility</p:attrName>
                                        </p:attrNameLst>
                                      </p:cBhvr>
                                      <p:to>
                                        <p:strVal val="visible"/>
                                      </p:to>
                                    </p:set>
                                    <p:anim calcmode="lin" valueType="num">
                                      <p:cBhvr additive="base">
                                        <p:cTn id="13" dur="500" fill="hold"/>
                                        <p:tgtEl>
                                          <p:spTgt spid="50176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017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01763">
                                            <p:txEl>
                                              <p:pRg st="2" end="2"/>
                                            </p:txEl>
                                          </p:spTgt>
                                        </p:tgtEl>
                                        <p:attrNameLst>
                                          <p:attrName>style.visibility</p:attrName>
                                        </p:attrNameLst>
                                      </p:cBhvr>
                                      <p:to>
                                        <p:strVal val="visible"/>
                                      </p:to>
                                    </p:set>
                                    <p:anim calcmode="lin" valueType="num">
                                      <p:cBhvr additive="base">
                                        <p:cTn id="19" dur="500" fill="hold"/>
                                        <p:tgtEl>
                                          <p:spTgt spid="50176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017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01763">
                                            <p:txEl>
                                              <p:pRg st="4" end="4"/>
                                            </p:txEl>
                                          </p:spTgt>
                                        </p:tgtEl>
                                        <p:attrNameLst>
                                          <p:attrName>style.visibility</p:attrName>
                                        </p:attrNameLst>
                                      </p:cBhvr>
                                      <p:to>
                                        <p:strVal val="visible"/>
                                      </p:to>
                                    </p:set>
                                    <p:anim calcmode="lin" valueType="num">
                                      <p:cBhvr additive="base">
                                        <p:cTn id="25" dur="500" fill="hold"/>
                                        <p:tgtEl>
                                          <p:spTgt spid="50176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0176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01763">
                                            <p:txEl>
                                              <p:pRg st="6" end="6"/>
                                            </p:txEl>
                                          </p:spTgt>
                                        </p:tgtEl>
                                        <p:attrNameLst>
                                          <p:attrName>style.visibility</p:attrName>
                                        </p:attrNameLst>
                                      </p:cBhvr>
                                      <p:to>
                                        <p:strVal val="visible"/>
                                      </p:to>
                                    </p:set>
                                    <p:anim calcmode="lin" valueType="num">
                                      <p:cBhvr additive="base">
                                        <p:cTn id="31" dur="500" fill="hold"/>
                                        <p:tgtEl>
                                          <p:spTgt spid="50176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0176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63"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CFB08-C1B1-5D7B-0567-8C3AA18D11D4}"/>
            </a:ext>
          </a:extLst>
        </p:cNvPr>
        <p:cNvGrpSpPr/>
        <p:nvPr/>
      </p:nvGrpSpPr>
      <p:grpSpPr>
        <a:xfrm>
          <a:off x="0" y="0"/>
          <a:ext cx="0" cy="0"/>
          <a:chOff x="0" y="0"/>
          <a:chExt cx="0" cy="0"/>
        </a:xfrm>
      </p:grpSpPr>
      <p:sp>
        <p:nvSpPr>
          <p:cNvPr id="657410" name="Rectangle 2">
            <a:extLst>
              <a:ext uri="{FF2B5EF4-FFF2-40B4-BE49-F238E27FC236}">
                <a16:creationId xmlns:a16="http://schemas.microsoft.com/office/drawing/2014/main" id="{F3B9F998-F9EB-92E2-A7FF-826865921C1E}"/>
              </a:ext>
            </a:extLst>
          </p:cNvPr>
          <p:cNvSpPr>
            <a:spLocks noGrp="1" noChangeArrowheads="1"/>
          </p:cNvSpPr>
          <p:nvPr>
            <p:ph idx="1"/>
          </p:nvPr>
        </p:nvSpPr>
        <p:spPr>
          <a:xfrm>
            <a:off x="250825" y="404813"/>
            <a:ext cx="8497888" cy="5486400"/>
          </a:xfrm>
        </p:spPr>
        <p:txBody>
          <a:bodyPr>
            <a:normAutofit/>
          </a:bodyPr>
          <a:lstStyle/>
          <a:p>
            <a:pPr marL="0" indent="0" algn="just">
              <a:lnSpc>
                <a:spcPct val="110000"/>
              </a:lnSpc>
              <a:buClr>
                <a:srgbClr val="FF6600"/>
              </a:buClr>
              <a:buSzPct val="55000"/>
              <a:buNone/>
              <a:defRPr/>
            </a:pPr>
            <a:r>
              <a:rPr lang="zh-CN" altLang="en-US" sz="2800" b="1" dirty="0">
                <a:latin typeface="楷体_GB2312" pitchFamily="49" charset="-122"/>
                <a:ea typeface="楷体_GB2312" pitchFamily="49" charset="-122"/>
              </a:rPr>
              <a:t>变量的动态生成</a:t>
            </a:r>
            <a:endParaRPr lang="en-US" altLang="zh-CN" sz="2800" b="1" dirty="0">
              <a:latin typeface="楷体_GB2312" pitchFamily="49" charset="-122"/>
              <a:ea typeface="楷体_GB2312" pitchFamily="49" charset="-122"/>
            </a:endParaRPr>
          </a:p>
          <a:p>
            <a:pPr marL="0" indent="0" algn="just">
              <a:lnSpc>
                <a:spcPct val="110000"/>
              </a:lnSpc>
              <a:buClr>
                <a:srgbClr val="FF6600"/>
              </a:buClr>
              <a:buSzPct val="55000"/>
              <a:buNone/>
              <a:defRPr/>
            </a:pPr>
            <a:endParaRPr lang="en-US" altLang="zh-CN" sz="2800" b="1" dirty="0">
              <a:latin typeface="楷体_GB2312" pitchFamily="49" charset="-122"/>
              <a:ea typeface="楷体_GB2312" pitchFamily="49" charset="-122"/>
            </a:endParaRPr>
          </a:p>
          <a:p>
            <a:pPr marL="0" indent="0" algn="just" eaLnBrk="1" hangingPunct="1">
              <a:lnSpc>
                <a:spcPct val="110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在</a:t>
            </a:r>
            <a:r>
              <a:rPr lang="en-US" altLang="zh-CN" sz="2800" b="1" dirty="0">
                <a:latin typeface="楷体_GB2312" pitchFamily="49" charset="-122"/>
                <a:ea typeface="楷体_GB2312" pitchFamily="49" charset="-122"/>
              </a:rPr>
              <a:t>C</a:t>
            </a:r>
            <a:r>
              <a:rPr lang="zh-CN" altLang="en-US" sz="2800" b="1" dirty="0">
                <a:latin typeface="楷体_GB2312" pitchFamily="49" charset="-122"/>
                <a:ea typeface="楷体_GB2312" pitchFamily="49" charset="-122"/>
              </a:rPr>
              <a:t>语言中，有</a:t>
            </a:r>
            <a:r>
              <a:rPr lang="en-US" altLang="zh-CN" sz="2800" b="1" dirty="0" err="1">
                <a:latin typeface="楷体_GB2312" pitchFamily="49" charset="-122"/>
                <a:ea typeface="楷体_GB2312" pitchFamily="49" charset="-122"/>
              </a:rPr>
              <a:t>malloc</a:t>
            </a:r>
            <a:r>
              <a:rPr lang="zh-CN" altLang="en-US" sz="2800" b="1" dirty="0">
                <a:latin typeface="楷体_GB2312" pitchFamily="49" charset="-122"/>
                <a:ea typeface="楷体_GB2312" pitchFamily="49" charset="-122"/>
              </a:rPr>
              <a:t>和</a:t>
            </a:r>
            <a:r>
              <a:rPr lang="en-US" altLang="zh-CN" sz="2800" b="1" dirty="0" err="1">
                <a:latin typeface="楷体_GB2312" pitchFamily="49" charset="-122"/>
                <a:ea typeface="楷体_GB2312" pitchFamily="49" charset="-122"/>
              </a:rPr>
              <a:t>calloc</a:t>
            </a:r>
            <a:r>
              <a:rPr lang="zh-CN" altLang="en-US" sz="2800" b="1" dirty="0">
                <a:latin typeface="楷体_GB2312" pitchFamily="49" charset="-122"/>
                <a:ea typeface="楷体_GB2312" pitchFamily="49" charset="-122"/>
              </a:rPr>
              <a:t>两个库函数用于生成动态变量，另有一个库函数</a:t>
            </a:r>
            <a:r>
              <a:rPr lang="en-US" altLang="zh-CN" sz="2800" b="1" dirty="0">
                <a:latin typeface="楷体_GB2312" pitchFamily="49" charset="-122"/>
                <a:ea typeface="楷体_GB2312" pitchFamily="49" charset="-122"/>
              </a:rPr>
              <a:t>free</a:t>
            </a:r>
            <a:r>
              <a:rPr lang="zh-CN" altLang="en-US" sz="2800" b="1" dirty="0">
                <a:latin typeface="楷体_GB2312" pitchFamily="49" charset="-122"/>
                <a:ea typeface="楷体_GB2312" pitchFamily="49" charset="-122"/>
              </a:rPr>
              <a:t>用于释放动态变量。</a:t>
            </a:r>
            <a:endParaRPr lang="en-US" altLang="zh-CN" sz="2800" b="1" dirty="0">
              <a:latin typeface="楷体_GB2312" pitchFamily="49" charset="-122"/>
              <a:ea typeface="楷体_GB2312" pitchFamily="49" charset="-122"/>
            </a:endParaRPr>
          </a:p>
          <a:p>
            <a:pPr marL="0" indent="0" algn="just" eaLnBrk="1" hangingPunct="1">
              <a:lnSpc>
                <a:spcPct val="110000"/>
              </a:lnSpc>
              <a:buClr>
                <a:srgbClr val="FF6600"/>
              </a:buClr>
              <a:buSzPct val="55000"/>
              <a:buFont typeface="Wingdings" pitchFamily="2" charset="2"/>
              <a:buNone/>
              <a:defRPr/>
            </a:pPr>
            <a:endParaRPr lang="en-US" altLang="zh-CN" sz="2800" b="1" dirty="0">
              <a:latin typeface="楷体_GB2312" pitchFamily="49" charset="-122"/>
              <a:ea typeface="楷体_GB2312" pitchFamily="49" charset="-122"/>
            </a:endParaRPr>
          </a:p>
          <a:p>
            <a:pPr marL="0" indent="0" algn="just" eaLnBrk="1" hangingPunct="1">
              <a:lnSpc>
                <a:spcPct val="110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打造</a:t>
            </a:r>
            <a:r>
              <a:rPr lang="zh-CN" altLang="en-US" sz="2800" b="1" dirty="0">
                <a:solidFill>
                  <a:srgbClr val="FF0000"/>
                </a:solidFill>
                <a:latin typeface="楷体_GB2312" pitchFamily="49" charset="-122"/>
                <a:ea typeface="楷体_GB2312" pitchFamily="49" charset="-122"/>
              </a:rPr>
              <a:t>召之即来、挥之即去</a:t>
            </a:r>
            <a:r>
              <a:rPr lang="zh-CN" altLang="en-US" sz="2800" b="1" dirty="0">
                <a:latin typeface="楷体_GB2312" pitchFamily="49" charset="-122"/>
                <a:ea typeface="楷体_GB2312" pitchFamily="49" charset="-122"/>
              </a:rPr>
              <a:t>的变量</a:t>
            </a:r>
            <a:r>
              <a:rPr lang="zh-CN" altLang="en-US" sz="2800" dirty="0">
                <a:latin typeface="楷体_GB2312" pitchFamily="49" charset="-122"/>
                <a:ea typeface="楷体_GB2312" pitchFamily="49" charset="-122"/>
              </a:rPr>
              <a:t> </a:t>
            </a:r>
            <a:endParaRPr lang="zh-CN" altLang="en-US" sz="2800" b="1" dirty="0">
              <a:latin typeface="楷体_GB2312" pitchFamily="49" charset="-122"/>
              <a:ea typeface="楷体_GB2312" pitchFamily="49" charset="-122"/>
            </a:endParaRPr>
          </a:p>
        </p:txBody>
      </p:sp>
      <p:sp>
        <p:nvSpPr>
          <p:cNvPr id="6" name="灯片编号占位符 5">
            <a:extLst>
              <a:ext uri="{FF2B5EF4-FFF2-40B4-BE49-F238E27FC236}">
                <a16:creationId xmlns:a16="http://schemas.microsoft.com/office/drawing/2014/main" id="{BF374802-5542-BCDE-7DF7-D860534D91BF}"/>
              </a:ext>
            </a:extLst>
          </p:cNvPr>
          <p:cNvSpPr>
            <a:spLocks noGrp="1"/>
          </p:cNvSpPr>
          <p:nvPr>
            <p:ph type="sldNum" sz="quarter" idx="12"/>
          </p:nvPr>
        </p:nvSpPr>
        <p:spPr/>
        <p:txBody>
          <a:bodyPr/>
          <a:lstStyle/>
          <a:p>
            <a:pPr>
              <a:defRPr/>
            </a:pPr>
            <a:fld id="{162AA7AB-088E-4CD7-A78B-DDEAFB745D3E}" type="slidenum">
              <a:rPr lang="en-US" altLang="zh-CN"/>
              <a:pPr>
                <a:defRPr/>
              </a:pPr>
              <a:t>46</a:t>
            </a:fld>
            <a:endParaRPr lang="en-US" altLang="zh-CN"/>
          </a:p>
        </p:txBody>
      </p:sp>
    </p:spTree>
    <p:extLst>
      <p:ext uri="{BB962C8B-B14F-4D97-AF65-F5344CB8AC3E}">
        <p14:creationId xmlns:p14="http://schemas.microsoft.com/office/powerpoint/2010/main" val="425599135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57410">
                                            <p:txEl>
                                              <p:pRg st="4" end="4"/>
                                            </p:txEl>
                                          </p:spTgt>
                                        </p:tgtEl>
                                        <p:attrNameLst>
                                          <p:attrName>style.visibility</p:attrName>
                                        </p:attrNameLst>
                                      </p:cBhvr>
                                      <p:to>
                                        <p:strVal val="visible"/>
                                      </p:to>
                                    </p:set>
                                    <p:anim calcmode="lin" valueType="num">
                                      <p:cBhvr additive="base">
                                        <p:cTn id="7" dur="500" fill="hold"/>
                                        <p:tgtEl>
                                          <p:spTgt spid="657410">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5741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43E8-9289-C412-8F30-94CDB083CB39}"/>
            </a:ext>
          </a:extLst>
        </p:cNvPr>
        <p:cNvGrpSpPr/>
        <p:nvPr/>
      </p:nvGrpSpPr>
      <p:grpSpPr>
        <a:xfrm>
          <a:off x="0" y="0"/>
          <a:ext cx="0" cy="0"/>
          <a:chOff x="0" y="0"/>
          <a:chExt cx="0" cy="0"/>
        </a:xfrm>
      </p:grpSpPr>
      <p:sp>
        <p:nvSpPr>
          <p:cNvPr id="657410" name="Rectangle 2">
            <a:extLst>
              <a:ext uri="{FF2B5EF4-FFF2-40B4-BE49-F238E27FC236}">
                <a16:creationId xmlns:a16="http://schemas.microsoft.com/office/drawing/2014/main" id="{4B5EB515-35CC-B9E6-5145-5A882F633AA0}"/>
              </a:ext>
            </a:extLst>
          </p:cNvPr>
          <p:cNvSpPr>
            <a:spLocks noGrp="1" noChangeArrowheads="1"/>
          </p:cNvSpPr>
          <p:nvPr>
            <p:ph idx="1"/>
          </p:nvPr>
        </p:nvSpPr>
        <p:spPr>
          <a:xfrm>
            <a:off x="250825" y="404813"/>
            <a:ext cx="8497888" cy="5486400"/>
          </a:xfrm>
        </p:spPr>
        <p:txBody>
          <a:bodyPr>
            <a:normAutofit/>
          </a:bodyPr>
          <a:lstStyle/>
          <a:p>
            <a:pPr marL="0" indent="0" algn="just">
              <a:lnSpc>
                <a:spcPct val="110000"/>
              </a:lnSpc>
              <a:buClr>
                <a:srgbClr val="FF6600"/>
              </a:buClr>
              <a:buSzPct val="55000"/>
              <a:buNone/>
              <a:defRPr/>
            </a:pPr>
            <a:r>
              <a:rPr lang="en-US" altLang="zh-CN" sz="2800" b="1" dirty="0" err="1">
                <a:latin typeface="楷体_GB2312" pitchFamily="49" charset="-122"/>
                <a:ea typeface="楷体_GB2312" pitchFamily="49" charset="-122"/>
              </a:rPr>
              <a:t>malloc</a:t>
            </a:r>
            <a:r>
              <a:rPr lang="en-US" altLang="zh-CN" sz="2800" b="1" dirty="0">
                <a:latin typeface="楷体_GB2312" pitchFamily="49" charset="-122"/>
                <a:ea typeface="楷体_GB2312" pitchFamily="49" charset="-122"/>
              </a:rPr>
              <a:t>(size)</a:t>
            </a:r>
          </a:p>
          <a:p>
            <a:pPr marL="0" indent="0" algn="just" eaLnBrk="1" hangingPunct="1">
              <a:lnSpc>
                <a:spcPct val="110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功能：从系统提供的动态存储区域中分配</a:t>
            </a:r>
            <a:r>
              <a:rPr lang="en-US" altLang="zh-CN" sz="2800" b="1" dirty="0">
                <a:latin typeface="楷体_GB2312" pitchFamily="49" charset="-122"/>
                <a:ea typeface="楷体_GB2312" pitchFamily="49" charset="-122"/>
              </a:rPr>
              <a:t>size</a:t>
            </a:r>
            <a:r>
              <a:rPr lang="zh-CN" altLang="en-US" sz="2800" b="1" dirty="0">
                <a:latin typeface="楷体_GB2312" pitchFamily="49" charset="-122"/>
                <a:ea typeface="楷体_GB2312" pitchFamily="49" charset="-122"/>
              </a:rPr>
              <a:t>个字节的连续空间，函数返回该连续空间的开始地址。如果因动态存储区域已分配完，而不能满足这次申请要求，函数将返回</a:t>
            </a:r>
            <a:r>
              <a:rPr lang="en-US" altLang="zh-CN" sz="2800" b="1" dirty="0">
                <a:latin typeface="楷体_GB2312" pitchFamily="49" charset="-122"/>
                <a:ea typeface="楷体_GB2312" pitchFamily="49" charset="-122"/>
              </a:rPr>
              <a:t>0(NULL)</a:t>
            </a:r>
            <a:r>
              <a:rPr lang="zh-CN" altLang="en-US" sz="2800" b="1" dirty="0">
                <a:latin typeface="楷体_GB2312" pitchFamily="49" charset="-122"/>
                <a:ea typeface="楷体_GB2312" pitchFamily="49" charset="-122"/>
              </a:rPr>
              <a:t>值。</a:t>
            </a:r>
          </a:p>
          <a:p>
            <a:pPr marL="0" indent="0" algn="just" eaLnBrk="1" hangingPunct="1">
              <a:lnSpc>
                <a:spcPct val="110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说明：函数</a:t>
            </a:r>
            <a:r>
              <a:rPr lang="en-US" altLang="zh-CN" sz="2800" b="1" dirty="0" err="1">
                <a:latin typeface="楷体_GB2312" pitchFamily="49" charset="-122"/>
                <a:ea typeface="楷体_GB2312" pitchFamily="49" charset="-122"/>
              </a:rPr>
              <a:t>malloc</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的返回值是</a:t>
            </a:r>
            <a:r>
              <a:rPr lang="zh-CN" altLang="en-US" sz="2800" b="1" dirty="0">
                <a:solidFill>
                  <a:srgbClr val="FF0000"/>
                </a:solidFill>
                <a:latin typeface="楷体_GB2312" pitchFamily="49" charset="-122"/>
                <a:ea typeface="楷体_GB2312" pitchFamily="49" charset="-122"/>
              </a:rPr>
              <a:t>无类型指针值</a:t>
            </a:r>
            <a:r>
              <a:rPr lang="zh-CN" altLang="en-US" sz="2800" b="1" dirty="0">
                <a:latin typeface="楷体_GB2312" pitchFamily="49" charset="-122"/>
                <a:ea typeface="楷体_GB2312" pitchFamily="49" charset="-122"/>
              </a:rPr>
              <a:t>，程序</a:t>
            </a:r>
            <a:r>
              <a:rPr lang="zh-CN" altLang="en-US" sz="2800" b="1" dirty="0">
                <a:solidFill>
                  <a:srgbClr val="FF0000"/>
                </a:solidFill>
                <a:latin typeface="楷体_GB2312" pitchFamily="49" charset="-122"/>
                <a:ea typeface="楷体_GB2312" pitchFamily="49" charset="-122"/>
              </a:rPr>
              <a:t>必须</a:t>
            </a:r>
            <a:r>
              <a:rPr lang="zh-CN" altLang="en-US" sz="2800" b="1" dirty="0">
                <a:latin typeface="楷体_GB2312" pitchFamily="49" charset="-122"/>
                <a:ea typeface="楷体_GB2312" pitchFamily="49" charset="-122"/>
              </a:rPr>
              <a:t>将该返回值</a:t>
            </a:r>
            <a:r>
              <a:rPr lang="zh-CN" altLang="en-US" sz="2800" b="1" dirty="0">
                <a:solidFill>
                  <a:srgbClr val="FF0000"/>
                </a:solidFill>
                <a:latin typeface="楷体_GB2312" pitchFamily="49" charset="-122"/>
                <a:ea typeface="楷体_GB2312" pitchFamily="49" charset="-122"/>
              </a:rPr>
              <a:t>强制转换</a:t>
            </a:r>
            <a:r>
              <a:rPr lang="zh-CN" altLang="en-US" sz="2800" b="1" dirty="0">
                <a:latin typeface="楷体_GB2312" pitchFamily="49" charset="-122"/>
                <a:ea typeface="楷体_GB2312" pitchFamily="49" charset="-122"/>
              </a:rPr>
              <a:t>成</a:t>
            </a:r>
            <a:r>
              <a:rPr lang="zh-CN" altLang="en-US" sz="2800" b="1" dirty="0">
                <a:solidFill>
                  <a:srgbClr val="FF0000"/>
                </a:solidFill>
                <a:latin typeface="楷体_GB2312" pitchFamily="49" charset="-122"/>
                <a:ea typeface="楷体_GB2312" pitchFamily="49" charset="-122"/>
              </a:rPr>
              <a:t>某种特定的指针</a:t>
            </a:r>
            <a:r>
              <a:rPr lang="zh-CN" altLang="en-US" sz="2800" b="1" dirty="0">
                <a:latin typeface="楷体_GB2312" pitchFamily="49" charset="-122"/>
                <a:ea typeface="楷体_GB2312" pitchFamily="49" charset="-122"/>
              </a:rPr>
              <a:t>类型。</a:t>
            </a:r>
          </a:p>
        </p:txBody>
      </p:sp>
      <p:sp>
        <p:nvSpPr>
          <p:cNvPr id="6" name="灯片编号占位符 5">
            <a:extLst>
              <a:ext uri="{FF2B5EF4-FFF2-40B4-BE49-F238E27FC236}">
                <a16:creationId xmlns:a16="http://schemas.microsoft.com/office/drawing/2014/main" id="{297E83B8-F89E-0DEE-21DA-6576DA09F9B9}"/>
              </a:ext>
            </a:extLst>
          </p:cNvPr>
          <p:cNvSpPr>
            <a:spLocks noGrp="1"/>
          </p:cNvSpPr>
          <p:nvPr>
            <p:ph type="sldNum" sz="quarter" idx="12"/>
          </p:nvPr>
        </p:nvSpPr>
        <p:spPr/>
        <p:txBody>
          <a:bodyPr/>
          <a:lstStyle/>
          <a:p>
            <a:pPr>
              <a:defRPr/>
            </a:pPr>
            <a:fld id="{162AA7AB-088E-4CD7-A78B-DDEAFB745D3E}" type="slidenum">
              <a:rPr lang="en-US" altLang="zh-CN"/>
              <a:pPr>
                <a:defRPr/>
              </a:pPr>
              <a:t>47</a:t>
            </a:fld>
            <a:endParaRPr lang="en-US" altLang="zh-CN"/>
          </a:p>
        </p:txBody>
      </p:sp>
      <p:sp>
        <p:nvSpPr>
          <p:cNvPr id="657413" name="Text Box 5">
            <a:extLst>
              <a:ext uri="{FF2B5EF4-FFF2-40B4-BE49-F238E27FC236}">
                <a16:creationId xmlns:a16="http://schemas.microsoft.com/office/drawing/2014/main" id="{D20D837C-B910-E08E-DFCB-72182DE82039}"/>
              </a:ext>
            </a:extLst>
          </p:cNvPr>
          <p:cNvSpPr txBox="1">
            <a:spLocks noChangeArrowheads="1"/>
          </p:cNvSpPr>
          <p:nvPr/>
        </p:nvSpPr>
        <p:spPr bwMode="auto">
          <a:xfrm>
            <a:off x="250825" y="4365104"/>
            <a:ext cx="8893175" cy="1938992"/>
          </a:xfrm>
          <a:prstGeom prst="rect">
            <a:avLst/>
          </a:prstGeom>
          <a:noFill/>
          <a:ln w="9525">
            <a:noFill/>
            <a:miter lim="800000"/>
            <a:headEnd/>
            <a:tailEnd/>
          </a:ln>
          <a:effectLst/>
        </p:spPr>
        <p:txBody>
          <a:bodyPr>
            <a:spAutoFit/>
          </a:bodyPr>
          <a:lstStyle/>
          <a:p>
            <a:pPr>
              <a:defRPr/>
            </a:pPr>
            <a:r>
              <a:rPr lang="zh-CN" altLang="en-US" b="1" dirty="0">
                <a:effectLst>
                  <a:outerShdw blurRad="38100" dist="38100" dir="2700000" algn="tl">
                    <a:srgbClr val="000000"/>
                  </a:outerShdw>
                </a:effectLst>
                <a:latin typeface="楷体_GB2312" pitchFamily="49" charset="-122"/>
                <a:ea typeface="楷体_GB2312" pitchFamily="49" charset="-122"/>
              </a:rPr>
              <a:t>例如：</a:t>
            </a:r>
            <a:endParaRPr lang="en-US" altLang="zh-CN" b="1" dirty="0">
              <a:effectLst>
                <a:outerShdw blurRad="38100" dist="38100" dir="2700000" algn="tl">
                  <a:srgbClr val="000000"/>
                </a:outerShdw>
              </a:effectLst>
              <a:latin typeface="楷体_GB2312" pitchFamily="49" charset="-122"/>
              <a:ea typeface="楷体_GB2312" pitchFamily="49" charset="-122"/>
            </a:endParaRPr>
          </a:p>
          <a:p>
            <a:pPr>
              <a:defRPr/>
            </a:pPr>
            <a:r>
              <a:rPr lang="en-US" altLang="zh-CN" b="1" dirty="0" err="1">
                <a:effectLst>
                  <a:outerShdw blurRad="38100" dist="38100" dir="2700000" algn="tl">
                    <a:srgbClr val="000000"/>
                  </a:outerShdw>
                </a:effectLst>
                <a:latin typeface="楷体_GB2312" pitchFamily="49" charset="-122"/>
                <a:ea typeface="楷体_GB2312" pitchFamily="49" charset="-122"/>
              </a:rPr>
              <a:t>intNode</a:t>
            </a:r>
            <a:r>
              <a:rPr lang="en-US" altLang="zh-CN" b="1" dirty="0">
                <a:effectLst>
                  <a:outerShdw blurRad="38100" dist="38100" dir="2700000" algn="tl">
                    <a:srgbClr val="000000"/>
                  </a:outerShdw>
                </a:effectLst>
                <a:latin typeface="楷体_GB2312" pitchFamily="49" charset="-122"/>
                <a:ea typeface="楷体_GB2312" pitchFamily="49" charset="-122"/>
              </a:rPr>
              <a:t> *</a:t>
            </a:r>
            <a:r>
              <a:rPr lang="en-US" altLang="zh-CN" b="1" dirty="0">
                <a:solidFill>
                  <a:srgbClr val="C00000"/>
                </a:solidFill>
                <a:effectLst>
                  <a:outerShdw blurRad="38100" dist="38100" dir="2700000" algn="tl">
                    <a:srgbClr val="000000"/>
                  </a:outerShdw>
                </a:effectLst>
                <a:latin typeface="楷体_GB2312" pitchFamily="49" charset="-122"/>
                <a:ea typeface="楷体_GB2312" pitchFamily="49" charset="-122"/>
              </a:rPr>
              <a:t>p;</a:t>
            </a:r>
          </a:p>
          <a:p>
            <a:pPr>
              <a:defRPr/>
            </a:pPr>
            <a:r>
              <a:rPr lang="en-US" altLang="zh-CN" b="1" dirty="0">
                <a:solidFill>
                  <a:srgbClr val="C00000"/>
                </a:solidFill>
                <a:effectLst>
                  <a:outerShdw blurRad="38100" dist="38100" dir="2700000" algn="tl">
                    <a:srgbClr val="000000"/>
                  </a:outerShdw>
                </a:effectLst>
                <a:latin typeface="楷体_GB2312" pitchFamily="49" charset="-122"/>
                <a:ea typeface="楷体_GB2312" pitchFamily="49" charset="-122"/>
              </a:rPr>
              <a:t>p=(</a:t>
            </a:r>
            <a:r>
              <a:rPr lang="en-US" altLang="zh-CN" b="1" dirty="0" err="1">
                <a:solidFill>
                  <a:srgbClr val="C00000"/>
                </a:solidFill>
                <a:effectLst>
                  <a:outerShdw blurRad="38100" dist="38100" dir="2700000" algn="tl">
                    <a:srgbClr val="000000"/>
                  </a:outerShdw>
                </a:effectLst>
                <a:latin typeface="楷体_GB2312" pitchFamily="49" charset="-122"/>
                <a:ea typeface="楷体_GB2312" pitchFamily="49" charset="-122"/>
              </a:rPr>
              <a:t>intNode</a:t>
            </a:r>
            <a:r>
              <a:rPr lang="en-US" altLang="zh-CN" b="1" dirty="0">
                <a:solidFill>
                  <a:srgbClr val="C00000"/>
                </a:solidFill>
                <a:effectLst>
                  <a:outerShdw blurRad="38100" dist="38100" dir="2700000" algn="tl">
                    <a:srgbClr val="000000"/>
                  </a:outerShdw>
                </a:effectLst>
                <a:latin typeface="楷体_GB2312" pitchFamily="49" charset="-122"/>
                <a:ea typeface="楷体_GB2312" pitchFamily="49" charset="-122"/>
              </a:rPr>
              <a:t>*)</a:t>
            </a:r>
            <a:r>
              <a:rPr lang="en-US" altLang="zh-CN" b="1" dirty="0" err="1">
                <a:solidFill>
                  <a:srgbClr val="C00000"/>
                </a:solidFill>
                <a:effectLst>
                  <a:outerShdw blurRad="38100" dist="38100" dir="2700000" algn="tl">
                    <a:srgbClr val="000000"/>
                  </a:outerShdw>
                </a:effectLst>
                <a:latin typeface="楷体_GB2312" pitchFamily="49" charset="-122"/>
                <a:ea typeface="楷体_GB2312" pitchFamily="49" charset="-122"/>
              </a:rPr>
              <a:t>malloc</a:t>
            </a:r>
            <a:r>
              <a:rPr lang="en-US" altLang="zh-CN" b="1" dirty="0">
                <a:solidFill>
                  <a:srgbClr val="C00000"/>
                </a:solidFill>
                <a:effectLst>
                  <a:outerShdw blurRad="38100" dist="38100" dir="2700000" algn="tl">
                    <a:srgbClr val="000000"/>
                  </a:outerShdw>
                </a:effectLst>
                <a:latin typeface="楷体_GB2312" pitchFamily="49" charset="-122"/>
                <a:ea typeface="楷体_GB2312" pitchFamily="49" charset="-122"/>
              </a:rPr>
              <a:t>(</a:t>
            </a:r>
            <a:r>
              <a:rPr lang="en-US" altLang="zh-CN" b="1" dirty="0" err="1">
                <a:solidFill>
                  <a:srgbClr val="C00000"/>
                </a:solidFill>
                <a:effectLst>
                  <a:outerShdw blurRad="38100" dist="38100" dir="2700000" algn="tl">
                    <a:srgbClr val="000000"/>
                  </a:outerShdw>
                </a:effectLst>
                <a:latin typeface="楷体_GB2312" pitchFamily="49" charset="-122"/>
                <a:ea typeface="楷体_GB2312" pitchFamily="49" charset="-122"/>
              </a:rPr>
              <a:t>sizeof</a:t>
            </a:r>
            <a:r>
              <a:rPr lang="en-US" altLang="zh-CN" b="1" dirty="0">
                <a:solidFill>
                  <a:srgbClr val="C00000"/>
                </a:solidFill>
                <a:effectLst>
                  <a:outerShdw blurRad="38100" dist="38100" dir="2700000" algn="tl">
                    <a:srgbClr val="000000"/>
                  </a:outerShdw>
                </a:effectLst>
                <a:latin typeface="楷体_GB2312" pitchFamily="49" charset="-122"/>
                <a:ea typeface="楷体_GB2312" pitchFamily="49" charset="-122"/>
              </a:rPr>
              <a:t>(</a:t>
            </a:r>
            <a:r>
              <a:rPr lang="en-US" altLang="zh-CN" b="1" dirty="0" err="1">
                <a:solidFill>
                  <a:srgbClr val="C00000"/>
                </a:solidFill>
                <a:effectLst>
                  <a:outerShdw blurRad="38100" dist="38100" dir="2700000" algn="tl">
                    <a:srgbClr val="000000"/>
                  </a:outerShdw>
                </a:effectLst>
                <a:latin typeface="楷体_GB2312" pitchFamily="49" charset="-122"/>
                <a:ea typeface="楷体_GB2312" pitchFamily="49" charset="-122"/>
              </a:rPr>
              <a:t>intNode</a:t>
            </a:r>
            <a:r>
              <a:rPr lang="en-US" altLang="zh-CN" b="1" dirty="0">
                <a:solidFill>
                  <a:srgbClr val="C00000"/>
                </a:solidFill>
                <a:effectLst>
                  <a:outerShdw blurRad="38100" dist="38100" dir="2700000" algn="tl">
                    <a:srgbClr val="000000"/>
                  </a:outerShdw>
                </a:effectLst>
                <a:latin typeface="楷体_GB2312" pitchFamily="49" charset="-122"/>
                <a:ea typeface="楷体_GB2312" pitchFamily="49" charset="-122"/>
              </a:rPr>
              <a:t>));</a:t>
            </a:r>
          </a:p>
          <a:p>
            <a:pPr>
              <a:defRPr/>
            </a:pPr>
            <a:r>
              <a:rPr lang="zh-CN" altLang="en-US" b="1" dirty="0">
                <a:effectLst>
                  <a:outerShdw blurRad="38100" dist="38100" dir="2700000" algn="tl">
                    <a:srgbClr val="000000"/>
                  </a:outerShdw>
                </a:effectLst>
                <a:latin typeface="楷体_GB2312" pitchFamily="49" charset="-122"/>
                <a:ea typeface="楷体_GB2312" pitchFamily="49" charset="-122"/>
              </a:rPr>
              <a:t>申请能存储类型为</a:t>
            </a:r>
            <a:r>
              <a:rPr lang="en-US" altLang="zh-CN" b="1" dirty="0" err="1">
                <a:effectLst>
                  <a:outerShdw blurRad="38100" dist="38100" dir="2700000" algn="tl">
                    <a:srgbClr val="000000"/>
                  </a:outerShdw>
                </a:effectLst>
                <a:latin typeface="楷体_GB2312" pitchFamily="49" charset="-122"/>
                <a:ea typeface="楷体_GB2312" pitchFamily="49" charset="-122"/>
              </a:rPr>
              <a:t>intNode</a:t>
            </a:r>
            <a:r>
              <a:rPr lang="zh-CN" altLang="en-US" b="1" dirty="0">
                <a:effectLst>
                  <a:outerShdw blurRad="38100" dist="38100" dir="2700000" algn="tl">
                    <a:srgbClr val="000000"/>
                  </a:outerShdw>
                </a:effectLst>
                <a:latin typeface="楷体_GB2312" pitchFamily="49" charset="-122"/>
                <a:ea typeface="楷体_GB2312" pitchFamily="49" charset="-122"/>
              </a:rPr>
              <a:t>的结构的存储空间，并将该结构指针存于指针变量</a:t>
            </a:r>
            <a:r>
              <a:rPr lang="en-US" altLang="zh-CN" b="1" dirty="0">
                <a:effectLst>
                  <a:outerShdw blurRad="38100" dist="38100" dir="2700000" algn="tl">
                    <a:srgbClr val="000000"/>
                  </a:outerShdw>
                </a:effectLst>
                <a:latin typeface="楷体_GB2312" pitchFamily="49" charset="-122"/>
                <a:ea typeface="楷体_GB2312" pitchFamily="49" charset="-122"/>
              </a:rPr>
              <a:t>p</a:t>
            </a:r>
            <a:r>
              <a:rPr lang="zh-CN" altLang="en-US" b="1" dirty="0">
                <a:effectLst>
                  <a:outerShdw blurRad="38100" dist="38100" dir="2700000" algn="tl">
                    <a:srgbClr val="000000"/>
                  </a:outerShdw>
                </a:effectLst>
                <a:latin typeface="楷体_GB2312" pitchFamily="49" charset="-122"/>
                <a:ea typeface="楷体_GB2312" pitchFamily="49" charset="-122"/>
              </a:rPr>
              <a:t>。</a:t>
            </a:r>
            <a:r>
              <a:rPr lang="zh-CN" altLang="en-US" b="1" dirty="0">
                <a:solidFill>
                  <a:srgbClr val="C00000"/>
                </a:solidFill>
                <a:effectLst>
                  <a:outerShdw blurRad="38100" dist="38100" dir="2700000" algn="tl">
                    <a:srgbClr val="000000"/>
                  </a:outerShdw>
                </a:effectLst>
                <a:latin typeface="楷体_GB2312" pitchFamily="49" charset="-122"/>
                <a:ea typeface="楷体_GB2312" pitchFamily="49" charset="-122"/>
              </a:rPr>
              <a:t>动态变量没有名字，只能通过指针引用它。 </a:t>
            </a:r>
          </a:p>
        </p:txBody>
      </p:sp>
    </p:spTree>
    <p:extLst>
      <p:ext uri="{BB962C8B-B14F-4D97-AF65-F5344CB8AC3E}">
        <p14:creationId xmlns:p14="http://schemas.microsoft.com/office/powerpoint/2010/main" val="284139888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57413"/>
                                        </p:tgtEl>
                                        <p:attrNameLst>
                                          <p:attrName>style.visibility</p:attrName>
                                        </p:attrNameLst>
                                      </p:cBhvr>
                                      <p:to>
                                        <p:strVal val="visible"/>
                                      </p:to>
                                    </p:set>
                                    <p:anim calcmode="lin" valueType="num">
                                      <p:cBhvr additive="base">
                                        <p:cTn id="7" dur="500" fill="hold"/>
                                        <p:tgtEl>
                                          <p:spTgt spid="657413"/>
                                        </p:tgtEl>
                                        <p:attrNameLst>
                                          <p:attrName>ppt_x</p:attrName>
                                        </p:attrNameLst>
                                      </p:cBhvr>
                                      <p:tavLst>
                                        <p:tav tm="0">
                                          <p:val>
                                            <p:strVal val="#ppt_x"/>
                                          </p:val>
                                        </p:tav>
                                        <p:tav tm="100000">
                                          <p:val>
                                            <p:strVal val="#ppt_x"/>
                                          </p:val>
                                        </p:tav>
                                      </p:tavLst>
                                    </p:anim>
                                    <p:anim calcmode="lin" valueType="num">
                                      <p:cBhvr additive="base">
                                        <p:cTn id="8" dur="500" fill="hold"/>
                                        <p:tgtEl>
                                          <p:spTgt spid="6574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741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6E5FE-CF9A-1871-7D20-2A41DD55FF81}"/>
            </a:ext>
          </a:extLst>
        </p:cNvPr>
        <p:cNvGrpSpPr/>
        <p:nvPr/>
      </p:nvGrpSpPr>
      <p:grpSpPr>
        <a:xfrm>
          <a:off x="0" y="0"/>
          <a:ext cx="0" cy="0"/>
          <a:chOff x="0" y="0"/>
          <a:chExt cx="0" cy="0"/>
        </a:xfrm>
      </p:grpSpPr>
      <p:sp>
        <p:nvSpPr>
          <p:cNvPr id="506883" name="Rectangle 3">
            <a:extLst>
              <a:ext uri="{FF2B5EF4-FFF2-40B4-BE49-F238E27FC236}">
                <a16:creationId xmlns:a16="http://schemas.microsoft.com/office/drawing/2014/main" id="{B9DAFA03-A6FF-98F6-E2D2-48E21228941F}"/>
              </a:ext>
            </a:extLst>
          </p:cNvPr>
          <p:cNvSpPr>
            <a:spLocks noGrp="1" noChangeArrowheads="1"/>
          </p:cNvSpPr>
          <p:nvPr>
            <p:ph idx="1"/>
          </p:nvPr>
        </p:nvSpPr>
        <p:spPr>
          <a:xfrm>
            <a:off x="250825" y="476250"/>
            <a:ext cx="8497888" cy="5918200"/>
          </a:xfrm>
        </p:spPr>
        <p:txBody>
          <a:bodyPr>
            <a:noAutofit/>
          </a:bodyPr>
          <a:lstStyle/>
          <a:p>
            <a:pPr marL="0" indent="0" algn="just" eaLnBrk="1" hangingPunct="1">
              <a:lnSpc>
                <a:spcPct val="95000"/>
              </a:lnSpc>
              <a:buClr>
                <a:srgbClr val="FF6600"/>
              </a:buClr>
              <a:buSzPct val="55000"/>
              <a:buFont typeface="Wingdings" pitchFamily="2" charset="2"/>
              <a:buNone/>
              <a:defRPr/>
            </a:pPr>
            <a:r>
              <a:rPr lang="en-US" altLang="zh-CN" sz="2800" b="1" dirty="0" err="1">
                <a:latin typeface="楷体_GB2312" pitchFamily="49" charset="-122"/>
                <a:ea typeface="楷体_GB2312" pitchFamily="49" charset="-122"/>
              </a:rPr>
              <a:t>calloc</a:t>
            </a:r>
            <a:r>
              <a:rPr lang="en-US" altLang="zh-CN" sz="2800" b="1" dirty="0">
                <a:latin typeface="楷体_GB2312" pitchFamily="49" charset="-122"/>
                <a:ea typeface="楷体_GB2312" pitchFamily="49" charset="-122"/>
              </a:rPr>
              <a:t>(n, size)</a:t>
            </a:r>
          </a:p>
          <a:p>
            <a:pPr marL="0" indent="0" algn="just" eaLnBrk="1" hangingPunct="1">
              <a:lnSpc>
                <a:spcPct val="95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功能：在动态存储区中分配</a:t>
            </a:r>
            <a:r>
              <a:rPr lang="en-US" altLang="zh-CN" sz="2800" b="1" dirty="0">
                <a:latin typeface="楷体_GB2312" pitchFamily="49" charset="-122"/>
                <a:ea typeface="楷体_GB2312" pitchFamily="49" charset="-122"/>
              </a:rPr>
              <a:t>n</a:t>
            </a:r>
            <a:r>
              <a:rPr lang="zh-CN" altLang="en-US" sz="2800" b="1" dirty="0">
                <a:latin typeface="楷体_GB2312" pitchFamily="49" charset="-122"/>
                <a:ea typeface="楷体_GB2312" pitchFamily="49" charset="-122"/>
              </a:rPr>
              <a:t>个</a:t>
            </a:r>
            <a:r>
              <a:rPr lang="en-US" altLang="zh-CN" sz="2800" b="1" dirty="0">
                <a:latin typeface="楷体_GB2312" pitchFamily="49" charset="-122"/>
                <a:ea typeface="楷体_GB2312" pitchFamily="49" charset="-122"/>
              </a:rPr>
              <a:t>size</a:t>
            </a:r>
            <a:r>
              <a:rPr lang="zh-CN" altLang="en-US" sz="2800" b="1" dirty="0">
                <a:latin typeface="楷体_GB2312" pitchFamily="49" charset="-122"/>
                <a:ea typeface="楷体_GB2312" pitchFamily="49" charset="-122"/>
              </a:rPr>
              <a:t>个字节的连续空间，函数返回该连续空间的开始地址；如果分配不成功，则返回</a:t>
            </a:r>
            <a:r>
              <a:rPr lang="en-US" altLang="zh-CN" sz="2800" b="1" dirty="0">
                <a:latin typeface="楷体_GB2312" pitchFamily="49" charset="-122"/>
                <a:ea typeface="楷体_GB2312" pitchFamily="49" charset="-122"/>
              </a:rPr>
              <a:t>0</a:t>
            </a:r>
            <a:r>
              <a:rPr lang="zh-CN" altLang="en-US" sz="2800" b="1" dirty="0">
                <a:latin typeface="楷体_GB2312" pitchFamily="49" charset="-122"/>
                <a:ea typeface="楷体_GB2312" pitchFamily="49" charset="-122"/>
              </a:rPr>
              <a:t>。</a:t>
            </a:r>
          </a:p>
          <a:p>
            <a:pPr marL="0" indent="0" algn="just" eaLnBrk="1" hangingPunct="1">
              <a:lnSpc>
                <a:spcPct val="95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例如：申请分配能存储</a:t>
            </a:r>
            <a:r>
              <a:rPr lang="en-US" altLang="zh-CN" sz="2800" b="1" dirty="0">
                <a:latin typeface="楷体_GB2312" pitchFamily="49" charset="-122"/>
                <a:ea typeface="楷体_GB2312" pitchFamily="49" charset="-122"/>
              </a:rPr>
              <a:t>100</a:t>
            </a:r>
            <a:r>
              <a:rPr lang="zh-CN" altLang="en-US" sz="2800" b="1" dirty="0">
                <a:latin typeface="楷体_GB2312" pitchFamily="49" charset="-122"/>
                <a:ea typeface="楷体_GB2312" pitchFamily="49" charset="-122"/>
              </a:rPr>
              <a:t>个整数的存储块。</a:t>
            </a:r>
          </a:p>
          <a:p>
            <a:pPr marL="0" indent="0" algn="just" eaLnBrk="1" hangingPunct="1">
              <a:lnSpc>
                <a:spcPct val="95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      </a:t>
            </a:r>
            <a:r>
              <a:rPr lang="en-US" altLang="zh-CN" sz="2800" b="1" dirty="0">
                <a:latin typeface="楷体_GB2312" pitchFamily="49" charset="-122"/>
                <a:ea typeface="楷体_GB2312" pitchFamily="49" charset="-122"/>
              </a:rPr>
              <a:t> p= (int *) </a:t>
            </a:r>
            <a:r>
              <a:rPr lang="en-US" altLang="zh-CN" sz="2800" b="1" dirty="0" err="1">
                <a:latin typeface="楷体_GB2312" pitchFamily="49" charset="-122"/>
                <a:ea typeface="楷体_GB2312" pitchFamily="49" charset="-122"/>
              </a:rPr>
              <a:t>calloc</a:t>
            </a:r>
            <a:r>
              <a:rPr lang="en-US" altLang="zh-CN" sz="2800" b="1" dirty="0">
                <a:latin typeface="楷体_GB2312" pitchFamily="49" charset="-122"/>
                <a:ea typeface="楷体_GB2312" pitchFamily="49" charset="-122"/>
              </a:rPr>
              <a:t>(100, </a:t>
            </a:r>
            <a:r>
              <a:rPr lang="en-US" altLang="zh-CN" sz="2800" b="1" dirty="0" err="1">
                <a:latin typeface="楷体_GB2312" pitchFamily="49" charset="-122"/>
                <a:ea typeface="楷体_GB2312" pitchFamily="49" charset="-122"/>
              </a:rPr>
              <a:t>sizeof</a:t>
            </a:r>
            <a:r>
              <a:rPr lang="en-US" altLang="zh-CN" sz="2800" b="1" dirty="0">
                <a:latin typeface="楷体_GB2312" pitchFamily="49" charset="-122"/>
                <a:ea typeface="楷体_GB2312" pitchFamily="49" charset="-122"/>
              </a:rPr>
              <a:t>(int));</a:t>
            </a:r>
          </a:p>
          <a:p>
            <a:pPr marL="0" indent="0" algn="just" eaLnBrk="1" hangingPunct="1">
              <a:lnSpc>
                <a:spcPct val="95000"/>
              </a:lnSpc>
              <a:buClr>
                <a:srgbClr val="FF6600"/>
              </a:buClr>
              <a:buSzPct val="55000"/>
              <a:buFont typeface="Wingdings" pitchFamily="2" charset="2"/>
              <a:buNone/>
              <a:defRPr/>
            </a:pPr>
            <a:endParaRPr lang="en-US" altLang="zh-CN" sz="2800" b="1" dirty="0">
              <a:latin typeface="楷体_GB2312" pitchFamily="49" charset="-122"/>
              <a:ea typeface="楷体_GB2312" pitchFamily="49" charset="-122"/>
            </a:endParaRPr>
          </a:p>
          <a:p>
            <a:pPr marL="0" indent="0" algn="just" eaLnBrk="1" hangingPunct="1">
              <a:lnSpc>
                <a:spcPct val="95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这样分配的空间可进行普通数组上的操作，称为</a:t>
            </a:r>
            <a:r>
              <a:rPr lang="zh-CN" altLang="en-US" sz="2800" b="1" dirty="0">
                <a:solidFill>
                  <a:srgbClr val="FF0000"/>
                </a:solidFill>
                <a:latin typeface="楷体_GB2312" pitchFamily="49" charset="-122"/>
                <a:ea typeface="楷体_GB2312" pitchFamily="49" charset="-122"/>
              </a:rPr>
              <a:t>动态数组</a:t>
            </a:r>
            <a:r>
              <a:rPr lang="zh-CN" altLang="en-US" sz="2800" b="1" dirty="0">
                <a:latin typeface="楷体_GB2312" pitchFamily="49" charset="-122"/>
                <a:ea typeface="楷体_GB2312" pitchFamily="49" charset="-122"/>
              </a:rPr>
              <a:t>。</a:t>
            </a:r>
            <a:endParaRPr lang="en-US" altLang="zh-CN" sz="2800" b="1" dirty="0">
              <a:latin typeface="楷体_GB2312" pitchFamily="49" charset="-122"/>
              <a:ea typeface="楷体_GB2312" pitchFamily="49" charset="-122"/>
            </a:endParaRPr>
          </a:p>
          <a:p>
            <a:pPr marL="0" indent="0" algn="just" eaLnBrk="1" hangingPunct="1">
              <a:lnSpc>
                <a:spcPct val="95000"/>
              </a:lnSpc>
              <a:buClr>
                <a:srgbClr val="FF6600"/>
              </a:buClr>
              <a:buSzPct val="55000"/>
              <a:buFont typeface="Wingdings" pitchFamily="2" charset="2"/>
              <a:buNone/>
              <a:defRPr/>
            </a:pPr>
            <a:r>
              <a:rPr lang="en-US" altLang="zh-CN" sz="2800" b="1" dirty="0">
                <a:latin typeface="楷体_GB2312" pitchFamily="49" charset="-122"/>
                <a:ea typeface="楷体_GB2312" pitchFamily="49" charset="-122"/>
              </a:rPr>
              <a:t>      for(</a:t>
            </a:r>
            <a:r>
              <a:rPr lang="en-US" altLang="zh-CN" sz="2800" b="1" dirty="0" err="1">
                <a:latin typeface="楷体_GB2312" pitchFamily="49" charset="-122"/>
                <a:ea typeface="楷体_GB2312" pitchFamily="49" charset="-122"/>
              </a:rPr>
              <a:t>int</a:t>
            </a:r>
            <a:r>
              <a:rPr lang="en-US" altLang="zh-CN" sz="2800" b="1" dirty="0">
                <a:latin typeface="楷体_GB2312" pitchFamily="49" charset="-122"/>
                <a:ea typeface="楷体_GB2312" pitchFamily="49" charset="-122"/>
              </a:rPr>
              <a:t> k=0;k&lt;100,k++)</a:t>
            </a:r>
          </a:p>
          <a:p>
            <a:pPr marL="0" indent="0" algn="just" eaLnBrk="1" hangingPunct="1">
              <a:lnSpc>
                <a:spcPct val="95000"/>
              </a:lnSpc>
              <a:buClr>
                <a:srgbClr val="FF6600"/>
              </a:buClr>
              <a:buSzPct val="55000"/>
              <a:buFont typeface="Wingdings" pitchFamily="2" charset="2"/>
              <a:buNone/>
              <a:defRPr/>
            </a:pPr>
            <a:r>
              <a:rPr lang="en-US" altLang="zh-CN" sz="2800" b="1" dirty="0">
                <a:latin typeface="楷体_GB2312" pitchFamily="49" charset="-122"/>
                <a:ea typeface="楷体_GB2312" pitchFamily="49" charset="-122"/>
              </a:rPr>
              <a:t>        p[k]=k+1; </a:t>
            </a:r>
          </a:p>
          <a:p>
            <a:pPr marL="0" indent="0" algn="just" eaLnBrk="1" hangingPunct="1">
              <a:lnSpc>
                <a:spcPct val="95000"/>
              </a:lnSpc>
              <a:buClr>
                <a:srgbClr val="FF6600"/>
              </a:buClr>
              <a:buSzPct val="55000"/>
              <a:buFont typeface="Wingdings" pitchFamily="2" charset="2"/>
              <a:buNone/>
              <a:defRPr/>
            </a:pPr>
            <a:endParaRPr lang="en-US" altLang="zh-CN" sz="2800" b="1" dirty="0">
              <a:latin typeface="楷体_GB2312" pitchFamily="49" charset="-122"/>
              <a:ea typeface="楷体_GB2312" pitchFamily="49" charset="-122"/>
            </a:endParaRPr>
          </a:p>
        </p:txBody>
      </p:sp>
      <p:sp>
        <p:nvSpPr>
          <p:cNvPr id="6" name="灯片编号占位符 5">
            <a:extLst>
              <a:ext uri="{FF2B5EF4-FFF2-40B4-BE49-F238E27FC236}">
                <a16:creationId xmlns:a16="http://schemas.microsoft.com/office/drawing/2014/main" id="{DBECBFE5-627A-7989-D37B-74EEBF5318D8}"/>
              </a:ext>
            </a:extLst>
          </p:cNvPr>
          <p:cNvSpPr>
            <a:spLocks noGrp="1"/>
          </p:cNvSpPr>
          <p:nvPr>
            <p:ph type="sldNum" sz="quarter" idx="12"/>
          </p:nvPr>
        </p:nvSpPr>
        <p:spPr/>
        <p:txBody>
          <a:bodyPr/>
          <a:lstStyle/>
          <a:p>
            <a:pPr>
              <a:defRPr/>
            </a:pPr>
            <a:fld id="{6364438D-9DD9-4319-A0D7-1F1E5C080D72}" type="slidenum">
              <a:rPr lang="en-US" altLang="zh-CN"/>
              <a:pPr>
                <a:defRPr/>
              </a:pPr>
              <a:t>48</a:t>
            </a:fld>
            <a:endParaRPr lang="en-US" altLang="zh-CN"/>
          </a:p>
        </p:txBody>
      </p:sp>
    </p:spTree>
    <p:extLst>
      <p:ext uri="{BB962C8B-B14F-4D97-AF65-F5344CB8AC3E}">
        <p14:creationId xmlns:p14="http://schemas.microsoft.com/office/powerpoint/2010/main" val="11159033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6883">
                                            <p:txEl>
                                              <p:pRg st="2" end="2"/>
                                            </p:txEl>
                                          </p:spTgt>
                                        </p:tgtEl>
                                        <p:attrNameLst>
                                          <p:attrName>style.visibility</p:attrName>
                                        </p:attrNameLst>
                                      </p:cBhvr>
                                      <p:to>
                                        <p:strVal val="visible"/>
                                      </p:to>
                                    </p:set>
                                    <p:anim calcmode="lin" valueType="num">
                                      <p:cBhvr additive="base">
                                        <p:cTn id="7" dur="500" fill="hold"/>
                                        <p:tgtEl>
                                          <p:spTgt spid="50688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688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06883">
                                            <p:txEl>
                                              <p:pRg st="3" end="3"/>
                                            </p:txEl>
                                          </p:spTgt>
                                        </p:tgtEl>
                                        <p:attrNameLst>
                                          <p:attrName>style.visibility</p:attrName>
                                        </p:attrNameLst>
                                      </p:cBhvr>
                                      <p:to>
                                        <p:strVal val="visible"/>
                                      </p:to>
                                    </p:set>
                                    <p:anim calcmode="lin" valueType="num">
                                      <p:cBhvr additive="base">
                                        <p:cTn id="11" dur="500" fill="hold"/>
                                        <p:tgtEl>
                                          <p:spTgt spid="50688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0688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06883">
                                            <p:txEl>
                                              <p:pRg st="5" end="5"/>
                                            </p:txEl>
                                          </p:spTgt>
                                        </p:tgtEl>
                                        <p:attrNameLst>
                                          <p:attrName>style.visibility</p:attrName>
                                        </p:attrNameLst>
                                      </p:cBhvr>
                                      <p:to>
                                        <p:strVal val="visible"/>
                                      </p:to>
                                    </p:set>
                                    <p:anim calcmode="lin" valueType="num">
                                      <p:cBhvr additive="base">
                                        <p:cTn id="17" dur="500" fill="hold"/>
                                        <p:tgtEl>
                                          <p:spTgt spid="506883">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06883">
                                            <p:txEl>
                                              <p:pRg st="5" end="5"/>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06883">
                                            <p:txEl>
                                              <p:pRg st="6" end="6"/>
                                            </p:txEl>
                                          </p:spTgt>
                                        </p:tgtEl>
                                        <p:attrNameLst>
                                          <p:attrName>style.visibility</p:attrName>
                                        </p:attrNameLst>
                                      </p:cBhvr>
                                      <p:to>
                                        <p:strVal val="visible"/>
                                      </p:to>
                                    </p:set>
                                    <p:anim calcmode="lin" valueType="num">
                                      <p:cBhvr additive="base">
                                        <p:cTn id="21" dur="500" fill="hold"/>
                                        <p:tgtEl>
                                          <p:spTgt spid="506883">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06883">
                                            <p:txEl>
                                              <p:pRg st="6" end="6"/>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06883">
                                            <p:txEl>
                                              <p:pRg st="7" end="7"/>
                                            </p:txEl>
                                          </p:spTgt>
                                        </p:tgtEl>
                                        <p:attrNameLst>
                                          <p:attrName>style.visibility</p:attrName>
                                        </p:attrNameLst>
                                      </p:cBhvr>
                                      <p:to>
                                        <p:strVal val="visible"/>
                                      </p:to>
                                    </p:set>
                                    <p:anim calcmode="lin" valueType="num">
                                      <p:cBhvr additive="base">
                                        <p:cTn id="25" dur="500" fill="hold"/>
                                        <p:tgtEl>
                                          <p:spTgt spid="506883">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0688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9BA19-B807-3835-A406-D8B4530115BE}"/>
            </a:ext>
          </a:extLst>
        </p:cNvPr>
        <p:cNvGrpSpPr/>
        <p:nvPr/>
      </p:nvGrpSpPr>
      <p:grpSpPr>
        <a:xfrm>
          <a:off x="0" y="0"/>
          <a:ext cx="0" cy="0"/>
          <a:chOff x="0" y="0"/>
          <a:chExt cx="0" cy="0"/>
        </a:xfrm>
      </p:grpSpPr>
      <p:sp>
        <p:nvSpPr>
          <p:cNvPr id="506883" name="Rectangle 3">
            <a:extLst>
              <a:ext uri="{FF2B5EF4-FFF2-40B4-BE49-F238E27FC236}">
                <a16:creationId xmlns:a16="http://schemas.microsoft.com/office/drawing/2014/main" id="{C4595D70-FA81-9959-53C9-F2683746E42F}"/>
              </a:ext>
            </a:extLst>
          </p:cNvPr>
          <p:cNvSpPr>
            <a:spLocks noGrp="1" noChangeArrowheads="1"/>
          </p:cNvSpPr>
          <p:nvPr>
            <p:ph idx="1"/>
          </p:nvPr>
        </p:nvSpPr>
        <p:spPr>
          <a:xfrm>
            <a:off x="250825" y="476250"/>
            <a:ext cx="8497888" cy="5918200"/>
          </a:xfrm>
        </p:spPr>
        <p:txBody>
          <a:bodyPr>
            <a:noAutofit/>
          </a:bodyPr>
          <a:lstStyle/>
          <a:p>
            <a:pPr marL="0" indent="0" algn="just" eaLnBrk="1" hangingPunct="1">
              <a:lnSpc>
                <a:spcPct val="95000"/>
              </a:lnSpc>
              <a:buClr>
                <a:srgbClr val="FF6600"/>
              </a:buClr>
              <a:buSzPct val="55000"/>
              <a:buFont typeface="Wingdings" pitchFamily="2" charset="2"/>
              <a:buNone/>
              <a:defRPr/>
            </a:pPr>
            <a:r>
              <a:rPr lang="en-US" altLang="zh-CN" sz="2800" b="1" dirty="0">
                <a:latin typeface="楷体_GB2312" pitchFamily="49" charset="-122"/>
                <a:ea typeface="楷体_GB2312" pitchFamily="49" charset="-122"/>
              </a:rPr>
              <a:t>free(</a:t>
            </a:r>
            <a:r>
              <a:rPr lang="en-US" altLang="zh-CN" sz="2800" b="1" dirty="0" err="1">
                <a:latin typeface="楷体_GB2312" pitchFamily="49" charset="-122"/>
                <a:ea typeface="楷体_GB2312" pitchFamily="49" charset="-122"/>
              </a:rPr>
              <a:t>ptr</a:t>
            </a:r>
            <a:r>
              <a:rPr lang="en-US" altLang="zh-CN" sz="2800" b="1" dirty="0">
                <a:latin typeface="楷体_GB2312" pitchFamily="49" charset="-122"/>
                <a:ea typeface="楷体_GB2312" pitchFamily="49" charset="-122"/>
              </a:rPr>
              <a:t>)</a:t>
            </a:r>
          </a:p>
          <a:p>
            <a:pPr marL="0" indent="0" algn="just" eaLnBrk="1" hangingPunct="1">
              <a:lnSpc>
                <a:spcPct val="95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功能：释放由</a:t>
            </a:r>
            <a:r>
              <a:rPr lang="en-US" altLang="zh-CN" sz="2800" b="1" dirty="0" err="1">
                <a:latin typeface="楷体_GB2312" pitchFamily="49" charset="-122"/>
                <a:ea typeface="楷体_GB2312" pitchFamily="49" charset="-122"/>
              </a:rPr>
              <a:t>ptr</a:t>
            </a:r>
            <a:r>
              <a:rPr lang="zh-CN" altLang="en-US" sz="2800" b="1" dirty="0">
                <a:latin typeface="楷体_GB2312" pitchFamily="49" charset="-122"/>
                <a:ea typeface="楷体_GB2312" pitchFamily="49" charset="-122"/>
              </a:rPr>
              <a:t>所指向的存储块。</a:t>
            </a:r>
          </a:p>
          <a:p>
            <a:pPr marL="0" indent="0" algn="just" eaLnBrk="1" hangingPunct="1">
              <a:lnSpc>
                <a:spcPct val="95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说明：</a:t>
            </a:r>
            <a:r>
              <a:rPr lang="en-US" altLang="zh-CN" sz="2800" b="1" dirty="0" err="1">
                <a:latin typeface="楷体_GB2312" pitchFamily="49" charset="-122"/>
                <a:ea typeface="楷体_GB2312" pitchFamily="49" charset="-122"/>
              </a:rPr>
              <a:t>ptr</a:t>
            </a:r>
            <a:r>
              <a:rPr lang="zh-CN" altLang="en-US" sz="2800" b="1" dirty="0">
                <a:latin typeface="楷体_GB2312" pitchFamily="49" charset="-122"/>
                <a:ea typeface="楷体_GB2312" pitchFamily="49" charset="-122"/>
              </a:rPr>
              <a:t>的值必须是调用函数</a:t>
            </a:r>
            <a:r>
              <a:rPr lang="en-US" altLang="zh-CN" sz="2800" b="1" dirty="0" err="1">
                <a:latin typeface="楷体_GB2312" pitchFamily="49" charset="-122"/>
                <a:ea typeface="楷体_GB2312" pitchFamily="49" charset="-122"/>
              </a:rPr>
              <a:t>malloc</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或</a:t>
            </a:r>
            <a:r>
              <a:rPr lang="en-US" altLang="zh-CN" sz="2800" b="1" dirty="0" err="1">
                <a:latin typeface="楷体_GB2312" pitchFamily="49" charset="-122"/>
                <a:ea typeface="楷体_GB2312" pitchFamily="49" charset="-122"/>
              </a:rPr>
              <a:t>calloc</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申请到的连续存储空间中的地址。</a:t>
            </a:r>
          </a:p>
        </p:txBody>
      </p:sp>
      <p:sp>
        <p:nvSpPr>
          <p:cNvPr id="6" name="灯片编号占位符 5">
            <a:extLst>
              <a:ext uri="{FF2B5EF4-FFF2-40B4-BE49-F238E27FC236}">
                <a16:creationId xmlns:a16="http://schemas.microsoft.com/office/drawing/2014/main" id="{EA74F2F9-E67D-E42D-0F2D-475CFEDF6681}"/>
              </a:ext>
            </a:extLst>
          </p:cNvPr>
          <p:cNvSpPr>
            <a:spLocks noGrp="1"/>
          </p:cNvSpPr>
          <p:nvPr>
            <p:ph type="sldNum" sz="quarter" idx="12"/>
          </p:nvPr>
        </p:nvSpPr>
        <p:spPr/>
        <p:txBody>
          <a:bodyPr/>
          <a:lstStyle/>
          <a:p>
            <a:pPr>
              <a:defRPr/>
            </a:pPr>
            <a:fld id="{6364438D-9DD9-4319-A0D7-1F1E5C080D72}" type="slidenum">
              <a:rPr lang="en-US" altLang="zh-CN"/>
              <a:pPr>
                <a:defRPr/>
              </a:pPr>
              <a:t>49</a:t>
            </a:fld>
            <a:endParaRPr lang="en-US" altLang="zh-CN"/>
          </a:p>
        </p:txBody>
      </p:sp>
      <p:sp>
        <p:nvSpPr>
          <p:cNvPr id="5" name="矩形 4">
            <a:extLst>
              <a:ext uri="{FF2B5EF4-FFF2-40B4-BE49-F238E27FC236}">
                <a16:creationId xmlns:a16="http://schemas.microsoft.com/office/drawing/2014/main" id="{4424C360-E9BB-5C9C-B542-481D3E862B9F}"/>
              </a:ext>
            </a:extLst>
          </p:cNvPr>
          <p:cNvSpPr/>
          <p:nvPr/>
        </p:nvSpPr>
        <p:spPr>
          <a:xfrm>
            <a:off x="323527" y="2924944"/>
            <a:ext cx="8497887" cy="3522567"/>
          </a:xfrm>
          <a:prstGeom prst="rect">
            <a:avLst/>
          </a:prstGeom>
        </p:spPr>
        <p:txBody>
          <a:bodyPr wrap="square">
            <a:spAutoFit/>
          </a:bodyPr>
          <a:lstStyle/>
          <a:p>
            <a:pPr marL="0" indent="0" algn="just" eaLnBrk="1" hangingPunct="1">
              <a:lnSpc>
                <a:spcPct val="115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以上三个函数中，形参</a:t>
            </a:r>
            <a:r>
              <a:rPr lang="en-US" altLang="zh-CN" sz="2800" b="1" dirty="0">
                <a:latin typeface="楷体_GB2312" pitchFamily="49" charset="-122"/>
                <a:ea typeface="楷体_GB2312" pitchFamily="49" charset="-122"/>
              </a:rPr>
              <a:t>size</a:t>
            </a:r>
            <a:r>
              <a:rPr lang="zh-CN" altLang="en-US" sz="2800" b="1" dirty="0">
                <a:latin typeface="楷体_GB2312" pitchFamily="49" charset="-122"/>
                <a:ea typeface="楷体_GB2312" pitchFamily="49" charset="-122"/>
              </a:rPr>
              <a:t>和</a:t>
            </a:r>
            <a:r>
              <a:rPr lang="en-US" altLang="zh-CN" sz="2800" b="1" dirty="0">
                <a:latin typeface="楷体_GB2312" pitchFamily="49" charset="-122"/>
                <a:ea typeface="楷体_GB2312" pitchFamily="49" charset="-122"/>
              </a:rPr>
              <a:t>n</a:t>
            </a:r>
            <a:r>
              <a:rPr lang="zh-CN" altLang="en-US" sz="2800" b="1" dirty="0">
                <a:latin typeface="楷体_GB2312" pitchFamily="49" charset="-122"/>
                <a:ea typeface="楷体_GB2312" pitchFamily="49" charset="-122"/>
              </a:rPr>
              <a:t>为</a:t>
            </a:r>
            <a:r>
              <a:rPr lang="en-US" altLang="zh-CN" sz="2800" b="1" dirty="0">
                <a:latin typeface="楷体_GB2312" pitchFamily="49" charset="-122"/>
                <a:ea typeface="楷体_GB2312" pitchFamily="49" charset="-122"/>
              </a:rPr>
              <a:t>unsigned</a:t>
            </a:r>
            <a:r>
              <a:rPr lang="zh-CN" altLang="en-US" sz="2800" b="1" dirty="0">
                <a:latin typeface="楷体_GB2312" pitchFamily="49" charset="-122"/>
                <a:ea typeface="楷体_GB2312" pitchFamily="49" charset="-122"/>
              </a:rPr>
              <a:t>类型，</a:t>
            </a:r>
            <a:r>
              <a:rPr lang="en-US" altLang="zh-CN" sz="2800" b="1" dirty="0" err="1">
                <a:latin typeface="楷体_GB2312" pitchFamily="49" charset="-122"/>
                <a:ea typeface="楷体_GB2312" pitchFamily="49" charset="-122"/>
              </a:rPr>
              <a:t>ptr</a:t>
            </a:r>
            <a:r>
              <a:rPr lang="zh-CN" altLang="en-US" sz="2800" b="1" dirty="0">
                <a:latin typeface="楷体_GB2312" pitchFamily="49" charset="-122"/>
                <a:ea typeface="楷体_GB2312" pitchFamily="49" charset="-122"/>
              </a:rPr>
              <a:t>为指针类型。函数</a:t>
            </a:r>
            <a:r>
              <a:rPr lang="en-US" altLang="zh-CN" sz="2800" b="1" dirty="0" err="1">
                <a:latin typeface="楷体_GB2312" pitchFamily="49" charset="-122"/>
                <a:ea typeface="楷体_GB2312" pitchFamily="49" charset="-122"/>
              </a:rPr>
              <a:t>malloc</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和</a:t>
            </a:r>
            <a:r>
              <a:rPr lang="en-US" altLang="zh-CN" sz="2800" b="1" dirty="0" err="1">
                <a:latin typeface="楷体_GB2312" pitchFamily="49" charset="-122"/>
                <a:ea typeface="楷体_GB2312" pitchFamily="49" charset="-122"/>
              </a:rPr>
              <a:t>calloc</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返回的是系统分配的连续存储空间的首地址，其类型为</a:t>
            </a:r>
            <a:r>
              <a:rPr lang="en-US" altLang="zh-CN" sz="2800" b="1" dirty="0">
                <a:latin typeface="楷体_GB2312" pitchFamily="49" charset="-122"/>
                <a:ea typeface="楷体_GB2312" pitchFamily="49" charset="-122"/>
              </a:rPr>
              <a:t>void *</a:t>
            </a:r>
            <a:r>
              <a:rPr lang="zh-CN" altLang="en-US" sz="2800" b="1" dirty="0">
                <a:latin typeface="楷体_GB2312" pitchFamily="49" charset="-122"/>
                <a:ea typeface="楷体_GB2312" pitchFamily="49" charset="-122"/>
              </a:rPr>
              <a:t>（无类型指针值）</a:t>
            </a:r>
            <a:endParaRPr lang="en-US" altLang="zh-CN" sz="2800" b="1" dirty="0">
              <a:latin typeface="楷体_GB2312" pitchFamily="49" charset="-122"/>
              <a:ea typeface="楷体_GB2312" pitchFamily="49" charset="-122"/>
            </a:endParaRPr>
          </a:p>
          <a:p>
            <a:pPr marL="0" indent="0" algn="just" eaLnBrk="1" hangingPunct="1">
              <a:lnSpc>
                <a:spcPct val="115000"/>
              </a:lnSpc>
              <a:buClr>
                <a:srgbClr val="FF6600"/>
              </a:buClr>
              <a:buSzPct val="55000"/>
              <a:buFont typeface="Wingdings" pitchFamily="2" charset="2"/>
              <a:buNone/>
              <a:defRPr/>
            </a:pPr>
            <a:endParaRPr lang="en-US" altLang="zh-CN" sz="2800" b="1" dirty="0">
              <a:latin typeface="楷体_GB2312" pitchFamily="49" charset="-122"/>
              <a:ea typeface="楷体_GB2312" pitchFamily="49" charset="-122"/>
            </a:endParaRPr>
          </a:p>
          <a:p>
            <a:pPr marL="0" indent="0" algn="just" eaLnBrk="1" hangingPunct="1">
              <a:lnSpc>
                <a:spcPct val="115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程序</a:t>
            </a:r>
            <a:r>
              <a:rPr lang="zh-CN" altLang="en-US" sz="2800" b="1" dirty="0">
                <a:solidFill>
                  <a:srgbClr val="FF0000"/>
                </a:solidFill>
                <a:latin typeface="楷体_GB2312" pitchFamily="49" charset="-122"/>
                <a:ea typeface="楷体_GB2312" pitchFamily="49" charset="-122"/>
              </a:rPr>
              <a:t>必须将返回值强制转换成某种特定的指针类型</a:t>
            </a:r>
            <a:r>
              <a:rPr lang="zh-CN" altLang="en-US" sz="2800" b="1" dirty="0">
                <a:latin typeface="楷体_GB2312" pitchFamily="49" charset="-122"/>
                <a:ea typeface="楷体_GB2312" pitchFamily="49" charset="-122"/>
              </a:rPr>
              <a:t>。</a:t>
            </a:r>
            <a:r>
              <a:rPr lang="zh-CN" altLang="en-US" sz="2800" b="1" dirty="0">
                <a:solidFill>
                  <a:srgbClr val="FF0000"/>
                </a:solidFill>
                <a:latin typeface="楷体_GB2312" pitchFamily="49" charset="-122"/>
                <a:ea typeface="楷体_GB2312" pitchFamily="49" charset="-122"/>
              </a:rPr>
              <a:t>否则是无法使用的，为什么？</a:t>
            </a:r>
          </a:p>
        </p:txBody>
      </p:sp>
    </p:spTree>
    <p:extLst>
      <p:ext uri="{BB962C8B-B14F-4D97-AF65-F5344CB8AC3E}">
        <p14:creationId xmlns:p14="http://schemas.microsoft.com/office/powerpoint/2010/main" val="387304640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E1C7AA-4D31-F51D-F6FA-4BA81C2371C4}"/>
              </a:ext>
            </a:extLst>
          </p:cNvPr>
          <p:cNvSpPr>
            <a:spLocks noGrp="1"/>
          </p:cNvSpPr>
          <p:nvPr>
            <p:ph type="title"/>
          </p:nvPr>
        </p:nvSpPr>
        <p:spPr/>
        <p:txBody>
          <a:bodyPr/>
          <a:lstStyle/>
          <a:p>
            <a:r>
              <a:rPr lang="zh-CN" altLang="en-US" dirty="0"/>
              <a:t>动态变量支持</a:t>
            </a:r>
          </a:p>
        </p:txBody>
      </p:sp>
      <p:sp>
        <p:nvSpPr>
          <p:cNvPr id="3" name="内容占位符 2">
            <a:extLst>
              <a:ext uri="{FF2B5EF4-FFF2-40B4-BE49-F238E27FC236}">
                <a16:creationId xmlns:a16="http://schemas.microsoft.com/office/drawing/2014/main" id="{11D2934C-E162-27E4-60C5-F89FA7B9EA56}"/>
              </a:ext>
            </a:extLst>
          </p:cNvPr>
          <p:cNvSpPr>
            <a:spLocks noGrp="1"/>
          </p:cNvSpPr>
          <p:nvPr>
            <p:ph idx="1"/>
          </p:nvPr>
        </p:nvSpPr>
        <p:spPr/>
        <p:txBody>
          <a:bodyPr>
            <a:normAutofit fontScale="92500" lnSpcReduction="10000"/>
          </a:bodyPr>
          <a:lstStyle/>
          <a:p>
            <a:r>
              <a:rPr lang="zh-CN" altLang="en-US" sz="2800" b="1" dirty="0">
                <a:latin typeface="楷体_GB2312" pitchFamily="49" charset="-122"/>
                <a:ea typeface="楷体_GB2312" pitchFamily="49" charset="-122"/>
              </a:rPr>
              <a:t>没有免费的午餐，否则全局量和局部自动变量就没有存在的价值了</a:t>
            </a:r>
            <a:endParaRPr lang="en-US" altLang="zh-CN" sz="2800" b="1" dirty="0">
              <a:latin typeface="楷体_GB2312" pitchFamily="49" charset="-122"/>
              <a:ea typeface="楷体_GB2312" pitchFamily="49" charset="-122"/>
            </a:endParaRPr>
          </a:p>
          <a:p>
            <a:endParaRPr lang="en-US" altLang="zh-CN" sz="2800" b="1" dirty="0">
              <a:latin typeface="楷体_GB2312" pitchFamily="49" charset="-122"/>
              <a:ea typeface="楷体_GB2312" pitchFamily="49" charset="-122"/>
            </a:endParaRPr>
          </a:p>
          <a:p>
            <a:r>
              <a:rPr lang="zh-CN" altLang="en-US" sz="2800" b="1" dirty="0">
                <a:latin typeface="楷体_GB2312" pitchFamily="49" charset="-122"/>
                <a:ea typeface="楷体_GB2312" pitchFamily="49" charset="-122"/>
              </a:rPr>
              <a:t>申请和释放需要额外的存储空间（</a:t>
            </a:r>
            <a:r>
              <a:rPr lang="en-US" altLang="zh-CN" sz="2800" b="1" dirty="0">
                <a:latin typeface="楷体_GB2312" pitchFamily="49" charset="-122"/>
                <a:ea typeface="楷体_GB2312" pitchFamily="49" charset="-122"/>
              </a:rPr>
              <a:t>heap</a:t>
            </a:r>
            <a:r>
              <a:rPr lang="zh-CN" altLang="en-US" sz="2800" b="1" dirty="0">
                <a:latin typeface="楷体_GB2312" pitchFamily="49" charset="-122"/>
                <a:ea typeface="楷体_GB2312" pitchFamily="49" charset="-122"/>
              </a:rPr>
              <a:t>）管理技术，不同于全局变量和自动变量（</a:t>
            </a:r>
            <a:r>
              <a:rPr lang="en-US" altLang="zh-CN" sz="2800" b="1" dirty="0">
                <a:latin typeface="楷体_GB2312" pitchFamily="49" charset="-122"/>
                <a:ea typeface="楷体_GB2312" pitchFamily="49" charset="-122"/>
              </a:rPr>
              <a:t>stack</a:t>
            </a:r>
            <a:r>
              <a:rPr lang="zh-CN" altLang="en-US" sz="2800" b="1" dirty="0">
                <a:latin typeface="楷体_GB2312" pitchFamily="49" charset="-122"/>
                <a:ea typeface="楷体_GB2312" pitchFamily="49" charset="-122"/>
              </a:rPr>
              <a:t>）的管理技术</a:t>
            </a:r>
            <a:endParaRPr lang="en-US" altLang="zh-CN" sz="2800" b="1" dirty="0">
              <a:latin typeface="楷体_GB2312" pitchFamily="49" charset="-122"/>
              <a:ea typeface="楷体_GB2312" pitchFamily="49" charset="-122"/>
            </a:endParaRPr>
          </a:p>
          <a:p>
            <a:endParaRPr lang="en-US" altLang="zh-CN" sz="2800" b="1" dirty="0">
              <a:latin typeface="楷体_GB2312" pitchFamily="49" charset="-122"/>
              <a:ea typeface="楷体_GB2312" pitchFamily="49" charset="-122"/>
            </a:endParaRPr>
          </a:p>
          <a:p>
            <a:r>
              <a:rPr lang="zh-CN" altLang="en-US" sz="2800" b="1" dirty="0">
                <a:latin typeface="楷体_GB2312" pitchFamily="49" charset="-122"/>
                <a:ea typeface="楷体_GB2312" pitchFamily="49" charset="-122"/>
              </a:rPr>
              <a:t>有复杂的分配回收机制，但我们这个课程</a:t>
            </a:r>
            <a:r>
              <a:rPr lang="zh-CN" altLang="en-US" sz="2800" b="1" dirty="0">
                <a:solidFill>
                  <a:srgbClr val="FF0000"/>
                </a:solidFill>
                <a:latin typeface="楷体_GB2312" pitchFamily="49" charset="-122"/>
                <a:ea typeface="楷体_GB2312" pitchFamily="49" charset="-122"/>
              </a:rPr>
              <a:t>不关心</a:t>
            </a:r>
            <a:endParaRPr lang="en-US" altLang="zh-CN" sz="2800" dirty="0">
              <a:solidFill>
                <a:srgbClr val="FF0000"/>
              </a:solidFill>
              <a:latin typeface="楷体_GB2312" pitchFamily="49" charset="-122"/>
              <a:ea typeface="楷体_GB2312" pitchFamily="49" charset="-122"/>
            </a:endParaRPr>
          </a:p>
          <a:p>
            <a:endParaRPr lang="en-US" altLang="zh-CN" sz="2800" b="1" dirty="0">
              <a:latin typeface="楷体_GB2312" pitchFamily="49" charset="-122"/>
              <a:ea typeface="楷体_GB2312" pitchFamily="49" charset="-122"/>
            </a:endParaRPr>
          </a:p>
          <a:p>
            <a:r>
              <a:rPr lang="zh-CN" altLang="en-US" sz="2800" b="1" dirty="0">
                <a:latin typeface="楷体_GB2312" pitchFamily="49" charset="-122"/>
                <a:ea typeface="楷体_GB2312" pitchFamily="49" charset="-122"/>
              </a:rPr>
              <a:t>我们需要记住的是，要检查</a:t>
            </a:r>
            <a:r>
              <a:rPr lang="en-US" altLang="zh-CN" sz="2800" b="1" dirty="0">
                <a:latin typeface="楷体_GB2312" pitchFamily="49" charset="-122"/>
                <a:ea typeface="楷体_GB2312" pitchFamily="49" charset="-122"/>
              </a:rPr>
              <a:t>malloc</a:t>
            </a:r>
            <a:r>
              <a:rPr lang="zh-CN" altLang="en-US" sz="2800" b="1" dirty="0">
                <a:latin typeface="楷体_GB2312" pitchFamily="49" charset="-122"/>
                <a:ea typeface="楷体_GB2312" pitchFamily="49" charset="-122"/>
              </a:rPr>
              <a:t>和</a:t>
            </a:r>
            <a:r>
              <a:rPr lang="en-US" altLang="zh-CN" sz="2800" b="1" dirty="0" err="1">
                <a:latin typeface="楷体_GB2312" pitchFamily="49" charset="-122"/>
                <a:ea typeface="楷体_GB2312" pitchFamily="49" charset="-122"/>
              </a:rPr>
              <a:t>calloc</a:t>
            </a:r>
            <a:r>
              <a:rPr lang="zh-CN" altLang="en-US" sz="2800" b="1" dirty="0">
                <a:latin typeface="楷体_GB2312" pitchFamily="49" charset="-122"/>
                <a:ea typeface="楷体_GB2312" pitchFamily="49" charset="-122"/>
              </a:rPr>
              <a:t>的返回结果，按照需要及时</a:t>
            </a:r>
            <a:r>
              <a:rPr lang="en-US" altLang="zh-CN" sz="2800" b="1" dirty="0">
                <a:latin typeface="楷体_GB2312" pitchFamily="49" charset="-122"/>
                <a:ea typeface="楷体_GB2312" pitchFamily="49" charset="-122"/>
              </a:rPr>
              <a:t>free</a:t>
            </a:r>
          </a:p>
          <a:p>
            <a:endParaRPr lang="en-US" altLang="zh-CN" sz="2800" b="1" dirty="0">
              <a:latin typeface="楷体_GB2312" pitchFamily="49" charset="-122"/>
              <a:ea typeface="楷体_GB2312" pitchFamily="49" charset="-122"/>
            </a:endParaRPr>
          </a:p>
          <a:p>
            <a:endParaRPr lang="zh-CN" altLang="en-US" sz="2800" b="1" dirty="0">
              <a:latin typeface="楷体_GB2312" pitchFamily="49" charset="-122"/>
              <a:ea typeface="楷体_GB2312" pitchFamily="49" charset="-122"/>
            </a:endParaRPr>
          </a:p>
          <a:p>
            <a:endParaRPr lang="zh-CN" altLang="en-US" sz="2800" dirty="0"/>
          </a:p>
        </p:txBody>
      </p:sp>
      <p:sp>
        <p:nvSpPr>
          <p:cNvPr id="4" name="灯片编号占位符 3">
            <a:extLst>
              <a:ext uri="{FF2B5EF4-FFF2-40B4-BE49-F238E27FC236}">
                <a16:creationId xmlns:a16="http://schemas.microsoft.com/office/drawing/2014/main" id="{C2F6B270-859B-CC22-1232-B8DEF1F88AB5}"/>
              </a:ext>
            </a:extLst>
          </p:cNvPr>
          <p:cNvSpPr>
            <a:spLocks noGrp="1"/>
          </p:cNvSpPr>
          <p:nvPr>
            <p:ph type="sldNum" sz="quarter" idx="12"/>
          </p:nvPr>
        </p:nvSpPr>
        <p:spPr/>
        <p:txBody>
          <a:bodyPr/>
          <a:lstStyle/>
          <a:p>
            <a:pPr>
              <a:defRPr/>
            </a:pPr>
            <a:fld id="{3FD51CBC-D341-4D1A-9838-3C70B744B68D}" type="slidenum">
              <a:rPr lang="en-US" altLang="zh-CN" smtClean="0"/>
              <a:pPr>
                <a:defRPr/>
              </a:pPr>
              <a:t>50</a:t>
            </a:fld>
            <a:endParaRPr lang="en-US" altLang="zh-CN"/>
          </a:p>
        </p:txBody>
      </p:sp>
    </p:spTree>
    <p:extLst>
      <p:ext uri="{BB962C8B-B14F-4D97-AF65-F5344CB8AC3E}">
        <p14:creationId xmlns:p14="http://schemas.microsoft.com/office/powerpoint/2010/main" val="719559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9" name="Rectangle 1029"/>
          <p:cNvSpPr>
            <a:spLocks noGrp="1" noChangeArrowheads="1"/>
          </p:cNvSpPr>
          <p:nvPr>
            <p:ph type="title"/>
          </p:nvPr>
        </p:nvSpPr>
        <p:spPr>
          <a:xfrm>
            <a:off x="323850" y="260350"/>
            <a:ext cx="7920038" cy="720725"/>
          </a:xfrm>
        </p:spPr>
        <p:txBody>
          <a:bodyPr>
            <a:normAutofit fontScale="90000"/>
          </a:bodyPr>
          <a:lstStyle/>
          <a:p>
            <a:pPr eaLnBrk="1" hangingPunct="1">
              <a:lnSpc>
                <a:spcPct val="100000"/>
              </a:lnSpc>
              <a:defRPr/>
            </a:pPr>
            <a:r>
              <a:rPr lang="zh-CN" altLang="en-US" dirty="0">
                <a:solidFill>
                  <a:schemeClr val="tx1"/>
                </a:solidFill>
                <a:latin typeface="黑体" pitchFamily="2" charset="-122"/>
                <a:ea typeface="黑体" pitchFamily="2" charset="-122"/>
              </a:rPr>
              <a:t>什么是链表</a:t>
            </a:r>
          </a:p>
        </p:txBody>
      </p:sp>
      <p:sp>
        <p:nvSpPr>
          <p:cNvPr id="502787" name="Rectangle 1027"/>
          <p:cNvSpPr>
            <a:spLocks noGrp="1" noChangeArrowheads="1"/>
          </p:cNvSpPr>
          <p:nvPr>
            <p:ph idx="1"/>
          </p:nvPr>
        </p:nvSpPr>
        <p:spPr>
          <a:xfrm>
            <a:off x="468313" y="928688"/>
            <a:ext cx="8280400" cy="3024187"/>
          </a:xfrm>
        </p:spPr>
        <p:txBody>
          <a:bodyPr>
            <a:normAutofit/>
          </a:bodyPr>
          <a:lstStyle/>
          <a:p>
            <a:pPr marL="0" indent="0" algn="just">
              <a:lnSpc>
                <a:spcPct val="95000"/>
              </a:lnSpc>
              <a:buClr>
                <a:srgbClr val="FF6600"/>
              </a:buClr>
              <a:buSzPct val="55000"/>
              <a:buNone/>
              <a:defRPr/>
            </a:pPr>
            <a:r>
              <a:rPr lang="zh-CN" altLang="en-US" sz="2400" b="1" dirty="0">
                <a:latin typeface="楷体_GB2312" pitchFamily="49" charset="-122"/>
                <a:ea typeface="楷体_GB2312" pitchFamily="49" charset="-122"/>
              </a:rPr>
              <a:t>链表是一种基础的动态数据结构。</a:t>
            </a:r>
            <a:endParaRPr lang="en-US" altLang="zh-CN" sz="2400" b="1" dirty="0">
              <a:latin typeface="楷体_GB2312" pitchFamily="49" charset="-122"/>
              <a:ea typeface="楷体_GB2312" pitchFamily="49" charset="-122"/>
            </a:endParaRPr>
          </a:p>
          <a:p>
            <a:pPr marL="457200" indent="-457200" algn="just">
              <a:lnSpc>
                <a:spcPct val="95000"/>
              </a:lnSpc>
              <a:buClr>
                <a:srgbClr val="FF6600"/>
              </a:buClr>
              <a:buSzPct val="55000"/>
              <a:buFont typeface="+mj-lt"/>
              <a:buAutoNum type="arabicPeriod"/>
              <a:defRPr/>
            </a:pPr>
            <a:r>
              <a:rPr lang="zh-CN" altLang="en-US" sz="2400" b="1" dirty="0">
                <a:latin typeface="楷体_GB2312" pitchFamily="49" charset="-122"/>
                <a:ea typeface="楷体_GB2312" pitchFamily="49" charset="-122"/>
              </a:rPr>
              <a:t>链表的元素个数可按需要任意增删，可以非常方便地增加一个表元（或称元素、结点）或删除一个表元。</a:t>
            </a:r>
            <a:endParaRPr lang="en-US" altLang="zh-CN" sz="2400" b="1" dirty="0">
              <a:latin typeface="楷体_GB2312" pitchFamily="49" charset="-122"/>
              <a:ea typeface="楷体_GB2312" pitchFamily="49" charset="-122"/>
            </a:endParaRPr>
          </a:p>
          <a:p>
            <a:pPr marL="457200" indent="-457200" algn="just">
              <a:lnSpc>
                <a:spcPct val="95000"/>
              </a:lnSpc>
              <a:buClr>
                <a:srgbClr val="FF6600"/>
              </a:buClr>
              <a:buSzPct val="55000"/>
              <a:buFont typeface="+mj-lt"/>
              <a:buAutoNum type="arabicPeriod"/>
              <a:defRPr/>
            </a:pPr>
            <a:r>
              <a:rPr lang="zh-CN" altLang="en-US" sz="2400" b="1" dirty="0">
                <a:latin typeface="楷体_GB2312" pitchFamily="49" charset="-122"/>
                <a:ea typeface="楷体_GB2312" pitchFamily="49" charset="-122"/>
              </a:rPr>
              <a:t>链表元素的后继元素也能由元素自已指定</a:t>
            </a: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即由数据对象中的某个成员表示某个元素之后是哪一个元素。</a:t>
            </a:r>
          </a:p>
          <a:p>
            <a:pPr marL="0" indent="0" algn="just" eaLnBrk="1" hangingPunct="1">
              <a:lnSpc>
                <a:spcPct val="95000"/>
              </a:lnSpc>
              <a:buClr>
                <a:srgbClr val="FF6600"/>
              </a:buClr>
              <a:buSzPct val="55000"/>
              <a:buFont typeface="Wingdings" pitchFamily="2" charset="2"/>
              <a:buNone/>
              <a:defRPr/>
            </a:pPr>
            <a:endParaRPr lang="en-US" altLang="zh-CN" sz="2400" b="1" dirty="0">
              <a:latin typeface="楷体_GB2312" pitchFamily="49" charset="-122"/>
              <a:ea typeface="楷体_GB2312" pitchFamily="49" charset="-122"/>
            </a:endParaRPr>
          </a:p>
          <a:p>
            <a:pPr marL="0" indent="0" algn="just" eaLnBrk="1" hangingPunct="1">
              <a:lnSpc>
                <a:spcPct val="95000"/>
              </a:lnSpc>
              <a:buClr>
                <a:srgbClr val="FF6600"/>
              </a:buClr>
              <a:buSzPct val="55000"/>
              <a:buFont typeface="Wingdings" pitchFamily="2" charset="2"/>
              <a:buNone/>
              <a:defRPr/>
            </a:pPr>
            <a:r>
              <a:rPr lang="zh-CN" altLang="en-US" sz="2400" b="1" dirty="0">
                <a:latin typeface="楷体_GB2312" pitchFamily="49" charset="-122"/>
                <a:ea typeface="楷体_GB2312" pitchFamily="49" charset="-122"/>
              </a:rPr>
              <a:t>图</a:t>
            </a:r>
            <a:r>
              <a:rPr lang="en-US" altLang="zh-CN" sz="2400" b="1" dirty="0">
                <a:latin typeface="楷体_GB2312" pitchFamily="49" charset="-122"/>
                <a:ea typeface="楷体_GB2312" pitchFamily="49" charset="-122"/>
              </a:rPr>
              <a:t>7.3(a)</a:t>
            </a:r>
            <a:r>
              <a:rPr lang="zh-CN" altLang="en-US" sz="2400" b="1" dirty="0">
                <a:latin typeface="楷体_GB2312" pitchFamily="49" charset="-122"/>
                <a:ea typeface="楷体_GB2312" pitchFamily="49" charset="-122"/>
              </a:rPr>
              <a:t>列出了只有</a:t>
            </a:r>
            <a:r>
              <a:rPr lang="en-US" altLang="zh-CN" sz="2400" b="1" dirty="0">
                <a:latin typeface="楷体_GB2312" pitchFamily="49" charset="-122"/>
                <a:ea typeface="楷体_GB2312" pitchFamily="49" charset="-122"/>
              </a:rPr>
              <a:t>3</a:t>
            </a:r>
            <a:r>
              <a:rPr lang="zh-CN" altLang="en-US" sz="2400" b="1" dirty="0">
                <a:latin typeface="楷体_GB2312" pitchFamily="49" charset="-122"/>
                <a:ea typeface="楷体_GB2312" pitchFamily="49" charset="-122"/>
              </a:rPr>
              <a:t>个表元的单链表结构。 </a:t>
            </a:r>
          </a:p>
        </p:txBody>
      </p:sp>
      <p:sp>
        <p:nvSpPr>
          <p:cNvPr id="9" name="灯片编号占位符 5"/>
          <p:cNvSpPr>
            <a:spLocks noGrp="1"/>
          </p:cNvSpPr>
          <p:nvPr>
            <p:ph type="sldNum" sz="quarter" idx="12"/>
          </p:nvPr>
        </p:nvSpPr>
        <p:spPr/>
        <p:txBody>
          <a:bodyPr/>
          <a:lstStyle/>
          <a:p>
            <a:pPr>
              <a:defRPr/>
            </a:pPr>
            <a:fld id="{A6AE1D6B-FDD4-40FA-A7A0-E6B3BC9BD386}" type="slidenum">
              <a:rPr lang="en-US" altLang="zh-CN"/>
              <a:pPr>
                <a:defRPr/>
              </a:pPr>
              <a:t>51</a:t>
            </a:fld>
            <a:endParaRPr lang="en-US" altLang="zh-CN"/>
          </a:p>
        </p:txBody>
      </p:sp>
      <p:sp>
        <p:nvSpPr>
          <p:cNvPr id="1030" name="Rectangle 1084"/>
          <p:cNvSpPr>
            <a:spLocks noChangeArrowheads="1"/>
          </p:cNvSpPr>
          <p:nvPr/>
        </p:nvSpPr>
        <p:spPr bwMode="auto">
          <a:xfrm>
            <a:off x="0" y="28908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026" name="Object 1083"/>
          <p:cNvGraphicFramePr>
            <a:graphicFrameLocks noChangeAspect="1"/>
          </p:cNvGraphicFramePr>
          <p:nvPr/>
        </p:nvGraphicFramePr>
        <p:xfrm>
          <a:off x="1703388" y="3929063"/>
          <a:ext cx="5029200" cy="1076325"/>
        </p:xfrm>
        <a:graphic>
          <a:graphicData uri="http://schemas.openxmlformats.org/presentationml/2006/ole">
            <mc:AlternateContent xmlns:mc="http://schemas.openxmlformats.org/markup-compatibility/2006">
              <mc:Choice xmlns:v="urn:schemas-microsoft-com:vml" Requires="v">
                <p:oleObj r:id="rId2" imgW="7302918" imgH="1557453" progId="">
                  <p:embed/>
                </p:oleObj>
              </mc:Choice>
              <mc:Fallback>
                <p:oleObj r:id="rId2" imgW="7302918" imgH="1557453" progId="">
                  <p:embed/>
                  <p:pic>
                    <p:nvPicPr>
                      <p:cNvPr id="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3388" y="3929063"/>
                        <a:ext cx="5029200" cy="1076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1" name="Text Box 1085"/>
          <p:cNvSpPr txBox="1">
            <a:spLocks noChangeArrowheads="1"/>
          </p:cNvSpPr>
          <p:nvPr/>
        </p:nvSpPr>
        <p:spPr bwMode="auto">
          <a:xfrm>
            <a:off x="2824163" y="5000625"/>
            <a:ext cx="2638425" cy="457200"/>
          </a:xfrm>
          <a:prstGeom prst="rect">
            <a:avLst/>
          </a:prstGeom>
          <a:noFill/>
          <a:ln w="9525">
            <a:noFill/>
            <a:miter lim="800000"/>
            <a:headEnd/>
            <a:tailEnd/>
          </a:ln>
        </p:spPr>
        <p:txBody>
          <a:bodyPr wrap="none">
            <a:spAutoFit/>
          </a:bodyPr>
          <a:lstStyle/>
          <a:p>
            <a:r>
              <a:rPr lang="zh-CN" altLang="en-US" b="1" dirty="0">
                <a:latin typeface="楷体_GB2312" pitchFamily="49" charset="-122"/>
                <a:ea typeface="楷体_GB2312" pitchFamily="49" charset="-122"/>
              </a:rPr>
              <a:t>图</a:t>
            </a:r>
            <a:r>
              <a:rPr lang="en-US" altLang="zh-CN" b="1" dirty="0">
                <a:latin typeface="楷体_GB2312" pitchFamily="49" charset="-122"/>
                <a:ea typeface="楷体_GB2312" pitchFamily="49" charset="-122"/>
              </a:rPr>
              <a:t>7.3 </a:t>
            </a:r>
            <a:r>
              <a:rPr lang="zh-CN" altLang="en-US" b="1" dirty="0">
                <a:latin typeface="楷体_GB2312" pitchFamily="49" charset="-122"/>
                <a:ea typeface="楷体_GB2312" pitchFamily="49" charset="-122"/>
              </a:rPr>
              <a:t>单链表结构</a:t>
            </a:r>
          </a:p>
        </p:txBody>
      </p:sp>
      <p:sp>
        <p:nvSpPr>
          <p:cNvPr id="10" name="TextBox 9"/>
          <p:cNvSpPr txBox="1"/>
          <p:nvPr/>
        </p:nvSpPr>
        <p:spPr>
          <a:xfrm>
            <a:off x="500034" y="5580063"/>
            <a:ext cx="8286750" cy="1277937"/>
          </a:xfrm>
          <a:prstGeom prst="rect">
            <a:avLst/>
          </a:prstGeom>
          <a:noFill/>
        </p:spPr>
        <p:txBody>
          <a:bodyPr>
            <a:spAutoFit/>
          </a:bodyPr>
          <a:lstStyle/>
          <a:p>
            <a:pPr algn="just">
              <a:lnSpc>
                <a:spcPct val="95000"/>
              </a:lnSpc>
              <a:buClr>
                <a:srgbClr val="FF6600"/>
              </a:buClr>
              <a:buSzPct val="55000"/>
              <a:buFont typeface="Wingdings" pitchFamily="2" charset="2"/>
              <a:buNone/>
              <a:defRPr/>
            </a:pPr>
            <a:r>
              <a:rPr lang="en-US" altLang="zh-CN" sz="2000" b="1" dirty="0">
                <a:latin typeface="楷体_GB2312" pitchFamily="49" charset="-122"/>
                <a:ea typeface="楷体_GB2312" pitchFamily="49" charset="-122"/>
              </a:rPr>
              <a:t>head</a:t>
            </a:r>
            <a:r>
              <a:rPr lang="zh-CN" altLang="en-US" sz="2000" b="1" dirty="0">
                <a:latin typeface="楷体_GB2312" pitchFamily="49" charset="-122"/>
                <a:ea typeface="楷体_GB2312" pitchFamily="49" charset="-122"/>
              </a:rPr>
              <a:t>：链表的</a:t>
            </a:r>
            <a:r>
              <a:rPr lang="zh-CN" altLang="en-US" sz="2000" b="1" dirty="0">
                <a:latin typeface="宋体"/>
                <a:ea typeface="楷体_GB2312" pitchFamily="49" charset="-122"/>
              </a:rPr>
              <a:t>“</a:t>
            </a:r>
            <a:r>
              <a:rPr lang="zh-CN" altLang="en-US" sz="2000" b="1" dirty="0">
                <a:latin typeface="楷体_GB2312" pitchFamily="49" charset="-122"/>
                <a:ea typeface="楷体_GB2312" pitchFamily="49" charset="-122"/>
              </a:rPr>
              <a:t>头指针</a:t>
            </a:r>
            <a:r>
              <a:rPr lang="zh-CN" altLang="en-US" sz="2000" b="1" dirty="0">
                <a:latin typeface="宋体"/>
                <a:ea typeface="楷体_GB2312" pitchFamily="49" charset="-122"/>
              </a:rPr>
              <a:t>”</a:t>
            </a:r>
            <a:r>
              <a:rPr lang="zh-CN" altLang="en-US" sz="2000" b="1" dirty="0">
                <a:latin typeface="楷体_GB2312" pitchFamily="49" charset="-122"/>
                <a:ea typeface="楷体_GB2312" pitchFamily="49" charset="-122"/>
              </a:rPr>
              <a:t>变量，存放的是地址，指向链表的第一个元素（或称表元、结点）。</a:t>
            </a:r>
          </a:p>
          <a:p>
            <a:pPr algn="just">
              <a:lnSpc>
                <a:spcPct val="95000"/>
              </a:lnSpc>
              <a:buClr>
                <a:srgbClr val="FF6600"/>
              </a:buClr>
              <a:buSzPct val="55000"/>
              <a:buFont typeface="Wingdings" pitchFamily="2" charset="2"/>
              <a:buNone/>
              <a:defRPr/>
            </a:pPr>
            <a:r>
              <a:rPr lang="zh-CN" altLang="en-US" sz="2000" b="1" dirty="0">
                <a:latin typeface="楷体_GB2312" pitchFamily="49" charset="-122"/>
                <a:ea typeface="楷体_GB2312" pitchFamily="49" charset="-122"/>
              </a:rPr>
              <a:t>链表元素：分成两部分，存放实际的数据和后继表元指针。</a:t>
            </a:r>
          </a:p>
          <a:p>
            <a:pPr>
              <a:defRPr/>
            </a:pPr>
            <a:endParaRPr lang="zh-CN" altLang="en-US" sz="2000" dirty="0">
              <a:ea typeface="宋体" pitchFamily="2" charset="-122"/>
            </a:endParaRPr>
          </a:p>
        </p:txBody>
      </p:sp>
      <p:sp>
        <p:nvSpPr>
          <p:cNvPr id="11" name="矩形 10"/>
          <p:cNvSpPr/>
          <p:nvPr/>
        </p:nvSpPr>
        <p:spPr>
          <a:xfrm>
            <a:off x="5796136" y="4005064"/>
            <a:ext cx="864096" cy="9361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2787">
                                            <p:txEl>
                                              <p:pRg st="4" end="4"/>
                                            </p:txEl>
                                          </p:spTgt>
                                        </p:tgtEl>
                                        <p:attrNameLst>
                                          <p:attrName>style.visibility</p:attrName>
                                        </p:attrNameLst>
                                      </p:cBhvr>
                                      <p:to>
                                        <p:strVal val="visible"/>
                                      </p:to>
                                    </p:set>
                                    <p:anim calcmode="lin" valueType="num">
                                      <p:cBhvr additive="base">
                                        <p:cTn id="7" dur="500" fill="hold"/>
                                        <p:tgtEl>
                                          <p:spTgt spid="502787">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2787">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026"/>
                                        </p:tgtEl>
                                        <p:attrNameLst>
                                          <p:attrName>style.visibility</p:attrName>
                                        </p:attrNameLst>
                                      </p:cBhvr>
                                      <p:to>
                                        <p:strVal val="visible"/>
                                      </p:to>
                                    </p:set>
                                    <p:anim calcmode="lin" valueType="num">
                                      <p:cBhvr additive="base">
                                        <p:cTn id="15" dur="500" fill="hold"/>
                                        <p:tgtEl>
                                          <p:spTgt spid="1026"/>
                                        </p:tgtEl>
                                        <p:attrNameLst>
                                          <p:attrName>ppt_x</p:attrName>
                                        </p:attrNameLst>
                                      </p:cBhvr>
                                      <p:tavLst>
                                        <p:tav tm="0">
                                          <p:val>
                                            <p:strVal val="#ppt_x"/>
                                          </p:val>
                                        </p:tav>
                                        <p:tav tm="100000">
                                          <p:val>
                                            <p:strVal val="#ppt_x"/>
                                          </p:val>
                                        </p:tav>
                                      </p:tavLst>
                                    </p:anim>
                                    <p:anim calcmode="lin" valueType="num">
                                      <p:cBhvr additive="base">
                                        <p:cTn id="16" dur="500" fill="hold"/>
                                        <p:tgtEl>
                                          <p:spTgt spid="102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031"/>
                                        </p:tgtEl>
                                        <p:attrNameLst>
                                          <p:attrName>style.visibility</p:attrName>
                                        </p:attrNameLst>
                                      </p:cBhvr>
                                      <p:to>
                                        <p:strVal val="visible"/>
                                      </p:to>
                                    </p:set>
                                    <p:anim calcmode="lin" valueType="num">
                                      <p:cBhvr additive="base">
                                        <p:cTn id="19" dur="500" fill="hold"/>
                                        <p:tgtEl>
                                          <p:spTgt spid="1031"/>
                                        </p:tgtEl>
                                        <p:attrNameLst>
                                          <p:attrName>ppt_x</p:attrName>
                                        </p:attrNameLst>
                                      </p:cBhvr>
                                      <p:tavLst>
                                        <p:tav tm="0">
                                          <p:val>
                                            <p:strVal val="#ppt_x"/>
                                          </p:val>
                                        </p:tav>
                                        <p:tav tm="100000">
                                          <p:val>
                                            <p:strVal val="#ppt_x"/>
                                          </p:val>
                                        </p:tav>
                                      </p:tavLst>
                                    </p:anim>
                                    <p:anim calcmode="lin" valueType="num">
                                      <p:cBhvr additive="base">
                                        <p:cTn id="20" dur="500" fill="hold"/>
                                        <p:tgtEl>
                                          <p:spTgt spid="103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xEl>
                                              <p:pRg st="0" end="0"/>
                                            </p:txEl>
                                          </p:spTgt>
                                        </p:tgtEl>
                                        <p:attrNameLst>
                                          <p:attrName>style.visibility</p:attrName>
                                        </p:attrNameLst>
                                      </p:cBhvr>
                                      <p:to>
                                        <p:strVal val="visible"/>
                                      </p:to>
                                    </p:set>
                                    <p:anim calcmode="lin" valueType="num">
                                      <p:cBhvr additive="base">
                                        <p:cTn id="25"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0">
                                            <p:txEl>
                                              <p:pRg st="1" end="1"/>
                                            </p:txEl>
                                          </p:spTgt>
                                        </p:tgtEl>
                                        <p:attrNameLst>
                                          <p:attrName>style.visibility</p:attrName>
                                        </p:attrNameLst>
                                      </p:cBhvr>
                                      <p:to>
                                        <p:strVal val="visible"/>
                                      </p:to>
                                    </p:set>
                                    <p:anim calcmode="lin" valueType="num">
                                      <p:cBhvr additive="base">
                                        <p:cTn id="29"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1" grpId="0"/>
      <p:bldP spid="11" grpId="0" animBg="1"/>
      <p:bldP spid="11" grpId="1"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5" name="Rectangle 1027"/>
          <p:cNvSpPr>
            <a:spLocks noGrp="1" noChangeArrowheads="1"/>
          </p:cNvSpPr>
          <p:nvPr>
            <p:ph idx="1"/>
          </p:nvPr>
        </p:nvSpPr>
        <p:spPr>
          <a:xfrm>
            <a:off x="250825" y="1143000"/>
            <a:ext cx="8497888" cy="3438525"/>
          </a:xfrm>
        </p:spPr>
        <p:txBody>
          <a:bodyPr>
            <a:noAutofit/>
          </a:bodyPr>
          <a:lstStyle/>
          <a:p>
            <a:pPr marL="0" indent="0" algn="just" eaLnBrk="1" hangingPunct="1">
              <a:lnSpc>
                <a:spcPct val="110000"/>
              </a:lnSpc>
              <a:buClr>
                <a:srgbClr val="FF6600"/>
              </a:buClr>
              <a:buSzPct val="55000"/>
              <a:buFont typeface="Wingdings" pitchFamily="2" charset="2"/>
              <a:buNone/>
              <a:defRPr/>
            </a:pPr>
            <a:r>
              <a:rPr lang="zh-CN" altLang="en-US" sz="2400" b="1" dirty="0">
                <a:latin typeface="楷体_GB2312" pitchFamily="49" charset="-122"/>
                <a:ea typeface="楷体_GB2312" pitchFamily="49" charset="-122"/>
              </a:rPr>
              <a:t>链表一环扣一环地将多个表元链接在一起，即头指针</a:t>
            </a:r>
            <a:r>
              <a:rPr lang="en-US" altLang="zh-CN" sz="2400" b="1" dirty="0">
                <a:latin typeface="楷体_GB2312" pitchFamily="49" charset="-122"/>
                <a:ea typeface="楷体_GB2312" pitchFamily="49" charset="-122"/>
              </a:rPr>
              <a:t>head</a:t>
            </a:r>
            <a:r>
              <a:rPr lang="zh-CN" altLang="en-US" sz="2400" b="1" dirty="0">
                <a:latin typeface="楷体_GB2312" pitchFamily="49" charset="-122"/>
                <a:ea typeface="楷体_GB2312" pitchFamily="49" charset="-122"/>
              </a:rPr>
              <a:t>指向第</a:t>
            </a:r>
            <a:r>
              <a:rPr lang="en-US" altLang="zh-CN" sz="2400" b="1" dirty="0">
                <a:latin typeface="楷体_GB2312" pitchFamily="49" charset="-122"/>
                <a:ea typeface="楷体_GB2312" pitchFamily="49" charset="-122"/>
              </a:rPr>
              <a:t>1</a:t>
            </a:r>
            <a:r>
              <a:rPr lang="zh-CN" altLang="en-US" sz="2400" b="1" dirty="0">
                <a:latin typeface="楷体_GB2312" pitchFamily="49" charset="-122"/>
                <a:ea typeface="楷体_GB2312" pitchFamily="49" charset="-122"/>
              </a:rPr>
              <a:t>个表元，第</a:t>
            </a:r>
            <a:r>
              <a:rPr lang="en-US" altLang="zh-CN" sz="2400" b="1" dirty="0">
                <a:latin typeface="楷体_GB2312" pitchFamily="49" charset="-122"/>
                <a:ea typeface="楷体_GB2312" pitchFamily="49" charset="-122"/>
              </a:rPr>
              <a:t>1</a:t>
            </a:r>
            <a:r>
              <a:rPr lang="zh-CN" altLang="en-US" sz="2400" b="1" dirty="0">
                <a:latin typeface="楷体_GB2312" pitchFamily="49" charset="-122"/>
                <a:ea typeface="楷体_GB2312" pitchFamily="49" charset="-122"/>
              </a:rPr>
              <a:t>个表元又指向第</a:t>
            </a:r>
            <a:r>
              <a:rPr lang="en-US" altLang="zh-CN" sz="2400" b="1" dirty="0">
                <a:latin typeface="楷体_GB2312" pitchFamily="49" charset="-122"/>
                <a:ea typeface="楷体_GB2312" pitchFamily="49" charset="-122"/>
              </a:rPr>
              <a:t>2</a:t>
            </a:r>
            <a:r>
              <a:rPr lang="zh-CN" altLang="en-US" sz="2400" b="1" dirty="0">
                <a:latin typeface="楷体_GB2312" pitchFamily="49" charset="-122"/>
                <a:ea typeface="楷体_GB2312" pitchFamily="49" charset="-122"/>
              </a:rPr>
              <a:t>个表元，</a:t>
            </a:r>
            <a:r>
              <a:rPr lang="en-US" altLang="zh-CN" sz="2400" b="1" dirty="0">
                <a:ea typeface="楷体_GB2312" pitchFamily="49" charset="-122"/>
              </a:rPr>
              <a:t>……</a:t>
            </a:r>
            <a:r>
              <a:rPr lang="zh-CN" altLang="en-US" sz="2400" b="1" dirty="0">
                <a:latin typeface="楷体_GB2312" pitchFamily="49" charset="-122"/>
                <a:ea typeface="楷体_GB2312" pitchFamily="49" charset="-122"/>
              </a:rPr>
              <a:t>，直到链表的最后一个表元。我们一般称链表的第</a:t>
            </a:r>
            <a:r>
              <a:rPr lang="en-US" altLang="zh-CN" sz="2400" b="1" dirty="0">
                <a:latin typeface="楷体_GB2312" pitchFamily="49" charset="-122"/>
                <a:ea typeface="楷体_GB2312" pitchFamily="49" charset="-122"/>
              </a:rPr>
              <a:t>1</a:t>
            </a:r>
            <a:r>
              <a:rPr lang="zh-CN" altLang="en-US" sz="2400" b="1" dirty="0">
                <a:latin typeface="楷体_GB2312" pitchFamily="49" charset="-122"/>
                <a:ea typeface="楷体_GB2312" pitchFamily="49" charset="-122"/>
              </a:rPr>
              <a:t>个表元为</a:t>
            </a:r>
            <a:r>
              <a:rPr lang="zh-CN" altLang="en-US" sz="2400" b="1" dirty="0">
                <a:ea typeface="楷体_GB2312" pitchFamily="49" charset="-122"/>
              </a:rPr>
              <a:t>“</a:t>
            </a:r>
            <a:r>
              <a:rPr lang="zh-CN" altLang="en-US" sz="2400" b="1" dirty="0">
                <a:latin typeface="楷体_GB2312" pitchFamily="49" charset="-122"/>
                <a:ea typeface="楷体_GB2312" pitchFamily="49" charset="-122"/>
              </a:rPr>
              <a:t>首表元</a:t>
            </a:r>
            <a:r>
              <a:rPr lang="zh-CN" altLang="en-US" sz="2400" b="1" dirty="0">
                <a:ea typeface="楷体_GB2312" pitchFamily="49" charset="-122"/>
              </a:rPr>
              <a:t>”</a:t>
            </a:r>
            <a:r>
              <a:rPr lang="zh-CN" altLang="en-US" sz="2400" b="1" dirty="0">
                <a:latin typeface="楷体_GB2312" pitchFamily="49" charset="-122"/>
                <a:ea typeface="楷体_GB2312" pitchFamily="49" charset="-122"/>
              </a:rPr>
              <a:t>，链表的最后一个表元为</a:t>
            </a:r>
            <a:r>
              <a:rPr lang="zh-CN" altLang="en-US" sz="2400" b="1" dirty="0">
                <a:ea typeface="楷体_GB2312" pitchFamily="49" charset="-122"/>
              </a:rPr>
              <a:t>“</a:t>
            </a:r>
            <a:r>
              <a:rPr lang="zh-CN" altLang="en-US" sz="2400" b="1" dirty="0">
                <a:latin typeface="楷体_GB2312" pitchFamily="49" charset="-122"/>
                <a:ea typeface="楷体_GB2312" pitchFamily="49" charset="-122"/>
              </a:rPr>
              <a:t>尾表元</a:t>
            </a:r>
            <a:r>
              <a:rPr lang="zh-CN" altLang="en-US" sz="2400" b="1" dirty="0">
                <a:ea typeface="楷体_GB2312" pitchFamily="49" charset="-122"/>
              </a:rPr>
              <a:t>”</a:t>
            </a:r>
            <a:r>
              <a:rPr lang="zh-CN" altLang="en-US" sz="2400" b="1" dirty="0">
                <a:latin typeface="楷体_GB2312" pitchFamily="49" charset="-122"/>
                <a:ea typeface="楷体_GB2312" pitchFamily="49" charset="-122"/>
              </a:rPr>
              <a:t>（尾表元的后继指针一般为</a:t>
            </a:r>
            <a:r>
              <a:rPr lang="zh-CN" altLang="en-US" sz="2400" b="1" dirty="0">
                <a:ea typeface="楷体_GB2312" pitchFamily="49" charset="-122"/>
              </a:rPr>
              <a:t>“</a:t>
            </a:r>
            <a:r>
              <a:rPr lang="en-US" altLang="zh-CN" sz="2400" b="1" dirty="0">
                <a:latin typeface="楷体_GB2312" pitchFamily="49" charset="-122"/>
                <a:ea typeface="楷体_GB2312" pitchFamily="49" charset="-122"/>
              </a:rPr>
              <a:t>NULL</a:t>
            </a:r>
            <a:r>
              <a:rPr lang="en-US" altLang="zh-CN" sz="2400" b="1" dirty="0">
                <a:ea typeface="楷体_GB2312" pitchFamily="49" charset="-122"/>
              </a:rPr>
              <a:t>”</a:t>
            </a:r>
            <a:r>
              <a:rPr lang="zh-CN" altLang="en-US" sz="2400" b="1" dirty="0">
                <a:latin typeface="楷体_GB2312" pitchFamily="49" charset="-122"/>
                <a:ea typeface="楷体_GB2312" pitchFamily="49" charset="-122"/>
              </a:rPr>
              <a:t>，表示链表不再有后继表元）。</a:t>
            </a:r>
            <a:endParaRPr lang="en-US" altLang="zh-CN" sz="2400" b="1" dirty="0">
              <a:latin typeface="楷体_GB2312" pitchFamily="49" charset="-122"/>
              <a:ea typeface="楷体_GB2312" pitchFamily="49" charset="-122"/>
            </a:endParaRPr>
          </a:p>
          <a:p>
            <a:pPr marL="0" indent="0" algn="just" eaLnBrk="1" hangingPunct="1">
              <a:lnSpc>
                <a:spcPct val="110000"/>
              </a:lnSpc>
              <a:buClr>
                <a:srgbClr val="FF6600"/>
              </a:buClr>
              <a:buSzPct val="55000"/>
              <a:buFont typeface="Wingdings" pitchFamily="2" charset="2"/>
              <a:buNone/>
              <a:defRPr/>
            </a:pPr>
            <a:endParaRPr lang="en-US" altLang="zh-CN" sz="2400" b="1" dirty="0">
              <a:latin typeface="楷体_GB2312" pitchFamily="49" charset="-122"/>
              <a:ea typeface="楷体_GB2312" pitchFamily="49" charset="-122"/>
            </a:endParaRPr>
          </a:p>
          <a:p>
            <a:pPr marL="0" indent="0" algn="just" eaLnBrk="1" hangingPunct="1">
              <a:lnSpc>
                <a:spcPct val="110000"/>
              </a:lnSpc>
              <a:buClr>
                <a:srgbClr val="FF6600"/>
              </a:buClr>
              <a:buSzPct val="55000"/>
              <a:buFont typeface="Wingdings" pitchFamily="2" charset="2"/>
              <a:buNone/>
              <a:defRPr/>
            </a:pPr>
            <a:r>
              <a:rPr lang="zh-CN" altLang="en-US" sz="2400" b="1" dirty="0">
                <a:latin typeface="楷体_GB2312" pitchFamily="49" charset="-122"/>
                <a:ea typeface="楷体_GB2312" pitchFamily="49" charset="-122"/>
              </a:rPr>
              <a:t>当链表中没有任何一个表元时称为空链表，此时链表头指针为</a:t>
            </a:r>
            <a:r>
              <a:rPr lang="zh-CN" altLang="en-US" sz="2400" b="1" dirty="0">
                <a:ea typeface="楷体_GB2312" pitchFamily="49" charset="-122"/>
              </a:rPr>
              <a:t>“</a:t>
            </a:r>
            <a:r>
              <a:rPr lang="en-US" altLang="zh-CN" sz="2400" b="1" dirty="0">
                <a:latin typeface="楷体_GB2312" pitchFamily="49" charset="-122"/>
                <a:ea typeface="楷体_GB2312" pitchFamily="49" charset="-122"/>
              </a:rPr>
              <a:t>NULL</a:t>
            </a:r>
            <a:r>
              <a:rPr lang="en-US" altLang="zh-CN" sz="2400" b="1" dirty="0">
                <a:ea typeface="楷体_GB2312" pitchFamily="49" charset="-122"/>
              </a:rPr>
              <a:t>”</a:t>
            </a:r>
            <a:r>
              <a:rPr lang="zh-CN" altLang="en-US" sz="2400" b="1" dirty="0">
                <a:latin typeface="楷体_GB2312" pitchFamily="49" charset="-122"/>
                <a:ea typeface="楷体_GB2312" pitchFamily="49" charset="-122"/>
              </a:rPr>
              <a:t>，如图</a:t>
            </a:r>
            <a:r>
              <a:rPr lang="en-US" altLang="zh-CN" sz="2400" b="1" dirty="0">
                <a:latin typeface="楷体_GB2312" pitchFamily="49" charset="-122"/>
                <a:ea typeface="楷体_GB2312" pitchFamily="49" charset="-122"/>
              </a:rPr>
              <a:t>7.3</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b)</a:t>
            </a:r>
            <a:r>
              <a:rPr lang="zh-CN" altLang="en-US" sz="2400" b="1" dirty="0">
                <a:latin typeface="楷体_GB2312" pitchFamily="49" charset="-122"/>
                <a:ea typeface="楷体_GB2312" pitchFamily="49" charset="-122"/>
              </a:rPr>
              <a:t>所示。</a:t>
            </a:r>
            <a:r>
              <a:rPr lang="zh-CN" altLang="en-US" sz="2400" dirty="0">
                <a:latin typeface="楷体_GB2312" pitchFamily="49" charset="-122"/>
                <a:ea typeface="楷体_GB2312" pitchFamily="49" charset="-122"/>
              </a:rPr>
              <a:t> </a:t>
            </a:r>
          </a:p>
        </p:txBody>
      </p:sp>
      <p:sp>
        <p:nvSpPr>
          <p:cNvPr id="5" name="灯片编号占位符 5"/>
          <p:cNvSpPr>
            <a:spLocks noGrp="1"/>
          </p:cNvSpPr>
          <p:nvPr>
            <p:ph type="sldNum" sz="quarter" idx="12"/>
          </p:nvPr>
        </p:nvSpPr>
        <p:spPr/>
        <p:txBody>
          <a:bodyPr/>
          <a:lstStyle/>
          <a:p>
            <a:pPr>
              <a:defRPr/>
            </a:pPr>
            <a:fld id="{56D13823-F2CD-4E5B-9A73-267560A3B1A7}" type="slidenum">
              <a:rPr lang="en-US" altLang="zh-CN"/>
              <a:pPr>
                <a:defRPr/>
              </a:pPr>
              <a:t>52</a:t>
            </a:fld>
            <a:endParaRPr lang="en-US" altLang="zh-CN"/>
          </a:p>
        </p:txBody>
      </p:sp>
      <p:graphicFrame>
        <p:nvGraphicFramePr>
          <p:cNvPr id="44033" name="Object 1"/>
          <p:cNvGraphicFramePr>
            <a:graphicFrameLocks noChangeAspect="1"/>
          </p:cNvGraphicFramePr>
          <p:nvPr/>
        </p:nvGraphicFramePr>
        <p:xfrm>
          <a:off x="1547664" y="5229200"/>
          <a:ext cx="5029200" cy="1066800"/>
        </p:xfrm>
        <a:graphic>
          <a:graphicData uri="http://schemas.openxmlformats.org/presentationml/2006/ole">
            <mc:AlternateContent xmlns:mc="http://schemas.openxmlformats.org/markup-compatibility/2006">
              <mc:Choice xmlns:v="urn:schemas-microsoft-com:vml" Requires="v">
                <p:oleObj r:id="rId2" imgW="7302918" imgH="1557453" progId="">
                  <p:embed/>
                </p:oleObj>
              </mc:Choice>
              <mc:Fallback>
                <p:oleObj r:id="rId2" imgW="7302918" imgH="1557453" progId="">
                  <p:embed/>
                  <p:pic>
                    <p:nvPicPr>
                      <p:cNvPr id="0"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664" y="5229200"/>
                        <a:ext cx="5029200"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矩形 5"/>
          <p:cNvSpPr/>
          <p:nvPr/>
        </p:nvSpPr>
        <p:spPr>
          <a:xfrm>
            <a:off x="5580112" y="5085184"/>
            <a:ext cx="1152128" cy="1224136"/>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4835">
                                            <p:txEl>
                                              <p:pRg st="2" end="2"/>
                                            </p:txEl>
                                          </p:spTgt>
                                        </p:tgtEl>
                                        <p:attrNameLst>
                                          <p:attrName>style.visibility</p:attrName>
                                        </p:attrNameLst>
                                      </p:cBhvr>
                                      <p:to>
                                        <p:strVal val="visible"/>
                                      </p:to>
                                    </p:set>
                                    <p:anim calcmode="lin" valueType="num">
                                      <p:cBhvr additive="base">
                                        <p:cTn id="7" dur="500" fill="hold"/>
                                        <p:tgtEl>
                                          <p:spTgt spid="50483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4835">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4033"/>
                                        </p:tgtEl>
                                        <p:attrNameLst>
                                          <p:attrName>style.visibility</p:attrName>
                                        </p:attrNameLst>
                                      </p:cBhvr>
                                      <p:to>
                                        <p:strVal val="visible"/>
                                      </p:to>
                                    </p:set>
                                    <p:anim calcmode="lin" valueType="num">
                                      <p:cBhvr additive="base">
                                        <p:cTn id="11" dur="500" fill="hold"/>
                                        <p:tgtEl>
                                          <p:spTgt spid="44033"/>
                                        </p:tgtEl>
                                        <p:attrNameLst>
                                          <p:attrName>ppt_x</p:attrName>
                                        </p:attrNameLst>
                                      </p:cBhvr>
                                      <p:tavLst>
                                        <p:tav tm="0">
                                          <p:val>
                                            <p:strVal val="#ppt_x"/>
                                          </p:val>
                                        </p:tav>
                                        <p:tav tm="100000">
                                          <p:val>
                                            <p:strVal val="#ppt_x"/>
                                          </p:val>
                                        </p:tav>
                                      </p:tavLst>
                                    </p:anim>
                                    <p:anim calcmode="lin" valueType="num">
                                      <p:cBhvr additive="base">
                                        <p:cTn id="12" dur="500" fill="hold"/>
                                        <p:tgtEl>
                                          <p:spTgt spid="4403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4" name="Rectangle 2"/>
          <p:cNvSpPr>
            <a:spLocks noGrp="1" noChangeArrowheads="1"/>
          </p:cNvSpPr>
          <p:nvPr>
            <p:ph idx="1"/>
          </p:nvPr>
        </p:nvSpPr>
        <p:spPr>
          <a:xfrm>
            <a:off x="250825" y="1109663"/>
            <a:ext cx="8497888" cy="4105275"/>
          </a:xfrm>
        </p:spPr>
        <p:txBody>
          <a:bodyPr>
            <a:normAutofit/>
          </a:bodyPr>
          <a:lstStyle/>
          <a:p>
            <a:pPr marL="0" indent="0" algn="just" eaLnBrk="1" hangingPunct="1">
              <a:lnSpc>
                <a:spcPct val="110000"/>
              </a:lnSpc>
              <a:buClr>
                <a:srgbClr val="FF6600"/>
              </a:buClr>
              <a:buSzPct val="55000"/>
              <a:buFont typeface="Wingdings" pitchFamily="2" charset="2"/>
              <a:buNone/>
              <a:defRPr/>
            </a:pPr>
            <a:r>
              <a:rPr lang="zh-CN" altLang="en-US" sz="2400" b="1" dirty="0">
                <a:latin typeface="楷体_GB2312" pitchFamily="49" charset="-122"/>
                <a:ea typeface="楷体_GB2312" pitchFamily="49" charset="-122"/>
              </a:rPr>
              <a:t>图示的链表结构是单向的，即每个表元只存储它的后继表元的位置，而不存储它的前驱表元的位置。这种形式的链表称为</a:t>
            </a:r>
            <a:r>
              <a:rPr lang="zh-CN" altLang="en-US" sz="2400" b="1" dirty="0">
                <a:solidFill>
                  <a:srgbClr val="FF0000"/>
                </a:solidFill>
                <a:latin typeface="楷体_GB2312" pitchFamily="49" charset="-122"/>
                <a:ea typeface="楷体_GB2312" pitchFamily="49" charset="-122"/>
              </a:rPr>
              <a:t>单链表</a:t>
            </a:r>
            <a:r>
              <a:rPr lang="zh-CN" altLang="en-US" sz="2400" b="1" dirty="0">
                <a:latin typeface="楷体_GB2312" pitchFamily="49" charset="-122"/>
                <a:ea typeface="楷体_GB2312" pitchFamily="49" charset="-122"/>
              </a:rPr>
              <a:t>。在单链表中，一个表元的后继表元位置存储在它所包含的某个指针成员中。如果某个算法要对链表作某种处理，必须从链表的首表元开始、顺序处理链表的表元</a:t>
            </a:r>
            <a:r>
              <a:rPr lang="zh-CN" altLang="en-US" sz="2400" b="1" dirty="0">
                <a:effectLst>
                  <a:outerShdw blurRad="38100" dist="38100" dir="2700000" algn="tl">
                    <a:srgbClr val="000000"/>
                  </a:outerShdw>
                </a:effectLst>
                <a:latin typeface="楷体_GB2312" pitchFamily="49" charset="-122"/>
                <a:ea typeface="楷体_GB2312" pitchFamily="49" charset="-122"/>
              </a:rPr>
              <a:t>。</a:t>
            </a:r>
            <a:endParaRPr lang="en-US" altLang="zh-CN" sz="2400" b="1" dirty="0">
              <a:effectLst>
                <a:outerShdw blurRad="38100" dist="38100" dir="2700000" algn="tl">
                  <a:srgbClr val="000000"/>
                </a:outerShdw>
              </a:effectLst>
              <a:latin typeface="楷体_GB2312" pitchFamily="49" charset="-122"/>
              <a:ea typeface="楷体_GB2312" pitchFamily="49" charset="-122"/>
            </a:endParaRPr>
          </a:p>
          <a:p>
            <a:pPr marL="0" indent="0" algn="just" eaLnBrk="1" hangingPunct="1">
              <a:lnSpc>
                <a:spcPct val="110000"/>
              </a:lnSpc>
              <a:buClr>
                <a:srgbClr val="FF6600"/>
              </a:buClr>
              <a:buSzPct val="55000"/>
              <a:buFont typeface="Wingdings" pitchFamily="2" charset="2"/>
              <a:buNone/>
              <a:defRPr/>
            </a:pPr>
            <a:endParaRPr lang="en-US" altLang="zh-CN" sz="2400" b="1" dirty="0">
              <a:effectLst>
                <a:outerShdw blurRad="38100" dist="38100" dir="2700000" algn="tl">
                  <a:srgbClr val="000000"/>
                </a:outerShdw>
              </a:effectLst>
              <a:latin typeface="楷体_GB2312" pitchFamily="49" charset="-122"/>
              <a:ea typeface="楷体_GB2312" pitchFamily="49" charset="-122"/>
            </a:endParaRPr>
          </a:p>
          <a:p>
            <a:pPr marL="0" indent="0" algn="just">
              <a:lnSpc>
                <a:spcPct val="110000"/>
              </a:lnSpc>
              <a:buClr>
                <a:srgbClr val="FF6600"/>
              </a:buClr>
              <a:buSzPct val="55000"/>
              <a:buNone/>
              <a:defRPr/>
            </a:pPr>
            <a:r>
              <a:rPr lang="zh-CN" altLang="en-US" sz="2400" b="1" dirty="0">
                <a:latin typeface="楷体_GB2312" pitchFamily="49" charset="-122"/>
                <a:ea typeface="楷体_GB2312" pitchFamily="49" charset="-122"/>
              </a:rPr>
              <a:t>在某些应用中，要求链表的每一个表元都能方便地知道它的前驱表元和后继表元，这种链表的表元需包含两个指针，分别指向它的前驱表元和后继表元，这种链表称为双向链表。</a:t>
            </a:r>
            <a:r>
              <a:rPr lang="zh-CN" altLang="en-US" sz="2400" b="1" dirty="0">
                <a:effectLst>
                  <a:outerShdw blurRad="38100" dist="38100" dir="2700000" algn="tl">
                    <a:srgbClr val="000000"/>
                  </a:outerShdw>
                </a:effectLst>
                <a:latin typeface="楷体_GB2312" pitchFamily="49" charset="-122"/>
                <a:ea typeface="楷体_GB2312" pitchFamily="49" charset="-122"/>
              </a:rPr>
              <a:t> </a:t>
            </a:r>
          </a:p>
        </p:txBody>
      </p:sp>
      <p:sp>
        <p:nvSpPr>
          <p:cNvPr id="5" name="灯片编号占位符 5"/>
          <p:cNvSpPr>
            <a:spLocks noGrp="1"/>
          </p:cNvSpPr>
          <p:nvPr>
            <p:ph type="sldNum" sz="quarter" idx="12"/>
          </p:nvPr>
        </p:nvSpPr>
        <p:spPr/>
        <p:txBody>
          <a:bodyPr/>
          <a:lstStyle/>
          <a:p>
            <a:pPr>
              <a:defRPr/>
            </a:pPr>
            <a:fld id="{E191AC9C-6246-484C-AB5B-8C38B656778E}" type="slidenum">
              <a:rPr lang="en-US" altLang="zh-CN"/>
              <a:pPr>
                <a:defRPr/>
              </a:pPr>
              <a:t>53</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58434">
                                            <p:txEl>
                                              <p:pRg st="2" end="2"/>
                                            </p:txEl>
                                          </p:spTgt>
                                        </p:tgtEl>
                                        <p:attrNameLst>
                                          <p:attrName>style.visibility</p:attrName>
                                        </p:attrNameLst>
                                      </p:cBhvr>
                                      <p:to>
                                        <p:strVal val="visible"/>
                                      </p:to>
                                    </p:set>
                                    <p:anim calcmode="lin" valueType="num">
                                      <p:cBhvr additive="base">
                                        <p:cTn id="7" dur="500" fill="hold"/>
                                        <p:tgtEl>
                                          <p:spTgt spid="658434">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5843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458" name="Rectangle 2"/>
          <p:cNvSpPr>
            <a:spLocks noGrp="1" noChangeArrowheads="1"/>
          </p:cNvSpPr>
          <p:nvPr>
            <p:ph idx="1"/>
          </p:nvPr>
        </p:nvSpPr>
        <p:spPr>
          <a:xfrm>
            <a:off x="250825" y="476250"/>
            <a:ext cx="8497888" cy="4105275"/>
          </a:xfrm>
        </p:spPr>
        <p:txBody>
          <a:bodyPr>
            <a:normAutofit/>
          </a:bodyPr>
          <a:lstStyle/>
          <a:p>
            <a:pPr marL="0" indent="0" algn="just" eaLnBrk="1" hangingPunct="1">
              <a:lnSpc>
                <a:spcPct val="110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图</a:t>
            </a:r>
            <a:r>
              <a:rPr lang="en-US" altLang="zh-CN" sz="2800" b="1" dirty="0">
                <a:latin typeface="楷体_GB2312" pitchFamily="49" charset="-122"/>
                <a:ea typeface="楷体_GB2312" pitchFamily="49" charset="-122"/>
              </a:rPr>
              <a:t>7.4</a:t>
            </a:r>
            <a:r>
              <a:rPr lang="zh-CN" altLang="en-US" sz="2800" b="1" dirty="0">
                <a:latin typeface="楷体_GB2312" pitchFamily="49" charset="-122"/>
                <a:ea typeface="楷体_GB2312" pitchFamily="49" charset="-122"/>
              </a:rPr>
              <a:t>给出了一个双向链表。在双向链表中，插入或删除一个表元比单向链表更为方便，但结构也较为复杂（维护成本更高）。</a:t>
            </a:r>
            <a:endParaRPr lang="en-US" altLang="zh-CN" sz="2800" b="1" dirty="0">
              <a:latin typeface="楷体_GB2312" pitchFamily="49" charset="-122"/>
              <a:ea typeface="楷体_GB2312" pitchFamily="49" charset="-122"/>
            </a:endParaRPr>
          </a:p>
          <a:p>
            <a:pPr marL="0" indent="0" algn="just" eaLnBrk="1" hangingPunct="1">
              <a:lnSpc>
                <a:spcPct val="110000"/>
              </a:lnSpc>
              <a:buClr>
                <a:srgbClr val="FF6600"/>
              </a:buClr>
              <a:buSzPct val="55000"/>
              <a:buFont typeface="Wingdings" pitchFamily="2" charset="2"/>
              <a:buNone/>
              <a:defRPr/>
            </a:pPr>
            <a:r>
              <a:rPr lang="zh-CN" altLang="en-US" sz="2800" b="1" dirty="0">
                <a:solidFill>
                  <a:schemeClr val="tx1">
                    <a:lumMod val="95000"/>
                    <a:lumOff val="5000"/>
                  </a:schemeClr>
                </a:solidFill>
                <a:latin typeface="楷体_GB2312" pitchFamily="49" charset="-122"/>
                <a:ea typeface="楷体_GB2312" pitchFamily="49" charset="-122"/>
              </a:rPr>
              <a:t>常见的链表还有循环链表，</a:t>
            </a:r>
            <a:r>
              <a:rPr lang="zh-CN" altLang="en-US" sz="2800" b="1" dirty="0">
                <a:latin typeface="楷体_GB2312" pitchFamily="49" charset="-122"/>
                <a:ea typeface="楷体_GB2312" pitchFamily="49" charset="-122"/>
              </a:rPr>
              <a:t>在循环链表中，链表尾表元的后继指针指向链表的首表元。这一节中主要介绍</a:t>
            </a:r>
            <a:r>
              <a:rPr lang="zh-CN" altLang="en-US" sz="2800" b="1" dirty="0">
                <a:solidFill>
                  <a:srgbClr val="FF0000"/>
                </a:solidFill>
                <a:latin typeface="楷体_GB2312" pitchFamily="49" charset="-122"/>
                <a:ea typeface="楷体_GB2312" pitchFamily="49" charset="-122"/>
              </a:rPr>
              <a:t>单链表</a:t>
            </a:r>
            <a:r>
              <a:rPr lang="zh-CN" altLang="en-US" sz="2800" b="1" dirty="0">
                <a:latin typeface="楷体_GB2312" pitchFamily="49" charset="-122"/>
                <a:ea typeface="楷体_GB2312" pitchFamily="49" charset="-122"/>
              </a:rPr>
              <a:t>的基本操作。</a:t>
            </a:r>
          </a:p>
        </p:txBody>
      </p:sp>
      <p:sp>
        <p:nvSpPr>
          <p:cNvPr id="8" name="灯片编号占位符 5"/>
          <p:cNvSpPr>
            <a:spLocks noGrp="1"/>
          </p:cNvSpPr>
          <p:nvPr>
            <p:ph type="sldNum" sz="quarter" idx="12"/>
          </p:nvPr>
        </p:nvSpPr>
        <p:spPr/>
        <p:txBody>
          <a:bodyPr/>
          <a:lstStyle/>
          <a:p>
            <a:pPr>
              <a:defRPr/>
            </a:pPr>
            <a:fld id="{2E5E4185-419C-4F19-BDD5-5001583F57DC}" type="slidenum">
              <a:rPr lang="en-US" altLang="zh-CN"/>
              <a:pPr>
                <a:defRPr/>
              </a:pPr>
              <a:t>54</a:t>
            </a:fld>
            <a:endParaRPr lang="en-US" altLang="zh-CN"/>
          </a:p>
        </p:txBody>
      </p:sp>
      <p:sp>
        <p:nvSpPr>
          <p:cNvPr id="2053" name="Rectangle 4"/>
          <p:cNvSpPr>
            <a:spLocks noChangeArrowheads="1"/>
          </p:cNvSpPr>
          <p:nvPr/>
        </p:nvSpPr>
        <p:spPr bwMode="auto">
          <a:xfrm>
            <a:off x="0" y="3038475"/>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2050" name="Object 3"/>
          <p:cNvGraphicFramePr>
            <a:graphicFrameLocks noChangeAspect="1"/>
          </p:cNvGraphicFramePr>
          <p:nvPr/>
        </p:nvGraphicFramePr>
        <p:xfrm>
          <a:off x="1476375" y="4592638"/>
          <a:ext cx="6191250" cy="1212850"/>
        </p:xfrm>
        <a:graphic>
          <a:graphicData uri="http://schemas.openxmlformats.org/presentationml/2006/ole">
            <mc:AlternateContent xmlns:mc="http://schemas.openxmlformats.org/markup-compatibility/2006">
              <mc:Choice xmlns:v="urn:schemas-microsoft-com:vml" Requires="v">
                <p:oleObj r:id="rId2" imgW="6895434" imgH="1183405" progId="">
                  <p:embed/>
                </p:oleObj>
              </mc:Choice>
              <mc:Fallback>
                <p:oleObj r:id="rId2" imgW="6895434" imgH="1183405" progId="">
                  <p:embed/>
                  <p:pic>
                    <p:nvPicPr>
                      <p:cNvPr id="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4592638"/>
                        <a:ext cx="6191250" cy="1212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4" name="Text Box 5"/>
          <p:cNvSpPr txBox="1">
            <a:spLocks noChangeArrowheads="1"/>
          </p:cNvSpPr>
          <p:nvPr/>
        </p:nvSpPr>
        <p:spPr bwMode="auto">
          <a:xfrm>
            <a:off x="3249613" y="5826125"/>
            <a:ext cx="2308225" cy="457200"/>
          </a:xfrm>
          <a:prstGeom prst="rect">
            <a:avLst/>
          </a:prstGeom>
          <a:noFill/>
          <a:ln w="9525">
            <a:noFill/>
            <a:miter lim="800000"/>
            <a:headEnd/>
            <a:tailEnd/>
          </a:ln>
        </p:spPr>
        <p:txBody>
          <a:bodyPr wrap="none">
            <a:spAutoFit/>
          </a:bodyPr>
          <a:lstStyle/>
          <a:p>
            <a:r>
              <a:rPr lang="zh-CN" altLang="en-US" sz="2000" b="1" dirty="0">
                <a:latin typeface="楷体_GB2312" pitchFamily="49" charset="-122"/>
                <a:ea typeface="楷体_GB2312" pitchFamily="49" charset="-122"/>
              </a:rPr>
              <a:t>图</a:t>
            </a:r>
            <a:r>
              <a:rPr lang="en-US" altLang="zh-CN" sz="2000" b="1" dirty="0">
                <a:latin typeface="楷体_GB2312" pitchFamily="49" charset="-122"/>
                <a:ea typeface="楷体_GB2312" pitchFamily="49" charset="-122"/>
              </a:rPr>
              <a:t>7.4 </a:t>
            </a:r>
            <a:r>
              <a:rPr lang="zh-CN" altLang="en-US" sz="2000" b="1" dirty="0">
                <a:latin typeface="楷体_GB2312" pitchFamily="49" charset="-122"/>
                <a:ea typeface="楷体_GB2312" pitchFamily="49" charset="-122"/>
              </a:rPr>
              <a:t>双链表结构</a:t>
            </a:r>
            <a:r>
              <a:rPr lang="zh-CN" altLang="en-US" dirty="0"/>
              <a:t> </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Rectangle 2"/>
          <p:cNvSpPr>
            <a:spLocks noGrp="1" noChangeArrowheads="1"/>
          </p:cNvSpPr>
          <p:nvPr>
            <p:ph idx="1"/>
          </p:nvPr>
        </p:nvSpPr>
        <p:spPr>
          <a:xfrm>
            <a:off x="250825" y="476250"/>
            <a:ext cx="8497888" cy="5616575"/>
          </a:xfrm>
        </p:spPr>
        <p:txBody>
          <a:bodyPr/>
          <a:lstStyle/>
          <a:p>
            <a:pPr marL="0" indent="0" algn="just" eaLnBrk="1" hangingPunct="1">
              <a:lnSpc>
                <a:spcPct val="110000"/>
              </a:lnSpc>
              <a:buClr>
                <a:srgbClr val="FF6600"/>
              </a:buClr>
              <a:buSzPct val="55000"/>
              <a:buFont typeface="Wingdings" pitchFamily="2" charset="2"/>
              <a:buNone/>
              <a:defRPr/>
            </a:pPr>
            <a:r>
              <a:rPr lang="zh-CN" altLang="en-US" sz="3600" b="1" dirty="0">
                <a:latin typeface="楷体_GB2312" pitchFamily="49" charset="-122"/>
                <a:ea typeface="楷体_GB2312" pitchFamily="49" charset="-122"/>
              </a:rPr>
              <a:t>链表与数组相比较，主要的区别：</a:t>
            </a:r>
          </a:p>
          <a:p>
            <a:pPr marL="0" indent="0" algn="just" eaLnBrk="1" hangingPunct="1">
              <a:lnSpc>
                <a:spcPct val="110000"/>
              </a:lnSpc>
              <a:buClr>
                <a:srgbClr val="FF6600"/>
              </a:buClr>
              <a:buSzPct val="55000"/>
              <a:buFont typeface="Wingdings" pitchFamily="2" charset="2"/>
              <a:buNone/>
              <a:defRPr/>
            </a:pPr>
            <a:endParaRPr lang="zh-CN" altLang="en-US" b="1" dirty="0">
              <a:effectLst>
                <a:outerShdw blurRad="38100" dist="38100" dir="2700000" algn="tl">
                  <a:srgbClr val="000000"/>
                </a:outerShdw>
              </a:effectLst>
              <a:latin typeface="楷体_GB2312" pitchFamily="49" charset="-122"/>
              <a:ea typeface="楷体_GB2312" pitchFamily="49" charset="-122"/>
            </a:endParaRPr>
          </a:p>
          <a:p>
            <a:pPr marL="0" indent="0" eaLnBrk="1" hangingPunct="1">
              <a:buFont typeface="Monotype Sorts" pitchFamily="2" charset="2"/>
              <a:buNone/>
              <a:defRPr/>
            </a:pPr>
            <a:r>
              <a:rPr lang="en-US" altLang="zh-CN" sz="2800" b="1" dirty="0">
                <a:latin typeface="楷体_GB2312" pitchFamily="49" charset="-122"/>
                <a:ea typeface="楷体_GB2312" pitchFamily="49" charset="-122"/>
              </a:rPr>
              <a:t>(1)</a:t>
            </a:r>
            <a:r>
              <a:rPr lang="zh-CN" altLang="en-US" sz="2800" b="1" dirty="0">
                <a:latin typeface="楷体_GB2312" pitchFamily="49" charset="-122"/>
                <a:ea typeface="楷体_GB2312" pitchFamily="49" charset="-122"/>
              </a:rPr>
              <a:t>数组的元素个数在数组定义时指定，元素个数是固定的；链表表元的存储空间是在程序执行时由程序</a:t>
            </a:r>
            <a:r>
              <a:rPr lang="zh-CN" altLang="en-US" sz="2800" b="1" dirty="0">
                <a:solidFill>
                  <a:srgbClr val="FF0000"/>
                </a:solidFill>
                <a:latin typeface="楷体_GB2312" pitchFamily="49" charset="-122"/>
                <a:ea typeface="楷体_GB2312" pitchFamily="49" charset="-122"/>
              </a:rPr>
              <a:t>动态</a:t>
            </a:r>
            <a:r>
              <a:rPr lang="zh-CN" altLang="en-US" sz="2800" b="1" dirty="0">
                <a:latin typeface="楷体_GB2312" pitchFamily="49" charset="-122"/>
                <a:ea typeface="楷体_GB2312" pitchFamily="49" charset="-122"/>
              </a:rPr>
              <a:t>向系统申请的，链表的表元个数可按需要增减。</a:t>
            </a:r>
          </a:p>
          <a:p>
            <a:pPr marL="0" indent="0" eaLnBrk="1" hangingPunct="1">
              <a:buFont typeface="Monotype Sorts" pitchFamily="2" charset="2"/>
              <a:buNone/>
              <a:defRPr/>
            </a:pPr>
            <a:r>
              <a:rPr lang="en-US" altLang="zh-CN" sz="2800" b="1" dirty="0">
                <a:latin typeface="楷体_GB2312" pitchFamily="49" charset="-122"/>
                <a:ea typeface="楷体_GB2312" pitchFamily="49" charset="-122"/>
              </a:rPr>
              <a:t>(2)</a:t>
            </a:r>
            <a:r>
              <a:rPr lang="zh-CN" altLang="en-US" sz="2800" b="1" dirty="0">
                <a:latin typeface="楷体_GB2312" pitchFamily="49" charset="-122"/>
                <a:ea typeface="楷体_GB2312" pitchFamily="49" charset="-122"/>
              </a:rPr>
              <a:t>数组的元素顺序关系由元素在数组中的下标确定，链表表元</a:t>
            </a:r>
            <a:r>
              <a:rPr lang="zh-CN" altLang="en-US" sz="2800" b="1" dirty="0">
                <a:solidFill>
                  <a:srgbClr val="FF0000"/>
                </a:solidFill>
                <a:latin typeface="楷体_GB2312" pitchFamily="49" charset="-122"/>
                <a:ea typeface="楷体_GB2312" pitchFamily="49" charset="-122"/>
              </a:rPr>
              <a:t>顺序关系</a:t>
            </a:r>
            <a:r>
              <a:rPr lang="zh-CN" altLang="en-US" sz="2800" b="1" dirty="0">
                <a:latin typeface="楷体_GB2312" pitchFamily="49" charset="-122"/>
                <a:ea typeface="楷体_GB2312" pitchFamily="49" charset="-122"/>
              </a:rPr>
              <a:t>由表元的</a:t>
            </a:r>
            <a:r>
              <a:rPr lang="zh-CN" altLang="en-US" sz="2800" b="1" dirty="0">
                <a:solidFill>
                  <a:srgbClr val="FF0000"/>
                </a:solidFill>
                <a:latin typeface="楷体_GB2312" pitchFamily="49" charset="-122"/>
                <a:ea typeface="楷体_GB2312" pitchFamily="49" charset="-122"/>
              </a:rPr>
              <a:t>指针实现</a:t>
            </a:r>
            <a:r>
              <a:rPr lang="zh-CN" altLang="en-US" sz="28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800" b="1" dirty="0">
                <a:latin typeface="楷体_GB2312" pitchFamily="49" charset="-122"/>
                <a:ea typeface="楷体_GB2312" pitchFamily="49" charset="-122"/>
              </a:rPr>
              <a:t>(3)</a:t>
            </a:r>
            <a:r>
              <a:rPr lang="zh-CN" altLang="en-US" sz="2800" b="1" dirty="0">
                <a:latin typeface="楷体_GB2312" pitchFamily="49" charset="-122"/>
                <a:ea typeface="楷体_GB2312" pitchFamily="49" charset="-122"/>
              </a:rPr>
              <a:t>在数组中插入或删除表元，要移动部分表元的存储位置。在链表中插入或删除表元，不要移动表元，仅</a:t>
            </a:r>
            <a:r>
              <a:rPr lang="zh-CN" altLang="en-US" sz="2800" b="1" dirty="0">
                <a:solidFill>
                  <a:srgbClr val="FF0000"/>
                </a:solidFill>
                <a:latin typeface="楷体_GB2312" pitchFamily="49" charset="-122"/>
                <a:ea typeface="楷体_GB2312" pitchFamily="49" charset="-122"/>
              </a:rPr>
              <a:t>改变</a:t>
            </a:r>
            <a:r>
              <a:rPr lang="zh-CN" altLang="en-US" sz="2800" b="1" dirty="0">
                <a:latin typeface="楷体_GB2312" pitchFamily="49" charset="-122"/>
                <a:ea typeface="楷体_GB2312" pitchFamily="49" charset="-122"/>
              </a:rPr>
              <a:t>表元的</a:t>
            </a:r>
            <a:r>
              <a:rPr lang="zh-CN" altLang="en-US" sz="2800" b="1" dirty="0">
                <a:solidFill>
                  <a:srgbClr val="FF0000"/>
                </a:solidFill>
                <a:latin typeface="楷体_GB2312" pitchFamily="49" charset="-122"/>
                <a:ea typeface="楷体_GB2312" pitchFamily="49" charset="-122"/>
              </a:rPr>
              <a:t>指针</a:t>
            </a:r>
            <a:r>
              <a:rPr lang="zh-CN" altLang="en-US" sz="2800" b="1" dirty="0">
                <a:latin typeface="楷体_GB2312" pitchFamily="49" charset="-122"/>
                <a:ea typeface="楷体_GB2312" pitchFamily="49" charset="-122"/>
              </a:rPr>
              <a:t>指向即可。</a:t>
            </a:r>
            <a:r>
              <a:rPr lang="zh-CN" altLang="en-US" sz="2800" dirty="0">
                <a:latin typeface="楷体_GB2312" pitchFamily="49" charset="-122"/>
                <a:ea typeface="楷体_GB2312" pitchFamily="49" charset="-122"/>
              </a:rPr>
              <a:t> </a:t>
            </a:r>
          </a:p>
        </p:txBody>
      </p:sp>
      <p:sp>
        <p:nvSpPr>
          <p:cNvPr id="6" name="灯片编号占位符 5"/>
          <p:cNvSpPr>
            <a:spLocks noGrp="1"/>
          </p:cNvSpPr>
          <p:nvPr>
            <p:ph type="sldNum" sz="quarter" idx="12"/>
          </p:nvPr>
        </p:nvSpPr>
        <p:spPr/>
        <p:txBody>
          <a:bodyPr/>
          <a:lstStyle/>
          <a:p>
            <a:pPr>
              <a:defRPr/>
            </a:pPr>
            <a:fld id="{0861360D-8F80-47C8-82B4-4539648A0815}" type="slidenum">
              <a:rPr lang="en-US" altLang="zh-CN"/>
              <a:pPr>
                <a:defRPr/>
              </a:pPr>
              <a:t>55</a:t>
            </a:fld>
            <a:endParaRPr lang="en-US" altLang="zh-CN"/>
          </a:p>
        </p:txBody>
      </p:sp>
      <p:sp>
        <p:nvSpPr>
          <p:cNvPr id="64516" name="Rectangle 3"/>
          <p:cNvSpPr>
            <a:spLocks noChangeArrowheads="1"/>
          </p:cNvSpPr>
          <p:nvPr/>
        </p:nvSpPr>
        <p:spPr bwMode="auto">
          <a:xfrm>
            <a:off x="0" y="3038475"/>
            <a:ext cx="9144000" cy="0"/>
          </a:xfrm>
          <a:prstGeom prst="rect">
            <a:avLst/>
          </a:prstGeom>
          <a:noFill/>
          <a:ln w="9525">
            <a:noFill/>
            <a:miter lim="800000"/>
            <a:headEnd/>
            <a:tailEnd/>
          </a:ln>
        </p:spPr>
        <p:txBody>
          <a:bodyPr wrap="none" anchor="ctr">
            <a:spAutoFit/>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60482">
                                            <p:txEl>
                                              <p:pRg st="3" end="3"/>
                                            </p:txEl>
                                          </p:spTgt>
                                        </p:tgtEl>
                                        <p:attrNameLst>
                                          <p:attrName>style.visibility</p:attrName>
                                        </p:attrNameLst>
                                      </p:cBhvr>
                                      <p:to>
                                        <p:strVal val="visible"/>
                                      </p:to>
                                    </p:set>
                                    <p:anim calcmode="lin" valueType="num">
                                      <p:cBhvr additive="base">
                                        <p:cTn id="7" dur="500" fill="hold"/>
                                        <p:tgtEl>
                                          <p:spTgt spid="660482">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6048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60482">
                                            <p:txEl>
                                              <p:pRg st="4" end="4"/>
                                            </p:txEl>
                                          </p:spTgt>
                                        </p:tgtEl>
                                        <p:attrNameLst>
                                          <p:attrName>style.visibility</p:attrName>
                                        </p:attrNameLst>
                                      </p:cBhvr>
                                      <p:to>
                                        <p:strVal val="visible"/>
                                      </p:to>
                                    </p:set>
                                    <p:anim calcmode="lin" valueType="num">
                                      <p:cBhvr additive="base">
                                        <p:cTn id="13" dur="500" fill="hold"/>
                                        <p:tgtEl>
                                          <p:spTgt spid="660482">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6048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1506" name="Rectangle 2"/>
          <p:cNvSpPr>
            <a:spLocks noGrp="1" noChangeArrowheads="1"/>
          </p:cNvSpPr>
          <p:nvPr>
            <p:ph idx="1"/>
          </p:nvPr>
        </p:nvSpPr>
        <p:spPr>
          <a:xfrm>
            <a:off x="250825" y="476250"/>
            <a:ext cx="8497888" cy="5616575"/>
          </a:xfrm>
        </p:spPr>
        <p:txBody>
          <a:bodyPr>
            <a:normAutofit/>
          </a:bodyPr>
          <a:lstStyle/>
          <a:p>
            <a:pPr marL="0" indent="0" algn="just" eaLnBrk="1" hangingPunct="1">
              <a:lnSpc>
                <a:spcPct val="110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如何实现链表</a:t>
            </a:r>
            <a:r>
              <a:rPr lang="en-US" altLang="zh-CN" sz="2800" b="1" dirty="0">
                <a:latin typeface="楷体_GB2312" pitchFamily="49" charset="-122"/>
                <a:ea typeface="楷体_GB2312" pitchFamily="49" charset="-122"/>
              </a:rPr>
              <a:t>?</a:t>
            </a:r>
          </a:p>
          <a:p>
            <a:pPr marL="0" indent="0" algn="just" eaLnBrk="1" hangingPunct="1">
              <a:lnSpc>
                <a:spcPct val="110000"/>
              </a:lnSpc>
              <a:buClr>
                <a:srgbClr val="FF6600"/>
              </a:buClr>
              <a:buSzPct val="55000"/>
              <a:buFont typeface="Wingdings" pitchFamily="2" charset="2"/>
              <a:buNone/>
              <a:defRPr/>
            </a:pPr>
            <a:r>
              <a:rPr lang="en-US" altLang="zh-CN" sz="2800" b="1" dirty="0">
                <a:latin typeface="楷体_GB2312" pitchFamily="49" charset="-122"/>
                <a:ea typeface="楷体_GB2312" pitchFamily="49" charset="-122"/>
              </a:rPr>
              <a:t>1.</a:t>
            </a:r>
            <a:r>
              <a:rPr lang="zh-CN" altLang="en-US" sz="2800" b="1" dirty="0">
                <a:latin typeface="楷体_GB2312" pitchFamily="49" charset="-122"/>
                <a:ea typeface="楷体_GB2312" pitchFamily="49" charset="-122"/>
              </a:rPr>
              <a:t>数据对象要求</a:t>
            </a:r>
            <a:r>
              <a:rPr lang="en-US" altLang="zh-CN" sz="2800" b="1" dirty="0">
                <a:latin typeface="楷体_GB2312" pitchFamily="49" charset="-122"/>
                <a:ea typeface="楷体_GB2312" pitchFamily="49" charset="-122"/>
              </a:rPr>
              <a:t>:</a:t>
            </a:r>
            <a:endParaRPr lang="zh-CN" altLang="en-US" sz="2800" b="1" dirty="0">
              <a:latin typeface="楷体_GB2312" pitchFamily="49" charset="-122"/>
              <a:ea typeface="楷体_GB2312" pitchFamily="49" charset="-122"/>
            </a:endParaRP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动态数据结构中的数据对象是一种结构变量，有一些成员存储数据信息，还有存储指针的成员。最简单情况是结构包含有指向与自己同样结构的指针。例如</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struct</a:t>
            </a: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intNode</a:t>
            </a:r>
            <a:r>
              <a:rPr lang="en-US" altLang="zh-CN" sz="2800" b="1" dirty="0">
                <a:latin typeface="楷体_GB2312" pitchFamily="49" charset="-122"/>
                <a:ea typeface="楷体_GB2312" pitchFamily="49" charset="-122"/>
              </a:rPr>
              <a:t>  /* </a:t>
            </a:r>
            <a:r>
              <a:rPr lang="zh-CN" altLang="en-US" sz="2800" b="1" dirty="0">
                <a:latin typeface="楷体_GB2312" pitchFamily="49" charset="-122"/>
                <a:ea typeface="楷体_GB2312" pitchFamily="49" charset="-122"/>
              </a:rPr>
              <a:t>整数链表表元类型 *</a:t>
            </a:r>
            <a:r>
              <a:rPr lang="en-US" altLang="zh-CN" sz="28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800" b="1" dirty="0">
                <a:latin typeface="楷体_GB2312" pitchFamily="49" charset="-122"/>
                <a:ea typeface="楷体_GB2312" pitchFamily="49" charset="-122"/>
              </a:rPr>
              <a:t>  {  </a:t>
            </a:r>
            <a:r>
              <a:rPr lang="en-US" altLang="zh-CN" sz="2800" b="1" dirty="0" err="1">
                <a:latin typeface="楷体_GB2312" pitchFamily="49" charset="-122"/>
                <a:ea typeface="楷体_GB2312" pitchFamily="49" charset="-122"/>
              </a:rPr>
              <a:t>int</a:t>
            </a:r>
            <a:r>
              <a:rPr lang="en-US" altLang="zh-CN" sz="2800" b="1" dirty="0">
                <a:latin typeface="楷体_GB2312" pitchFamily="49" charset="-122"/>
                <a:ea typeface="楷体_GB2312" pitchFamily="49" charset="-122"/>
              </a:rPr>
              <a:t> value ;  /* </a:t>
            </a:r>
            <a:r>
              <a:rPr lang="zh-CN" altLang="en-US" sz="2800" b="1" dirty="0">
                <a:latin typeface="楷体_GB2312" pitchFamily="49" charset="-122"/>
                <a:ea typeface="楷体_GB2312" pitchFamily="49" charset="-122"/>
              </a:rPr>
              <a:t>存放整数 *</a:t>
            </a:r>
            <a:r>
              <a:rPr lang="en-US" altLang="zh-CN" sz="28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800" b="1" dirty="0">
                <a:latin typeface="楷体_GB2312" pitchFamily="49" charset="-122"/>
                <a:ea typeface="楷体_GB2312" pitchFamily="49" charset="-122"/>
              </a:rPr>
              <a:t>     </a:t>
            </a:r>
            <a:r>
              <a:rPr lang="en-US" altLang="zh-CN" sz="2800" b="1" dirty="0" err="1">
                <a:latin typeface="楷体_GB2312" pitchFamily="49" charset="-122"/>
                <a:ea typeface="楷体_GB2312" pitchFamily="49" charset="-122"/>
              </a:rPr>
              <a:t>intNode</a:t>
            </a:r>
            <a:r>
              <a:rPr lang="en-US" altLang="zh-CN" sz="2800" b="1" dirty="0">
                <a:latin typeface="楷体_GB2312" pitchFamily="49" charset="-122"/>
                <a:ea typeface="楷体_GB2312" pitchFamily="49" charset="-122"/>
              </a:rPr>
              <a:t> *next ; /* </a:t>
            </a:r>
            <a:r>
              <a:rPr lang="zh-CN" altLang="en-US" sz="2800" b="1" dirty="0">
                <a:latin typeface="楷体_GB2312" pitchFamily="49" charset="-122"/>
                <a:ea typeface="楷体_GB2312" pitchFamily="49" charset="-122"/>
              </a:rPr>
              <a:t>存放后继表元的指针 *</a:t>
            </a:r>
            <a:r>
              <a:rPr lang="en-US" altLang="zh-CN" sz="28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800" b="1" dirty="0">
                <a:latin typeface="楷体_GB2312" pitchFamily="49" charset="-122"/>
                <a:ea typeface="楷体_GB2312" pitchFamily="49" charset="-122"/>
              </a:rPr>
              <a:t>   };</a:t>
            </a:r>
          </a:p>
        </p:txBody>
      </p:sp>
      <p:sp>
        <p:nvSpPr>
          <p:cNvPr id="6" name="灯片编号占位符 5"/>
          <p:cNvSpPr>
            <a:spLocks noGrp="1"/>
          </p:cNvSpPr>
          <p:nvPr>
            <p:ph type="sldNum" sz="quarter" idx="12"/>
          </p:nvPr>
        </p:nvSpPr>
        <p:spPr/>
        <p:txBody>
          <a:bodyPr/>
          <a:lstStyle/>
          <a:p>
            <a:pPr>
              <a:defRPr/>
            </a:pPr>
            <a:fld id="{D57F6BB5-A4B4-4176-A924-605B7EFDD94F}" type="slidenum">
              <a:rPr lang="en-US" altLang="zh-CN"/>
              <a:pPr>
                <a:defRPr/>
              </a:pPr>
              <a:t>56</a:t>
            </a:fld>
            <a:endParaRPr lang="en-US" altLang="zh-CN"/>
          </a:p>
        </p:txBody>
      </p:sp>
      <p:sp>
        <p:nvSpPr>
          <p:cNvPr id="65540" name="Rectangle 3"/>
          <p:cNvSpPr>
            <a:spLocks noChangeArrowheads="1"/>
          </p:cNvSpPr>
          <p:nvPr/>
        </p:nvSpPr>
        <p:spPr bwMode="auto">
          <a:xfrm>
            <a:off x="0" y="3038475"/>
            <a:ext cx="9144000" cy="0"/>
          </a:xfrm>
          <a:prstGeom prst="rect">
            <a:avLst/>
          </a:prstGeom>
          <a:noFill/>
          <a:ln w="9525">
            <a:noFill/>
            <a:miter lim="800000"/>
            <a:headEnd/>
            <a:tailEnd/>
          </a:ln>
        </p:spPr>
        <p:txBody>
          <a:bodyPr wrap="none" anchor="ctr">
            <a:spAutoFit/>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61506">
                                            <p:txEl>
                                              <p:pRg st="1" end="1"/>
                                            </p:txEl>
                                          </p:spTgt>
                                        </p:tgtEl>
                                        <p:attrNameLst>
                                          <p:attrName>style.visibility</p:attrName>
                                        </p:attrNameLst>
                                      </p:cBhvr>
                                      <p:to>
                                        <p:strVal val="visible"/>
                                      </p:to>
                                    </p:set>
                                    <p:anim calcmode="lin" valueType="num">
                                      <p:cBhvr additive="base">
                                        <p:cTn id="7" dur="500" fill="hold"/>
                                        <p:tgtEl>
                                          <p:spTgt spid="66150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61506">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61506">
                                            <p:txEl>
                                              <p:pRg st="2" end="2"/>
                                            </p:txEl>
                                          </p:spTgt>
                                        </p:tgtEl>
                                        <p:attrNameLst>
                                          <p:attrName>style.visibility</p:attrName>
                                        </p:attrNameLst>
                                      </p:cBhvr>
                                      <p:to>
                                        <p:strVal val="visible"/>
                                      </p:to>
                                    </p:set>
                                    <p:anim calcmode="lin" valueType="num">
                                      <p:cBhvr additive="base">
                                        <p:cTn id="11" dur="500" fill="hold"/>
                                        <p:tgtEl>
                                          <p:spTgt spid="661506">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61506">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61506">
                                            <p:txEl>
                                              <p:pRg st="3" end="3"/>
                                            </p:txEl>
                                          </p:spTgt>
                                        </p:tgtEl>
                                        <p:attrNameLst>
                                          <p:attrName>style.visibility</p:attrName>
                                        </p:attrNameLst>
                                      </p:cBhvr>
                                      <p:to>
                                        <p:strVal val="visible"/>
                                      </p:to>
                                    </p:set>
                                    <p:anim calcmode="lin" valueType="num">
                                      <p:cBhvr additive="base">
                                        <p:cTn id="15" dur="500" fill="hold"/>
                                        <p:tgtEl>
                                          <p:spTgt spid="661506">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61506">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61506">
                                            <p:txEl>
                                              <p:pRg st="4" end="4"/>
                                            </p:txEl>
                                          </p:spTgt>
                                        </p:tgtEl>
                                        <p:attrNameLst>
                                          <p:attrName>style.visibility</p:attrName>
                                        </p:attrNameLst>
                                      </p:cBhvr>
                                      <p:to>
                                        <p:strVal val="visible"/>
                                      </p:to>
                                    </p:set>
                                    <p:anim calcmode="lin" valueType="num">
                                      <p:cBhvr additive="base">
                                        <p:cTn id="19" dur="500" fill="hold"/>
                                        <p:tgtEl>
                                          <p:spTgt spid="661506">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61506">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61506">
                                            <p:txEl>
                                              <p:pRg st="5" end="5"/>
                                            </p:txEl>
                                          </p:spTgt>
                                        </p:tgtEl>
                                        <p:attrNameLst>
                                          <p:attrName>style.visibility</p:attrName>
                                        </p:attrNameLst>
                                      </p:cBhvr>
                                      <p:to>
                                        <p:strVal val="visible"/>
                                      </p:to>
                                    </p:set>
                                    <p:anim calcmode="lin" valueType="num">
                                      <p:cBhvr additive="base">
                                        <p:cTn id="23" dur="500" fill="hold"/>
                                        <p:tgtEl>
                                          <p:spTgt spid="661506">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61506">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661506">
                                            <p:txEl>
                                              <p:pRg st="6" end="6"/>
                                            </p:txEl>
                                          </p:spTgt>
                                        </p:tgtEl>
                                        <p:attrNameLst>
                                          <p:attrName>style.visibility</p:attrName>
                                        </p:attrNameLst>
                                      </p:cBhvr>
                                      <p:to>
                                        <p:strVal val="visible"/>
                                      </p:to>
                                    </p:set>
                                    <p:anim calcmode="lin" valueType="num">
                                      <p:cBhvr additive="base">
                                        <p:cTn id="27" dur="500" fill="hold"/>
                                        <p:tgtEl>
                                          <p:spTgt spid="661506">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6150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2530" name="Rectangle 2"/>
          <p:cNvSpPr>
            <a:spLocks noGrp="1" noChangeArrowheads="1"/>
          </p:cNvSpPr>
          <p:nvPr>
            <p:ph idx="1"/>
          </p:nvPr>
        </p:nvSpPr>
        <p:spPr>
          <a:xfrm>
            <a:off x="285720" y="1142984"/>
            <a:ext cx="8497888" cy="4595824"/>
          </a:xfrm>
        </p:spPr>
        <p:txBody>
          <a:bodyPr>
            <a:normAutofit/>
          </a:bodyPr>
          <a:lstStyle/>
          <a:p>
            <a:pPr marL="0" indent="0" eaLnBrk="1" hangingPunct="1">
              <a:buFont typeface="Monotype Sorts" pitchFamily="2" charset="2"/>
              <a:buNone/>
              <a:defRPr/>
            </a:pPr>
            <a:r>
              <a:rPr lang="zh-CN" altLang="en-US" sz="2800" b="1" dirty="0">
                <a:latin typeface="楷体_GB2312" pitchFamily="49" charset="-122"/>
                <a:ea typeface="楷体_GB2312" pitchFamily="49" charset="-122"/>
              </a:rPr>
              <a:t>在结构类型</a:t>
            </a:r>
            <a:r>
              <a:rPr lang="en-US" altLang="zh-CN" sz="2800" b="1" dirty="0" err="1">
                <a:latin typeface="楷体_GB2312" pitchFamily="49" charset="-122"/>
                <a:ea typeface="楷体_GB2312" pitchFamily="49" charset="-122"/>
              </a:rPr>
              <a:t>intNode</a:t>
            </a:r>
            <a:r>
              <a:rPr lang="zh-CN" altLang="en-US" sz="2800" b="1" dirty="0">
                <a:latin typeface="楷体_GB2312" pitchFamily="49" charset="-122"/>
                <a:ea typeface="楷体_GB2312" pitchFamily="49" charset="-122"/>
              </a:rPr>
              <a:t>中，有两个成员，</a:t>
            </a:r>
            <a:r>
              <a:rPr lang="en-US" altLang="zh-CN" sz="2800" b="1" dirty="0">
                <a:latin typeface="楷体_GB2312" pitchFamily="49" charset="-122"/>
                <a:ea typeface="楷体_GB2312" pitchFamily="49" charset="-122"/>
              </a:rPr>
              <a:t>value</a:t>
            </a:r>
            <a:r>
              <a:rPr lang="zh-CN" altLang="en-US" sz="2800" b="1" dirty="0">
                <a:latin typeface="楷体_GB2312" pitchFamily="49" charset="-122"/>
                <a:ea typeface="楷体_GB2312" pitchFamily="49" charset="-122"/>
              </a:rPr>
              <a:t>和指向后继表元的指针成员</a:t>
            </a:r>
            <a:r>
              <a:rPr lang="en-US" altLang="zh-CN" sz="2800" b="1" dirty="0">
                <a:latin typeface="楷体_GB2312" pitchFamily="49" charset="-122"/>
                <a:ea typeface="楷体_GB2312" pitchFamily="49" charset="-122"/>
              </a:rPr>
              <a:t>next</a:t>
            </a:r>
            <a:r>
              <a:rPr lang="zh-CN" altLang="en-US" sz="2800" b="1" dirty="0">
                <a:latin typeface="楷体_GB2312" pitchFamily="49" charset="-122"/>
                <a:ea typeface="楷体_GB2312" pitchFamily="49" charset="-122"/>
              </a:rPr>
              <a:t>。其中指针成员</a:t>
            </a:r>
            <a:r>
              <a:rPr lang="en-US" altLang="zh-CN" sz="2800" b="1" dirty="0">
                <a:latin typeface="楷体_GB2312" pitchFamily="49" charset="-122"/>
                <a:ea typeface="楷体_GB2312" pitchFamily="49" charset="-122"/>
              </a:rPr>
              <a:t>next</a:t>
            </a:r>
            <a:r>
              <a:rPr lang="zh-CN" altLang="en-US" sz="2800" b="1" dirty="0">
                <a:latin typeface="楷体_GB2312" pitchFamily="49" charset="-122"/>
                <a:ea typeface="楷体_GB2312" pitchFamily="49" charset="-122"/>
              </a:rPr>
              <a:t>能指向的结构类型就是正在定义的</a:t>
            </a:r>
            <a:r>
              <a:rPr lang="en-US" altLang="zh-CN" sz="2800" b="1" dirty="0" err="1">
                <a:latin typeface="楷体_GB2312" pitchFamily="49" charset="-122"/>
                <a:ea typeface="楷体_GB2312" pitchFamily="49" charset="-122"/>
              </a:rPr>
              <a:t>intNode</a:t>
            </a:r>
            <a:r>
              <a:rPr lang="zh-CN" altLang="en-US" sz="2800" b="1" dirty="0">
                <a:latin typeface="楷体_GB2312" pitchFamily="49" charset="-122"/>
                <a:ea typeface="楷体_GB2312" pitchFamily="49" charset="-122"/>
              </a:rPr>
              <a:t>。</a:t>
            </a:r>
            <a:r>
              <a:rPr lang="zh-CN" altLang="en-US" sz="2800" b="1" dirty="0">
                <a:solidFill>
                  <a:srgbClr val="C00000"/>
                </a:solidFill>
                <a:latin typeface="楷体_GB2312" pitchFamily="49" charset="-122"/>
                <a:ea typeface="楷体_GB2312" pitchFamily="49" charset="-122"/>
              </a:rPr>
              <a:t>这种结构又称为自引用结构。</a:t>
            </a:r>
            <a:r>
              <a:rPr lang="zh-CN" altLang="en-US" sz="2800" b="1" dirty="0">
                <a:latin typeface="楷体_GB2312" pitchFamily="49" charset="-122"/>
                <a:ea typeface="楷体_GB2312" pitchFamily="49" charset="-122"/>
              </a:rPr>
              <a:t>利用指针成员</a:t>
            </a:r>
            <a:r>
              <a:rPr lang="en-US" altLang="zh-CN" sz="2800" b="1" dirty="0">
                <a:latin typeface="楷体_GB2312" pitchFamily="49" charset="-122"/>
                <a:ea typeface="楷体_GB2312" pitchFamily="49" charset="-122"/>
              </a:rPr>
              <a:t>next</a:t>
            </a:r>
            <a:r>
              <a:rPr lang="zh-CN" altLang="en-US" sz="2800" b="1" dirty="0">
                <a:latin typeface="楷体_GB2312" pitchFamily="49" charset="-122"/>
                <a:ea typeface="楷体_GB2312" pitchFamily="49" charset="-122"/>
              </a:rPr>
              <a:t>，可把一个</a:t>
            </a:r>
            <a:r>
              <a:rPr lang="en-US" altLang="zh-CN" sz="2800" b="1" dirty="0" err="1">
                <a:latin typeface="楷体_GB2312" pitchFamily="49" charset="-122"/>
                <a:ea typeface="楷体_GB2312" pitchFamily="49" charset="-122"/>
              </a:rPr>
              <a:t>intNode</a:t>
            </a:r>
            <a:r>
              <a:rPr lang="zh-CN" altLang="en-US" sz="2800" b="1" dirty="0">
                <a:latin typeface="楷体_GB2312" pitchFamily="49" charset="-122"/>
                <a:ea typeface="楷体_GB2312" pitchFamily="49" charset="-122"/>
              </a:rPr>
              <a:t>类型的结构与另一个同类型的结构链接起来，用于描述动态数据结构中两数据对象之间的关系。</a:t>
            </a:r>
            <a:endParaRPr lang="en-US" altLang="zh-CN" sz="2800" b="1" dirty="0">
              <a:latin typeface="楷体_GB2312" pitchFamily="49" charset="-122"/>
              <a:ea typeface="楷体_GB2312" pitchFamily="49" charset="-122"/>
            </a:endParaRPr>
          </a:p>
          <a:p>
            <a:pPr marL="0" indent="0" eaLnBrk="1" hangingPunct="1">
              <a:buFont typeface="Monotype Sorts" pitchFamily="2" charset="2"/>
              <a:buNone/>
              <a:defRPr/>
            </a:pPr>
            <a:endParaRPr lang="en-US" altLang="zh-CN" sz="2800" b="1" dirty="0">
              <a:latin typeface="楷体_GB2312" pitchFamily="49" charset="-122"/>
              <a:ea typeface="楷体_GB2312" pitchFamily="49" charset="-122"/>
            </a:endParaRP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注意，</a:t>
            </a:r>
            <a:r>
              <a:rPr lang="en-US" altLang="zh-CN" sz="2800" b="1" dirty="0">
                <a:latin typeface="楷体_GB2312" pitchFamily="49" charset="-122"/>
                <a:ea typeface="楷体_GB2312" pitchFamily="49" charset="-122"/>
              </a:rPr>
              <a:t>next</a:t>
            </a:r>
            <a:r>
              <a:rPr lang="zh-CN" altLang="en-US" sz="2800" b="1" dirty="0">
                <a:latin typeface="楷体_GB2312" pitchFamily="49" charset="-122"/>
                <a:ea typeface="楷体_GB2312" pitchFamily="49" charset="-122"/>
              </a:rPr>
              <a:t>的内存占用和</a:t>
            </a:r>
            <a:r>
              <a:rPr lang="en-US" altLang="zh-CN" sz="2800" b="1" dirty="0" err="1">
                <a:latin typeface="楷体_GB2312" pitchFamily="49" charset="-122"/>
                <a:ea typeface="楷体_GB2312" pitchFamily="49" charset="-122"/>
              </a:rPr>
              <a:t>intNode</a:t>
            </a:r>
            <a:r>
              <a:rPr lang="zh-CN" altLang="en-US" sz="2800" b="1" dirty="0">
                <a:latin typeface="楷体_GB2312" pitchFamily="49" charset="-122"/>
                <a:ea typeface="楷体_GB2312" pitchFamily="49" charset="-122"/>
              </a:rPr>
              <a:t>的所需内存大小无关</a:t>
            </a:r>
            <a:endParaRPr lang="en-US" altLang="zh-CN" sz="2800" b="1" dirty="0">
              <a:latin typeface="楷体_GB2312" pitchFamily="49" charset="-122"/>
              <a:ea typeface="楷体_GB2312" pitchFamily="49" charset="-122"/>
            </a:endParaRPr>
          </a:p>
          <a:p>
            <a:pPr marL="0" indent="0" eaLnBrk="1" hangingPunct="1">
              <a:buFont typeface="Monotype Sorts" pitchFamily="2" charset="2"/>
              <a:buNone/>
              <a:defRPr/>
            </a:pPr>
            <a:endParaRPr lang="zh-CN" altLang="en-US" sz="2800" b="1" dirty="0">
              <a:solidFill>
                <a:srgbClr val="C00000"/>
              </a:solidFill>
              <a:latin typeface="楷体_GB2312" pitchFamily="49" charset="-122"/>
              <a:ea typeface="楷体_GB2312" pitchFamily="49" charset="-122"/>
            </a:endParaRPr>
          </a:p>
        </p:txBody>
      </p:sp>
      <p:sp>
        <p:nvSpPr>
          <p:cNvPr id="6" name="灯片编号占位符 5"/>
          <p:cNvSpPr>
            <a:spLocks noGrp="1"/>
          </p:cNvSpPr>
          <p:nvPr>
            <p:ph type="sldNum" sz="quarter" idx="12"/>
          </p:nvPr>
        </p:nvSpPr>
        <p:spPr/>
        <p:txBody>
          <a:bodyPr/>
          <a:lstStyle/>
          <a:p>
            <a:pPr>
              <a:defRPr/>
            </a:pPr>
            <a:fld id="{846539DE-50E9-4A72-ABBC-3BCCEF97E6F7}" type="slidenum">
              <a:rPr lang="en-US" altLang="zh-CN"/>
              <a:pPr>
                <a:defRPr/>
              </a:pPr>
              <a:t>57</a:t>
            </a:fld>
            <a:endParaRPr lang="en-US" altLang="zh-CN"/>
          </a:p>
        </p:txBody>
      </p:sp>
      <p:sp>
        <p:nvSpPr>
          <p:cNvPr id="66564" name="Rectangle 3"/>
          <p:cNvSpPr>
            <a:spLocks noChangeArrowheads="1"/>
          </p:cNvSpPr>
          <p:nvPr/>
        </p:nvSpPr>
        <p:spPr bwMode="auto">
          <a:xfrm>
            <a:off x="0" y="3038475"/>
            <a:ext cx="9144000" cy="0"/>
          </a:xfrm>
          <a:prstGeom prst="rect">
            <a:avLst/>
          </a:prstGeom>
          <a:noFill/>
          <a:ln w="9525">
            <a:noFill/>
            <a:miter lim="800000"/>
            <a:headEnd/>
            <a:tailEnd/>
          </a:ln>
        </p:spPr>
        <p:txBody>
          <a:bodyPr wrap="none" anchor="ctr">
            <a:spAutoFit/>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62530">
                                            <p:txEl>
                                              <p:pRg st="2" end="2"/>
                                            </p:txEl>
                                          </p:spTgt>
                                        </p:tgtEl>
                                        <p:attrNameLst>
                                          <p:attrName>style.visibility</p:attrName>
                                        </p:attrNameLst>
                                      </p:cBhvr>
                                      <p:to>
                                        <p:strVal val="visible"/>
                                      </p:to>
                                    </p:set>
                                    <p:anim calcmode="lin" valueType="num">
                                      <p:cBhvr additive="base">
                                        <p:cTn id="7" dur="500" fill="hold"/>
                                        <p:tgtEl>
                                          <p:spTgt spid="662530">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6253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7410" name="Rectangle 2"/>
          <p:cNvSpPr>
            <a:spLocks noGrp="1" noChangeArrowheads="1"/>
          </p:cNvSpPr>
          <p:nvPr>
            <p:ph idx="1"/>
          </p:nvPr>
        </p:nvSpPr>
        <p:spPr>
          <a:xfrm>
            <a:off x="250825" y="404813"/>
            <a:ext cx="8497888" cy="5486400"/>
          </a:xfrm>
        </p:spPr>
        <p:txBody>
          <a:bodyPr>
            <a:normAutofit/>
          </a:bodyPr>
          <a:lstStyle/>
          <a:p>
            <a:pPr marL="0" indent="0" algn="just">
              <a:lnSpc>
                <a:spcPct val="110000"/>
              </a:lnSpc>
              <a:buClr>
                <a:srgbClr val="FF6600"/>
              </a:buClr>
              <a:buSzPct val="55000"/>
              <a:buNone/>
              <a:defRPr/>
            </a:pPr>
            <a:endParaRPr lang="en-US" altLang="zh-CN" sz="2800" b="1" dirty="0">
              <a:latin typeface="楷体_GB2312" pitchFamily="49" charset="-122"/>
              <a:ea typeface="楷体_GB2312" pitchFamily="49" charset="-122"/>
            </a:endParaRPr>
          </a:p>
          <a:p>
            <a:pPr marL="0" indent="0" algn="just">
              <a:lnSpc>
                <a:spcPct val="110000"/>
              </a:lnSpc>
              <a:buClr>
                <a:srgbClr val="FF6600"/>
              </a:buClr>
              <a:buSzPct val="55000"/>
              <a:buNone/>
              <a:defRPr/>
            </a:pPr>
            <a:r>
              <a:rPr lang="en-US" altLang="zh-CN" sz="2800" b="1" dirty="0">
                <a:latin typeface="楷体_GB2312" pitchFamily="49" charset="-122"/>
                <a:ea typeface="楷体_GB2312" pitchFamily="49" charset="-122"/>
              </a:rPr>
              <a:t>2.</a:t>
            </a:r>
            <a:r>
              <a:rPr lang="zh-CN" altLang="en-US" sz="2800" b="1" dirty="0">
                <a:latin typeface="楷体_GB2312" pitchFamily="49" charset="-122"/>
                <a:ea typeface="楷体_GB2312" pitchFamily="49" charset="-122"/>
              </a:rPr>
              <a:t>变量的动态生成</a:t>
            </a:r>
            <a:endParaRPr lang="en-US" altLang="zh-CN" sz="2800" b="1" dirty="0">
              <a:latin typeface="楷体_GB2312" pitchFamily="49" charset="-122"/>
              <a:ea typeface="楷体_GB2312" pitchFamily="49" charset="-122"/>
            </a:endParaRPr>
          </a:p>
          <a:p>
            <a:pPr marL="0" indent="0" algn="just">
              <a:lnSpc>
                <a:spcPct val="110000"/>
              </a:lnSpc>
              <a:buClr>
                <a:srgbClr val="FF6600"/>
              </a:buClr>
              <a:buSzPct val="55000"/>
              <a:buNone/>
              <a:defRPr/>
            </a:pPr>
            <a:endParaRPr lang="en-US" altLang="zh-CN" sz="2800" b="1" dirty="0">
              <a:latin typeface="楷体_GB2312" pitchFamily="49" charset="-122"/>
              <a:ea typeface="楷体_GB2312" pitchFamily="49" charset="-122"/>
            </a:endParaRPr>
          </a:p>
          <a:p>
            <a:pPr marL="0" indent="0" algn="just">
              <a:lnSpc>
                <a:spcPct val="110000"/>
              </a:lnSpc>
              <a:buClr>
                <a:srgbClr val="FF6600"/>
              </a:buClr>
              <a:buSzPct val="55000"/>
              <a:buNone/>
              <a:defRPr/>
            </a:pPr>
            <a:r>
              <a:rPr lang="zh-CN" altLang="en-US" sz="2800" b="1" dirty="0">
                <a:latin typeface="楷体_GB2312" pitchFamily="49" charset="-122"/>
                <a:ea typeface="楷体_GB2312" pitchFamily="49" charset="-122"/>
              </a:rPr>
              <a:t>变量需要可以动态的生成和释放</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使用</a:t>
            </a:r>
            <a:r>
              <a:rPr lang="en-US" altLang="zh-CN" sz="2800" b="1" dirty="0">
                <a:latin typeface="楷体_GB2312" pitchFamily="49" charset="-122"/>
                <a:ea typeface="楷体_GB2312" pitchFamily="49" charset="-122"/>
              </a:rPr>
              <a:t>malloc</a:t>
            </a:r>
            <a:r>
              <a:rPr lang="zh-CN" altLang="en-US" sz="2800" b="1" dirty="0">
                <a:latin typeface="楷体_GB2312" pitchFamily="49" charset="-122"/>
                <a:ea typeface="楷体_GB2312" pitchFamily="49" charset="-122"/>
              </a:rPr>
              <a:t>，</a:t>
            </a:r>
            <a:r>
              <a:rPr lang="en-US" altLang="zh-CN" sz="2800" b="1" dirty="0" err="1">
                <a:latin typeface="楷体_GB2312" pitchFamily="49" charset="-122"/>
                <a:ea typeface="楷体_GB2312" pitchFamily="49" charset="-122"/>
              </a:rPr>
              <a:t>calloc</a:t>
            </a:r>
            <a:r>
              <a:rPr lang="zh-CN" altLang="en-US" sz="2800" b="1" dirty="0">
                <a:latin typeface="楷体_GB2312" pitchFamily="49" charset="-122"/>
                <a:ea typeface="楷体_GB2312" pitchFamily="49" charset="-122"/>
              </a:rPr>
              <a:t>和</a:t>
            </a:r>
            <a:r>
              <a:rPr lang="en-US" altLang="zh-CN" sz="2800" b="1" dirty="0">
                <a:latin typeface="楷体_GB2312" pitchFamily="49" charset="-122"/>
                <a:ea typeface="楷体_GB2312" pitchFamily="49" charset="-122"/>
              </a:rPr>
              <a:t>free</a:t>
            </a:r>
            <a:r>
              <a:rPr lang="zh-CN" altLang="en-US" sz="2800" b="1" dirty="0">
                <a:latin typeface="楷体_GB2312" pitchFamily="49" charset="-122"/>
                <a:ea typeface="楷体_GB2312" pitchFamily="49" charset="-122"/>
              </a:rPr>
              <a:t>函数</a:t>
            </a:r>
            <a:endParaRPr lang="en-US" altLang="zh-CN" sz="2800" b="1" dirty="0">
              <a:latin typeface="楷体_GB2312" pitchFamily="49" charset="-122"/>
              <a:ea typeface="楷体_GB2312" pitchFamily="49" charset="-122"/>
            </a:endParaRPr>
          </a:p>
          <a:p>
            <a:pPr marL="0" indent="0" algn="just" eaLnBrk="1" hangingPunct="1">
              <a:lnSpc>
                <a:spcPct val="110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在</a:t>
            </a:r>
            <a:r>
              <a:rPr lang="en-US" altLang="zh-CN" sz="2800" b="1" dirty="0">
                <a:latin typeface="楷体_GB2312" pitchFamily="49" charset="-122"/>
                <a:ea typeface="楷体_GB2312" pitchFamily="49" charset="-122"/>
              </a:rPr>
              <a:t>C</a:t>
            </a:r>
            <a:r>
              <a:rPr lang="zh-CN" altLang="en-US" sz="2800" b="1" dirty="0">
                <a:latin typeface="楷体_GB2312" pitchFamily="49" charset="-122"/>
                <a:ea typeface="楷体_GB2312" pitchFamily="49" charset="-122"/>
              </a:rPr>
              <a:t>语言中，有</a:t>
            </a:r>
            <a:r>
              <a:rPr lang="en-US" altLang="zh-CN" sz="2800" b="1" dirty="0" err="1">
                <a:latin typeface="楷体_GB2312" pitchFamily="49" charset="-122"/>
                <a:ea typeface="楷体_GB2312" pitchFamily="49" charset="-122"/>
              </a:rPr>
              <a:t>malloc</a:t>
            </a:r>
            <a:r>
              <a:rPr lang="zh-CN" altLang="en-US" sz="2800" b="1" dirty="0">
                <a:latin typeface="楷体_GB2312" pitchFamily="49" charset="-122"/>
                <a:ea typeface="楷体_GB2312" pitchFamily="49" charset="-122"/>
              </a:rPr>
              <a:t>和</a:t>
            </a:r>
            <a:r>
              <a:rPr lang="en-US" altLang="zh-CN" sz="2800" b="1" dirty="0" err="1">
                <a:latin typeface="楷体_GB2312" pitchFamily="49" charset="-122"/>
                <a:ea typeface="楷体_GB2312" pitchFamily="49" charset="-122"/>
              </a:rPr>
              <a:t>calloc</a:t>
            </a:r>
            <a:r>
              <a:rPr lang="zh-CN" altLang="en-US" sz="2800" b="1" dirty="0">
                <a:latin typeface="楷体_GB2312" pitchFamily="49" charset="-122"/>
                <a:ea typeface="楷体_GB2312" pitchFamily="49" charset="-122"/>
              </a:rPr>
              <a:t>两个库函数用于生成动态变量，另有一个库函数</a:t>
            </a:r>
            <a:r>
              <a:rPr lang="en-US" altLang="zh-CN" sz="2800" b="1" dirty="0">
                <a:latin typeface="楷体_GB2312" pitchFamily="49" charset="-122"/>
                <a:ea typeface="楷体_GB2312" pitchFamily="49" charset="-122"/>
              </a:rPr>
              <a:t>free</a:t>
            </a:r>
            <a:r>
              <a:rPr lang="zh-CN" altLang="en-US" sz="2800" b="1" dirty="0">
                <a:latin typeface="楷体_GB2312" pitchFamily="49" charset="-122"/>
                <a:ea typeface="楷体_GB2312" pitchFamily="49" charset="-122"/>
              </a:rPr>
              <a:t>用于释放动态变量。</a:t>
            </a:r>
            <a:r>
              <a:rPr lang="zh-CN" altLang="en-US" sz="2800" dirty="0">
                <a:latin typeface="楷体_GB2312" pitchFamily="49" charset="-122"/>
                <a:ea typeface="楷体_GB2312" pitchFamily="49" charset="-122"/>
              </a:rPr>
              <a:t> </a:t>
            </a:r>
            <a:endParaRPr lang="zh-CN" altLang="en-US" sz="2800" b="1" dirty="0">
              <a:latin typeface="楷体_GB2312" pitchFamily="49" charset="-122"/>
              <a:ea typeface="楷体_GB2312" pitchFamily="49" charset="-122"/>
            </a:endParaRPr>
          </a:p>
        </p:txBody>
      </p:sp>
      <p:sp>
        <p:nvSpPr>
          <p:cNvPr id="6" name="灯片编号占位符 5"/>
          <p:cNvSpPr>
            <a:spLocks noGrp="1"/>
          </p:cNvSpPr>
          <p:nvPr>
            <p:ph type="sldNum" sz="quarter" idx="12"/>
          </p:nvPr>
        </p:nvSpPr>
        <p:spPr/>
        <p:txBody>
          <a:bodyPr/>
          <a:lstStyle/>
          <a:p>
            <a:pPr>
              <a:defRPr/>
            </a:pPr>
            <a:fld id="{162AA7AB-088E-4CD7-A78B-DDEAFB745D3E}" type="slidenum">
              <a:rPr lang="en-US" altLang="zh-CN"/>
              <a:pPr>
                <a:defRPr/>
              </a:pPr>
              <a:t>58</a:t>
            </a:fld>
            <a:endParaRPr lang="en-US" altLang="zh-CN"/>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7410" name="Rectangle 2"/>
          <p:cNvSpPr>
            <a:spLocks noGrp="1" noChangeArrowheads="1"/>
          </p:cNvSpPr>
          <p:nvPr>
            <p:ph idx="1"/>
          </p:nvPr>
        </p:nvSpPr>
        <p:spPr>
          <a:xfrm>
            <a:off x="250825" y="404813"/>
            <a:ext cx="8497888" cy="5486400"/>
          </a:xfrm>
        </p:spPr>
        <p:txBody>
          <a:bodyPr>
            <a:normAutofit/>
          </a:bodyPr>
          <a:lstStyle/>
          <a:p>
            <a:pPr marL="0" indent="0" algn="just">
              <a:lnSpc>
                <a:spcPct val="110000"/>
              </a:lnSpc>
              <a:buClr>
                <a:srgbClr val="FF6600"/>
              </a:buClr>
              <a:buSzPct val="55000"/>
              <a:buNone/>
              <a:defRPr/>
            </a:pPr>
            <a:r>
              <a:rPr lang="en-US" altLang="zh-CN" sz="2800" b="1" dirty="0" err="1">
                <a:latin typeface="楷体_GB2312" pitchFamily="49" charset="-122"/>
                <a:ea typeface="楷体_GB2312" pitchFamily="49" charset="-122"/>
              </a:rPr>
              <a:t>malloc</a:t>
            </a:r>
            <a:r>
              <a:rPr lang="en-US" altLang="zh-CN" sz="2800" b="1" dirty="0">
                <a:latin typeface="楷体_GB2312" pitchFamily="49" charset="-122"/>
                <a:ea typeface="楷体_GB2312" pitchFamily="49" charset="-122"/>
              </a:rPr>
              <a:t>(size)</a:t>
            </a:r>
          </a:p>
          <a:p>
            <a:pPr marL="0" indent="0" algn="just" eaLnBrk="1" hangingPunct="1">
              <a:lnSpc>
                <a:spcPct val="110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功能：从系统提供的动态存储区域中分配</a:t>
            </a:r>
            <a:r>
              <a:rPr lang="en-US" altLang="zh-CN" sz="2800" b="1" dirty="0">
                <a:latin typeface="楷体_GB2312" pitchFamily="49" charset="-122"/>
                <a:ea typeface="楷体_GB2312" pitchFamily="49" charset="-122"/>
              </a:rPr>
              <a:t>size</a:t>
            </a:r>
            <a:r>
              <a:rPr lang="zh-CN" altLang="en-US" sz="2800" b="1" dirty="0">
                <a:latin typeface="楷体_GB2312" pitchFamily="49" charset="-122"/>
                <a:ea typeface="楷体_GB2312" pitchFamily="49" charset="-122"/>
              </a:rPr>
              <a:t>个字节的连续空间，函数返回该连续空间的开始地址。如果因动态存储区域已分配完，而不能满足这次申请要求，函数将返回</a:t>
            </a:r>
            <a:r>
              <a:rPr lang="en-US" altLang="zh-CN" sz="2800" b="1" dirty="0">
                <a:latin typeface="楷体_GB2312" pitchFamily="49" charset="-122"/>
                <a:ea typeface="楷体_GB2312" pitchFamily="49" charset="-122"/>
              </a:rPr>
              <a:t>0(NULL)</a:t>
            </a:r>
            <a:r>
              <a:rPr lang="zh-CN" altLang="en-US" sz="2800" b="1" dirty="0">
                <a:latin typeface="楷体_GB2312" pitchFamily="49" charset="-122"/>
                <a:ea typeface="楷体_GB2312" pitchFamily="49" charset="-122"/>
              </a:rPr>
              <a:t>值。</a:t>
            </a:r>
          </a:p>
          <a:p>
            <a:pPr marL="0" indent="0" algn="just" eaLnBrk="1" hangingPunct="1">
              <a:lnSpc>
                <a:spcPct val="110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说明：函数</a:t>
            </a:r>
            <a:r>
              <a:rPr lang="en-US" altLang="zh-CN" sz="2800" b="1" dirty="0" err="1">
                <a:latin typeface="楷体_GB2312" pitchFamily="49" charset="-122"/>
                <a:ea typeface="楷体_GB2312" pitchFamily="49" charset="-122"/>
              </a:rPr>
              <a:t>malloc</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的返回值是</a:t>
            </a:r>
            <a:r>
              <a:rPr lang="zh-CN" altLang="en-US" sz="2800" b="1" dirty="0">
                <a:solidFill>
                  <a:srgbClr val="FF0000"/>
                </a:solidFill>
                <a:latin typeface="楷体_GB2312" pitchFamily="49" charset="-122"/>
                <a:ea typeface="楷体_GB2312" pitchFamily="49" charset="-122"/>
              </a:rPr>
              <a:t>无类型指针值</a:t>
            </a:r>
            <a:r>
              <a:rPr lang="zh-CN" altLang="en-US" sz="2800" b="1" dirty="0">
                <a:latin typeface="楷体_GB2312" pitchFamily="49" charset="-122"/>
                <a:ea typeface="楷体_GB2312" pitchFamily="49" charset="-122"/>
              </a:rPr>
              <a:t>，程序</a:t>
            </a:r>
            <a:r>
              <a:rPr lang="zh-CN" altLang="en-US" sz="2800" b="1" dirty="0">
                <a:solidFill>
                  <a:srgbClr val="FF0000"/>
                </a:solidFill>
                <a:latin typeface="楷体_GB2312" pitchFamily="49" charset="-122"/>
                <a:ea typeface="楷体_GB2312" pitchFamily="49" charset="-122"/>
              </a:rPr>
              <a:t>必须</a:t>
            </a:r>
            <a:r>
              <a:rPr lang="zh-CN" altLang="en-US" sz="2800" b="1" dirty="0">
                <a:latin typeface="楷体_GB2312" pitchFamily="49" charset="-122"/>
                <a:ea typeface="楷体_GB2312" pitchFamily="49" charset="-122"/>
              </a:rPr>
              <a:t>将该返回值</a:t>
            </a:r>
            <a:r>
              <a:rPr lang="zh-CN" altLang="en-US" sz="2800" b="1" dirty="0">
                <a:solidFill>
                  <a:srgbClr val="FF0000"/>
                </a:solidFill>
                <a:latin typeface="楷体_GB2312" pitchFamily="49" charset="-122"/>
                <a:ea typeface="楷体_GB2312" pitchFamily="49" charset="-122"/>
              </a:rPr>
              <a:t>强制转换</a:t>
            </a:r>
            <a:r>
              <a:rPr lang="zh-CN" altLang="en-US" sz="2800" b="1" dirty="0">
                <a:latin typeface="楷体_GB2312" pitchFamily="49" charset="-122"/>
                <a:ea typeface="楷体_GB2312" pitchFamily="49" charset="-122"/>
              </a:rPr>
              <a:t>成</a:t>
            </a:r>
            <a:r>
              <a:rPr lang="zh-CN" altLang="en-US" sz="2800" b="1" dirty="0">
                <a:solidFill>
                  <a:srgbClr val="FF0000"/>
                </a:solidFill>
                <a:latin typeface="楷体_GB2312" pitchFamily="49" charset="-122"/>
                <a:ea typeface="楷体_GB2312" pitchFamily="49" charset="-122"/>
              </a:rPr>
              <a:t>某种特定的指针</a:t>
            </a:r>
            <a:r>
              <a:rPr lang="zh-CN" altLang="en-US" sz="2800" b="1" dirty="0">
                <a:latin typeface="楷体_GB2312" pitchFamily="49" charset="-122"/>
                <a:ea typeface="楷体_GB2312" pitchFamily="49" charset="-122"/>
              </a:rPr>
              <a:t>类型。</a:t>
            </a:r>
          </a:p>
        </p:txBody>
      </p:sp>
      <p:sp>
        <p:nvSpPr>
          <p:cNvPr id="6" name="灯片编号占位符 5"/>
          <p:cNvSpPr>
            <a:spLocks noGrp="1"/>
          </p:cNvSpPr>
          <p:nvPr>
            <p:ph type="sldNum" sz="quarter" idx="12"/>
          </p:nvPr>
        </p:nvSpPr>
        <p:spPr/>
        <p:txBody>
          <a:bodyPr/>
          <a:lstStyle/>
          <a:p>
            <a:pPr>
              <a:defRPr/>
            </a:pPr>
            <a:fld id="{162AA7AB-088E-4CD7-A78B-DDEAFB745D3E}" type="slidenum">
              <a:rPr lang="en-US" altLang="zh-CN"/>
              <a:pPr>
                <a:defRPr/>
              </a:pPr>
              <a:t>59</a:t>
            </a:fld>
            <a:endParaRPr lang="en-US" altLang="zh-CN"/>
          </a:p>
        </p:txBody>
      </p:sp>
      <p:sp>
        <p:nvSpPr>
          <p:cNvPr id="657413" name="Text Box 5"/>
          <p:cNvSpPr txBox="1">
            <a:spLocks noChangeArrowheads="1"/>
          </p:cNvSpPr>
          <p:nvPr/>
        </p:nvSpPr>
        <p:spPr bwMode="auto">
          <a:xfrm>
            <a:off x="250825" y="4365104"/>
            <a:ext cx="8893175" cy="1938992"/>
          </a:xfrm>
          <a:prstGeom prst="rect">
            <a:avLst/>
          </a:prstGeom>
          <a:noFill/>
          <a:ln w="9525">
            <a:noFill/>
            <a:miter lim="800000"/>
            <a:headEnd/>
            <a:tailEnd/>
          </a:ln>
          <a:effectLst/>
        </p:spPr>
        <p:txBody>
          <a:bodyPr>
            <a:spAutoFit/>
          </a:bodyPr>
          <a:lstStyle/>
          <a:p>
            <a:pPr>
              <a:defRPr/>
            </a:pPr>
            <a:r>
              <a:rPr lang="zh-CN" altLang="en-US" b="1" dirty="0">
                <a:effectLst>
                  <a:outerShdw blurRad="38100" dist="38100" dir="2700000" algn="tl">
                    <a:srgbClr val="000000"/>
                  </a:outerShdw>
                </a:effectLst>
                <a:latin typeface="楷体_GB2312" pitchFamily="49" charset="-122"/>
                <a:ea typeface="楷体_GB2312" pitchFamily="49" charset="-122"/>
              </a:rPr>
              <a:t>例如：</a:t>
            </a:r>
            <a:endParaRPr lang="en-US" altLang="zh-CN" b="1" dirty="0">
              <a:effectLst>
                <a:outerShdw blurRad="38100" dist="38100" dir="2700000" algn="tl">
                  <a:srgbClr val="000000"/>
                </a:outerShdw>
              </a:effectLst>
              <a:latin typeface="楷体_GB2312" pitchFamily="49" charset="-122"/>
              <a:ea typeface="楷体_GB2312" pitchFamily="49" charset="-122"/>
            </a:endParaRPr>
          </a:p>
          <a:p>
            <a:pPr>
              <a:defRPr/>
            </a:pPr>
            <a:r>
              <a:rPr lang="en-US" altLang="zh-CN" b="1" dirty="0" err="1">
                <a:effectLst>
                  <a:outerShdw blurRad="38100" dist="38100" dir="2700000" algn="tl">
                    <a:srgbClr val="000000"/>
                  </a:outerShdw>
                </a:effectLst>
                <a:latin typeface="楷体_GB2312" pitchFamily="49" charset="-122"/>
                <a:ea typeface="楷体_GB2312" pitchFamily="49" charset="-122"/>
              </a:rPr>
              <a:t>intNode</a:t>
            </a:r>
            <a:r>
              <a:rPr lang="en-US" altLang="zh-CN" b="1" dirty="0">
                <a:effectLst>
                  <a:outerShdw blurRad="38100" dist="38100" dir="2700000" algn="tl">
                    <a:srgbClr val="000000"/>
                  </a:outerShdw>
                </a:effectLst>
                <a:latin typeface="楷体_GB2312" pitchFamily="49" charset="-122"/>
                <a:ea typeface="楷体_GB2312" pitchFamily="49" charset="-122"/>
              </a:rPr>
              <a:t> *</a:t>
            </a:r>
            <a:r>
              <a:rPr lang="en-US" altLang="zh-CN" b="1" dirty="0">
                <a:solidFill>
                  <a:srgbClr val="C00000"/>
                </a:solidFill>
                <a:effectLst>
                  <a:outerShdw blurRad="38100" dist="38100" dir="2700000" algn="tl">
                    <a:srgbClr val="000000"/>
                  </a:outerShdw>
                </a:effectLst>
                <a:latin typeface="楷体_GB2312" pitchFamily="49" charset="-122"/>
                <a:ea typeface="楷体_GB2312" pitchFamily="49" charset="-122"/>
              </a:rPr>
              <a:t>p;</a:t>
            </a:r>
          </a:p>
          <a:p>
            <a:pPr>
              <a:defRPr/>
            </a:pPr>
            <a:r>
              <a:rPr lang="en-US" altLang="zh-CN" b="1" dirty="0">
                <a:solidFill>
                  <a:srgbClr val="C00000"/>
                </a:solidFill>
                <a:effectLst>
                  <a:outerShdw blurRad="38100" dist="38100" dir="2700000" algn="tl">
                    <a:srgbClr val="000000"/>
                  </a:outerShdw>
                </a:effectLst>
                <a:latin typeface="楷体_GB2312" pitchFamily="49" charset="-122"/>
                <a:ea typeface="楷体_GB2312" pitchFamily="49" charset="-122"/>
              </a:rPr>
              <a:t>p=(</a:t>
            </a:r>
            <a:r>
              <a:rPr lang="en-US" altLang="zh-CN" b="1" dirty="0" err="1">
                <a:solidFill>
                  <a:srgbClr val="C00000"/>
                </a:solidFill>
                <a:effectLst>
                  <a:outerShdw blurRad="38100" dist="38100" dir="2700000" algn="tl">
                    <a:srgbClr val="000000"/>
                  </a:outerShdw>
                </a:effectLst>
                <a:latin typeface="楷体_GB2312" pitchFamily="49" charset="-122"/>
                <a:ea typeface="楷体_GB2312" pitchFamily="49" charset="-122"/>
              </a:rPr>
              <a:t>intNode</a:t>
            </a:r>
            <a:r>
              <a:rPr lang="en-US" altLang="zh-CN" b="1" dirty="0">
                <a:solidFill>
                  <a:srgbClr val="C00000"/>
                </a:solidFill>
                <a:effectLst>
                  <a:outerShdw blurRad="38100" dist="38100" dir="2700000" algn="tl">
                    <a:srgbClr val="000000"/>
                  </a:outerShdw>
                </a:effectLst>
                <a:latin typeface="楷体_GB2312" pitchFamily="49" charset="-122"/>
                <a:ea typeface="楷体_GB2312" pitchFamily="49" charset="-122"/>
              </a:rPr>
              <a:t>*)</a:t>
            </a:r>
            <a:r>
              <a:rPr lang="en-US" altLang="zh-CN" b="1" dirty="0" err="1">
                <a:solidFill>
                  <a:srgbClr val="C00000"/>
                </a:solidFill>
                <a:effectLst>
                  <a:outerShdw blurRad="38100" dist="38100" dir="2700000" algn="tl">
                    <a:srgbClr val="000000"/>
                  </a:outerShdw>
                </a:effectLst>
                <a:latin typeface="楷体_GB2312" pitchFamily="49" charset="-122"/>
                <a:ea typeface="楷体_GB2312" pitchFamily="49" charset="-122"/>
              </a:rPr>
              <a:t>malloc</a:t>
            </a:r>
            <a:r>
              <a:rPr lang="en-US" altLang="zh-CN" b="1" dirty="0">
                <a:solidFill>
                  <a:srgbClr val="C00000"/>
                </a:solidFill>
                <a:effectLst>
                  <a:outerShdw blurRad="38100" dist="38100" dir="2700000" algn="tl">
                    <a:srgbClr val="000000"/>
                  </a:outerShdw>
                </a:effectLst>
                <a:latin typeface="楷体_GB2312" pitchFamily="49" charset="-122"/>
                <a:ea typeface="楷体_GB2312" pitchFamily="49" charset="-122"/>
              </a:rPr>
              <a:t>(</a:t>
            </a:r>
            <a:r>
              <a:rPr lang="en-US" altLang="zh-CN" b="1" dirty="0" err="1">
                <a:solidFill>
                  <a:srgbClr val="C00000"/>
                </a:solidFill>
                <a:effectLst>
                  <a:outerShdw blurRad="38100" dist="38100" dir="2700000" algn="tl">
                    <a:srgbClr val="000000"/>
                  </a:outerShdw>
                </a:effectLst>
                <a:latin typeface="楷体_GB2312" pitchFamily="49" charset="-122"/>
                <a:ea typeface="楷体_GB2312" pitchFamily="49" charset="-122"/>
              </a:rPr>
              <a:t>sizeof</a:t>
            </a:r>
            <a:r>
              <a:rPr lang="en-US" altLang="zh-CN" b="1" dirty="0">
                <a:solidFill>
                  <a:srgbClr val="C00000"/>
                </a:solidFill>
                <a:effectLst>
                  <a:outerShdw blurRad="38100" dist="38100" dir="2700000" algn="tl">
                    <a:srgbClr val="000000"/>
                  </a:outerShdw>
                </a:effectLst>
                <a:latin typeface="楷体_GB2312" pitchFamily="49" charset="-122"/>
                <a:ea typeface="楷体_GB2312" pitchFamily="49" charset="-122"/>
              </a:rPr>
              <a:t>(</a:t>
            </a:r>
            <a:r>
              <a:rPr lang="en-US" altLang="zh-CN" b="1" dirty="0" err="1">
                <a:solidFill>
                  <a:srgbClr val="C00000"/>
                </a:solidFill>
                <a:effectLst>
                  <a:outerShdw blurRad="38100" dist="38100" dir="2700000" algn="tl">
                    <a:srgbClr val="000000"/>
                  </a:outerShdw>
                </a:effectLst>
                <a:latin typeface="楷体_GB2312" pitchFamily="49" charset="-122"/>
                <a:ea typeface="楷体_GB2312" pitchFamily="49" charset="-122"/>
              </a:rPr>
              <a:t>intNode</a:t>
            </a:r>
            <a:r>
              <a:rPr lang="en-US" altLang="zh-CN" b="1" dirty="0">
                <a:solidFill>
                  <a:srgbClr val="C00000"/>
                </a:solidFill>
                <a:effectLst>
                  <a:outerShdw blurRad="38100" dist="38100" dir="2700000" algn="tl">
                    <a:srgbClr val="000000"/>
                  </a:outerShdw>
                </a:effectLst>
                <a:latin typeface="楷体_GB2312" pitchFamily="49" charset="-122"/>
                <a:ea typeface="楷体_GB2312" pitchFamily="49" charset="-122"/>
              </a:rPr>
              <a:t>));</a:t>
            </a:r>
          </a:p>
          <a:p>
            <a:pPr>
              <a:defRPr/>
            </a:pPr>
            <a:r>
              <a:rPr lang="zh-CN" altLang="en-US" b="1" dirty="0">
                <a:effectLst>
                  <a:outerShdw blurRad="38100" dist="38100" dir="2700000" algn="tl">
                    <a:srgbClr val="000000"/>
                  </a:outerShdw>
                </a:effectLst>
                <a:latin typeface="楷体_GB2312" pitchFamily="49" charset="-122"/>
                <a:ea typeface="楷体_GB2312" pitchFamily="49" charset="-122"/>
              </a:rPr>
              <a:t>申请能存储类型为</a:t>
            </a:r>
            <a:r>
              <a:rPr lang="en-US" altLang="zh-CN" b="1" dirty="0" err="1">
                <a:effectLst>
                  <a:outerShdw blurRad="38100" dist="38100" dir="2700000" algn="tl">
                    <a:srgbClr val="000000"/>
                  </a:outerShdw>
                </a:effectLst>
                <a:latin typeface="楷体_GB2312" pitchFamily="49" charset="-122"/>
                <a:ea typeface="楷体_GB2312" pitchFamily="49" charset="-122"/>
              </a:rPr>
              <a:t>intNode</a:t>
            </a:r>
            <a:r>
              <a:rPr lang="zh-CN" altLang="en-US" b="1" dirty="0">
                <a:effectLst>
                  <a:outerShdw blurRad="38100" dist="38100" dir="2700000" algn="tl">
                    <a:srgbClr val="000000"/>
                  </a:outerShdw>
                </a:effectLst>
                <a:latin typeface="楷体_GB2312" pitchFamily="49" charset="-122"/>
                <a:ea typeface="楷体_GB2312" pitchFamily="49" charset="-122"/>
              </a:rPr>
              <a:t>的结构的存储空间，并将该结构指针存于指针变量</a:t>
            </a:r>
            <a:r>
              <a:rPr lang="en-US" altLang="zh-CN" b="1" dirty="0">
                <a:effectLst>
                  <a:outerShdw blurRad="38100" dist="38100" dir="2700000" algn="tl">
                    <a:srgbClr val="000000"/>
                  </a:outerShdw>
                </a:effectLst>
                <a:latin typeface="楷体_GB2312" pitchFamily="49" charset="-122"/>
                <a:ea typeface="楷体_GB2312" pitchFamily="49" charset="-122"/>
              </a:rPr>
              <a:t>p</a:t>
            </a:r>
            <a:r>
              <a:rPr lang="zh-CN" altLang="en-US" b="1" dirty="0">
                <a:effectLst>
                  <a:outerShdw blurRad="38100" dist="38100" dir="2700000" algn="tl">
                    <a:srgbClr val="000000"/>
                  </a:outerShdw>
                </a:effectLst>
                <a:latin typeface="楷体_GB2312" pitchFamily="49" charset="-122"/>
                <a:ea typeface="楷体_GB2312" pitchFamily="49" charset="-122"/>
              </a:rPr>
              <a:t>。</a:t>
            </a:r>
            <a:r>
              <a:rPr lang="zh-CN" altLang="en-US" b="1" dirty="0">
                <a:solidFill>
                  <a:srgbClr val="C00000"/>
                </a:solidFill>
                <a:effectLst>
                  <a:outerShdw blurRad="38100" dist="38100" dir="2700000" algn="tl">
                    <a:srgbClr val="000000"/>
                  </a:outerShdw>
                </a:effectLst>
                <a:latin typeface="楷体_GB2312" pitchFamily="49" charset="-122"/>
                <a:ea typeface="楷体_GB2312" pitchFamily="49" charset="-122"/>
              </a:rPr>
              <a:t>动态变量没有名字，只能通过指针引用它。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57413"/>
                                        </p:tgtEl>
                                        <p:attrNameLst>
                                          <p:attrName>style.visibility</p:attrName>
                                        </p:attrNameLst>
                                      </p:cBhvr>
                                      <p:to>
                                        <p:strVal val="visible"/>
                                      </p:to>
                                    </p:set>
                                    <p:anim calcmode="lin" valueType="num">
                                      <p:cBhvr additive="base">
                                        <p:cTn id="7" dur="500" fill="hold"/>
                                        <p:tgtEl>
                                          <p:spTgt spid="657413"/>
                                        </p:tgtEl>
                                        <p:attrNameLst>
                                          <p:attrName>ppt_x</p:attrName>
                                        </p:attrNameLst>
                                      </p:cBhvr>
                                      <p:tavLst>
                                        <p:tav tm="0">
                                          <p:val>
                                            <p:strVal val="#ppt_x"/>
                                          </p:val>
                                        </p:tav>
                                        <p:tav tm="100000">
                                          <p:val>
                                            <p:strVal val="#ppt_x"/>
                                          </p:val>
                                        </p:tav>
                                      </p:tavLst>
                                    </p:anim>
                                    <p:anim calcmode="lin" valueType="num">
                                      <p:cBhvr additive="base">
                                        <p:cTn id="8" dur="500" fill="hold"/>
                                        <p:tgtEl>
                                          <p:spTgt spid="6574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741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3" name="Rectangle 3"/>
          <p:cNvSpPr>
            <a:spLocks noGrp="1" noChangeArrowheads="1"/>
          </p:cNvSpPr>
          <p:nvPr>
            <p:ph idx="1"/>
          </p:nvPr>
        </p:nvSpPr>
        <p:spPr>
          <a:xfrm>
            <a:off x="250825" y="476250"/>
            <a:ext cx="8497888" cy="5918200"/>
          </a:xfrm>
        </p:spPr>
        <p:txBody>
          <a:bodyPr>
            <a:noAutofit/>
          </a:bodyPr>
          <a:lstStyle/>
          <a:p>
            <a:pPr marL="0" indent="0" algn="just" eaLnBrk="1" hangingPunct="1">
              <a:lnSpc>
                <a:spcPct val="95000"/>
              </a:lnSpc>
              <a:buClr>
                <a:srgbClr val="FF6600"/>
              </a:buClr>
              <a:buSzPct val="55000"/>
              <a:buFont typeface="Wingdings" pitchFamily="2" charset="2"/>
              <a:buNone/>
              <a:defRPr/>
            </a:pPr>
            <a:r>
              <a:rPr lang="en-US" altLang="zh-CN" sz="2800" b="1" dirty="0" err="1">
                <a:latin typeface="楷体_GB2312" pitchFamily="49" charset="-122"/>
                <a:ea typeface="楷体_GB2312" pitchFamily="49" charset="-122"/>
              </a:rPr>
              <a:t>calloc</a:t>
            </a:r>
            <a:r>
              <a:rPr lang="en-US" altLang="zh-CN" sz="2800" b="1" dirty="0">
                <a:latin typeface="楷体_GB2312" pitchFamily="49" charset="-122"/>
                <a:ea typeface="楷体_GB2312" pitchFamily="49" charset="-122"/>
              </a:rPr>
              <a:t>(n, size)</a:t>
            </a:r>
          </a:p>
          <a:p>
            <a:pPr marL="0" indent="0" algn="just" eaLnBrk="1" hangingPunct="1">
              <a:lnSpc>
                <a:spcPct val="95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功能：在动态存储区中分配</a:t>
            </a:r>
            <a:r>
              <a:rPr lang="en-US" altLang="zh-CN" sz="2800" b="1" dirty="0">
                <a:latin typeface="楷体_GB2312" pitchFamily="49" charset="-122"/>
                <a:ea typeface="楷体_GB2312" pitchFamily="49" charset="-122"/>
              </a:rPr>
              <a:t>n</a:t>
            </a:r>
            <a:r>
              <a:rPr lang="zh-CN" altLang="en-US" sz="2800" b="1" dirty="0">
                <a:latin typeface="楷体_GB2312" pitchFamily="49" charset="-122"/>
                <a:ea typeface="楷体_GB2312" pitchFamily="49" charset="-122"/>
              </a:rPr>
              <a:t>个</a:t>
            </a:r>
            <a:r>
              <a:rPr lang="en-US" altLang="zh-CN" sz="2800" b="1" dirty="0">
                <a:latin typeface="楷体_GB2312" pitchFamily="49" charset="-122"/>
                <a:ea typeface="楷体_GB2312" pitchFamily="49" charset="-122"/>
              </a:rPr>
              <a:t>size</a:t>
            </a:r>
            <a:r>
              <a:rPr lang="zh-CN" altLang="en-US" sz="2800" b="1" dirty="0">
                <a:latin typeface="楷体_GB2312" pitchFamily="49" charset="-122"/>
                <a:ea typeface="楷体_GB2312" pitchFamily="49" charset="-122"/>
              </a:rPr>
              <a:t>个字节的连续空间，函数返回该连续空间的开始地址；如果分配不成功，则返回</a:t>
            </a:r>
            <a:r>
              <a:rPr lang="en-US" altLang="zh-CN" sz="2800" b="1" dirty="0">
                <a:latin typeface="楷体_GB2312" pitchFamily="49" charset="-122"/>
                <a:ea typeface="楷体_GB2312" pitchFamily="49" charset="-122"/>
              </a:rPr>
              <a:t>0</a:t>
            </a:r>
            <a:r>
              <a:rPr lang="zh-CN" altLang="en-US" sz="2800" b="1" dirty="0">
                <a:latin typeface="楷体_GB2312" pitchFamily="49" charset="-122"/>
                <a:ea typeface="楷体_GB2312" pitchFamily="49" charset="-122"/>
              </a:rPr>
              <a:t>。</a:t>
            </a:r>
          </a:p>
          <a:p>
            <a:pPr marL="0" indent="0" algn="just" eaLnBrk="1" hangingPunct="1">
              <a:lnSpc>
                <a:spcPct val="95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例如：申请分配能存储</a:t>
            </a:r>
            <a:r>
              <a:rPr lang="en-US" altLang="zh-CN" sz="2800" b="1" dirty="0">
                <a:latin typeface="楷体_GB2312" pitchFamily="49" charset="-122"/>
                <a:ea typeface="楷体_GB2312" pitchFamily="49" charset="-122"/>
              </a:rPr>
              <a:t>100</a:t>
            </a:r>
            <a:r>
              <a:rPr lang="zh-CN" altLang="en-US" sz="2800" b="1" dirty="0">
                <a:latin typeface="楷体_GB2312" pitchFamily="49" charset="-122"/>
                <a:ea typeface="楷体_GB2312" pitchFamily="49" charset="-122"/>
              </a:rPr>
              <a:t>个整数的存储块。</a:t>
            </a:r>
          </a:p>
          <a:p>
            <a:pPr marL="0" indent="0" algn="just" eaLnBrk="1" hangingPunct="1">
              <a:lnSpc>
                <a:spcPct val="95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      </a:t>
            </a:r>
            <a:r>
              <a:rPr lang="en-US" altLang="zh-CN" sz="2800" b="1" dirty="0">
                <a:latin typeface="楷体_GB2312" pitchFamily="49" charset="-122"/>
                <a:ea typeface="楷体_GB2312" pitchFamily="49" charset="-122"/>
              </a:rPr>
              <a:t> p= (int *) </a:t>
            </a:r>
            <a:r>
              <a:rPr lang="en-US" altLang="zh-CN" sz="2800" b="1" dirty="0" err="1">
                <a:latin typeface="楷体_GB2312" pitchFamily="49" charset="-122"/>
                <a:ea typeface="楷体_GB2312" pitchFamily="49" charset="-122"/>
              </a:rPr>
              <a:t>calloc</a:t>
            </a:r>
            <a:r>
              <a:rPr lang="en-US" altLang="zh-CN" sz="2800" b="1" dirty="0">
                <a:latin typeface="楷体_GB2312" pitchFamily="49" charset="-122"/>
                <a:ea typeface="楷体_GB2312" pitchFamily="49" charset="-122"/>
              </a:rPr>
              <a:t>(100, </a:t>
            </a:r>
            <a:r>
              <a:rPr lang="en-US" altLang="zh-CN" sz="2800" b="1" dirty="0" err="1">
                <a:latin typeface="楷体_GB2312" pitchFamily="49" charset="-122"/>
                <a:ea typeface="楷体_GB2312" pitchFamily="49" charset="-122"/>
              </a:rPr>
              <a:t>sizeof</a:t>
            </a:r>
            <a:r>
              <a:rPr lang="en-US" altLang="zh-CN" sz="2800" b="1" dirty="0">
                <a:latin typeface="楷体_GB2312" pitchFamily="49" charset="-122"/>
                <a:ea typeface="楷体_GB2312" pitchFamily="49" charset="-122"/>
              </a:rPr>
              <a:t>(int));</a:t>
            </a:r>
          </a:p>
          <a:p>
            <a:pPr marL="0" indent="0" algn="just" eaLnBrk="1" hangingPunct="1">
              <a:lnSpc>
                <a:spcPct val="95000"/>
              </a:lnSpc>
              <a:buClr>
                <a:srgbClr val="FF6600"/>
              </a:buClr>
              <a:buSzPct val="55000"/>
              <a:buFont typeface="Wingdings" pitchFamily="2" charset="2"/>
              <a:buNone/>
              <a:defRPr/>
            </a:pPr>
            <a:endParaRPr lang="en-US" altLang="zh-CN" sz="2800" b="1" dirty="0">
              <a:latin typeface="楷体_GB2312" pitchFamily="49" charset="-122"/>
              <a:ea typeface="楷体_GB2312" pitchFamily="49" charset="-122"/>
            </a:endParaRPr>
          </a:p>
          <a:p>
            <a:pPr marL="0" indent="0" algn="just" eaLnBrk="1" hangingPunct="1">
              <a:lnSpc>
                <a:spcPct val="95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这样分配的空间可进行普通数组上的操作，称为</a:t>
            </a:r>
            <a:r>
              <a:rPr lang="zh-CN" altLang="en-US" sz="2800" b="1" dirty="0">
                <a:solidFill>
                  <a:srgbClr val="FF0000"/>
                </a:solidFill>
                <a:latin typeface="楷体_GB2312" pitchFamily="49" charset="-122"/>
                <a:ea typeface="楷体_GB2312" pitchFamily="49" charset="-122"/>
              </a:rPr>
              <a:t>动态数组</a:t>
            </a:r>
            <a:r>
              <a:rPr lang="zh-CN" altLang="en-US" sz="2800" b="1" dirty="0">
                <a:latin typeface="楷体_GB2312" pitchFamily="49" charset="-122"/>
                <a:ea typeface="楷体_GB2312" pitchFamily="49" charset="-122"/>
              </a:rPr>
              <a:t>。</a:t>
            </a:r>
            <a:endParaRPr lang="en-US" altLang="zh-CN" sz="2800" b="1" dirty="0">
              <a:latin typeface="楷体_GB2312" pitchFamily="49" charset="-122"/>
              <a:ea typeface="楷体_GB2312" pitchFamily="49" charset="-122"/>
            </a:endParaRPr>
          </a:p>
          <a:p>
            <a:pPr marL="0" indent="0" algn="just" eaLnBrk="1" hangingPunct="1">
              <a:lnSpc>
                <a:spcPct val="95000"/>
              </a:lnSpc>
              <a:buClr>
                <a:srgbClr val="FF6600"/>
              </a:buClr>
              <a:buSzPct val="55000"/>
              <a:buFont typeface="Wingdings" pitchFamily="2" charset="2"/>
              <a:buNone/>
              <a:defRPr/>
            </a:pPr>
            <a:r>
              <a:rPr lang="en-US" altLang="zh-CN" sz="2800" b="1" dirty="0">
                <a:latin typeface="楷体_GB2312" pitchFamily="49" charset="-122"/>
                <a:ea typeface="楷体_GB2312" pitchFamily="49" charset="-122"/>
              </a:rPr>
              <a:t>      for(</a:t>
            </a:r>
            <a:r>
              <a:rPr lang="en-US" altLang="zh-CN" sz="2800" b="1" dirty="0" err="1">
                <a:latin typeface="楷体_GB2312" pitchFamily="49" charset="-122"/>
                <a:ea typeface="楷体_GB2312" pitchFamily="49" charset="-122"/>
              </a:rPr>
              <a:t>int</a:t>
            </a:r>
            <a:r>
              <a:rPr lang="en-US" altLang="zh-CN" sz="2800" b="1" dirty="0">
                <a:latin typeface="楷体_GB2312" pitchFamily="49" charset="-122"/>
                <a:ea typeface="楷体_GB2312" pitchFamily="49" charset="-122"/>
              </a:rPr>
              <a:t> k=0;k&lt;100,k++)</a:t>
            </a:r>
          </a:p>
          <a:p>
            <a:pPr marL="0" indent="0" algn="just" eaLnBrk="1" hangingPunct="1">
              <a:lnSpc>
                <a:spcPct val="95000"/>
              </a:lnSpc>
              <a:buClr>
                <a:srgbClr val="FF6600"/>
              </a:buClr>
              <a:buSzPct val="55000"/>
              <a:buFont typeface="Wingdings" pitchFamily="2" charset="2"/>
              <a:buNone/>
              <a:defRPr/>
            </a:pPr>
            <a:r>
              <a:rPr lang="en-US" altLang="zh-CN" sz="2800" b="1" dirty="0">
                <a:latin typeface="楷体_GB2312" pitchFamily="49" charset="-122"/>
                <a:ea typeface="楷体_GB2312" pitchFamily="49" charset="-122"/>
              </a:rPr>
              <a:t>        p[k]=k+1; </a:t>
            </a:r>
          </a:p>
          <a:p>
            <a:pPr marL="0" indent="0" algn="just" eaLnBrk="1" hangingPunct="1">
              <a:lnSpc>
                <a:spcPct val="95000"/>
              </a:lnSpc>
              <a:buClr>
                <a:srgbClr val="FF6600"/>
              </a:buClr>
              <a:buSzPct val="55000"/>
              <a:buFont typeface="Wingdings" pitchFamily="2" charset="2"/>
              <a:buNone/>
              <a:defRPr/>
            </a:pPr>
            <a:endParaRPr lang="en-US" altLang="zh-CN" sz="2800" b="1" dirty="0">
              <a:latin typeface="楷体_GB2312" pitchFamily="49" charset="-122"/>
              <a:ea typeface="楷体_GB2312" pitchFamily="49" charset="-122"/>
            </a:endParaRPr>
          </a:p>
        </p:txBody>
      </p:sp>
      <p:sp>
        <p:nvSpPr>
          <p:cNvPr id="6" name="灯片编号占位符 5"/>
          <p:cNvSpPr>
            <a:spLocks noGrp="1"/>
          </p:cNvSpPr>
          <p:nvPr>
            <p:ph type="sldNum" sz="quarter" idx="12"/>
          </p:nvPr>
        </p:nvSpPr>
        <p:spPr/>
        <p:txBody>
          <a:bodyPr/>
          <a:lstStyle/>
          <a:p>
            <a:pPr>
              <a:defRPr/>
            </a:pPr>
            <a:fld id="{6364438D-9DD9-4319-A0D7-1F1E5C080D72}" type="slidenum">
              <a:rPr lang="en-US" altLang="zh-CN"/>
              <a:pPr>
                <a:defRPr/>
              </a:pPr>
              <a:t>60</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6883">
                                            <p:txEl>
                                              <p:pRg st="2" end="2"/>
                                            </p:txEl>
                                          </p:spTgt>
                                        </p:tgtEl>
                                        <p:attrNameLst>
                                          <p:attrName>style.visibility</p:attrName>
                                        </p:attrNameLst>
                                      </p:cBhvr>
                                      <p:to>
                                        <p:strVal val="visible"/>
                                      </p:to>
                                    </p:set>
                                    <p:anim calcmode="lin" valueType="num">
                                      <p:cBhvr additive="base">
                                        <p:cTn id="7" dur="500" fill="hold"/>
                                        <p:tgtEl>
                                          <p:spTgt spid="50688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688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06883">
                                            <p:txEl>
                                              <p:pRg st="3" end="3"/>
                                            </p:txEl>
                                          </p:spTgt>
                                        </p:tgtEl>
                                        <p:attrNameLst>
                                          <p:attrName>style.visibility</p:attrName>
                                        </p:attrNameLst>
                                      </p:cBhvr>
                                      <p:to>
                                        <p:strVal val="visible"/>
                                      </p:to>
                                    </p:set>
                                    <p:anim calcmode="lin" valueType="num">
                                      <p:cBhvr additive="base">
                                        <p:cTn id="11" dur="500" fill="hold"/>
                                        <p:tgtEl>
                                          <p:spTgt spid="50688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0688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06883">
                                            <p:txEl>
                                              <p:pRg st="5" end="5"/>
                                            </p:txEl>
                                          </p:spTgt>
                                        </p:tgtEl>
                                        <p:attrNameLst>
                                          <p:attrName>style.visibility</p:attrName>
                                        </p:attrNameLst>
                                      </p:cBhvr>
                                      <p:to>
                                        <p:strVal val="visible"/>
                                      </p:to>
                                    </p:set>
                                    <p:anim calcmode="lin" valueType="num">
                                      <p:cBhvr additive="base">
                                        <p:cTn id="17" dur="500" fill="hold"/>
                                        <p:tgtEl>
                                          <p:spTgt spid="506883">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06883">
                                            <p:txEl>
                                              <p:pRg st="5" end="5"/>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06883">
                                            <p:txEl>
                                              <p:pRg st="6" end="6"/>
                                            </p:txEl>
                                          </p:spTgt>
                                        </p:tgtEl>
                                        <p:attrNameLst>
                                          <p:attrName>style.visibility</p:attrName>
                                        </p:attrNameLst>
                                      </p:cBhvr>
                                      <p:to>
                                        <p:strVal val="visible"/>
                                      </p:to>
                                    </p:set>
                                    <p:anim calcmode="lin" valueType="num">
                                      <p:cBhvr additive="base">
                                        <p:cTn id="21" dur="500" fill="hold"/>
                                        <p:tgtEl>
                                          <p:spTgt spid="506883">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06883">
                                            <p:txEl>
                                              <p:pRg st="6" end="6"/>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06883">
                                            <p:txEl>
                                              <p:pRg st="7" end="7"/>
                                            </p:txEl>
                                          </p:spTgt>
                                        </p:tgtEl>
                                        <p:attrNameLst>
                                          <p:attrName>style.visibility</p:attrName>
                                        </p:attrNameLst>
                                      </p:cBhvr>
                                      <p:to>
                                        <p:strVal val="visible"/>
                                      </p:to>
                                    </p:set>
                                    <p:anim calcmode="lin" valueType="num">
                                      <p:cBhvr additive="base">
                                        <p:cTn id="25" dur="500" fill="hold"/>
                                        <p:tgtEl>
                                          <p:spTgt spid="506883">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0688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3" name="Rectangle 3"/>
          <p:cNvSpPr>
            <a:spLocks noGrp="1" noChangeArrowheads="1"/>
          </p:cNvSpPr>
          <p:nvPr>
            <p:ph idx="1"/>
          </p:nvPr>
        </p:nvSpPr>
        <p:spPr>
          <a:xfrm>
            <a:off x="250825" y="476250"/>
            <a:ext cx="8497888" cy="5918200"/>
          </a:xfrm>
        </p:spPr>
        <p:txBody>
          <a:bodyPr>
            <a:noAutofit/>
          </a:bodyPr>
          <a:lstStyle/>
          <a:p>
            <a:pPr marL="0" indent="0" algn="just" eaLnBrk="1" hangingPunct="1">
              <a:lnSpc>
                <a:spcPct val="95000"/>
              </a:lnSpc>
              <a:buClr>
                <a:srgbClr val="FF6600"/>
              </a:buClr>
              <a:buSzPct val="55000"/>
              <a:buFont typeface="Wingdings" pitchFamily="2" charset="2"/>
              <a:buNone/>
              <a:defRPr/>
            </a:pPr>
            <a:r>
              <a:rPr lang="en-US" altLang="zh-CN" sz="2800" b="1" dirty="0">
                <a:latin typeface="楷体_GB2312" pitchFamily="49" charset="-122"/>
                <a:ea typeface="楷体_GB2312" pitchFamily="49" charset="-122"/>
              </a:rPr>
              <a:t>free(</a:t>
            </a:r>
            <a:r>
              <a:rPr lang="en-US" altLang="zh-CN" sz="2800" b="1" dirty="0" err="1">
                <a:latin typeface="楷体_GB2312" pitchFamily="49" charset="-122"/>
                <a:ea typeface="楷体_GB2312" pitchFamily="49" charset="-122"/>
              </a:rPr>
              <a:t>ptr</a:t>
            </a:r>
            <a:r>
              <a:rPr lang="en-US" altLang="zh-CN" sz="2800" b="1" dirty="0">
                <a:latin typeface="楷体_GB2312" pitchFamily="49" charset="-122"/>
                <a:ea typeface="楷体_GB2312" pitchFamily="49" charset="-122"/>
              </a:rPr>
              <a:t>)</a:t>
            </a:r>
          </a:p>
          <a:p>
            <a:pPr marL="0" indent="0" algn="just" eaLnBrk="1" hangingPunct="1">
              <a:lnSpc>
                <a:spcPct val="95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功能：释放由</a:t>
            </a:r>
            <a:r>
              <a:rPr lang="en-US" altLang="zh-CN" sz="2800" b="1" dirty="0" err="1">
                <a:latin typeface="楷体_GB2312" pitchFamily="49" charset="-122"/>
                <a:ea typeface="楷体_GB2312" pitchFamily="49" charset="-122"/>
              </a:rPr>
              <a:t>ptr</a:t>
            </a:r>
            <a:r>
              <a:rPr lang="zh-CN" altLang="en-US" sz="2800" b="1" dirty="0">
                <a:latin typeface="楷体_GB2312" pitchFamily="49" charset="-122"/>
                <a:ea typeface="楷体_GB2312" pitchFamily="49" charset="-122"/>
              </a:rPr>
              <a:t>所指向的存储块。</a:t>
            </a:r>
          </a:p>
          <a:p>
            <a:pPr marL="0" indent="0" algn="just" eaLnBrk="1" hangingPunct="1">
              <a:lnSpc>
                <a:spcPct val="95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说明：</a:t>
            </a:r>
            <a:r>
              <a:rPr lang="en-US" altLang="zh-CN" sz="2800" b="1" dirty="0" err="1">
                <a:latin typeface="楷体_GB2312" pitchFamily="49" charset="-122"/>
                <a:ea typeface="楷体_GB2312" pitchFamily="49" charset="-122"/>
              </a:rPr>
              <a:t>ptr</a:t>
            </a:r>
            <a:r>
              <a:rPr lang="zh-CN" altLang="en-US" sz="2800" b="1" dirty="0">
                <a:latin typeface="楷体_GB2312" pitchFamily="49" charset="-122"/>
                <a:ea typeface="楷体_GB2312" pitchFamily="49" charset="-122"/>
              </a:rPr>
              <a:t>的值必须是调用函数</a:t>
            </a:r>
            <a:r>
              <a:rPr lang="en-US" altLang="zh-CN" sz="2800" b="1" dirty="0" err="1">
                <a:latin typeface="楷体_GB2312" pitchFamily="49" charset="-122"/>
                <a:ea typeface="楷体_GB2312" pitchFamily="49" charset="-122"/>
              </a:rPr>
              <a:t>malloc</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或</a:t>
            </a:r>
            <a:r>
              <a:rPr lang="en-US" altLang="zh-CN" sz="2800" b="1" dirty="0" err="1">
                <a:latin typeface="楷体_GB2312" pitchFamily="49" charset="-122"/>
                <a:ea typeface="楷体_GB2312" pitchFamily="49" charset="-122"/>
              </a:rPr>
              <a:t>calloc</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申请到的连续存储空间中的地址。</a:t>
            </a:r>
          </a:p>
        </p:txBody>
      </p:sp>
      <p:sp>
        <p:nvSpPr>
          <p:cNvPr id="6" name="灯片编号占位符 5"/>
          <p:cNvSpPr>
            <a:spLocks noGrp="1"/>
          </p:cNvSpPr>
          <p:nvPr>
            <p:ph type="sldNum" sz="quarter" idx="12"/>
          </p:nvPr>
        </p:nvSpPr>
        <p:spPr/>
        <p:txBody>
          <a:bodyPr/>
          <a:lstStyle/>
          <a:p>
            <a:pPr>
              <a:defRPr/>
            </a:pPr>
            <a:fld id="{6364438D-9DD9-4319-A0D7-1F1E5C080D72}" type="slidenum">
              <a:rPr lang="en-US" altLang="zh-CN"/>
              <a:pPr>
                <a:defRPr/>
              </a:pPr>
              <a:t>61</a:t>
            </a:fld>
            <a:endParaRPr lang="en-US" altLang="zh-CN"/>
          </a:p>
        </p:txBody>
      </p:sp>
      <p:sp>
        <p:nvSpPr>
          <p:cNvPr id="5" name="矩形 4"/>
          <p:cNvSpPr/>
          <p:nvPr/>
        </p:nvSpPr>
        <p:spPr>
          <a:xfrm>
            <a:off x="323528" y="2924944"/>
            <a:ext cx="8208912" cy="3560975"/>
          </a:xfrm>
          <a:prstGeom prst="rect">
            <a:avLst/>
          </a:prstGeom>
        </p:spPr>
        <p:txBody>
          <a:bodyPr wrap="square">
            <a:spAutoFit/>
          </a:bodyPr>
          <a:lstStyle/>
          <a:p>
            <a:pPr marL="0" indent="0" algn="just" eaLnBrk="1" hangingPunct="1">
              <a:lnSpc>
                <a:spcPct val="115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以上三个函数中，形参</a:t>
            </a:r>
            <a:r>
              <a:rPr lang="en-US" altLang="zh-CN" sz="2800" b="1" dirty="0">
                <a:latin typeface="楷体_GB2312" pitchFamily="49" charset="-122"/>
                <a:ea typeface="楷体_GB2312" pitchFamily="49" charset="-122"/>
              </a:rPr>
              <a:t>size</a:t>
            </a:r>
            <a:r>
              <a:rPr lang="zh-CN" altLang="en-US" sz="2800" b="1" dirty="0">
                <a:latin typeface="楷体_GB2312" pitchFamily="49" charset="-122"/>
                <a:ea typeface="楷体_GB2312" pitchFamily="49" charset="-122"/>
              </a:rPr>
              <a:t>和</a:t>
            </a:r>
            <a:r>
              <a:rPr lang="en-US" altLang="zh-CN" sz="2800" b="1" dirty="0">
                <a:latin typeface="楷体_GB2312" pitchFamily="49" charset="-122"/>
                <a:ea typeface="楷体_GB2312" pitchFamily="49" charset="-122"/>
              </a:rPr>
              <a:t>n</a:t>
            </a:r>
            <a:r>
              <a:rPr lang="zh-CN" altLang="en-US" sz="2800" b="1" dirty="0">
                <a:latin typeface="楷体_GB2312" pitchFamily="49" charset="-122"/>
                <a:ea typeface="楷体_GB2312" pitchFamily="49" charset="-122"/>
              </a:rPr>
              <a:t>为</a:t>
            </a:r>
            <a:r>
              <a:rPr lang="en-US" altLang="zh-CN" sz="2800" b="1" dirty="0">
                <a:latin typeface="楷体_GB2312" pitchFamily="49" charset="-122"/>
                <a:ea typeface="楷体_GB2312" pitchFamily="49" charset="-122"/>
              </a:rPr>
              <a:t>unsigned</a:t>
            </a:r>
            <a:r>
              <a:rPr lang="zh-CN" altLang="en-US" sz="2800" b="1" dirty="0">
                <a:latin typeface="楷体_GB2312" pitchFamily="49" charset="-122"/>
                <a:ea typeface="楷体_GB2312" pitchFamily="49" charset="-122"/>
              </a:rPr>
              <a:t>类型，</a:t>
            </a:r>
            <a:r>
              <a:rPr lang="en-US" altLang="zh-CN" sz="2800" b="1" dirty="0" err="1">
                <a:latin typeface="楷体_GB2312" pitchFamily="49" charset="-122"/>
                <a:ea typeface="楷体_GB2312" pitchFamily="49" charset="-122"/>
              </a:rPr>
              <a:t>ptr</a:t>
            </a:r>
            <a:r>
              <a:rPr lang="zh-CN" altLang="en-US" sz="2800" b="1" dirty="0">
                <a:latin typeface="楷体_GB2312" pitchFamily="49" charset="-122"/>
                <a:ea typeface="楷体_GB2312" pitchFamily="49" charset="-122"/>
              </a:rPr>
              <a:t>为指针类型。函数</a:t>
            </a:r>
            <a:r>
              <a:rPr lang="en-US" altLang="zh-CN" sz="2800" b="1" dirty="0" err="1">
                <a:latin typeface="楷体_GB2312" pitchFamily="49" charset="-122"/>
                <a:ea typeface="楷体_GB2312" pitchFamily="49" charset="-122"/>
              </a:rPr>
              <a:t>malloc</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和</a:t>
            </a:r>
            <a:r>
              <a:rPr lang="en-US" altLang="zh-CN" sz="2800" b="1" dirty="0" err="1">
                <a:latin typeface="楷体_GB2312" pitchFamily="49" charset="-122"/>
                <a:ea typeface="楷体_GB2312" pitchFamily="49" charset="-122"/>
              </a:rPr>
              <a:t>calloc</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返回的是系统分配的连续存储空间的首地址，其类型为</a:t>
            </a:r>
            <a:r>
              <a:rPr lang="en-US" altLang="zh-CN" sz="2800" b="1" dirty="0">
                <a:latin typeface="楷体_GB2312" pitchFamily="49" charset="-122"/>
                <a:ea typeface="楷体_GB2312" pitchFamily="49" charset="-122"/>
              </a:rPr>
              <a:t>void *</a:t>
            </a:r>
            <a:r>
              <a:rPr lang="zh-CN" altLang="en-US" sz="2800" b="1" dirty="0">
                <a:latin typeface="楷体_GB2312" pitchFamily="49" charset="-122"/>
                <a:ea typeface="楷体_GB2312" pitchFamily="49" charset="-122"/>
              </a:rPr>
              <a:t>（即无类型的指针值，程序必须将返回值强制转换成某种特定的指针类型）。程序将这返回值赋给某个指针变量，然后用该指针变量间接引用存储空间的相应成分。</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3" name="Rectangle 1029"/>
          <p:cNvSpPr>
            <a:spLocks noGrp="1" noChangeArrowheads="1"/>
          </p:cNvSpPr>
          <p:nvPr>
            <p:ph type="title"/>
          </p:nvPr>
        </p:nvSpPr>
        <p:spPr>
          <a:xfrm>
            <a:off x="323850" y="260350"/>
            <a:ext cx="7920038" cy="720725"/>
          </a:xfrm>
        </p:spPr>
        <p:txBody>
          <a:bodyPr>
            <a:normAutofit fontScale="90000"/>
          </a:bodyPr>
          <a:lstStyle/>
          <a:p>
            <a:pPr eaLnBrk="1" hangingPunct="1">
              <a:lnSpc>
                <a:spcPct val="100000"/>
              </a:lnSpc>
              <a:defRPr/>
            </a:pPr>
            <a:r>
              <a:rPr lang="zh-CN" altLang="en-US" dirty="0">
                <a:solidFill>
                  <a:schemeClr val="tx1"/>
                </a:solidFill>
                <a:latin typeface="黑体" pitchFamily="2" charset="-122"/>
                <a:ea typeface="黑体" pitchFamily="2" charset="-122"/>
              </a:rPr>
              <a:t>单链表上的基本操作 </a:t>
            </a:r>
          </a:p>
        </p:txBody>
      </p:sp>
      <p:sp>
        <p:nvSpPr>
          <p:cNvPr id="508931" name="Rectangle 1027"/>
          <p:cNvSpPr>
            <a:spLocks noGrp="1" noChangeArrowheads="1"/>
          </p:cNvSpPr>
          <p:nvPr>
            <p:ph idx="1"/>
          </p:nvPr>
        </p:nvSpPr>
        <p:spPr>
          <a:xfrm>
            <a:off x="395288" y="981075"/>
            <a:ext cx="8353425" cy="5486400"/>
          </a:xfrm>
        </p:spPr>
        <p:txBody>
          <a:bodyPr>
            <a:noAutofit/>
          </a:bodyPr>
          <a:lstStyle/>
          <a:p>
            <a:pPr marL="0" indent="0" algn="just" eaLnBrk="1" hangingPunct="1">
              <a:lnSpc>
                <a:spcPct val="110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单链表的基本操作主要包括</a:t>
            </a:r>
            <a:r>
              <a:rPr lang="zh-CN" altLang="en-US" sz="2800" b="1" dirty="0">
                <a:solidFill>
                  <a:srgbClr val="C00000"/>
                </a:solidFill>
                <a:latin typeface="楷体_GB2312" pitchFamily="49" charset="-122"/>
                <a:ea typeface="楷体_GB2312" pitchFamily="49" charset="-122"/>
              </a:rPr>
              <a:t>建立空的单链表、创建一个表元、遍历单链表、查找指定值的表元、往单链表插入一个表元、从单链表删除一个表元等</a:t>
            </a:r>
            <a:r>
              <a:rPr lang="zh-CN" altLang="en-US" sz="2800" b="1" dirty="0">
                <a:latin typeface="楷体_GB2312" pitchFamily="49" charset="-122"/>
                <a:ea typeface="楷体_GB2312" pitchFamily="49" charset="-122"/>
              </a:rPr>
              <a:t>。</a:t>
            </a:r>
            <a:endParaRPr lang="en-US" altLang="zh-CN" sz="2800" b="1" dirty="0">
              <a:latin typeface="楷体_GB2312" pitchFamily="49" charset="-122"/>
              <a:ea typeface="楷体_GB2312" pitchFamily="49" charset="-122"/>
            </a:endParaRPr>
          </a:p>
          <a:p>
            <a:pPr marL="0" indent="0" algn="just" eaLnBrk="1" hangingPunct="1">
              <a:lnSpc>
                <a:spcPct val="110000"/>
              </a:lnSpc>
              <a:buClr>
                <a:srgbClr val="FF6600"/>
              </a:buClr>
              <a:buSzPct val="55000"/>
              <a:buFont typeface="Wingdings" pitchFamily="2" charset="2"/>
              <a:buNone/>
              <a:defRPr/>
            </a:pPr>
            <a:r>
              <a:rPr lang="zh-CN" altLang="en-US" sz="2800" b="1" dirty="0">
                <a:latin typeface="楷体_GB2312" pitchFamily="49" charset="-122"/>
                <a:ea typeface="楷体_GB2312" pitchFamily="49" charset="-122"/>
              </a:rPr>
              <a:t>以学生单链表为例，说明各种操作的实现算法。</a:t>
            </a:r>
          </a:p>
          <a:p>
            <a:pPr marL="0" indent="0" eaLnBrk="1" hangingPunct="1">
              <a:buFont typeface="Monotype Sorts" pitchFamily="2" charset="2"/>
              <a:buNone/>
              <a:defRPr/>
            </a:pPr>
            <a:r>
              <a:rPr lang="en-US" altLang="zh-CN" sz="2400" b="1" dirty="0" err="1">
                <a:latin typeface="楷体_GB2312" pitchFamily="49" charset="-122"/>
                <a:ea typeface="楷体_GB2312" pitchFamily="49" charset="-122"/>
              </a:rPr>
              <a:t>struct</a:t>
            </a: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stuS</a:t>
            </a:r>
            <a:r>
              <a:rPr lang="en-US" altLang="zh-CN" sz="2400" b="1" dirty="0">
                <a:latin typeface="楷体_GB2312" pitchFamily="49" charset="-122"/>
                <a:ea typeface="楷体_GB2312" pitchFamily="49" charset="-122"/>
              </a:rPr>
              <a:t>	/* </a:t>
            </a:r>
            <a:r>
              <a:rPr lang="zh-CN" altLang="en-US" sz="2400" b="1" dirty="0">
                <a:latin typeface="楷体_GB2312" pitchFamily="49" charset="-122"/>
                <a:ea typeface="楷体_GB2312" pitchFamily="49" charset="-122"/>
              </a:rPr>
              <a:t>学生链表表元结构类型 *</a:t>
            </a:r>
            <a:r>
              <a:rPr lang="en-US" altLang="zh-CN" sz="24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int</a:t>
            </a:r>
            <a:r>
              <a:rPr lang="en-US" altLang="zh-CN" sz="2400" b="1" dirty="0">
                <a:latin typeface="楷体_GB2312" pitchFamily="49" charset="-122"/>
                <a:ea typeface="楷体_GB2312" pitchFamily="49" charset="-122"/>
              </a:rPr>
              <a:t>  number;		/* </a:t>
            </a:r>
            <a:r>
              <a:rPr lang="zh-CN" altLang="en-US" sz="2400" b="1" dirty="0">
                <a:latin typeface="楷体_GB2312" pitchFamily="49" charset="-122"/>
                <a:ea typeface="楷体_GB2312" pitchFamily="49" charset="-122"/>
              </a:rPr>
              <a:t>学号 *</a:t>
            </a:r>
            <a:r>
              <a:rPr lang="en-US" altLang="zh-CN" sz="24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char name[20];		/* </a:t>
            </a:r>
            <a:r>
              <a:rPr lang="zh-CN" altLang="en-US" sz="2400" b="1" dirty="0">
                <a:latin typeface="楷体_GB2312" pitchFamily="49" charset="-122"/>
                <a:ea typeface="楷体_GB2312" pitchFamily="49" charset="-122"/>
              </a:rPr>
              <a:t>姓名 *</a:t>
            </a:r>
            <a:r>
              <a:rPr lang="en-US" altLang="zh-CN" sz="24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int</a:t>
            </a:r>
            <a:r>
              <a:rPr lang="en-US" altLang="zh-CN" sz="2400" b="1" dirty="0">
                <a:latin typeface="楷体_GB2312" pitchFamily="49" charset="-122"/>
                <a:ea typeface="楷体_GB2312" pitchFamily="49" charset="-122"/>
              </a:rPr>
              <a:t>  score;		/* </a:t>
            </a:r>
            <a:r>
              <a:rPr lang="zh-CN" altLang="en-US" sz="2400" b="1" dirty="0">
                <a:latin typeface="楷体_GB2312" pitchFamily="49" charset="-122"/>
                <a:ea typeface="楷体_GB2312" pitchFamily="49" charset="-122"/>
              </a:rPr>
              <a:t>成绩 *</a:t>
            </a:r>
            <a:r>
              <a:rPr lang="en-US" altLang="zh-CN" sz="24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solidFill>
                  <a:srgbClr val="FF0000"/>
                </a:solidFill>
                <a:latin typeface="楷体_GB2312" pitchFamily="49" charset="-122"/>
                <a:ea typeface="楷体_GB2312" pitchFamily="49" charset="-122"/>
              </a:rPr>
              <a:t>stuS</a:t>
            </a:r>
            <a:r>
              <a:rPr lang="en-US" altLang="zh-CN" sz="2400" b="1" dirty="0">
                <a:solidFill>
                  <a:srgbClr val="FF0000"/>
                </a:solidFill>
                <a:latin typeface="楷体_GB2312" pitchFamily="49" charset="-122"/>
                <a:ea typeface="楷体_GB2312" pitchFamily="49" charset="-122"/>
              </a:rPr>
              <a:t> *next; </a:t>
            </a: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指向后继表元的指针 *</a:t>
            </a:r>
            <a:r>
              <a:rPr lang="en-US" altLang="zh-CN" sz="24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800" b="1" dirty="0" err="1">
                <a:latin typeface="楷体_GB2312" pitchFamily="49" charset="-122"/>
                <a:ea typeface="楷体_GB2312" pitchFamily="49" charset="-122"/>
              </a:rPr>
              <a:t>stuS</a:t>
            </a:r>
            <a:r>
              <a:rPr lang="en-US" altLang="zh-CN" sz="2800" b="1" dirty="0">
                <a:latin typeface="楷体_GB2312" pitchFamily="49" charset="-122"/>
                <a:ea typeface="楷体_GB2312" pitchFamily="49" charset="-122"/>
              </a:rPr>
              <a:t> *head,*p,*p1,*p2; /* head</a:t>
            </a:r>
            <a:r>
              <a:rPr lang="zh-CN" altLang="en-US" sz="2800" b="1" dirty="0">
                <a:latin typeface="楷体_GB2312" pitchFamily="49" charset="-122"/>
                <a:ea typeface="楷体_GB2312" pitchFamily="49" charset="-122"/>
              </a:rPr>
              <a:t>是链表的头指针，其余是工作指针 *</a:t>
            </a:r>
            <a:r>
              <a:rPr lang="en-US" altLang="zh-CN" sz="2800" b="1" dirty="0">
                <a:latin typeface="楷体_GB2312" pitchFamily="49" charset="-122"/>
                <a:ea typeface="楷体_GB2312" pitchFamily="49" charset="-122"/>
              </a:rPr>
              <a:t>/</a:t>
            </a:r>
            <a:r>
              <a:rPr lang="en-US" altLang="zh-CN" sz="2800" dirty="0"/>
              <a:t> </a:t>
            </a:r>
            <a:r>
              <a:rPr lang="en-US" altLang="zh-CN" sz="2800" dirty="0">
                <a:latin typeface="楷体_GB2312" pitchFamily="49" charset="-122"/>
                <a:ea typeface="楷体_GB2312" pitchFamily="49" charset="-122"/>
              </a:rPr>
              <a:t> </a:t>
            </a:r>
          </a:p>
        </p:txBody>
      </p:sp>
      <p:sp>
        <p:nvSpPr>
          <p:cNvPr id="6" name="灯片编号占位符 5"/>
          <p:cNvSpPr>
            <a:spLocks noGrp="1"/>
          </p:cNvSpPr>
          <p:nvPr>
            <p:ph type="sldNum" sz="quarter" idx="12"/>
          </p:nvPr>
        </p:nvSpPr>
        <p:spPr/>
        <p:txBody>
          <a:bodyPr/>
          <a:lstStyle/>
          <a:p>
            <a:pPr>
              <a:defRPr/>
            </a:pPr>
            <a:fld id="{16FB2133-04B0-4B26-91BC-80A5734F1C63}" type="slidenum">
              <a:rPr lang="en-US" altLang="zh-CN"/>
              <a:pPr>
                <a:defRPr/>
              </a:pPr>
              <a:t>62</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8931">
                                            <p:txEl>
                                              <p:pRg st="1" end="1"/>
                                            </p:txEl>
                                          </p:spTgt>
                                        </p:tgtEl>
                                        <p:attrNameLst>
                                          <p:attrName>style.visibility</p:attrName>
                                        </p:attrNameLst>
                                      </p:cBhvr>
                                      <p:to>
                                        <p:strVal val="visible"/>
                                      </p:to>
                                    </p:set>
                                    <p:anim calcmode="lin" valueType="num">
                                      <p:cBhvr additive="base">
                                        <p:cTn id="7" dur="500" fill="hold"/>
                                        <p:tgtEl>
                                          <p:spTgt spid="50893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8931">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08931">
                                            <p:txEl>
                                              <p:pRg st="2" end="2"/>
                                            </p:txEl>
                                          </p:spTgt>
                                        </p:tgtEl>
                                        <p:attrNameLst>
                                          <p:attrName>style.visibility</p:attrName>
                                        </p:attrNameLst>
                                      </p:cBhvr>
                                      <p:to>
                                        <p:strVal val="visible"/>
                                      </p:to>
                                    </p:set>
                                    <p:anim calcmode="lin" valueType="num">
                                      <p:cBhvr additive="base">
                                        <p:cTn id="11" dur="500" fill="hold"/>
                                        <p:tgtEl>
                                          <p:spTgt spid="508931">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08931">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08931">
                                            <p:txEl>
                                              <p:pRg st="3" end="3"/>
                                            </p:txEl>
                                          </p:spTgt>
                                        </p:tgtEl>
                                        <p:attrNameLst>
                                          <p:attrName>style.visibility</p:attrName>
                                        </p:attrNameLst>
                                      </p:cBhvr>
                                      <p:to>
                                        <p:strVal val="visible"/>
                                      </p:to>
                                    </p:set>
                                    <p:anim calcmode="lin" valueType="num">
                                      <p:cBhvr additive="base">
                                        <p:cTn id="15" dur="500" fill="hold"/>
                                        <p:tgtEl>
                                          <p:spTgt spid="508931">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08931">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08931">
                                            <p:txEl>
                                              <p:pRg st="4" end="4"/>
                                            </p:txEl>
                                          </p:spTgt>
                                        </p:tgtEl>
                                        <p:attrNameLst>
                                          <p:attrName>style.visibility</p:attrName>
                                        </p:attrNameLst>
                                      </p:cBhvr>
                                      <p:to>
                                        <p:strVal val="visible"/>
                                      </p:to>
                                    </p:set>
                                    <p:anim calcmode="lin" valueType="num">
                                      <p:cBhvr additive="base">
                                        <p:cTn id="19" dur="500" fill="hold"/>
                                        <p:tgtEl>
                                          <p:spTgt spid="508931">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08931">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08931">
                                            <p:txEl>
                                              <p:pRg st="5" end="5"/>
                                            </p:txEl>
                                          </p:spTgt>
                                        </p:tgtEl>
                                        <p:attrNameLst>
                                          <p:attrName>style.visibility</p:attrName>
                                        </p:attrNameLst>
                                      </p:cBhvr>
                                      <p:to>
                                        <p:strVal val="visible"/>
                                      </p:to>
                                    </p:set>
                                    <p:anim calcmode="lin" valueType="num">
                                      <p:cBhvr additive="base">
                                        <p:cTn id="23" dur="500" fill="hold"/>
                                        <p:tgtEl>
                                          <p:spTgt spid="508931">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08931">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08931">
                                            <p:txEl>
                                              <p:pRg st="6" end="6"/>
                                            </p:txEl>
                                          </p:spTgt>
                                        </p:tgtEl>
                                        <p:attrNameLst>
                                          <p:attrName>style.visibility</p:attrName>
                                        </p:attrNameLst>
                                      </p:cBhvr>
                                      <p:to>
                                        <p:strVal val="visible"/>
                                      </p:to>
                                    </p:set>
                                    <p:anim calcmode="lin" valueType="num">
                                      <p:cBhvr additive="base">
                                        <p:cTn id="27" dur="500" fill="hold"/>
                                        <p:tgtEl>
                                          <p:spTgt spid="508931">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08931">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508931">
                                            <p:txEl>
                                              <p:pRg st="7" end="7"/>
                                            </p:txEl>
                                          </p:spTgt>
                                        </p:tgtEl>
                                        <p:attrNameLst>
                                          <p:attrName>style.visibility</p:attrName>
                                        </p:attrNameLst>
                                      </p:cBhvr>
                                      <p:to>
                                        <p:strVal val="visible"/>
                                      </p:to>
                                    </p:set>
                                    <p:anim calcmode="lin" valueType="num">
                                      <p:cBhvr additive="base">
                                        <p:cTn id="31" dur="500" fill="hold"/>
                                        <p:tgtEl>
                                          <p:spTgt spid="508931">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08931">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508931">
                                            <p:txEl>
                                              <p:pRg st="8" end="8"/>
                                            </p:txEl>
                                          </p:spTgt>
                                        </p:tgtEl>
                                        <p:attrNameLst>
                                          <p:attrName>style.visibility</p:attrName>
                                        </p:attrNameLst>
                                      </p:cBhvr>
                                      <p:to>
                                        <p:strVal val="visible"/>
                                      </p:to>
                                    </p:set>
                                    <p:anim calcmode="lin" valueType="num">
                                      <p:cBhvr additive="base">
                                        <p:cTn id="35" dur="500" fill="hold"/>
                                        <p:tgtEl>
                                          <p:spTgt spid="508931">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08931">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3" name="Rectangle 1027"/>
          <p:cNvSpPr>
            <a:spLocks noGrp="1" noChangeArrowheads="1"/>
          </p:cNvSpPr>
          <p:nvPr>
            <p:ph idx="1"/>
          </p:nvPr>
        </p:nvSpPr>
        <p:spPr>
          <a:xfrm>
            <a:off x="250825" y="1052513"/>
            <a:ext cx="8569325" cy="5329237"/>
          </a:xfrm>
        </p:spPr>
        <p:txBody>
          <a:bodyPr>
            <a:normAutofit/>
          </a:bodyPr>
          <a:lstStyle/>
          <a:p>
            <a:pPr marL="0" indent="0" algn="just" eaLnBrk="1" hangingPunct="1">
              <a:lnSpc>
                <a:spcPct val="120000"/>
              </a:lnSpc>
              <a:buFont typeface="Monotype Sorts" pitchFamily="2" charset="2"/>
              <a:buNone/>
              <a:defRPr/>
            </a:pPr>
            <a:r>
              <a:rPr lang="en-US" altLang="zh-CN" sz="2800" b="1" dirty="0">
                <a:latin typeface="楷体_GB2312" pitchFamily="49" charset="-122"/>
                <a:ea typeface="楷体_GB2312" pitchFamily="49" charset="-122"/>
              </a:rPr>
              <a:t>（1） </a:t>
            </a:r>
            <a:r>
              <a:rPr lang="zh-CN" altLang="en-US" sz="2800" b="1" dirty="0">
                <a:latin typeface="楷体_GB2312" pitchFamily="49" charset="-122"/>
                <a:ea typeface="楷体_GB2312" pitchFamily="49" charset="-122"/>
              </a:rPr>
              <a:t>建立空链表</a:t>
            </a:r>
          </a:p>
          <a:p>
            <a:pPr marL="0" indent="0" algn="just" eaLnBrk="1" hangingPunct="1">
              <a:lnSpc>
                <a:spcPct val="120000"/>
              </a:lnSpc>
              <a:buFont typeface="Monotype Sorts" pitchFamily="2" charset="2"/>
              <a:buNone/>
              <a:defRPr/>
            </a:pPr>
            <a:r>
              <a:rPr lang="zh-CN" altLang="en-US" sz="2800" b="1" dirty="0">
                <a:latin typeface="楷体_GB2312" pitchFamily="49" charset="-122"/>
                <a:ea typeface="楷体_GB2312" pitchFamily="49" charset="-122"/>
              </a:rPr>
              <a:t>链表的建立过程是从空链表</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没有链表表元</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出发，逐渐插入链表新表元的过程。要使以变量</a:t>
            </a:r>
            <a:r>
              <a:rPr lang="en-US" altLang="zh-CN" sz="2800" b="1" dirty="0">
                <a:latin typeface="楷体_GB2312" pitchFamily="49" charset="-122"/>
                <a:ea typeface="楷体_GB2312" pitchFamily="49" charset="-122"/>
              </a:rPr>
              <a:t>head</a:t>
            </a:r>
            <a:r>
              <a:rPr lang="zh-CN" altLang="en-US" sz="2800" b="1" dirty="0">
                <a:latin typeface="楷体_GB2312" pitchFamily="49" charset="-122"/>
                <a:ea typeface="楷体_GB2312" pitchFamily="49" charset="-122"/>
              </a:rPr>
              <a:t>为头指针的链表为空链表，让</a:t>
            </a:r>
            <a:r>
              <a:rPr lang="en-US" altLang="zh-CN" sz="2800" b="1" dirty="0">
                <a:latin typeface="楷体_GB2312" pitchFamily="49" charset="-122"/>
                <a:ea typeface="楷体_GB2312" pitchFamily="49" charset="-122"/>
              </a:rPr>
              <a:t>head</a:t>
            </a:r>
            <a:r>
              <a:rPr lang="zh-CN" altLang="en-US" sz="2800" b="1" dirty="0">
                <a:latin typeface="楷体_GB2312" pitchFamily="49" charset="-122"/>
                <a:ea typeface="楷体_GB2312" pitchFamily="49" charset="-122"/>
              </a:rPr>
              <a:t>取</a:t>
            </a:r>
            <a:r>
              <a:rPr lang="en-US" altLang="zh-CN" sz="2800" b="1" dirty="0">
                <a:latin typeface="楷体_GB2312" pitchFamily="49" charset="-122"/>
                <a:ea typeface="楷体_GB2312" pitchFamily="49" charset="-122"/>
              </a:rPr>
              <a:t>NULL</a:t>
            </a:r>
            <a:r>
              <a:rPr lang="zh-CN" altLang="en-US" sz="2800" b="1" dirty="0">
                <a:latin typeface="楷体_GB2312" pitchFamily="49" charset="-122"/>
                <a:ea typeface="楷体_GB2312" pitchFamily="49" charset="-122"/>
              </a:rPr>
              <a:t>值即可。</a:t>
            </a:r>
          </a:p>
          <a:p>
            <a:pPr marL="0" indent="0" algn="just" eaLnBrk="1" hangingPunct="1">
              <a:lnSpc>
                <a:spcPct val="120000"/>
              </a:lnSpc>
              <a:buFont typeface="Monotype Sorts" pitchFamily="2" charset="2"/>
              <a:buNone/>
              <a:defRPr/>
            </a:pPr>
            <a:r>
              <a:rPr lang="zh-CN" altLang="en-US" sz="2800" b="1" dirty="0">
                <a:latin typeface="楷体_GB2312" pitchFamily="49" charset="-122"/>
                <a:ea typeface="楷体_GB2312" pitchFamily="49" charset="-122"/>
              </a:rPr>
              <a:t>语句：</a:t>
            </a:r>
            <a:r>
              <a:rPr lang="en-US" altLang="zh-CN" sz="2800" b="1" dirty="0">
                <a:latin typeface="楷体_GB2312" pitchFamily="49" charset="-122"/>
                <a:ea typeface="楷体_GB2312" pitchFamily="49" charset="-122"/>
              </a:rPr>
              <a:t>head = NULL;</a:t>
            </a:r>
          </a:p>
          <a:p>
            <a:pPr marL="0" indent="0" algn="just" eaLnBrk="1" hangingPunct="1">
              <a:lnSpc>
                <a:spcPct val="120000"/>
              </a:lnSpc>
              <a:buFont typeface="Monotype Sorts" pitchFamily="2" charset="2"/>
              <a:buNone/>
              <a:defRPr/>
            </a:pPr>
            <a:r>
              <a:rPr lang="zh-CN" altLang="en-US" sz="2800" b="1" dirty="0">
                <a:latin typeface="楷体_GB2312" pitchFamily="49" charset="-122"/>
                <a:ea typeface="楷体_GB2312" pitchFamily="49" charset="-122"/>
              </a:rPr>
              <a:t>说明：建立以</a:t>
            </a:r>
            <a:r>
              <a:rPr lang="en-US" altLang="zh-CN" sz="2800" b="1" dirty="0">
                <a:latin typeface="楷体_GB2312" pitchFamily="49" charset="-122"/>
                <a:ea typeface="楷体_GB2312" pitchFamily="49" charset="-122"/>
              </a:rPr>
              <a:t>head</a:t>
            </a:r>
            <a:r>
              <a:rPr lang="zh-CN" altLang="en-US" sz="2800" b="1" dirty="0">
                <a:latin typeface="楷体_GB2312" pitchFamily="49" charset="-122"/>
                <a:ea typeface="楷体_GB2312" pitchFamily="49" charset="-122"/>
              </a:rPr>
              <a:t>为链表头指针的空链表。</a:t>
            </a:r>
          </a:p>
        </p:txBody>
      </p:sp>
      <p:sp>
        <p:nvSpPr>
          <p:cNvPr id="5" name="灯片编号占位符 5"/>
          <p:cNvSpPr>
            <a:spLocks noGrp="1"/>
          </p:cNvSpPr>
          <p:nvPr>
            <p:ph type="sldNum" sz="quarter" idx="12"/>
          </p:nvPr>
        </p:nvSpPr>
        <p:spPr/>
        <p:txBody>
          <a:bodyPr/>
          <a:lstStyle/>
          <a:p>
            <a:pPr>
              <a:defRPr/>
            </a:pPr>
            <a:fld id="{3B3B4D6A-6A49-4BA0-8857-9E5644A0976E}" type="slidenum">
              <a:rPr lang="en-US" altLang="zh-CN"/>
              <a:pPr>
                <a:defRPr/>
              </a:pPr>
              <a:t>63</a:t>
            </a:fld>
            <a:endParaRPr lang="en-US" altLang="zh-CN"/>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3554" name="Rectangle 2"/>
          <p:cNvSpPr>
            <a:spLocks noGrp="1" noChangeArrowheads="1"/>
          </p:cNvSpPr>
          <p:nvPr>
            <p:ph idx="1"/>
          </p:nvPr>
        </p:nvSpPr>
        <p:spPr>
          <a:xfrm>
            <a:off x="250825" y="1196975"/>
            <a:ext cx="8569325" cy="5905500"/>
          </a:xfrm>
        </p:spPr>
        <p:txBody>
          <a:bodyPr>
            <a:noAutofit/>
          </a:bodyPr>
          <a:lstStyle/>
          <a:p>
            <a:pPr marL="0" indent="0" eaLnBrk="1" hangingPunct="1">
              <a:buFont typeface="Monotype Sorts" pitchFamily="2" charset="2"/>
              <a:buNone/>
              <a:defRPr/>
            </a:pPr>
            <a:r>
              <a:rPr lang="zh-CN" altLang="en-US" sz="2400" b="1" dirty="0">
                <a:latin typeface="楷体_GB2312" pitchFamily="49" charset="-122"/>
                <a:ea typeface="楷体_GB2312" pitchFamily="49" charset="-122"/>
              </a:rPr>
              <a:t>假设要创建一个新的学生，该生的学号、姓名和成绩从键盘输入。程序应首先向系统申请对应该生的表元的存储空间，然后输入该生的信息存入这个表元。例如</a:t>
            </a:r>
          </a:p>
          <a:p>
            <a:pPr marL="0" indent="0" eaLnBrk="1" hangingPunct="1">
              <a:buFont typeface="Monotype Sorts" pitchFamily="2" charset="2"/>
              <a:buNone/>
              <a:defRPr/>
            </a:pPr>
            <a:r>
              <a:rPr lang="en-US" altLang="zh-CN" sz="2400" b="1" dirty="0">
                <a:solidFill>
                  <a:schemeClr val="tx1"/>
                </a:solidFill>
                <a:latin typeface="楷体_GB2312" pitchFamily="49" charset="-122"/>
                <a:ea typeface="楷体_GB2312" pitchFamily="49" charset="-122"/>
              </a:rPr>
              <a:t>p=(</a:t>
            </a:r>
            <a:r>
              <a:rPr lang="en-US" altLang="zh-CN" sz="2400" b="1" dirty="0" err="1">
                <a:solidFill>
                  <a:schemeClr val="tx1"/>
                </a:solidFill>
                <a:latin typeface="楷体_GB2312" pitchFamily="49" charset="-122"/>
                <a:ea typeface="楷体_GB2312" pitchFamily="49" charset="-122"/>
              </a:rPr>
              <a:t>stuS</a:t>
            </a:r>
            <a:r>
              <a:rPr lang="en-US" altLang="zh-CN" sz="2400" b="1" dirty="0">
                <a:solidFill>
                  <a:schemeClr val="tx1"/>
                </a:solidFill>
                <a:latin typeface="楷体_GB2312" pitchFamily="49" charset="-122"/>
                <a:ea typeface="楷体_GB2312" pitchFamily="49" charset="-122"/>
              </a:rPr>
              <a:t> *)</a:t>
            </a:r>
            <a:r>
              <a:rPr lang="en-US" altLang="zh-CN" sz="2400" b="1" dirty="0" err="1">
                <a:solidFill>
                  <a:schemeClr val="tx1"/>
                </a:solidFill>
                <a:latin typeface="楷体_GB2312" pitchFamily="49" charset="-122"/>
                <a:ea typeface="楷体_GB2312" pitchFamily="49" charset="-122"/>
              </a:rPr>
              <a:t>malloc</a:t>
            </a:r>
            <a:r>
              <a:rPr lang="en-US" altLang="zh-CN" sz="2400" b="1" dirty="0">
                <a:solidFill>
                  <a:schemeClr val="tx1"/>
                </a:solidFill>
                <a:latin typeface="楷体_GB2312" pitchFamily="49" charset="-122"/>
                <a:ea typeface="楷体_GB2312" pitchFamily="49" charset="-122"/>
              </a:rPr>
              <a:t>(</a:t>
            </a:r>
            <a:r>
              <a:rPr lang="en-US" altLang="zh-CN" sz="2400" b="1" dirty="0" err="1">
                <a:solidFill>
                  <a:schemeClr val="tx1"/>
                </a:solidFill>
                <a:latin typeface="楷体_GB2312" pitchFamily="49" charset="-122"/>
                <a:ea typeface="楷体_GB2312" pitchFamily="49" charset="-122"/>
              </a:rPr>
              <a:t>sizeof</a:t>
            </a:r>
            <a:r>
              <a:rPr lang="en-US" altLang="zh-CN" sz="2400" b="1" dirty="0">
                <a:solidFill>
                  <a:schemeClr val="tx1"/>
                </a:solidFill>
                <a:latin typeface="楷体_GB2312" pitchFamily="49" charset="-122"/>
                <a:ea typeface="楷体_GB2312" pitchFamily="49" charset="-122"/>
              </a:rPr>
              <a:t>(</a:t>
            </a:r>
            <a:r>
              <a:rPr lang="en-US" altLang="zh-CN" sz="2400" b="1" dirty="0" err="1">
                <a:solidFill>
                  <a:schemeClr val="tx1"/>
                </a:solidFill>
                <a:latin typeface="楷体_GB2312" pitchFamily="49" charset="-122"/>
                <a:ea typeface="楷体_GB2312" pitchFamily="49" charset="-122"/>
              </a:rPr>
              <a:t>stuS</a:t>
            </a:r>
            <a:r>
              <a:rPr lang="en-US" altLang="zh-CN" sz="2400" b="1" dirty="0">
                <a:solidFill>
                  <a:schemeClr val="tx1"/>
                </a:solidFill>
                <a:latin typeface="楷体_GB2312" pitchFamily="49" charset="-122"/>
                <a:ea typeface="楷体_GB2312" pitchFamily="49" charset="-122"/>
              </a:rPr>
              <a:t>));//</a:t>
            </a:r>
            <a:r>
              <a:rPr lang="en-US" altLang="zh-CN" sz="2400" b="1" dirty="0">
                <a:solidFill>
                  <a:srgbClr val="0070C0"/>
                </a:solidFill>
                <a:latin typeface="楷体_GB2312" pitchFamily="49" charset="-122"/>
                <a:ea typeface="楷体_GB2312" pitchFamily="49" charset="-122"/>
              </a:rPr>
              <a:t>p</a:t>
            </a:r>
            <a:r>
              <a:rPr lang="zh-CN" altLang="en-US" sz="2400" b="1" dirty="0">
                <a:solidFill>
                  <a:srgbClr val="0070C0"/>
                </a:solidFill>
                <a:latin typeface="楷体_GB2312" pitchFamily="49" charset="-122"/>
                <a:ea typeface="楷体_GB2312" pitchFamily="49" charset="-122"/>
              </a:rPr>
              <a:t>指向申请到的存储块</a:t>
            </a:r>
          </a:p>
          <a:p>
            <a:pPr marL="0" indent="0" eaLnBrk="1" hangingPunct="1">
              <a:buFont typeface="Monotype Sorts" pitchFamily="2" charset="2"/>
              <a:buNone/>
              <a:defRPr/>
            </a:pPr>
            <a:r>
              <a:rPr lang="en-US" altLang="zh-CN" sz="2400" b="1" dirty="0" err="1">
                <a:solidFill>
                  <a:schemeClr val="tx1"/>
                </a:solidFill>
                <a:latin typeface="楷体_GB2312" pitchFamily="49" charset="-122"/>
                <a:ea typeface="楷体_GB2312" pitchFamily="49" charset="-122"/>
              </a:rPr>
              <a:t>scanf</a:t>
            </a:r>
            <a:r>
              <a:rPr lang="en-US" altLang="zh-CN" sz="2400" b="1" dirty="0">
                <a:solidFill>
                  <a:schemeClr val="tx1"/>
                </a:solidFill>
                <a:latin typeface="楷体_GB2312" pitchFamily="49" charset="-122"/>
                <a:ea typeface="楷体_GB2312" pitchFamily="49" charset="-122"/>
              </a:rPr>
              <a:t>(</a:t>
            </a:r>
            <a:r>
              <a:rPr lang="en-US" altLang="zh-CN" sz="2400" b="1" dirty="0">
                <a:solidFill>
                  <a:schemeClr val="tx1"/>
                </a:solidFill>
                <a:ea typeface="楷体_GB2312" pitchFamily="49" charset="-122"/>
              </a:rPr>
              <a:t>“</a:t>
            </a:r>
            <a:r>
              <a:rPr lang="en-US" altLang="zh-CN" sz="2400" b="1" dirty="0">
                <a:solidFill>
                  <a:schemeClr val="tx1"/>
                </a:solidFill>
                <a:latin typeface="楷体_GB2312" pitchFamily="49" charset="-122"/>
                <a:ea typeface="楷体_GB2312" pitchFamily="49" charset="-122"/>
              </a:rPr>
              <a:t>%</a:t>
            </a:r>
            <a:r>
              <a:rPr lang="en-US" altLang="zh-CN" sz="2400" b="1" dirty="0" err="1">
                <a:solidFill>
                  <a:schemeClr val="tx1"/>
                </a:solidFill>
                <a:latin typeface="楷体_GB2312" pitchFamily="49" charset="-122"/>
                <a:ea typeface="楷体_GB2312" pitchFamily="49" charset="-122"/>
              </a:rPr>
              <a:t>d%s%d</a:t>
            </a:r>
            <a:r>
              <a:rPr lang="en-US" altLang="zh-CN" sz="2400" b="1" dirty="0">
                <a:solidFill>
                  <a:schemeClr val="tx1"/>
                </a:solidFill>
                <a:ea typeface="楷体_GB2312" pitchFamily="49" charset="-122"/>
              </a:rPr>
              <a:t>”</a:t>
            </a:r>
            <a:r>
              <a:rPr lang="en-US" altLang="zh-CN" sz="2400" b="1" dirty="0">
                <a:solidFill>
                  <a:schemeClr val="tx1"/>
                </a:solidFill>
                <a:latin typeface="楷体_GB2312" pitchFamily="49" charset="-122"/>
                <a:ea typeface="楷体_GB2312" pitchFamily="49" charset="-122"/>
              </a:rPr>
              <a:t>, &amp;p-&gt;number, p-&gt;name, &amp;p-&gt;score);/* </a:t>
            </a:r>
            <a:r>
              <a:rPr lang="zh-CN" altLang="en-US" sz="2400" b="1" dirty="0">
                <a:solidFill>
                  <a:schemeClr val="tx1"/>
                </a:solidFill>
                <a:latin typeface="楷体_GB2312" pitchFamily="49" charset="-122"/>
                <a:ea typeface="楷体_GB2312" pitchFamily="49" charset="-122"/>
              </a:rPr>
              <a:t>输入并存储本表元的值 *</a:t>
            </a:r>
            <a:r>
              <a:rPr lang="en-US" altLang="zh-CN" sz="2400" b="1" dirty="0">
                <a:solidFill>
                  <a:schemeClr val="tx1"/>
                </a:solidFill>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solidFill>
                  <a:srgbClr val="FF0000"/>
                </a:solidFill>
                <a:latin typeface="楷体_GB2312" pitchFamily="49" charset="-122"/>
                <a:ea typeface="楷体_GB2312" pitchFamily="49" charset="-122"/>
              </a:rPr>
              <a:t>p-&gt;next = NULL;    </a:t>
            </a:r>
            <a:r>
              <a:rPr lang="en-US" altLang="zh-CN" sz="2400" b="1" dirty="0">
                <a:solidFill>
                  <a:schemeClr val="tx1"/>
                </a:solidFill>
                <a:latin typeface="楷体_GB2312" pitchFamily="49" charset="-122"/>
                <a:ea typeface="楷体_GB2312" pitchFamily="49" charset="-122"/>
              </a:rPr>
              <a:t>	/* </a:t>
            </a:r>
            <a:r>
              <a:rPr lang="zh-CN" altLang="en-US" sz="2400" b="1" dirty="0">
                <a:solidFill>
                  <a:schemeClr val="tx1"/>
                </a:solidFill>
                <a:latin typeface="楷体_GB2312" pitchFamily="49" charset="-122"/>
                <a:ea typeface="楷体_GB2312" pitchFamily="49" charset="-122"/>
              </a:rPr>
              <a:t>后继表元地址为空 *</a:t>
            </a:r>
            <a:r>
              <a:rPr lang="en-US" altLang="zh-CN" sz="2400" b="1" dirty="0">
                <a:solidFill>
                  <a:schemeClr val="tx1"/>
                </a:solidFill>
                <a:latin typeface="楷体_GB2312" pitchFamily="49" charset="-122"/>
                <a:ea typeface="楷体_GB2312" pitchFamily="49" charset="-122"/>
              </a:rPr>
              <a:t>/</a:t>
            </a:r>
          </a:p>
          <a:p>
            <a:pPr marL="0" indent="0" eaLnBrk="1" hangingPunct="1">
              <a:buFont typeface="Monotype Sorts" pitchFamily="2" charset="2"/>
              <a:buNone/>
              <a:defRPr/>
            </a:pPr>
            <a:r>
              <a:rPr lang="zh-CN" altLang="en-US" sz="2400" b="1" dirty="0">
                <a:latin typeface="楷体_GB2312" pitchFamily="49" charset="-122"/>
                <a:ea typeface="楷体_GB2312" pitchFamily="49" charset="-122"/>
              </a:rPr>
              <a:t>函数调用</a:t>
            </a:r>
            <a:r>
              <a:rPr lang="en-US" altLang="zh-CN" sz="2400" b="1" dirty="0" err="1">
                <a:latin typeface="楷体_GB2312" pitchFamily="49" charset="-122"/>
                <a:ea typeface="楷体_GB2312" pitchFamily="49" charset="-122"/>
              </a:rPr>
              <a:t>malloc</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的实参表达式</a:t>
            </a:r>
            <a:r>
              <a:rPr lang="en-US" altLang="zh-CN" sz="2400" b="1" dirty="0" err="1">
                <a:latin typeface="楷体_GB2312" pitchFamily="49" charset="-122"/>
                <a:ea typeface="楷体_GB2312" pitchFamily="49" charset="-122"/>
              </a:rPr>
              <a:t>sizeof</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stuS</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是单链表上一个表元所需的字节数。</a:t>
            </a:r>
            <a:r>
              <a:rPr lang="en-US" altLang="zh-CN" sz="2400" b="1" dirty="0" err="1">
                <a:latin typeface="楷体_GB2312" pitchFamily="49" charset="-122"/>
                <a:ea typeface="楷体_GB2312" pitchFamily="49" charset="-122"/>
              </a:rPr>
              <a:t>malloc</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函数的返回值是一个新的动态变量的开始地址，返回值作</a:t>
            </a:r>
            <a:r>
              <a:rPr lang="zh-CN" altLang="en-US" sz="2400" b="1" dirty="0">
                <a:solidFill>
                  <a:schemeClr val="tx1"/>
                </a:solidFill>
                <a:latin typeface="楷体_GB2312" pitchFamily="49" charset="-122"/>
                <a:ea typeface="楷体_GB2312" pitchFamily="49" charset="-122"/>
              </a:rPr>
              <a:t>强制类型转换</a:t>
            </a:r>
            <a:r>
              <a:rPr lang="en-US" altLang="zh-CN" sz="2400" b="1" dirty="0">
                <a:solidFill>
                  <a:schemeClr val="tx1"/>
                </a:solidFill>
                <a:latin typeface="楷体_GB2312" pitchFamily="49" charset="-122"/>
                <a:ea typeface="楷体_GB2312" pitchFamily="49" charset="-122"/>
              </a:rPr>
              <a:t>(</a:t>
            </a:r>
            <a:r>
              <a:rPr lang="en-US" altLang="zh-CN" sz="2400" b="1" dirty="0" err="1">
                <a:solidFill>
                  <a:schemeClr val="tx1"/>
                </a:solidFill>
                <a:latin typeface="楷体_GB2312" pitchFamily="49" charset="-122"/>
                <a:ea typeface="楷体_GB2312" pitchFamily="49" charset="-122"/>
              </a:rPr>
              <a:t>stuS</a:t>
            </a:r>
            <a:r>
              <a:rPr lang="en-US" altLang="zh-CN" sz="2400" b="1" dirty="0">
                <a:solidFill>
                  <a:schemeClr val="tx1"/>
                </a:solidFill>
                <a:latin typeface="楷体_GB2312" pitchFamily="49" charset="-122"/>
                <a:ea typeface="楷体_GB2312" pitchFamily="49" charset="-122"/>
              </a:rPr>
              <a:t> *)</a:t>
            </a:r>
            <a:r>
              <a:rPr lang="zh-CN" altLang="en-US" sz="2400" b="1" dirty="0">
                <a:solidFill>
                  <a:schemeClr val="tx1"/>
                </a:solidFill>
                <a:latin typeface="楷体_GB2312" pitchFamily="49" charset="-122"/>
                <a:ea typeface="楷体_GB2312" pitchFamily="49" charset="-122"/>
              </a:rPr>
              <a:t>，使返回的</a:t>
            </a:r>
            <a:r>
              <a:rPr lang="en-US" altLang="zh-CN" sz="2400" b="1" dirty="0">
                <a:solidFill>
                  <a:schemeClr val="tx1"/>
                </a:solidFill>
                <a:latin typeface="楷体_GB2312" pitchFamily="49" charset="-122"/>
                <a:ea typeface="楷体_GB2312" pitchFamily="49" charset="-122"/>
              </a:rPr>
              <a:t>(void *)</a:t>
            </a:r>
            <a:r>
              <a:rPr lang="zh-CN" altLang="en-US" sz="2400" b="1" dirty="0">
                <a:solidFill>
                  <a:schemeClr val="tx1"/>
                </a:solidFill>
                <a:latin typeface="楷体_GB2312" pitchFamily="49" charset="-122"/>
                <a:ea typeface="楷体_GB2312" pitchFamily="49" charset="-122"/>
              </a:rPr>
              <a:t>无类型指针转换成</a:t>
            </a:r>
            <a:r>
              <a:rPr lang="en-US" altLang="zh-CN" sz="2400" b="1" dirty="0" err="1">
                <a:solidFill>
                  <a:schemeClr val="tx1"/>
                </a:solidFill>
                <a:latin typeface="楷体_GB2312" pitchFamily="49" charset="-122"/>
                <a:ea typeface="楷体_GB2312" pitchFamily="49" charset="-122"/>
              </a:rPr>
              <a:t>struct</a:t>
            </a:r>
            <a:r>
              <a:rPr lang="en-US" altLang="zh-CN" sz="2400" b="1" dirty="0">
                <a:solidFill>
                  <a:schemeClr val="tx1"/>
                </a:solidFill>
                <a:latin typeface="楷体_GB2312" pitchFamily="49" charset="-122"/>
                <a:ea typeface="楷体_GB2312" pitchFamily="49" charset="-122"/>
              </a:rPr>
              <a:t> </a:t>
            </a:r>
            <a:r>
              <a:rPr lang="en-US" altLang="zh-CN" sz="2400" b="1" dirty="0" err="1">
                <a:solidFill>
                  <a:schemeClr val="tx1"/>
                </a:solidFill>
                <a:latin typeface="楷体_GB2312" pitchFamily="49" charset="-122"/>
                <a:ea typeface="楷体_GB2312" pitchFamily="49" charset="-122"/>
              </a:rPr>
              <a:t>stuS</a:t>
            </a:r>
            <a:r>
              <a:rPr lang="en-US" altLang="zh-CN" sz="2400" b="1" dirty="0">
                <a:solidFill>
                  <a:schemeClr val="tx1"/>
                </a:solidFill>
                <a:latin typeface="楷体_GB2312" pitchFamily="49" charset="-122"/>
                <a:ea typeface="楷体_GB2312" pitchFamily="49" charset="-122"/>
              </a:rPr>
              <a:t> * </a:t>
            </a:r>
            <a:r>
              <a:rPr lang="zh-CN" altLang="en-US" sz="2400" b="1" dirty="0">
                <a:solidFill>
                  <a:schemeClr val="tx1"/>
                </a:solidFill>
                <a:latin typeface="楷体_GB2312" pitchFamily="49" charset="-122"/>
                <a:ea typeface="楷体_GB2312" pitchFamily="49" charset="-122"/>
              </a:rPr>
              <a:t>类型的指针</a:t>
            </a:r>
            <a:r>
              <a:rPr lang="zh-CN" altLang="en-US" sz="2400" b="1" dirty="0">
                <a:latin typeface="楷体_GB2312" pitchFamily="49" charset="-122"/>
                <a:ea typeface="楷体_GB2312" pitchFamily="49" charset="-122"/>
              </a:rPr>
              <a:t>，并将该指针赋给指针变量</a:t>
            </a:r>
            <a:r>
              <a:rPr lang="en-US" altLang="zh-CN" sz="2400" b="1" dirty="0">
                <a:latin typeface="楷体_GB2312" pitchFamily="49" charset="-122"/>
                <a:ea typeface="楷体_GB2312" pitchFamily="49" charset="-122"/>
              </a:rPr>
              <a:t>p</a:t>
            </a:r>
            <a:r>
              <a:rPr lang="zh-CN" altLang="en-US" sz="2400" b="1" dirty="0">
                <a:latin typeface="楷体_GB2312" pitchFamily="49" charset="-122"/>
                <a:ea typeface="楷体_GB2312" pitchFamily="49" charset="-122"/>
              </a:rPr>
              <a:t>。就可使用</a:t>
            </a:r>
            <a:r>
              <a:rPr lang="en-US" altLang="zh-CN" sz="2400" b="1" dirty="0">
                <a:latin typeface="楷体_GB2312" pitchFamily="49" charset="-122"/>
                <a:ea typeface="楷体_GB2312" pitchFamily="49" charset="-122"/>
              </a:rPr>
              <a:t>p-&gt;number</a:t>
            </a:r>
            <a:r>
              <a:rPr lang="zh-CN" altLang="en-US" sz="2400" b="1" dirty="0">
                <a:latin typeface="楷体_GB2312" pitchFamily="49" charset="-122"/>
                <a:ea typeface="楷体_GB2312" pitchFamily="49" charset="-122"/>
              </a:rPr>
              <a:t>和</a:t>
            </a:r>
            <a:r>
              <a:rPr lang="en-US" altLang="zh-CN" sz="2400" b="1" dirty="0">
                <a:latin typeface="楷体_GB2312" pitchFamily="49" charset="-122"/>
                <a:ea typeface="楷体_GB2312" pitchFamily="49" charset="-122"/>
              </a:rPr>
              <a:t>p-&gt;next</a:t>
            </a:r>
            <a:r>
              <a:rPr lang="zh-CN" altLang="en-US" sz="2400" b="1" dirty="0">
                <a:latin typeface="楷体_GB2312" pitchFamily="49" charset="-122"/>
                <a:ea typeface="楷体_GB2312" pitchFamily="49" charset="-122"/>
              </a:rPr>
              <a:t>间接引用动态变量的成员</a:t>
            </a:r>
            <a:r>
              <a:rPr lang="en-US" altLang="zh-CN" sz="2400" b="1" dirty="0">
                <a:latin typeface="楷体_GB2312" pitchFamily="49" charset="-122"/>
                <a:ea typeface="楷体_GB2312" pitchFamily="49" charset="-122"/>
              </a:rPr>
              <a:t>number</a:t>
            </a:r>
            <a:r>
              <a:rPr lang="zh-CN" altLang="en-US" sz="2400" b="1" dirty="0">
                <a:latin typeface="楷体_GB2312" pitchFamily="49" charset="-122"/>
                <a:ea typeface="楷体_GB2312" pitchFamily="49" charset="-122"/>
              </a:rPr>
              <a:t>和</a:t>
            </a:r>
            <a:r>
              <a:rPr lang="en-US" altLang="zh-CN" sz="2400" b="1" dirty="0">
                <a:latin typeface="楷体_GB2312" pitchFamily="49" charset="-122"/>
                <a:ea typeface="楷体_GB2312" pitchFamily="49" charset="-122"/>
              </a:rPr>
              <a:t>next</a:t>
            </a:r>
            <a:r>
              <a:rPr lang="zh-CN" altLang="en-US" sz="2400" b="1"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 </a:t>
            </a:r>
          </a:p>
        </p:txBody>
      </p:sp>
      <p:sp>
        <p:nvSpPr>
          <p:cNvPr id="6" name="灯片编号占位符 5"/>
          <p:cNvSpPr>
            <a:spLocks noGrp="1"/>
          </p:cNvSpPr>
          <p:nvPr>
            <p:ph type="sldNum" sz="quarter" idx="12"/>
          </p:nvPr>
        </p:nvSpPr>
        <p:spPr/>
        <p:txBody>
          <a:bodyPr/>
          <a:lstStyle/>
          <a:p>
            <a:pPr>
              <a:defRPr/>
            </a:pPr>
            <a:fld id="{0D9052D5-D13D-4FEA-9C23-499004CA3B52}" type="slidenum">
              <a:rPr lang="en-US" altLang="zh-CN"/>
              <a:pPr>
                <a:defRPr/>
              </a:pPr>
              <a:t>64</a:t>
            </a:fld>
            <a:endParaRPr lang="en-US" altLang="zh-CN"/>
          </a:p>
        </p:txBody>
      </p:sp>
      <p:sp>
        <p:nvSpPr>
          <p:cNvPr id="663555" name="Text Box 3"/>
          <p:cNvSpPr txBox="1">
            <a:spLocks noChangeArrowheads="1"/>
          </p:cNvSpPr>
          <p:nvPr/>
        </p:nvSpPr>
        <p:spPr bwMode="auto">
          <a:xfrm>
            <a:off x="376238" y="317500"/>
            <a:ext cx="3432175" cy="523875"/>
          </a:xfrm>
          <a:prstGeom prst="rect">
            <a:avLst/>
          </a:prstGeom>
          <a:noFill/>
          <a:ln w="9525">
            <a:noFill/>
            <a:miter lim="800000"/>
            <a:headEnd/>
            <a:tailEnd/>
          </a:ln>
          <a:effectLst/>
        </p:spPr>
        <p:txBody>
          <a:bodyPr wrap="none">
            <a:spAutoFit/>
          </a:bodyPr>
          <a:lstStyle/>
          <a:p>
            <a:pPr>
              <a:defRPr/>
            </a:pPr>
            <a:r>
              <a:rPr lang="en-US" altLang="zh-CN" sz="2800" b="1" dirty="0">
                <a:latin typeface="楷体_GB2312" pitchFamily="49" charset="-122"/>
                <a:ea typeface="楷体_GB2312" pitchFamily="49" charset="-122"/>
              </a:rPr>
              <a:t>（2</a:t>
            </a:r>
            <a:r>
              <a:rPr lang="zh-CN" altLang="en-US" sz="2800" b="1" dirty="0">
                <a:latin typeface="楷体_GB2312" pitchFamily="49" charset="-122"/>
                <a:ea typeface="楷体_GB2312" pitchFamily="49" charset="-122"/>
              </a:rPr>
              <a:t>）创建一个表元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63554">
                                            <p:txEl>
                                              <p:pRg st="3" end="3"/>
                                            </p:txEl>
                                          </p:spTgt>
                                        </p:tgtEl>
                                        <p:attrNameLst>
                                          <p:attrName>style.visibility</p:attrName>
                                        </p:attrNameLst>
                                      </p:cBhvr>
                                      <p:to>
                                        <p:strVal val="visible"/>
                                      </p:to>
                                    </p:set>
                                    <p:anim calcmode="lin" valueType="num">
                                      <p:cBhvr additive="base">
                                        <p:cTn id="7" dur="500" fill="hold"/>
                                        <p:tgtEl>
                                          <p:spTgt spid="663554">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6355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63554">
                                            <p:txEl>
                                              <p:pRg st="4" end="4"/>
                                            </p:txEl>
                                          </p:spTgt>
                                        </p:tgtEl>
                                        <p:attrNameLst>
                                          <p:attrName>style.visibility</p:attrName>
                                        </p:attrNameLst>
                                      </p:cBhvr>
                                      <p:to>
                                        <p:strVal val="visible"/>
                                      </p:to>
                                    </p:set>
                                    <p:anim calcmode="lin" valueType="num">
                                      <p:cBhvr additive="base">
                                        <p:cTn id="13" dur="500" fill="hold"/>
                                        <p:tgtEl>
                                          <p:spTgt spid="663554">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6355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6" name="Rectangle 2"/>
          <p:cNvSpPr>
            <a:spLocks noGrp="1" noChangeArrowheads="1"/>
          </p:cNvSpPr>
          <p:nvPr>
            <p:ph idx="1"/>
          </p:nvPr>
        </p:nvSpPr>
        <p:spPr>
          <a:xfrm>
            <a:off x="250825" y="549275"/>
            <a:ext cx="8569325" cy="4752975"/>
          </a:xfrm>
        </p:spPr>
        <p:txBody>
          <a:bodyPr>
            <a:noAutofit/>
          </a:bodyPr>
          <a:lstStyle/>
          <a:p>
            <a:pPr marL="0" indent="0" eaLnBrk="1" hangingPunct="1">
              <a:buFont typeface="Monotype Sorts" pitchFamily="2" charset="2"/>
              <a:buNone/>
              <a:defRPr/>
            </a:pP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例</a:t>
            </a:r>
            <a:r>
              <a:rPr lang="en-US" altLang="zh-CN" sz="2800" b="1" dirty="0">
                <a:latin typeface="楷体_GB2312" pitchFamily="49" charset="-122"/>
                <a:ea typeface="楷体_GB2312" pitchFamily="49" charset="-122"/>
              </a:rPr>
              <a:t>7.4】</a:t>
            </a:r>
            <a:r>
              <a:rPr lang="zh-CN" altLang="en-US" sz="2800" b="1" dirty="0">
                <a:latin typeface="楷体_GB2312" pitchFamily="49" charset="-122"/>
                <a:ea typeface="楷体_GB2312" pitchFamily="49" charset="-122"/>
              </a:rPr>
              <a:t>编写创建一个学生表元的函数。</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设学生的学号、姓名和成绩由函数的形参指定，函数返回新表元的指针。函数首先调用</a:t>
            </a:r>
            <a:r>
              <a:rPr lang="en-US" altLang="zh-CN" sz="2800" b="1" dirty="0" err="1">
                <a:latin typeface="楷体_GB2312" pitchFamily="49" charset="-122"/>
                <a:ea typeface="楷体_GB2312" pitchFamily="49" charset="-122"/>
              </a:rPr>
              <a:t>malloc</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申请新表元的空间，空间所需的字节数为</a:t>
            </a:r>
            <a:r>
              <a:rPr lang="en-US" altLang="zh-CN" sz="2800" b="1" dirty="0" err="1">
                <a:latin typeface="楷体_GB2312" pitchFamily="49" charset="-122"/>
                <a:ea typeface="楷体_GB2312" pitchFamily="49" charset="-122"/>
              </a:rPr>
              <a:t>sizeof</a:t>
            </a:r>
            <a:r>
              <a:rPr lang="en-US" altLang="zh-CN" sz="2800" b="1" dirty="0">
                <a:latin typeface="楷体_GB2312" pitchFamily="49" charset="-122"/>
                <a:ea typeface="楷体_GB2312" pitchFamily="49" charset="-122"/>
              </a:rPr>
              <a:t>(</a:t>
            </a:r>
            <a:r>
              <a:rPr lang="en-US" altLang="zh-CN" sz="2800" b="1" dirty="0" err="1">
                <a:latin typeface="楷体_GB2312" pitchFamily="49" charset="-122"/>
                <a:ea typeface="楷体_GB2312" pitchFamily="49" charset="-122"/>
              </a:rPr>
              <a:t>stuS</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。然后将形参值存入新表元的相应成员中。最后，函数返回新表元的指针。</a:t>
            </a:r>
          </a:p>
          <a:p>
            <a:pPr marL="0" indent="0" eaLnBrk="1" hangingPunct="1">
              <a:buFont typeface="Monotype Sorts" pitchFamily="2" charset="2"/>
              <a:buNone/>
              <a:defRPr/>
            </a:pPr>
            <a:r>
              <a:rPr lang="en-US" altLang="zh-CN" sz="2400" b="1" dirty="0" err="1">
                <a:latin typeface="楷体_GB2312" pitchFamily="49" charset="-122"/>
                <a:ea typeface="楷体_GB2312" pitchFamily="49" charset="-122"/>
              </a:rPr>
              <a:t>stuS</a:t>
            </a: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createStudent</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int</a:t>
            </a: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num,char</a:t>
            </a: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name,int</a:t>
            </a:r>
            <a:r>
              <a:rPr lang="en-US" altLang="zh-CN" sz="2400" b="1" dirty="0">
                <a:latin typeface="楷体_GB2312" pitchFamily="49" charset="-122"/>
                <a:ea typeface="楷体_GB2312" pitchFamily="49" charset="-122"/>
              </a:rPr>
              <a:t> s)</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stuS</a:t>
            </a:r>
            <a:r>
              <a:rPr lang="en-US" altLang="zh-CN" sz="2400" b="1" dirty="0">
                <a:latin typeface="楷体_GB2312" pitchFamily="49" charset="-122"/>
                <a:ea typeface="楷体_GB2312" pitchFamily="49" charset="-122"/>
              </a:rPr>
              <a:t> *p = (</a:t>
            </a:r>
            <a:r>
              <a:rPr lang="en-US" altLang="zh-CN" sz="2400" b="1" dirty="0" err="1">
                <a:latin typeface="楷体_GB2312" pitchFamily="49" charset="-122"/>
                <a:ea typeface="楷体_GB2312" pitchFamily="49" charset="-122"/>
              </a:rPr>
              <a:t>stuS</a:t>
            </a: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malloc</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sizeof</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stuS</a:t>
            </a:r>
            <a:r>
              <a:rPr lang="en-US" altLang="zh-CN" sz="24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p-&gt;number = num;</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strcpy</a:t>
            </a:r>
            <a:r>
              <a:rPr lang="en-US" altLang="zh-CN" sz="2400" b="1" dirty="0">
                <a:latin typeface="楷体_GB2312" pitchFamily="49" charset="-122"/>
                <a:ea typeface="楷体_GB2312" pitchFamily="49" charset="-122"/>
              </a:rPr>
              <a:t>(p-&gt;name, name);</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p-&gt;score = s;</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p-&gt;next = NULL;</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return p;</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a:t>
            </a:r>
          </a:p>
        </p:txBody>
      </p:sp>
      <p:sp>
        <p:nvSpPr>
          <p:cNvPr id="5" name="灯片编号占位符 5"/>
          <p:cNvSpPr>
            <a:spLocks noGrp="1"/>
          </p:cNvSpPr>
          <p:nvPr>
            <p:ph type="sldNum" sz="quarter" idx="12"/>
          </p:nvPr>
        </p:nvSpPr>
        <p:spPr/>
        <p:txBody>
          <a:bodyPr/>
          <a:lstStyle/>
          <a:p>
            <a:pPr>
              <a:defRPr/>
            </a:pPr>
            <a:fld id="{4C5DA6F9-0AAB-48B5-8B54-6CE9399F0319}" type="slidenum">
              <a:rPr lang="en-US" altLang="zh-CN"/>
              <a:pPr>
                <a:defRPr/>
              </a:pPr>
              <a:t>65</a:t>
            </a:fld>
            <a:endParaRPr lang="en-US" altLang="zh-CN"/>
          </a:p>
        </p:txBody>
      </p:sp>
      <p:sp>
        <p:nvSpPr>
          <p:cNvPr id="4" name="圆角矩形标注 3"/>
          <p:cNvSpPr/>
          <p:nvPr/>
        </p:nvSpPr>
        <p:spPr>
          <a:xfrm>
            <a:off x="3131840" y="5156597"/>
            <a:ext cx="3528392" cy="1152128"/>
          </a:xfrm>
          <a:prstGeom prst="wedgeRoundRectCallout">
            <a:avLst>
              <a:gd name="adj1" fmla="val -84920"/>
              <a:gd name="adj2" fmla="val 43272"/>
              <a:gd name="adj3" fmla="val 16667"/>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err="1"/>
              <a:t>malloc</a:t>
            </a:r>
            <a:r>
              <a:rPr lang="zh-CN" altLang="en-US" dirty="0"/>
              <a:t>申请的空间在该函数外依然有效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02" name="Rectangle 2"/>
          <p:cNvSpPr>
            <a:spLocks noGrp="1" noChangeArrowheads="1"/>
          </p:cNvSpPr>
          <p:nvPr>
            <p:ph idx="1"/>
          </p:nvPr>
        </p:nvSpPr>
        <p:spPr>
          <a:xfrm>
            <a:off x="250825" y="981075"/>
            <a:ext cx="8569325" cy="4321175"/>
          </a:xfrm>
        </p:spPr>
        <p:txBody>
          <a:bodyPr>
            <a:noAutofit/>
          </a:bodyPr>
          <a:lstStyle/>
          <a:p>
            <a:pPr marL="0" indent="0" eaLnBrk="1" hangingPunct="1">
              <a:lnSpc>
                <a:spcPct val="80000"/>
              </a:lnSpc>
              <a:buFont typeface="Monotype Sorts" pitchFamily="2" charset="2"/>
              <a:buNone/>
              <a:defRPr/>
            </a:pPr>
            <a:r>
              <a:rPr lang="zh-CN" altLang="en-US" sz="2800" b="1" dirty="0">
                <a:latin typeface="楷体_GB2312" pitchFamily="49" charset="-122"/>
                <a:ea typeface="楷体_GB2312" pitchFamily="49" charset="-122"/>
              </a:rPr>
              <a:t>所谓遍历链表是顺序访问链表中的表元，对各表元作某种处理。例如，顺序输出链表各表元的数据。遍历单链表需从链表的首表元开始，沿着表元的链接顺序逐一考察链表的每个表元，直至链表结束。</a:t>
            </a:r>
          </a:p>
          <a:p>
            <a:pPr marL="0" indent="0" eaLnBrk="1" hangingPunct="1">
              <a:lnSpc>
                <a:spcPct val="80000"/>
              </a:lnSpc>
              <a:buFont typeface="Monotype Sorts" pitchFamily="2" charset="2"/>
              <a:buNone/>
              <a:defRPr/>
            </a:pPr>
            <a:endParaRPr lang="zh-CN" altLang="en-US" sz="2800" b="1" dirty="0">
              <a:latin typeface="楷体_GB2312" pitchFamily="49" charset="-122"/>
              <a:ea typeface="楷体_GB2312" pitchFamily="49" charset="-122"/>
            </a:endParaRPr>
          </a:p>
          <a:p>
            <a:pPr marL="0" indent="0" eaLnBrk="1" hangingPunct="1">
              <a:lnSpc>
                <a:spcPct val="80000"/>
              </a:lnSpc>
              <a:buFont typeface="Monotype Sorts" pitchFamily="2" charset="2"/>
              <a:buNone/>
              <a:defRPr/>
            </a:pPr>
            <a:r>
              <a:rPr lang="zh-CN" altLang="en-US" sz="2800" b="1" dirty="0">
                <a:latin typeface="楷体_GB2312" pitchFamily="49" charset="-122"/>
                <a:ea typeface="楷体_GB2312" pitchFamily="49" charset="-122"/>
              </a:rPr>
              <a:t>遍历链表的过程是一个循环，访问表元用输出表元的值示意。假设用工作指针</a:t>
            </a:r>
            <a:r>
              <a:rPr lang="en-US" altLang="zh-CN" sz="2800" b="1" dirty="0">
                <a:latin typeface="楷体_GB2312" pitchFamily="49" charset="-122"/>
                <a:ea typeface="楷体_GB2312" pitchFamily="49" charset="-122"/>
              </a:rPr>
              <a:t>p</a:t>
            </a:r>
            <a:r>
              <a:rPr lang="zh-CN" altLang="en-US" sz="2800" b="1" dirty="0">
                <a:latin typeface="楷体_GB2312" pitchFamily="49" charset="-122"/>
                <a:ea typeface="楷体_GB2312" pitchFamily="49" charset="-122"/>
              </a:rPr>
              <a:t>遍历整个链表，</a:t>
            </a:r>
            <a:r>
              <a:rPr lang="en-US" altLang="zh-CN" sz="2800" b="1" dirty="0">
                <a:latin typeface="楷体_GB2312" pitchFamily="49" charset="-122"/>
                <a:ea typeface="楷体_GB2312" pitchFamily="49" charset="-122"/>
              </a:rPr>
              <a:t>p</a:t>
            </a:r>
            <a:r>
              <a:rPr lang="zh-CN" altLang="en-US" sz="2800" b="1" dirty="0">
                <a:latin typeface="楷体_GB2312" pitchFamily="49" charset="-122"/>
                <a:ea typeface="楷体_GB2312" pitchFamily="49" charset="-122"/>
              </a:rPr>
              <a:t>的初值应该是链表的头指针，循环条件是指针</a:t>
            </a:r>
            <a:r>
              <a:rPr lang="en-US" altLang="zh-CN" sz="2800" b="1" dirty="0">
                <a:latin typeface="楷体_GB2312" pitchFamily="49" charset="-122"/>
                <a:ea typeface="楷体_GB2312" pitchFamily="49" charset="-122"/>
              </a:rPr>
              <a:t>p</a:t>
            </a:r>
            <a:r>
              <a:rPr lang="zh-CN" altLang="en-US" sz="2800" b="1" dirty="0">
                <a:latin typeface="楷体_GB2312" pitchFamily="49" charset="-122"/>
                <a:ea typeface="楷体_GB2312" pitchFamily="49" charset="-122"/>
              </a:rPr>
              <a:t>还指向某个表元，即</a:t>
            </a:r>
            <a:r>
              <a:rPr lang="en-US" altLang="zh-CN" sz="2800" b="1" dirty="0">
                <a:latin typeface="楷体_GB2312" pitchFamily="49" charset="-122"/>
                <a:ea typeface="楷体_GB2312" pitchFamily="49" charset="-122"/>
              </a:rPr>
              <a:t>p</a:t>
            </a:r>
            <a:r>
              <a:rPr lang="zh-CN" altLang="en-US" sz="2800" b="1" dirty="0">
                <a:latin typeface="楷体_GB2312" pitchFamily="49" charset="-122"/>
                <a:ea typeface="楷体_GB2312" pitchFamily="49" charset="-122"/>
              </a:rPr>
              <a:t>不等于</a:t>
            </a:r>
            <a:r>
              <a:rPr lang="en-US" altLang="zh-CN" sz="2800" b="1" dirty="0">
                <a:latin typeface="楷体_GB2312" pitchFamily="49" charset="-122"/>
                <a:ea typeface="楷体_GB2312" pitchFamily="49" charset="-122"/>
              </a:rPr>
              <a:t>NULL</a:t>
            </a:r>
            <a:r>
              <a:rPr lang="zh-CN" altLang="en-US" sz="2800" b="1" dirty="0">
                <a:latin typeface="楷体_GB2312" pitchFamily="49" charset="-122"/>
                <a:ea typeface="楷体_GB2312" pitchFamily="49" charset="-122"/>
              </a:rPr>
              <a:t>。</a:t>
            </a:r>
          </a:p>
          <a:p>
            <a:pPr marL="0" indent="0" eaLnBrk="1" hangingPunct="1">
              <a:lnSpc>
                <a:spcPct val="80000"/>
              </a:lnSpc>
              <a:buFont typeface="Monotype Sorts" pitchFamily="2" charset="2"/>
              <a:buNone/>
              <a:defRPr/>
            </a:pPr>
            <a:endParaRPr lang="zh-CN" altLang="en-US" sz="2800" b="1" dirty="0">
              <a:latin typeface="楷体_GB2312" pitchFamily="49" charset="-122"/>
              <a:ea typeface="楷体_GB2312" pitchFamily="49" charset="-122"/>
            </a:endParaRPr>
          </a:p>
          <a:p>
            <a:pPr marL="0" indent="0" eaLnBrk="1" hangingPunct="1">
              <a:lnSpc>
                <a:spcPct val="80000"/>
              </a:lnSpc>
              <a:buFont typeface="Monotype Sorts" pitchFamily="2" charset="2"/>
              <a:buNone/>
              <a:defRPr/>
            </a:pPr>
            <a:r>
              <a:rPr lang="zh-CN" altLang="en-US" sz="2800" b="1" dirty="0">
                <a:latin typeface="楷体_GB2312" pitchFamily="49" charset="-122"/>
                <a:ea typeface="楷体_GB2312" pitchFamily="49" charset="-122"/>
              </a:rPr>
              <a:t>循环要做的工作包括输出</a:t>
            </a:r>
            <a:r>
              <a:rPr lang="en-US" altLang="zh-CN" sz="2800" b="1" dirty="0">
                <a:latin typeface="楷体_GB2312" pitchFamily="49" charset="-122"/>
                <a:ea typeface="楷体_GB2312" pitchFamily="49" charset="-122"/>
              </a:rPr>
              <a:t>p</a:t>
            </a:r>
            <a:r>
              <a:rPr lang="zh-CN" altLang="en-US" sz="2800" b="1" dirty="0">
                <a:latin typeface="楷体_GB2312" pitchFamily="49" charset="-122"/>
                <a:ea typeface="楷体_GB2312" pitchFamily="49" charset="-122"/>
              </a:rPr>
              <a:t>所指向的表元的值，和准备考察下一个表元</a:t>
            </a:r>
            <a:r>
              <a:rPr lang="en-US" altLang="zh-CN" sz="2800" b="1" dirty="0">
                <a:latin typeface="楷体_GB2312" pitchFamily="49" charset="-122"/>
                <a:ea typeface="楷体_GB2312" pitchFamily="49" charset="-122"/>
              </a:rPr>
              <a:t>(</a:t>
            </a:r>
            <a:r>
              <a:rPr lang="en-US" altLang="zh-CN" sz="2800" b="1" dirty="0">
                <a:solidFill>
                  <a:srgbClr val="FF0000"/>
                </a:solidFill>
                <a:latin typeface="楷体_GB2312" pitchFamily="49" charset="-122"/>
                <a:ea typeface="楷体_GB2312" pitchFamily="49" charset="-122"/>
              </a:rPr>
              <a:t>p = p-&gt;next</a:t>
            </a:r>
            <a:r>
              <a:rPr lang="zh-CN" altLang="en-US" sz="2800" b="1" dirty="0">
                <a:latin typeface="楷体_GB2312" pitchFamily="49" charset="-122"/>
                <a:ea typeface="楷体_GB2312" pitchFamily="49" charset="-122"/>
              </a:rPr>
              <a:t>实现</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 </a:t>
            </a:r>
          </a:p>
        </p:txBody>
      </p:sp>
      <p:sp>
        <p:nvSpPr>
          <p:cNvPr id="6" name="灯片编号占位符 5"/>
          <p:cNvSpPr>
            <a:spLocks noGrp="1"/>
          </p:cNvSpPr>
          <p:nvPr>
            <p:ph type="sldNum" sz="quarter" idx="12"/>
          </p:nvPr>
        </p:nvSpPr>
        <p:spPr/>
        <p:txBody>
          <a:bodyPr/>
          <a:lstStyle/>
          <a:p>
            <a:pPr>
              <a:defRPr/>
            </a:pPr>
            <a:fld id="{5652F327-EBD1-45E6-B74A-E3E6D40B539C}" type="slidenum">
              <a:rPr lang="en-US" altLang="zh-CN"/>
              <a:pPr>
                <a:defRPr/>
              </a:pPr>
              <a:t>66</a:t>
            </a:fld>
            <a:endParaRPr lang="en-US" altLang="zh-CN"/>
          </a:p>
        </p:txBody>
      </p:sp>
      <p:sp>
        <p:nvSpPr>
          <p:cNvPr id="665603" name="Text Box 3"/>
          <p:cNvSpPr txBox="1">
            <a:spLocks noChangeArrowheads="1"/>
          </p:cNvSpPr>
          <p:nvPr/>
        </p:nvSpPr>
        <p:spPr bwMode="auto">
          <a:xfrm>
            <a:off x="500063" y="317500"/>
            <a:ext cx="2711450" cy="523875"/>
          </a:xfrm>
          <a:prstGeom prst="rect">
            <a:avLst/>
          </a:prstGeom>
          <a:noFill/>
          <a:ln w="9525">
            <a:noFill/>
            <a:miter lim="800000"/>
            <a:headEnd/>
            <a:tailEnd/>
          </a:ln>
          <a:effectLst/>
        </p:spPr>
        <p:txBody>
          <a:bodyPr wrap="none">
            <a:spAutoFit/>
          </a:bodyPr>
          <a:lstStyle/>
          <a:p>
            <a:pPr>
              <a:defRPr/>
            </a:pPr>
            <a:r>
              <a:rPr lang="en-US" altLang="zh-CN" sz="2800" b="1" dirty="0">
                <a:latin typeface="楷体_GB2312" pitchFamily="49" charset="-122"/>
                <a:ea typeface="楷体_GB2312" pitchFamily="49" charset="-122"/>
              </a:rPr>
              <a:t>（3</a:t>
            </a:r>
            <a:r>
              <a:rPr lang="zh-CN" altLang="en-US" sz="2800" b="1" dirty="0">
                <a:latin typeface="楷体_GB2312" pitchFamily="49" charset="-122"/>
                <a:ea typeface="楷体_GB2312" pitchFamily="49" charset="-122"/>
              </a:rPr>
              <a:t>）遍历链表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65602">
                                            <p:txEl>
                                              <p:pRg st="2" end="2"/>
                                            </p:txEl>
                                          </p:spTgt>
                                        </p:tgtEl>
                                        <p:attrNameLst>
                                          <p:attrName>style.visibility</p:attrName>
                                        </p:attrNameLst>
                                      </p:cBhvr>
                                      <p:to>
                                        <p:strVal val="visible"/>
                                      </p:to>
                                    </p:set>
                                    <p:anim calcmode="lin" valueType="num">
                                      <p:cBhvr additive="base">
                                        <p:cTn id="7" dur="500" fill="hold"/>
                                        <p:tgtEl>
                                          <p:spTgt spid="665602">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65602">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65602">
                                            <p:txEl>
                                              <p:pRg st="4" end="4"/>
                                            </p:txEl>
                                          </p:spTgt>
                                        </p:tgtEl>
                                        <p:attrNameLst>
                                          <p:attrName>style.visibility</p:attrName>
                                        </p:attrNameLst>
                                      </p:cBhvr>
                                      <p:to>
                                        <p:strVal val="visible"/>
                                      </p:to>
                                    </p:set>
                                    <p:anim calcmode="lin" valueType="num">
                                      <p:cBhvr additive="base">
                                        <p:cTn id="11" dur="500" fill="hold"/>
                                        <p:tgtEl>
                                          <p:spTgt spid="665602">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6560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7650" name="Rectangle 2"/>
          <p:cNvSpPr>
            <a:spLocks noGrp="1" noChangeArrowheads="1"/>
          </p:cNvSpPr>
          <p:nvPr>
            <p:ph idx="1"/>
          </p:nvPr>
        </p:nvSpPr>
        <p:spPr>
          <a:xfrm>
            <a:off x="250825" y="476250"/>
            <a:ext cx="8569325" cy="4826000"/>
          </a:xfrm>
        </p:spPr>
        <p:txBody>
          <a:bodyPr>
            <a:noAutofit/>
          </a:bodyPr>
          <a:lstStyle/>
          <a:p>
            <a:pPr marL="0" indent="0" eaLnBrk="1" hangingPunct="1">
              <a:lnSpc>
                <a:spcPct val="80000"/>
              </a:lnSpc>
              <a:buFont typeface="Monotype Sorts" pitchFamily="2" charset="2"/>
              <a:buNone/>
              <a:defRPr/>
            </a:pP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例</a:t>
            </a:r>
            <a:r>
              <a:rPr lang="en-US" altLang="zh-CN" sz="2800" b="1" dirty="0">
                <a:latin typeface="楷体_GB2312" pitchFamily="49" charset="-122"/>
                <a:ea typeface="楷体_GB2312" pitchFamily="49" charset="-122"/>
              </a:rPr>
              <a:t>7.5】</a:t>
            </a:r>
            <a:r>
              <a:rPr lang="zh-CN" altLang="en-US" sz="2800" b="1" dirty="0">
                <a:latin typeface="楷体_GB2312" pitchFamily="49" charset="-122"/>
                <a:ea typeface="楷体_GB2312" pitchFamily="49" charset="-122"/>
              </a:rPr>
              <a:t>编写遍历学生单链表的函数。</a:t>
            </a:r>
          </a:p>
          <a:p>
            <a:pPr marL="0" indent="0" eaLnBrk="1" hangingPunct="1">
              <a:lnSpc>
                <a:spcPct val="80000"/>
              </a:lnSpc>
              <a:buFont typeface="Monotype Sorts" pitchFamily="2" charset="2"/>
              <a:buNone/>
              <a:defRPr/>
            </a:pPr>
            <a:r>
              <a:rPr lang="zh-CN" altLang="en-US" sz="2800" b="1" dirty="0">
                <a:latin typeface="楷体_GB2312" pitchFamily="49" charset="-122"/>
                <a:ea typeface="楷体_GB2312" pitchFamily="49" charset="-122"/>
              </a:rPr>
              <a:t>函数应设学生链表的头指针为形参。函数首先检查链表是否为空，如果是空链表，输出链表中没有学生字样后返回。否则，函数从链表的首表元开始，顺序输出每个学生的信息。</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void </a:t>
            </a:r>
            <a:r>
              <a:rPr lang="en-US" altLang="zh-CN" sz="2400" b="1" dirty="0" err="1">
                <a:latin typeface="楷体_GB2312" pitchFamily="49" charset="-122"/>
                <a:ea typeface="楷体_GB2312" pitchFamily="49" charset="-122"/>
              </a:rPr>
              <a:t>travelStuLink</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stuS</a:t>
            </a:r>
            <a:r>
              <a:rPr lang="en-US" altLang="zh-CN" sz="2400" b="1" dirty="0">
                <a:latin typeface="楷体_GB2312" pitchFamily="49" charset="-122"/>
                <a:ea typeface="楷体_GB2312" pitchFamily="49" charset="-122"/>
              </a:rPr>
              <a:t> *head)</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stuS</a:t>
            </a:r>
            <a:r>
              <a:rPr lang="en-US" altLang="zh-CN" sz="2400" b="1" dirty="0">
                <a:latin typeface="楷体_GB2312" pitchFamily="49" charset="-122"/>
                <a:ea typeface="楷体_GB2312" pitchFamily="49" charset="-122"/>
              </a:rPr>
              <a:t> *p = head;</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if(head == NULL) {</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printf</a:t>
            </a:r>
            <a:r>
              <a:rPr lang="en-US" altLang="zh-CN" sz="2400" b="1" dirty="0">
                <a:latin typeface="楷体_GB2312" pitchFamily="49" charset="-122"/>
                <a:ea typeface="楷体_GB2312" pitchFamily="49" charset="-122"/>
              </a:rPr>
              <a:t> ("\n</a:t>
            </a:r>
            <a:r>
              <a:rPr lang="zh-CN" altLang="en-US" sz="2400" b="1" dirty="0">
                <a:latin typeface="楷体_GB2312" pitchFamily="49" charset="-122"/>
                <a:ea typeface="楷体_GB2312" pitchFamily="49" charset="-122"/>
              </a:rPr>
              <a:t>目前在链表中没有学生</a:t>
            </a:r>
            <a:r>
              <a:rPr lang="en-US" altLang="zh-CN" sz="2400" b="1" dirty="0">
                <a:latin typeface="楷体_GB2312" pitchFamily="49" charset="-122"/>
                <a:ea typeface="楷体_GB2312" pitchFamily="49" charset="-122"/>
              </a:rPr>
              <a:t>\n"); return;</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printf</a:t>
            </a:r>
            <a:r>
              <a:rPr lang="en-US" altLang="zh-CN" sz="2400" b="1" dirty="0">
                <a:latin typeface="楷体_GB2312" pitchFamily="49" charset="-122"/>
                <a:ea typeface="楷体_GB2312" pitchFamily="49" charset="-122"/>
              </a:rPr>
              <a:t> ("\n</a:t>
            </a:r>
            <a:r>
              <a:rPr lang="zh-CN" altLang="en-US" sz="2400" b="1" dirty="0">
                <a:latin typeface="楷体_GB2312" pitchFamily="49" charset="-122"/>
                <a:ea typeface="楷体_GB2312" pitchFamily="49" charset="-122"/>
              </a:rPr>
              <a:t>目前在链表中的学生如下</a:t>
            </a:r>
            <a:r>
              <a:rPr lang="en-US" altLang="zh-CN" sz="2400" b="1" dirty="0">
                <a:latin typeface="楷体_GB2312" pitchFamily="49" charset="-122"/>
                <a:ea typeface="楷体_GB2312" pitchFamily="49" charset="-122"/>
              </a:rPr>
              <a:t>\n");</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while (p != NULL)</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 </a:t>
            </a:r>
            <a:r>
              <a:rPr lang="en-US" altLang="zh-CN" sz="2400" b="1" dirty="0" err="1">
                <a:latin typeface="楷体_GB2312" pitchFamily="49" charset="-122"/>
                <a:ea typeface="楷体_GB2312" pitchFamily="49" charset="-122"/>
              </a:rPr>
              <a:t>printf</a:t>
            </a:r>
            <a:r>
              <a:rPr lang="en-US" altLang="zh-CN" sz="2400" b="1" dirty="0">
                <a:latin typeface="楷体_GB2312" pitchFamily="49" charset="-122"/>
                <a:ea typeface="楷体_GB2312" pitchFamily="49" charset="-122"/>
              </a:rPr>
              <a:t>("%d\</a:t>
            </a:r>
            <a:r>
              <a:rPr lang="en-US" altLang="zh-CN" sz="2400" b="1" dirty="0" err="1">
                <a:latin typeface="楷体_GB2312" pitchFamily="49" charset="-122"/>
                <a:ea typeface="楷体_GB2312" pitchFamily="49" charset="-122"/>
              </a:rPr>
              <a:t>t%s</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t%d</a:t>
            </a:r>
            <a:r>
              <a:rPr lang="en-US" altLang="zh-CN" sz="2400" b="1" dirty="0">
                <a:latin typeface="楷体_GB2312" pitchFamily="49" charset="-122"/>
                <a:ea typeface="楷体_GB2312" pitchFamily="49" charset="-122"/>
              </a:rPr>
              <a:t>\n", </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p-&gt;number, p-&gt;name, p-&gt;score);</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a:solidFill>
                  <a:srgbClr val="FF0000"/>
                </a:solidFill>
                <a:latin typeface="楷体_GB2312" pitchFamily="49" charset="-122"/>
                <a:ea typeface="楷体_GB2312" pitchFamily="49" charset="-122"/>
              </a:rPr>
              <a:t>p = p-&gt;next;  </a:t>
            </a: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准备访问下一个表元 *</a:t>
            </a:r>
            <a:r>
              <a:rPr lang="en-US" altLang="zh-CN" sz="2400" b="1" dirty="0">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a:t>
            </a:r>
          </a:p>
        </p:txBody>
      </p:sp>
      <p:sp>
        <p:nvSpPr>
          <p:cNvPr id="5" name="灯片编号占位符 5"/>
          <p:cNvSpPr>
            <a:spLocks noGrp="1"/>
          </p:cNvSpPr>
          <p:nvPr>
            <p:ph type="sldNum" sz="quarter" idx="12"/>
          </p:nvPr>
        </p:nvSpPr>
        <p:spPr/>
        <p:txBody>
          <a:bodyPr/>
          <a:lstStyle/>
          <a:p>
            <a:pPr>
              <a:defRPr/>
            </a:pPr>
            <a:fld id="{A0D04807-3A33-40B8-8EC4-A5E4377BEF42}" type="slidenum">
              <a:rPr lang="en-US" altLang="zh-CN"/>
              <a:pPr>
                <a:defRPr/>
              </a:pPr>
              <a:t>67</a:t>
            </a:fld>
            <a:endParaRPr lang="en-US" altLang="zh-CN"/>
          </a:p>
        </p:txBody>
      </p:sp>
      <p:sp>
        <p:nvSpPr>
          <p:cNvPr id="2" name="矩形 1"/>
          <p:cNvSpPr/>
          <p:nvPr/>
        </p:nvSpPr>
        <p:spPr>
          <a:xfrm>
            <a:off x="1835696" y="4581128"/>
            <a:ext cx="1296144"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674" name="Rectangle 2"/>
          <p:cNvSpPr>
            <a:spLocks noGrp="1" noChangeArrowheads="1"/>
          </p:cNvSpPr>
          <p:nvPr>
            <p:ph idx="1"/>
          </p:nvPr>
        </p:nvSpPr>
        <p:spPr>
          <a:xfrm>
            <a:off x="395288" y="928670"/>
            <a:ext cx="8424862" cy="5237180"/>
          </a:xfrm>
        </p:spPr>
        <p:txBody>
          <a:bodyPr>
            <a:noAutofit/>
          </a:bodyPr>
          <a:lstStyle/>
          <a:p>
            <a:pPr marL="0" indent="0" eaLnBrk="1" hangingPunct="1">
              <a:lnSpc>
                <a:spcPct val="80000"/>
              </a:lnSpc>
              <a:buFont typeface="Monotype Sorts" pitchFamily="2" charset="2"/>
              <a:buNone/>
              <a:defRPr/>
            </a:pPr>
            <a:r>
              <a:rPr lang="zh-CN" altLang="en-US" sz="2800" b="1" dirty="0">
                <a:latin typeface="楷体_GB2312" pitchFamily="49" charset="-122"/>
                <a:ea typeface="楷体_GB2312" pitchFamily="49" charset="-122"/>
              </a:rPr>
              <a:t>在链表中查找指定值的表元可能有以下几个目的：</a:t>
            </a:r>
          </a:p>
          <a:p>
            <a:pPr marL="0" indent="0" eaLnBrk="1" hangingPunct="1">
              <a:lnSpc>
                <a:spcPct val="80000"/>
              </a:lnSpc>
              <a:buFont typeface="Monotype Sorts" pitchFamily="2" charset="2"/>
              <a:buNone/>
              <a:defRPr/>
            </a:pPr>
            <a:r>
              <a:rPr lang="zh-CN" altLang="en-US" sz="2800" b="1" dirty="0">
                <a:latin typeface="楷体_GB2312" pitchFamily="49" charset="-122"/>
                <a:ea typeface="楷体_GB2312" pitchFamily="49" charset="-122"/>
              </a:rPr>
              <a:t>获取该表元的详细信息，或对找到的表元进行修改，或将查到的表元删除，或在查到的表元之前（后）插入一个新表元等。</a:t>
            </a:r>
            <a:endParaRPr lang="en-US" altLang="zh-CN" sz="2800" b="1" dirty="0">
              <a:latin typeface="楷体_GB2312" pitchFamily="49" charset="-122"/>
              <a:ea typeface="楷体_GB2312" pitchFamily="49" charset="-122"/>
            </a:endParaRPr>
          </a:p>
          <a:p>
            <a:pPr marL="0" indent="0" eaLnBrk="1" hangingPunct="1">
              <a:lnSpc>
                <a:spcPct val="80000"/>
              </a:lnSpc>
              <a:buFont typeface="Monotype Sorts" pitchFamily="2" charset="2"/>
              <a:buNone/>
              <a:defRPr/>
            </a:pPr>
            <a:r>
              <a:rPr lang="zh-CN" altLang="en-US" sz="2800" b="1" dirty="0">
                <a:latin typeface="楷体_GB2312" pitchFamily="49" charset="-122"/>
                <a:ea typeface="楷体_GB2312" pitchFamily="49" charset="-122"/>
              </a:rPr>
              <a:t>查找过程的实现又可分为两种情况：</a:t>
            </a:r>
          </a:p>
          <a:p>
            <a:pPr marL="0" indent="0" eaLnBrk="1" hangingPunct="1">
              <a:lnSpc>
                <a:spcPct val="80000"/>
              </a:lnSpc>
              <a:buFont typeface="Monotype Sorts" pitchFamily="2" charset="2"/>
              <a:buNone/>
              <a:defRPr/>
            </a:pPr>
            <a:r>
              <a:rPr lang="zh-CN" altLang="en-US" sz="2800" b="1" dirty="0">
                <a:latin typeface="楷体_GB2312" pitchFamily="49" charset="-122"/>
                <a:ea typeface="楷体_GB2312" pitchFamily="49" charset="-122"/>
              </a:rPr>
              <a:t>无序链表上的查找，有序链表上的查找。</a:t>
            </a:r>
          </a:p>
          <a:p>
            <a:pPr marL="0" indent="0">
              <a:lnSpc>
                <a:spcPct val="80000"/>
              </a:lnSpc>
              <a:defRPr/>
            </a:pPr>
            <a:r>
              <a:rPr lang="zh-CN" altLang="en-US" sz="2800" b="1" dirty="0">
                <a:latin typeface="楷体_GB2312" pitchFamily="49" charset="-122"/>
                <a:ea typeface="楷体_GB2312" pitchFamily="49" charset="-122"/>
              </a:rPr>
              <a:t>无序单链表上的查找</a:t>
            </a:r>
            <a:endParaRPr lang="zh-CN" altLang="en-US" sz="3600" b="1" dirty="0">
              <a:latin typeface="楷体_GB2312" pitchFamily="49" charset="-122"/>
              <a:ea typeface="楷体_GB2312" pitchFamily="49" charset="-122"/>
            </a:endParaRPr>
          </a:p>
          <a:p>
            <a:pPr marL="0" indent="0" eaLnBrk="1" hangingPunct="1">
              <a:lnSpc>
                <a:spcPct val="80000"/>
              </a:lnSpc>
              <a:buFont typeface="Monotype Sorts" pitchFamily="2" charset="2"/>
              <a:buNone/>
              <a:defRPr/>
            </a:pPr>
            <a:r>
              <a:rPr lang="zh-CN" altLang="en-US" sz="2800" b="1" dirty="0">
                <a:latin typeface="楷体_GB2312" pitchFamily="49" charset="-122"/>
                <a:ea typeface="楷体_GB2312" pitchFamily="49" charset="-122"/>
              </a:rPr>
              <a:t>无序单链表上的查找函数需设置两个形参：已知链表的头指针和要寻找的表元的值。函数使用工作指针变量</a:t>
            </a:r>
            <a:r>
              <a:rPr lang="en-US" altLang="zh-CN" sz="2800" b="1" dirty="0">
                <a:latin typeface="楷体_GB2312" pitchFamily="49" charset="-122"/>
                <a:ea typeface="楷体_GB2312" pitchFamily="49" charset="-122"/>
              </a:rPr>
              <a:t>v</a:t>
            </a:r>
            <a:r>
              <a:rPr lang="zh-CN" altLang="en-US" sz="2800" b="1" dirty="0">
                <a:latin typeface="楷体_GB2312" pitchFamily="49" charset="-122"/>
                <a:ea typeface="楷体_GB2312" pitchFamily="49" charset="-122"/>
              </a:rPr>
              <a:t>，让它从链表的首表元开始顺序考察链表各表元。循环条件是</a:t>
            </a:r>
            <a:r>
              <a:rPr lang="en-US" altLang="zh-CN" sz="2800" b="1" dirty="0">
                <a:latin typeface="楷体_GB2312" pitchFamily="49" charset="-122"/>
                <a:ea typeface="楷体_GB2312" pitchFamily="49" charset="-122"/>
              </a:rPr>
              <a:t>v</a:t>
            </a:r>
            <a:r>
              <a:rPr lang="zh-CN" altLang="en-US" sz="2800" b="1" dirty="0">
                <a:latin typeface="楷体_GB2312" pitchFamily="49" charset="-122"/>
                <a:ea typeface="楷体_GB2312" pitchFamily="49" charset="-122"/>
              </a:rPr>
              <a:t>不等于</a:t>
            </a:r>
            <a:r>
              <a:rPr lang="en-US" altLang="zh-CN" sz="2800" b="1" dirty="0">
                <a:latin typeface="楷体_GB2312" pitchFamily="49" charset="-122"/>
                <a:ea typeface="楷体_GB2312" pitchFamily="49" charset="-122"/>
              </a:rPr>
              <a:t>NULL</a:t>
            </a:r>
            <a:r>
              <a:rPr lang="zh-CN" altLang="en-US" sz="2800" b="1" dirty="0">
                <a:latin typeface="楷体_GB2312" pitchFamily="49" charset="-122"/>
                <a:ea typeface="楷体_GB2312" pitchFamily="49" charset="-122"/>
              </a:rPr>
              <a:t>且</a:t>
            </a:r>
            <a:r>
              <a:rPr lang="en-US" altLang="zh-CN" sz="2800" b="1" dirty="0">
                <a:latin typeface="楷体_GB2312" pitchFamily="49" charset="-122"/>
                <a:ea typeface="楷体_GB2312" pitchFamily="49" charset="-122"/>
              </a:rPr>
              <a:t>v</a:t>
            </a:r>
            <a:r>
              <a:rPr lang="zh-CN" altLang="en-US" sz="2800" b="1" dirty="0">
                <a:latin typeface="楷体_GB2312" pitchFamily="49" charset="-122"/>
                <a:ea typeface="楷体_GB2312" pitchFamily="49" charset="-122"/>
              </a:rPr>
              <a:t>所指表元的值不等于指定值。循环要做的工作非常简单，只是准备考察下一个表元</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即</a:t>
            </a:r>
            <a:r>
              <a:rPr lang="en-US" altLang="zh-CN" sz="2800" b="1" dirty="0">
                <a:latin typeface="楷体_GB2312" pitchFamily="49" charset="-122"/>
                <a:ea typeface="楷体_GB2312" pitchFamily="49" charset="-122"/>
              </a:rPr>
              <a:t>v = v-&gt;next)</a:t>
            </a:r>
            <a:r>
              <a:rPr lang="zh-CN" altLang="en-US" sz="2800" b="1" dirty="0">
                <a:latin typeface="楷体_GB2312" pitchFamily="49" charset="-122"/>
                <a:ea typeface="楷体_GB2312" pitchFamily="49" charset="-122"/>
              </a:rPr>
              <a:t>。查找循环结束后，函数返回指针变量</a:t>
            </a:r>
            <a:r>
              <a:rPr lang="en-US" altLang="zh-CN" sz="2800" b="1" dirty="0">
                <a:latin typeface="楷体_GB2312" pitchFamily="49" charset="-122"/>
                <a:ea typeface="楷体_GB2312" pitchFamily="49" charset="-122"/>
              </a:rPr>
              <a:t>v</a:t>
            </a:r>
            <a:r>
              <a:rPr lang="zh-CN" altLang="en-US" sz="2800" b="1" dirty="0">
                <a:latin typeface="楷体_GB2312" pitchFamily="49" charset="-122"/>
                <a:ea typeface="楷体_GB2312" pitchFamily="49" charset="-122"/>
              </a:rPr>
              <a:t>的值。</a:t>
            </a:r>
          </a:p>
        </p:txBody>
      </p:sp>
      <p:sp>
        <p:nvSpPr>
          <p:cNvPr id="6" name="灯片编号占位符 5"/>
          <p:cNvSpPr>
            <a:spLocks noGrp="1"/>
          </p:cNvSpPr>
          <p:nvPr>
            <p:ph type="sldNum" sz="quarter" idx="12"/>
          </p:nvPr>
        </p:nvSpPr>
        <p:spPr/>
        <p:txBody>
          <a:bodyPr/>
          <a:lstStyle/>
          <a:p>
            <a:pPr>
              <a:defRPr/>
            </a:pPr>
            <a:fld id="{EB41132F-AE14-452B-9C45-75A654FD8B9E}" type="slidenum">
              <a:rPr lang="en-US" altLang="zh-CN"/>
              <a:pPr>
                <a:defRPr/>
              </a:pPr>
              <a:t>68</a:t>
            </a:fld>
            <a:endParaRPr lang="en-US" altLang="zh-CN"/>
          </a:p>
        </p:txBody>
      </p:sp>
      <p:sp>
        <p:nvSpPr>
          <p:cNvPr id="668675" name="Text Box 3"/>
          <p:cNvSpPr txBox="1">
            <a:spLocks noChangeArrowheads="1"/>
          </p:cNvSpPr>
          <p:nvPr/>
        </p:nvSpPr>
        <p:spPr bwMode="auto">
          <a:xfrm>
            <a:off x="395288" y="185738"/>
            <a:ext cx="5040312" cy="579437"/>
          </a:xfrm>
          <a:prstGeom prst="rect">
            <a:avLst/>
          </a:prstGeom>
          <a:noFill/>
          <a:ln w="9525">
            <a:noFill/>
            <a:miter lim="800000"/>
            <a:headEnd/>
            <a:tailEnd/>
          </a:ln>
          <a:effectLst/>
        </p:spPr>
        <p:txBody>
          <a:bodyPr>
            <a:spAutoFit/>
          </a:bodyPr>
          <a:lstStyle/>
          <a:p>
            <a:pPr>
              <a:defRPr/>
            </a:pPr>
            <a:r>
              <a:rPr lang="en-US" altLang="zh-CN" sz="3200" b="1" dirty="0">
                <a:latin typeface="楷体_GB2312" pitchFamily="49" charset="-122"/>
                <a:ea typeface="楷体_GB2312" pitchFamily="49" charset="-122"/>
              </a:rPr>
              <a:t>（4</a:t>
            </a:r>
            <a:r>
              <a:rPr lang="zh-CN" altLang="en-US" sz="3200" b="1" dirty="0">
                <a:latin typeface="楷体_GB2312" pitchFamily="49" charset="-122"/>
                <a:ea typeface="楷体_GB2312" pitchFamily="49" charset="-122"/>
              </a:rPr>
              <a:t>）在链表中查找表元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68674">
                                            <p:txEl>
                                              <p:pRg st="2" end="2"/>
                                            </p:txEl>
                                          </p:spTgt>
                                        </p:tgtEl>
                                        <p:attrNameLst>
                                          <p:attrName>style.visibility</p:attrName>
                                        </p:attrNameLst>
                                      </p:cBhvr>
                                      <p:to>
                                        <p:strVal val="visible"/>
                                      </p:to>
                                    </p:set>
                                    <p:anim calcmode="lin" valueType="num">
                                      <p:cBhvr additive="base">
                                        <p:cTn id="7" dur="500" fill="hold"/>
                                        <p:tgtEl>
                                          <p:spTgt spid="668674">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68674">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68674">
                                            <p:txEl>
                                              <p:pRg st="3" end="3"/>
                                            </p:txEl>
                                          </p:spTgt>
                                        </p:tgtEl>
                                        <p:attrNameLst>
                                          <p:attrName>style.visibility</p:attrName>
                                        </p:attrNameLst>
                                      </p:cBhvr>
                                      <p:to>
                                        <p:strVal val="visible"/>
                                      </p:to>
                                    </p:set>
                                    <p:anim calcmode="lin" valueType="num">
                                      <p:cBhvr additive="base">
                                        <p:cTn id="11" dur="500" fill="hold"/>
                                        <p:tgtEl>
                                          <p:spTgt spid="668674">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6867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68674">
                                            <p:txEl>
                                              <p:pRg st="4" end="4"/>
                                            </p:txEl>
                                          </p:spTgt>
                                        </p:tgtEl>
                                        <p:attrNameLst>
                                          <p:attrName>style.visibility</p:attrName>
                                        </p:attrNameLst>
                                      </p:cBhvr>
                                      <p:to>
                                        <p:strVal val="visible"/>
                                      </p:to>
                                    </p:set>
                                    <p:anim calcmode="lin" valueType="num">
                                      <p:cBhvr additive="base">
                                        <p:cTn id="17" dur="500" fill="hold"/>
                                        <p:tgtEl>
                                          <p:spTgt spid="668674">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68674">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668674">
                                            <p:txEl>
                                              <p:pRg st="5" end="5"/>
                                            </p:txEl>
                                          </p:spTgt>
                                        </p:tgtEl>
                                        <p:attrNameLst>
                                          <p:attrName>style.visibility</p:attrName>
                                        </p:attrNameLst>
                                      </p:cBhvr>
                                      <p:to>
                                        <p:strVal val="visible"/>
                                      </p:to>
                                    </p:set>
                                    <p:anim calcmode="lin" valueType="num">
                                      <p:cBhvr additive="base">
                                        <p:cTn id="21" dur="500" fill="hold"/>
                                        <p:tgtEl>
                                          <p:spTgt spid="668674">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6867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6626" name="Rectangle 2"/>
          <p:cNvSpPr>
            <a:spLocks noGrp="1" noChangeArrowheads="1"/>
          </p:cNvSpPr>
          <p:nvPr>
            <p:ph idx="1"/>
          </p:nvPr>
        </p:nvSpPr>
        <p:spPr>
          <a:xfrm>
            <a:off x="250825" y="549275"/>
            <a:ext cx="8569325" cy="5665807"/>
          </a:xfrm>
        </p:spPr>
        <p:txBody>
          <a:bodyPr>
            <a:noAutofit/>
          </a:bodyPr>
          <a:lstStyle/>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例</a:t>
            </a:r>
            <a:r>
              <a:rPr lang="en-US" altLang="zh-CN" sz="2400" b="1" dirty="0">
                <a:latin typeface="楷体_GB2312" pitchFamily="49" charset="-122"/>
                <a:ea typeface="楷体_GB2312" pitchFamily="49" charset="-122"/>
              </a:rPr>
              <a:t>7.6】</a:t>
            </a:r>
            <a:r>
              <a:rPr lang="zh-CN" altLang="en-US" sz="2400" b="1" dirty="0">
                <a:latin typeface="楷体_GB2312" pitchFamily="49" charset="-122"/>
                <a:ea typeface="楷体_GB2312" pitchFamily="49" charset="-122"/>
              </a:rPr>
              <a:t>编写无序学生单链表上的查找函数</a:t>
            </a:r>
            <a:r>
              <a:rPr lang="en-US" altLang="zh-CN" sz="2400" b="1" dirty="0" err="1">
                <a:latin typeface="楷体_GB2312" pitchFamily="49" charset="-122"/>
                <a:ea typeface="楷体_GB2312" pitchFamily="49" charset="-122"/>
              </a:rPr>
              <a:t>searchSLink</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a:t>
            </a:r>
          </a:p>
          <a:p>
            <a:pPr marL="0" indent="0" eaLnBrk="1" hangingPunct="1">
              <a:lnSpc>
                <a:spcPct val="80000"/>
              </a:lnSpc>
              <a:buFont typeface="Monotype Sorts" pitchFamily="2" charset="2"/>
              <a:buNone/>
              <a:defRPr/>
            </a:pPr>
            <a:endParaRPr lang="zh-CN" altLang="en-US" sz="2400" b="1" dirty="0">
              <a:latin typeface="楷体_GB2312" pitchFamily="49" charset="-122"/>
              <a:ea typeface="楷体_GB2312" pitchFamily="49" charset="-122"/>
            </a:endParaRPr>
          </a:p>
          <a:p>
            <a:pPr marL="0" indent="0" eaLnBrk="1" hangingPunct="1">
              <a:lnSpc>
                <a:spcPct val="80000"/>
              </a:lnSpc>
              <a:buFont typeface="Monotype Sorts" pitchFamily="2" charset="2"/>
              <a:buNone/>
              <a:defRPr/>
            </a:pPr>
            <a:r>
              <a:rPr lang="zh-CN" altLang="en-US" sz="2400" b="1" dirty="0">
                <a:latin typeface="楷体_GB2312" pitchFamily="49" charset="-122"/>
                <a:ea typeface="楷体_GB2312" pitchFamily="49" charset="-122"/>
              </a:rPr>
              <a:t>函数应设两个形参：学生链表的头指针和要寻找的学生的学号。</a:t>
            </a:r>
          </a:p>
          <a:p>
            <a:pPr marL="0" indent="0" eaLnBrk="1" hangingPunct="1">
              <a:lnSpc>
                <a:spcPct val="80000"/>
              </a:lnSpc>
              <a:buFont typeface="Monotype Sorts" pitchFamily="2" charset="2"/>
              <a:buNone/>
              <a:defRPr/>
            </a:pPr>
            <a:endParaRPr lang="zh-CN" altLang="en-US" sz="2400" b="1" dirty="0">
              <a:latin typeface="楷体_GB2312" pitchFamily="49" charset="-122"/>
              <a:ea typeface="楷体_GB2312" pitchFamily="49" charset="-122"/>
            </a:endParaRPr>
          </a:p>
          <a:p>
            <a:pPr marL="0" indent="0">
              <a:lnSpc>
                <a:spcPct val="80000"/>
              </a:lnSpc>
              <a:buNone/>
              <a:defRPr/>
            </a:pPr>
            <a:r>
              <a:rPr lang="en-US" altLang="zh-CN" sz="2400" b="1" dirty="0" err="1"/>
              <a:t>stuS</a:t>
            </a:r>
            <a:r>
              <a:rPr lang="en-US" altLang="zh-CN" sz="2400" b="1" dirty="0"/>
              <a:t> * </a:t>
            </a:r>
            <a:r>
              <a:rPr lang="en-US" altLang="zh-CN" sz="2400" b="1" dirty="0" err="1"/>
              <a:t>searchSLink</a:t>
            </a:r>
            <a:r>
              <a:rPr lang="en-US" altLang="zh-CN" sz="2400" b="1" dirty="0"/>
              <a:t>(</a:t>
            </a:r>
            <a:r>
              <a:rPr lang="en-US" altLang="zh-CN" sz="2400" b="1" dirty="0" err="1"/>
              <a:t>stuS</a:t>
            </a:r>
            <a:r>
              <a:rPr lang="en-US" altLang="zh-CN" sz="2400" b="1" dirty="0"/>
              <a:t> *h, </a:t>
            </a:r>
            <a:r>
              <a:rPr lang="en-US" altLang="zh-CN" sz="2400" b="1" dirty="0" err="1"/>
              <a:t>int</a:t>
            </a:r>
            <a:r>
              <a:rPr lang="en-US" altLang="zh-CN" sz="2400" b="1" dirty="0"/>
              <a:t> num)</a:t>
            </a:r>
          </a:p>
          <a:p>
            <a:pPr marL="0" indent="0">
              <a:lnSpc>
                <a:spcPct val="80000"/>
              </a:lnSpc>
              <a:buNone/>
              <a:defRPr/>
            </a:pPr>
            <a:r>
              <a:rPr lang="en-US" altLang="zh-CN" sz="2400" b="1" dirty="0"/>
              <a:t>  {    </a:t>
            </a:r>
            <a:r>
              <a:rPr lang="en-US" altLang="zh-CN" sz="2400" b="1" dirty="0" err="1"/>
              <a:t>stuS</a:t>
            </a:r>
            <a:r>
              <a:rPr lang="en-US" altLang="zh-CN" sz="2400" b="1" dirty="0"/>
              <a:t> *v = h;</a:t>
            </a:r>
          </a:p>
          <a:p>
            <a:pPr marL="0" indent="0">
              <a:lnSpc>
                <a:spcPct val="80000"/>
              </a:lnSpc>
              <a:buNone/>
              <a:defRPr/>
            </a:pPr>
            <a:r>
              <a:rPr lang="en-US" altLang="zh-CN" sz="2400" b="1" dirty="0"/>
              <a:t>        while (v != NULL &amp;&amp; v-&gt;number != num)</a:t>
            </a:r>
          </a:p>
          <a:p>
            <a:pPr marL="0" indent="0">
              <a:lnSpc>
                <a:spcPct val="80000"/>
              </a:lnSpc>
              <a:buNone/>
              <a:defRPr/>
            </a:pPr>
            <a:r>
              <a:rPr lang="en-US" altLang="zh-CN" sz="2400" b="1" dirty="0"/>
              <a:t>            v = v-&gt;next;</a:t>
            </a:r>
          </a:p>
          <a:p>
            <a:pPr marL="0" indent="0">
              <a:lnSpc>
                <a:spcPct val="80000"/>
              </a:lnSpc>
              <a:buNone/>
              <a:defRPr/>
            </a:pPr>
            <a:r>
              <a:rPr lang="en-US" altLang="zh-CN" sz="2400" b="1" dirty="0"/>
              <a:t>        return  v;</a:t>
            </a:r>
          </a:p>
          <a:p>
            <a:pPr marL="0" indent="0">
              <a:lnSpc>
                <a:spcPct val="80000"/>
              </a:lnSpc>
              <a:buNone/>
              <a:defRPr/>
            </a:pPr>
            <a:r>
              <a:rPr lang="en-US" altLang="zh-CN" sz="2400" b="1" dirty="0"/>
              <a:t>   }</a:t>
            </a:r>
          </a:p>
          <a:p>
            <a:pPr marL="0" indent="0" eaLnBrk="1" hangingPunct="1">
              <a:lnSpc>
                <a:spcPct val="80000"/>
              </a:lnSpc>
              <a:buFont typeface="Monotype Sorts" pitchFamily="2" charset="2"/>
              <a:buNone/>
              <a:defRPr/>
            </a:pPr>
            <a:endParaRPr lang="zh-CN" altLang="en-US" sz="2400" b="1" dirty="0">
              <a:latin typeface="楷体_GB2312" pitchFamily="49" charset="-122"/>
              <a:ea typeface="楷体_GB2312" pitchFamily="49" charset="-122"/>
            </a:endParaRPr>
          </a:p>
          <a:p>
            <a:pPr marL="0" indent="0" eaLnBrk="1" hangingPunct="1">
              <a:lnSpc>
                <a:spcPct val="80000"/>
              </a:lnSpc>
              <a:buFont typeface="Monotype Sorts" pitchFamily="2" charset="2"/>
              <a:buNone/>
              <a:defRPr/>
            </a:pPr>
            <a:r>
              <a:rPr lang="zh-CN" altLang="en-US" sz="2400" b="1" dirty="0">
                <a:latin typeface="楷体_GB2312" pitchFamily="49" charset="-122"/>
                <a:ea typeface="楷体_GB2312" pitchFamily="49" charset="-122"/>
              </a:rPr>
              <a:t>寻找循环结束后，函数返回</a:t>
            </a:r>
            <a:r>
              <a:rPr lang="en-US" altLang="zh-CN" sz="2400" b="1" dirty="0">
                <a:latin typeface="楷体_GB2312" pitchFamily="49" charset="-122"/>
                <a:ea typeface="楷体_GB2312" pitchFamily="49" charset="-122"/>
              </a:rPr>
              <a:t>v</a:t>
            </a:r>
            <a:r>
              <a:rPr lang="zh-CN" altLang="en-US" sz="2400" b="1" dirty="0">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zh-CN" altLang="en-US" sz="2400" b="1" dirty="0">
                <a:latin typeface="楷体_GB2312" pitchFamily="49" charset="-122"/>
                <a:ea typeface="楷体_GB2312" pitchFamily="49" charset="-122"/>
              </a:rPr>
              <a:t>如果找到，</a:t>
            </a:r>
            <a:r>
              <a:rPr lang="en-US" altLang="zh-CN" sz="2400" b="1" dirty="0">
                <a:latin typeface="楷体_GB2312" pitchFamily="49" charset="-122"/>
                <a:ea typeface="楷体_GB2312" pitchFamily="49" charset="-122"/>
              </a:rPr>
              <a:t>v</a:t>
            </a:r>
            <a:r>
              <a:rPr lang="zh-CN" altLang="en-US" sz="2400" b="1" dirty="0">
                <a:latin typeface="楷体_GB2312" pitchFamily="49" charset="-122"/>
                <a:ea typeface="楷体_GB2312" pitchFamily="49" charset="-122"/>
              </a:rPr>
              <a:t>指向找到的表元；如果未找到，</a:t>
            </a:r>
            <a:r>
              <a:rPr lang="en-US" altLang="zh-CN" sz="2400" b="1" dirty="0">
                <a:latin typeface="楷体_GB2312" pitchFamily="49" charset="-122"/>
                <a:ea typeface="楷体_GB2312" pitchFamily="49" charset="-122"/>
              </a:rPr>
              <a:t>v</a:t>
            </a:r>
            <a:r>
              <a:rPr lang="zh-CN" altLang="en-US" sz="2400" b="1" dirty="0">
                <a:latin typeface="楷体_GB2312" pitchFamily="49" charset="-122"/>
                <a:ea typeface="楷体_GB2312" pitchFamily="49" charset="-122"/>
              </a:rPr>
              <a:t>的值是</a:t>
            </a:r>
            <a:r>
              <a:rPr lang="en-US" altLang="zh-CN" sz="2400" b="1" dirty="0">
                <a:latin typeface="楷体_GB2312" pitchFamily="49" charset="-122"/>
                <a:ea typeface="楷体_GB2312" pitchFamily="49" charset="-122"/>
              </a:rPr>
              <a:t>NULL</a:t>
            </a:r>
            <a:r>
              <a:rPr lang="zh-CN" altLang="en-US" sz="2400" b="1" dirty="0">
                <a:latin typeface="楷体_GB2312" pitchFamily="49" charset="-122"/>
                <a:ea typeface="楷体_GB2312" pitchFamily="49" charset="-122"/>
              </a:rPr>
              <a:t>，表示链表中没有要找的学生。</a:t>
            </a:r>
            <a:r>
              <a:rPr lang="zh-CN" altLang="en-US" sz="2400" dirty="0">
                <a:latin typeface="楷体_GB2312" pitchFamily="49" charset="-122"/>
                <a:ea typeface="楷体_GB2312" pitchFamily="49" charset="-122"/>
              </a:rPr>
              <a:t> </a:t>
            </a:r>
          </a:p>
        </p:txBody>
      </p:sp>
      <p:sp>
        <p:nvSpPr>
          <p:cNvPr id="5" name="灯片编号占位符 5"/>
          <p:cNvSpPr>
            <a:spLocks noGrp="1"/>
          </p:cNvSpPr>
          <p:nvPr>
            <p:ph type="sldNum" sz="quarter" idx="12"/>
          </p:nvPr>
        </p:nvSpPr>
        <p:spPr/>
        <p:txBody>
          <a:bodyPr/>
          <a:lstStyle/>
          <a:p>
            <a:pPr>
              <a:defRPr/>
            </a:pPr>
            <a:fld id="{D04842E4-FD4B-479A-81BB-190F06C95A6E}" type="slidenum">
              <a:rPr lang="en-US" altLang="zh-CN"/>
              <a:pPr>
                <a:defRPr/>
              </a:pPr>
              <a:t>69</a:t>
            </a:fld>
            <a:endParaRPr lang="en-US" altLang="zh-CN"/>
          </a:p>
        </p:txBody>
      </p:sp>
      <p:sp>
        <p:nvSpPr>
          <p:cNvPr id="4" name="圆角矩形标注 3"/>
          <p:cNvSpPr/>
          <p:nvPr/>
        </p:nvSpPr>
        <p:spPr>
          <a:xfrm>
            <a:off x="3995936" y="3573016"/>
            <a:ext cx="1584176" cy="504056"/>
          </a:xfrm>
          <a:prstGeom prst="wedgeRoundRectCallout">
            <a:avLst>
              <a:gd name="adj1" fmla="val -75610"/>
              <a:gd name="adj2" fmla="val -153002"/>
              <a:gd name="adj3" fmla="val 16667"/>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t>注意顺序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66626">
                                            <p:txEl>
                                              <p:pRg st="11" end="11"/>
                                            </p:txEl>
                                          </p:spTgt>
                                        </p:tgtEl>
                                        <p:attrNameLst>
                                          <p:attrName>style.visibility</p:attrName>
                                        </p:attrNameLst>
                                      </p:cBhvr>
                                      <p:to>
                                        <p:strVal val="visible"/>
                                      </p:to>
                                    </p:set>
                                    <p:anim calcmode="lin" valueType="num">
                                      <p:cBhvr additive="base">
                                        <p:cTn id="13" dur="500" fill="hold"/>
                                        <p:tgtEl>
                                          <p:spTgt spid="666626">
                                            <p:txEl>
                                              <p:pRg st="11" end="1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66626">
                                            <p:txEl>
                                              <p:pRg st="11" end="1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666626">
                                            <p:txEl>
                                              <p:pRg st="12" end="12"/>
                                            </p:txEl>
                                          </p:spTgt>
                                        </p:tgtEl>
                                        <p:attrNameLst>
                                          <p:attrName>style.visibility</p:attrName>
                                        </p:attrNameLst>
                                      </p:cBhvr>
                                      <p:to>
                                        <p:strVal val="visible"/>
                                      </p:to>
                                    </p:set>
                                    <p:anim calcmode="lin" valueType="num">
                                      <p:cBhvr additive="base">
                                        <p:cTn id="17" dur="500" fill="hold"/>
                                        <p:tgtEl>
                                          <p:spTgt spid="666626">
                                            <p:txEl>
                                              <p:pRg st="12" end="1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66626">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722" name="Rectangle 2"/>
          <p:cNvSpPr>
            <a:spLocks noGrp="1" noChangeArrowheads="1"/>
          </p:cNvSpPr>
          <p:nvPr>
            <p:ph idx="1"/>
          </p:nvPr>
        </p:nvSpPr>
        <p:spPr>
          <a:xfrm>
            <a:off x="250825" y="1125538"/>
            <a:ext cx="8569325" cy="4319686"/>
          </a:xfrm>
        </p:spPr>
        <p:txBody>
          <a:bodyPr>
            <a:normAutofit/>
          </a:bodyPr>
          <a:lstStyle/>
          <a:p>
            <a:pPr marL="0" indent="0">
              <a:lnSpc>
                <a:spcPct val="80000"/>
              </a:lnSpc>
              <a:defRPr/>
            </a:pPr>
            <a:r>
              <a:rPr lang="zh-CN" altLang="en-US" sz="2800" b="1" dirty="0">
                <a:ea typeface="楷体_GB2312" pitchFamily="49" charset="-122"/>
              </a:rPr>
              <a:t>有序单链表上的查找</a:t>
            </a:r>
            <a:r>
              <a:rPr lang="zh-CN" altLang="en-US" dirty="0">
                <a:ea typeface="宋体" pitchFamily="2" charset="-122"/>
              </a:rPr>
              <a:t> </a:t>
            </a:r>
          </a:p>
          <a:p>
            <a:pPr marL="0" indent="0" eaLnBrk="1" hangingPunct="1">
              <a:lnSpc>
                <a:spcPct val="80000"/>
              </a:lnSpc>
              <a:buFont typeface="Monotype Sorts" pitchFamily="2" charset="2"/>
              <a:buNone/>
              <a:defRPr/>
            </a:pPr>
            <a:endParaRPr lang="en-US" altLang="zh-CN" b="1" dirty="0">
              <a:effectLst>
                <a:outerShdw blurRad="38100" dist="38100" dir="2700000" algn="tl">
                  <a:srgbClr val="000000"/>
                </a:outerShdw>
              </a:effectLst>
              <a:latin typeface="楷体_GB2312" pitchFamily="49" charset="-122"/>
              <a:ea typeface="楷体_GB2312" pitchFamily="49" charset="-122"/>
            </a:endParaRPr>
          </a:p>
          <a:p>
            <a:pPr marL="0" indent="0" eaLnBrk="1" hangingPunct="1">
              <a:lnSpc>
                <a:spcPct val="80000"/>
              </a:lnSpc>
              <a:buFont typeface="Monotype Sorts" pitchFamily="2" charset="2"/>
              <a:buNone/>
              <a:defRPr/>
            </a:pPr>
            <a:r>
              <a:rPr lang="zh-CN" altLang="en-US" sz="2800" b="1" dirty="0">
                <a:latin typeface="楷体_GB2312" pitchFamily="49" charset="-122"/>
                <a:ea typeface="楷体_GB2312" pitchFamily="49" charset="-122"/>
              </a:rPr>
              <a:t>如果单链表的表元是按表元值从小到大顺序链接的，在顺序考察链表表元的查找循环中，当发现还有表元，并且该表元的值比寻找值小时，应继续查找，准备去考察下一个表元。反之，若不再有表元，或当前表元值不比寻找值小，则查找应结束（</a:t>
            </a:r>
            <a:r>
              <a:rPr lang="zh-CN" altLang="en-US" sz="2800" b="1" dirty="0">
                <a:solidFill>
                  <a:srgbClr val="FF0000"/>
                </a:solidFill>
                <a:latin typeface="楷体_GB2312" pitchFamily="49" charset="-122"/>
                <a:ea typeface="楷体_GB2312" pitchFamily="49" charset="-122"/>
              </a:rPr>
              <a:t>无法二分查找，但是可以实现</a:t>
            </a:r>
            <a:r>
              <a:rPr lang="en-US" altLang="zh-CN" sz="2800" b="1" dirty="0">
                <a:solidFill>
                  <a:srgbClr val="FF0000"/>
                </a:solidFill>
                <a:latin typeface="楷体_GB2312" pitchFamily="49" charset="-122"/>
                <a:ea typeface="楷体_GB2312" pitchFamily="49" charset="-122"/>
              </a:rPr>
              <a:t>early termination</a:t>
            </a:r>
            <a:r>
              <a:rPr lang="zh-CN" altLang="en-US" sz="2800" b="1" dirty="0">
                <a:latin typeface="楷体_GB2312" pitchFamily="49" charset="-122"/>
                <a:ea typeface="楷体_GB2312" pitchFamily="49" charset="-122"/>
              </a:rPr>
              <a:t>）。</a:t>
            </a:r>
            <a:endParaRPr lang="en-US" altLang="zh-CN" sz="2800" b="1" dirty="0">
              <a:latin typeface="楷体_GB2312" pitchFamily="49" charset="-122"/>
              <a:ea typeface="楷体_GB2312" pitchFamily="49" charset="-122"/>
            </a:endParaRPr>
          </a:p>
          <a:p>
            <a:pPr marL="0" indent="0" eaLnBrk="1" hangingPunct="1">
              <a:lnSpc>
                <a:spcPct val="80000"/>
              </a:lnSpc>
              <a:buFont typeface="Monotype Sorts" pitchFamily="2" charset="2"/>
              <a:buNone/>
              <a:defRPr/>
            </a:pPr>
            <a:endParaRPr lang="en-US" altLang="zh-CN" sz="2800" b="1" dirty="0">
              <a:latin typeface="楷体_GB2312" pitchFamily="49" charset="-122"/>
              <a:ea typeface="楷体_GB2312" pitchFamily="49" charset="-122"/>
            </a:endParaRPr>
          </a:p>
        </p:txBody>
      </p:sp>
      <p:sp>
        <p:nvSpPr>
          <p:cNvPr id="6" name="灯片编号占位符 5"/>
          <p:cNvSpPr>
            <a:spLocks noGrp="1"/>
          </p:cNvSpPr>
          <p:nvPr>
            <p:ph type="sldNum" sz="quarter" idx="12"/>
          </p:nvPr>
        </p:nvSpPr>
        <p:spPr/>
        <p:txBody>
          <a:bodyPr/>
          <a:lstStyle/>
          <a:p>
            <a:pPr>
              <a:defRPr/>
            </a:pPr>
            <a:fld id="{A672B08F-1DDB-4A63-BDD3-AA3848DC9CE0}" type="slidenum">
              <a:rPr lang="en-US" altLang="zh-CN"/>
              <a:pPr>
                <a:defRPr/>
              </a:pPr>
              <a:t>70</a:t>
            </a:fld>
            <a:endParaRPr lang="en-US" altLang="zh-CN"/>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746" name="Rectangle 2"/>
          <p:cNvSpPr>
            <a:spLocks noGrp="1" noChangeArrowheads="1"/>
          </p:cNvSpPr>
          <p:nvPr>
            <p:ph idx="1"/>
          </p:nvPr>
        </p:nvSpPr>
        <p:spPr>
          <a:xfrm>
            <a:off x="250825" y="476250"/>
            <a:ext cx="8893175" cy="6553200"/>
          </a:xfrm>
        </p:spPr>
        <p:txBody>
          <a:bodyPr/>
          <a:lstStyle/>
          <a:p>
            <a:pPr marL="0" indent="0" eaLnBrk="1" hangingPunct="1">
              <a:buFont typeface="Monotype Sorts" pitchFamily="2" charset="2"/>
              <a:buNone/>
              <a:defRPr/>
            </a:pP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例</a:t>
            </a:r>
            <a:r>
              <a:rPr lang="en-US" altLang="zh-CN" sz="2400" b="1" dirty="0">
                <a:latin typeface="楷体_GB2312" pitchFamily="49" charset="-122"/>
                <a:ea typeface="楷体_GB2312" pitchFamily="49" charset="-122"/>
              </a:rPr>
              <a:t>7.7】</a:t>
            </a:r>
            <a:r>
              <a:rPr lang="zh-CN" altLang="en-US" sz="2400" b="1" dirty="0">
                <a:latin typeface="楷体_GB2312" pitchFamily="49" charset="-122"/>
                <a:ea typeface="楷体_GB2312" pitchFamily="49" charset="-122"/>
              </a:rPr>
              <a:t>编写学号从小到大有序学生链表上查找指定学号的函数</a:t>
            </a:r>
            <a:r>
              <a:rPr lang="en-US" altLang="zh-CN" sz="2400" b="1" dirty="0" err="1">
                <a:latin typeface="楷体_GB2312" pitchFamily="49" charset="-122"/>
                <a:ea typeface="楷体_GB2312" pitchFamily="49" charset="-122"/>
              </a:rPr>
              <a:t>searchSOLink</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解题思路</a:t>
            </a:r>
            <a:r>
              <a:rPr lang="en-US" altLang="zh-CN" sz="2400" b="1" dirty="0">
                <a:latin typeface="楷体_GB2312" pitchFamily="49" charset="-122"/>
                <a:ea typeface="楷体_GB2312" pitchFamily="49" charset="-122"/>
              </a:rPr>
              <a:t>】</a:t>
            </a:r>
          </a:p>
          <a:p>
            <a:pPr marL="0" indent="0" eaLnBrk="1" hangingPunct="1">
              <a:buFont typeface="Monotype Sorts" pitchFamily="2" charset="2"/>
              <a:buNone/>
              <a:defRPr/>
            </a:pPr>
            <a:r>
              <a:rPr lang="zh-CN" altLang="en-US" sz="2400" b="1" dirty="0">
                <a:latin typeface="楷体_GB2312" pitchFamily="49" charset="-122"/>
                <a:ea typeface="楷体_GB2312" pitchFamily="49" charset="-122"/>
              </a:rPr>
              <a:t>与函数</a:t>
            </a:r>
            <a:r>
              <a:rPr lang="en-US" altLang="zh-CN" sz="2400" b="1" dirty="0" err="1">
                <a:latin typeface="楷体_GB2312" pitchFamily="49" charset="-122"/>
                <a:ea typeface="楷体_GB2312" pitchFamily="49" charset="-122"/>
              </a:rPr>
              <a:t>searchSLink</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一样，也应设链表的头指针和要寻找学号两个形参。函数的寻找循环也是从链表的首表元开始，循环条件是还有表元，且表元的值小于寻找值。循环体要做的工作是准备考察下一个学生。</a:t>
            </a:r>
            <a:r>
              <a:rPr lang="zh-CN" altLang="en-US" sz="2400" b="1" dirty="0">
                <a:solidFill>
                  <a:srgbClr val="FF0000"/>
                </a:solidFill>
                <a:latin typeface="楷体_GB2312" pitchFamily="49" charset="-122"/>
                <a:ea typeface="楷体_GB2312" pitchFamily="49" charset="-122"/>
              </a:rPr>
              <a:t>寻找循环结束后，还有当前表元，且当前表元的值是要寻找值情况下，函数才返回当前表元的指针。否则，函数返回</a:t>
            </a:r>
            <a:r>
              <a:rPr lang="en-US" altLang="zh-CN" sz="2400" b="1" dirty="0">
                <a:solidFill>
                  <a:srgbClr val="FF0000"/>
                </a:solidFill>
                <a:latin typeface="楷体_GB2312" pitchFamily="49" charset="-122"/>
                <a:ea typeface="楷体_GB2312" pitchFamily="49" charset="-122"/>
              </a:rPr>
              <a:t>NULL</a:t>
            </a:r>
            <a:r>
              <a:rPr lang="zh-CN" altLang="en-US" sz="2400" b="1" dirty="0">
                <a:solidFill>
                  <a:srgbClr val="FF0000"/>
                </a:solidFill>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zh-CN" altLang="en-US" sz="2400" b="1" dirty="0">
                <a:latin typeface="楷体_GB2312" pitchFamily="49" charset="-122"/>
                <a:ea typeface="楷体_GB2312" pitchFamily="49" charset="-122"/>
              </a:rPr>
              <a:t>     </a:t>
            </a:r>
          </a:p>
          <a:p>
            <a:pPr marL="0" indent="0" eaLnBrk="1" hangingPunct="1">
              <a:lnSpc>
                <a:spcPct val="80000"/>
              </a:lnSpc>
              <a:buFont typeface="Monotype Sorts" pitchFamily="2" charset="2"/>
              <a:buNone/>
              <a:defRPr/>
            </a:pPr>
            <a:r>
              <a:rPr lang="en-US" altLang="zh-CN" sz="2400" b="1" dirty="0" err="1">
                <a:latin typeface="楷体_GB2312" pitchFamily="49" charset="-122"/>
                <a:ea typeface="楷体_GB2312" pitchFamily="49" charset="-122"/>
              </a:rPr>
              <a:t>stuS</a:t>
            </a:r>
            <a:r>
              <a:rPr lang="en-US" altLang="zh-CN" sz="2400" b="1" dirty="0">
                <a:latin typeface="楷体_GB2312" pitchFamily="49" charset="-122"/>
                <a:ea typeface="楷体_GB2312" pitchFamily="49" charset="-122"/>
              </a:rPr>
              <a:t> * </a:t>
            </a:r>
            <a:r>
              <a:rPr lang="en-US" altLang="zh-CN" sz="2400" b="1" dirty="0" err="1">
                <a:latin typeface="楷体_GB2312" pitchFamily="49" charset="-122"/>
                <a:ea typeface="楷体_GB2312" pitchFamily="49" charset="-122"/>
              </a:rPr>
              <a:t>searchSOLink</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stuS</a:t>
            </a:r>
            <a:r>
              <a:rPr lang="en-US" altLang="zh-CN" sz="2400" b="1" dirty="0">
                <a:latin typeface="楷体_GB2312" pitchFamily="49" charset="-122"/>
                <a:ea typeface="楷体_GB2312" pitchFamily="49" charset="-122"/>
              </a:rPr>
              <a:t> *h, </a:t>
            </a:r>
            <a:r>
              <a:rPr lang="en-US" altLang="zh-CN" sz="2400" b="1" dirty="0" err="1">
                <a:latin typeface="楷体_GB2312" pitchFamily="49" charset="-122"/>
                <a:ea typeface="楷体_GB2312" pitchFamily="49" charset="-122"/>
              </a:rPr>
              <a:t>int</a:t>
            </a:r>
            <a:r>
              <a:rPr lang="en-US" altLang="zh-CN" sz="2400" b="1" dirty="0">
                <a:latin typeface="楷体_GB2312" pitchFamily="49" charset="-122"/>
                <a:ea typeface="楷体_GB2312" pitchFamily="49" charset="-122"/>
              </a:rPr>
              <a:t> key)</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stuS</a:t>
            </a:r>
            <a:r>
              <a:rPr lang="en-US" altLang="zh-CN" sz="2400" b="1" dirty="0">
                <a:latin typeface="楷体_GB2312" pitchFamily="49" charset="-122"/>
                <a:ea typeface="楷体_GB2312" pitchFamily="49" charset="-122"/>
              </a:rPr>
              <a:t> *v = h;</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while (v != NULL &amp;&amp; v-&gt;number &lt; key)</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v = v-&gt;next;</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return  (v != NULL &amp;&amp; v-&gt;number == key) ? v : NULL;</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a:t>
            </a:r>
          </a:p>
        </p:txBody>
      </p:sp>
      <p:sp>
        <p:nvSpPr>
          <p:cNvPr id="5" name="灯片编号占位符 5"/>
          <p:cNvSpPr>
            <a:spLocks noGrp="1"/>
          </p:cNvSpPr>
          <p:nvPr>
            <p:ph type="sldNum" sz="quarter" idx="12"/>
          </p:nvPr>
        </p:nvSpPr>
        <p:spPr/>
        <p:txBody>
          <a:bodyPr/>
          <a:lstStyle/>
          <a:p>
            <a:pPr>
              <a:defRPr/>
            </a:pPr>
            <a:fld id="{BD8CFBB1-E7D7-4410-8581-F55EB61D73D0}" type="slidenum">
              <a:rPr lang="en-US" altLang="zh-CN"/>
              <a:pPr>
                <a:defRPr/>
              </a:pPr>
              <a:t>71</a:t>
            </a:fld>
            <a:endParaRPr lang="en-US" altLang="zh-CN"/>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扩展研究</a:t>
            </a:r>
          </a:p>
        </p:txBody>
      </p:sp>
      <p:sp>
        <p:nvSpPr>
          <p:cNvPr id="3" name="内容占位符 2"/>
          <p:cNvSpPr>
            <a:spLocks noGrp="1"/>
          </p:cNvSpPr>
          <p:nvPr>
            <p:ph idx="1"/>
          </p:nvPr>
        </p:nvSpPr>
        <p:spPr/>
        <p:txBody>
          <a:bodyPr>
            <a:normAutofit fontScale="92500" lnSpcReduction="10000"/>
          </a:bodyPr>
          <a:lstStyle/>
          <a:p>
            <a:pPr marL="0" indent="0">
              <a:buNone/>
            </a:pPr>
            <a:r>
              <a:rPr lang="zh-CN" altLang="en-US" sz="2400" b="1" dirty="0">
                <a:latin typeface="楷体_GB2312" pitchFamily="49" charset="-122"/>
                <a:ea typeface="楷体_GB2312" pitchFamily="49" charset="-122"/>
              </a:rPr>
              <a:t>如何找到链表的中间节点？（</a:t>
            </a:r>
            <a:r>
              <a:rPr lang="zh-CN" altLang="en-US" sz="2400" b="1" dirty="0">
                <a:solidFill>
                  <a:srgbClr val="FF0000"/>
                </a:solidFill>
                <a:latin typeface="楷体_GB2312" pitchFamily="49" charset="-122"/>
                <a:ea typeface="楷体_GB2312" pitchFamily="49" charset="-122"/>
              </a:rPr>
              <a:t>快慢指针</a:t>
            </a:r>
            <a:r>
              <a:rPr lang="zh-CN" altLang="en-US" sz="2400" b="1" dirty="0">
                <a:latin typeface="楷体_GB2312" pitchFamily="49" charset="-122"/>
                <a:ea typeface="楷体_GB2312" pitchFamily="49" charset="-122"/>
              </a:rPr>
              <a:t>）</a:t>
            </a:r>
            <a:endParaRPr lang="en-US" altLang="zh-CN" sz="2400" b="1" dirty="0">
              <a:latin typeface="楷体_GB2312" pitchFamily="49" charset="-122"/>
              <a:ea typeface="楷体_GB2312" pitchFamily="49" charset="-122"/>
            </a:endParaRPr>
          </a:p>
          <a:p>
            <a:pPr marL="0" indent="0">
              <a:buNone/>
            </a:pPr>
            <a:endParaRPr lang="en-US" altLang="zh-CN" sz="2400" b="1" dirty="0">
              <a:latin typeface="楷体_GB2312" pitchFamily="49" charset="-122"/>
              <a:ea typeface="楷体_GB2312" pitchFamily="49" charset="-122"/>
            </a:endParaRPr>
          </a:p>
          <a:p>
            <a:pPr marL="0" indent="0">
              <a:buNone/>
            </a:pPr>
            <a:r>
              <a:rPr lang="en-US" altLang="zh-CN" dirty="0" err="1"/>
              <a:t>struct</a:t>
            </a:r>
            <a:r>
              <a:rPr lang="en-US" altLang="zh-CN" dirty="0"/>
              <a:t> </a:t>
            </a:r>
            <a:r>
              <a:rPr lang="en-US" altLang="zh-CN" dirty="0" err="1"/>
              <a:t>ListNode</a:t>
            </a:r>
            <a:r>
              <a:rPr lang="en-US" altLang="zh-CN" dirty="0"/>
              <a:t>* </a:t>
            </a:r>
            <a:r>
              <a:rPr lang="en-US" altLang="zh-CN" dirty="0" err="1"/>
              <a:t>findMiddle</a:t>
            </a:r>
            <a:r>
              <a:rPr lang="en-US" altLang="zh-CN" dirty="0"/>
              <a:t>(</a:t>
            </a:r>
            <a:r>
              <a:rPr lang="en-US" altLang="zh-CN" dirty="0" err="1"/>
              <a:t>struct</a:t>
            </a:r>
            <a:r>
              <a:rPr lang="en-US" altLang="zh-CN" dirty="0"/>
              <a:t> </a:t>
            </a:r>
            <a:r>
              <a:rPr lang="en-US" altLang="zh-CN" dirty="0" err="1"/>
              <a:t>ListNode</a:t>
            </a:r>
            <a:r>
              <a:rPr lang="en-US" altLang="zh-CN" dirty="0"/>
              <a:t>* head) { </a:t>
            </a:r>
          </a:p>
          <a:p>
            <a:pPr marL="0" indent="0">
              <a:buNone/>
            </a:pPr>
            <a:r>
              <a:rPr lang="en-US" altLang="zh-CN" dirty="0"/>
              <a:t>    </a:t>
            </a:r>
            <a:r>
              <a:rPr lang="en-US" altLang="zh-CN" dirty="0" err="1"/>
              <a:t>struct</a:t>
            </a:r>
            <a:r>
              <a:rPr lang="en-US" altLang="zh-CN" dirty="0"/>
              <a:t> </a:t>
            </a:r>
            <a:r>
              <a:rPr lang="en-US" altLang="zh-CN" dirty="0" err="1"/>
              <a:t>ListNode</a:t>
            </a:r>
            <a:r>
              <a:rPr lang="en-US" altLang="zh-CN" dirty="0"/>
              <a:t>* </a:t>
            </a:r>
            <a:r>
              <a:rPr lang="en-US" altLang="zh-CN" dirty="0" err="1"/>
              <a:t>slowPtr</a:t>
            </a:r>
            <a:r>
              <a:rPr lang="en-US" altLang="zh-CN" dirty="0"/>
              <a:t> = head; </a:t>
            </a:r>
          </a:p>
          <a:p>
            <a:pPr marL="0" indent="0">
              <a:buNone/>
            </a:pPr>
            <a:r>
              <a:rPr lang="en-US" altLang="zh-CN" dirty="0"/>
              <a:t>    </a:t>
            </a:r>
            <a:r>
              <a:rPr lang="en-US" altLang="zh-CN" dirty="0" err="1"/>
              <a:t>struct</a:t>
            </a:r>
            <a:r>
              <a:rPr lang="en-US" altLang="zh-CN" dirty="0"/>
              <a:t> </a:t>
            </a:r>
            <a:r>
              <a:rPr lang="en-US" altLang="zh-CN" dirty="0" err="1"/>
              <a:t>ListNode</a:t>
            </a:r>
            <a:r>
              <a:rPr lang="en-US" altLang="zh-CN" dirty="0"/>
              <a:t>* </a:t>
            </a:r>
            <a:r>
              <a:rPr lang="en-US" altLang="zh-CN" dirty="0" err="1"/>
              <a:t>fastPtr</a:t>
            </a:r>
            <a:r>
              <a:rPr lang="en-US" altLang="zh-CN" dirty="0"/>
              <a:t> = head; </a:t>
            </a:r>
          </a:p>
          <a:p>
            <a:pPr marL="0" indent="0">
              <a:buNone/>
            </a:pPr>
            <a:r>
              <a:rPr lang="en-US" altLang="zh-CN" dirty="0"/>
              <a:t>    while (</a:t>
            </a:r>
            <a:r>
              <a:rPr lang="en-US" altLang="zh-CN" dirty="0" err="1"/>
              <a:t>fastPtr</a:t>
            </a:r>
            <a:r>
              <a:rPr lang="en-US" altLang="zh-CN" dirty="0"/>
              <a:t> != NULL &amp;&amp; </a:t>
            </a:r>
            <a:r>
              <a:rPr lang="en-US" altLang="zh-CN" dirty="0" err="1"/>
              <a:t>fastPtr</a:t>
            </a:r>
            <a:r>
              <a:rPr lang="en-US" altLang="zh-CN" dirty="0"/>
              <a:t>-&gt;next != NULL) { </a:t>
            </a:r>
          </a:p>
          <a:p>
            <a:pPr marL="0" indent="0">
              <a:buNone/>
            </a:pPr>
            <a:r>
              <a:rPr lang="en-US" altLang="zh-CN" dirty="0"/>
              <a:t>             </a:t>
            </a:r>
            <a:r>
              <a:rPr lang="en-US" altLang="zh-CN" dirty="0" err="1"/>
              <a:t>slowPtr</a:t>
            </a:r>
            <a:r>
              <a:rPr lang="en-US" altLang="zh-CN" dirty="0"/>
              <a:t> = </a:t>
            </a:r>
            <a:r>
              <a:rPr lang="en-US" altLang="zh-CN" dirty="0" err="1"/>
              <a:t>slowPtr</a:t>
            </a:r>
            <a:r>
              <a:rPr lang="en-US" altLang="zh-CN" dirty="0"/>
              <a:t>-&gt;next; </a:t>
            </a:r>
          </a:p>
          <a:p>
            <a:pPr marL="0" indent="0">
              <a:buNone/>
            </a:pPr>
            <a:r>
              <a:rPr lang="en-US" altLang="zh-CN" dirty="0"/>
              <a:t>             </a:t>
            </a:r>
            <a:r>
              <a:rPr lang="en-US" altLang="zh-CN" dirty="0" err="1"/>
              <a:t>fastPtr</a:t>
            </a:r>
            <a:r>
              <a:rPr lang="en-US" altLang="zh-CN" dirty="0"/>
              <a:t> = </a:t>
            </a:r>
            <a:r>
              <a:rPr lang="en-US" altLang="zh-CN" dirty="0" err="1"/>
              <a:t>fastPtr</a:t>
            </a:r>
            <a:r>
              <a:rPr lang="en-US" altLang="zh-CN" dirty="0"/>
              <a:t>-&gt;next-&gt;next; </a:t>
            </a:r>
          </a:p>
          <a:p>
            <a:pPr marL="0" indent="0">
              <a:buNone/>
            </a:pPr>
            <a:r>
              <a:rPr lang="en-US" altLang="zh-CN" dirty="0"/>
              <a:t>    } </a:t>
            </a:r>
          </a:p>
          <a:p>
            <a:pPr marL="0" indent="0">
              <a:buNone/>
            </a:pPr>
            <a:r>
              <a:rPr lang="en-US" altLang="zh-CN" dirty="0"/>
              <a:t>    return </a:t>
            </a:r>
            <a:r>
              <a:rPr lang="en-US" altLang="zh-CN" dirty="0" err="1"/>
              <a:t>slowPtr</a:t>
            </a:r>
            <a:r>
              <a:rPr lang="en-US" altLang="zh-CN" dirty="0"/>
              <a:t>; </a:t>
            </a:r>
          </a:p>
          <a:p>
            <a:pPr marL="0" indent="0">
              <a:buNone/>
            </a:pPr>
            <a:r>
              <a:rPr lang="en-US" altLang="zh-CN" dirty="0"/>
              <a:t>}</a:t>
            </a:r>
            <a:endParaRPr lang="en-US" altLang="zh-CN" sz="2400" b="1" dirty="0">
              <a:latin typeface="楷体_GB2312" pitchFamily="49" charset="-122"/>
              <a:ea typeface="楷体_GB2312" pitchFamily="49" charset="-122"/>
            </a:endParaRPr>
          </a:p>
          <a:p>
            <a:endParaRPr lang="zh-CN" altLang="en-US" dirty="0"/>
          </a:p>
        </p:txBody>
      </p:sp>
      <p:sp>
        <p:nvSpPr>
          <p:cNvPr id="4" name="灯片编号占位符 3"/>
          <p:cNvSpPr>
            <a:spLocks noGrp="1"/>
          </p:cNvSpPr>
          <p:nvPr>
            <p:ph type="sldNum" sz="quarter" idx="12"/>
          </p:nvPr>
        </p:nvSpPr>
        <p:spPr/>
        <p:txBody>
          <a:bodyPr/>
          <a:lstStyle/>
          <a:p>
            <a:pPr>
              <a:defRPr/>
            </a:pPr>
            <a:fld id="{3FD51CBC-D341-4D1A-9838-3C70B744B68D}" type="slidenum">
              <a:rPr lang="en-US" altLang="zh-CN" smtClean="0"/>
              <a:pPr>
                <a:defRPr/>
              </a:pPr>
              <a:t>72</a:t>
            </a:fld>
            <a:endParaRPr lang="en-US" altLang="zh-CN"/>
          </a:p>
        </p:txBody>
      </p:sp>
    </p:spTree>
    <p:extLst>
      <p:ext uri="{BB962C8B-B14F-4D97-AF65-F5344CB8AC3E}">
        <p14:creationId xmlns:p14="http://schemas.microsoft.com/office/powerpoint/2010/main" val="35066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 calcmode="lin" valueType="num">
                                      <p:cBhvr additive="base">
                                        <p:cTn id="1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 calcmode="lin" valueType="num">
                                      <p:cBhvr additive="base">
                                        <p:cTn id="2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 calcmode="lin" valueType="num">
                                      <p:cBhvr additive="base">
                                        <p:cTn id="2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 calcmode="lin" valueType="num">
                                      <p:cBhvr additive="base">
                                        <p:cTn id="2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 calcmode="lin" valueType="num">
                                      <p:cBhvr additive="base">
                                        <p:cTn id="3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链表倒数第</a:t>
            </a:r>
            <a:r>
              <a:rPr lang="en-US" altLang="zh-CN" dirty="0"/>
              <a:t>k</a:t>
            </a:r>
            <a:r>
              <a:rPr lang="zh-CN" altLang="en-US" dirty="0"/>
              <a:t>个节点（</a:t>
            </a:r>
            <a:r>
              <a:rPr lang="zh-CN" altLang="en-US" dirty="0">
                <a:solidFill>
                  <a:srgbClr val="FF0000"/>
                </a:solidFill>
              </a:rPr>
              <a:t>快慢指针</a:t>
            </a:r>
            <a:r>
              <a:rPr lang="zh-CN" altLang="en-US" dirty="0"/>
              <a:t>）</a:t>
            </a:r>
          </a:p>
        </p:txBody>
      </p:sp>
      <p:sp>
        <p:nvSpPr>
          <p:cNvPr id="3" name="内容占位符 2"/>
          <p:cNvSpPr>
            <a:spLocks noGrp="1"/>
          </p:cNvSpPr>
          <p:nvPr>
            <p:ph idx="1"/>
          </p:nvPr>
        </p:nvSpPr>
        <p:spPr>
          <a:xfrm>
            <a:off x="457200" y="1935480"/>
            <a:ext cx="8507288" cy="4389120"/>
          </a:xfrm>
        </p:spPr>
        <p:txBody>
          <a:bodyPr>
            <a:normAutofit fontScale="77500" lnSpcReduction="20000"/>
          </a:bodyPr>
          <a:lstStyle/>
          <a:p>
            <a:pPr marL="0" indent="0">
              <a:buNone/>
            </a:pPr>
            <a:r>
              <a:rPr lang="en-US" altLang="zh-CN" dirty="0" err="1"/>
              <a:t>struct</a:t>
            </a:r>
            <a:r>
              <a:rPr lang="en-US" altLang="zh-CN" dirty="0"/>
              <a:t> </a:t>
            </a:r>
            <a:r>
              <a:rPr lang="en-US" altLang="zh-CN" dirty="0" err="1"/>
              <a:t>ListNode</a:t>
            </a:r>
            <a:r>
              <a:rPr lang="en-US" altLang="zh-CN" dirty="0"/>
              <a:t>* </a:t>
            </a:r>
            <a:r>
              <a:rPr lang="en-US" altLang="zh-CN" dirty="0" err="1"/>
              <a:t>findKthFromEnd</a:t>
            </a:r>
            <a:r>
              <a:rPr lang="en-US" altLang="zh-CN" dirty="0"/>
              <a:t>(</a:t>
            </a:r>
            <a:r>
              <a:rPr lang="en-US" altLang="zh-CN" dirty="0" err="1"/>
              <a:t>struct</a:t>
            </a:r>
            <a:r>
              <a:rPr lang="en-US" altLang="zh-CN" dirty="0"/>
              <a:t> </a:t>
            </a:r>
            <a:r>
              <a:rPr lang="en-US" altLang="zh-CN" dirty="0" err="1"/>
              <a:t>ListNode</a:t>
            </a:r>
            <a:r>
              <a:rPr lang="en-US" altLang="zh-CN" dirty="0"/>
              <a:t>* head, </a:t>
            </a:r>
            <a:r>
              <a:rPr lang="en-US" altLang="zh-CN" dirty="0" err="1"/>
              <a:t>int</a:t>
            </a:r>
            <a:r>
              <a:rPr lang="en-US" altLang="zh-CN" dirty="0"/>
              <a:t> k)</a:t>
            </a:r>
          </a:p>
          <a:p>
            <a:pPr marL="0" indent="0">
              <a:buNone/>
            </a:pPr>
            <a:r>
              <a:rPr lang="en-US" altLang="zh-CN" dirty="0"/>
              <a:t> { </a:t>
            </a:r>
          </a:p>
          <a:p>
            <a:pPr marL="393192" lvl="1" indent="0">
              <a:buNone/>
            </a:pPr>
            <a:r>
              <a:rPr lang="en-US" altLang="zh-CN" dirty="0" err="1"/>
              <a:t>struct</a:t>
            </a:r>
            <a:r>
              <a:rPr lang="en-US" altLang="zh-CN" dirty="0"/>
              <a:t> </a:t>
            </a:r>
            <a:r>
              <a:rPr lang="en-US" altLang="zh-CN" dirty="0" err="1"/>
              <a:t>ListNode</a:t>
            </a:r>
            <a:r>
              <a:rPr lang="en-US" altLang="zh-CN" dirty="0"/>
              <a:t>* </a:t>
            </a:r>
            <a:r>
              <a:rPr lang="en-US" altLang="zh-CN" dirty="0" err="1"/>
              <a:t>slowPtr</a:t>
            </a:r>
            <a:r>
              <a:rPr lang="en-US" altLang="zh-CN" dirty="0"/>
              <a:t> = head; </a:t>
            </a:r>
          </a:p>
          <a:p>
            <a:pPr marL="393192" lvl="1" indent="0">
              <a:buNone/>
            </a:pPr>
            <a:r>
              <a:rPr lang="en-US" altLang="zh-CN" dirty="0" err="1"/>
              <a:t>struct</a:t>
            </a:r>
            <a:r>
              <a:rPr lang="en-US" altLang="zh-CN" dirty="0"/>
              <a:t> </a:t>
            </a:r>
            <a:r>
              <a:rPr lang="en-US" altLang="zh-CN" dirty="0" err="1"/>
              <a:t>ListNode</a:t>
            </a:r>
            <a:r>
              <a:rPr lang="en-US" altLang="zh-CN" dirty="0"/>
              <a:t>* </a:t>
            </a:r>
            <a:r>
              <a:rPr lang="en-US" altLang="zh-CN" dirty="0" err="1"/>
              <a:t>fastPtr</a:t>
            </a:r>
            <a:r>
              <a:rPr lang="en-US" altLang="zh-CN" dirty="0"/>
              <a:t> = head; </a:t>
            </a:r>
          </a:p>
          <a:p>
            <a:pPr marL="393192" lvl="1" indent="0">
              <a:buNone/>
            </a:pPr>
            <a:r>
              <a:rPr lang="en-US" altLang="zh-CN" dirty="0"/>
              <a:t>for (</a:t>
            </a:r>
            <a:r>
              <a:rPr lang="en-US" altLang="zh-CN" dirty="0" err="1"/>
              <a:t>int</a:t>
            </a:r>
            <a:r>
              <a:rPr lang="en-US" altLang="zh-CN" dirty="0"/>
              <a:t> </a:t>
            </a:r>
            <a:r>
              <a:rPr lang="en-US" altLang="zh-CN" dirty="0" err="1"/>
              <a:t>i</a:t>
            </a:r>
            <a:r>
              <a:rPr lang="en-US" altLang="zh-CN" dirty="0"/>
              <a:t> = 0; </a:t>
            </a:r>
            <a:r>
              <a:rPr lang="en-US" altLang="zh-CN" dirty="0" err="1"/>
              <a:t>i</a:t>
            </a:r>
            <a:r>
              <a:rPr lang="en-US" altLang="zh-CN" dirty="0"/>
              <a:t> &lt; k; </a:t>
            </a:r>
            <a:r>
              <a:rPr lang="en-US" altLang="zh-CN" dirty="0" err="1"/>
              <a:t>i</a:t>
            </a:r>
            <a:r>
              <a:rPr lang="en-US" altLang="zh-CN" dirty="0"/>
              <a:t>++) { //</a:t>
            </a:r>
            <a:r>
              <a:rPr lang="zh-CN" altLang="en-US" dirty="0"/>
              <a:t>正向第</a:t>
            </a:r>
            <a:r>
              <a:rPr lang="en-US" altLang="zh-CN" dirty="0"/>
              <a:t>k</a:t>
            </a:r>
            <a:r>
              <a:rPr lang="zh-CN" altLang="en-US" dirty="0"/>
              <a:t>个</a:t>
            </a:r>
            <a:endParaRPr lang="en-US" altLang="zh-CN" dirty="0"/>
          </a:p>
          <a:p>
            <a:pPr marL="393192" lvl="1" indent="0">
              <a:buNone/>
            </a:pPr>
            <a:r>
              <a:rPr lang="en-US" altLang="zh-CN" dirty="0"/>
              <a:t>	if (</a:t>
            </a:r>
            <a:r>
              <a:rPr lang="en-US" altLang="zh-CN" dirty="0" err="1"/>
              <a:t>fastPtr</a:t>
            </a:r>
            <a:r>
              <a:rPr lang="en-US" altLang="zh-CN" dirty="0"/>
              <a:t> == NULL)  return NULL; </a:t>
            </a:r>
          </a:p>
          <a:p>
            <a:pPr marL="393192" lvl="1" indent="0">
              <a:buNone/>
            </a:pPr>
            <a:r>
              <a:rPr lang="en-US" altLang="zh-CN" dirty="0"/>
              <a:t>        </a:t>
            </a:r>
            <a:r>
              <a:rPr lang="en-US" altLang="zh-CN" dirty="0" err="1"/>
              <a:t>fastPtr</a:t>
            </a:r>
            <a:r>
              <a:rPr lang="en-US" altLang="zh-CN" dirty="0"/>
              <a:t> = </a:t>
            </a:r>
            <a:r>
              <a:rPr lang="en-US" altLang="zh-CN" dirty="0" err="1"/>
              <a:t>fastPtr</a:t>
            </a:r>
            <a:r>
              <a:rPr lang="en-US" altLang="zh-CN" dirty="0"/>
              <a:t>-&gt;next; </a:t>
            </a:r>
          </a:p>
          <a:p>
            <a:pPr marL="393192" lvl="1" indent="0">
              <a:buNone/>
            </a:pPr>
            <a:r>
              <a:rPr lang="en-US" altLang="zh-CN" dirty="0"/>
              <a:t>} </a:t>
            </a:r>
          </a:p>
          <a:p>
            <a:pPr marL="393192" lvl="1" indent="0">
              <a:buNone/>
            </a:pPr>
            <a:r>
              <a:rPr lang="en-US" altLang="zh-CN" dirty="0"/>
              <a:t>while (</a:t>
            </a:r>
            <a:r>
              <a:rPr lang="en-US" altLang="zh-CN" dirty="0" err="1"/>
              <a:t>fastPtr</a:t>
            </a:r>
            <a:r>
              <a:rPr lang="en-US" altLang="zh-CN" dirty="0"/>
              <a:t> != NULL) { </a:t>
            </a:r>
          </a:p>
          <a:p>
            <a:pPr marL="393192" lvl="1" indent="0">
              <a:buNone/>
            </a:pPr>
            <a:r>
              <a:rPr lang="en-US" altLang="zh-CN" dirty="0"/>
              <a:t>	</a:t>
            </a:r>
            <a:r>
              <a:rPr lang="en-US" altLang="zh-CN" dirty="0" err="1"/>
              <a:t>slowPtr</a:t>
            </a:r>
            <a:r>
              <a:rPr lang="en-US" altLang="zh-CN" dirty="0"/>
              <a:t> = </a:t>
            </a:r>
            <a:r>
              <a:rPr lang="en-US" altLang="zh-CN" dirty="0" err="1"/>
              <a:t>slowPtr</a:t>
            </a:r>
            <a:r>
              <a:rPr lang="en-US" altLang="zh-CN" dirty="0"/>
              <a:t>-&gt;next; </a:t>
            </a:r>
          </a:p>
          <a:p>
            <a:pPr marL="393192" lvl="1" indent="0">
              <a:buNone/>
            </a:pPr>
            <a:r>
              <a:rPr lang="en-US" altLang="zh-CN" dirty="0"/>
              <a:t>	</a:t>
            </a:r>
            <a:r>
              <a:rPr lang="en-US" altLang="zh-CN" dirty="0" err="1"/>
              <a:t>fastPtr</a:t>
            </a:r>
            <a:r>
              <a:rPr lang="en-US" altLang="zh-CN" dirty="0"/>
              <a:t> = </a:t>
            </a:r>
            <a:r>
              <a:rPr lang="en-US" altLang="zh-CN" dirty="0" err="1"/>
              <a:t>fastPtr</a:t>
            </a:r>
            <a:r>
              <a:rPr lang="en-US" altLang="zh-CN" dirty="0"/>
              <a:t>-&gt;next; </a:t>
            </a:r>
          </a:p>
          <a:p>
            <a:pPr marL="393192" lvl="1" indent="0">
              <a:buNone/>
            </a:pPr>
            <a:r>
              <a:rPr lang="en-US" altLang="zh-CN" dirty="0"/>
              <a:t>} </a:t>
            </a:r>
          </a:p>
          <a:p>
            <a:pPr marL="393192" lvl="1" indent="0">
              <a:buNone/>
            </a:pPr>
            <a:r>
              <a:rPr lang="en-US" altLang="zh-CN" dirty="0"/>
              <a:t>return </a:t>
            </a:r>
            <a:r>
              <a:rPr lang="en-US" altLang="zh-CN" dirty="0" err="1"/>
              <a:t>slowPtr</a:t>
            </a:r>
            <a:r>
              <a:rPr lang="zh-CN" altLang="en-US" dirty="0"/>
              <a:t>；</a:t>
            </a:r>
            <a:r>
              <a:rPr lang="en-US" altLang="zh-CN" dirty="0"/>
              <a:t>//</a:t>
            </a:r>
            <a:r>
              <a:rPr lang="zh-CN" altLang="en-US" dirty="0"/>
              <a:t>倒数第</a:t>
            </a:r>
            <a:r>
              <a:rPr lang="en-US" altLang="zh-CN" dirty="0"/>
              <a:t>k</a:t>
            </a:r>
            <a:r>
              <a:rPr lang="zh-CN" altLang="en-US" dirty="0"/>
              <a:t>个</a:t>
            </a:r>
            <a:endParaRPr lang="en-US" altLang="zh-CN" dirty="0"/>
          </a:p>
          <a:p>
            <a:pPr marL="27432" indent="0">
              <a:buNone/>
            </a:pPr>
            <a:r>
              <a:rPr lang="en-US" altLang="zh-CN" dirty="0"/>
              <a:t>}</a:t>
            </a:r>
          </a:p>
        </p:txBody>
      </p:sp>
      <p:sp>
        <p:nvSpPr>
          <p:cNvPr id="4" name="灯片编号占位符 3"/>
          <p:cNvSpPr>
            <a:spLocks noGrp="1"/>
          </p:cNvSpPr>
          <p:nvPr>
            <p:ph type="sldNum" sz="quarter" idx="12"/>
          </p:nvPr>
        </p:nvSpPr>
        <p:spPr/>
        <p:txBody>
          <a:bodyPr/>
          <a:lstStyle/>
          <a:p>
            <a:pPr>
              <a:defRPr/>
            </a:pPr>
            <a:fld id="{3FD51CBC-D341-4D1A-9838-3C70B744B68D}" type="slidenum">
              <a:rPr lang="en-US" altLang="zh-CN" smtClean="0"/>
              <a:pPr>
                <a:defRPr/>
              </a:pPr>
              <a:t>73</a:t>
            </a:fld>
            <a:endParaRPr lang="en-US" altLang="zh-CN"/>
          </a:p>
        </p:txBody>
      </p:sp>
    </p:spTree>
    <p:extLst>
      <p:ext uri="{BB962C8B-B14F-4D97-AF65-F5344CB8AC3E}">
        <p14:creationId xmlns:p14="http://schemas.microsoft.com/office/powerpoint/2010/main" val="4136161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 calcmode="lin" valueType="num">
                                      <p:cBhvr additive="base">
                                        <p:cTn id="2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anim calcmode="lin" valueType="num">
                                      <p:cBhvr additive="base">
                                        <p:cTn id="2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anim calcmode="lin" valueType="num">
                                      <p:cBhvr additive="base">
                                        <p:cTn id="3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anim calcmode="lin" valueType="num">
                                      <p:cBhvr additive="base">
                                        <p:cTn id="3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anim calcmode="lin" valueType="num">
                                      <p:cBhvr additive="base">
                                        <p:cTn id="43"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4578" name="Rectangle 2"/>
          <p:cNvSpPr>
            <a:spLocks noGrp="1" noChangeArrowheads="1"/>
          </p:cNvSpPr>
          <p:nvPr>
            <p:ph idx="1"/>
          </p:nvPr>
        </p:nvSpPr>
        <p:spPr>
          <a:xfrm>
            <a:off x="250825" y="1557338"/>
            <a:ext cx="8569325" cy="4176712"/>
          </a:xfrm>
        </p:spPr>
        <p:txBody>
          <a:bodyPr>
            <a:normAutofit/>
          </a:bodyPr>
          <a:lstStyle/>
          <a:p>
            <a:pPr marL="0" indent="0" algn="just" eaLnBrk="1" hangingPunct="1">
              <a:buFont typeface="Monotype Sorts" pitchFamily="2" charset="2"/>
              <a:buNone/>
              <a:defRPr/>
            </a:pPr>
            <a:r>
              <a:rPr lang="zh-CN" altLang="en-US" sz="2800" b="1" dirty="0">
                <a:ea typeface="楷体_GB2312" pitchFamily="49" charset="-122"/>
              </a:rPr>
              <a:t>往单链表插入一个表元是建立单链表的主要操作之一，它又可按表元插入在单链表中的位置不同分两种情况：</a:t>
            </a:r>
          </a:p>
          <a:p>
            <a:pPr marL="0" indent="0" algn="just" eaLnBrk="1" hangingPunct="1">
              <a:buFont typeface="Monotype Sorts" pitchFamily="2" charset="2"/>
              <a:buNone/>
              <a:defRPr/>
            </a:pPr>
            <a:r>
              <a:rPr lang="zh-CN" altLang="en-US" sz="2800" b="1" dirty="0">
                <a:ea typeface="楷体_GB2312" pitchFamily="49" charset="-122"/>
              </a:rPr>
              <a:t>可以插在链表的最前面（作为首表元）、可以插在指定的表元之后。</a:t>
            </a:r>
          </a:p>
          <a:p>
            <a:pPr marL="0" indent="0" algn="just" eaLnBrk="1" hangingPunct="1">
              <a:buFont typeface="Monotype Sorts" pitchFamily="2" charset="2"/>
              <a:buNone/>
              <a:defRPr/>
            </a:pPr>
            <a:endParaRPr lang="zh-CN" altLang="en-US" sz="2800" b="1" dirty="0">
              <a:ea typeface="楷体_GB2312" pitchFamily="49" charset="-122"/>
            </a:endParaRPr>
          </a:p>
          <a:p>
            <a:pPr marL="0" indent="0" algn="just" eaLnBrk="1" hangingPunct="1">
              <a:buFont typeface="Monotype Sorts" pitchFamily="2" charset="2"/>
              <a:buNone/>
              <a:defRPr/>
            </a:pPr>
            <a:r>
              <a:rPr lang="zh-CN" altLang="en-US" sz="2800" b="1" dirty="0">
                <a:ea typeface="楷体_GB2312" pitchFamily="49" charset="-122"/>
              </a:rPr>
              <a:t>以下所有的示意图都以整数链表为例，说明在链表上各基本操作的基本原理。</a:t>
            </a:r>
          </a:p>
        </p:txBody>
      </p:sp>
      <p:sp>
        <p:nvSpPr>
          <p:cNvPr id="6" name="灯片编号占位符 5"/>
          <p:cNvSpPr>
            <a:spLocks noGrp="1"/>
          </p:cNvSpPr>
          <p:nvPr>
            <p:ph type="sldNum" sz="quarter" idx="12"/>
          </p:nvPr>
        </p:nvSpPr>
        <p:spPr/>
        <p:txBody>
          <a:bodyPr/>
          <a:lstStyle/>
          <a:p>
            <a:pPr>
              <a:defRPr/>
            </a:pPr>
            <a:fld id="{B07775F1-B7FF-4751-B9D8-A760F09E26AD}" type="slidenum">
              <a:rPr lang="en-US" altLang="zh-CN"/>
              <a:pPr>
                <a:defRPr/>
              </a:pPr>
              <a:t>74</a:t>
            </a:fld>
            <a:endParaRPr lang="en-US" altLang="zh-CN"/>
          </a:p>
        </p:txBody>
      </p:sp>
      <p:sp>
        <p:nvSpPr>
          <p:cNvPr id="664581" name="Text Box 5"/>
          <p:cNvSpPr txBox="1">
            <a:spLocks noChangeArrowheads="1"/>
          </p:cNvSpPr>
          <p:nvPr/>
        </p:nvSpPr>
        <p:spPr bwMode="auto">
          <a:xfrm>
            <a:off x="482600" y="538163"/>
            <a:ext cx="6176963" cy="579437"/>
          </a:xfrm>
          <a:prstGeom prst="rect">
            <a:avLst/>
          </a:prstGeom>
          <a:noFill/>
          <a:ln w="9525">
            <a:noFill/>
            <a:miter lim="800000"/>
            <a:headEnd/>
            <a:tailEnd/>
          </a:ln>
          <a:effectLst/>
        </p:spPr>
        <p:txBody>
          <a:bodyPr>
            <a:spAutoFit/>
          </a:bodyPr>
          <a:lstStyle/>
          <a:p>
            <a:pPr>
              <a:spcBef>
                <a:spcPct val="50000"/>
              </a:spcBef>
              <a:defRPr/>
            </a:pPr>
            <a:r>
              <a:rPr lang="en-US" altLang="zh-CN" sz="3200" b="1" dirty="0">
                <a:latin typeface="楷体_GB2312" pitchFamily="49" charset="-122"/>
                <a:ea typeface="楷体_GB2312" pitchFamily="49" charset="-122"/>
              </a:rPr>
              <a:t>（5</a:t>
            </a:r>
            <a:r>
              <a:rPr lang="zh-CN" altLang="en-US" sz="3200" b="1" dirty="0">
                <a:latin typeface="楷体_GB2312" pitchFamily="49" charset="-122"/>
                <a:ea typeface="楷体_GB2312" pitchFamily="49" charset="-122"/>
              </a:rPr>
              <a:t>）在链表中插入新表元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770" name="Rectangle 2"/>
          <p:cNvSpPr>
            <a:spLocks noGrp="1" noChangeArrowheads="1"/>
          </p:cNvSpPr>
          <p:nvPr>
            <p:ph idx="1"/>
          </p:nvPr>
        </p:nvSpPr>
        <p:spPr>
          <a:xfrm>
            <a:off x="250825" y="785795"/>
            <a:ext cx="8569325" cy="4948256"/>
          </a:xfrm>
        </p:spPr>
        <p:txBody>
          <a:bodyPr>
            <a:noAutofit/>
          </a:bodyPr>
          <a:lstStyle/>
          <a:p>
            <a:pPr marL="0" indent="0">
              <a:lnSpc>
                <a:spcPct val="90000"/>
              </a:lnSpc>
              <a:defRPr/>
            </a:pPr>
            <a:r>
              <a:rPr kumimoji="1" lang="zh-CN" altLang="en-US" sz="3600" b="1" dirty="0">
                <a:ea typeface="楷体_GB2312" pitchFamily="49" charset="-122"/>
              </a:rPr>
              <a:t>在首表元之前插入新表元</a:t>
            </a:r>
            <a:endParaRPr kumimoji="1" lang="en-US" altLang="zh-CN" sz="3600" b="1" dirty="0">
              <a:ea typeface="楷体_GB2312" pitchFamily="49" charset="-122"/>
            </a:endParaRPr>
          </a:p>
          <a:p>
            <a:pPr marL="0" indent="0" eaLnBrk="1" hangingPunct="1">
              <a:lnSpc>
                <a:spcPct val="90000"/>
              </a:lnSpc>
              <a:buFont typeface="Monotype Sorts" pitchFamily="2" charset="2"/>
              <a:buNone/>
              <a:defRPr/>
            </a:pPr>
            <a:r>
              <a:rPr lang="zh-CN" altLang="en-US" sz="2800" b="1" dirty="0">
                <a:latin typeface="楷体_GB2312" pitchFamily="49" charset="-122"/>
                <a:ea typeface="楷体_GB2312" pitchFamily="49" charset="-122"/>
              </a:rPr>
              <a:t>在原来的首表元之前插入一个新表元，插入的表元将成为链表新的首表元。这个工作包括</a:t>
            </a:r>
            <a:r>
              <a:rPr lang="en-US" altLang="zh-CN" sz="2800" b="1" dirty="0">
                <a:latin typeface="楷体_GB2312" pitchFamily="49" charset="-122"/>
                <a:ea typeface="楷体_GB2312" pitchFamily="49" charset="-122"/>
              </a:rPr>
              <a:t>(1)</a:t>
            </a:r>
            <a:r>
              <a:rPr lang="zh-CN" altLang="en-US" sz="2800" b="1" dirty="0">
                <a:latin typeface="楷体_GB2312" pitchFamily="49" charset="-122"/>
                <a:ea typeface="楷体_GB2312" pitchFamily="49" charset="-122"/>
              </a:rPr>
              <a:t>将链表原来的首表元接在新插入的表元之后，</a:t>
            </a:r>
            <a:r>
              <a:rPr lang="en-US" altLang="zh-CN" sz="2800" b="1" dirty="0">
                <a:latin typeface="楷体_GB2312" pitchFamily="49" charset="-122"/>
                <a:ea typeface="楷体_GB2312" pitchFamily="49" charset="-122"/>
              </a:rPr>
              <a:t>(2)</a:t>
            </a:r>
            <a:r>
              <a:rPr lang="zh-CN" altLang="en-US" sz="2800" b="1" dirty="0">
                <a:latin typeface="楷体_GB2312" pitchFamily="49" charset="-122"/>
                <a:ea typeface="楷体_GB2312" pitchFamily="49" charset="-122"/>
              </a:rPr>
              <a:t>修改链表的</a:t>
            </a:r>
            <a:r>
              <a:rPr lang="zh-CN" altLang="en-US" sz="2800" b="1" dirty="0">
                <a:solidFill>
                  <a:srgbClr val="FF0000"/>
                </a:solidFill>
                <a:latin typeface="楷体_GB2312" pitchFamily="49" charset="-122"/>
                <a:ea typeface="楷体_GB2312" pitchFamily="49" charset="-122"/>
              </a:rPr>
              <a:t>头指针</a:t>
            </a:r>
            <a:r>
              <a:rPr lang="zh-CN" altLang="en-US" sz="2800" b="1" dirty="0">
                <a:latin typeface="楷体_GB2312" pitchFamily="49" charset="-122"/>
                <a:ea typeface="楷体_GB2312" pitchFamily="49" charset="-122"/>
              </a:rPr>
              <a:t>，使链表的头指针指向新插入的表元。</a:t>
            </a:r>
            <a:endParaRPr lang="en-US" altLang="zh-CN" sz="2800" b="1" dirty="0">
              <a:latin typeface="楷体_GB2312" pitchFamily="49" charset="-122"/>
              <a:ea typeface="楷体_GB2312" pitchFamily="49" charset="-122"/>
            </a:endParaRPr>
          </a:p>
          <a:p>
            <a:pPr marL="0" indent="0" eaLnBrk="1" hangingPunct="1">
              <a:lnSpc>
                <a:spcPct val="90000"/>
              </a:lnSpc>
              <a:buFont typeface="Monotype Sorts" pitchFamily="2" charset="2"/>
              <a:buNone/>
              <a:defRPr/>
            </a:pPr>
            <a:endParaRPr lang="en-US" altLang="zh-CN" sz="2800" b="1" dirty="0">
              <a:latin typeface="楷体_GB2312" pitchFamily="49" charset="-122"/>
              <a:ea typeface="楷体_GB2312" pitchFamily="49" charset="-122"/>
            </a:endParaRPr>
          </a:p>
          <a:p>
            <a:pPr marL="0" indent="0" eaLnBrk="1" hangingPunct="1">
              <a:lnSpc>
                <a:spcPct val="90000"/>
              </a:lnSpc>
              <a:buFont typeface="Monotype Sorts" pitchFamily="2" charset="2"/>
              <a:buNone/>
              <a:defRPr/>
            </a:pPr>
            <a:r>
              <a:rPr lang="zh-CN" altLang="en-US" sz="2800" b="1" dirty="0">
                <a:latin typeface="楷体_GB2312" pitchFamily="49" charset="-122"/>
                <a:ea typeface="楷体_GB2312" pitchFamily="49" charset="-122"/>
              </a:rPr>
              <a:t>设指针</a:t>
            </a:r>
            <a:r>
              <a:rPr lang="en-US" altLang="zh-CN" sz="2800" b="1" dirty="0">
                <a:latin typeface="楷体_GB2312" pitchFamily="49" charset="-122"/>
                <a:ea typeface="楷体_GB2312" pitchFamily="49" charset="-122"/>
              </a:rPr>
              <a:t>p</a:t>
            </a:r>
            <a:r>
              <a:rPr lang="zh-CN" altLang="en-US" sz="2800" b="1" dirty="0">
                <a:latin typeface="楷体_GB2312" pitchFamily="49" charset="-122"/>
                <a:ea typeface="楷体_GB2312" pitchFamily="49" charset="-122"/>
              </a:rPr>
              <a:t>指向新申请到的表元地址，实现这个功能的代码如下：</a:t>
            </a:r>
          </a:p>
          <a:p>
            <a:pPr marL="0" indent="0" eaLnBrk="1" hangingPunct="1">
              <a:lnSpc>
                <a:spcPct val="90000"/>
              </a:lnSpc>
              <a:buFont typeface="Monotype Sorts" pitchFamily="2" charset="2"/>
              <a:buNone/>
              <a:defRPr/>
            </a:pPr>
            <a:r>
              <a:rPr lang="en-US" altLang="zh-CN" sz="2800" b="1" dirty="0">
                <a:latin typeface="楷体_GB2312" pitchFamily="49" charset="-122"/>
                <a:ea typeface="楷体_GB2312" pitchFamily="49" charset="-122"/>
              </a:rPr>
              <a:t>(1)p-&gt;next = head; 	/* </a:t>
            </a:r>
            <a:r>
              <a:rPr lang="zh-CN" altLang="en-US" sz="2800" b="1" dirty="0">
                <a:latin typeface="楷体_GB2312" pitchFamily="49" charset="-122"/>
                <a:ea typeface="楷体_GB2312" pitchFamily="49" charset="-122"/>
              </a:rPr>
              <a:t>新表元指向原首表元地址，使原首表元成为后继表元 *</a:t>
            </a:r>
            <a:r>
              <a:rPr lang="en-US" altLang="zh-CN" sz="2800" b="1" dirty="0">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800" b="1" dirty="0">
                <a:latin typeface="楷体_GB2312" pitchFamily="49" charset="-122"/>
                <a:ea typeface="楷体_GB2312" pitchFamily="49" charset="-122"/>
              </a:rPr>
              <a:t>(2)head = p; 	/* </a:t>
            </a:r>
            <a:r>
              <a:rPr lang="zh-CN" altLang="en-US" sz="2800" b="1" dirty="0">
                <a:latin typeface="楷体_GB2312" pitchFamily="49" charset="-122"/>
                <a:ea typeface="楷体_GB2312" pitchFamily="49" charset="-122"/>
              </a:rPr>
              <a:t>头指针指向新表元，使新表元成为首表元 *</a:t>
            </a:r>
            <a:r>
              <a:rPr lang="en-US" altLang="zh-CN" sz="2800" b="1" dirty="0">
                <a:latin typeface="楷体_GB2312" pitchFamily="49" charset="-122"/>
                <a:ea typeface="楷体_GB2312" pitchFamily="49" charset="-122"/>
              </a:rPr>
              <a:t>/</a:t>
            </a:r>
          </a:p>
        </p:txBody>
      </p:sp>
      <p:sp>
        <p:nvSpPr>
          <p:cNvPr id="6" name="灯片编号占位符 5"/>
          <p:cNvSpPr>
            <a:spLocks noGrp="1"/>
          </p:cNvSpPr>
          <p:nvPr>
            <p:ph type="sldNum" sz="quarter" idx="12"/>
          </p:nvPr>
        </p:nvSpPr>
        <p:spPr/>
        <p:txBody>
          <a:bodyPr/>
          <a:lstStyle/>
          <a:p>
            <a:pPr>
              <a:defRPr/>
            </a:pPr>
            <a:fld id="{2348BEFD-D18B-46E7-8864-52B72E110AC4}" type="slidenum">
              <a:rPr lang="en-US" altLang="zh-CN"/>
              <a:pPr>
                <a:defRPr/>
              </a:pPr>
              <a:t>75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72770">
                                            <p:txEl>
                                              <p:pRg st="3" end="3"/>
                                            </p:txEl>
                                          </p:spTgt>
                                        </p:tgtEl>
                                        <p:attrNameLst>
                                          <p:attrName>style.visibility</p:attrName>
                                        </p:attrNameLst>
                                      </p:cBhvr>
                                      <p:to>
                                        <p:strVal val="visible"/>
                                      </p:to>
                                    </p:set>
                                    <p:anim calcmode="lin" valueType="num">
                                      <p:cBhvr additive="base">
                                        <p:cTn id="7" dur="500" fill="hold"/>
                                        <p:tgtEl>
                                          <p:spTgt spid="672770">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72770">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72770">
                                            <p:txEl>
                                              <p:pRg st="4" end="4"/>
                                            </p:txEl>
                                          </p:spTgt>
                                        </p:tgtEl>
                                        <p:attrNameLst>
                                          <p:attrName>style.visibility</p:attrName>
                                        </p:attrNameLst>
                                      </p:cBhvr>
                                      <p:to>
                                        <p:strVal val="visible"/>
                                      </p:to>
                                    </p:set>
                                    <p:anim calcmode="lin" valueType="num">
                                      <p:cBhvr additive="base">
                                        <p:cTn id="11" dur="500" fill="hold"/>
                                        <p:tgtEl>
                                          <p:spTgt spid="672770">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72770">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72770">
                                            <p:txEl>
                                              <p:pRg st="5" end="5"/>
                                            </p:txEl>
                                          </p:spTgt>
                                        </p:tgtEl>
                                        <p:attrNameLst>
                                          <p:attrName>style.visibility</p:attrName>
                                        </p:attrNameLst>
                                      </p:cBhvr>
                                      <p:to>
                                        <p:strVal val="visible"/>
                                      </p:to>
                                    </p:set>
                                    <p:anim calcmode="lin" valueType="num">
                                      <p:cBhvr additive="base">
                                        <p:cTn id="15" dur="500" fill="hold"/>
                                        <p:tgtEl>
                                          <p:spTgt spid="672770">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7277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4" name="Rectangle 2"/>
          <p:cNvSpPr>
            <a:spLocks noGrp="1" noChangeArrowheads="1"/>
          </p:cNvSpPr>
          <p:nvPr>
            <p:ph type="title"/>
          </p:nvPr>
        </p:nvSpPr>
        <p:spPr>
          <a:xfrm>
            <a:off x="539750" y="333375"/>
            <a:ext cx="7920038" cy="719138"/>
          </a:xfrm>
        </p:spPr>
        <p:txBody>
          <a:bodyPr>
            <a:normAutofit fontScale="90000"/>
          </a:bodyPr>
          <a:lstStyle/>
          <a:p>
            <a:pPr eaLnBrk="1" hangingPunct="1">
              <a:lnSpc>
                <a:spcPct val="95000"/>
              </a:lnSpc>
              <a:defRPr/>
            </a:pPr>
            <a:r>
              <a:rPr lang="zh-CN" altLang="en-US" b="0" dirty="0">
                <a:solidFill>
                  <a:schemeClr val="tx1"/>
                </a:solidFill>
                <a:latin typeface="黑体" pitchFamily="2" charset="-122"/>
                <a:ea typeface="黑体" pitchFamily="2" charset="-122"/>
              </a:rPr>
              <a:t>在首表元之前插入新表元</a:t>
            </a:r>
          </a:p>
        </p:txBody>
      </p:sp>
      <p:sp>
        <p:nvSpPr>
          <p:cNvPr id="9" name="灯片编号占位符 5"/>
          <p:cNvSpPr>
            <a:spLocks noGrp="1"/>
          </p:cNvSpPr>
          <p:nvPr>
            <p:ph type="sldNum" sz="quarter" idx="12"/>
          </p:nvPr>
        </p:nvSpPr>
        <p:spPr/>
        <p:txBody>
          <a:bodyPr/>
          <a:lstStyle/>
          <a:p>
            <a:pPr>
              <a:defRPr/>
            </a:pPr>
            <a:fld id="{BC712C22-B117-487E-B339-48FE7997D2BE}" type="slidenum">
              <a:rPr lang="en-US" altLang="zh-CN"/>
              <a:pPr>
                <a:defRPr/>
              </a:pPr>
              <a:t>76</a:t>
            </a:fld>
            <a:endParaRPr lang="en-US" altLang="zh-CN"/>
          </a:p>
        </p:txBody>
      </p:sp>
      <p:sp>
        <p:nvSpPr>
          <p:cNvPr id="3077" name="Rectangle 126"/>
          <p:cNvSpPr>
            <a:spLocks noChangeArrowheads="1"/>
          </p:cNvSpPr>
          <p:nvPr/>
        </p:nvSpPr>
        <p:spPr bwMode="auto">
          <a:xfrm>
            <a:off x="0" y="278606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3074" name="Object 125"/>
          <p:cNvGraphicFramePr>
            <a:graphicFrameLocks noChangeAspect="1"/>
          </p:cNvGraphicFramePr>
          <p:nvPr/>
        </p:nvGraphicFramePr>
        <p:xfrm>
          <a:off x="1604963" y="1412875"/>
          <a:ext cx="6062662" cy="2087563"/>
        </p:xfrm>
        <a:graphic>
          <a:graphicData uri="http://schemas.openxmlformats.org/presentationml/2006/ole">
            <mc:AlternateContent xmlns:mc="http://schemas.openxmlformats.org/markup-compatibility/2006">
              <mc:Choice xmlns:v="urn:schemas-microsoft-com:vml" Requires="v">
                <p:oleObj name="Visio" r:id="rId2" imgW="6154826" imgH="2555138" progId="">
                  <p:embed/>
                </p:oleObj>
              </mc:Choice>
              <mc:Fallback>
                <p:oleObj name="Visio" r:id="rId2" imgW="6154826" imgH="2555138" progId="">
                  <p:embed/>
                  <p:pic>
                    <p:nvPicPr>
                      <p:cNvPr id="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4963" y="1412875"/>
                        <a:ext cx="6062662" cy="2087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8" name="Text Box 127"/>
          <p:cNvSpPr txBox="1">
            <a:spLocks noChangeArrowheads="1"/>
          </p:cNvSpPr>
          <p:nvPr/>
        </p:nvSpPr>
        <p:spPr bwMode="auto">
          <a:xfrm>
            <a:off x="971550" y="3716338"/>
            <a:ext cx="7416800" cy="396875"/>
          </a:xfrm>
          <a:prstGeom prst="rect">
            <a:avLst/>
          </a:prstGeom>
          <a:noFill/>
          <a:ln w="9525">
            <a:noFill/>
            <a:miter lim="800000"/>
            <a:headEnd/>
            <a:tailEnd/>
          </a:ln>
        </p:spPr>
        <p:txBody>
          <a:bodyPr>
            <a:spAutoFit/>
          </a:bodyPr>
          <a:lstStyle/>
          <a:p>
            <a:r>
              <a:rPr lang="zh-CN" altLang="en-US" sz="2000" b="1" dirty="0">
                <a:latin typeface="楷体_GB2312" pitchFamily="49" charset="-122"/>
                <a:ea typeface="楷体_GB2312" pitchFamily="49" charset="-122"/>
              </a:rPr>
              <a:t>图</a:t>
            </a:r>
            <a:r>
              <a:rPr lang="en-US" altLang="zh-CN" sz="20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在首表元之前插入新表元的实现代码和链表状态变化图 </a:t>
            </a:r>
          </a:p>
        </p:txBody>
      </p:sp>
      <p:sp>
        <p:nvSpPr>
          <p:cNvPr id="3079" name="AutoShape 128"/>
          <p:cNvSpPr>
            <a:spLocks noChangeArrowheads="1"/>
          </p:cNvSpPr>
          <p:nvPr/>
        </p:nvSpPr>
        <p:spPr bwMode="auto">
          <a:xfrm>
            <a:off x="5795963" y="2060574"/>
            <a:ext cx="1704995" cy="582607"/>
          </a:xfrm>
          <a:prstGeom prst="wedgeRoundRectCallout">
            <a:avLst>
              <a:gd name="adj1" fmla="val -85148"/>
              <a:gd name="adj2" fmla="val 57692"/>
              <a:gd name="adj3" fmla="val 16667"/>
            </a:avLst>
          </a:prstGeom>
          <a:ln>
            <a:headEnd/>
            <a:tailEnd/>
          </a:ln>
        </p:spPr>
        <p:style>
          <a:lnRef idx="1">
            <a:schemeClr val="accent4"/>
          </a:lnRef>
          <a:fillRef idx="2">
            <a:schemeClr val="accent4"/>
          </a:fillRef>
          <a:effectRef idx="1">
            <a:schemeClr val="accent4"/>
          </a:effectRef>
          <a:fontRef idx="minor">
            <a:schemeClr val="dk1"/>
          </a:fontRef>
        </p:style>
        <p:txBody>
          <a:bodyPr/>
          <a:lstStyle/>
          <a:p>
            <a:pPr algn="ctr"/>
            <a:r>
              <a:rPr lang="en-US" altLang="zh-CN"/>
              <a:t>p-&gt;next</a:t>
            </a:r>
          </a:p>
        </p:txBody>
      </p:sp>
      <p:cxnSp>
        <p:nvCxnSpPr>
          <p:cNvPr id="10" name="Straight Arrow Connector 9"/>
          <p:cNvCxnSpPr/>
          <p:nvPr/>
        </p:nvCxnSpPr>
        <p:spPr>
          <a:xfrm rot="16200000" flipV="1">
            <a:off x="4179091" y="1964521"/>
            <a:ext cx="928694" cy="8572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2928926" y="1643050"/>
            <a:ext cx="1000132" cy="8572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3000364" y="1643050"/>
            <a:ext cx="1214446"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2" name="Rectangle 2"/>
          <p:cNvSpPr>
            <a:spLocks noGrp="1" noChangeArrowheads="1"/>
          </p:cNvSpPr>
          <p:nvPr>
            <p:ph idx="1"/>
          </p:nvPr>
        </p:nvSpPr>
        <p:spPr>
          <a:xfrm>
            <a:off x="395288" y="428605"/>
            <a:ext cx="8318500" cy="6169046"/>
          </a:xfrm>
        </p:spPr>
        <p:txBody>
          <a:bodyPr>
            <a:normAutofit fontScale="77500" lnSpcReduction="20000"/>
          </a:bodyPr>
          <a:lstStyle/>
          <a:p>
            <a:pPr marL="0" indent="0">
              <a:lnSpc>
                <a:spcPct val="90000"/>
              </a:lnSpc>
              <a:defRPr/>
            </a:pPr>
            <a:r>
              <a:rPr lang="zh-CN" altLang="en-US" sz="4600" b="1" dirty="0"/>
              <a:t>在指定的表元之后插入新表元</a:t>
            </a:r>
            <a:endParaRPr lang="en-US" altLang="zh-CN" sz="4600" b="1" dirty="0"/>
          </a:p>
          <a:p>
            <a:pPr marL="0" indent="0">
              <a:lnSpc>
                <a:spcPct val="90000"/>
              </a:lnSpc>
              <a:buNone/>
              <a:defRPr/>
            </a:pPr>
            <a:endParaRPr lang="en-US" altLang="zh-CN" sz="2800" b="1" dirty="0"/>
          </a:p>
          <a:p>
            <a:pPr marL="0" indent="0">
              <a:lnSpc>
                <a:spcPct val="120000"/>
              </a:lnSpc>
              <a:buNone/>
              <a:defRPr/>
            </a:pPr>
            <a:r>
              <a:rPr lang="zh-CN" altLang="en-US" sz="3100" b="1" dirty="0">
                <a:latin typeface="楷体_GB2312" pitchFamily="49" charset="-122"/>
                <a:ea typeface="楷体_GB2312" pitchFamily="49" charset="-122"/>
              </a:rPr>
              <a:t>对于</a:t>
            </a:r>
            <a:r>
              <a:rPr lang="zh-CN" altLang="en-US" sz="3100" b="1" dirty="0">
                <a:solidFill>
                  <a:srgbClr val="FF0000"/>
                </a:solidFill>
                <a:latin typeface="楷体_GB2312" pitchFamily="49" charset="-122"/>
                <a:ea typeface="楷体_GB2312" pitchFamily="49" charset="-122"/>
              </a:rPr>
              <a:t>单链表</a:t>
            </a:r>
            <a:r>
              <a:rPr lang="zh-CN" altLang="en-US" sz="3100" b="1" dirty="0">
                <a:latin typeface="楷体_GB2312" pitchFamily="49" charset="-122"/>
                <a:ea typeface="楷体_GB2312" pitchFamily="49" charset="-122"/>
              </a:rPr>
              <a:t>，一个表元的</a:t>
            </a:r>
            <a:r>
              <a:rPr lang="zh-CN" altLang="en-US" sz="3100" b="1" dirty="0">
                <a:solidFill>
                  <a:srgbClr val="FF0000"/>
                </a:solidFill>
                <a:latin typeface="楷体_GB2312" pitchFamily="49" charset="-122"/>
                <a:ea typeface="楷体_GB2312" pitchFamily="49" charset="-122"/>
              </a:rPr>
              <a:t>前驱表元</a:t>
            </a:r>
            <a:r>
              <a:rPr lang="zh-CN" altLang="en-US" sz="3100" b="1" dirty="0">
                <a:latin typeface="楷体_GB2312" pitchFamily="49" charset="-122"/>
                <a:ea typeface="楷体_GB2312" pitchFamily="49" charset="-122"/>
              </a:rPr>
              <a:t>不是直接可引用的，所以表元一般要求</a:t>
            </a:r>
            <a:r>
              <a:rPr lang="zh-CN" altLang="en-US" sz="3100" b="1" dirty="0">
                <a:solidFill>
                  <a:srgbClr val="FF0000"/>
                </a:solidFill>
                <a:latin typeface="楷体_GB2312" pitchFamily="49" charset="-122"/>
                <a:ea typeface="楷体_GB2312" pitchFamily="49" charset="-122"/>
              </a:rPr>
              <a:t>插在某表元之后</a:t>
            </a:r>
            <a:r>
              <a:rPr lang="zh-CN" altLang="en-US" sz="3100" b="1" dirty="0">
                <a:latin typeface="楷体_GB2312" pitchFamily="49" charset="-122"/>
                <a:ea typeface="楷体_GB2312" pitchFamily="49" charset="-122"/>
              </a:rPr>
              <a:t>。假设指针</a:t>
            </a:r>
            <a:r>
              <a:rPr lang="en-US" altLang="zh-CN" sz="3100" b="1" dirty="0">
                <a:latin typeface="楷体_GB2312" pitchFamily="49" charset="-122"/>
                <a:ea typeface="楷体_GB2312" pitchFamily="49" charset="-122"/>
              </a:rPr>
              <a:t>w</a:t>
            </a:r>
            <a:r>
              <a:rPr lang="zh-CN" altLang="en-US" sz="3100" b="1" dirty="0">
                <a:latin typeface="楷体_GB2312" pitchFamily="49" charset="-122"/>
                <a:ea typeface="楷体_GB2312" pitchFamily="49" charset="-122"/>
              </a:rPr>
              <a:t>指向指定的表元</a:t>
            </a:r>
            <a:r>
              <a:rPr lang="en-US" altLang="zh-CN" sz="3100" b="1" dirty="0">
                <a:latin typeface="楷体_GB2312" pitchFamily="49" charset="-122"/>
                <a:ea typeface="楷体_GB2312" pitchFamily="49" charset="-122"/>
              </a:rPr>
              <a:t>(w</a:t>
            </a:r>
            <a:r>
              <a:rPr lang="zh-CN" altLang="en-US" sz="3100" b="1" dirty="0">
                <a:latin typeface="楷体_GB2312" pitchFamily="49" charset="-122"/>
                <a:ea typeface="楷体_GB2312" pitchFamily="49" charset="-122"/>
              </a:rPr>
              <a:t>不为</a:t>
            </a:r>
            <a:r>
              <a:rPr lang="en-US" altLang="zh-CN" sz="3100" b="1" dirty="0">
                <a:latin typeface="楷体_GB2312" pitchFamily="49" charset="-122"/>
                <a:ea typeface="楷体_GB2312" pitchFamily="49" charset="-122"/>
              </a:rPr>
              <a:t>NULL)</a:t>
            </a:r>
            <a:r>
              <a:rPr lang="zh-CN" altLang="en-US" sz="3100" b="1" dirty="0">
                <a:latin typeface="楷体_GB2312" pitchFamily="49" charset="-122"/>
                <a:ea typeface="楷体_GB2312" pitchFamily="49" charset="-122"/>
              </a:rPr>
              <a:t>，指针</a:t>
            </a:r>
            <a:r>
              <a:rPr lang="en-US" altLang="zh-CN" sz="3100" b="1" dirty="0">
                <a:latin typeface="楷体_GB2312" pitchFamily="49" charset="-122"/>
                <a:ea typeface="楷体_GB2312" pitchFamily="49" charset="-122"/>
              </a:rPr>
              <a:t>p</a:t>
            </a:r>
            <a:r>
              <a:rPr lang="zh-CN" altLang="en-US" sz="3100" b="1" dirty="0">
                <a:latin typeface="楷体_GB2312" pitchFamily="49" charset="-122"/>
                <a:ea typeface="楷体_GB2312" pitchFamily="49" charset="-122"/>
              </a:rPr>
              <a:t>指向要插入的表元。</a:t>
            </a:r>
          </a:p>
          <a:p>
            <a:pPr marL="0" indent="0" eaLnBrk="1" hangingPunct="1">
              <a:lnSpc>
                <a:spcPct val="120000"/>
              </a:lnSpc>
              <a:buFont typeface="Monotype Sorts" pitchFamily="2" charset="2"/>
              <a:buNone/>
              <a:defRPr/>
            </a:pPr>
            <a:endParaRPr lang="en-US" altLang="zh-CN" sz="3100" b="1" dirty="0">
              <a:latin typeface="楷体_GB2312" pitchFamily="49" charset="-122"/>
              <a:ea typeface="楷体_GB2312" pitchFamily="49" charset="-122"/>
            </a:endParaRPr>
          </a:p>
          <a:p>
            <a:pPr marL="0" indent="0" eaLnBrk="1" hangingPunct="1">
              <a:lnSpc>
                <a:spcPct val="120000"/>
              </a:lnSpc>
              <a:buFont typeface="Monotype Sorts" pitchFamily="2" charset="2"/>
              <a:buNone/>
              <a:defRPr/>
            </a:pPr>
            <a:r>
              <a:rPr lang="zh-CN" altLang="en-US" sz="3100" b="1" dirty="0">
                <a:latin typeface="楷体_GB2312" pitchFamily="49" charset="-122"/>
                <a:ea typeface="楷体_GB2312" pitchFamily="49" charset="-122"/>
              </a:rPr>
              <a:t>插入工作包含两个基本动作：</a:t>
            </a:r>
          </a:p>
          <a:p>
            <a:pPr marL="0" indent="0" eaLnBrk="1" hangingPunct="1">
              <a:lnSpc>
                <a:spcPct val="120000"/>
              </a:lnSpc>
              <a:buFont typeface="Monotype Sorts" pitchFamily="2" charset="2"/>
              <a:buNone/>
              <a:defRPr/>
            </a:pPr>
            <a:r>
              <a:rPr lang="zh-CN" altLang="en-US" sz="3100" b="1" dirty="0">
                <a:latin typeface="楷体_GB2312" pitchFamily="49" charset="-122"/>
                <a:ea typeface="楷体_GB2312" pitchFamily="49" charset="-122"/>
              </a:rPr>
              <a:t>①将</a:t>
            </a:r>
            <a:r>
              <a:rPr lang="en-US" altLang="zh-CN" sz="3100" b="1" dirty="0">
                <a:latin typeface="楷体_GB2312" pitchFamily="49" charset="-122"/>
                <a:ea typeface="楷体_GB2312" pitchFamily="49" charset="-122"/>
              </a:rPr>
              <a:t>w</a:t>
            </a:r>
            <a:r>
              <a:rPr lang="zh-CN" altLang="en-US" sz="3100" b="1" dirty="0">
                <a:latin typeface="楷体_GB2312" pitchFamily="49" charset="-122"/>
                <a:ea typeface="楷体_GB2312" pitchFamily="49" charset="-122"/>
              </a:rPr>
              <a:t>所指向的表元的后继表元指针复制给</a:t>
            </a:r>
            <a:r>
              <a:rPr lang="en-US" altLang="zh-CN" sz="3100" b="1" dirty="0">
                <a:latin typeface="楷体_GB2312" pitchFamily="49" charset="-122"/>
                <a:ea typeface="楷体_GB2312" pitchFamily="49" charset="-122"/>
              </a:rPr>
              <a:t>p</a:t>
            </a:r>
            <a:r>
              <a:rPr lang="zh-CN" altLang="en-US" sz="3100" b="1" dirty="0">
                <a:latin typeface="楷体_GB2312" pitchFamily="49" charset="-122"/>
                <a:ea typeface="楷体_GB2312" pitchFamily="49" charset="-122"/>
              </a:rPr>
              <a:t>所指向的表元的后继指针域，即原先</a:t>
            </a:r>
            <a:r>
              <a:rPr lang="en-US" altLang="zh-CN" sz="3100" b="1" dirty="0">
                <a:latin typeface="楷体_GB2312" pitchFamily="49" charset="-122"/>
                <a:ea typeface="楷体_GB2312" pitchFamily="49" charset="-122"/>
              </a:rPr>
              <a:t>w</a:t>
            </a:r>
            <a:r>
              <a:rPr lang="zh-CN" altLang="en-US" sz="3100" b="1" dirty="0">
                <a:latin typeface="楷体_GB2312" pitchFamily="49" charset="-122"/>
                <a:ea typeface="楷体_GB2312" pitchFamily="49" charset="-122"/>
              </a:rPr>
              <a:t>所指向表元的后继表元成为</a:t>
            </a:r>
            <a:r>
              <a:rPr lang="en-US" altLang="zh-CN" sz="3100" b="1" dirty="0">
                <a:latin typeface="楷体_GB2312" pitchFamily="49" charset="-122"/>
                <a:ea typeface="楷体_GB2312" pitchFamily="49" charset="-122"/>
              </a:rPr>
              <a:t>p</a:t>
            </a:r>
            <a:r>
              <a:rPr lang="zh-CN" altLang="en-US" sz="3100" b="1" dirty="0">
                <a:latin typeface="楷体_GB2312" pitchFamily="49" charset="-122"/>
                <a:ea typeface="楷体_GB2312" pitchFamily="49" charset="-122"/>
              </a:rPr>
              <a:t>所指向表元的后继表元，用代码</a:t>
            </a:r>
            <a:r>
              <a:rPr lang="en-US" altLang="zh-CN" sz="3100" b="1" dirty="0">
                <a:solidFill>
                  <a:srgbClr val="FF0000"/>
                </a:solidFill>
                <a:latin typeface="楷体_GB2312" pitchFamily="49" charset="-122"/>
                <a:ea typeface="楷体_GB2312" pitchFamily="49" charset="-122"/>
              </a:rPr>
              <a:t>p-&gt;next = w-&gt;next</a:t>
            </a:r>
            <a:r>
              <a:rPr lang="zh-CN" altLang="en-US" sz="3100" b="1" dirty="0">
                <a:latin typeface="楷体_GB2312" pitchFamily="49" charset="-122"/>
                <a:ea typeface="楷体_GB2312" pitchFamily="49" charset="-122"/>
              </a:rPr>
              <a:t>实现。</a:t>
            </a:r>
            <a:endParaRPr lang="en-US" altLang="zh-CN" sz="3100" b="1" dirty="0">
              <a:latin typeface="楷体_GB2312" pitchFamily="49" charset="-122"/>
              <a:ea typeface="楷体_GB2312" pitchFamily="49" charset="-122"/>
            </a:endParaRPr>
          </a:p>
          <a:p>
            <a:pPr marL="0" indent="0" eaLnBrk="1" hangingPunct="1">
              <a:lnSpc>
                <a:spcPct val="120000"/>
              </a:lnSpc>
              <a:buFont typeface="Monotype Sorts" pitchFamily="2" charset="2"/>
              <a:buNone/>
              <a:defRPr/>
            </a:pPr>
            <a:endParaRPr lang="zh-CN" altLang="en-US" sz="3100" b="1" dirty="0">
              <a:latin typeface="楷体_GB2312" pitchFamily="49" charset="-122"/>
              <a:ea typeface="楷体_GB2312" pitchFamily="49" charset="-122"/>
            </a:endParaRPr>
          </a:p>
          <a:p>
            <a:pPr marL="0" indent="0" eaLnBrk="1" hangingPunct="1">
              <a:lnSpc>
                <a:spcPct val="120000"/>
              </a:lnSpc>
              <a:buFont typeface="Monotype Sorts" pitchFamily="2" charset="2"/>
              <a:buNone/>
              <a:defRPr/>
            </a:pPr>
            <a:r>
              <a:rPr lang="zh-CN" altLang="en-US" sz="3100" b="1" dirty="0">
                <a:latin typeface="楷体_GB2312" pitchFamily="49" charset="-122"/>
                <a:ea typeface="楷体_GB2312" pitchFamily="49" charset="-122"/>
              </a:rPr>
              <a:t>②将</a:t>
            </a:r>
            <a:r>
              <a:rPr lang="en-US" altLang="zh-CN" sz="3100" b="1" dirty="0">
                <a:latin typeface="楷体_GB2312" pitchFamily="49" charset="-122"/>
                <a:ea typeface="楷体_GB2312" pitchFamily="49" charset="-122"/>
              </a:rPr>
              <a:t>p</a:t>
            </a:r>
            <a:r>
              <a:rPr lang="zh-CN" altLang="en-US" sz="3100" b="1" dirty="0">
                <a:latin typeface="楷体_GB2312" pitchFamily="49" charset="-122"/>
                <a:ea typeface="楷体_GB2312" pitchFamily="49" charset="-122"/>
              </a:rPr>
              <a:t>的值复制给</a:t>
            </a:r>
            <a:r>
              <a:rPr lang="en-US" altLang="zh-CN" sz="3100" b="1" dirty="0">
                <a:latin typeface="楷体_GB2312" pitchFamily="49" charset="-122"/>
                <a:ea typeface="楷体_GB2312" pitchFamily="49" charset="-122"/>
              </a:rPr>
              <a:t>w</a:t>
            </a:r>
            <a:r>
              <a:rPr lang="zh-CN" altLang="en-US" sz="3100" b="1" dirty="0">
                <a:latin typeface="楷体_GB2312" pitchFamily="49" charset="-122"/>
                <a:ea typeface="楷体_GB2312" pitchFamily="49" charset="-122"/>
              </a:rPr>
              <a:t>所指表元的后继指针域，即让</a:t>
            </a:r>
            <a:r>
              <a:rPr lang="en-US" altLang="zh-CN" sz="3100" b="1" dirty="0">
                <a:latin typeface="楷体_GB2312" pitchFamily="49" charset="-122"/>
                <a:ea typeface="楷体_GB2312" pitchFamily="49" charset="-122"/>
              </a:rPr>
              <a:t>p</a:t>
            </a:r>
            <a:r>
              <a:rPr lang="zh-CN" altLang="en-US" sz="3100" b="1" dirty="0">
                <a:latin typeface="楷体_GB2312" pitchFamily="49" charset="-122"/>
                <a:ea typeface="楷体_GB2312" pitchFamily="49" charset="-122"/>
              </a:rPr>
              <a:t>所指的表元成为</a:t>
            </a:r>
            <a:r>
              <a:rPr lang="en-US" altLang="zh-CN" sz="3100" b="1" dirty="0">
                <a:latin typeface="楷体_GB2312" pitchFamily="49" charset="-122"/>
                <a:ea typeface="楷体_GB2312" pitchFamily="49" charset="-122"/>
              </a:rPr>
              <a:t>w</a:t>
            </a:r>
            <a:r>
              <a:rPr lang="zh-CN" altLang="en-US" sz="3100" b="1" dirty="0">
                <a:latin typeface="楷体_GB2312" pitchFamily="49" charset="-122"/>
                <a:ea typeface="楷体_GB2312" pitchFamily="49" charset="-122"/>
              </a:rPr>
              <a:t>所指表元的后继表元，用代码</a:t>
            </a:r>
            <a:r>
              <a:rPr lang="en-US" altLang="zh-CN" sz="3100" b="1" dirty="0">
                <a:solidFill>
                  <a:srgbClr val="FF0000"/>
                </a:solidFill>
                <a:latin typeface="楷体_GB2312" pitchFamily="49" charset="-122"/>
                <a:ea typeface="楷体_GB2312" pitchFamily="49" charset="-122"/>
              </a:rPr>
              <a:t>w-&gt;next = p</a:t>
            </a:r>
            <a:r>
              <a:rPr lang="zh-CN" altLang="en-US" sz="3100" b="1" dirty="0">
                <a:latin typeface="楷体_GB2312" pitchFamily="49" charset="-122"/>
                <a:ea typeface="楷体_GB2312" pitchFamily="49" charset="-122"/>
              </a:rPr>
              <a:t>实现。</a:t>
            </a:r>
          </a:p>
          <a:p>
            <a:pPr marL="0" indent="0" eaLnBrk="1" hangingPunct="1">
              <a:lnSpc>
                <a:spcPct val="120000"/>
              </a:lnSpc>
              <a:buFont typeface="Monotype Sorts" pitchFamily="2" charset="2"/>
              <a:buNone/>
              <a:defRPr/>
            </a:pPr>
            <a:r>
              <a:rPr lang="zh-CN" altLang="en-US" sz="3100" b="1" dirty="0">
                <a:latin typeface="楷体_GB2312" pitchFamily="49" charset="-122"/>
                <a:ea typeface="楷体_GB2312" pitchFamily="49" charset="-122"/>
              </a:rPr>
              <a:t>   </a:t>
            </a:r>
            <a:endParaRPr lang="en-US" altLang="zh-CN" sz="3100" b="1" dirty="0">
              <a:latin typeface="楷体_GB2312" pitchFamily="49" charset="-122"/>
              <a:ea typeface="楷体_GB2312" pitchFamily="49" charset="-122"/>
            </a:endParaRPr>
          </a:p>
        </p:txBody>
      </p:sp>
      <p:sp>
        <p:nvSpPr>
          <p:cNvPr id="6" name="灯片编号占位符 5"/>
          <p:cNvSpPr>
            <a:spLocks noGrp="1"/>
          </p:cNvSpPr>
          <p:nvPr>
            <p:ph type="sldNum" sz="quarter" idx="12"/>
          </p:nvPr>
        </p:nvSpPr>
        <p:spPr/>
        <p:txBody>
          <a:bodyPr/>
          <a:lstStyle/>
          <a:p>
            <a:pPr>
              <a:defRPr/>
            </a:pPr>
            <a:fld id="{A772F164-7C91-43DC-B7DC-09E247A37EB2}" type="slidenum">
              <a:rPr lang="en-US" altLang="zh-CN"/>
              <a:pPr>
                <a:defRPr/>
              </a:pPr>
              <a:t>77</a:t>
            </a:fld>
            <a:endParaRPr lang="en-US" altLang="zh-CN"/>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795" name="Rectangle 3"/>
          <p:cNvSpPr>
            <a:spLocks noGrp="1" noChangeArrowheads="1"/>
          </p:cNvSpPr>
          <p:nvPr>
            <p:ph type="title"/>
          </p:nvPr>
        </p:nvSpPr>
        <p:spPr>
          <a:xfrm>
            <a:off x="250825" y="404813"/>
            <a:ext cx="7920038" cy="576262"/>
          </a:xfrm>
        </p:spPr>
        <p:txBody>
          <a:bodyPr>
            <a:noAutofit/>
          </a:bodyPr>
          <a:lstStyle/>
          <a:p>
            <a:pPr eaLnBrk="1" hangingPunct="1">
              <a:lnSpc>
                <a:spcPct val="95000"/>
              </a:lnSpc>
              <a:defRPr/>
            </a:pPr>
            <a:r>
              <a:rPr lang="zh-CN" altLang="en-US" sz="4000" dirty="0">
                <a:solidFill>
                  <a:schemeClr val="tx1"/>
                </a:solidFill>
                <a:latin typeface="黑体" pitchFamily="2" charset="-122"/>
                <a:ea typeface="黑体" pitchFamily="2" charset="-122"/>
              </a:rPr>
              <a:t>在指定的表元之后插入新表元 </a:t>
            </a:r>
          </a:p>
        </p:txBody>
      </p:sp>
      <p:sp>
        <p:nvSpPr>
          <p:cNvPr id="10" name="灯片编号占位符 5"/>
          <p:cNvSpPr>
            <a:spLocks noGrp="1"/>
          </p:cNvSpPr>
          <p:nvPr>
            <p:ph type="sldNum" sz="quarter" idx="12"/>
          </p:nvPr>
        </p:nvSpPr>
        <p:spPr/>
        <p:txBody>
          <a:bodyPr/>
          <a:lstStyle/>
          <a:p>
            <a:pPr>
              <a:defRPr/>
            </a:pPr>
            <a:fld id="{381E497B-8F5F-40C1-B7E0-07C2F18A48A4}" type="slidenum">
              <a:rPr lang="en-US" altLang="zh-CN"/>
              <a:pPr>
                <a:defRPr/>
              </a:pPr>
              <a:t>78</a:t>
            </a:fld>
            <a:endParaRPr lang="en-US" altLang="zh-CN"/>
          </a:p>
        </p:txBody>
      </p:sp>
      <p:sp>
        <p:nvSpPr>
          <p:cNvPr id="4101" name="Rectangle 5"/>
          <p:cNvSpPr>
            <a:spLocks noChangeArrowheads="1"/>
          </p:cNvSpPr>
          <p:nvPr/>
        </p:nvSpPr>
        <p:spPr bwMode="auto">
          <a:xfrm>
            <a:off x="0" y="272415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4098" name="Object 4"/>
          <p:cNvGraphicFramePr>
            <a:graphicFrameLocks noChangeAspect="1"/>
          </p:cNvGraphicFramePr>
          <p:nvPr/>
        </p:nvGraphicFramePr>
        <p:xfrm>
          <a:off x="755650" y="1700213"/>
          <a:ext cx="7704138" cy="2433637"/>
        </p:xfrm>
        <a:graphic>
          <a:graphicData uri="http://schemas.openxmlformats.org/presentationml/2006/ole">
            <mc:AlternateContent xmlns:mc="http://schemas.openxmlformats.org/markup-compatibility/2006">
              <mc:Choice xmlns:v="urn:schemas-microsoft-com:vml" Requires="v">
                <p:oleObj name="Visio" r:id="rId2" imgW="6442862" imgH="2645969" progId="">
                  <p:embed/>
                </p:oleObj>
              </mc:Choice>
              <mc:Fallback>
                <p:oleObj name="Visio" r:id="rId2" imgW="6442862" imgH="2645969" progId="">
                  <p:embed/>
                  <p:pic>
                    <p:nvPicPr>
                      <p:cNvPr id="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1700213"/>
                        <a:ext cx="7704138" cy="2433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2" name="Text Box 6"/>
          <p:cNvSpPr txBox="1">
            <a:spLocks noChangeArrowheads="1"/>
          </p:cNvSpPr>
          <p:nvPr/>
        </p:nvSpPr>
        <p:spPr bwMode="auto">
          <a:xfrm>
            <a:off x="808038" y="4344988"/>
            <a:ext cx="7472362" cy="396875"/>
          </a:xfrm>
          <a:prstGeom prst="rect">
            <a:avLst/>
          </a:prstGeom>
          <a:noFill/>
          <a:ln w="9525">
            <a:noFill/>
            <a:miter lim="800000"/>
            <a:headEnd/>
            <a:tailEnd/>
          </a:ln>
        </p:spPr>
        <p:txBody>
          <a:bodyPr wrap="none">
            <a:spAutoFit/>
          </a:bodyPr>
          <a:lstStyle/>
          <a:p>
            <a:r>
              <a:rPr lang="zh-CN" altLang="en-US" sz="2000" b="1">
                <a:latin typeface="楷体_GB2312" pitchFamily="49" charset="-122"/>
                <a:ea typeface="楷体_GB2312" pitchFamily="49" charset="-122"/>
              </a:rPr>
              <a:t>图</a:t>
            </a:r>
            <a:r>
              <a:rPr lang="en-US" altLang="zh-CN" sz="2000" b="1">
                <a:latin typeface="楷体_GB2312" pitchFamily="49" charset="-122"/>
                <a:ea typeface="楷体_GB2312" pitchFamily="49" charset="-122"/>
              </a:rPr>
              <a:t>7.6</a:t>
            </a:r>
            <a:r>
              <a:rPr lang="zh-CN" altLang="en-US" sz="2000" b="1">
                <a:latin typeface="楷体_GB2312" pitchFamily="49" charset="-122"/>
                <a:ea typeface="楷体_GB2312" pitchFamily="49" charset="-122"/>
              </a:rPr>
              <a:t>在指定表元之后插入新表元的实现代码和链表状态变化图 </a:t>
            </a:r>
          </a:p>
        </p:txBody>
      </p:sp>
      <p:sp>
        <p:nvSpPr>
          <p:cNvPr id="4103" name="AutoShape 7"/>
          <p:cNvSpPr>
            <a:spLocks noChangeArrowheads="1"/>
          </p:cNvSpPr>
          <p:nvPr/>
        </p:nvSpPr>
        <p:spPr bwMode="auto">
          <a:xfrm>
            <a:off x="6084889" y="3717924"/>
            <a:ext cx="1916136" cy="568331"/>
          </a:xfrm>
          <a:prstGeom prst="wedgeRoundRectCallout">
            <a:avLst>
              <a:gd name="adj1" fmla="val -53651"/>
              <a:gd name="adj2" fmla="val -113201"/>
              <a:gd name="adj3" fmla="val 16667"/>
            </a:avLst>
          </a:prstGeom>
          <a:ln>
            <a:headEnd/>
            <a:tailEnd/>
          </a:ln>
        </p:spPr>
        <p:style>
          <a:lnRef idx="1">
            <a:schemeClr val="accent4"/>
          </a:lnRef>
          <a:fillRef idx="2">
            <a:schemeClr val="accent4"/>
          </a:fillRef>
          <a:effectRef idx="1">
            <a:schemeClr val="accent4"/>
          </a:effectRef>
          <a:fontRef idx="minor">
            <a:schemeClr val="dk1"/>
          </a:fontRef>
        </p:style>
        <p:txBody>
          <a:bodyPr/>
          <a:lstStyle/>
          <a:p>
            <a:pPr algn="ctr"/>
            <a:r>
              <a:rPr lang="en-US" altLang="zh-CN" dirty="0"/>
              <a:t>p-&gt;next</a:t>
            </a:r>
          </a:p>
        </p:txBody>
      </p:sp>
      <p:sp>
        <p:nvSpPr>
          <p:cNvPr id="4104" name="AutoShape 8"/>
          <p:cNvSpPr>
            <a:spLocks noChangeArrowheads="1"/>
          </p:cNvSpPr>
          <p:nvPr/>
        </p:nvSpPr>
        <p:spPr bwMode="auto">
          <a:xfrm>
            <a:off x="4929190" y="1000108"/>
            <a:ext cx="1779606" cy="628667"/>
          </a:xfrm>
          <a:prstGeom prst="wedgeRoundRectCallout">
            <a:avLst>
              <a:gd name="adj1" fmla="val -55787"/>
              <a:gd name="adj2" fmla="val 94030"/>
              <a:gd name="adj3" fmla="val 16667"/>
            </a:avLst>
          </a:prstGeom>
          <a:ln>
            <a:headEnd/>
            <a:tailEnd/>
          </a:ln>
        </p:spPr>
        <p:style>
          <a:lnRef idx="1">
            <a:schemeClr val="accent4"/>
          </a:lnRef>
          <a:fillRef idx="2">
            <a:schemeClr val="accent4"/>
          </a:fillRef>
          <a:effectRef idx="1">
            <a:schemeClr val="accent4"/>
          </a:effectRef>
          <a:fontRef idx="minor">
            <a:schemeClr val="dk1"/>
          </a:fontRef>
        </p:style>
        <p:txBody>
          <a:bodyPr/>
          <a:lstStyle/>
          <a:p>
            <a:pPr algn="ctr"/>
            <a:r>
              <a:rPr lang="en-US" altLang="zh-CN" dirty="0"/>
              <a:t>w-&gt;next</a:t>
            </a:r>
          </a:p>
        </p:txBody>
      </p:sp>
      <p:sp>
        <p:nvSpPr>
          <p:cNvPr id="9" name="Rectangle 8"/>
          <p:cNvSpPr/>
          <p:nvPr/>
        </p:nvSpPr>
        <p:spPr>
          <a:xfrm>
            <a:off x="2285984" y="5072074"/>
            <a:ext cx="4572000" cy="757130"/>
          </a:xfrm>
          <a:prstGeom prst="rect">
            <a:avLst/>
          </a:prstGeom>
        </p:spPr>
        <p:txBody>
          <a:bodyPr>
            <a:spAutoFit/>
          </a:bodyPr>
          <a:lstStyle/>
          <a:p>
            <a:pPr marL="0" indent="0" eaLnBrk="1" hangingPunct="1">
              <a:lnSpc>
                <a:spcPct val="90000"/>
              </a:lnSpc>
              <a:buFont typeface="Monotype Sorts" pitchFamily="2" charset="2"/>
              <a:buNone/>
              <a:defRPr/>
            </a:pPr>
            <a:r>
              <a:rPr lang="en-US" altLang="zh-CN" b="1" dirty="0">
                <a:latin typeface="楷体_GB2312" pitchFamily="49" charset="-122"/>
                <a:ea typeface="楷体_GB2312" pitchFamily="49" charset="-122"/>
              </a:rPr>
              <a:t>p-&gt;next = w-&gt;next;</a:t>
            </a:r>
          </a:p>
          <a:p>
            <a:pPr marL="0" indent="0" eaLnBrk="1" hangingPunct="1">
              <a:lnSpc>
                <a:spcPct val="90000"/>
              </a:lnSpc>
              <a:buFont typeface="Monotype Sorts" pitchFamily="2" charset="2"/>
              <a:buNone/>
              <a:defRPr/>
            </a:pPr>
            <a:r>
              <a:rPr lang="en-US" altLang="zh-CN" b="1" dirty="0">
                <a:latin typeface="楷体_GB2312" pitchFamily="49" charset="-122"/>
                <a:ea typeface="楷体_GB2312" pitchFamily="49" charset="-122"/>
              </a:rPr>
              <a:t>w-&gt;next = p;</a:t>
            </a:r>
          </a:p>
        </p:txBody>
      </p:sp>
      <p:cxnSp>
        <p:nvCxnSpPr>
          <p:cNvPr id="12" name="Straight Arrow Connector 11"/>
          <p:cNvCxnSpPr/>
          <p:nvPr/>
        </p:nvCxnSpPr>
        <p:spPr>
          <a:xfrm>
            <a:off x="4643438" y="2000240"/>
            <a:ext cx="1285884"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5400000" flipH="1" flipV="1">
            <a:off x="5464975" y="2536025"/>
            <a:ext cx="1071570" cy="42862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rot="16200000" flipH="1">
            <a:off x="4214810" y="2214554"/>
            <a:ext cx="1000132" cy="42862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2"/>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234" name="Rectangle 2"/>
          <p:cNvSpPr>
            <a:spLocks noGrp="1" noChangeArrowheads="1"/>
          </p:cNvSpPr>
          <p:nvPr>
            <p:ph idx="1"/>
          </p:nvPr>
        </p:nvSpPr>
        <p:spPr>
          <a:xfrm>
            <a:off x="250825" y="476250"/>
            <a:ext cx="8497888" cy="6192838"/>
          </a:xfrm>
        </p:spPr>
        <p:txBody>
          <a:bodyPr/>
          <a:lstStyle/>
          <a:p>
            <a:pPr marL="0" indent="0" eaLnBrk="1" hangingPunct="1">
              <a:buFont typeface="Monotype Sorts" pitchFamily="2" charset="2"/>
              <a:buNone/>
              <a:defRPr/>
            </a:pPr>
            <a:r>
              <a:rPr lang="en-US" altLang="zh-CN" sz="3200" b="1" dirty="0">
                <a:latin typeface="楷体_GB2312" pitchFamily="49" charset="-122"/>
                <a:ea typeface="楷体_GB2312" pitchFamily="49" charset="-122"/>
              </a:rPr>
              <a:t>【</a:t>
            </a:r>
            <a:r>
              <a:rPr lang="zh-CN" altLang="en-US" sz="3200" b="1" dirty="0">
                <a:latin typeface="楷体_GB2312" pitchFamily="49" charset="-122"/>
                <a:ea typeface="楷体_GB2312" pitchFamily="49" charset="-122"/>
              </a:rPr>
              <a:t>例</a:t>
            </a:r>
            <a:r>
              <a:rPr lang="en-US" altLang="zh-CN" sz="3200" b="1" dirty="0">
                <a:latin typeface="楷体_GB2312" pitchFamily="49" charset="-122"/>
                <a:ea typeface="楷体_GB2312" pitchFamily="49" charset="-122"/>
              </a:rPr>
              <a:t>7.8】</a:t>
            </a:r>
            <a:r>
              <a:rPr lang="zh-CN" altLang="en-US" sz="3200" b="1" dirty="0">
                <a:latin typeface="楷体_GB2312" pitchFamily="49" charset="-122"/>
                <a:ea typeface="楷体_GB2312" pitchFamily="49" charset="-122"/>
              </a:rPr>
              <a:t>编写在学生链表中，在指定学生之后插入一个新学生的函数。</a:t>
            </a:r>
          </a:p>
          <a:p>
            <a:pPr marL="0" indent="0" eaLnBrk="1" hangingPunct="1">
              <a:buFont typeface="Monotype Sorts" pitchFamily="2" charset="2"/>
              <a:buNone/>
              <a:defRPr/>
            </a:pPr>
            <a:r>
              <a:rPr lang="en-US" altLang="zh-CN" sz="3200" b="1" dirty="0">
                <a:latin typeface="楷体_GB2312" pitchFamily="49" charset="-122"/>
                <a:ea typeface="楷体_GB2312" pitchFamily="49" charset="-122"/>
              </a:rPr>
              <a:t>【</a:t>
            </a:r>
            <a:r>
              <a:rPr lang="zh-CN" altLang="en-US" sz="3200" b="1" dirty="0">
                <a:latin typeface="楷体_GB2312" pitchFamily="49" charset="-122"/>
                <a:ea typeface="楷体_GB2312" pitchFamily="49" charset="-122"/>
              </a:rPr>
              <a:t>解题思路</a:t>
            </a:r>
            <a:r>
              <a:rPr lang="en-US" altLang="zh-CN" sz="3200" b="1" dirty="0">
                <a:latin typeface="楷体_GB2312" pitchFamily="49" charset="-122"/>
                <a:ea typeface="楷体_GB2312" pitchFamily="49" charset="-122"/>
              </a:rPr>
              <a:t>】</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函数设有一个表示学生链表头指针的形参</a:t>
            </a:r>
            <a:r>
              <a:rPr lang="en-US" altLang="zh-CN" sz="2800" b="1" dirty="0">
                <a:latin typeface="楷体_GB2312" pitchFamily="49" charset="-122"/>
                <a:ea typeface="楷体_GB2312" pitchFamily="49" charset="-122"/>
              </a:rPr>
              <a:t>head</a:t>
            </a:r>
            <a:r>
              <a:rPr lang="zh-CN" altLang="en-US" sz="2800" b="1" dirty="0">
                <a:latin typeface="楷体_GB2312" pitchFamily="49" charset="-122"/>
                <a:ea typeface="楷体_GB2312" pitchFamily="49" charset="-122"/>
              </a:rPr>
              <a:t>和指定学生学号的形参</a:t>
            </a:r>
            <a:r>
              <a:rPr lang="en-US" altLang="zh-CN" sz="2800" b="1" dirty="0" err="1">
                <a:latin typeface="楷体_GB2312" pitchFamily="49" charset="-122"/>
                <a:ea typeface="楷体_GB2312" pitchFamily="49" charset="-122"/>
              </a:rPr>
              <a:t>num</a:t>
            </a:r>
            <a:r>
              <a:rPr lang="zh-CN" altLang="en-US" sz="2800" b="1" dirty="0">
                <a:latin typeface="楷体_GB2312" pitchFamily="49" charset="-122"/>
                <a:ea typeface="楷体_GB2312" pitchFamily="49" charset="-122"/>
              </a:rPr>
              <a:t>。首先在链表中寻找指定学号的学生。如果链表中没有指定学号的学生，则不做插入工作，直接返回。如果有指定学号的学生，函数申请存储新学生信息的空间，输入新的学生信息，并完成插入工作。</a:t>
            </a:r>
          </a:p>
        </p:txBody>
      </p:sp>
      <p:sp>
        <p:nvSpPr>
          <p:cNvPr id="5" name="灯片编号占位符 5"/>
          <p:cNvSpPr>
            <a:spLocks noGrp="1"/>
          </p:cNvSpPr>
          <p:nvPr>
            <p:ph type="sldNum" sz="quarter" idx="12"/>
          </p:nvPr>
        </p:nvSpPr>
        <p:spPr/>
        <p:txBody>
          <a:bodyPr/>
          <a:lstStyle/>
          <a:p>
            <a:pPr>
              <a:defRPr/>
            </a:pPr>
            <a:fld id="{5908DEB8-5825-44A6-A83B-CB8CC854BCCE}" type="slidenum">
              <a:rPr lang="en-US" altLang="zh-CN"/>
              <a:pPr>
                <a:defRPr/>
              </a:pPr>
              <a:t>79</a:t>
            </a:fld>
            <a:endParaRPr lang="en-US" altLang="zh-CN"/>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42" name="Rectangle 2"/>
          <p:cNvSpPr>
            <a:spLocks noGrp="1" noChangeArrowheads="1"/>
          </p:cNvSpPr>
          <p:nvPr>
            <p:ph idx="1"/>
          </p:nvPr>
        </p:nvSpPr>
        <p:spPr>
          <a:xfrm>
            <a:off x="250825" y="476250"/>
            <a:ext cx="8497888" cy="6192838"/>
          </a:xfrm>
        </p:spPr>
        <p:txBody>
          <a:bodyPr/>
          <a:lstStyle/>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void insert(</a:t>
            </a:r>
            <a:r>
              <a:rPr lang="en-US" altLang="zh-CN" sz="2400" b="1" dirty="0" err="1">
                <a:latin typeface="楷体_GB2312" pitchFamily="49" charset="-122"/>
                <a:ea typeface="楷体_GB2312" pitchFamily="49" charset="-122"/>
              </a:rPr>
              <a:t>stuS</a:t>
            </a:r>
            <a:r>
              <a:rPr lang="en-US" altLang="zh-CN" sz="2400" b="1" dirty="0">
                <a:latin typeface="楷体_GB2312" pitchFamily="49" charset="-122"/>
                <a:ea typeface="楷体_GB2312" pitchFamily="49" charset="-122"/>
              </a:rPr>
              <a:t> *head, </a:t>
            </a:r>
            <a:r>
              <a:rPr lang="en-US" altLang="zh-CN" sz="2400" b="1" dirty="0" err="1">
                <a:latin typeface="楷体_GB2312" pitchFamily="49" charset="-122"/>
                <a:ea typeface="楷体_GB2312" pitchFamily="49" charset="-122"/>
              </a:rPr>
              <a:t>int</a:t>
            </a:r>
            <a:r>
              <a:rPr lang="en-US" altLang="zh-CN" sz="2400" b="1" dirty="0">
                <a:latin typeface="楷体_GB2312" pitchFamily="49" charset="-122"/>
                <a:ea typeface="楷体_GB2312" pitchFamily="49" charset="-122"/>
              </a:rPr>
              <a:t> num)</a:t>
            </a:r>
          </a:p>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stuS</a:t>
            </a:r>
            <a:r>
              <a:rPr lang="en-US" altLang="zh-CN" sz="2400" b="1" dirty="0">
                <a:latin typeface="楷体_GB2312" pitchFamily="49" charset="-122"/>
                <a:ea typeface="楷体_GB2312" pitchFamily="49" charset="-122"/>
              </a:rPr>
              <a:t> *w=head, *p;</a:t>
            </a:r>
          </a:p>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   while (w != NULL &amp;&amp; w-&gt;number != num)</a:t>
            </a:r>
          </a:p>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       w = w-&gt;next;	/* </a:t>
            </a:r>
            <a:r>
              <a:rPr lang="zh-CN" altLang="en-US" sz="2400" b="1" dirty="0">
                <a:latin typeface="楷体_GB2312" pitchFamily="49" charset="-122"/>
                <a:ea typeface="楷体_GB2312" pitchFamily="49" charset="-122"/>
              </a:rPr>
              <a:t>后移一个表元 *</a:t>
            </a:r>
            <a:r>
              <a:rPr lang="en-US" altLang="zh-CN" sz="2400" b="1" dirty="0">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   if (w == NULL)  {	/* </a:t>
            </a:r>
            <a:r>
              <a:rPr lang="zh-CN" altLang="en-US" sz="2400" b="1" dirty="0">
                <a:latin typeface="楷体_GB2312" pitchFamily="49" charset="-122"/>
                <a:ea typeface="楷体_GB2312" pitchFamily="49" charset="-122"/>
              </a:rPr>
              <a:t>未找到 *</a:t>
            </a:r>
            <a:r>
              <a:rPr lang="en-US" altLang="zh-CN" sz="2400" b="1" dirty="0">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printf</a:t>
            </a: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学号 </a:t>
            </a:r>
            <a:r>
              <a:rPr lang="en-US" altLang="zh-CN" sz="2400" b="1" dirty="0">
                <a:latin typeface="楷体_GB2312" pitchFamily="49" charset="-122"/>
                <a:ea typeface="楷体_GB2312" pitchFamily="49" charset="-122"/>
              </a:rPr>
              <a:t>%d  </a:t>
            </a:r>
            <a:r>
              <a:rPr lang="zh-CN" altLang="en-US" sz="2400" b="1" dirty="0">
                <a:latin typeface="楷体_GB2312" pitchFamily="49" charset="-122"/>
                <a:ea typeface="楷体_GB2312" pitchFamily="49" charset="-122"/>
              </a:rPr>
              <a:t>没有找到！</a:t>
            </a:r>
            <a:r>
              <a:rPr lang="en-US" altLang="zh-CN" sz="2400" b="1" dirty="0">
                <a:latin typeface="楷体_GB2312" pitchFamily="49" charset="-122"/>
                <a:ea typeface="楷体_GB2312" pitchFamily="49" charset="-122"/>
              </a:rPr>
              <a:t>\n", num);  return;</a:t>
            </a:r>
          </a:p>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   } </a:t>
            </a:r>
          </a:p>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   /* </a:t>
            </a:r>
            <a:r>
              <a:rPr lang="zh-CN" altLang="en-US" sz="2400" b="1" dirty="0">
                <a:latin typeface="楷体_GB2312" pitchFamily="49" charset="-122"/>
                <a:ea typeface="楷体_GB2312" pitchFamily="49" charset="-122"/>
              </a:rPr>
              <a:t>找到，</a:t>
            </a:r>
            <a:r>
              <a:rPr lang="en-US" altLang="zh-CN" sz="2400" b="1" dirty="0">
                <a:latin typeface="楷体_GB2312" pitchFamily="49" charset="-122"/>
                <a:ea typeface="楷体_GB2312" pitchFamily="49" charset="-122"/>
              </a:rPr>
              <a:t>w</a:t>
            </a:r>
            <a:r>
              <a:rPr lang="zh-CN" altLang="en-US" sz="2400" b="1" dirty="0">
                <a:latin typeface="楷体_GB2312" pitchFamily="49" charset="-122"/>
                <a:ea typeface="楷体_GB2312" pitchFamily="49" charset="-122"/>
              </a:rPr>
              <a:t>指向找到的表元 *</a:t>
            </a:r>
            <a:r>
              <a:rPr lang="en-US" altLang="zh-CN" sz="2400" b="1" dirty="0">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   p=(</a:t>
            </a:r>
            <a:r>
              <a:rPr lang="en-US" altLang="zh-CN" sz="2400" b="1" dirty="0" err="1">
                <a:latin typeface="楷体_GB2312" pitchFamily="49" charset="-122"/>
                <a:ea typeface="楷体_GB2312" pitchFamily="49" charset="-122"/>
              </a:rPr>
              <a:t>stuS</a:t>
            </a: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malloc</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sizeof</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stuS</a:t>
            </a:r>
            <a:r>
              <a:rPr lang="en-US" altLang="zh-CN" sz="2400" b="1" dirty="0">
                <a:latin typeface="楷体_GB2312" pitchFamily="49" charset="-122"/>
                <a:ea typeface="楷体_GB2312" pitchFamily="49" charset="-122"/>
              </a:rPr>
              <a:t>));//p</a:t>
            </a:r>
            <a:r>
              <a:rPr lang="zh-CN" altLang="en-US" sz="2400" b="1" dirty="0">
                <a:latin typeface="楷体_GB2312" pitchFamily="49" charset="-122"/>
                <a:ea typeface="楷体_GB2312" pitchFamily="49" charset="-122"/>
              </a:rPr>
              <a:t>指向新申请的表元</a:t>
            </a:r>
          </a:p>
          <a:p>
            <a:pPr marL="0" indent="0" eaLnBrk="1" hangingPunct="1">
              <a:lnSpc>
                <a:spcPct val="90000"/>
              </a:lnSpc>
              <a:buFont typeface="Monotype Sorts" pitchFamily="2" charset="2"/>
              <a:buNone/>
              <a:defRPr/>
            </a:pPr>
            <a:r>
              <a:rPr lang="zh-CN" altLang="en-US"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printf</a:t>
            </a: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请输入学号、姓名、成绩：</a:t>
            </a:r>
            <a:r>
              <a:rPr lang="en-US" altLang="zh-CN" sz="2400" b="1" dirty="0">
                <a:latin typeface="楷体_GB2312" pitchFamily="49" charset="-122"/>
                <a:ea typeface="楷体_GB2312" pitchFamily="49" charset="-122"/>
              </a:rPr>
              <a:t>"); </a:t>
            </a:r>
          </a:p>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scanf</a:t>
            </a: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d%s%d</a:t>
            </a:r>
            <a:r>
              <a:rPr lang="en-US" altLang="zh-CN" sz="2400" b="1" dirty="0">
                <a:latin typeface="楷体_GB2312" pitchFamily="49" charset="-122"/>
                <a:ea typeface="楷体_GB2312" pitchFamily="49" charset="-122"/>
              </a:rPr>
              <a:t>", &amp;p-&gt;number, p-&gt;name, &amp;p-&gt;score);</a:t>
            </a:r>
          </a:p>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a:solidFill>
                  <a:srgbClr val="FF0000"/>
                </a:solidFill>
                <a:latin typeface="楷体_GB2312" pitchFamily="49" charset="-122"/>
                <a:ea typeface="楷体_GB2312" pitchFamily="49" charset="-122"/>
              </a:rPr>
              <a:t>p-&gt;next=w-&gt;next</a:t>
            </a:r>
            <a:r>
              <a:rPr lang="en-US" altLang="zh-CN" sz="2400" b="1" dirty="0">
                <a:latin typeface="楷体_GB2312" pitchFamily="49" charset="-122"/>
                <a:ea typeface="楷体_GB2312" pitchFamily="49" charset="-122"/>
              </a:rPr>
              <a:t>;/* *w</a:t>
            </a:r>
            <a:r>
              <a:rPr lang="zh-CN" altLang="en-US" sz="2400" b="1" dirty="0">
                <a:latin typeface="楷体_GB2312" pitchFamily="49" charset="-122"/>
                <a:ea typeface="楷体_GB2312" pitchFamily="49" charset="-122"/>
              </a:rPr>
              <a:t>的后继表元作为*</a:t>
            </a:r>
            <a:r>
              <a:rPr lang="en-US" altLang="zh-CN" sz="2400" b="1" dirty="0">
                <a:latin typeface="楷体_GB2312" pitchFamily="49" charset="-122"/>
                <a:ea typeface="楷体_GB2312" pitchFamily="49" charset="-122"/>
              </a:rPr>
              <a:t>p</a:t>
            </a:r>
            <a:r>
              <a:rPr lang="zh-CN" altLang="en-US" sz="2400" b="1" dirty="0">
                <a:latin typeface="楷体_GB2312" pitchFamily="49" charset="-122"/>
                <a:ea typeface="楷体_GB2312" pitchFamily="49" charset="-122"/>
              </a:rPr>
              <a:t>的后继表元*</a:t>
            </a:r>
            <a:r>
              <a:rPr lang="en-US" altLang="zh-CN" sz="2400" b="1" dirty="0">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a:solidFill>
                  <a:srgbClr val="FF0000"/>
                </a:solidFill>
                <a:latin typeface="楷体_GB2312" pitchFamily="49" charset="-122"/>
                <a:ea typeface="楷体_GB2312" pitchFamily="49" charset="-122"/>
              </a:rPr>
              <a:t>w-&gt;next = p</a:t>
            </a:r>
            <a:r>
              <a:rPr lang="en-US" altLang="zh-CN" sz="2400" b="1" dirty="0">
                <a:latin typeface="楷体_GB2312" pitchFamily="49" charset="-122"/>
                <a:ea typeface="楷体_GB2312" pitchFamily="49" charset="-122"/>
              </a:rPr>
              <a:t>;	/* *p</a:t>
            </a:r>
            <a:r>
              <a:rPr lang="zh-CN" altLang="en-US" sz="2400" b="1" dirty="0">
                <a:latin typeface="楷体_GB2312" pitchFamily="49" charset="-122"/>
                <a:ea typeface="楷体_GB2312" pitchFamily="49" charset="-122"/>
              </a:rPr>
              <a:t>作为*</a:t>
            </a:r>
            <a:r>
              <a:rPr lang="en-US" altLang="zh-CN" sz="2400" b="1" dirty="0">
                <a:latin typeface="楷体_GB2312" pitchFamily="49" charset="-122"/>
                <a:ea typeface="楷体_GB2312" pitchFamily="49" charset="-122"/>
              </a:rPr>
              <a:t>w</a:t>
            </a:r>
            <a:r>
              <a:rPr lang="zh-CN" altLang="en-US" sz="2400" b="1" dirty="0">
                <a:latin typeface="楷体_GB2312" pitchFamily="49" charset="-122"/>
                <a:ea typeface="楷体_GB2312" pitchFamily="49" charset="-122"/>
              </a:rPr>
              <a:t>的后继表元 *</a:t>
            </a:r>
            <a:r>
              <a:rPr lang="en-US" altLang="zh-CN" sz="2400" b="1" dirty="0">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 </a:t>
            </a:r>
          </a:p>
        </p:txBody>
      </p:sp>
      <p:sp>
        <p:nvSpPr>
          <p:cNvPr id="5" name="灯片编号占位符 5"/>
          <p:cNvSpPr>
            <a:spLocks noGrp="1"/>
          </p:cNvSpPr>
          <p:nvPr>
            <p:ph type="sldNum" sz="quarter" idx="12"/>
          </p:nvPr>
        </p:nvSpPr>
        <p:spPr/>
        <p:txBody>
          <a:bodyPr/>
          <a:lstStyle/>
          <a:p>
            <a:pPr>
              <a:defRPr/>
            </a:pPr>
            <a:fld id="{08167EA1-82F4-4BCB-A68D-CCCFA11E8CD4}" type="slidenum">
              <a:rPr lang="en-US" altLang="zh-CN"/>
              <a:pPr>
                <a:defRPr/>
              </a:pPr>
              <a:t>80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75842">
                                            <p:txEl>
                                              <p:pRg st="7" end="7"/>
                                            </p:txEl>
                                          </p:spTgt>
                                        </p:tgtEl>
                                        <p:attrNameLst>
                                          <p:attrName>style.visibility</p:attrName>
                                        </p:attrNameLst>
                                      </p:cBhvr>
                                      <p:to>
                                        <p:strVal val="visible"/>
                                      </p:to>
                                    </p:set>
                                    <p:anim calcmode="lin" valueType="num">
                                      <p:cBhvr additive="base">
                                        <p:cTn id="7" dur="500" fill="hold"/>
                                        <p:tgtEl>
                                          <p:spTgt spid="675842">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75842">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75842">
                                            <p:txEl>
                                              <p:pRg st="8" end="8"/>
                                            </p:txEl>
                                          </p:spTgt>
                                        </p:tgtEl>
                                        <p:attrNameLst>
                                          <p:attrName>style.visibility</p:attrName>
                                        </p:attrNameLst>
                                      </p:cBhvr>
                                      <p:to>
                                        <p:strVal val="visible"/>
                                      </p:to>
                                    </p:set>
                                    <p:anim calcmode="lin" valueType="num">
                                      <p:cBhvr additive="base">
                                        <p:cTn id="11" dur="500" fill="hold"/>
                                        <p:tgtEl>
                                          <p:spTgt spid="675842">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75842">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75842">
                                            <p:txEl>
                                              <p:pRg st="9" end="9"/>
                                            </p:txEl>
                                          </p:spTgt>
                                        </p:tgtEl>
                                        <p:attrNameLst>
                                          <p:attrName>style.visibility</p:attrName>
                                        </p:attrNameLst>
                                      </p:cBhvr>
                                      <p:to>
                                        <p:strVal val="visible"/>
                                      </p:to>
                                    </p:set>
                                    <p:anim calcmode="lin" valueType="num">
                                      <p:cBhvr additive="base">
                                        <p:cTn id="15" dur="500" fill="hold"/>
                                        <p:tgtEl>
                                          <p:spTgt spid="675842">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75842">
                                            <p:txEl>
                                              <p:pRg st="9" end="9"/>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75842">
                                            <p:txEl>
                                              <p:pRg st="10" end="10"/>
                                            </p:txEl>
                                          </p:spTgt>
                                        </p:tgtEl>
                                        <p:attrNameLst>
                                          <p:attrName>style.visibility</p:attrName>
                                        </p:attrNameLst>
                                      </p:cBhvr>
                                      <p:to>
                                        <p:strVal val="visible"/>
                                      </p:to>
                                    </p:set>
                                    <p:anim calcmode="lin" valueType="num">
                                      <p:cBhvr additive="base">
                                        <p:cTn id="19" dur="500" fill="hold"/>
                                        <p:tgtEl>
                                          <p:spTgt spid="675842">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75842">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75842">
                                            <p:txEl>
                                              <p:pRg st="11" end="11"/>
                                            </p:txEl>
                                          </p:spTgt>
                                        </p:tgtEl>
                                        <p:attrNameLst>
                                          <p:attrName>style.visibility</p:attrName>
                                        </p:attrNameLst>
                                      </p:cBhvr>
                                      <p:to>
                                        <p:strVal val="visible"/>
                                      </p:to>
                                    </p:set>
                                    <p:anim calcmode="lin" valueType="num">
                                      <p:cBhvr additive="base">
                                        <p:cTn id="25" dur="500" fill="hold"/>
                                        <p:tgtEl>
                                          <p:spTgt spid="675842">
                                            <p:txEl>
                                              <p:pRg st="11" end="1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75842">
                                            <p:txEl>
                                              <p:pRg st="11" end="11"/>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75842">
                                            <p:txEl>
                                              <p:pRg st="12" end="12"/>
                                            </p:txEl>
                                          </p:spTgt>
                                        </p:tgtEl>
                                        <p:attrNameLst>
                                          <p:attrName>style.visibility</p:attrName>
                                        </p:attrNameLst>
                                      </p:cBhvr>
                                      <p:to>
                                        <p:strVal val="visible"/>
                                      </p:to>
                                    </p:set>
                                    <p:anim calcmode="lin" valueType="num">
                                      <p:cBhvr additive="base">
                                        <p:cTn id="29" dur="500" fill="hold"/>
                                        <p:tgtEl>
                                          <p:spTgt spid="675842">
                                            <p:txEl>
                                              <p:pRg st="12" end="1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75842">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4818" name="Rectangle 2"/>
          <p:cNvSpPr>
            <a:spLocks noGrp="1" noChangeArrowheads="1"/>
          </p:cNvSpPr>
          <p:nvPr>
            <p:ph idx="1"/>
          </p:nvPr>
        </p:nvSpPr>
        <p:spPr>
          <a:xfrm>
            <a:off x="250825" y="500042"/>
            <a:ext cx="8497888" cy="6169046"/>
          </a:xfrm>
        </p:spPr>
        <p:txBody>
          <a:bodyPr/>
          <a:lstStyle/>
          <a:p>
            <a:pPr marL="0" indent="0">
              <a:defRPr/>
            </a:pPr>
            <a:r>
              <a:rPr lang="zh-CN" altLang="en-US" sz="3200" b="1" dirty="0">
                <a:latin typeface="楷体_GB2312" pitchFamily="49" charset="-122"/>
                <a:ea typeface="楷体_GB2312" pitchFamily="49" charset="-122"/>
              </a:rPr>
              <a:t>在链表末尾添加新表元 </a:t>
            </a:r>
          </a:p>
          <a:p>
            <a:pPr marL="0" indent="0" eaLnBrk="1" hangingPunct="1">
              <a:buFont typeface="Monotype Sorts" pitchFamily="2" charset="2"/>
              <a:buNone/>
              <a:defRPr/>
            </a:pPr>
            <a:endParaRPr lang="en-US" altLang="zh-CN" b="1" dirty="0">
              <a:effectLst>
                <a:outerShdw blurRad="38100" dist="38100" dir="2700000" algn="tl">
                  <a:srgbClr val="000000"/>
                </a:outerShdw>
              </a:effectLst>
              <a:latin typeface="楷体_GB2312" pitchFamily="49" charset="-122"/>
              <a:ea typeface="楷体_GB2312" pitchFamily="49" charset="-122"/>
            </a:endParaRPr>
          </a:p>
          <a:p>
            <a:pPr marL="0" indent="0" eaLnBrk="1" hangingPunct="1">
              <a:buFont typeface="Monotype Sorts" pitchFamily="2" charset="2"/>
              <a:buNone/>
              <a:defRPr/>
            </a:pPr>
            <a:r>
              <a:rPr lang="zh-CN" altLang="en-US" b="1" dirty="0">
                <a:latin typeface="楷体_GB2312" pitchFamily="49" charset="-122"/>
                <a:ea typeface="楷体_GB2312" pitchFamily="49" charset="-122"/>
              </a:rPr>
              <a:t>设要插入的新表元由指针</a:t>
            </a:r>
            <a:r>
              <a:rPr lang="en-US" altLang="zh-CN" b="1" dirty="0">
                <a:latin typeface="楷体_GB2312" pitchFamily="49" charset="-122"/>
                <a:ea typeface="楷体_GB2312" pitchFamily="49" charset="-122"/>
              </a:rPr>
              <a:t>p</a:t>
            </a:r>
            <a:r>
              <a:rPr lang="zh-CN" altLang="en-US" b="1" dirty="0">
                <a:latin typeface="楷体_GB2312" pitchFamily="49" charset="-122"/>
                <a:ea typeface="楷体_GB2312" pitchFamily="49" charset="-122"/>
              </a:rPr>
              <a:t>所指，将</a:t>
            </a:r>
            <a:r>
              <a:rPr lang="en-US" altLang="zh-CN" b="1" dirty="0">
                <a:latin typeface="楷体_GB2312" pitchFamily="49" charset="-122"/>
                <a:ea typeface="楷体_GB2312" pitchFamily="49" charset="-122"/>
              </a:rPr>
              <a:t>p</a:t>
            </a:r>
            <a:r>
              <a:rPr lang="zh-CN" altLang="en-US" b="1" dirty="0">
                <a:latin typeface="楷体_GB2312" pitchFamily="49" charset="-122"/>
                <a:ea typeface="楷体_GB2312" pitchFamily="49" charset="-122"/>
              </a:rPr>
              <a:t>所指表元添加到链表末尾的操作可由以下</a:t>
            </a:r>
            <a:r>
              <a:rPr lang="en-US" altLang="zh-CN" b="1" dirty="0">
                <a:latin typeface="楷体_GB2312" pitchFamily="49" charset="-122"/>
                <a:ea typeface="楷体_GB2312" pitchFamily="49" charset="-122"/>
              </a:rPr>
              <a:t>3</a:t>
            </a:r>
            <a:r>
              <a:rPr lang="zh-CN" altLang="en-US" b="1" dirty="0">
                <a:latin typeface="楷体_GB2312" pitchFamily="49" charset="-122"/>
                <a:ea typeface="楷体_GB2312" pitchFamily="49" charset="-122"/>
              </a:rPr>
              <a:t>个操作步骤完成：</a:t>
            </a:r>
          </a:p>
          <a:p>
            <a:pPr marL="0" indent="0" eaLnBrk="1" hangingPunct="1">
              <a:buFont typeface="Monotype Sorts" pitchFamily="2" charset="2"/>
              <a:buNone/>
              <a:defRPr/>
            </a:pPr>
            <a:r>
              <a:rPr lang="zh-CN" altLang="en-US" b="1" dirty="0">
                <a:latin typeface="楷体_GB2312" pitchFamily="49" charset="-122"/>
                <a:ea typeface="楷体_GB2312" pitchFamily="49" charset="-122"/>
              </a:rPr>
              <a:t>① 从头指针开始依次找到最后的表元，由指针</a:t>
            </a:r>
            <a:r>
              <a:rPr lang="en-US" altLang="zh-CN" b="1" dirty="0">
                <a:latin typeface="楷体_GB2312" pitchFamily="49" charset="-122"/>
                <a:ea typeface="楷体_GB2312" pitchFamily="49" charset="-122"/>
              </a:rPr>
              <a:t>w</a:t>
            </a:r>
            <a:r>
              <a:rPr lang="zh-CN" altLang="en-US" b="1" dirty="0">
                <a:latin typeface="楷体_GB2312" pitchFamily="49" charset="-122"/>
                <a:ea typeface="楷体_GB2312" pitchFamily="49" charset="-122"/>
              </a:rPr>
              <a:t>指向最后的表元。</a:t>
            </a:r>
          </a:p>
          <a:p>
            <a:pPr marL="0" indent="0" eaLnBrk="1" hangingPunct="1">
              <a:buFont typeface="Monotype Sorts" pitchFamily="2" charset="2"/>
              <a:buNone/>
              <a:defRPr/>
            </a:pPr>
            <a:r>
              <a:rPr lang="zh-CN" altLang="en-US" b="1" dirty="0">
                <a:latin typeface="楷体_GB2312" pitchFamily="49" charset="-122"/>
                <a:ea typeface="楷体_GB2312" pitchFamily="49" charset="-122"/>
              </a:rPr>
              <a:t>② 将指针</a:t>
            </a:r>
            <a:r>
              <a:rPr lang="en-US" altLang="zh-CN" b="1" dirty="0">
                <a:latin typeface="楷体_GB2312" pitchFamily="49" charset="-122"/>
                <a:ea typeface="楷体_GB2312" pitchFamily="49" charset="-122"/>
              </a:rPr>
              <a:t>p</a:t>
            </a:r>
            <a:r>
              <a:rPr lang="zh-CN" altLang="en-US" b="1" dirty="0">
                <a:latin typeface="楷体_GB2312" pitchFamily="49" charset="-122"/>
                <a:ea typeface="楷体_GB2312" pitchFamily="49" charset="-122"/>
              </a:rPr>
              <a:t>所指表元成为指针</a:t>
            </a:r>
            <a:r>
              <a:rPr lang="en-US" altLang="zh-CN" b="1" dirty="0">
                <a:latin typeface="楷体_GB2312" pitchFamily="49" charset="-122"/>
                <a:ea typeface="楷体_GB2312" pitchFamily="49" charset="-122"/>
              </a:rPr>
              <a:t>w</a:t>
            </a:r>
            <a:r>
              <a:rPr lang="zh-CN" altLang="en-US" b="1" dirty="0">
                <a:latin typeface="楷体_GB2312" pitchFamily="49" charset="-122"/>
                <a:ea typeface="楷体_GB2312" pitchFamily="49" charset="-122"/>
              </a:rPr>
              <a:t>所指的后继表元，用代码 </a:t>
            </a:r>
            <a:r>
              <a:rPr lang="en-US" altLang="zh-CN" b="1" dirty="0">
                <a:latin typeface="楷体_GB2312" pitchFamily="49" charset="-122"/>
                <a:ea typeface="楷体_GB2312" pitchFamily="49" charset="-122"/>
              </a:rPr>
              <a:t>w-&gt;next = p</a:t>
            </a:r>
            <a:r>
              <a:rPr lang="zh-CN" altLang="en-US" b="1" dirty="0">
                <a:latin typeface="楷体_GB2312" pitchFamily="49" charset="-122"/>
                <a:ea typeface="楷体_GB2312" pitchFamily="49" charset="-122"/>
              </a:rPr>
              <a:t>实现。</a:t>
            </a:r>
          </a:p>
          <a:p>
            <a:pPr marL="0" indent="0" eaLnBrk="1" hangingPunct="1">
              <a:buFont typeface="Monotype Sorts" pitchFamily="2" charset="2"/>
              <a:buNone/>
              <a:defRPr/>
            </a:pPr>
            <a:r>
              <a:rPr lang="zh-CN" altLang="en-US" b="1" dirty="0">
                <a:latin typeface="楷体_GB2312" pitchFamily="49" charset="-122"/>
                <a:ea typeface="楷体_GB2312" pitchFamily="49" charset="-122"/>
              </a:rPr>
              <a:t>③ 新表元的后继表元设置为空，用代码</a:t>
            </a:r>
            <a:r>
              <a:rPr lang="en-US" altLang="zh-CN" b="1" dirty="0">
                <a:solidFill>
                  <a:srgbClr val="FF0000"/>
                </a:solidFill>
                <a:latin typeface="楷体_GB2312" pitchFamily="49" charset="-122"/>
                <a:ea typeface="楷体_GB2312" pitchFamily="49" charset="-122"/>
              </a:rPr>
              <a:t>p-&gt;next = NULL </a:t>
            </a:r>
            <a:r>
              <a:rPr lang="zh-CN" altLang="en-US" b="1" dirty="0">
                <a:latin typeface="楷体_GB2312" pitchFamily="49" charset="-122"/>
                <a:ea typeface="楷体_GB2312" pitchFamily="49" charset="-122"/>
              </a:rPr>
              <a:t>实现。</a:t>
            </a:r>
          </a:p>
          <a:p>
            <a:pPr marL="0" indent="0" eaLnBrk="1" hangingPunct="1">
              <a:buFont typeface="Monotype Sorts" pitchFamily="2" charset="2"/>
              <a:buNone/>
              <a:defRPr/>
            </a:pPr>
            <a:r>
              <a:rPr lang="zh-CN" altLang="en-US" b="1" dirty="0">
                <a:latin typeface="楷体_GB2312" pitchFamily="49" charset="-122"/>
                <a:ea typeface="楷体_GB2312" pitchFamily="49" charset="-122"/>
              </a:rPr>
              <a:t>下图显示在末表元之后插入表元，程序执行的代码和链表插入前后的状态变化。</a:t>
            </a:r>
            <a:r>
              <a:rPr lang="zh-CN" altLang="en-US" dirty="0">
                <a:latin typeface="楷体_GB2312" pitchFamily="49" charset="-122"/>
                <a:ea typeface="楷体_GB2312" pitchFamily="49" charset="-122"/>
              </a:rPr>
              <a:t> </a:t>
            </a:r>
          </a:p>
        </p:txBody>
      </p:sp>
      <p:sp>
        <p:nvSpPr>
          <p:cNvPr id="6" name="灯片编号占位符 5"/>
          <p:cNvSpPr>
            <a:spLocks noGrp="1"/>
          </p:cNvSpPr>
          <p:nvPr>
            <p:ph type="sldNum" sz="quarter" idx="12"/>
          </p:nvPr>
        </p:nvSpPr>
        <p:spPr/>
        <p:txBody>
          <a:bodyPr/>
          <a:lstStyle/>
          <a:p>
            <a:pPr>
              <a:defRPr/>
            </a:pPr>
            <a:fld id="{1A33CCEE-658D-4187-94FF-8D3104774495}" type="slidenum">
              <a:rPr lang="en-US" altLang="zh-CN"/>
              <a:pPr>
                <a:defRPr/>
              </a:pPr>
              <a:t>81</a:t>
            </a:fld>
            <a:endParaRPr lang="en-US" altLang="zh-CN"/>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7" name="Rectangle 3"/>
          <p:cNvSpPr>
            <a:spLocks noGrp="1" noChangeArrowheads="1"/>
          </p:cNvSpPr>
          <p:nvPr>
            <p:ph type="title"/>
          </p:nvPr>
        </p:nvSpPr>
        <p:spPr>
          <a:xfrm>
            <a:off x="250825" y="404813"/>
            <a:ext cx="7920038" cy="576262"/>
          </a:xfrm>
        </p:spPr>
        <p:txBody>
          <a:bodyPr/>
          <a:lstStyle/>
          <a:p>
            <a:pPr eaLnBrk="1" hangingPunct="1">
              <a:lnSpc>
                <a:spcPct val="95000"/>
              </a:lnSpc>
              <a:defRPr/>
            </a:pPr>
            <a:r>
              <a:rPr lang="zh-CN" altLang="en-US" sz="3600" b="1" dirty="0">
                <a:solidFill>
                  <a:schemeClr val="tx1"/>
                </a:solidFill>
                <a:latin typeface="黑体" pitchFamily="2" charset="-122"/>
                <a:ea typeface="黑体" pitchFamily="2" charset="-122"/>
              </a:rPr>
              <a:t>在链表末尾插入新表元</a:t>
            </a:r>
          </a:p>
        </p:txBody>
      </p:sp>
      <p:sp>
        <p:nvSpPr>
          <p:cNvPr id="8" name="灯片编号占位符 5"/>
          <p:cNvSpPr>
            <a:spLocks noGrp="1"/>
          </p:cNvSpPr>
          <p:nvPr>
            <p:ph type="sldNum" sz="quarter" idx="12"/>
          </p:nvPr>
        </p:nvSpPr>
        <p:spPr/>
        <p:txBody>
          <a:bodyPr/>
          <a:lstStyle/>
          <a:p>
            <a:pPr>
              <a:defRPr/>
            </a:pPr>
            <a:fld id="{23EB9575-140E-497A-909C-FCB8EE57FAB3}" type="slidenum">
              <a:rPr lang="en-US" altLang="zh-CN"/>
              <a:pPr>
                <a:defRPr/>
              </a:pPr>
              <a:t>82</a:t>
            </a:fld>
            <a:endParaRPr lang="en-US" altLang="zh-CN"/>
          </a:p>
        </p:txBody>
      </p:sp>
      <p:sp>
        <p:nvSpPr>
          <p:cNvPr id="5125" name="Rectangle 6"/>
          <p:cNvSpPr>
            <a:spLocks noChangeArrowheads="1"/>
          </p:cNvSpPr>
          <p:nvPr/>
        </p:nvSpPr>
        <p:spPr bwMode="auto">
          <a:xfrm>
            <a:off x="0" y="26431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5122" name="Object 5"/>
          <p:cNvGraphicFramePr>
            <a:graphicFrameLocks noChangeAspect="1"/>
          </p:cNvGraphicFramePr>
          <p:nvPr/>
        </p:nvGraphicFramePr>
        <p:xfrm>
          <a:off x="827088" y="1341438"/>
          <a:ext cx="7273925" cy="2873375"/>
        </p:xfrm>
        <a:graphic>
          <a:graphicData uri="http://schemas.openxmlformats.org/presentationml/2006/ole">
            <mc:AlternateContent xmlns:mc="http://schemas.openxmlformats.org/markup-compatibility/2006">
              <mc:Choice xmlns:v="urn:schemas-microsoft-com:vml" Requires="v">
                <p:oleObj r:id="rId2" imgW="6359708" imgH="3130761" progId="">
                  <p:embed/>
                </p:oleObj>
              </mc:Choice>
              <mc:Fallback>
                <p:oleObj r:id="rId2" imgW="6359708" imgH="3130761" progId="">
                  <p:embed/>
                  <p:pic>
                    <p:nvPicPr>
                      <p:cNvPr id="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1341438"/>
                        <a:ext cx="7273925" cy="2873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6" name="Text Box 7"/>
          <p:cNvSpPr txBox="1">
            <a:spLocks noChangeArrowheads="1"/>
          </p:cNvSpPr>
          <p:nvPr/>
        </p:nvSpPr>
        <p:spPr bwMode="auto">
          <a:xfrm>
            <a:off x="1166813" y="3984625"/>
            <a:ext cx="7026282" cy="400110"/>
          </a:xfrm>
          <a:prstGeom prst="rect">
            <a:avLst/>
          </a:prstGeom>
          <a:noFill/>
          <a:ln w="9525">
            <a:noFill/>
            <a:miter lim="800000"/>
            <a:headEnd/>
            <a:tailEnd/>
          </a:ln>
        </p:spPr>
        <p:txBody>
          <a:bodyPr wrap="none">
            <a:spAutoFit/>
          </a:bodyPr>
          <a:lstStyle/>
          <a:p>
            <a:r>
              <a:rPr lang="zh-CN" altLang="en-US" sz="2000" b="1" dirty="0">
                <a:latin typeface="楷体_GB2312" pitchFamily="49" charset="-122"/>
                <a:ea typeface="楷体_GB2312" pitchFamily="49" charset="-122"/>
              </a:rPr>
              <a:t>图</a:t>
            </a:r>
            <a:r>
              <a:rPr lang="en-US" altLang="zh-CN" sz="20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在末表元之后插入新表元的实现代码和链表状态变化图 </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67" name="Rectangle 3"/>
          <p:cNvSpPr>
            <a:spLocks noGrp="1" noChangeArrowheads="1"/>
          </p:cNvSpPr>
          <p:nvPr>
            <p:ph idx="1"/>
          </p:nvPr>
        </p:nvSpPr>
        <p:spPr>
          <a:xfrm>
            <a:off x="468313" y="692150"/>
            <a:ext cx="8304212" cy="5905500"/>
          </a:xfrm>
        </p:spPr>
        <p:txBody>
          <a:bodyPr>
            <a:normAutofit/>
          </a:bodyPr>
          <a:lstStyle/>
          <a:p>
            <a:pPr marL="0" indent="0" eaLnBrk="1" hangingPunct="1">
              <a:buFont typeface="Monotype Sorts" pitchFamily="2" charset="2"/>
              <a:buNone/>
              <a:defRPr/>
            </a:pP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例</a:t>
            </a:r>
            <a:r>
              <a:rPr lang="en-US" altLang="zh-CN" sz="2800" b="1" dirty="0">
                <a:latin typeface="楷体_GB2312" pitchFamily="49" charset="-122"/>
                <a:ea typeface="楷体_GB2312" pitchFamily="49" charset="-122"/>
              </a:rPr>
              <a:t>7.9】</a:t>
            </a:r>
            <a:r>
              <a:rPr lang="zh-CN" altLang="en-US" sz="2800" b="1" dirty="0">
                <a:latin typeface="楷体_GB2312" pitchFamily="49" charset="-122"/>
                <a:ea typeface="楷体_GB2312" pitchFamily="49" charset="-122"/>
              </a:rPr>
              <a:t>编写在链表的末尾接上一个新学生的函数。</a:t>
            </a:r>
          </a:p>
          <a:p>
            <a:pPr marL="0" indent="0" eaLnBrk="1" hangingPunct="1">
              <a:buFont typeface="Monotype Sorts" pitchFamily="2" charset="2"/>
              <a:buNone/>
              <a:defRPr/>
            </a:pPr>
            <a:endParaRPr lang="zh-CN" altLang="en-US" sz="2800" b="1" dirty="0">
              <a:latin typeface="楷体_GB2312" pitchFamily="49" charset="-122"/>
              <a:ea typeface="楷体_GB2312" pitchFamily="49" charset="-122"/>
            </a:endParaRP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函数设有一个表示学生链表头指针的形参</a:t>
            </a:r>
            <a:r>
              <a:rPr lang="en-US" altLang="zh-CN" sz="2800" b="1" dirty="0">
                <a:latin typeface="楷体_GB2312" pitchFamily="49" charset="-122"/>
                <a:ea typeface="楷体_GB2312" pitchFamily="49" charset="-122"/>
              </a:rPr>
              <a:t>head</a:t>
            </a:r>
            <a:r>
              <a:rPr lang="zh-CN" altLang="en-US" sz="2800" b="1" dirty="0">
                <a:latin typeface="楷体_GB2312" pitchFamily="49" charset="-122"/>
                <a:ea typeface="楷体_GB2312" pitchFamily="49" charset="-122"/>
              </a:rPr>
              <a:t>。函数首先申请存储学生信息的空间，并输入新的学生信息。函数在发现原链表是空时，简单地将新表元指针作为链表的头指针返回。否则，用循环寻找链表的末尾表元，然后将新表元接在末尾表元之后，返回原链表的头指针。 </a:t>
            </a:r>
          </a:p>
        </p:txBody>
      </p:sp>
      <p:sp>
        <p:nvSpPr>
          <p:cNvPr id="5" name="灯片编号占位符 5"/>
          <p:cNvSpPr>
            <a:spLocks noGrp="1"/>
          </p:cNvSpPr>
          <p:nvPr>
            <p:ph type="sldNum" sz="quarter" idx="12"/>
          </p:nvPr>
        </p:nvSpPr>
        <p:spPr/>
        <p:txBody>
          <a:bodyPr/>
          <a:lstStyle/>
          <a:p>
            <a:pPr>
              <a:defRPr/>
            </a:pPr>
            <a:fld id="{AADA1BDE-2165-4F45-890A-C9AD1A006ACA}" type="slidenum">
              <a:rPr lang="en-US" altLang="zh-CN"/>
              <a:pPr>
                <a:defRPr/>
              </a:pPr>
              <a:t>83</a:t>
            </a:fld>
            <a:endParaRPr lang="en-US" altLang="zh-CN"/>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890" name="Rectangle 2"/>
          <p:cNvSpPr>
            <a:spLocks noGrp="1" noChangeArrowheads="1"/>
          </p:cNvSpPr>
          <p:nvPr>
            <p:ph idx="1"/>
          </p:nvPr>
        </p:nvSpPr>
        <p:spPr>
          <a:xfrm>
            <a:off x="468313" y="692150"/>
            <a:ext cx="8304212" cy="5905500"/>
          </a:xfrm>
        </p:spPr>
        <p:txBody>
          <a:bodyPr>
            <a:normAutofit/>
          </a:bodyPr>
          <a:lstStyle/>
          <a:p>
            <a:pPr marL="0" indent="0" eaLnBrk="1" hangingPunct="1">
              <a:buFont typeface="Monotype Sorts" pitchFamily="2" charset="2"/>
              <a:buNone/>
              <a:defRPr/>
            </a:pPr>
            <a:r>
              <a:rPr lang="en-US" altLang="zh-CN" sz="2400" b="1" dirty="0" err="1">
                <a:latin typeface="楷体_GB2312" pitchFamily="49" charset="-122"/>
                <a:ea typeface="楷体_GB2312" pitchFamily="49" charset="-122"/>
              </a:rPr>
              <a:t>stuS</a:t>
            </a:r>
            <a:r>
              <a:rPr lang="en-US" altLang="zh-CN" sz="2400" b="1" dirty="0">
                <a:latin typeface="楷体_GB2312" pitchFamily="49" charset="-122"/>
                <a:ea typeface="楷体_GB2312" pitchFamily="49" charset="-122"/>
              </a:rPr>
              <a:t> *append(</a:t>
            </a:r>
            <a:r>
              <a:rPr lang="en-US" altLang="zh-CN" sz="2400" b="1" dirty="0" err="1">
                <a:latin typeface="楷体_GB2312" pitchFamily="49" charset="-122"/>
                <a:ea typeface="楷体_GB2312" pitchFamily="49" charset="-122"/>
              </a:rPr>
              <a:t>stuS</a:t>
            </a:r>
            <a:r>
              <a:rPr lang="en-US" altLang="zh-CN" sz="2400" b="1" dirty="0">
                <a:latin typeface="楷体_GB2312" pitchFamily="49" charset="-122"/>
                <a:ea typeface="楷体_GB2312" pitchFamily="49" charset="-122"/>
              </a:rPr>
              <a:t> *head)</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stuS</a:t>
            </a:r>
            <a:r>
              <a:rPr lang="en-US" altLang="zh-CN" sz="2400" b="1" dirty="0">
                <a:latin typeface="楷体_GB2312" pitchFamily="49" charset="-122"/>
                <a:ea typeface="楷体_GB2312" pitchFamily="49" charset="-122"/>
              </a:rPr>
              <a:t> *w = head,*p;</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p=(</a:t>
            </a:r>
            <a:r>
              <a:rPr lang="en-US" altLang="zh-CN" sz="2400" b="1" dirty="0" err="1">
                <a:latin typeface="楷体_GB2312" pitchFamily="49" charset="-122"/>
                <a:ea typeface="楷体_GB2312" pitchFamily="49" charset="-122"/>
              </a:rPr>
              <a:t>stuS</a:t>
            </a: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malloc</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sizeof</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stuS</a:t>
            </a:r>
            <a:r>
              <a:rPr lang="en-US" altLang="zh-CN" sz="2400" b="1" dirty="0">
                <a:latin typeface="楷体_GB2312" pitchFamily="49" charset="-122"/>
                <a:ea typeface="楷体_GB2312" pitchFamily="49" charset="-122"/>
              </a:rPr>
              <a:t>));//p2</a:t>
            </a:r>
            <a:r>
              <a:rPr lang="zh-CN" altLang="en-US" sz="2400" b="1" dirty="0">
                <a:latin typeface="楷体_GB2312" pitchFamily="49" charset="-122"/>
                <a:ea typeface="楷体_GB2312" pitchFamily="49" charset="-122"/>
              </a:rPr>
              <a:t>指新申请的表元</a:t>
            </a:r>
          </a:p>
          <a:p>
            <a:pPr marL="0" indent="0" eaLnBrk="1" hangingPunct="1">
              <a:buFont typeface="Monotype Sorts" pitchFamily="2" charset="2"/>
              <a:buNone/>
              <a:defRPr/>
            </a:pPr>
            <a:r>
              <a:rPr lang="zh-CN" altLang="en-US"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printf</a:t>
            </a: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请输入学号、姓名、成绩：</a:t>
            </a:r>
            <a:r>
              <a:rPr lang="en-US" altLang="zh-CN" sz="2400" b="1" dirty="0">
                <a:latin typeface="楷体_GB2312" pitchFamily="49" charset="-122"/>
                <a:ea typeface="楷体_GB2312" pitchFamily="49" charset="-122"/>
              </a:rPr>
              <a:t>"); </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scanf</a:t>
            </a: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d%s%d</a:t>
            </a:r>
            <a:r>
              <a:rPr lang="en-US" altLang="zh-CN" sz="2400" b="1" dirty="0">
                <a:latin typeface="楷体_GB2312" pitchFamily="49" charset="-122"/>
                <a:ea typeface="楷体_GB2312" pitchFamily="49" charset="-122"/>
              </a:rPr>
              <a:t>", &amp;p-&gt;number, p-&gt;name, &amp;p-&gt;score);</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p-&gt;next = NULL; /* p</a:t>
            </a:r>
            <a:r>
              <a:rPr lang="zh-CN" altLang="en-US" sz="2400" b="1" dirty="0">
                <a:latin typeface="楷体_GB2312" pitchFamily="49" charset="-122"/>
                <a:ea typeface="楷体_GB2312" pitchFamily="49" charset="-122"/>
              </a:rPr>
              <a:t>为最后一个表元 *</a:t>
            </a:r>
            <a:r>
              <a:rPr lang="en-US" altLang="zh-CN" sz="24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if (head == NULL) return p;   /* </a:t>
            </a:r>
            <a:r>
              <a:rPr lang="zh-CN" altLang="en-US" sz="2400" b="1" dirty="0">
                <a:latin typeface="楷体_GB2312" pitchFamily="49" charset="-122"/>
                <a:ea typeface="楷体_GB2312" pitchFamily="49" charset="-122"/>
              </a:rPr>
              <a:t>返回新表元指针 *</a:t>
            </a:r>
            <a:r>
              <a:rPr lang="en-US" altLang="zh-CN" sz="24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while(w-&gt;next != NULL)//</a:t>
            </a:r>
            <a:r>
              <a:rPr lang="zh-CN" altLang="en-US" sz="2400" b="1" dirty="0">
                <a:latin typeface="楷体_GB2312" pitchFamily="49" charset="-122"/>
                <a:ea typeface="楷体_GB2312" pitchFamily="49" charset="-122"/>
              </a:rPr>
              <a:t>非空，顺序向后找尾表元</a:t>
            </a:r>
          </a:p>
          <a:p>
            <a:pPr marL="0" indent="0" eaLnBrk="1" hangingPunct="1">
              <a:buFont typeface="Monotype Sorts" pitchFamily="2" charset="2"/>
              <a:buNone/>
              <a:defRPr/>
            </a:pPr>
            <a:r>
              <a:rPr lang="zh-CN" altLang="en-US" sz="2400" b="1" dirty="0">
                <a:latin typeface="楷体_GB2312" pitchFamily="49" charset="-122"/>
                <a:ea typeface="楷体_GB2312" pitchFamily="49" charset="-122"/>
              </a:rPr>
              <a:t>        </a:t>
            </a:r>
            <a:r>
              <a:rPr lang="en-US" altLang="zh-CN" sz="2400" b="1" dirty="0">
                <a:latin typeface="楷体_GB2312" pitchFamily="49" charset="-122"/>
                <a:ea typeface="楷体_GB2312" pitchFamily="49" charset="-122"/>
              </a:rPr>
              <a:t>w = w-&gt;next;/* </a:t>
            </a:r>
            <a:r>
              <a:rPr lang="zh-CN" altLang="en-US" sz="2400" b="1" dirty="0">
                <a:latin typeface="楷体_GB2312" pitchFamily="49" charset="-122"/>
                <a:ea typeface="楷体_GB2312" pitchFamily="49" charset="-122"/>
              </a:rPr>
              <a:t>后移一个表元，直到</a:t>
            </a:r>
            <a:r>
              <a:rPr lang="en-US" altLang="zh-CN" sz="2400" b="1" dirty="0">
                <a:latin typeface="楷体_GB2312" pitchFamily="49" charset="-122"/>
                <a:ea typeface="楷体_GB2312" pitchFamily="49" charset="-122"/>
              </a:rPr>
              <a:t>w</a:t>
            </a:r>
            <a:r>
              <a:rPr lang="zh-CN" altLang="en-US" sz="2400" b="1" dirty="0">
                <a:latin typeface="楷体_GB2312" pitchFamily="49" charset="-122"/>
                <a:ea typeface="楷体_GB2312" pitchFamily="49" charset="-122"/>
              </a:rPr>
              <a:t>指向尾表元 *</a:t>
            </a:r>
            <a:r>
              <a:rPr lang="en-US" altLang="zh-CN" sz="24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w-&gt;next = p;/* *p</a:t>
            </a:r>
            <a:r>
              <a:rPr lang="zh-CN" altLang="en-US" sz="2400" b="1" dirty="0">
                <a:latin typeface="楷体_GB2312" pitchFamily="49" charset="-122"/>
                <a:ea typeface="楷体_GB2312" pitchFamily="49" charset="-122"/>
              </a:rPr>
              <a:t>作为*</a:t>
            </a:r>
            <a:r>
              <a:rPr lang="en-US" altLang="zh-CN" sz="2400" b="1" dirty="0">
                <a:latin typeface="楷体_GB2312" pitchFamily="49" charset="-122"/>
                <a:ea typeface="楷体_GB2312" pitchFamily="49" charset="-122"/>
              </a:rPr>
              <a:t>w</a:t>
            </a:r>
            <a:r>
              <a:rPr lang="zh-CN" altLang="en-US" sz="2400" b="1" dirty="0">
                <a:latin typeface="楷体_GB2312" pitchFamily="49" charset="-122"/>
                <a:ea typeface="楷体_GB2312" pitchFamily="49" charset="-122"/>
              </a:rPr>
              <a:t>的后继表元 *</a:t>
            </a:r>
            <a:r>
              <a:rPr lang="en-US" altLang="zh-CN" sz="24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return head;	/* </a:t>
            </a:r>
            <a:r>
              <a:rPr lang="zh-CN" altLang="en-US" sz="2400" b="1" dirty="0">
                <a:latin typeface="楷体_GB2312" pitchFamily="49" charset="-122"/>
                <a:ea typeface="楷体_GB2312" pitchFamily="49" charset="-122"/>
              </a:rPr>
              <a:t>返回头指针 *</a:t>
            </a:r>
            <a:r>
              <a:rPr lang="en-US" altLang="zh-CN" sz="2400" b="1" dirty="0">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a:t>
            </a:r>
          </a:p>
        </p:txBody>
      </p:sp>
      <p:sp>
        <p:nvSpPr>
          <p:cNvPr id="5" name="灯片编号占位符 5"/>
          <p:cNvSpPr>
            <a:spLocks noGrp="1"/>
          </p:cNvSpPr>
          <p:nvPr>
            <p:ph type="sldNum" sz="quarter" idx="12"/>
          </p:nvPr>
        </p:nvSpPr>
        <p:spPr/>
        <p:txBody>
          <a:bodyPr/>
          <a:lstStyle/>
          <a:p>
            <a:pPr>
              <a:defRPr/>
            </a:pPr>
            <a:fld id="{E2F7D671-D44D-4F8F-8D50-DC828B7ACD7D}" type="slidenum">
              <a:rPr lang="en-US" altLang="zh-CN"/>
              <a:pPr>
                <a:defRPr/>
              </a:pPr>
              <a:t>84</a:t>
            </a:fld>
            <a:endParaRPr lang="en-US" altLang="zh-CN"/>
          </a:p>
        </p:txBody>
      </p:sp>
      <p:sp>
        <p:nvSpPr>
          <p:cNvPr id="2" name="矩形 1"/>
          <p:cNvSpPr/>
          <p:nvPr/>
        </p:nvSpPr>
        <p:spPr>
          <a:xfrm>
            <a:off x="683568" y="3284860"/>
            <a:ext cx="6120680"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259632" y="4581128"/>
            <a:ext cx="7488832" cy="3958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755576" y="5514183"/>
            <a:ext cx="4968552" cy="3536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755576" y="5075601"/>
            <a:ext cx="5688632" cy="3536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a:extLst>
              <a:ext uri="{FF2B5EF4-FFF2-40B4-BE49-F238E27FC236}">
                <a16:creationId xmlns:a16="http://schemas.microsoft.com/office/drawing/2014/main" id="{DC41A688-0B2E-A49D-D7EA-12645D34BC83}"/>
              </a:ext>
            </a:extLst>
          </p:cNvPr>
          <p:cNvSpPr/>
          <p:nvPr/>
        </p:nvSpPr>
        <p:spPr>
          <a:xfrm>
            <a:off x="5940152" y="44624"/>
            <a:ext cx="2421123" cy="1488787"/>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rgbClr val="FF0000"/>
                </a:solidFill>
              </a:rPr>
              <a:t>只要函数有修改头指针的可能性，就必须返回指针</a:t>
            </a:r>
          </a:p>
          <a:p>
            <a:pPr algn="ctr"/>
            <a:endParaRPr lang="zh-CN" alt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2"/>
                                        </p:tgtEl>
                                        <p:attrNameLst>
                                          <p:attrName>ppt_x</p:attrName>
                                        </p:attrNameLst>
                                      </p:cBhvr>
                                      <p:tavLst>
                                        <p:tav tm="0">
                                          <p:val>
                                            <p:strVal val="ppt_x"/>
                                          </p:val>
                                        </p:tav>
                                        <p:tav tm="100000">
                                          <p:val>
                                            <p:strVal val="ppt_x"/>
                                          </p:val>
                                        </p:tav>
                                      </p:tavLst>
                                    </p:anim>
                                    <p:anim calcmode="lin" valueType="num">
                                      <p:cBhvr additive="base">
                                        <p:cTn id="7" dur="500"/>
                                        <p:tgtEl>
                                          <p:spTgt spid="2"/>
                                        </p:tgtEl>
                                        <p:attrNameLst>
                                          <p:attrName>ppt_y</p:attrName>
                                        </p:attrNameLst>
                                      </p:cBhvr>
                                      <p:tavLst>
                                        <p:tav tm="0">
                                          <p:val>
                                            <p:strVal val="ppt_y"/>
                                          </p:val>
                                        </p:tav>
                                        <p:tav tm="100000">
                                          <p:val>
                                            <p:strVal val="1+ppt_h/2"/>
                                          </p:val>
                                        </p:tav>
                                      </p:tavLst>
                                    </p:anim>
                                    <p:set>
                                      <p:cBhvr>
                                        <p:cTn id="8" dur="1" fill="hold">
                                          <p:stCondLst>
                                            <p:cond delay="499"/>
                                          </p:stCondLst>
                                        </p:cTn>
                                        <p:tgtEl>
                                          <p:spTgt spid="2"/>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77890">
                                            <p:txEl>
                                              <p:pRg st="7" end="7"/>
                                            </p:txEl>
                                          </p:spTgt>
                                        </p:tgtEl>
                                        <p:attrNameLst>
                                          <p:attrName>style.visibility</p:attrName>
                                        </p:attrNameLst>
                                      </p:cBhvr>
                                      <p:to>
                                        <p:strVal val="visible"/>
                                      </p:to>
                                    </p:set>
                                    <p:anim calcmode="lin" valueType="num">
                                      <p:cBhvr additive="base">
                                        <p:cTn id="13" dur="500" fill="hold"/>
                                        <p:tgtEl>
                                          <p:spTgt spid="677890">
                                            <p:txEl>
                                              <p:pRg st="7" end="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77890">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xit" presetSubtype="4" fill="hold" grpId="0" nodeType="clickEffect">
                                  <p:stCondLst>
                                    <p:cond delay="0"/>
                                  </p:stCondLst>
                                  <p:childTnLst>
                                    <p:anim calcmode="lin" valueType="num">
                                      <p:cBhvr additive="base">
                                        <p:cTn id="18" dur="500"/>
                                        <p:tgtEl>
                                          <p:spTgt spid="6"/>
                                        </p:tgtEl>
                                        <p:attrNameLst>
                                          <p:attrName>ppt_x</p:attrName>
                                        </p:attrNameLst>
                                      </p:cBhvr>
                                      <p:tavLst>
                                        <p:tav tm="0">
                                          <p:val>
                                            <p:strVal val="ppt_x"/>
                                          </p:val>
                                        </p:tav>
                                        <p:tav tm="100000">
                                          <p:val>
                                            <p:strVal val="ppt_x"/>
                                          </p:val>
                                        </p:tav>
                                      </p:tavLst>
                                    </p:anim>
                                    <p:anim calcmode="lin" valueType="num">
                                      <p:cBhvr additive="base">
                                        <p:cTn id="19" dur="500"/>
                                        <p:tgtEl>
                                          <p:spTgt spid="6"/>
                                        </p:tgtEl>
                                        <p:attrNameLst>
                                          <p:attrName>ppt_y</p:attrName>
                                        </p:attrNameLst>
                                      </p:cBhvr>
                                      <p:tavLst>
                                        <p:tav tm="0">
                                          <p:val>
                                            <p:strVal val="ppt_y"/>
                                          </p:val>
                                        </p:tav>
                                        <p:tav tm="100000">
                                          <p:val>
                                            <p:strVal val="1+ppt_h/2"/>
                                          </p:val>
                                        </p:tav>
                                      </p:tavLst>
                                    </p:anim>
                                    <p:set>
                                      <p:cBhvr>
                                        <p:cTn id="20" dur="1" fill="hold">
                                          <p:stCondLst>
                                            <p:cond delay="499"/>
                                          </p:stCondLst>
                                        </p:cTn>
                                        <p:tgtEl>
                                          <p:spTgt spid="6"/>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grpId="0" nodeType="clickEffect">
                                  <p:stCondLst>
                                    <p:cond delay="0"/>
                                  </p:stCondLst>
                                  <p:childTnLst>
                                    <p:anim calcmode="lin" valueType="num">
                                      <p:cBhvr additive="base">
                                        <p:cTn id="24" dur="500"/>
                                        <p:tgtEl>
                                          <p:spTgt spid="9"/>
                                        </p:tgtEl>
                                        <p:attrNameLst>
                                          <p:attrName>ppt_x</p:attrName>
                                        </p:attrNameLst>
                                      </p:cBhvr>
                                      <p:tavLst>
                                        <p:tav tm="0">
                                          <p:val>
                                            <p:strVal val="ppt_x"/>
                                          </p:val>
                                        </p:tav>
                                        <p:tav tm="100000">
                                          <p:val>
                                            <p:strVal val="ppt_x"/>
                                          </p:val>
                                        </p:tav>
                                      </p:tavLst>
                                    </p:anim>
                                    <p:anim calcmode="lin" valueType="num">
                                      <p:cBhvr additive="base">
                                        <p:cTn id="25" dur="500"/>
                                        <p:tgtEl>
                                          <p:spTgt spid="9"/>
                                        </p:tgtEl>
                                        <p:attrNameLst>
                                          <p:attrName>ppt_y</p:attrName>
                                        </p:attrNameLst>
                                      </p:cBhvr>
                                      <p:tavLst>
                                        <p:tav tm="0">
                                          <p:val>
                                            <p:strVal val="ppt_y"/>
                                          </p:val>
                                        </p:tav>
                                        <p:tav tm="100000">
                                          <p:val>
                                            <p:strVal val="1+ppt_h/2"/>
                                          </p:val>
                                        </p:tav>
                                      </p:tavLst>
                                    </p:anim>
                                    <p:set>
                                      <p:cBhvr>
                                        <p:cTn id="26" dur="1" fill="hold">
                                          <p:stCondLst>
                                            <p:cond delay="499"/>
                                          </p:stCondLst>
                                        </p:cTn>
                                        <p:tgtEl>
                                          <p:spTgt spid="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xit" presetSubtype="4" fill="hold" grpId="0" nodeType="clickEffect">
                                  <p:stCondLst>
                                    <p:cond delay="0"/>
                                  </p:stCondLst>
                                  <p:childTnLst>
                                    <p:anim calcmode="lin" valueType="num">
                                      <p:cBhvr additive="base">
                                        <p:cTn id="30" dur="500"/>
                                        <p:tgtEl>
                                          <p:spTgt spid="7"/>
                                        </p:tgtEl>
                                        <p:attrNameLst>
                                          <p:attrName>ppt_x</p:attrName>
                                        </p:attrNameLst>
                                      </p:cBhvr>
                                      <p:tavLst>
                                        <p:tav tm="0">
                                          <p:val>
                                            <p:strVal val="ppt_x"/>
                                          </p:val>
                                        </p:tav>
                                        <p:tav tm="100000">
                                          <p:val>
                                            <p:strVal val="ppt_x"/>
                                          </p:val>
                                        </p:tav>
                                      </p:tavLst>
                                    </p:anim>
                                    <p:anim calcmode="lin" valueType="num">
                                      <p:cBhvr additive="base">
                                        <p:cTn id="31" dur="500"/>
                                        <p:tgtEl>
                                          <p:spTgt spid="7"/>
                                        </p:tgtEl>
                                        <p:attrNameLst>
                                          <p:attrName>ppt_y</p:attrName>
                                        </p:attrNameLst>
                                      </p:cBhvr>
                                      <p:tavLst>
                                        <p:tav tm="0">
                                          <p:val>
                                            <p:strVal val="ppt_y"/>
                                          </p:val>
                                        </p:tav>
                                        <p:tav tm="100000">
                                          <p:val>
                                            <p:strVal val="1+ppt_h/2"/>
                                          </p:val>
                                        </p:tav>
                                      </p:tavLst>
                                    </p:anim>
                                    <p:set>
                                      <p:cBhvr>
                                        <p:cTn id="32" dur="1" fill="hold">
                                          <p:stCondLst>
                                            <p:cond delay="499"/>
                                          </p:stCondLst>
                                        </p:cTn>
                                        <p:tgtEl>
                                          <p:spTgt spid="7"/>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additive="base">
                                        <p:cTn id="37" dur="500" fill="hold"/>
                                        <p:tgtEl>
                                          <p:spTgt spid="3"/>
                                        </p:tgtEl>
                                        <p:attrNameLst>
                                          <p:attrName>ppt_x</p:attrName>
                                        </p:attrNameLst>
                                      </p:cBhvr>
                                      <p:tavLst>
                                        <p:tav tm="0">
                                          <p:val>
                                            <p:strVal val="#ppt_x"/>
                                          </p:val>
                                        </p:tav>
                                        <p:tav tm="100000">
                                          <p:val>
                                            <p:strVal val="#ppt_x"/>
                                          </p:val>
                                        </p:tav>
                                      </p:tavLst>
                                    </p:anim>
                                    <p:anim calcmode="lin" valueType="num">
                                      <p:cBhvr additive="base">
                                        <p:cTn id="3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8" presetClass="emph" presetSubtype="0" fill="hold" nodeType="clickEffect">
                                  <p:stCondLst>
                                    <p:cond delay="0"/>
                                  </p:stCondLst>
                                  <p:iterate type="lt">
                                    <p:tmPct val="4000"/>
                                  </p:iterate>
                                  <p:childTnLst>
                                    <p:set>
                                      <p:cBhvr override="childStyle">
                                        <p:cTn id="42" dur="500" fill="hold"/>
                                        <p:tgtEl>
                                          <p:spTgt spid="677890">
                                            <p:txEl>
                                              <p:pRg st="6" end="6"/>
                                            </p:txEl>
                                          </p:spTgt>
                                        </p:tgtEl>
                                        <p:attrNameLst>
                                          <p:attrName>style.textDecorationUnderline</p:attrName>
                                        </p:attrNameLst>
                                      </p:cBhvr>
                                      <p:to>
                                        <p:strVal val="true"/>
                                      </p:to>
                                    </p:set>
                                  </p:childTnLst>
                                </p:cTn>
                              </p:par>
                            </p:childTnLst>
                          </p:cTn>
                        </p:par>
                      </p:childTnLst>
                    </p:cTn>
                  </p:par>
                  <p:par>
                    <p:cTn id="43" fill="hold">
                      <p:stCondLst>
                        <p:cond delay="indefinite"/>
                      </p:stCondLst>
                      <p:childTnLst>
                        <p:par>
                          <p:cTn id="44" fill="hold">
                            <p:stCondLst>
                              <p:cond delay="0"/>
                            </p:stCondLst>
                            <p:childTnLst>
                              <p:par>
                                <p:cTn id="45" presetID="18" presetClass="emph" presetSubtype="0" fill="hold" nodeType="clickEffect">
                                  <p:stCondLst>
                                    <p:cond delay="0"/>
                                  </p:stCondLst>
                                  <p:iterate type="lt">
                                    <p:tmPct val="4000"/>
                                  </p:iterate>
                                  <p:childTnLst>
                                    <p:set>
                                      <p:cBhvr override="childStyle">
                                        <p:cTn id="46" dur="500" fill="hold"/>
                                        <p:tgtEl>
                                          <p:spTgt spid="677890">
                                            <p:txEl>
                                              <p:pRg st="10" end="10"/>
                                            </p:txEl>
                                          </p:spTgt>
                                        </p:tgtEl>
                                        <p:attrNameLst>
                                          <p:attrName>style.textDecorationUnderline</p:attrName>
                                        </p:attrNameLst>
                                      </p:cBhvr>
                                      <p:to>
                                        <p:strVal val="true"/>
                                      </p:to>
                                    </p:set>
                                  </p:childTnLst>
                                </p:cTn>
                              </p:par>
                            </p:childTnLst>
                          </p:cTn>
                        </p:par>
                      </p:childTnLst>
                    </p:cTn>
                  </p:par>
                  <p:par>
                    <p:cTn id="47" fill="hold">
                      <p:stCondLst>
                        <p:cond delay="indefinite"/>
                      </p:stCondLst>
                      <p:childTnLst>
                        <p:par>
                          <p:cTn id="48" fill="hold">
                            <p:stCondLst>
                              <p:cond delay="0"/>
                            </p:stCondLst>
                            <p:childTnLst>
                              <p:par>
                                <p:cTn id="49" presetID="18" presetClass="emph" presetSubtype="0" fill="hold" nodeType="clickEffect">
                                  <p:stCondLst>
                                    <p:cond delay="0"/>
                                  </p:stCondLst>
                                  <p:iterate type="lt">
                                    <p:tmPct val="4000"/>
                                  </p:iterate>
                                  <p:childTnLst>
                                    <p:set>
                                      <p:cBhvr override="childStyle">
                                        <p:cTn id="50" dur="500" fill="hold"/>
                                        <p:tgtEl>
                                          <p:spTgt spid="677890">
                                            <p:txEl>
                                              <p:pRg st="0" end="0"/>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9" grpId="0" animBg="1"/>
      <p:bldP spid="3"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282" name="Rectangle 2"/>
          <p:cNvSpPr>
            <a:spLocks noGrp="1" noChangeArrowheads="1"/>
          </p:cNvSpPr>
          <p:nvPr>
            <p:ph type="title"/>
          </p:nvPr>
        </p:nvSpPr>
        <p:spPr>
          <a:xfrm>
            <a:off x="323850" y="188913"/>
            <a:ext cx="8591550" cy="576262"/>
          </a:xfrm>
        </p:spPr>
        <p:txBody>
          <a:bodyPr/>
          <a:lstStyle/>
          <a:p>
            <a:pPr eaLnBrk="1" hangingPunct="1">
              <a:lnSpc>
                <a:spcPct val="90000"/>
              </a:lnSpc>
              <a:defRPr/>
            </a:pPr>
            <a:r>
              <a:rPr lang="en-US" altLang="zh-CN" sz="3600" b="1" dirty="0">
                <a:solidFill>
                  <a:schemeClr val="tx1"/>
                </a:solidFill>
                <a:latin typeface="黑体" pitchFamily="2" charset="-122"/>
                <a:ea typeface="黑体" pitchFamily="2" charset="-122"/>
              </a:rPr>
              <a:t>6</a:t>
            </a:r>
            <a:r>
              <a:rPr lang="en-US" altLang="en-US" sz="3600" b="1" dirty="0">
                <a:solidFill>
                  <a:schemeClr val="tx1"/>
                </a:solidFill>
                <a:latin typeface="黑体" pitchFamily="2" charset="-122"/>
                <a:ea typeface="黑体" pitchFamily="2" charset="-122"/>
              </a:rPr>
              <a:t>.</a:t>
            </a:r>
            <a:r>
              <a:rPr lang="en-US" altLang="zh-CN" sz="3600" b="1" dirty="0">
                <a:solidFill>
                  <a:schemeClr val="tx1"/>
                </a:solidFill>
                <a:latin typeface="黑体" pitchFamily="2" charset="-122"/>
                <a:ea typeface="黑体" pitchFamily="2" charset="-122"/>
              </a:rPr>
              <a:t> </a:t>
            </a:r>
            <a:r>
              <a:rPr lang="zh-CN" altLang="en-US" sz="3600" b="1" dirty="0">
                <a:solidFill>
                  <a:schemeClr val="tx1"/>
                </a:solidFill>
                <a:latin typeface="黑体" pitchFamily="2" charset="-122"/>
                <a:ea typeface="黑体" pitchFamily="2" charset="-122"/>
              </a:rPr>
              <a:t>从链表中删除表元</a:t>
            </a:r>
          </a:p>
        </p:txBody>
      </p:sp>
      <p:sp>
        <p:nvSpPr>
          <p:cNvPr id="609283" name="Rectangle 3"/>
          <p:cNvSpPr>
            <a:spLocks noGrp="1" noChangeArrowheads="1"/>
          </p:cNvSpPr>
          <p:nvPr>
            <p:ph idx="1"/>
          </p:nvPr>
        </p:nvSpPr>
        <p:spPr>
          <a:xfrm>
            <a:off x="323850" y="1025525"/>
            <a:ext cx="8424863" cy="5356225"/>
          </a:xfrm>
        </p:spPr>
        <p:txBody>
          <a:bodyPr>
            <a:normAutofit/>
          </a:bodyPr>
          <a:lstStyle/>
          <a:p>
            <a:pPr marL="0" indent="0" algn="just" eaLnBrk="1" hangingPunct="1">
              <a:lnSpc>
                <a:spcPct val="135000"/>
              </a:lnSpc>
              <a:spcBef>
                <a:spcPct val="35000"/>
              </a:spcBef>
              <a:buFont typeface="Monotype Sorts" pitchFamily="2" charset="2"/>
              <a:buNone/>
              <a:defRPr/>
            </a:pPr>
            <a:r>
              <a:rPr lang="zh-CN" altLang="en-US" b="1" dirty="0">
                <a:latin typeface="楷体_GB2312" pitchFamily="49" charset="-122"/>
                <a:ea typeface="楷体_GB2312" pitchFamily="49" charset="-122"/>
              </a:rPr>
              <a:t>要将一表元从链表中删除，首先要在链表中查找该表元。若未找到，则不用做删除工作；</a:t>
            </a:r>
            <a:endParaRPr lang="en-US" altLang="zh-CN" b="1" dirty="0">
              <a:latin typeface="楷体_GB2312" pitchFamily="49" charset="-122"/>
              <a:ea typeface="楷体_GB2312" pitchFamily="49" charset="-122"/>
            </a:endParaRPr>
          </a:p>
          <a:p>
            <a:pPr marL="0" indent="0" algn="just" eaLnBrk="1" hangingPunct="1">
              <a:lnSpc>
                <a:spcPct val="135000"/>
              </a:lnSpc>
              <a:spcBef>
                <a:spcPct val="35000"/>
              </a:spcBef>
              <a:buFont typeface="Monotype Sorts" pitchFamily="2" charset="2"/>
              <a:buNone/>
              <a:defRPr/>
            </a:pPr>
            <a:r>
              <a:rPr lang="zh-CN" altLang="en-US" b="1" dirty="0">
                <a:latin typeface="楷体_GB2312" pitchFamily="49" charset="-122"/>
                <a:ea typeface="楷体_GB2312" pitchFamily="49" charset="-122"/>
              </a:rPr>
              <a:t>在删除时还要考虑两种不同的情况：</a:t>
            </a:r>
            <a:r>
              <a:rPr lang="zh-CN" altLang="en-US" b="1" dirty="0">
                <a:solidFill>
                  <a:srgbClr val="FF0000"/>
                </a:solidFill>
                <a:latin typeface="楷体_GB2312" pitchFamily="49" charset="-122"/>
                <a:ea typeface="楷体_GB2312" pitchFamily="49" charset="-122"/>
              </a:rPr>
              <a:t>如果删除的是首表元要修改链表头指针。如果删除的表元不是链表的首表元，则要更改删除表元的前驱表元的后继指针。</a:t>
            </a:r>
            <a:endParaRPr lang="en-US" altLang="zh-CN" b="1" dirty="0">
              <a:solidFill>
                <a:srgbClr val="FF0000"/>
              </a:solidFill>
              <a:latin typeface="楷体_GB2312" pitchFamily="49" charset="-122"/>
              <a:ea typeface="楷体_GB2312" pitchFamily="49" charset="-122"/>
            </a:endParaRPr>
          </a:p>
        </p:txBody>
      </p:sp>
      <p:sp>
        <p:nvSpPr>
          <p:cNvPr id="6" name="灯片编号占位符 5"/>
          <p:cNvSpPr>
            <a:spLocks noGrp="1"/>
          </p:cNvSpPr>
          <p:nvPr>
            <p:ph type="sldNum" sz="quarter" idx="12"/>
          </p:nvPr>
        </p:nvSpPr>
        <p:spPr/>
        <p:txBody>
          <a:bodyPr/>
          <a:lstStyle/>
          <a:p>
            <a:pPr>
              <a:defRPr/>
            </a:pPr>
            <a:fld id="{08887619-4712-4894-8F93-1DF8570FB88C}" type="slidenum">
              <a:rPr lang="en-US" altLang="zh-CN"/>
              <a:pPr>
                <a:defRPr/>
              </a:pPr>
              <a:t>85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09283">
                                            <p:txEl>
                                              <p:pRg st="1" end="1"/>
                                            </p:txEl>
                                          </p:spTgt>
                                        </p:tgtEl>
                                        <p:attrNameLst>
                                          <p:attrName>style.visibility</p:attrName>
                                        </p:attrNameLst>
                                      </p:cBhvr>
                                      <p:to>
                                        <p:strVal val="visible"/>
                                      </p:to>
                                    </p:set>
                                    <p:anim calcmode="lin" valueType="num">
                                      <p:cBhvr additive="base">
                                        <p:cTn id="7" dur="500" fill="hold"/>
                                        <p:tgtEl>
                                          <p:spTgt spid="60928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0928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Rectangle 2"/>
          <p:cNvSpPr>
            <a:spLocks noGrp="1" noChangeArrowheads="1"/>
          </p:cNvSpPr>
          <p:nvPr>
            <p:ph type="title"/>
          </p:nvPr>
        </p:nvSpPr>
        <p:spPr>
          <a:xfrm>
            <a:off x="323850" y="188913"/>
            <a:ext cx="8591550" cy="576262"/>
          </a:xfrm>
        </p:spPr>
        <p:txBody>
          <a:bodyPr>
            <a:noAutofit/>
          </a:bodyPr>
          <a:lstStyle/>
          <a:p>
            <a:pPr eaLnBrk="1" hangingPunct="1">
              <a:lnSpc>
                <a:spcPct val="90000"/>
              </a:lnSpc>
              <a:defRPr/>
            </a:pPr>
            <a:r>
              <a:rPr lang="zh-CN" altLang="en-US" sz="3600" b="1" dirty="0">
                <a:solidFill>
                  <a:schemeClr val="tx1"/>
                </a:solidFill>
                <a:latin typeface="黑体" pitchFamily="2" charset="-122"/>
                <a:ea typeface="黑体" pitchFamily="2" charset="-122"/>
              </a:rPr>
              <a:t>删除单链表的首表元 </a:t>
            </a:r>
          </a:p>
        </p:txBody>
      </p:sp>
      <p:sp>
        <p:nvSpPr>
          <p:cNvPr id="678915" name="Rectangle 3"/>
          <p:cNvSpPr>
            <a:spLocks noGrp="1" noChangeArrowheads="1"/>
          </p:cNvSpPr>
          <p:nvPr>
            <p:ph idx="1"/>
          </p:nvPr>
        </p:nvSpPr>
        <p:spPr>
          <a:xfrm>
            <a:off x="250825" y="836613"/>
            <a:ext cx="8642350" cy="5832475"/>
          </a:xfrm>
        </p:spPr>
        <p:txBody>
          <a:bodyPr/>
          <a:lstStyle/>
          <a:p>
            <a:pPr marL="0" indent="0" eaLnBrk="1" hangingPunct="1">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单链表的首表元删除后，首表元的后继表元成为新的首表元。删除时，</a:t>
            </a:r>
            <a:r>
              <a:rPr lang="zh-CN" altLang="en-US" sz="2400" b="1" dirty="0">
                <a:solidFill>
                  <a:srgbClr val="FF0000"/>
                </a:solidFill>
                <a:effectLst>
                  <a:outerShdw blurRad="38100" dist="38100" dir="2700000" algn="tl">
                    <a:srgbClr val="000000"/>
                  </a:outerShdw>
                </a:effectLst>
                <a:latin typeface="楷体_GB2312" pitchFamily="49" charset="-122"/>
                <a:ea typeface="楷体_GB2312" pitchFamily="49" charset="-122"/>
              </a:rPr>
              <a:t>首先</a:t>
            </a:r>
            <a:r>
              <a:rPr lang="zh-CN" altLang="en-US" sz="2400" b="1" dirty="0">
                <a:effectLst>
                  <a:outerShdw blurRad="38100" dist="38100" dir="2700000" algn="tl">
                    <a:srgbClr val="000000"/>
                  </a:outerShdw>
                </a:effectLst>
                <a:latin typeface="楷体_GB2312" pitchFamily="49" charset="-122"/>
                <a:ea typeface="楷体_GB2312" pitchFamily="49" charset="-122"/>
              </a:rPr>
              <a:t>将首表元的指针保存到</a:t>
            </a:r>
            <a:r>
              <a:rPr lang="en-US" altLang="zh-CN" sz="2400" b="1" dirty="0">
                <a:effectLst>
                  <a:outerShdw blurRad="38100" dist="38100" dir="2700000" algn="tl">
                    <a:srgbClr val="000000"/>
                  </a:outerShdw>
                </a:effectLst>
                <a:latin typeface="楷体_GB2312" pitchFamily="49" charset="-122"/>
                <a:ea typeface="楷体_GB2312" pitchFamily="49" charset="-122"/>
              </a:rPr>
              <a:t>p</a:t>
            </a:r>
            <a:r>
              <a:rPr lang="zh-CN" altLang="en-US" sz="2400" b="1" dirty="0">
                <a:effectLst>
                  <a:outerShdw blurRad="38100" dist="38100" dir="2700000" algn="tl">
                    <a:srgbClr val="000000"/>
                  </a:outerShdw>
                </a:effectLst>
                <a:latin typeface="楷体_GB2312" pitchFamily="49" charset="-122"/>
                <a:ea typeface="楷体_GB2312" pitchFamily="49" charset="-122"/>
              </a:rPr>
              <a:t>。如果单链表不是空链表，</a:t>
            </a:r>
            <a:r>
              <a:rPr lang="zh-CN" altLang="en-US" sz="2400" b="1" dirty="0">
                <a:solidFill>
                  <a:srgbClr val="FF0000"/>
                </a:solidFill>
                <a:effectLst>
                  <a:outerShdw blurRad="38100" dist="38100" dir="2700000" algn="tl">
                    <a:srgbClr val="000000"/>
                  </a:outerShdw>
                </a:effectLst>
                <a:latin typeface="楷体_GB2312" pitchFamily="49" charset="-122"/>
                <a:ea typeface="楷体_GB2312" pitchFamily="49" charset="-122"/>
              </a:rPr>
              <a:t>继续</a:t>
            </a:r>
            <a:r>
              <a:rPr lang="zh-CN" altLang="en-US" sz="2400" b="1" dirty="0">
                <a:effectLst>
                  <a:outerShdw blurRad="38100" dist="38100" dir="2700000" algn="tl">
                    <a:srgbClr val="000000"/>
                  </a:outerShdw>
                </a:effectLst>
                <a:latin typeface="楷体_GB2312" pitchFamily="49" charset="-122"/>
                <a:ea typeface="楷体_GB2312" pitchFamily="49" charset="-122"/>
              </a:rPr>
              <a:t>要做的工作包括让链表的头指针指向首表元的后继表元，使这个后继表元成为单链表新的首表元。</a:t>
            </a:r>
            <a:r>
              <a:rPr lang="zh-CN" altLang="en-US" sz="2400" b="1" dirty="0">
                <a:solidFill>
                  <a:srgbClr val="FF0000"/>
                </a:solidFill>
                <a:effectLst>
                  <a:outerShdw blurRad="38100" dist="38100" dir="2700000" algn="tl">
                    <a:srgbClr val="000000"/>
                  </a:outerShdw>
                </a:effectLst>
                <a:latin typeface="楷体_GB2312" pitchFamily="49" charset="-122"/>
                <a:ea typeface="楷体_GB2312" pitchFamily="49" charset="-122"/>
              </a:rPr>
              <a:t>最后</a:t>
            </a:r>
            <a:r>
              <a:rPr lang="zh-CN" altLang="en-US" sz="2400" b="1" dirty="0">
                <a:effectLst>
                  <a:outerShdw blurRad="38100" dist="38100" dir="2700000" algn="tl">
                    <a:srgbClr val="000000"/>
                  </a:outerShdw>
                </a:effectLst>
                <a:latin typeface="楷体_GB2312" pitchFamily="49" charset="-122"/>
                <a:ea typeface="楷体_GB2312" pitchFamily="49" charset="-122"/>
              </a:rPr>
              <a:t>将从单链表删除下来的表元的后继指针置成</a:t>
            </a:r>
            <a:r>
              <a:rPr lang="en-US" altLang="zh-CN" sz="2400" b="1" dirty="0">
                <a:effectLst>
                  <a:outerShdw blurRad="38100" dist="38100" dir="2700000" algn="tl">
                    <a:srgbClr val="000000"/>
                  </a:outerShdw>
                </a:effectLst>
                <a:latin typeface="楷体_GB2312" pitchFamily="49" charset="-122"/>
                <a:ea typeface="楷体_GB2312" pitchFamily="49" charset="-122"/>
              </a:rPr>
              <a:t>NULL</a:t>
            </a:r>
            <a:r>
              <a:rPr lang="zh-CN" altLang="en-US" sz="2400" b="1" dirty="0">
                <a:effectLst>
                  <a:outerShdw blurRad="38100" dist="38100" dir="2700000" algn="tl">
                    <a:srgbClr val="000000"/>
                  </a:outerShdw>
                </a:effectLst>
                <a:latin typeface="楷体_GB2312" pitchFamily="49" charset="-122"/>
                <a:ea typeface="楷体_GB2312" pitchFamily="49" charset="-122"/>
              </a:rPr>
              <a:t>，使它与原单链表脱离联系。</a:t>
            </a:r>
          </a:p>
          <a:p>
            <a:pPr marL="0" indent="0" eaLnBrk="1" hangingPunct="1">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 </a:t>
            </a:r>
            <a:endParaRPr lang="en-US" altLang="zh-CN" sz="2400" b="1" dirty="0">
              <a:effectLst>
                <a:outerShdw blurRad="38100" dist="38100" dir="2700000" algn="tl">
                  <a:srgbClr val="000000"/>
                </a:outerShdw>
              </a:effectLst>
              <a:latin typeface="楷体_GB2312" pitchFamily="49" charset="-122"/>
              <a:ea typeface="楷体_GB2312" pitchFamily="49" charset="-122"/>
            </a:endParaRPr>
          </a:p>
          <a:p>
            <a:pPr marL="0" indent="0" eaLnBrk="1" hangingPunct="1">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p = head;/* </a:t>
            </a:r>
            <a:r>
              <a:rPr lang="zh-CN" altLang="en-US" sz="2400" b="1" dirty="0">
                <a:effectLst>
                  <a:outerShdw blurRad="38100" dist="38100" dir="2700000" algn="tl">
                    <a:srgbClr val="000000"/>
                  </a:outerShdw>
                </a:effectLst>
                <a:latin typeface="楷体_GB2312" pitchFamily="49" charset="-122"/>
                <a:ea typeface="楷体_GB2312" pitchFamily="49" charset="-122"/>
              </a:rPr>
              <a:t>将首表元的指针保存到某指针变量*</a:t>
            </a:r>
            <a:r>
              <a:rPr lang="en-US" altLang="zh-CN" sz="2400" b="1" dirty="0">
                <a:effectLst>
                  <a:outerShdw blurRad="38100" dist="38100" dir="2700000" algn="tl">
                    <a:srgbClr val="000000"/>
                  </a:outerShdw>
                </a:effectLst>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if(p) {//</a:t>
            </a:r>
            <a:r>
              <a:rPr lang="zh-CN" altLang="en-US" sz="2400" b="1" dirty="0">
                <a:effectLst>
                  <a:outerShdw blurRad="38100" dist="38100" dir="2700000" algn="tl">
                    <a:srgbClr val="000000"/>
                  </a:outerShdw>
                </a:effectLst>
                <a:latin typeface="楷体_GB2312" pitchFamily="49" charset="-122"/>
                <a:ea typeface="楷体_GB2312" pitchFamily="49" charset="-122"/>
              </a:rPr>
              <a:t>如果有首表元</a:t>
            </a:r>
          </a:p>
          <a:p>
            <a:pPr marL="0" indent="0" eaLnBrk="1" hangingPunct="1">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   </a:t>
            </a:r>
            <a:r>
              <a:rPr lang="en-US" altLang="zh-CN" sz="2400" b="1" dirty="0">
                <a:effectLst>
                  <a:outerShdw blurRad="38100" dist="38100" dir="2700000" algn="tl">
                    <a:srgbClr val="000000"/>
                  </a:outerShdw>
                </a:effectLst>
                <a:latin typeface="楷体_GB2312" pitchFamily="49" charset="-122"/>
                <a:ea typeface="楷体_GB2312" pitchFamily="49" charset="-122"/>
              </a:rPr>
              <a:t>head = head-&gt;next;//</a:t>
            </a:r>
            <a:r>
              <a:rPr lang="zh-CN" altLang="en-US" sz="2400" b="1" dirty="0">
                <a:effectLst>
                  <a:outerShdw blurRad="38100" dist="38100" dir="2700000" algn="tl">
                    <a:srgbClr val="000000"/>
                  </a:outerShdw>
                </a:effectLst>
                <a:latin typeface="楷体_GB2312" pitchFamily="49" charset="-122"/>
                <a:ea typeface="楷体_GB2312" pitchFamily="49" charset="-122"/>
              </a:rPr>
              <a:t>头指针指向首表元的后继表元</a:t>
            </a:r>
          </a:p>
          <a:p>
            <a:pPr marL="0" indent="0" eaLnBrk="1" hangingPunct="1">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   </a:t>
            </a:r>
            <a:r>
              <a:rPr lang="en-US" altLang="zh-CN" sz="2400" b="1" dirty="0">
                <a:effectLst>
                  <a:outerShdw blurRad="38100" dist="38100" dir="2700000" algn="tl">
                    <a:srgbClr val="000000"/>
                  </a:outerShdw>
                </a:effectLst>
                <a:latin typeface="楷体_GB2312" pitchFamily="49" charset="-122"/>
                <a:ea typeface="楷体_GB2312" pitchFamily="49" charset="-122"/>
              </a:rPr>
              <a:t>p-&gt;next = NULL;/* </a:t>
            </a:r>
            <a:r>
              <a:rPr lang="zh-CN" altLang="en-US" sz="2400" b="1" dirty="0">
                <a:effectLst>
                  <a:outerShdw blurRad="38100" dist="38100" dir="2700000" algn="tl">
                    <a:srgbClr val="000000"/>
                  </a:outerShdw>
                </a:effectLst>
                <a:latin typeface="楷体_GB2312" pitchFamily="49" charset="-122"/>
                <a:ea typeface="楷体_GB2312" pitchFamily="49" charset="-122"/>
              </a:rPr>
              <a:t>删除表元与原单链表脱离联系*</a:t>
            </a:r>
            <a:r>
              <a:rPr lang="en-US" altLang="zh-CN" sz="2400" b="1" dirty="0">
                <a:effectLst>
                  <a:outerShdw blurRad="38100" dist="38100" dir="2700000" algn="tl">
                    <a:srgbClr val="000000"/>
                  </a:outerShdw>
                </a:effectLst>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a:t>
            </a:r>
            <a:r>
              <a:rPr lang="en-US" altLang="zh-CN" sz="2400" dirty="0">
                <a:latin typeface="楷体_GB2312" pitchFamily="49" charset="-122"/>
                <a:ea typeface="楷体_GB2312" pitchFamily="49" charset="-122"/>
              </a:rPr>
              <a:t> </a:t>
            </a:r>
          </a:p>
        </p:txBody>
      </p:sp>
      <p:sp>
        <p:nvSpPr>
          <p:cNvPr id="6" name="灯片编号占位符 5"/>
          <p:cNvSpPr>
            <a:spLocks noGrp="1"/>
          </p:cNvSpPr>
          <p:nvPr>
            <p:ph type="sldNum" sz="quarter" idx="12"/>
          </p:nvPr>
        </p:nvSpPr>
        <p:spPr/>
        <p:txBody>
          <a:bodyPr/>
          <a:lstStyle/>
          <a:p>
            <a:pPr>
              <a:defRPr/>
            </a:pPr>
            <a:fld id="{AE17B0BE-CA82-41B1-B6DF-B5CB88394579}" type="slidenum">
              <a:rPr lang="en-US" altLang="zh-CN"/>
              <a:pPr>
                <a:defRPr/>
              </a:pPr>
              <a:t>86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78915">
                                            <p:txEl>
                                              <p:pRg st="1" end="1"/>
                                            </p:txEl>
                                          </p:spTgt>
                                        </p:tgtEl>
                                        <p:attrNameLst>
                                          <p:attrName>style.visibility</p:attrName>
                                        </p:attrNameLst>
                                      </p:cBhvr>
                                      <p:to>
                                        <p:strVal val="visible"/>
                                      </p:to>
                                    </p:set>
                                    <p:anim calcmode="lin" valueType="num">
                                      <p:cBhvr additive="base">
                                        <p:cTn id="7" dur="500" fill="hold"/>
                                        <p:tgtEl>
                                          <p:spTgt spid="67891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789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78915">
                                            <p:txEl>
                                              <p:pRg st="2" end="2"/>
                                            </p:txEl>
                                          </p:spTgt>
                                        </p:tgtEl>
                                        <p:attrNameLst>
                                          <p:attrName>style.visibility</p:attrName>
                                        </p:attrNameLst>
                                      </p:cBhvr>
                                      <p:to>
                                        <p:strVal val="visible"/>
                                      </p:to>
                                    </p:set>
                                    <p:anim calcmode="lin" valueType="num">
                                      <p:cBhvr additive="base">
                                        <p:cTn id="13" dur="500" fill="hold"/>
                                        <p:tgtEl>
                                          <p:spTgt spid="67891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78915">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678915">
                                            <p:txEl>
                                              <p:pRg st="3" end="3"/>
                                            </p:txEl>
                                          </p:spTgt>
                                        </p:tgtEl>
                                        <p:attrNameLst>
                                          <p:attrName>style.visibility</p:attrName>
                                        </p:attrNameLst>
                                      </p:cBhvr>
                                      <p:to>
                                        <p:strVal val="visible"/>
                                      </p:to>
                                    </p:set>
                                    <p:anim calcmode="lin" valueType="num">
                                      <p:cBhvr additive="base">
                                        <p:cTn id="17" dur="500" fill="hold"/>
                                        <p:tgtEl>
                                          <p:spTgt spid="678915">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78915">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678915">
                                            <p:txEl>
                                              <p:pRg st="4" end="4"/>
                                            </p:txEl>
                                          </p:spTgt>
                                        </p:tgtEl>
                                        <p:attrNameLst>
                                          <p:attrName>style.visibility</p:attrName>
                                        </p:attrNameLst>
                                      </p:cBhvr>
                                      <p:to>
                                        <p:strVal val="visible"/>
                                      </p:to>
                                    </p:set>
                                    <p:anim calcmode="lin" valueType="num">
                                      <p:cBhvr additive="base">
                                        <p:cTn id="21" dur="500" fill="hold"/>
                                        <p:tgtEl>
                                          <p:spTgt spid="678915">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78915">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78915">
                                            <p:txEl>
                                              <p:pRg st="5" end="5"/>
                                            </p:txEl>
                                          </p:spTgt>
                                        </p:tgtEl>
                                        <p:attrNameLst>
                                          <p:attrName>style.visibility</p:attrName>
                                        </p:attrNameLst>
                                      </p:cBhvr>
                                      <p:to>
                                        <p:strVal val="visible"/>
                                      </p:to>
                                    </p:set>
                                    <p:anim calcmode="lin" valueType="num">
                                      <p:cBhvr additive="base">
                                        <p:cTn id="25" dur="500" fill="hold"/>
                                        <p:tgtEl>
                                          <p:spTgt spid="678915">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78915">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78915">
                                            <p:txEl>
                                              <p:pRg st="6" end="6"/>
                                            </p:txEl>
                                          </p:spTgt>
                                        </p:tgtEl>
                                        <p:attrNameLst>
                                          <p:attrName>style.visibility</p:attrName>
                                        </p:attrNameLst>
                                      </p:cBhvr>
                                      <p:to>
                                        <p:strVal val="visible"/>
                                      </p:to>
                                    </p:set>
                                    <p:anim calcmode="lin" valueType="num">
                                      <p:cBhvr additive="base">
                                        <p:cTn id="29" dur="500" fill="hold"/>
                                        <p:tgtEl>
                                          <p:spTgt spid="678915">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7891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5EBE79BE-40A8-4AE3-813F-00A0537CC410}" type="slidenum">
              <a:rPr lang="en-US" altLang="zh-CN"/>
              <a:pPr>
                <a:defRPr/>
              </a:pPr>
              <a:t>87</a:t>
            </a:fld>
            <a:endParaRPr lang="en-US" altLang="zh-CN"/>
          </a:p>
        </p:txBody>
      </p:sp>
      <p:sp>
        <p:nvSpPr>
          <p:cNvPr id="6148" name="Rectangle 5"/>
          <p:cNvSpPr>
            <a:spLocks noChangeArrowheads="1"/>
          </p:cNvSpPr>
          <p:nvPr/>
        </p:nvSpPr>
        <p:spPr bwMode="auto">
          <a:xfrm>
            <a:off x="0" y="28051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146" name="Object 4"/>
          <p:cNvGraphicFramePr>
            <a:graphicFrameLocks noChangeAspect="1"/>
          </p:cNvGraphicFramePr>
          <p:nvPr/>
        </p:nvGraphicFramePr>
        <p:xfrm>
          <a:off x="900113" y="1268413"/>
          <a:ext cx="7200900" cy="2784475"/>
        </p:xfrm>
        <a:graphic>
          <a:graphicData uri="http://schemas.openxmlformats.org/presentationml/2006/ole">
            <mc:AlternateContent xmlns:mc="http://schemas.openxmlformats.org/markup-compatibility/2006">
              <mc:Choice xmlns:v="urn:schemas-microsoft-com:vml" Requires="v">
                <p:oleObj name="Visio" r:id="rId2" imgW="7214006" imgH="2643835" progId="">
                  <p:embed/>
                </p:oleObj>
              </mc:Choice>
              <mc:Fallback>
                <p:oleObj name="Visio" r:id="rId2" imgW="7214006" imgH="2643835" progId="">
                  <p:embed/>
                  <p:pic>
                    <p:nvPicPr>
                      <p:cNvPr id="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268413"/>
                        <a:ext cx="7200900" cy="2784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79942" name="Text Box 6"/>
          <p:cNvSpPr txBox="1">
            <a:spLocks noChangeArrowheads="1"/>
          </p:cNvSpPr>
          <p:nvPr/>
        </p:nvSpPr>
        <p:spPr bwMode="auto">
          <a:xfrm>
            <a:off x="1600200" y="4416425"/>
            <a:ext cx="5556250" cy="396875"/>
          </a:xfrm>
          <a:prstGeom prst="rect">
            <a:avLst/>
          </a:prstGeom>
          <a:noFill/>
          <a:ln w="9525">
            <a:noFill/>
            <a:miter lim="800000"/>
            <a:headEnd/>
            <a:tailEnd/>
          </a:ln>
          <a:effectLst/>
        </p:spPr>
        <p:txBody>
          <a:bodyPr wrap="none">
            <a:spAutoFit/>
          </a:bodyPr>
          <a:lstStyle/>
          <a:p>
            <a:pPr>
              <a:defRPr/>
            </a:pPr>
            <a:r>
              <a:rPr lang="zh-CN" altLang="en-US" sz="2000" b="1" dirty="0">
                <a:latin typeface="楷体_GB2312" pitchFamily="49" charset="-122"/>
                <a:ea typeface="楷体_GB2312" pitchFamily="49" charset="-122"/>
              </a:rPr>
              <a:t>图</a:t>
            </a:r>
            <a:r>
              <a:rPr lang="en-US" altLang="zh-CN" sz="2000" b="1" dirty="0">
                <a:latin typeface="楷体_GB2312" pitchFamily="49" charset="-122"/>
                <a:ea typeface="楷体_GB2312" pitchFamily="49" charset="-122"/>
              </a:rPr>
              <a:t>7-8 </a:t>
            </a:r>
            <a:r>
              <a:rPr lang="zh-CN" altLang="en-US" sz="2000" b="1" dirty="0">
                <a:latin typeface="楷体_GB2312" pitchFamily="49" charset="-122"/>
                <a:ea typeface="楷体_GB2312" pitchFamily="49" charset="-122"/>
              </a:rPr>
              <a:t>删除链表首表元，删除前后状态变化图 </a:t>
            </a:r>
          </a:p>
        </p:txBody>
      </p:sp>
      <p:cxnSp>
        <p:nvCxnSpPr>
          <p:cNvPr id="8" name="Curved Connector 7"/>
          <p:cNvCxnSpPr/>
          <p:nvPr/>
        </p:nvCxnSpPr>
        <p:spPr>
          <a:xfrm rot="5400000" flipH="1" flipV="1">
            <a:off x="2071670" y="2428868"/>
            <a:ext cx="785818" cy="785818"/>
          </a:xfrm>
          <a:prstGeom prst="curvedConnector3">
            <a:avLst>
              <a:gd name="adj1" fmla="val 50000"/>
            </a:avLst>
          </a:prstGeom>
          <a:ln w="19050" cmpd="sng">
            <a:tailEnd type="arrow"/>
          </a:ln>
        </p:spPr>
        <p:style>
          <a:lnRef idx="1">
            <a:schemeClr val="accent1"/>
          </a:lnRef>
          <a:fillRef idx="0">
            <a:schemeClr val="accent1"/>
          </a:fillRef>
          <a:effectRef idx="0">
            <a:schemeClr val="accent1"/>
          </a:effectRef>
          <a:fontRef idx="minor">
            <a:schemeClr val="tx1"/>
          </a:fontRef>
        </p:style>
      </p:cxnSp>
      <p:sp>
        <p:nvSpPr>
          <p:cNvPr id="15" name="Freeform 14"/>
          <p:cNvSpPr/>
          <p:nvPr/>
        </p:nvSpPr>
        <p:spPr>
          <a:xfrm>
            <a:off x="1756229" y="861181"/>
            <a:ext cx="3106057" cy="851505"/>
          </a:xfrm>
          <a:custGeom>
            <a:avLst/>
            <a:gdLst>
              <a:gd name="connsiteX0" fmla="*/ 0 w 3106057"/>
              <a:gd name="connsiteY0" fmla="*/ 851505 h 851505"/>
              <a:gd name="connsiteX1" fmla="*/ 1407885 w 3106057"/>
              <a:gd name="connsiteY1" fmla="*/ 9676 h 851505"/>
              <a:gd name="connsiteX2" fmla="*/ 3106057 w 3106057"/>
              <a:gd name="connsiteY2" fmla="*/ 793448 h 851505"/>
            </a:gdLst>
            <a:ahLst/>
            <a:cxnLst>
              <a:cxn ang="0">
                <a:pos x="connsiteX0" y="connsiteY0"/>
              </a:cxn>
              <a:cxn ang="0">
                <a:pos x="connsiteX1" y="connsiteY1"/>
              </a:cxn>
              <a:cxn ang="0">
                <a:pos x="connsiteX2" y="connsiteY2"/>
              </a:cxn>
            </a:cxnLst>
            <a:rect l="l" t="t" r="r" b="b"/>
            <a:pathLst>
              <a:path w="3106057" h="851505">
                <a:moveTo>
                  <a:pt x="0" y="851505"/>
                </a:moveTo>
                <a:cubicBezTo>
                  <a:pt x="445104" y="435428"/>
                  <a:pt x="890209" y="19352"/>
                  <a:pt x="1407885" y="9676"/>
                </a:cubicBezTo>
                <a:cubicBezTo>
                  <a:pt x="1925561" y="0"/>
                  <a:pt x="2515809" y="396724"/>
                  <a:pt x="3106057" y="793448"/>
                </a:cubicBezTo>
              </a:path>
            </a:pathLst>
          </a:cu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TextBox 15"/>
          <p:cNvSpPr txBox="1"/>
          <p:nvPr/>
        </p:nvSpPr>
        <p:spPr>
          <a:xfrm>
            <a:off x="3643306" y="1857364"/>
            <a:ext cx="357190" cy="461665"/>
          </a:xfrm>
          <a:prstGeom prst="rect">
            <a:avLst/>
          </a:prstGeom>
          <a:solidFill>
            <a:schemeClr val="bg1"/>
          </a:solidFill>
        </p:spPr>
        <p:txBody>
          <a:bodyPr wrap="square" rtlCol="0">
            <a:spAutoFit/>
          </a:bodyPr>
          <a:lstStyle/>
          <a:p>
            <a:endParaRPr lang="zh-CN" altLang="en-US" dirty="0"/>
          </a:p>
        </p:txBody>
      </p:sp>
      <p:graphicFrame>
        <p:nvGraphicFramePr>
          <p:cNvPr id="6147" name="Object 3"/>
          <p:cNvGraphicFramePr>
            <a:graphicFrameLocks noChangeAspect="1"/>
          </p:cNvGraphicFramePr>
          <p:nvPr/>
        </p:nvGraphicFramePr>
        <p:xfrm>
          <a:off x="1714480" y="1928802"/>
          <a:ext cx="1196975" cy="185738"/>
        </p:xfrm>
        <a:graphic>
          <a:graphicData uri="http://schemas.openxmlformats.org/presentationml/2006/ole">
            <mc:AlternateContent xmlns:mc="http://schemas.openxmlformats.org/markup-compatibility/2006">
              <mc:Choice xmlns:v="urn:schemas-microsoft-com:vml" Requires="v">
                <p:oleObj name="Visio" r:id="rId4" imgW="1196340" imgH="185318" progId="">
                  <p:embed/>
                </p:oleObj>
              </mc:Choice>
              <mc:Fallback>
                <p:oleObj name="Visio" r:id="rId4" imgW="1196340" imgH="185318" progId="">
                  <p:embed/>
                  <p:pic>
                    <p:nvPicPr>
                      <p:cNvPr id="0"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14480" y="1928802"/>
                        <a:ext cx="1196975" cy="185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 name="Object 4"/>
          <p:cNvGraphicFramePr>
            <a:graphicFrameLocks noChangeAspect="1"/>
          </p:cNvGraphicFramePr>
          <p:nvPr/>
        </p:nvGraphicFramePr>
        <p:xfrm>
          <a:off x="3857620" y="1928802"/>
          <a:ext cx="839785" cy="185737"/>
        </p:xfrm>
        <a:graphic>
          <a:graphicData uri="http://schemas.openxmlformats.org/presentationml/2006/ole">
            <mc:AlternateContent xmlns:mc="http://schemas.openxmlformats.org/markup-compatibility/2006">
              <mc:Choice xmlns:v="urn:schemas-microsoft-com:vml" Requires="v">
                <p:oleObj name="Visio" r:id="rId4" imgW="1196340" imgH="185318" progId="">
                  <p:embed/>
                </p:oleObj>
              </mc:Choice>
              <mc:Fallback>
                <p:oleObj name="Visio" r:id="rId4" imgW="1196340" imgH="185318" progId="">
                  <p:embed/>
                  <p:pic>
                    <p:nvPicPr>
                      <p:cNvPr id="0"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7620" y="1928802"/>
                        <a:ext cx="839785" cy="185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文本框 2"/>
          <p:cNvSpPr txBox="1"/>
          <p:nvPr/>
        </p:nvSpPr>
        <p:spPr>
          <a:xfrm>
            <a:off x="1952232" y="5211989"/>
            <a:ext cx="5820108" cy="1446550"/>
          </a:xfrm>
          <a:prstGeom prst="rect">
            <a:avLst/>
          </a:prstGeom>
          <a:noFill/>
        </p:spPr>
        <p:txBody>
          <a:bodyPr wrap="square" rtlCol="0">
            <a:spAutoFit/>
          </a:bodyPr>
          <a:lstStyle/>
          <a:p>
            <a:r>
              <a:rPr lang="zh-CN" altLang="en-US" sz="2000" b="1" dirty="0">
                <a:latin typeface="楷体_GB2312" pitchFamily="49" charset="-122"/>
                <a:ea typeface="楷体_GB2312" pitchFamily="49" charset="-122"/>
              </a:rPr>
              <a:t>注意三句话的顺序</a:t>
            </a:r>
            <a:r>
              <a:rPr lang="zh-CN" altLang="en-US" sz="2000" b="1" dirty="0">
                <a:solidFill>
                  <a:srgbClr val="FF0000"/>
                </a:solidFill>
                <a:latin typeface="楷体_GB2312" pitchFamily="49" charset="-122"/>
                <a:ea typeface="楷体_GB2312" pitchFamily="49" charset="-122"/>
              </a:rPr>
              <a:t>不可以变</a:t>
            </a:r>
            <a:endParaRPr lang="en-US" altLang="zh-CN" sz="2000" b="1" dirty="0">
              <a:solidFill>
                <a:srgbClr val="FF0000"/>
              </a:solidFill>
              <a:latin typeface="楷体_GB2312" pitchFamily="49" charset="-122"/>
              <a:ea typeface="楷体_GB2312" pitchFamily="49" charset="-122"/>
            </a:endParaRPr>
          </a:p>
          <a:p>
            <a:endParaRPr lang="en-US" altLang="zh-CN" dirty="0">
              <a:solidFill>
                <a:srgbClr val="FF0000"/>
              </a:solidFill>
            </a:endParaRPr>
          </a:p>
          <a:p>
            <a:r>
              <a:rPr lang="en-US" altLang="zh-CN" sz="2000" b="1" dirty="0">
                <a:latin typeface="楷体_GB2312" pitchFamily="49" charset="-122"/>
                <a:ea typeface="楷体_GB2312" pitchFamily="49" charset="-122"/>
              </a:rPr>
              <a:t>(2)</a:t>
            </a:r>
            <a:r>
              <a:rPr lang="zh-CN" altLang="en-US" sz="2000" b="1" dirty="0">
                <a:latin typeface="楷体_GB2312" pitchFamily="49" charset="-122"/>
                <a:ea typeface="楷体_GB2312" pitchFamily="49" charset="-122"/>
              </a:rPr>
              <a:t>有其他的写法：</a:t>
            </a:r>
            <a:r>
              <a:rPr lang="en-US" altLang="zh-CN" sz="2000" b="1" dirty="0">
                <a:latin typeface="楷体_GB2312" pitchFamily="49" charset="-122"/>
                <a:ea typeface="楷体_GB2312" pitchFamily="49" charset="-122"/>
              </a:rPr>
              <a:t> head = head-&gt;next</a:t>
            </a:r>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614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2"/>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 calcmode="lin" valueType="num">
                                      <p:cBhvr additive="base">
                                        <p:cTn id="2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 calcmode="lin" valueType="num">
                                      <p:cBhvr additive="base">
                                        <p:cTn id="2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2"/>
          <p:cNvSpPr>
            <a:spLocks noGrp="1" noChangeArrowheads="1"/>
          </p:cNvSpPr>
          <p:nvPr>
            <p:ph type="title"/>
          </p:nvPr>
        </p:nvSpPr>
        <p:spPr>
          <a:xfrm>
            <a:off x="285720" y="285728"/>
            <a:ext cx="8229600" cy="714372"/>
          </a:xfrm>
        </p:spPr>
        <p:txBody>
          <a:bodyPr/>
          <a:lstStyle/>
          <a:p>
            <a:pPr eaLnBrk="1" hangingPunct="1"/>
            <a:r>
              <a:rPr lang="zh-CN" altLang="en-US" sz="3600" b="1" dirty="0">
                <a:solidFill>
                  <a:schemeClr val="tx1"/>
                </a:solidFill>
                <a:latin typeface="黑体" pitchFamily="2" charset="-122"/>
                <a:ea typeface="黑体" pitchFamily="2" charset="-122"/>
              </a:rPr>
              <a:t>删除单链表中的某表元</a:t>
            </a:r>
            <a:endParaRPr lang="zh-CN" altLang="en-US" b="1" dirty="0">
              <a:solidFill>
                <a:schemeClr val="tx1"/>
              </a:solidFill>
              <a:latin typeface="黑体" pitchFamily="2" charset="-122"/>
              <a:ea typeface="黑体" pitchFamily="2" charset="-122"/>
            </a:endParaRPr>
          </a:p>
        </p:txBody>
      </p:sp>
      <p:sp>
        <p:nvSpPr>
          <p:cNvPr id="680963" name="Rectangle 3"/>
          <p:cNvSpPr>
            <a:spLocks noGrp="1" noChangeArrowheads="1"/>
          </p:cNvSpPr>
          <p:nvPr>
            <p:ph idx="1"/>
          </p:nvPr>
        </p:nvSpPr>
        <p:spPr>
          <a:xfrm>
            <a:off x="285720" y="1214422"/>
            <a:ext cx="8304212" cy="5400675"/>
          </a:xfrm>
        </p:spPr>
        <p:txBody>
          <a:bodyPr/>
          <a:lstStyle/>
          <a:p>
            <a:pPr marL="0" indent="0" eaLnBrk="1" hangingPunct="1">
              <a:buFont typeface="Monotype Sorts" pitchFamily="2" charset="2"/>
              <a:buNone/>
              <a:defRPr/>
            </a:pPr>
            <a:r>
              <a:rPr lang="zh-CN" altLang="en-US" sz="2400" b="1" dirty="0">
                <a:latin typeface="楷体_GB2312" pitchFamily="49" charset="-122"/>
                <a:ea typeface="楷体_GB2312" pitchFamily="49" charset="-122"/>
              </a:rPr>
              <a:t>在单链表中，表元的前驱表元是不能直接引用的，但要删除一个表元必须更新它的前驱表元的后继指针。所以，一般情况下，</a:t>
            </a:r>
            <a:r>
              <a:rPr lang="zh-CN" altLang="en-US" sz="2400" b="1" dirty="0">
                <a:solidFill>
                  <a:srgbClr val="FF0000"/>
                </a:solidFill>
                <a:latin typeface="楷体_GB2312" pitchFamily="49" charset="-122"/>
                <a:ea typeface="楷体_GB2312" pitchFamily="49" charset="-122"/>
              </a:rPr>
              <a:t>在表元删除前，必须知道该表元的前驱表元指针</a:t>
            </a:r>
            <a:r>
              <a:rPr lang="zh-CN" altLang="en-US" sz="2400" b="1" dirty="0">
                <a:latin typeface="楷体_GB2312" pitchFamily="49" charset="-122"/>
                <a:ea typeface="楷体_GB2312" pitchFamily="49" charset="-122"/>
              </a:rPr>
              <a:t>。</a:t>
            </a:r>
            <a:endParaRPr lang="en-US" altLang="zh-CN" sz="2400" b="1" dirty="0">
              <a:latin typeface="楷体_GB2312" pitchFamily="49" charset="-122"/>
              <a:ea typeface="楷体_GB2312" pitchFamily="49" charset="-122"/>
            </a:endParaRPr>
          </a:p>
          <a:p>
            <a:pPr marL="0" indent="0" eaLnBrk="1" hangingPunct="1">
              <a:buFont typeface="Monotype Sorts" pitchFamily="2" charset="2"/>
              <a:buNone/>
              <a:defRPr/>
            </a:pPr>
            <a:endParaRPr lang="en-US" altLang="zh-CN" sz="2400" b="1" dirty="0">
              <a:latin typeface="楷体_GB2312" pitchFamily="49" charset="-122"/>
              <a:ea typeface="楷体_GB2312" pitchFamily="49" charset="-122"/>
            </a:endParaRPr>
          </a:p>
          <a:p>
            <a:pPr marL="0" indent="0">
              <a:buNone/>
              <a:defRPr/>
            </a:pPr>
            <a:r>
              <a:rPr lang="zh-CN" altLang="en-US" sz="2400" b="1" dirty="0">
                <a:latin typeface="楷体_GB2312" pitchFamily="49" charset="-122"/>
                <a:ea typeface="楷体_GB2312" pitchFamily="49" charset="-122"/>
              </a:rPr>
              <a:t>假设要删除表元的</a:t>
            </a:r>
            <a:r>
              <a:rPr lang="zh-CN" altLang="en-US" sz="2400" b="1" dirty="0">
                <a:solidFill>
                  <a:srgbClr val="FF0000"/>
                </a:solidFill>
                <a:latin typeface="楷体_GB2312" pitchFamily="49" charset="-122"/>
                <a:ea typeface="楷体_GB2312" pitchFamily="49" charset="-122"/>
              </a:rPr>
              <a:t>前驱表元的指针是</a:t>
            </a:r>
            <a:r>
              <a:rPr lang="en-US" altLang="zh-CN" sz="2400" b="1" dirty="0">
                <a:solidFill>
                  <a:srgbClr val="FF0000"/>
                </a:solidFill>
                <a:latin typeface="楷体_GB2312" pitchFamily="49" charset="-122"/>
                <a:ea typeface="楷体_GB2312" pitchFamily="49" charset="-122"/>
              </a:rPr>
              <a:t>w</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由指针</a:t>
            </a:r>
            <a:r>
              <a:rPr lang="en-US" altLang="zh-CN" sz="2400" b="1" dirty="0">
                <a:latin typeface="楷体_GB2312" pitchFamily="49" charset="-122"/>
                <a:ea typeface="楷体_GB2312" pitchFamily="49" charset="-122"/>
              </a:rPr>
              <a:t>p</a:t>
            </a:r>
            <a:r>
              <a:rPr lang="zh-CN" altLang="en-US" sz="2400" b="1" dirty="0">
                <a:latin typeface="楷体_GB2312" pitchFamily="49" charset="-122"/>
                <a:ea typeface="楷体_GB2312" pitchFamily="49" charset="-122"/>
              </a:rPr>
              <a:t>指向删除的表元。可用以下代码实现：</a:t>
            </a:r>
          </a:p>
          <a:p>
            <a:pPr marL="0" indent="0" eaLnBrk="1" hangingPunct="1">
              <a:buFont typeface="Monotype Sorts" pitchFamily="2" charset="2"/>
              <a:buNone/>
              <a:defRPr/>
            </a:pPr>
            <a:r>
              <a:rPr lang="zh-CN" altLang="en-US" sz="2400" b="1" dirty="0">
                <a:latin typeface="楷体_GB2312" pitchFamily="49" charset="-122"/>
                <a:ea typeface="楷体_GB2312" pitchFamily="49" charset="-122"/>
              </a:rPr>
              <a:t>        </a:t>
            </a:r>
            <a:r>
              <a:rPr lang="en-US" altLang="zh-CN" sz="2400" b="1" dirty="0">
                <a:latin typeface="楷体_GB2312" pitchFamily="49" charset="-122"/>
                <a:ea typeface="楷体_GB2312" pitchFamily="49" charset="-122"/>
              </a:rPr>
              <a:t>p  = w-&gt;next ;</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w-&gt;next = p-&gt;next ;</a:t>
            </a:r>
          </a:p>
          <a:p>
            <a:pPr marL="0" indent="0" eaLnBrk="1" hangingPunct="1">
              <a:buFont typeface="Monotype Sorts" pitchFamily="2" charset="2"/>
              <a:buNone/>
              <a:defRPr/>
            </a:pPr>
            <a:r>
              <a:rPr lang="en-US" altLang="zh-CN" sz="2400" b="1" dirty="0">
                <a:latin typeface="楷体_GB2312" pitchFamily="49" charset="-122"/>
                <a:ea typeface="楷体_GB2312" pitchFamily="49" charset="-122"/>
              </a:rPr>
              <a:t>        p-&gt;next = NULL ; </a:t>
            </a:r>
          </a:p>
        </p:txBody>
      </p:sp>
      <p:sp>
        <p:nvSpPr>
          <p:cNvPr id="6" name="灯片编号占位符 5"/>
          <p:cNvSpPr>
            <a:spLocks noGrp="1"/>
          </p:cNvSpPr>
          <p:nvPr>
            <p:ph type="sldNum" sz="quarter" idx="12"/>
          </p:nvPr>
        </p:nvSpPr>
        <p:spPr/>
        <p:txBody>
          <a:bodyPr/>
          <a:lstStyle/>
          <a:p>
            <a:pPr>
              <a:defRPr/>
            </a:pPr>
            <a:fld id="{DD469E19-7282-44E4-A467-0F1951376358}" type="slidenum">
              <a:rPr lang="en-US" altLang="zh-CN"/>
              <a:pPr>
                <a:defRPr/>
              </a:pPr>
              <a:t>88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80963">
                                            <p:txEl>
                                              <p:pRg st="2" end="2"/>
                                            </p:txEl>
                                          </p:spTgt>
                                        </p:tgtEl>
                                        <p:attrNameLst>
                                          <p:attrName>style.visibility</p:attrName>
                                        </p:attrNameLst>
                                      </p:cBhvr>
                                      <p:to>
                                        <p:strVal val="visible"/>
                                      </p:to>
                                    </p:set>
                                    <p:anim calcmode="lin" valueType="num">
                                      <p:cBhvr additive="base">
                                        <p:cTn id="7" dur="500" fill="hold"/>
                                        <p:tgtEl>
                                          <p:spTgt spid="68096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8096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80963">
                                            <p:txEl>
                                              <p:pRg st="3" end="3"/>
                                            </p:txEl>
                                          </p:spTgt>
                                        </p:tgtEl>
                                        <p:attrNameLst>
                                          <p:attrName>style.visibility</p:attrName>
                                        </p:attrNameLst>
                                      </p:cBhvr>
                                      <p:to>
                                        <p:strVal val="visible"/>
                                      </p:to>
                                    </p:set>
                                    <p:anim calcmode="lin" valueType="num">
                                      <p:cBhvr additive="base">
                                        <p:cTn id="11" dur="500" fill="hold"/>
                                        <p:tgtEl>
                                          <p:spTgt spid="68096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8096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80963">
                                            <p:txEl>
                                              <p:pRg st="4" end="4"/>
                                            </p:txEl>
                                          </p:spTgt>
                                        </p:tgtEl>
                                        <p:attrNameLst>
                                          <p:attrName>style.visibility</p:attrName>
                                        </p:attrNameLst>
                                      </p:cBhvr>
                                      <p:to>
                                        <p:strVal val="visible"/>
                                      </p:to>
                                    </p:set>
                                    <p:anim calcmode="lin" valueType="num">
                                      <p:cBhvr additive="base">
                                        <p:cTn id="15" dur="500" fill="hold"/>
                                        <p:tgtEl>
                                          <p:spTgt spid="68096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8096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80963">
                                            <p:txEl>
                                              <p:pRg st="5" end="5"/>
                                            </p:txEl>
                                          </p:spTgt>
                                        </p:tgtEl>
                                        <p:attrNameLst>
                                          <p:attrName>style.visibility</p:attrName>
                                        </p:attrNameLst>
                                      </p:cBhvr>
                                      <p:to>
                                        <p:strVal val="visible"/>
                                      </p:to>
                                    </p:set>
                                    <p:anim calcmode="lin" valueType="num">
                                      <p:cBhvr additive="base">
                                        <p:cTn id="19" dur="500" fill="hold"/>
                                        <p:tgtEl>
                                          <p:spTgt spid="68096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8096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a:defRPr/>
            </a:pPr>
            <a:fld id="{8B9BF76C-BCBC-4B91-819D-E26A5D666799}" type="slidenum">
              <a:rPr lang="en-US" altLang="zh-CN"/>
              <a:pPr>
                <a:defRPr/>
              </a:pPr>
              <a:t>89</a:t>
            </a:fld>
            <a:endParaRPr lang="en-US" altLang="zh-CN"/>
          </a:p>
        </p:txBody>
      </p:sp>
      <p:sp>
        <p:nvSpPr>
          <p:cNvPr id="7172" name="Rectangle 5"/>
          <p:cNvSpPr>
            <a:spLocks noChangeArrowheads="1"/>
          </p:cNvSpPr>
          <p:nvPr/>
        </p:nvSpPr>
        <p:spPr bwMode="auto">
          <a:xfrm>
            <a:off x="0" y="274796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7170" name="Object 4"/>
          <p:cNvGraphicFramePr>
            <a:graphicFrameLocks noChangeAspect="1"/>
          </p:cNvGraphicFramePr>
          <p:nvPr/>
        </p:nvGraphicFramePr>
        <p:xfrm>
          <a:off x="857224" y="1285860"/>
          <a:ext cx="7273925" cy="2841625"/>
        </p:xfrm>
        <a:graphic>
          <a:graphicData uri="http://schemas.openxmlformats.org/presentationml/2006/ole">
            <mc:AlternateContent xmlns:mc="http://schemas.openxmlformats.org/markup-compatibility/2006">
              <mc:Choice xmlns:v="urn:schemas-microsoft-com:vml" Requires="v">
                <p:oleObj name="Visio" r:id="rId2" imgW="6835445" imgH="2532583" progId="">
                  <p:embed/>
                </p:oleObj>
              </mc:Choice>
              <mc:Fallback>
                <p:oleObj name="Visio" r:id="rId2" imgW="6835445" imgH="2532583" progId="">
                  <p:embed/>
                  <p:pic>
                    <p:nvPicPr>
                      <p:cNvPr id="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7224" y="1285860"/>
                        <a:ext cx="7273925" cy="2841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3" name="Text Box 6"/>
          <p:cNvSpPr txBox="1">
            <a:spLocks noChangeArrowheads="1"/>
          </p:cNvSpPr>
          <p:nvPr/>
        </p:nvSpPr>
        <p:spPr bwMode="auto">
          <a:xfrm>
            <a:off x="971550" y="4425950"/>
            <a:ext cx="7848600" cy="396875"/>
          </a:xfrm>
          <a:prstGeom prst="rect">
            <a:avLst/>
          </a:prstGeom>
          <a:noFill/>
          <a:ln w="9525">
            <a:noFill/>
            <a:miter lim="800000"/>
            <a:headEnd/>
            <a:tailEnd/>
          </a:ln>
        </p:spPr>
        <p:txBody>
          <a:bodyPr>
            <a:spAutoFit/>
          </a:bodyPr>
          <a:lstStyle/>
          <a:p>
            <a:pPr>
              <a:spcBef>
                <a:spcPct val="50000"/>
              </a:spcBef>
            </a:pPr>
            <a:r>
              <a:rPr lang="zh-CN" altLang="en-US" sz="2000" b="1" dirty="0">
                <a:latin typeface="楷体_GB2312" pitchFamily="49" charset="-122"/>
                <a:ea typeface="楷体_GB2312" pitchFamily="49" charset="-122"/>
              </a:rPr>
              <a:t>图</a:t>
            </a:r>
            <a:r>
              <a:rPr lang="en-US" altLang="zh-CN" sz="2000" b="1" dirty="0">
                <a:latin typeface="楷体_GB2312" pitchFamily="49" charset="-122"/>
                <a:ea typeface="楷体_GB2312" pitchFamily="49" charset="-122"/>
              </a:rPr>
              <a:t>7-9 </a:t>
            </a:r>
            <a:r>
              <a:rPr lang="zh-CN" altLang="en-US" sz="2000" b="1" dirty="0">
                <a:latin typeface="楷体_GB2312" pitchFamily="49" charset="-122"/>
                <a:ea typeface="楷体_GB2312" pitchFamily="49" charset="-122"/>
              </a:rPr>
              <a:t>删除链表中</a:t>
            </a:r>
            <a:r>
              <a:rPr lang="en-US" altLang="zh-CN" sz="2000" b="1" dirty="0">
                <a:latin typeface="楷体_GB2312" pitchFamily="49" charset="-122"/>
                <a:ea typeface="楷体_GB2312" pitchFamily="49" charset="-122"/>
              </a:rPr>
              <a:t>w</a:t>
            </a:r>
            <a:r>
              <a:rPr lang="zh-CN" altLang="en-US" sz="2000" b="1" dirty="0">
                <a:latin typeface="楷体_GB2312" pitchFamily="49" charset="-122"/>
                <a:ea typeface="楷体_GB2312" pitchFamily="49" charset="-122"/>
              </a:rPr>
              <a:t>所指表元的后继表元，删除前后状态变化图 </a:t>
            </a:r>
          </a:p>
        </p:txBody>
      </p:sp>
      <p:sp>
        <p:nvSpPr>
          <p:cNvPr id="7174" name="Text Box 7"/>
          <p:cNvSpPr txBox="1">
            <a:spLocks noChangeArrowheads="1"/>
          </p:cNvSpPr>
          <p:nvPr/>
        </p:nvSpPr>
        <p:spPr bwMode="auto">
          <a:xfrm>
            <a:off x="1023938" y="5033963"/>
            <a:ext cx="7724775" cy="1187450"/>
          </a:xfrm>
          <a:prstGeom prst="rect">
            <a:avLst/>
          </a:prstGeom>
          <a:noFill/>
          <a:ln w="9525">
            <a:noFill/>
            <a:miter lim="800000"/>
            <a:headEnd/>
            <a:tailEnd/>
          </a:ln>
        </p:spPr>
        <p:txBody>
          <a:bodyPr>
            <a:spAutoFit/>
          </a:bodyPr>
          <a:lstStyle/>
          <a:p>
            <a:r>
              <a:rPr lang="zh-CN" altLang="en-US" b="1" dirty="0">
                <a:latin typeface="楷体_GB2312" pitchFamily="49" charset="-122"/>
                <a:ea typeface="楷体_GB2312" pitchFamily="49" charset="-122"/>
              </a:rPr>
              <a:t>表元从链表删除后，对删除的表元可有两种不同的处理。或回收删除表元所占的存储空间，这可调用函数</a:t>
            </a:r>
            <a:r>
              <a:rPr lang="en-US" altLang="zh-CN" b="1" dirty="0">
                <a:latin typeface="楷体_GB2312" pitchFamily="49" charset="-122"/>
                <a:ea typeface="楷体_GB2312" pitchFamily="49" charset="-122"/>
              </a:rPr>
              <a:t>free(p)</a:t>
            </a:r>
            <a:r>
              <a:rPr lang="zh-CN" altLang="en-US" b="1" dirty="0">
                <a:latin typeface="楷体_GB2312" pitchFamily="49" charset="-122"/>
                <a:ea typeface="楷体_GB2312" pitchFamily="49" charset="-122"/>
              </a:rPr>
              <a:t>来实现；或将删除表元插入到其他链表中。 </a:t>
            </a:r>
          </a:p>
        </p:txBody>
      </p:sp>
      <p:sp>
        <p:nvSpPr>
          <p:cNvPr id="28" name="Freeform 27"/>
          <p:cNvSpPr/>
          <p:nvPr/>
        </p:nvSpPr>
        <p:spPr>
          <a:xfrm>
            <a:off x="2743200" y="2670629"/>
            <a:ext cx="1930400" cy="769256"/>
          </a:xfrm>
          <a:custGeom>
            <a:avLst/>
            <a:gdLst>
              <a:gd name="connsiteX0" fmla="*/ 0 w 1930400"/>
              <a:gd name="connsiteY0" fmla="*/ 696685 h 769256"/>
              <a:gd name="connsiteX1" fmla="*/ 1378857 w 1930400"/>
              <a:gd name="connsiteY1" fmla="*/ 653142 h 769256"/>
              <a:gd name="connsiteX2" fmla="*/ 1930400 w 1930400"/>
              <a:gd name="connsiteY2" fmla="*/ 0 h 769256"/>
            </a:gdLst>
            <a:ahLst/>
            <a:cxnLst>
              <a:cxn ang="0">
                <a:pos x="connsiteX0" y="connsiteY0"/>
              </a:cxn>
              <a:cxn ang="0">
                <a:pos x="connsiteX1" y="connsiteY1"/>
              </a:cxn>
              <a:cxn ang="0">
                <a:pos x="connsiteX2" y="connsiteY2"/>
              </a:cxn>
            </a:cxnLst>
            <a:rect l="l" t="t" r="r" b="b"/>
            <a:pathLst>
              <a:path w="1930400" h="769256">
                <a:moveTo>
                  <a:pt x="0" y="696685"/>
                </a:moveTo>
                <a:cubicBezTo>
                  <a:pt x="528562" y="732970"/>
                  <a:pt x="1057124" y="769256"/>
                  <a:pt x="1378857" y="653142"/>
                </a:cubicBezTo>
                <a:cubicBezTo>
                  <a:pt x="1700590" y="537028"/>
                  <a:pt x="1815495" y="268514"/>
                  <a:pt x="1930400" y="0"/>
                </a:cubicBezTo>
              </a:path>
            </a:pathLst>
          </a:cu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2" name="Freeform 31"/>
          <p:cNvSpPr/>
          <p:nvPr/>
        </p:nvSpPr>
        <p:spPr>
          <a:xfrm>
            <a:off x="3686629" y="1040191"/>
            <a:ext cx="3018971" cy="948266"/>
          </a:xfrm>
          <a:custGeom>
            <a:avLst/>
            <a:gdLst>
              <a:gd name="connsiteX0" fmla="*/ 0 w 3018971"/>
              <a:gd name="connsiteY0" fmla="*/ 948266 h 948266"/>
              <a:gd name="connsiteX1" fmla="*/ 1640114 w 3018971"/>
              <a:gd name="connsiteY1" fmla="*/ 4838 h 948266"/>
              <a:gd name="connsiteX2" fmla="*/ 3018971 w 3018971"/>
              <a:gd name="connsiteY2" fmla="*/ 919238 h 948266"/>
            </a:gdLst>
            <a:ahLst/>
            <a:cxnLst>
              <a:cxn ang="0">
                <a:pos x="connsiteX0" y="connsiteY0"/>
              </a:cxn>
              <a:cxn ang="0">
                <a:pos x="connsiteX1" y="connsiteY1"/>
              </a:cxn>
              <a:cxn ang="0">
                <a:pos x="connsiteX2" y="connsiteY2"/>
              </a:cxn>
            </a:cxnLst>
            <a:rect l="l" t="t" r="r" b="b"/>
            <a:pathLst>
              <a:path w="3018971" h="948266">
                <a:moveTo>
                  <a:pt x="0" y="948266"/>
                </a:moveTo>
                <a:cubicBezTo>
                  <a:pt x="568476" y="478971"/>
                  <a:pt x="1136952" y="9676"/>
                  <a:pt x="1640114" y="4838"/>
                </a:cubicBezTo>
                <a:cubicBezTo>
                  <a:pt x="2143276" y="0"/>
                  <a:pt x="2581123" y="459619"/>
                  <a:pt x="3018971" y="919238"/>
                </a:cubicBezTo>
              </a:path>
            </a:pathLst>
          </a:cu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3" name="TextBox 32"/>
          <p:cNvSpPr txBox="1"/>
          <p:nvPr/>
        </p:nvSpPr>
        <p:spPr>
          <a:xfrm>
            <a:off x="5286380" y="2071678"/>
            <a:ext cx="428628" cy="461665"/>
          </a:xfrm>
          <a:prstGeom prst="rect">
            <a:avLst/>
          </a:prstGeom>
          <a:solidFill>
            <a:schemeClr val="bg1"/>
          </a:solidFill>
        </p:spPr>
        <p:txBody>
          <a:bodyPr wrap="square" rtlCol="0">
            <a:spAutoFit/>
          </a:bodyPr>
          <a:lstStyle/>
          <a:p>
            <a:endParaRPr lang="zh-CN" altLang="en-US" dirty="0"/>
          </a:p>
        </p:txBody>
      </p:sp>
      <p:cxnSp>
        <p:nvCxnSpPr>
          <p:cNvPr id="35" name="Straight Arrow Connector 34"/>
          <p:cNvCxnSpPr/>
          <p:nvPr/>
        </p:nvCxnSpPr>
        <p:spPr>
          <a:xfrm>
            <a:off x="3714744" y="2285992"/>
            <a:ext cx="857256"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5572132" y="2285992"/>
            <a:ext cx="857256"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6250587" y="720718"/>
            <a:ext cx="2899568" cy="830997"/>
          </a:xfrm>
          <a:prstGeom prst="rect">
            <a:avLst/>
          </a:prstGeom>
          <a:noFill/>
        </p:spPr>
        <p:txBody>
          <a:bodyPr wrap="square" rtlCol="0">
            <a:spAutoFit/>
          </a:bodyPr>
          <a:lstStyle/>
          <a:p>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2</a:t>
            </a:r>
            <a:r>
              <a:rPr lang="zh-CN" altLang="en-US" b="1" dirty="0">
                <a:latin typeface="楷体_GB2312" pitchFamily="49" charset="-122"/>
                <a:ea typeface="楷体_GB2312" pitchFamily="49" charset="-122"/>
              </a:rPr>
              <a:t>）有其他的写法注意顺序！！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3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 calcmode="lin" valueType="num">
                                      <p:cBhvr additive="base">
                                        <p:cTn id="1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33"/>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2" grpId="0" animBg="1"/>
      <p:bldP spid="33"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011" name="Rectangle 3"/>
          <p:cNvSpPr>
            <a:spLocks noGrp="1" noChangeArrowheads="1"/>
          </p:cNvSpPr>
          <p:nvPr>
            <p:ph idx="1"/>
          </p:nvPr>
        </p:nvSpPr>
        <p:spPr>
          <a:xfrm>
            <a:off x="468313" y="620713"/>
            <a:ext cx="8304212" cy="5976937"/>
          </a:xfrm>
        </p:spPr>
        <p:txBody>
          <a:bodyPr>
            <a:noAutofit/>
          </a:bodyPr>
          <a:lstStyle/>
          <a:p>
            <a:pPr marL="0" indent="0" eaLnBrk="1" hangingPunct="1">
              <a:buFont typeface="Monotype Sorts" pitchFamily="2" charset="2"/>
              <a:buNone/>
              <a:defRPr/>
            </a:pP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例</a:t>
            </a:r>
            <a:r>
              <a:rPr lang="en-US" altLang="zh-CN" sz="2800" b="1" dirty="0">
                <a:latin typeface="楷体_GB2312" pitchFamily="49" charset="-122"/>
                <a:ea typeface="楷体_GB2312" pitchFamily="49" charset="-122"/>
              </a:rPr>
              <a:t>7.10】</a:t>
            </a:r>
            <a:r>
              <a:rPr lang="zh-CN" altLang="en-US" sz="2800" b="1" dirty="0">
                <a:latin typeface="楷体_GB2312" pitchFamily="49" charset="-122"/>
                <a:ea typeface="楷体_GB2312" pitchFamily="49" charset="-122"/>
              </a:rPr>
              <a:t>编写删除指定学号的表元函数。</a:t>
            </a:r>
            <a:endParaRPr lang="en-US" altLang="zh-CN" sz="2800" b="1" dirty="0">
              <a:latin typeface="楷体_GB2312" pitchFamily="49" charset="-122"/>
              <a:ea typeface="楷体_GB2312" pitchFamily="49" charset="-122"/>
            </a:endParaRPr>
          </a:p>
          <a:p>
            <a:pPr marL="0" indent="0" eaLnBrk="1" hangingPunct="1">
              <a:buFont typeface="Monotype Sorts" pitchFamily="2" charset="2"/>
              <a:buNone/>
              <a:defRPr/>
            </a:pPr>
            <a:endParaRPr lang="zh-CN" altLang="en-US" sz="2800" b="1" dirty="0">
              <a:latin typeface="楷体_GB2312" pitchFamily="49" charset="-122"/>
              <a:ea typeface="楷体_GB2312" pitchFamily="49" charset="-122"/>
            </a:endParaRPr>
          </a:p>
          <a:p>
            <a:pPr marL="0" indent="0" eaLnBrk="1" hangingPunct="1">
              <a:buFont typeface="Monotype Sorts" pitchFamily="2" charset="2"/>
              <a:buNone/>
              <a:defRPr/>
            </a:pPr>
            <a:r>
              <a:rPr lang="en-US" altLang="zh-CN" sz="20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解题思路</a:t>
            </a:r>
            <a:r>
              <a:rPr lang="en-US" altLang="zh-CN" sz="2000" b="1" dirty="0">
                <a:latin typeface="楷体_GB2312" pitchFamily="49" charset="-122"/>
                <a:ea typeface="楷体_GB2312" pitchFamily="49" charset="-122"/>
              </a:rPr>
              <a:t>】</a:t>
            </a: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删除特定的表元必须先做寻找。寻找中必须</a:t>
            </a:r>
            <a:r>
              <a:rPr lang="zh-CN" altLang="en-US" sz="2800" b="1" dirty="0">
                <a:solidFill>
                  <a:srgbClr val="FF0000"/>
                </a:solidFill>
                <a:latin typeface="楷体_GB2312" pitchFamily="49" charset="-122"/>
                <a:ea typeface="楷体_GB2312" pitchFamily="49" charset="-122"/>
              </a:rPr>
              <a:t>记住当前表元的前驱表元</a:t>
            </a:r>
            <a:r>
              <a:rPr lang="zh-CN" altLang="en-US" sz="2800" b="1" dirty="0">
                <a:latin typeface="楷体_GB2312" pitchFamily="49" charset="-122"/>
                <a:ea typeface="楷体_GB2312" pitchFamily="49" charset="-122"/>
              </a:rPr>
              <a:t>，待寻找结束时，不仅找到了要删除的表元，同时得到删除表元的前驱表元。</a:t>
            </a:r>
            <a:endParaRPr lang="en-US" altLang="zh-CN" sz="2800" b="1" dirty="0">
              <a:latin typeface="楷体_GB2312" pitchFamily="49" charset="-122"/>
              <a:ea typeface="楷体_GB2312" pitchFamily="49" charset="-122"/>
            </a:endParaRPr>
          </a:p>
          <a:p>
            <a:pPr marL="0" indent="0" eaLnBrk="1" hangingPunct="1">
              <a:buFont typeface="Monotype Sorts" pitchFamily="2" charset="2"/>
              <a:buNone/>
              <a:defRPr/>
            </a:pPr>
            <a:endParaRPr lang="en-US" altLang="zh-CN" sz="2800" b="1" dirty="0">
              <a:latin typeface="楷体_GB2312" pitchFamily="49" charset="-122"/>
              <a:ea typeface="楷体_GB2312" pitchFamily="49" charset="-122"/>
            </a:endParaRPr>
          </a:p>
          <a:p>
            <a:pPr marL="0" indent="0" eaLnBrk="1" hangingPunct="1">
              <a:buFont typeface="Monotype Sorts" pitchFamily="2" charset="2"/>
              <a:buNone/>
              <a:defRPr/>
            </a:pPr>
            <a:r>
              <a:rPr lang="zh-CN" altLang="en-US" sz="2800" b="1" dirty="0">
                <a:latin typeface="楷体_GB2312" pitchFamily="49" charset="-122"/>
                <a:ea typeface="楷体_GB2312" pitchFamily="49" charset="-122"/>
              </a:rPr>
              <a:t>需要两个指针</a:t>
            </a:r>
          </a:p>
        </p:txBody>
      </p:sp>
      <p:sp>
        <p:nvSpPr>
          <p:cNvPr id="5" name="灯片编号占位符 5"/>
          <p:cNvSpPr>
            <a:spLocks noGrp="1"/>
          </p:cNvSpPr>
          <p:nvPr>
            <p:ph type="sldNum" sz="quarter" idx="12"/>
          </p:nvPr>
        </p:nvSpPr>
        <p:spPr/>
        <p:txBody>
          <a:bodyPr/>
          <a:lstStyle/>
          <a:p>
            <a:pPr>
              <a:defRPr/>
            </a:pPr>
            <a:fld id="{78286F6F-4B4F-438A-ACF6-D79286C3A5E3}" type="slidenum">
              <a:rPr lang="en-US" altLang="zh-CN"/>
              <a:pPr>
                <a:defRPr/>
              </a:pPr>
              <a:t>90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83011">
                                            <p:txEl>
                                              <p:pRg st="5" end="5"/>
                                            </p:txEl>
                                          </p:spTgt>
                                        </p:tgtEl>
                                        <p:attrNameLst>
                                          <p:attrName>style.visibility</p:attrName>
                                        </p:attrNameLst>
                                      </p:cBhvr>
                                      <p:to>
                                        <p:strVal val="visible"/>
                                      </p:to>
                                    </p:set>
                                    <p:anim calcmode="lin" valueType="num">
                                      <p:cBhvr additive="base">
                                        <p:cTn id="7" dur="500" fill="hold"/>
                                        <p:tgtEl>
                                          <p:spTgt spid="683011">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8301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034" name="Rectangle 2"/>
          <p:cNvSpPr>
            <a:spLocks noGrp="1" noChangeArrowheads="1"/>
          </p:cNvSpPr>
          <p:nvPr>
            <p:ph idx="1"/>
          </p:nvPr>
        </p:nvSpPr>
        <p:spPr>
          <a:xfrm>
            <a:off x="468313" y="620713"/>
            <a:ext cx="8304212" cy="5976937"/>
          </a:xfrm>
        </p:spPr>
        <p:txBody>
          <a:bodyPr>
            <a:noAutofit/>
          </a:bodyPr>
          <a:lstStyle/>
          <a:p>
            <a:pPr marL="0" indent="0" eaLnBrk="1" hangingPunct="1">
              <a:lnSpc>
                <a:spcPct val="90000"/>
              </a:lnSpc>
              <a:buFont typeface="Monotype Sorts" pitchFamily="2" charset="2"/>
              <a:buNone/>
              <a:defRPr/>
            </a:pPr>
            <a:r>
              <a:rPr lang="en-US" altLang="zh-CN" sz="2000" b="1" dirty="0" err="1">
                <a:latin typeface="楷体_GB2312" pitchFamily="49" charset="-122"/>
                <a:ea typeface="楷体_GB2312" pitchFamily="49" charset="-122"/>
              </a:rPr>
              <a:t>stuS</a:t>
            </a:r>
            <a:r>
              <a:rPr lang="en-US" altLang="zh-CN" sz="2000" b="1" dirty="0">
                <a:latin typeface="楷体_GB2312" pitchFamily="49" charset="-122"/>
                <a:ea typeface="楷体_GB2312" pitchFamily="49" charset="-122"/>
              </a:rPr>
              <a:t> *</a:t>
            </a:r>
            <a:r>
              <a:rPr lang="en-US" altLang="zh-CN" sz="2000" b="1" dirty="0" err="1">
                <a:latin typeface="楷体_GB2312" pitchFamily="49" charset="-122"/>
                <a:ea typeface="楷体_GB2312" pitchFamily="49" charset="-122"/>
              </a:rPr>
              <a:t>delStu</a:t>
            </a:r>
            <a:r>
              <a:rPr lang="en-US" altLang="zh-CN" sz="2000" b="1" dirty="0">
                <a:latin typeface="楷体_GB2312" pitchFamily="49" charset="-122"/>
                <a:ea typeface="楷体_GB2312" pitchFamily="49" charset="-122"/>
              </a:rPr>
              <a:t> (</a:t>
            </a:r>
            <a:r>
              <a:rPr lang="en-US" altLang="zh-CN" sz="2000" b="1" dirty="0" err="1">
                <a:latin typeface="楷体_GB2312" pitchFamily="49" charset="-122"/>
                <a:ea typeface="楷体_GB2312" pitchFamily="49" charset="-122"/>
              </a:rPr>
              <a:t>stuS</a:t>
            </a:r>
            <a:r>
              <a:rPr lang="en-US" altLang="zh-CN" sz="2000" b="1" dirty="0">
                <a:latin typeface="楷体_GB2312" pitchFamily="49" charset="-122"/>
                <a:ea typeface="楷体_GB2312" pitchFamily="49" charset="-122"/>
              </a:rPr>
              <a:t> *head, </a:t>
            </a:r>
            <a:r>
              <a:rPr lang="en-US" altLang="zh-CN" sz="2000" b="1" dirty="0" err="1">
                <a:latin typeface="楷体_GB2312" pitchFamily="49" charset="-122"/>
                <a:ea typeface="楷体_GB2312" pitchFamily="49" charset="-122"/>
              </a:rPr>
              <a:t>int</a:t>
            </a:r>
            <a:r>
              <a:rPr lang="en-US" altLang="zh-CN" sz="2000" b="1" dirty="0">
                <a:latin typeface="楷体_GB2312" pitchFamily="49" charset="-122"/>
                <a:ea typeface="楷体_GB2312" pitchFamily="49" charset="-122"/>
              </a:rPr>
              <a:t> num)	 /* num</a:t>
            </a:r>
            <a:r>
              <a:rPr lang="zh-CN" altLang="en-US" sz="2000" b="1" dirty="0">
                <a:latin typeface="楷体_GB2312" pitchFamily="49" charset="-122"/>
                <a:ea typeface="楷体_GB2312" pitchFamily="49" charset="-122"/>
              </a:rPr>
              <a:t>为要查找的学号 *</a:t>
            </a:r>
            <a:r>
              <a:rPr lang="en-US" altLang="zh-CN" sz="2000" b="1" dirty="0">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000" b="1" dirty="0">
                <a:latin typeface="楷体_GB2312" pitchFamily="49" charset="-122"/>
                <a:ea typeface="楷体_GB2312" pitchFamily="49" charset="-122"/>
              </a:rPr>
              <a:t>{ </a:t>
            </a:r>
            <a:r>
              <a:rPr lang="en-US" altLang="zh-CN" sz="2000" b="1" dirty="0" err="1">
                <a:latin typeface="楷体_GB2312" pitchFamily="49" charset="-122"/>
                <a:ea typeface="楷体_GB2312" pitchFamily="49" charset="-122"/>
              </a:rPr>
              <a:t>stuS</a:t>
            </a:r>
            <a:r>
              <a:rPr lang="en-US" altLang="zh-CN" sz="2000" b="1" dirty="0">
                <a:latin typeface="楷体_GB2312" pitchFamily="49" charset="-122"/>
                <a:ea typeface="楷体_GB2312" pitchFamily="49" charset="-122"/>
              </a:rPr>
              <a:t> *w, *p;</a:t>
            </a:r>
          </a:p>
          <a:p>
            <a:pPr marL="0" indent="0" eaLnBrk="1" hangingPunct="1">
              <a:lnSpc>
                <a:spcPct val="90000"/>
              </a:lnSpc>
              <a:buFont typeface="Monotype Sorts" pitchFamily="2" charset="2"/>
              <a:buNone/>
              <a:defRPr/>
            </a:pPr>
            <a:r>
              <a:rPr lang="en-US" altLang="zh-CN" sz="2000" b="1" dirty="0">
                <a:latin typeface="楷体_GB2312" pitchFamily="49" charset="-122"/>
                <a:ea typeface="楷体_GB2312" pitchFamily="49" charset="-122"/>
              </a:rPr>
              <a:t>  if (head == NULL) return NULL;</a:t>
            </a:r>
          </a:p>
          <a:p>
            <a:pPr marL="0" indent="0" eaLnBrk="1" hangingPunct="1">
              <a:lnSpc>
                <a:spcPct val="90000"/>
              </a:lnSpc>
              <a:buFont typeface="Monotype Sorts" pitchFamily="2" charset="2"/>
              <a:buNone/>
              <a:defRPr/>
            </a:pPr>
            <a:r>
              <a:rPr lang="en-US" altLang="zh-CN" sz="2000" b="1" dirty="0">
                <a:latin typeface="楷体_GB2312" pitchFamily="49" charset="-122"/>
                <a:ea typeface="楷体_GB2312" pitchFamily="49" charset="-122"/>
              </a:rPr>
              <a:t>  p = head; 	/* </a:t>
            </a:r>
            <a:r>
              <a:rPr lang="zh-CN" altLang="en-US" sz="2000" b="1" dirty="0">
                <a:latin typeface="楷体_GB2312" pitchFamily="49" charset="-122"/>
                <a:ea typeface="楷体_GB2312" pitchFamily="49" charset="-122"/>
              </a:rPr>
              <a:t>让</a:t>
            </a:r>
            <a:r>
              <a:rPr lang="en-US" altLang="zh-CN" sz="2000" b="1" dirty="0">
                <a:latin typeface="楷体_GB2312" pitchFamily="49" charset="-122"/>
                <a:ea typeface="楷体_GB2312" pitchFamily="49" charset="-122"/>
              </a:rPr>
              <a:t>p</a:t>
            </a:r>
            <a:r>
              <a:rPr lang="zh-CN" altLang="en-US" sz="2000" b="1" dirty="0">
                <a:latin typeface="楷体_GB2312" pitchFamily="49" charset="-122"/>
                <a:ea typeface="楷体_GB2312" pitchFamily="49" charset="-122"/>
              </a:rPr>
              <a:t>指向链表的首表元 *</a:t>
            </a:r>
            <a:r>
              <a:rPr lang="en-US" altLang="zh-CN" sz="2000" b="1" dirty="0">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000" b="1" dirty="0">
                <a:solidFill>
                  <a:srgbClr val="C00000"/>
                </a:solidFill>
                <a:latin typeface="楷体_GB2312" pitchFamily="49" charset="-122"/>
                <a:ea typeface="楷体_GB2312" pitchFamily="49" charset="-122"/>
              </a:rPr>
              <a:t>  </a:t>
            </a:r>
            <a:r>
              <a:rPr lang="en-US" altLang="zh-CN" sz="2000" b="1" dirty="0">
                <a:solidFill>
                  <a:srgbClr val="FF0000"/>
                </a:solidFill>
                <a:latin typeface="楷体_GB2312" pitchFamily="49" charset="-122"/>
                <a:ea typeface="楷体_GB2312" pitchFamily="49" charset="-122"/>
              </a:rPr>
              <a:t>while (p != NULL &amp;&amp; p-&gt;number != num) {</a:t>
            </a:r>
          </a:p>
          <a:p>
            <a:pPr marL="0" indent="0" eaLnBrk="1" hangingPunct="1">
              <a:lnSpc>
                <a:spcPct val="90000"/>
              </a:lnSpc>
              <a:buFont typeface="Monotype Sorts" pitchFamily="2" charset="2"/>
              <a:buNone/>
              <a:defRPr/>
            </a:pPr>
            <a:r>
              <a:rPr lang="en-US" altLang="zh-CN" sz="2000" b="1" dirty="0">
                <a:solidFill>
                  <a:srgbClr val="FF0000"/>
                </a:solidFill>
                <a:latin typeface="楷体_GB2312" pitchFamily="49" charset="-122"/>
                <a:ea typeface="楷体_GB2312" pitchFamily="49" charset="-122"/>
              </a:rPr>
              <a:t>     w = p; p = p-&gt;next;  /* w</a:t>
            </a:r>
            <a:r>
              <a:rPr lang="zh-CN" altLang="en-US" sz="2000" b="1" dirty="0">
                <a:solidFill>
                  <a:srgbClr val="FF0000"/>
                </a:solidFill>
                <a:latin typeface="楷体_GB2312" pitchFamily="49" charset="-122"/>
                <a:ea typeface="楷体_GB2312" pitchFamily="49" charset="-122"/>
              </a:rPr>
              <a:t>指向前驱表元，</a:t>
            </a:r>
            <a:r>
              <a:rPr lang="en-US" altLang="zh-CN" sz="2000" b="1" dirty="0">
                <a:solidFill>
                  <a:srgbClr val="FF0000"/>
                </a:solidFill>
                <a:latin typeface="楷体_GB2312" pitchFamily="49" charset="-122"/>
                <a:ea typeface="楷体_GB2312" pitchFamily="49" charset="-122"/>
              </a:rPr>
              <a:t>p</a:t>
            </a:r>
            <a:r>
              <a:rPr lang="zh-CN" altLang="en-US" sz="2000" b="1" dirty="0">
                <a:solidFill>
                  <a:srgbClr val="FF0000"/>
                </a:solidFill>
                <a:latin typeface="楷体_GB2312" pitchFamily="49" charset="-122"/>
                <a:ea typeface="楷体_GB2312" pitchFamily="49" charset="-122"/>
              </a:rPr>
              <a:t>指向下一个表元 *</a:t>
            </a:r>
            <a:r>
              <a:rPr lang="en-US" altLang="zh-CN" sz="2000" b="1" dirty="0">
                <a:solidFill>
                  <a:srgbClr val="FF0000"/>
                </a:solidFill>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000" b="1" dirty="0">
                <a:solidFill>
                  <a:srgbClr val="FF0000"/>
                </a:solidFill>
                <a:latin typeface="楷体_GB2312" pitchFamily="49" charset="-122"/>
                <a:ea typeface="楷体_GB2312" pitchFamily="49" charset="-122"/>
              </a:rPr>
              <a:t>  }	</a:t>
            </a:r>
            <a:r>
              <a:rPr lang="en-US" altLang="zh-CN" sz="2000" b="1" dirty="0">
                <a:latin typeface="楷体_GB2312" pitchFamily="49" charset="-122"/>
                <a:ea typeface="楷体_GB2312" pitchFamily="49" charset="-122"/>
              </a:rPr>
              <a:t>	</a:t>
            </a:r>
          </a:p>
          <a:p>
            <a:pPr marL="0" indent="0" eaLnBrk="1" hangingPunct="1">
              <a:lnSpc>
                <a:spcPct val="90000"/>
              </a:lnSpc>
              <a:buFont typeface="Monotype Sorts" pitchFamily="2" charset="2"/>
              <a:buNone/>
              <a:defRPr/>
            </a:pPr>
            <a:r>
              <a:rPr lang="en-US" altLang="zh-CN" sz="2000" b="1" dirty="0">
                <a:latin typeface="楷体_GB2312" pitchFamily="49" charset="-122"/>
                <a:ea typeface="楷体_GB2312" pitchFamily="49" charset="-122"/>
              </a:rPr>
              <a:t>  if (p != NULL) {/* </a:t>
            </a:r>
            <a:r>
              <a:rPr lang="zh-CN" altLang="en-US" sz="2000" b="1" dirty="0">
                <a:latin typeface="楷体_GB2312" pitchFamily="49" charset="-122"/>
                <a:ea typeface="楷体_GB2312" pitchFamily="49" charset="-122"/>
              </a:rPr>
              <a:t>找到 *</a:t>
            </a:r>
            <a:r>
              <a:rPr lang="en-US" altLang="zh-CN" sz="2000" b="1" dirty="0">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000" b="1" dirty="0">
                <a:latin typeface="楷体_GB2312" pitchFamily="49" charset="-122"/>
                <a:ea typeface="楷体_GB2312" pitchFamily="49" charset="-122"/>
              </a:rPr>
              <a:t>     </a:t>
            </a:r>
            <a:r>
              <a:rPr lang="en-US" altLang="zh-CN" sz="2000" b="1" dirty="0">
                <a:solidFill>
                  <a:srgbClr val="FF0000"/>
                </a:solidFill>
                <a:latin typeface="楷体_GB2312" pitchFamily="49" charset="-122"/>
                <a:ea typeface="楷体_GB2312" pitchFamily="49" charset="-122"/>
              </a:rPr>
              <a:t>if(p == head) head = p-&gt;next;</a:t>
            </a:r>
            <a:r>
              <a:rPr lang="en-US" altLang="zh-CN" sz="20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删除首表元，改链表头指针*</a:t>
            </a:r>
            <a:r>
              <a:rPr lang="en-US" altLang="zh-CN" sz="2000" b="1" dirty="0">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000" b="1" dirty="0">
                <a:latin typeface="楷体_GB2312" pitchFamily="49" charset="-122"/>
                <a:ea typeface="楷体_GB2312" pitchFamily="49" charset="-122"/>
              </a:rPr>
              <a:t>     else  w-&gt;next = p-&gt;next; /* </a:t>
            </a:r>
            <a:r>
              <a:rPr lang="zh-CN" altLang="en-US" sz="2000" b="1" dirty="0">
                <a:latin typeface="楷体_GB2312" pitchFamily="49" charset="-122"/>
                <a:ea typeface="楷体_GB2312" pitchFamily="49" charset="-122"/>
              </a:rPr>
              <a:t>修改前导表元的的后继指针 *</a:t>
            </a:r>
            <a:r>
              <a:rPr lang="en-US" altLang="zh-CN" sz="2000" b="1" dirty="0">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000" b="1" dirty="0">
                <a:latin typeface="楷体_GB2312" pitchFamily="49" charset="-122"/>
                <a:ea typeface="楷体_GB2312" pitchFamily="49" charset="-122"/>
              </a:rPr>
              <a:t>     </a:t>
            </a:r>
            <a:r>
              <a:rPr lang="en-US" altLang="zh-CN" sz="2000" b="1" dirty="0" err="1">
                <a:latin typeface="楷体_GB2312" pitchFamily="49" charset="-122"/>
                <a:ea typeface="楷体_GB2312" pitchFamily="49" charset="-122"/>
              </a:rPr>
              <a:t>printf</a:t>
            </a:r>
            <a:r>
              <a:rPr lang="en-US" altLang="zh-CN" sz="20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学号 </a:t>
            </a:r>
            <a:r>
              <a:rPr lang="en-US" altLang="zh-CN" sz="2000" b="1" dirty="0">
                <a:latin typeface="楷体_GB2312" pitchFamily="49" charset="-122"/>
                <a:ea typeface="楷体_GB2312" pitchFamily="49" charset="-122"/>
              </a:rPr>
              <a:t>%d  </a:t>
            </a:r>
            <a:r>
              <a:rPr lang="zh-CN" altLang="en-US" sz="2000" b="1" dirty="0">
                <a:latin typeface="楷体_GB2312" pitchFamily="49" charset="-122"/>
                <a:ea typeface="楷体_GB2312" pitchFamily="49" charset="-122"/>
              </a:rPr>
              <a:t>已被删除</a:t>
            </a:r>
            <a:r>
              <a:rPr lang="en-US" altLang="zh-CN" sz="2000" b="1" dirty="0">
                <a:latin typeface="楷体_GB2312" pitchFamily="49" charset="-122"/>
                <a:ea typeface="楷体_GB2312" pitchFamily="49" charset="-122"/>
              </a:rPr>
              <a:t>\n", num); </a:t>
            </a:r>
          </a:p>
          <a:p>
            <a:pPr marL="0" indent="0" eaLnBrk="1" hangingPunct="1">
              <a:lnSpc>
                <a:spcPct val="90000"/>
              </a:lnSpc>
              <a:buFont typeface="Monotype Sorts" pitchFamily="2" charset="2"/>
              <a:buNone/>
              <a:defRPr/>
            </a:pPr>
            <a:r>
              <a:rPr lang="en-US" altLang="zh-CN" sz="2000" b="1" dirty="0">
                <a:latin typeface="楷体_GB2312" pitchFamily="49" charset="-122"/>
                <a:ea typeface="楷体_GB2312" pitchFamily="49" charset="-122"/>
              </a:rPr>
              <a:t>     free (p);	/* </a:t>
            </a:r>
            <a:r>
              <a:rPr lang="zh-CN" altLang="en-US" sz="2000" b="1" dirty="0">
                <a:latin typeface="楷体_GB2312" pitchFamily="49" charset="-122"/>
                <a:ea typeface="楷体_GB2312" pitchFamily="49" charset="-122"/>
              </a:rPr>
              <a:t>释放被删表元的存储空间 *</a:t>
            </a:r>
            <a:r>
              <a:rPr lang="en-US" altLang="zh-CN" sz="2000" b="1" dirty="0">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000" b="1" dirty="0">
                <a:latin typeface="楷体_GB2312" pitchFamily="49" charset="-122"/>
                <a:ea typeface="楷体_GB2312" pitchFamily="49" charset="-122"/>
              </a:rPr>
              <a:t>  } </a:t>
            </a:r>
          </a:p>
          <a:p>
            <a:pPr marL="0" indent="0" eaLnBrk="1" hangingPunct="1">
              <a:lnSpc>
                <a:spcPct val="90000"/>
              </a:lnSpc>
              <a:buFont typeface="Monotype Sorts" pitchFamily="2" charset="2"/>
              <a:buNone/>
              <a:defRPr/>
            </a:pPr>
            <a:r>
              <a:rPr lang="en-US" altLang="zh-CN" sz="2000" b="1" dirty="0">
                <a:latin typeface="楷体_GB2312" pitchFamily="49" charset="-122"/>
                <a:ea typeface="楷体_GB2312" pitchFamily="49" charset="-122"/>
              </a:rPr>
              <a:t>  else </a:t>
            </a:r>
            <a:r>
              <a:rPr lang="en-US" altLang="zh-CN" sz="2000" b="1" dirty="0" err="1">
                <a:latin typeface="楷体_GB2312" pitchFamily="49" charset="-122"/>
                <a:ea typeface="楷体_GB2312" pitchFamily="49" charset="-122"/>
              </a:rPr>
              <a:t>printf</a:t>
            </a:r>
            <a:r>
              <a:rPr lang="en-US" altLang="zh-CN" sz="20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学号 </a:t>
            </a:r>
            <a:r>
              <a:rPr lang="en-US" altLang="zh-CN" sz="2000" b="1" dirty="0">
                <a:latin typeface="楷体_GB2312" pitchFamily="49" charset="-122"/>
                <a:ea typeface="楷体_GB2312" pitchFamily="49" charset="-122"/>
              </a:rPr>
              <a:t>%d  </a:t>
            </a:r>
            <a:r>
              <a:rPr lang="zh-CN" altLang="en-US" sz="2000" b="1" dirty="0">
                <a:latin typeface="楷体_GB2312" pitchFamily="49" charset="-122"/>
                <a:ea typeface="楷体_GB2312" pitchFamily="49" charset="-122"/>
              </a:rPr>
              <a:t>找不到！</a:t>
            </a:r>
            <a:r>
              <a:rPr lang="en-US" altLang="zh-CN" sz="2000" b="1" dirty="0">
                <a:latin typeface="楷体_GB2312" pitchFamily="49" charset="-122"/>
                <a:ea typeface="楷体_GB2312" pitchFamily="49" charset="-122"/>
              </a:rPr>
              <a:t>\n", num);</a:t>
            </a:r>
          </a:p>
          <a:p>
            <a:pPr marL="0" indent="0" eaLnBrk="1" hangingPunct="1">
              <a:lnSpc>
                <a:spcPct val="90000"/>
              </a:lnSpc>
              <a:buFont typeface="Monotype Sorts" pitchFamily="2" charset="2"/>
              <a:buNone/>
              <a:defRPr/>
            </a:pPr>
            <a:r>
              <a:rPr lang="en-US" altLang="zh-CN" sz="2000" b="1" dirty="0">
                <a:latin typeface="楷体_GB2312" pitchFamily="49" charset="-122"/>
                <a:ea typeface="楷体_GB2312" pitchFamily="49" charset="-122"/>
              </a:rPr>
              <a:t>  </a:t>
            </a:r>
            <a:r>
              <a:rPr lang="en-US" altLang="zh-CN" sz="2000" b="1" dirty="0">
                <a:solidFill>
                  <a:srgbClr val="FF0000"/>
                </a:solidFill>
                <a:latin typeface="楷体_GB2312" pitchFamily="49" charset="-122"/>
                <a:ea typeface="楷体_GB2312" pitchFamily="49" charset="-122"/>
              </a:rPr>
              <a:t>return head; </a:t>
            </a:r>
            <a:r>
              <a:rPr lang="en-US" altLang="zh-CN" sz="2000" b="1" dirty="0">
                <a:latin typeface="楷体_GB2312" pitchFamily="49" charset="-122"/>
                <a:ea typeface="楷体_GB2312" pitchFamily="49" charset="-122"/>
              </a:rPr>
              <a:t>	/* </a:t>
            </a:r>
            <a:r>
              <a:rPr lang="zh-CN" altLang="en-US" sz="2000" b="1" dirty="0">
                <a:latin typeface="楷体_GB2312" pitchFamily="49" charset="-122"/>
                <a:ea typeface="楷体_GB2312" pitchFamily="49" charset="-122"/>
              </a:rPr>
              <a:t>返回头指针 *</a:t>
            </a:r>
            <a:r>
              <a:rPr lang="en-US" altLang="zh-CN" sz="2000" b="1" dirty="0">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000" b="1" dirty="0">
                <a:latin typeface="楷体_GB2312" pitchFamily="49" charset="-122"/>
                <a:ea typeface="楷体_GB2312" pitchFamily="49" charset="-122"/>
              </a:rPr>
              <a:t>}</a:t>
            </a:r>
          </a:p>
        </p:txBody>
      </p:sp>
      <p:sp>
        <p:nvSpPr>
          <p:cNvPr id="5" name="灯片编号占位符 5"/>
          <p:cNvSpPr>
            <a:spLocks noGrp="1"/>
          </p:cNvSpPr>
          <p:nvPr>
            <p:ph type="sldNum" sz="quarter" idx="12"/>
          </p:nvPr>
        </p:nvSpPr>
        <p:spPr/>
        <p:txBody>
          <a:bodyPr/>
          <a:lstStyle/>
          <a:p>
            <a:pPr>
              <a:defRPr/>
            </a:pPr>
            <a:fld id="{EEAF8D8C-DBBF-492D-BCEC-7C52546B0691}" type="slidenum">
              <a:rPr lang="en-US" altLang="zh-CN"/>
              <a:pPr>
                <a:defRPr/>
              </a:pPr>
              <a:t>91</a:t>
            </a:fld>
            <a:endParaRPr lang="en-US" altLang="zh-CN"/>
          </a:p>
        </p:txBody>
      </p:sp>
      <p:sp>
        <p:nvSpPr>
          <p:cNvPr id="4" name="矩形 3"/>
          <p:cNvSpPr/>
          <p:nvPr/>
        </p:nvSpPr>
        <p:spPr>
          <a:xfrm>
            <a:off x="5543600" y="4509120"/>
            <a:ext cx="3600400" cy="1938992"/>
          </a:xfrm>
          <a:prstGeom prst="rect">
            <a:avLst/>
          </a:prstGeom>
        </p:spPr>
        <p:txBody>
          <a:bodyPr wrap="square">
            <a:spAutoFit/>
          </a:bodyPr>
          <a:lstStyle/>
          <a:p>
            <a:r>
              <a:rPr lang="zh-CN" altLang="en-US" b="1" dirty="0">
                <a:latin typeface="楷体_GB2312" pitchFamily="49" charset="-122"/>
                <a:ea typeface="楷体_GB2312" pitchFamily="49" charset="-122"/>
              </a:rPr>
              <a:t>循环体由两条语句组成，让当前表元的指针保存于变量</a:t>
            </a:r>
            <a:r>
              <a:rPr lang="en-US" altLang="zh-CN" b="1" dirty="0">
                <a:latin typeface="楷体_GB2312" pitchFamily="49" charset="-122"/>
                <a:ea typeface="楷体_GB2312" pitchFamily="49" charset="-122"/>
              </a:rPr>
              <a:t>w(w = p)</a:t>
            </a:r>
            <a:r>
              <a:rPr lang="zh-CN" altLang="en-US" b="1" dirty="0">
                <a:latin typeface="楷体_GB2312" pitchFamily="49" charset="-122"/>
                <a:ea typeface="楷体_GB2312" pitchFamily="49" charset="-122"/>
              </a:rPr>
              <a:t>，当前表元指针指向下一个表元</a:t>
            </a:r>
            <a:r>
              <a:rPr lang="en-US" altLang="zh-CN" b="1" dirty="0">
                <a:latin typeface="楷体_GB2312" pitchFamily="49" charset="-122"/>
                <a:ea typeface="楷体_GB2312" pitchFamily="49" charset="-122"/>
              </a:rPr>
              <a:t>(p = p-&gt;next)</a:t>
            </a:r>
            <a:r>
              <a:rPr lang="zh-CN" altLang="en-US" b="1" dirty="0">
                <a:latin typeface="楷体_GB2312" pitchFamily="49" charset="-122"/>
                <a:ea typeface="楷体_GB2312" pitchFamily="49" charset="-122"/>
              </a:rPr>
              <a:t>。</a:t>
            </a:r>
            <a:endParaRPr lang="zh-CN" altLang="en-US" dirty="0"/>
          </a:p>
        </p:txBody>
      </p:sp>
      <p:sp>
        <p:nvSpPr>
          <p:cNvPr id="7" name="TextBox 6"/>
          <p:cNvSpPr txBox="1"/>
          <p:nvPr/>
        </p:nvSpPr>
        <p:spPr>
          <a:xfrm>
            <a:off x="2411760" y="4549676"/>
            <a:ext cx="3347864" cy="2308324"/>
          </a:xfrm>
          <a:prstGeom prst="rect">
            <a:avLst/>
          </a:prstGeom>
          <a:noFill/>
        </p:spPr>
        <p:txBody>
          <a:bodyPr wrap="square" rtlCol="0">
            <a:spAutoFit/>
          </a:bodyPr>
          <a:lstStyle/>
          <a:p>
            <a:r>
              <a:rPr lang="en-US" altLang="zh-CN" b="1" dirty="0">
                <a:latin typeface="楷体_GB2312" pitchFamily="49" charset="-122"/>
                <a:ea typeface="楷体_GB2312" pitchFamily="49" charset="-122"/>
              </a:rPr>
              <a:t>p</a:t>
            </a:r>
            <a:r>
              <a:rPr lang="zh-CN" altLang="en-US" b="1" dirty="0">
                <a:latin typeface="楷体_GB2312" pitchFamily="49" charset="-122"/>
                <a:ea typeface="楷体_GB2312" pitchFamily="49" charset="-122"/>
              </a:rPr>
              <a:t>为查找循环的工作指针。初值是头指针，循环条件是还有当前表元，且当前表元的学号不等于要寻找的学号。</a:t>
            </a:r>
            <a:endParaRPr lang="en-US" altLang="zh-CN" b="1" dirty="0">
              <a:latin typeface="楷体_GB2312" pitchFamily="49" charset="-122"/>
              <a:ea typeface="楷体_GB2312" pitchFamily="49" charset="-122"/>
            </a:endParaRPr>
          </a:p>
          <a:p>
            <a:endParaRPr lang="zh-CN" altLang="en-US" dirty="0"/>
          </a:p>
        </p:txBody>
      </p:sp>
      <p:sp>
        <p:nvSpPr>
          <p:cNvPr id="2" name="文本框 1"/>
          <p:cNvSpPr txBox="1"/>
          <p:nvPr/>
        </p:nvSpPr>
        <p:spPr>
          <a:xfrm>
            <a:off x="539552" y="6165304"/>
            <a:ext cx="7632848" cy="461665"/>
          </a:xfrm>
          <a:prstGeom prst="rect">
            <a:avLst/>
          </a:prstGeom>
          <a:noFill/>
        </p:spPr>
        <p:txBody>
          <a:bodyPr wrap="square" rtlCol="0">
            <a:spAutoFit/>
          </a:bodyPr>
          <a:lstStyle/>
          <a:p>
            <a:r>
              <a:rPr lang="zh-CN" altLang="en-US" dirty="0">
                <a:solidFill>
                  <a:srgbClr val="FF0000"/>
                </a:solidFill>
              </a:rPr>
              <a:t>只要函数有修改头指针的可能性，就必须返回头指针</a:t>
            </a:r>
          </a:p>
        </p:txBody>
      </p:sp>
      <p:sp>
        <p:nvSpPr>
          <p:cNvPr id="3" name="椭圆 2">
            <a:extLst>
              <a:ext uri="{FF2B5EF4-FFF2-40B4-BE49-F238E27FC236}">
                <a16:creationId xmlns:a16="http://schemas.microsoft.com/office/drawing/2014/main" id="{98EB9666-B3B6-FB81-73F9-C20D4B5B450A}"/>
              </a:ext>
            </a:extLst>
          </p:cNvPr>
          <p:cNvSpPr/>
          <p:nvPr/>
        </p:nvSpPr>
        <p:spPr>
          <a:xfrm>
            <a:off x="4860032" y="2780928"/>
            <a:ext cx="1296144" cy="43204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t>此时</a:t>
            </a:r>
            <a:r>
              <a:rPr lang="en-US" altLang="zh-CN" sz="1400" dirty="0"/>
              <a:t>w</a:t>
            </a:r>
            <a:r>
              <a:rPr lang="zh-CN" altLang="en-US" sz="1400" dirty="0"/>
              <a:t>不可用！！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84034">
                                            <p:txEl>
                                              <p:pRg st="3" end="3"/>
                                            </p:txEl>
                                          </p:spTgt>
                                        </p:tgtEl>
                                        <p:attrNameLst>
                                          <p:attrName>style.visibility</p:attrName>
                                        </p:attrNameLst>
                                      </p:cBhvr>
                                      <p:to>
                                        <p:strVal val="visible"/>
                                      </p:to>
                                    </p:set>
                                    <p:anim calcmode="lin" valueType="num">
                                      <p:cBhvr additive="base">
                                        <p:cTn id="7" dur="500" fill="hold"/>
                                        <p:tgtEl>
                                          <p:spTgt spid="684034">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84034">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84034">
                                            <p:txEl>
                                              <p:pRg st="4" end="4"/>
                                            </p:txEl>
                                          </p:spTgt>
                                        </p:tgtEl>
                                        <p:attrNameLst>
                                          <p:attrName>style.visibility</p:attrName>
                                        </p:attrNameLst>
                                      </p:cBhvr>
                                      <p:to>
                                        <p:strVal val="visible"/>
                                      </p:to>
                                    </p:set>
                                    <p:anim calcmode="lin" valueType="num">
                                      <p:cBhvr additive="base">
                                        <p:cTn id="11" dur="500" fill="hold"/>
                                        <p:tgtEl>
                                          <p:spTgt spid="684034">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84034">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84034">
                                            <p:txEl>
                                              <p:pRg st="5" end="5"/>
                                            </p:txEl>
                                          </p:spTgt>
                                        </p:tgtEl>
                                        <p:attrNameLst>
                                          <p:attrName>style.visibility</p:attrName>
                                        </p:attrNameLst>
                                      </p:cBhvr>
                                      <p:to>
                                        <p:strVal val="visible"/>
                                      </p:to>
                                    </p:set>
                                    <p:anim calcmode="lin" valueType="num">
                                      <p:cBhvr additive="base">
                                        <p:cTn id="15" dur="500" fill="hold"/>
                                        <p:tgtEl>
                                          <p:spTgt spid="684034">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84034">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84034">
                                            <p:txEl>
                                              <p:pRg st="6" end="6"/>
                                            </p:txEl>
                                          </p:spTgt>
                                        </p:tgtEl>
                                        <p:attrNameLst>
                                          <p:attrName>style.visibility</p:attrName>
                                        </p:attrNameLst>
                                      </p:cBhvr>
                                      <p:to>
                                        <p:strVal val="visible"/>
                                      </p:to>
                                    </p:set>
                                    <p:anim calcmode="lin" valueType="num">
                                      <p:cBhvr additive="base">
                                        <p:cTn id="19" dur="500" fill="hold"/>
                                        <p:tgtEl>
                                          <p:spTgt spid="684034">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8403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xit" presetSubtype="4" fill="hold" grpId="1" nodeType="clickEffect">
                                  <p:stCondLst>
                                    <p:cond delay="0"/>
                                  </p:stCondLst>
                                  <p:childTnLst>
                                    <p:anim calcmode="lin" valueType="num">
                                      <p:cBhvr additive="base">
                                        <p:cTn id="30" dur="500"/>
                                        <p:tgtEl>
                                          <p:spTgt spid="7"/>
                                        </p:tgtEl>
                                        <p:attrNameLst>
                                          <p:attrName>ppt_x</p:attrName>
                                        </p:attrNameLst>
                                      </p:cBhvr>
                                      <p:tavLst>
                                        <p:tav tm="0">
                                          <p:val>
                                            <p:strVal val="ppt_x"/>
                                          </p:val>
                                        </p:tav>
                                        <p:tav tm="100000">
                                          <p:val>
                                            <p:strVal val="ppt_x"/>
                                          </p:val>
                                        </p:tav>
                                      </p:tavLst>
                                    </p:anim>
                                    <p:anim calcmode="lin" valueType="num">
                                      <p:cBhvr additive="base">
                                        <p:cTn id="31" dur="500"/>
                                        <p:tgtEl>
                                          <p:spTgt spid="7"/>
                                        </p:tgtEl>
                                        <p:attrNameLst>
                                          <p:attrName>ppt_y</p:attrName>
                                        </p:attrNameLst>
                                      </p:cBhvr>
                                      <p:tavLst>
                                        <p:tav tm="0">
                                          <p:val>
                                            <p:strVal val="ppt_y"/>
                                          </p:val>
                                        </p:tav>
                                        <p:tav tm="100000">
                                          <p:val>
                                            <p:strVal val="1+ppt_h/2"/>
                                          </p:val>
                                        </p:tav>
                                      </p:tavLst>
                                    </p:anim>
                                    <p:set>
                                      <p:cBhvr>
                                        <p:cTn id="32" dur="1" fill="hold">
                                          <p:stCondLst>
                                            <p:cond delay="499"/>
                                          </p:stCondLst>
                                        </p:cTn>
                                        <p:tgtEl>
                                          <p:spTgt spid="7"/>
                                        </p:tgtEl>
                                        <p:attrNameLst>
                                          <p:attrName>style.visibility</p:attrName>
                                        </p:attrNameLst>
                                      </p:cBhvr>
                                      <p:to>
                                        <p:strVal val="hidden"/>
                                      </p:to>
                                    </p:set>
                                  </p:childTnLst>
                                </p:cTn>
                              </p:par>
                              <p:par>
                                <p:cTn id="33" presetID="2" presetClass="entr" presetSubtype="4" fill="hold" grpId="0" nodeType="with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additive="base">
                                        <p:cTn id="35" dur="500" fill="hold"/>
                                        <p:tgtEl>
                                          <p:spTgt spid="4"/>
                                        </p:tgtEl>
                                        <p:attrNameLst>
                                          <p:attrName>ppt_x</p:attrName>
                                        </p:attrNameLst>
                                      </p:cBhvr>
                                      <p:tavLst>
                                        <p:tav tm="0">
                                          <p:val>
                                            <p:strVal val="#ppt_x"/>
                                          </p:val>
                                        </p:tav>
                                        <p:tav tm="100000">
                                          <p:val>
                                            <p:strVal val="#ppt_x"/>
                                          </p:val>
                                        </p:tav>
                                      </p:tavLst>
                                    </p:anim>
                                    <p:anim calcmode="lin" valueType="num">
                                      <p:cBhvr additive="base">
                                        <p:cTn id="3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xit" presetSubtype="4" fill="hold" grpId="1" nodeType="clickEffect">
                                  <p:stCondLst>
                                    <p:cond delay="0"/>
                                  </p:stCondLst>
                                  <p:childTnLst>
                                    <p:anim calcmode="lin" valueType="num">
                                      <p:cBhvr additive="base">
                                        <p:cTn id="40" dur="500"/>
                                        <p:tgtEl>
                                          <p:spTgt spid="4"/>
                                        </p:tgtEl>
                                        <p:attrNameLst>
                                          <p:attrName>ppt_x</p:attrName>
                                        </p:attrNameLst>
                                      </p:cBhvr>
                                      <p:tavLst>
                                        <p:tav tm="0">
                                          <p:val>
                                            <p:strVal val="ppt_x"/>
                                          </p:val>
                                        </p:tav>
                                        <p:tav tm="100000">
                                          <p:val>
                                            <p:strVal val="ppt_x"/>
                                          </p:val>
                                        </p:tav>
                                      </p:tavLst>
                                    </p:anim>
                                    <p:anim calcmode="lin" valueType="num">
                                      <p:cBhvr additive="base">
                                        <p:cTn id="41" dur="500"/>
                                        <p:tgtEl>
                                          <p:spTgt spid="4"/>
                                        </p:tgtEl>
                                        <p:attrNameLst>
                                          <p:attrName>ppt_y</p:attrName>
                                        </p:attrNameLst>
                                      </p:cBhvr>
                                      <p:tavLst>
                                        <p:tav tm="0">
                                          <p:val>
                                            <p:strVal val="ppt_y"/>
                                          </p:val>
                                        </p:tav>
                                        <p:tav tm="100000">
                                          <p:val>
                                            <p:strVal val="1+ppt_h/2"/>
                                          </p:val>
                                        </p:tav>
                                      </p:tavLst>
                                    </p:anim>
                                    <p:set>
                                      <p:cBhvr>
                                        <p:cTn id="42" dur="1" fill="hold">
                                          <p:stCondLst>
                                            <p:cond delay="499"/>
                                          </p:stCondLst>
                                        </p:cTn>
                                        <p:tgtEl>
                                          <p:spTgt spid="4"/>
                                        </p:tgtEl>
                                        <p:attrNameLst>
                                          <p:attrName>style.visibility</p:attrName>
                                        </p:attrNameLst>
                                      </p:cBhvr>
                                      <p:to>
                                        <p:strVal val="hidden"/>
                                      </p:to>
                                    </p:set>
                                  </p:childTnLst>
                                </p:cTn>
                              </p:par>
                              <p:par>
                                <p:cTn id="43" presetID="2" presetClass="entr" presetSubtype="4" fill="hold" nodeType="withEffect">
                                  <p:stCondLst>
                                    <p:cond delay="0"/>
                                  </p:stCondLst>
                                  <p:childTnLst>
                                    <p:set>
                                      <p:cBhvr>
                                        <p:cTn id="44" dur="1" fill="hold">
                                          <p:stCondLst>
                                            <p:cond delay="0"/>
                                          </p:stCondLst>
                                        </p:cTn>
                                        <p:tgtEl>
                                          <p:spTgt spid="684034">
                                            <p:txEl>
                                              <p:pRg st="7" end="7"/>
                                            </p:txEl>
                                          </p:spTgt>
                                        </p:tgtEl>
                                        <p:attrNameLst>
                                          <p:attrName>style.visibility</p:attrName>
                                        </p:attrNameLst>
                                      </p:cBhvr>
                                      <p:to>
                                        <p:strVal val="visible"/>
                                      </p:to>
                                    </p:set>
                                    <p:anim calcmode="lin" valueType="num">
                                      <p:cBhvr additive="base">
                                        <p:cTn id="45" dur="500" fill="hold"/>
                                        <p:tgtEl>
                                          <p:spTgt spid="684034">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68403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iterate type="lt">
                                    <p:tmPct val="0"/>
                                  </p:iterate>
                                  <p:childTnLst>
                                    <p:set>
                                      <p:cBhvr>
                                        <p:cTn id="50" dur="1" fill="hold">
                                          <p:stCondLst>
                                            <p:cond delay="0"/>
                                          </p:stCondLst>
                                        </p:cTn>
                                        <p:tgtEl>
                                          <p:spTgt spid="684034">
                                            <p:txEl>
                                              <p:pRg st="8" end="8"/>
                                            </p:txEl>
                                          </p:spTgt>
                                        </p:tgtEl>
                                        <p:attrNameLst>
                                          <p:attrName>style.visibility</p:attrName>
                                        </p:attrNameLst>
                                      </p:cBhvr>
                                      <p:to>
                                        <p:strVal val="visible"/>
                                      </p:to>
                                    </p:set>
                                    <p:anim calcmode="lin" valueType="num">
                                      <p:cBhvr additive="base">
                                        <p:cTn id="51" dur="500" fill="hold"/>
                                        <p:tgtEl>
                                          <p:spTgt spid="684034">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68403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3"/>
                                        </p:tgtEl>
                                        <p:attrNameLst>
                                          <p:attrName>style.visibility</p:attrName>
                                        </p:attrNameLst>
                                      </p:cBhvr>
                                      <p:to>
                                        <p:strVal val="visible"/>
                                      </p:to>
                                    </p:set>
                                    <p:anim calcmode="lin" valueType="num">
                                      <p:cBhvr additive="base">
                                        <p:cTn id="57" dur="500" fill="hold"/>
                                        <p:tgtEl>
                                          <p:spTgt spid="3"/>
                                        </p:tgtEl>
                                        <p:attrNameLst>
                                          <p:attrName>ppt_x</p:attrName>
                                        </p:attrNameLst>
                                      </p:cBhvr>
                                      <p:tavLst>
                                        <p:tav tm="0">
                                          <p:val>
                                            <p:strVal val="#ppt_x"/>
                                          </p:val>
                                        </p:tav>
                                        <p:tav tm="100000">
                                          <p:val>
                                            <p:strVal val="#ppt_x"/>
                                          </p:val>
                                        </p:tav>
                                      </p:tavLst>
                                    </p:anim>
                                    <p:anim calcmode="lin" valueType="num">
                                      <p:cBhvr additive="base">
                                        <p:cTn id="5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684034">
                                            <p:txEl>
                                              <p:pRg st="9" end="9"/>
                                            </p:txEl>
                                          </p:spTgt>
                                        </p:tgtEl>
                                        <p:attrNameLst>
                                          <p:attrName>style.visibility</p:attrName>
                                        </p:attrNameLst>
                                      </p:cBhvr>
                                      <p:to>
                                        <p:strVal val="visible"/>
                                      </p:to>
                                    </p:set>
                                    <p:anim calcmode="lin" valueType="num">
                                      <p:cBhvr additive="base">
                                        <p:cTn id="63" dur="500" fill="hold"/>
                                        <p:tgtEl>
                                          <p:spTgt spid="684034">
                                            <p:txEl>
                                              <p:pRg st="9" end="9"/>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684034">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684034">
                                            <p:txEl>
                                              <p:pRg st="10" end="10"/>
                                            </p:txEl>
                                          </p:spTgt>
                                        </p:tgtEl>
                                        <p:attrNameLst>
                                          <p:attrName>style.visibility</p:attrName>
                                        </p:attrNameLst>
                                      </p:cBhvr>
                                      <p:to>
                                        <p:strVal val="visible"/>
                                      </p:to>
                                    </p:set>
                                    <p:anim calcmode="lin" valueType="num">
                                      <p:cBhvr additive="base">
                                        <p:cTn id="69" dur="500" fill="hold"/>
                                        <p:tgtEl>
                                          <p:spTgt spid="684034">
                                            <p:txEl>
                                              <p:pRg st="10" end="10"/>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684034">
                                            <p:txEl>
                                              <p:pRg st="10" end="10"/>
                                            </p:txEl>
                                          </p:spTgt>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684034">
                                            <p:txEl>
                                              <p:pRg st="11" end="11"/>
                                            </p:txEl>
                                          </p:spTgt>
                                        </p:tgtEl>
                                        <p:attrNameLst>
                                          <p:attrName>style.visibility</p:attrName>
                                        </p:attrNameLst>
                                      </p:cBhvr>
                                      <p:to>
                                        <p:strVal val="visible"/>
                                      </p:to>
                                    </p:set>
                                    <p:anim calcmode="lin" valueType="num">
                                      <p:cBhvr additive="base">
                                        <p:cTn id="73" dur="500" fill="hold"/>
                                        <p:tgtEl>
                                          <p:spTgt spid="684034">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684034">
                                            <p:txEl>
                                              <p:pRg st="11" end="11"/>
                                            </p:txEl>
                                          </p:spTgt>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684034">
                                            <p:txEl>
                                              <p:pRg st="12" end="12"/>
                                            </p:txEl>
                                          </p:spTgt>
                                        </p:tgtEl>
                                        <p:attrNameLst>
                                          <p:attrName>style.visibility</p:attrName>
                                        </p:attrNameLst>
                                      </p:cBhvr>
                                      <p:to>
                                        <p:strVal val="visible"/>
                                      </p:to>
                                    </p:set>
                                    <p:anim calcmode="lin" valueType="num">
                                      <p:cBhvr additive="base">
                                        <p:cTn id="77" dur="500" fill="hold"/>
                                        <p:tgtEl>
                                          <p:spTgt spid="684034">
                                            <p:txEl>
                                              <p:pRg st="12" end="12"/>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684034">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nodeType="clickEffect">
                                  <p:stCondLst>
                                    <p:cond delay="0"/>
                                  </p:stCondLst>
                                  <p:childTnLst>
                                    <p:set>
                                      <p:cBhvr>
                                        <p:cTn id="82" dur="1" fill="hold">
                                          <p:stCondLst>
                                            <p:cond delay="0"/>
                                          </p:stCondLst>
                                        </p:cTn>
                                        <p:tgtEl>
                                          <p:spTgt spid="684034">
                                            <p:txEl>
                                              <p:pRg st="13" end="13"/>
                                            </p:txEl>
                                          </p:spTgt>
                                        </p:tgtEl>
                                        <p:attrNameLst>
                                          <p:attrName>style.visibility</p:attrName>
                                        </p:attrNameLst>
                                      </p:cBhvr>
                                      <p:to>
                                        <p:strVal val="visible"/>
                                      </p:to>
                                    </p:set>
                                    <p:anim calcmode="lin" valueType="num">
                                      <p:cBhvr additive="base">
                                        <p:cTn id="83" dur="500" fill="hold"/>
                                        <p:tgtEl>
                                          <p:spTgt spid="684034">
                                            <p:txEl>
                                              <p:pRg st="13" end="13"/>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684034">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nodeType="clickEffect">
                                  <p:stCondLst>
                                    <p:cond delay="0"/>
                                  </p:stCondLst>
                                  <p:childTnLst>
                                    <p:set>
                                      <p:cBhvr>
                                        <p:cTn id="88" dur="1" fill="hold">
                                          <p:stCondLst>
                                            <p:cond delay="0"/>
                                          </p:stCondLst>
                                        </p:cTn>
                                        <p:tgtEl>
                                          <p:spTgt spid="684034">
                                            <p:txEl>
                                              <p:pRg st="14" end="14"/>
                                            </p:txEl>
                                          </p:spTgt>
                                        </p:tgtEl>
                                        <p:attrNameLst>
                                          <p:attrName>style.visibility</p:attrName>
                                        </p:attrNameLst>
                                      </p:cBhvr>
                                      <p:to>
                                        <p:strVal val="visible"/>
                                      </p:to>
                                    </p:set>
                                    <p:anim calcmode="lin" valueType="num">
                                      <p:cBhvr additive="base">
                                        <p:cTn id="89" dur="500" fill="hold"/>
                                        <p:tgtEl>
                                          <p:spTgt spid="684034">
                                            <p:txEl>
                                              <p:pRg st="14" end="14"/>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684034">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grpId="0" nodeType="clickEffect">
                                  <p:stCondLst>
                                    <p:cond delay="0"/>
                                  </p:stCondLst>
                                  <p:childTnLst>
                                    <p:set>
                                      <p:cBhvr>
                                        <p:cTn id="94" dur="1" fill="hold">
                                          <p:stCondLst>
                                            <p:cond delay="0"/>
                                          </p:stCondLst>
                                        </p:cTn>
                                        <p:tgtEl>
                                          <p:spTgt spid="2"/>
                                        </p:tgtEl>
                                        <p:attrNameLst>
                                          <p:attrName>style.visibility</p:attrName>
                                        </p:attrNameLst>
                                      </p:cBhvr>
                                      <p:to>
                                        <p:strVal val="visible"/>
                                      </p:to>
                                    </p:set>
                                    <p:anim calcmode="lin" valueType="num">
                                      <p:cBhvr additive="base">
                                        <p:cTn id="95" dur="500" fill="hold"/>
                                        <p:tgtEl>
                                          <p:spTgt spid="2"/>
                                        </p:tgtEl>
                                        <p:attrNameLst>
                                          <p:attrName>ppt_x</p:attrName>
                                        </p:attrNameLst>
                                      </p:cBhvr>
                                      <p:tavLst>
                                        <p:tav tm="0">
                                          <p:val>
                                            <p:strVal val="#ppt_x"/>
                                          </p:val>
                                        </p:tav>
                                        <p:tav tm="100000">
                                          <p:val>
                                            <p:strVal val="#ppt_x"/>
                                          </p:val>
                                        </p:tav>
                                      </p:tavLst>
                                    </p:anim>
                                    <p:anim calcmode="lin" valueType="num">
                                      <p:cBhvr additive="base">
                                        <p:cTn id="9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18" presetClass="emph" presetSubtype="0" fill="hold" nodeType="clickEffect">
                                  <p:stCondLst>
                                    <p:cond delay="0"/>
                                  </p:stCondLst>
                                  <p:iterate type="lt">
                                    <p:tmPct val="4000"/>
                                  </p:iterate>
                                  <p:childTnLst>
                                    <p:set>
                                      <p:cBhvr override="childStyle">
                                        <p:cTn id="100" dur="500" fill="hold"/>
                                        <p:tgtEl>
                                          <p:spTgt spid="684034">
                                            <p:txEl>
                                              <p:pRg st="8" end="8"/>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7" grpId="0"/>
      <p:bldP spid="7" grpId="1"/>
      <p:bldP spid="2" grpId="0"/>
      <p:bldP spid="3" grpId="0" animBg="1"/>
    </p:bldLst>
  </p:timing>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85058" name="Rectangle 2"/>
          <p:cNvSpPr>
            <a:spLocks noGrp="1" noChangeArrowheads="1"/>
          </p:cNvSpPr>
          <p:nvPr>
            <p:ph idx="1"/>
          </p:nvPr>
        </p:nvSpPr>
        <p:spPr>
          <a:xfrm>
            <a:off x="468313" y="620713"/>
            <a:ext cx="8304212" cy="5976937"/>
          </a:xfrm>
        </p:spPr>
        <p:txBody>
          <a:bodyPr/>
          <a:lstStyle/>
          <a:p>
            <a:pPr marL="0" indent="0" eaLnBrk="1" hangingPunct="1">
              <a:buFont typeface="Monotype Sorts" pitchFamily="2" charset="2"/>
              <a:buNone/>
              <a:defRPr/>
            </a:pPr>
            <a:r>
              <a:rPr lang="en-US" altLang="zh-CN" b="1">
                <a:effectLst>
                  <a:outerShdw blurRad="38100" dist="38100" dir="2700000" algn="tl">
                    <a:srgbClr val="000000"/>
                  </a:outerShdw>
                </a:effectLst>
                <a:latin typeface="楷体_GB2312" pitchFamily="49" charset="-122"/>
                <a:ea typeface="楷体_GB2312" pitchFamily="49" charset="-122"/>
              </a:rPr>
              <a:t>#include &lt;stdio.h&gt;</a:t>
            </a:r>
          </a:p>
          <a:p>
            <a:pPr marL="0" indent="0" eaLnBrk="1" hangingPunct="1">
              <a:buFont typeface="Monotype Sorts" pitchFamily="2" charset="2"/>
              <a:buNone/>
              <a:defRPr/>
            </a:pPr>
            <a:r>
              <a:rPr lang="en-US" altLang="zh-CN" b="1">
                <a:effectLst>
                  <a:outerShdw blurRad="38100" dist="38100" dir="2700000" algn="tl">
                    <a:srgbClr val="000000"/>
                  </a:outerShdw>
                </a:effectLst>
                <a:latin typeface="楷体_GB2312" pitchFamily="49" charset="-122"/>
                <a:ea typeface="楷体_GB2312" pitchFamily="49" charset="-122"/>
              </a:rPr>
              <a:t>#include &lt;string.h&gt;</a:t>
            </a:r>
          </a:p>
          <a:p>
            <a:pPr marL="0" indent="0" eaLnBrk="1" hangingPunct="1">
              <a:buFont typeface="Monotype Sorts" pitchFamily="2" charset="2"/>
              <a:buNone/>
              <a:defRPr/>
            </a:pPr>
            <a:r>
              <a:rPr lang="en-US" altLang="zh-CN" b="1">
                <a:effectLst>
                  <a:outerShdw blurRad="38100" dist="38100" dir="2700000" algn="tl">
                    <a:srgbClr val="000000"/>
                  </a:outerShdw>
                </a:effectLst>
                <a:latin typeface="楷体_GB2312" pitchFamily="49" charset="-122"/>
                <a:ea typeface="楷体_GB2312" pitchFamily="49" charset="-122"/>
              </a:rPr>
              <a:t>#include &lt;malloc.h&gt;</a:t>
            </a:r>
          </a:p>
          <a:p>
            <a:pPr marL="0" indent="0" eaLnBrk="1" hangingPunct="1">
              <a:buFont typeface="Monotype Sorts" pitchFamily="2" charset="2"/>
              <a:buNone/>
              <a:defRPr/>
            </a:pPr>
            <a:r>
              <a:rPr lang="en-US" altLang="zh-CN" b="1">
                <a:effectLst>
                  <a:outerShdw blurRad="38100" dist="38100" dir="2700000" algn="tl">
                    <a:srgbClr val="000000"/>
                  </a:outerShdw>
                </a:effectLst>
                <a:latin typeface="楷体_GB2312" pitchFamily="49" charset="-122"/>
                <a:ea typeface="楷体_GB2312" pitchFamily="49" charset="-122"/>
              </a:rPr>
              <a:t>struct stuS</a:t>
            </a:r>
          </a:p>
          <a:p>
            <a:pPr marL="0" indent="0" eaLnBrk="1" hangingPunct="1">
              <a:buFont typeface="Monotype Sorts" pitchFamily="2" charset="2"/>
              <a:buNone/>
              <a:defRPr/>
            </a:pPr>
            <a:r>
              <a:rPr lang="en-US" altLang="zh-CN" b="1">
                <a:effectLst>
                  <a:outerShdw blurRad="38100" dist="38100" dir="2700000" algn="tl">
                    <a:srgbClr val="000000"/>
                  </a:outerShdw>
                </a:effectLst>
                <a:latin typeface="楷体_GB2312" pitchFamily="49" charset="-122"/>
                <a:ea typeface="楷体_GB2312" pitchFamily="49" charset="-122"/>
              </a:rPr>
              <a:t>{ int number;			/* </a:t>
            </a:r>
            <a:r>
              <a:rPr lang="zh-CN" altLang="en-US" b="1">
                <a:effectLst>
                  <a:outerShdw blurRad="38100" dist="38100" dir="2700000" algn="tl">
                    <a:srgbClr val="000000"/>
                  </a:outerShdw>
                </a:effectLst>
                <a:latin typeface="楷体_GB2312" pitchFamily="49" charset="-122"/>
                <a:ea typeface="楷体_GB2312" pitchFamily="49" charset="-122"/>
              </a:rPr>
              <a:t>学号 *</a:t>
            </a:r>
            <a:r>
              <a:rPr lang="en-US" altLang="zh-CN" b="1">
                <a:effectLst>
                  <a:outerShdw blurRad="38100" dist="38100" dir="2700000" algn="tl">
                    <a:srgbClr val="000000"/>
                  </a:outerShdw>
                </a:effectLst>
                <a:latin typeface="楷体_GB2312" pitchFamily="49" charset="-122"/>
                <a:ea typeface="楷体_GB2312" pitchFamily="49" charset="-122"/>
              </a:rPr>
              <a:t>/</a:t>
            </a:r>
          </a:p>
          <a:p>
            <a:pPr marL="0" indent="0" eaLnBrk="1" hangingPunct="1">
              <a:buFont typeface="Monotype Sorts" pitchFamily="2" charset="2"/>
              <a:buNone/>
              <a:defRPr/>
            </a:pPr>
            <a:r>
              <a:rPr lang="en-US" altLang="zh-CN" b="1">
                <a:effectLst>
                  <a:outerShdw blurRad="38100" dist="38100" dir="2700000" algn="tl">
                    <a:srgbClr val="000000"/>
                  </a:outerShdw>
                </a:effectLst>
                <a:latin typeface="楷体_GB2312" pitchFamily="49" charset="-122"/>
                <a:ea typeface="楷体_GB2312" pitchFamily="49" charset="-122"/>
              </a:rPr>
              <a:t>  char name[20]; 		/* </a:t>
            </a:r>
            <a:r>
              <a:rPr lang="zh-CN" altLang="en-US" b="1">
                <a:effectLst>
                  <a:outerShdw blurRad="38100" dist="38100" dir="2700000" algn="tl">
                    <a:srgbClr val="000000"/>
                  </a:outerShdw>
                </a:effectLst>
                <a:latin typeface="楷体_GB2312" pitchFamily="49" charset="-122"/>
                <a:ea typeface="楷体_GB2312" pitchFamily="49" charset="-122"/>
              </a:rPr>
              <a:t>姓名 *</a:t>
            </a:r>
            <a:r>
              <a:rPr lang="en-US" altLang="zh-CN" b="1">
                <a:effectLst>
                  <a:outerShdw blurRad="38100" dist="38100" dir="2700000" algn="tl">
                    <a:srgbClr val="000000"/>
                  </a:outerShdw>
                </a:effectLst>
                <a:latin typeface="楷体_GB2312" pitchFamily="49" charset="-122"/>
                <a:ea typeface="楷体_GB2312" pitchFamily="49" charset="-122"/>
              </a:rPr>
              <a:t>/</a:t>
            </a:r>
          </a:p>
          <a:p>
            <a:pPr marL="0" indent="0" eaLnBrk="1" hangingPunct="1">
              <a:buFont typeface="Monotype Sorts" pitchFamily="2" charset="2"/>
              <a:buNone/>
              <a:defRPr/>
            </a:pPr>
            <a:r>
              <a:rPr lang="en-US" altLang="zh-CN" b="1">
                <a:effectLst>
                  <a:outerShdw blurRad="38100" dist="38100" dir="2700000" algn="tl">
                    <a:srgbClr val="000000"/>
                  </a:outerShdw>
                </a:effectLst>
                <a:latin typeface="楷体_GB2312" pitchFamily="49" charset="-122"/>
                <a:ea typeface="楷体_GB2312" pitchFamily="49" charset="-122"/>
              </a:rPr>
              <a:t>  int  score;			/* </a:t>
            </a:r>
            <a:r>
              <a:rPr lang="zh-CN" altLang="en-US" b="1">
                <a:effectLst>
                  <a:outerShdw blurRad="38100" dist="38100" dir="2700000" algn="tl">
                    <a:srgbClr val="000000"/>
                  </a:outerShdw>
                </a:effectLst>
                <a:latin typeface="楷体_GB2312" pitchFamily="49" charset="-122"/>
                <a:ea typeface="楷体_GB2312" pitchFamily="49" charset="-122"/>
              </a:rPr>
              <a:t>成绩 *</a:t>
            </a:r>
            <a:r>
              <a:rPr lang="en-US" altLang="zh-CN" b="1">
                <a:effectLst>
                  <a:outerShdw blurRad="38100" dist="38100" dir="2700000" algn="tl">
                    <a:srgbClr val="000000"/>
                  </a:outerShdw>
                </a:effectLst>
                <a:latin typeface="楷体_GB2312" pitchFamily="49" charset="-122"/>
                <a:ea typeface="楷体_GB2312" pitchFamily="49" charset="-122"/>
              </a:rPr>
              <a:t>/</a:t>
            </a:r>
          </a:p>
          <a:p>
            <a:pPr marL="0" indent="0" eaLnBrk="1" hangingPunct="1">
              <a:buFont typeface="Monotype Sorts" pitchFamily="2" charset="2"/>
              <a:buNone/>
              <a:defRPr/>
            </a:pPr>
            <a:r>
              <a:rPr lang="en-US" altLang="zh-CN" b="1">
                <a:effectLst>
                  <a:outerShdw blurRad="38100" dist="38100" dir="2700000" algn="tl">
                    <a:srgbClr val="000000"/>
                  </a:outerShdw>
                </a:effectLst>
                <a:latin typeface="楷体_GB2312" pitchFamily="49" charset="-122"/>
                <a:ea typeface="楷体_GB2312" pitchFamily="49" charset="-122"/>
              </a:rPr>
              <a:t>  stuS *next;</a:t>
            </a:r>
          </a:p>
          <a:p>
            <a:pPr marL="0" indent="0" eaLnBrk="1" hangingPunct="1">
              <a:buFont typeface="Monotype Sorts" pitchFamily="2" charset="2"/>
              <a:buNone/>
              <a:defRPr/>
            </a:pPr>
            <a:r>
              <a:rPr lang="en-US" altLang="zh-CN" b="1">
                <a:effectLst>
                  <a:outerShdw blurRad="38100" dist="38100" dir="2700000" algn="tl">
                    <a:srgbClr val="000000"/>
                  </a:outerShdw>
                </a:effectLst>
                <a:latin typeface="楷体_GB2312" pitchFamily="49" charset="-122"/>
                <a:ea typeface="楷体_GB2312" pitchFamily="49" charset="-122"/>
              </a:rPr>
              <a:t>};		/* </a:t>
            </a:r>
            <a:r>
              <a:rPr lang="zh-CN" altLang="en-US" b="1">
                <a:effectLst>
                  <a:outerShdw blurRad="38100" dist="38100" dir="2700000" algn="tl">
                    <a:srgbClr val="000000"/>
                  </a:outerShdw>
                </a:effectLst>
                <a:latin typeface="楷体_GB2312" pitchFamily="49" charset="-122"/>
                <a:ea typeface="楷体_GB2312" pitchFamily="49" charset="-122"/>
              </a:rPr>
              <a:t>其他函数应插在主函数之前 *</a:t>
            </a:r>
            <a:r>
              <a:rPr lang="en-US" altLang="zh-CN" b="1">
                <a:effectLst>
                  <a:outerShdw blurRad="38100" dist="38100" dir="2700000" algn="tl">
                    <a:srgbClr val="000000"/>
                  </a:outerShdw>
                </a:effectLst>
                <a:latin typeface="楷体_GB2312" pitchFamily="49" charset="-122"/>
                <a:ea typeface="楷体_GB2312" pitchFamily="49" charset="-122"/>
              </a:rPr>
              <a:t>/</a:t>
            </a:r>
          </a:p>
        </p:txBody>
      </p:sp>
      <p:sp>
        <p:nvSpPr>
          <p:cNvPr id="5" name="灯片编号占位符 5"/>
          <p:cNvSpPr>
            <a:spLocks noGrp="1"/>
          </p:cNvSpPr>
          <p:nvPr>
            <p:ph type="sldNum" sz="quarter" idx="12"/>
          </p:nvPr>
        </p:nvSpPr>
        <p:spPr/>
        <p:txBody>
          <a:bodyPr/>
          <a:lstStyle/>
          <a:p>
            <a:pPr>
              <a:defRPr/>
            </a:pPr>
            <a:fld id="{0DAA9474-826F-4118-BF86-1C698CF55F2D}" type="slidenum">
              <a:rPr lang="en-US" altLang="zh-CN"/>
              <a:pPr>
                <a:defRPr/>
              </a:pPr>
              <a:t>92</a:t>
            </a:fld>
            <a:endParaRPr lang="en-US" altLang="zh-CN"/>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86082" name="Rectangle 2"/>
          <p:cNvSpPr>
            <a:spLocks noGrp="1" noChangeArrowheads="1"/>
          </p:cNvSpPr>
          <p:nvPr>
            <p:ph idx="1"/>
          </p:nvPr>
        </p:nvSpPr>
        <p:spPr>
          <a:xfrm>
            <a:off x="468313" y="620713"/>
            <a:ext cx="8304212" cy="5976937"/>
          </a:xfrm>
        </p:spPr>
        <p:txBody>
          <a:bodyPr/>
          <a:lstStyle/>
          <a:p>
            <a:pPr marL="0" indent="0" eaLnBrk="1" hangingPunct="1">
              <a:buFont typeface="Monotype Sorts" pitchFamily="2" charset="2"/>
              <a:buNone/>
              <a:defRPr/>
            </a:pPr>
            <a:r>
              <a:rPr lang="en-US" altLang="zh-CN" b="1">
                <a:effectLst>
                  <a:outerShdw blurRad="38100" dist="38100" dir="2700000" algn="tl">
                    <a:srgbClr val="000000"/>
                  </a:outerShdw>
                </a:effectLst>
                <a:latin typeface="楷体_GB2312" pitchFamily="49" charset="-122"/>
                <a:ea typeface="楷体_GB2312" pitchFamily="49" charset="-122"/>
              </a:rPr>
              <a:t>void main()</a:t>
            </a:r>
          </a:p>
          <a:p>
            <a:pPr marL="0" indent="0" eaLnBrk="1" hangingPunct="1">
              <a:buFont typeface="Monotype Sorts" pitchFamily="2" charset="2"/>
              <a:buNone/>
              <a:defRPr/>
            </a:pPr>
            <a:r>
              <a:rPr lang="en-US" altLang="zh-CN" b="1">
                <a:effectLst>
                  <a:outerShdw blurRad="38100" dist="38100" dir="2700000" algn="tl">
                    <a:srgbClr val="000000"/>
                  </a:outerShdw>
                </a:effectLst>
                <a:latin typeface="楷体_GB2312" pitchFamily="49" charset="-122"/>
                <a:ea typeface="楷体_GB2312" pitchFamily="49" charset="-122"/>
              </a:rPr>
              <a:t>{ stuS *head=NULL;</a:t>
            </a:r>
          </a:p>
          <a:p>
            <a:pPr marL="0" indent="0" eaLnBrk="1" hangingPunct="1">
              <a:buFont typeface="Monotype Sorts" pitchFamily="2" charset="2"/>
              <a:buNone/>
              <a:defRPr/>
            </a:pPr>
            <a:r>
              <a:rPr lang="en-US" altLang="zh-CN" b="1">
                <a:effectLst>
                  <a:outerShdw blurRad="38100" dist="38100" dir="2700000" algn="tl">
                    <a:srgbClr val="000000"/>
                  </a:outerShdw>
                </a:effectLst>
                <a:latin typeface="楷体_GB2312" pitchFamily="49" charset="-122"/>
                <a:ea typeface="楷体_GB2312" pitchFamily="49" charset="-122"/>
              </a:rPr>
              <a:t>  char *menu[ ]={"1  </a:t>
            </a:r>
            <a:r>
              <a:rPr lang="zh-CN" altLang="en-US" b="1">
                <a:effectLst>
                  <a:outerShdw blurRad="38100" dist="38100" dir="2700000" algn="tl">
                    <a:srgbClr val="000000"/>
                  </a:outerShdw>
                </a:effectLst>
                <a:latin typeface="楷体_GB2312" pitchFamily="49" charset="-122"/>
                <a:ea typeface="楷体_GB2312" pitchFamily="49" charset="-122"/>
              </a:rPr>
              <a:t>在链表末尾添加新表元</a:t>
            </a:r>
            <a:r>
              <a:rPr lang="en-US" altLang="zh-CN" b="1">
                <a:effectLst>
                  <a:outerShdw blurRad="38100" dist="38100" dir="2700000" algn="tl">
                    <a:srgbClr val="000000"/>
                  </a:outerShdw>
                </a:effectLst>
                <a:latin typeface="楷体_GB2312" pitchFamily="49" charset="-122"/>
                <a:ea typeface="楷体_GB2312" pitchFamily="49" charset="-122"/>
              </a:rPr>
              <a:t>",</a:t>
            </a:r>
          </a:p>
          <a:p>
            <a:pPr marL="0" indent="0" eaLnBrk="1" hangingPunct="1">
              <a:buFont typeface="Monotype Sorts" pitchFamily="2" charset="2"/>
              <a:buNone/>
              <a:defRPr/>
            </a:pPr>
            <a:r>
              <a:rPr lang="en-US" altLang="zh-CN" b="1">
                <a:effectLst>
                  <a:outerShdw blurRad="38100" dist="38100" dir="2700000" algn="tl">
                    <a:srgbClr val="000000"/>
                  </a:outerShdw>
                </a:effectLst>
                <a:latin typeface="楷体_GB2312" pitchFamily="49" charset="-122"/>
                <a:ea typeface="楷体_GB2312" pitchFamily="49" charset="-122"/>
              </a:rPr>
              <a:t>             "2  </a:t>
            </a:r>
            <a:r>
              <a:rPr lang="zh-CN" altLang="en-US" b="1">
                <a:effectLst>
                  <a:outerShdw blurRad="38100" dist="38100" dir="2700000" algn="tl">
                    <a:srgbClr val="000000"/>
                  </a:outerShdw>
                </a:effectLst>
                <a:latin typeface="楷体_GB2312" pitchFamily="49" charset="-122"/>
                <a:ea typeface="楷体_GB2312" pitchFamily="49" charset="-122"/>
              </a:rPr>
              <a:t>在指定表元之后插入新表元</a:t>
            </a:r>
            <a:r>
              <a:rPr lang="en-US" altLang="zh-CN" b="1">
                <a:effectLst>
                  <a:outerShdw blurRad="38100" dist="38100" dir="2700000" algn="tl">
                    <a:srgbClr val="000000"/>
                  </a:outerShdw>
                </a:effectLst>
                <a:latin typeface="楷体_GB2312" pitchFamily="49" charset="-122"/>
                <a:ea typeface="楷体_GB2312" pitchFamily="49" charset="-122"/>
              </a:rPr>
              <a:t>",</a:t>
            </a:r>
          </a:p>
          <a:p>
            <a:pPr marL="0" indent="0" eaLnBrk="1" hangingPunct="1">
              <a:buFont typeface="Monotype Sorts" pitchFamily="2" charset="2"/>
              <a:buNone/>
              <a:defRPr/>
            </a:pPr>
            <a:r>
              <a:rPr lang="en-US" altLang="zh-CN" b="1">
                <a:effectLst>
                  <a:outerShdw blurRad="38100" dist="38100" dir="2700000" algn="tl">
                    <a:srgbClr val="000000"/>
                  </a:outerShdw>
                </a:effectLst>
                <a:latin typeface="楷体_GB2312" pitchFamily="49" charset="-122"/>
                <a:ea typeface="楷体_GB2312" pitchFamily="49" charset="-122"/>
              </a:rPr>
              <a:t>             "3  </a:t>
            </a:r>
            <a:r>
              <a:rPr lang="zh-CN" altLang="en-US" b="1">
                <a:effectLst>
                  <a:outerShdw blurRad="38100" dist="38100" dir="2700000" algn="tl">
                    <a:srgbClr val="000000"/>
                  </a:outerShdw>
                </a:effectLst>
                <a:latin typeface="楷体_GB2312" pitchFamily="49" charset="-122"/>
                <a:ea typeface="楷体_GB2312" pitchFamily="49" charset="-122"/>
              </a:rPr>
              <a:t>显示链表中所有表元</a:t>
            </a:r>
            <a:r>
              <a:rPr lang="en-US" altLang="zh-CN" b="1">
                <a:effectLst>
                  <a:outerShdw blurRad="38100" dist="38100" dir="2700000" algn="tl">
                    <a:srgbClr val="000000"/>
                  </a:outerShdw>
                </a:effectLst>
                <a:latin typeface="楷体_GB2312" pitchFamily="49" charset="-122"/>
                <a:ea typeface="楷体_GB2312" pitchFamily="49" charset="-122"/>
              </a:rPr>
              <a:t>",</a:t>
            </a:r>
          </a:p>
          <a:p>
            <a:pPr marL="0" indent="0" eaLnBrk="1" hangingPunct="1">
              <a:buFont typeface="Monotype Sorts" pitchFamily="2" charset="2"/>
              <a:buNone/>
              <a:defRPr/>
            </a:pPr>
            <a:r>
              <a:rPr lang="en-US" altLang="zh-CN" b="1">
                <a:effectLst>
                  <a:outerShdw blurRad="38100" dist="38100" dir="2700000" algn="tl">
                    <a:srgbClr val="000000"/>
                  </a:outerShdw>
                </a:effectLst>
                <a:latin typeface="楷体_GB2312" pitchFamily="49" charset="-122"/>
                <a:ea typeface="楷体_GB2312" pitchFamily="49" charset="-122"/>
              </a:rPr>
              <a:t>             "4  </a:t>
            </a:r>
            <a:r>
              <a:rPr lang="zh-CN" altLang="en-US" b="1">
                <a:effectLst>
                  <a:outerShdw blurRad="38100" dist="38100" dir="2700000" algn="tl">
                    <a:srgbClr val="000000"/>
                  </a:outerShdw>
                </a:effectLst>
                <a:latin typeface="楷体_GB2312" pitchFamily="49" charset="-122"/>
                <a:ea typeface="楷体_GB2312" pitchFamily="49" charset="-122"/>
              </a:rPr>
              <a:t>删除链表中指定表元</a:t>
            </a:r>
            <a:r>
              <a:rPr lang="en-US" altLang="zh-CN" b="1">
                <a:effectLst>
                  <a:outerShdw blurRad="38100" dist="38100" dir="2700000" algn="tl">
                    <a:srgbClr val="000000"/>
                  </a:outerShdw>
                </a:effectLst>
                <a:latin typeface="楷体_GB2312" pitchFamily="49" charset="-122"/>
                <a:ea typeface="楷体_GB2312" pitchFamily="49" charset="-122"/>
              </a:rPr>
              <a:t>",""};</a:t>
            </a:r>
          </a:p>
          <a:p>
            <a:pPr marL="0" indent="0" eaLnBrk="1" hangingPunct="1">
              <a:buFont typeface="Monotype Sorts" pitchFamily="2" charset="2"/>
              <a:buNone/>
              <a:defRPr/>
            </a:pPr>
            <a:r>
              <a:rPr lang="en-US" altLang="zh-CN" b="1">
                <a:effectLst>
                  <a:outerShdw blurRad="38100" dist="38100" dir="2700000" algn="tl">
                    <a:srgbClr val="000000"/>
                  </a:outerShdw>
                </a:effectLst>
                <a:latin typeface="楷体_GB2312" pitchFamily="49" charset="-122"/>
                <a:ea typeface="楷体_GB2312" pitchFamily="49" charset="-122"/>
              </a:rPr>
              <a:t>  int i, ans, number;</a:t>
            </a:r>
          </a:p>
          <a:p>
            <a:pPr marL="0" indent="0" eaLnBrk="1" hangingPunct="1">
              <a:buFont typeface="Monotype Sorts" pitchFamily="2" charset="2"/>
              <a:buNone/>
              <a:defRPr/>
            </a:pPr>
            <a:r>
              <a:rPr lang="en-US" altLang="zh-CN" b="1">
                <a:effectLst>
                  <a:outerShdw blurRad="38100" dist="38100" dir="2700000" algn="tl">
                    <a:srgbClr val="000000"/>
                  </a:outerShdw>
                </a:effectLst>
                <a:latin typeface="楷体_GB2312" pitchFamily="49" charset="-122"/>
                <a:ea typeface="楷体_GB2312" pitchFamily="49" charset="-122"/>
              </a:rPr>
              <a:t>  </a:t>
            </a:r>
          </a:p>
        </p:txBody>
      </p:sp>
      <p:sp>
        <p:nvSpPr>
          <p:cNvPr id="5" name="灯片编号占位符 5"/>
          <p:cNvSpPr>
            <a:spLocks noGrp="1"/>
          </p:cNvSpPr>
          <p:nvPr>
            <p:ph type="sldNum" sz="quarter" idx="12"/>
          </p:nvPr>
        </p:nvSpPr>
        <p:spPr/>
        <p:txBody>
          <a:bodyPr/>
          <a:lstStyle/>
          <a:p>
            <a:pPr>
              <a:defRPr/>
            </a:pPr>
            <a:fld id="{2D72F805-0D7C-4249-B1F4-C5DD70D52773}" type="slidenum">
              <a:rPr lang="en-US" altLang="zh-CN"/>
              <a:pPr>
                <a:defRPr/>
              </a:pPr>
              <a:t>93</a:t>
            </a:fld>
            <a:endParaRPr lang="en-US" altLang="zh-CN"/>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87106" name="Rectangle 2"/>
          <p:cNvSpPr>
            <a:spLocks noGrp="1" noChangeArrowheads="1"/>
          </p:cNvSpPr>
          <p:nvPr>
            <p:ph idx="1"/>
          </p:nvPr>
        </p:nvSpPr>
        <p:spPr>
          <a:xfrm>
            <a:off x="468313" y="620713"/>
            <a:ext cx="8304212" cy="5976937"/>
          </a:xfrm>
        </p:spPr>
        <p:txBody>
          <a:bodyPr/>
          <a:lstStyle/>
          <a:p>
            <a:pPr marL="0" indent="0" eaLnBrk="1" hangingPunct="1">
              <a:lnSpc>
                <a:spcPct val="80000"/>
              </a:lnSpc>
              <a:buFont typeface="Monotype Sorts" pitchFamily="2" charset="2"/>
              <a:buNone/>
              <a:defRPr/>
            </a:pPr>
            <a:r>
              <a:rPr lang="en-US" altLang="zh-CN" sz="2000" b="1">
                <a:effectLst>
                  <a:outerShdw blurRad="38100" dist="38100" dir="2700000" algn="tl">
                    <a:srgbClr val="000000"/>
                  </a:outerShdw>
                </a:effectLst>
              </a:rPr>
              <a:t> </a:t>
            </a:r>
            <a:r>
              <a:rPr lang="en-US" altLang="zh-CN" sz="2000" b="1">
                <a:effectLst>
                  <a:outerShdw blurRad="38100" dist="38100" dir="2700000" algn="tl">
                    <a:srgbClr val="000000"/>
                  </a:outerShdw>
                </a:effectLst>
                <a:latin typeface="楷体_GB2312" pitchFamily="49" charset="-122"/>
                <a:ea typeface="楷体_GB2312" pitchFamily="49" charset="-122"/>
              </a:rPr>
              <a:t>while (1) {</a:t>
            </a:r>
          </a:p>
          <a:p>
            <a:pPr marL="0" indent="0" eaLnBrk="1" hangingPunct="1">
              <a:lnSpc>
                <a:spcPct val="80000"/>
              </a:lnSpc>
              <a:buFont typeface="Monotype Sorts" pitchFamily="2" charset="2"/>
              <a:buNone/>
              <a:defRPr/>
            </a:pPr>
            <a:r>
              <a:rPr lang="en-US" altLang="zh-CN" sz="2000" b="1">
                <a:effectLst>
                  <a:outerShdw blurRad="38100" dist="38100" dir="2700000" algn="tl">
                    <a:srgbClr val="000000"/>
                  </a:outerShdw>
                </a:effectLst>
                <a:latin typeface="楷体_GB2312" pitchFamily="49" charset="-122"/>
                <a:ea typeface="楷体_GB2312" pitchFamily="49" charset="-122"/>
              </a:rPr>
              <a:t>     printf ("\n</a:t>
            </a:r>
            <a:r>
              <a:rPr lang="zh-CN" altLang="en-US" sz="2000" b="1">
                <a:effectLst>
                  <a:outerShdw blurRad="38100" dist="38100" dir="2700000" algn="tl">
                    <a:srgbClr val="000000"/>
                  </a:outerShdw>
                </a:effectLst>
                <a:latin typeface="楷体_GB2312" pitchFamily="49" charset="-122"/>
                <a:ea typeface="楷体_GB2312" pitchFamily="49" charset="-122"/>
              </a:rPr>
              <a:t>请选择下列菜单命令：</a:t>
            </a:r>
            <a:r>
              <a:rPr lang="en-US" altLang="zh-CN" sz="2000" b="1">
                <a:effectLst>
                  <a:outerShdw blurRad="38100" dist="38100" dir="2700000" algn="tl">
                    <a:srgbClr val="000000"/>
                  </a:outerShdw>
                </a:effectLst>
                <a:latin typeface="楷体_GB2312" pitchFamily="49" charset="-122"/>
                <a:ea typeface="楷体_GB2312" pitchFamily="49" charset="-122"/>
              </a:rPr>
              <a:t>\n");</a:t>
            </a:r>
          </a:p>
          <a:p>
            <a:pPr marL="0" indent="0" eaLnBrk="1" hangingPunct="1">
              <a:lnSpc>
                <a:spcPct val="80000"/>
              </a:lnSpc>
              <a:buFont typeface="Monotype Sorts" pitchFamily="2" charset="2"/>
              <a:buNone/>
              <a:defRPr/>
            </a:pPr>
            <a:r>
              <a:rPr lang="en-US" altLang="zh-CN" sz="2000" b="1">
                <a:effectLst>
                  <a:outerShdw blurRad="38100" dist="38100" dir="2700000" algn="tl">
                    <a:srgbClr val="000000"/>
                  </a:outerShdw>
                </a:effectLst>
                <a:latin typeface="楷体_GB2312" pitchFamily="49" charset="-122"/>
                <a:ea typeface="楷体_GB2312" pitchFamily="49" charset="-122"/>
              </a:rPr>
              <a:t>      for ( i=0; menu[i][0]!='\0'; i++)  /* </a:t>
            </a:r>
            <a:r>
              <a:rPr lang="zh-CN" altLang="en-US" sz="2000" b="1">
                <a:effectLst>
                  <a:outerShdw blurRad="38100" dist="38100" dir="2700000" algn="tl">
                    <a:srgbClr val="000000"/>
                  </a:outerShdw>
                </a:effectLst>
                <a:latin typeface="楷体_GB2312" pitchFamily="49" charset="-122"/>
                <a:ea typeface="楷体_GB2312" pitchFamily="49" charset="-122"/>
              </a:rPr>
              <a:t>显示菜单 *</a:t>
            </a:r>
            <a:r>
              <a:rPr lang="en-US" altLang="zh-CN" sz="2000" b="1">
                <a:effectLst>
                  <a:outerShdw blurRad="38100" dist="38100" dir="2700000" algn="tl">
                    <a:srgbClr val="000000"/>
                  </a:outerShdw>
                </a:effectLst>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000" b="1">
                <a:effectLst>
                  <a:outerShdw blurRad="38100" dist="38100" dir="2700000" algn="tl">
                    <a:srgbClr val="000000"/>
                  </a:outerShdw>
                </a:effectLst>
                <a:latin typeface="楷体_GB2312" pitchFamily="49" charset="-122"/>
                <a:ea typeface="楷体_GB2312" pitchFamily="49" charset="-122"/>
              </a:rPr>
              <a:t>          printf ("\t%s\n", menu[i]);</a:t>
            </a:r>
          </a:p>
          <a:p>
            <a:pPr marL="0" indent="0" eaLnBrk="1" hangingPunct="1">
              <a:lnSpc>
                <a:spcPct val="80000"/>
              </a:lnSpc>
              <a:buFont typeface="Monotype Sorts" pitchFamily="2" charset="2"/>
              <a:buNone/>
              <a:defRPr/>
            </a:pPr>
            <a:r>
              <a:rPr lang="en-US" altLang="zh-CN" sz="2000" b="1">
                <a:effectLst>
                  <a:outerShdw blurRad="38100" dist="38100" dir="2700000" algn="tl">
                    <a:srgbClr val="000000"/>
                  </a:outerShdw>
                </a:effectLst>
                <a:latin typeface="楷体_GB2312" pitchFamily="49" charset="-122"/>
                <a:ea typeface="楷体_GB2312" pitchFamily="49" charset="-122"/>
              </a:rPr>
              <a:t>      printf ("\t</a:t>
            </a:r>
            <a:r>
              <a:rPr lang="zh-CN" altLang="en-US" sz="2000" b="1">
                <a:effectLst>
                  <a:outerShdw blurRad="38100" dist="38100" dir="2700000" algn="tl">
                    <a:srgbClr val="000000"/>
                  </a:outerShdw>
                </a:effectLst>
                <a:latin typeface="楷体_GB2312" pitchFamily="49" charset="-122"/>
                <a:ea typeface="楷体_GB2312" pitchFamily="49" charset="-122"/>
              </a:rPr>
              <a:t>其他选择（非</a:t>
            </a:r>
            <a:r>
              <a:rPr lang="en-US" altLang="zh-CN" sz="2000" b="1">
                <a:effectLst>
                  <a:outerShdw blurRad="38100" dist="38100" dir="2700000" algn="tl">
                    <a:srgbClr val="000000"/>
                  </a:outerShdw>
                </a:effectLst>
                <a:latin typeface="楷体_GB2312" pitchFamily="49" charset="-122"/>
                <a:ea typeface="楷体_GB2312" pitchFamily="49" charset="-122"/>
              </a:rPr>
              <a:t>1</a:t>
            </a:r>
            <a:r>
              <a:rPr lang="zh-CN" altLang="en-US" sz="2000" b="1">
                <a:effectLst>
                  <a:outerShdw blurRad="38100" dist="38100" dir="2700000" algn="tl">
                    <a:srgbClr val="000000"/>
                  </a:outerShdw>
                </a:effectLst>
                <a:latin typeface="楷体_GB2312" pitchFamily="49" charset="-122"/>
                <a:ea typeface="楷体_GB2312" pitchFamily="49" charset="-122"/>
              </a:rPr>
              <a:t>～</a:t>
            </a:r>
            <a:r>
              <a:rPr lang="en-US" altLang="zh-CN" sz="2000" b="1">
                <a:effectLst>
                  <a:outerShdw blurRad="38100" dist="38100" dir="2700000" algn="tl">
                    <a:srgbClr val="000000"/>
                  </a:outerShdw>
                </a:effectLst>
                <a:latin typeface="楷体_GB2312" pitchFamily="49" charset="-122"/>
                <a:ea typeface="楷体_GB2312" pitchFamily="49" charset="-122"/>
              </a:rPr>
              <a:t>4</a:t>
            </a:r>
            <a:r>
              <a:rPr lang="zh-CN" altLang="en-US" sz="2000" b="1">
                <a:effectLst>
                  <a:outerShdw blurRad="38100" dist="38100" dir="2700000" algn="tl">
                    <a:srgbClr val="000000"/>
                  </a:outerShdw>
                </a:effectLst>
                <a:latin typeface="楷体_GB2312" pitchFamily="49" charset="-122"/>
                <a:ea typeface="楷体_GB2312" pitchFamily="49" charset="-122"/>
              </a:rPr>
              <a:t>），结束本程序运行！</a:t>
            </a:r>
            <a:r>
              <a:rPr lang="en-US" altLang="zh-CN" sz="2000" b="1">
                <a:effectLst>
                  <a:outerShdw blurRad="38100" dist="38100" dir="2700000" algn="tl">
                    <a:srgbClr val="000000"/>
                  </a:outerShdw>
                </a:effectLst>
                <a:latin typeface="楷体_GB2312" pitchFamily="49" charset="-122"/>
                <a:ea typeface="楷体_GB2312" pitchFamily="49" charset="-122"/>
              </a:rPr>
              <a:t>\n");</a:t>
            </a:r>
          </a:p>
          <a:p>
            <a:pPr marL="0" indent="0" eaLnBrk="1" hangingPunct="1">
              <a:lnSpc>
                <a:spcPct val="80000"/>
              </a:lnSpc>
              <a:buFont typeface="Monotype Sorts" pitchFamily="2" charset="2"/>
              <a:buNone/>
              <a:defRPr/>
            </a:pPr>
            <a:r>
              <a:rPr lang="en-US" altLang="zh-CN" sz="2000" b="1">
                <a:effectLst>
                  <a:outerShdw blurRad="38100" dist="38100" dir="2700000" algn="tl">
                    <a:srgbClr val="000000"/>
                  </a:outerShdw>
                </a:effectLst>
                <a:latin typeface="楷体_GB2312" pitchFamily="49" charset="-122"/>
                <a:ea typeface="楷体_GB2312" pitchFamily="49" charset="-122"/>
              </a:rPr>
              <a:t>      scanf ("%d",&amp;ans);</a:t>
            </a:r>
          </a:p>
          <a:p>
            <a:pPr marL="0" indent="0" eaLnBrk="1" hangingPunct="1">
              <a:lnSpc>
                <a:spcPct val="80000"/>
              </a:lnSpc>
              <a:buFont typeface="Monotype Sorts" pitchFamily="2" charset="2"/>
              <a:buNone/>
              <a:defRPr/>
            </a:pPr>
            <a:r>
              <a:rPr lang="en-US" altLang="zh-CN" sz="2000" b="1">
                <a:effectLst>
                  <a:outerShdw blurRad="38100" dist="38100" dir="2700000" algn="tl">
                    <a:srgbClr val="000000"/>
                  </a:outerShdw>
                </a:effectLst>
                <a:latin typeface="楷体_GB2312" pitchFamily="49" charset="-122"/>
                <a:ea typeface="楷体_GB2312" pitchFamily="49" charset="-122"/>
              </a:rPr>
              <a:t>      switch (ans) {</a:t>
            </a:r>
          </a:p>
          <a:p>
            <a:pPr marL="0" indent="0" eaLnBrk="1" hangingPunct="1">
              <a:lnSpc>
                <a:spcPct val="80000"/>
              </a:lnSpc>
              <a:buFont typeface="Monotype Sorts" pitchFamily="2" charset="2"/>
              <a:buNone/>
              <a:defRPr/>
            </a:pPr>
            <a:r>
              <a:rPr lang="en-US" altLang="zh-CN" sz="2000" b="1">
                <a:effectLst>
                  <a:outerShdw blurRad="38100" dist="38100" dir="2700000" algn="tl">
                    <a:srgbClr val="000000"/>
                  </a:outerShdw>
                </a:effectLst>
                <a:latin typeface="楷体_GB2312" pitchFamily="49" charset="-122"/>
                <a:ea typeface="楷体_GB2312" pitchFamily="49" charset="-122"/>
              </a:rPr>
              <a:t>         case 1: head= append (head);  break;</a:t>
            </a:r>
          </a:p>
          <a:p>
            <a:pPr marL="0" indent="0" eaLnBrk="1" hangingPunct="1">
              <a:lnSpc>
                <a:spcPct val="80000"/>
              </a:lnSpc>
              <a:buFont typeface="Monotype Sorts" pitchFamily="2" charset="2"/>
              <a:buNone/>
              <a:defRPr/>
            </a:pPr>
            <a:r>
              <a:rPr lang="en-US" altLang="zh-CN" sz="2000" b="1">
                <a:effectLst>
                  <a:outerShdw blurRad="38100" dist="38100" dir="2700000" algn="tl">
                    <a:srgbClr val="000000"/>
                  </a:outerShdw>
                </a:effectLst>
                <a:latin typeface="楷体_GB2312" pitchFamily="49" charset="-122"/>
                <a:ea typeface="楷体_GB2312" pitchFamily="49" charset="-122"/>
              </a:rPr>
              <a:t>         case 2: printf ("</a:t>
            </a:r>
            <a:r>
              <a:rPr lang="zh-CN" altLang="en-US" sz="2000" b="1">
                <a:effectLst>
                  <a:outerShdw blurRad="38100" dist="38100" dir="2700000" algn="tl">
                    <a:srgbClr val="000000"/>
                  </a:outerShdw>
                </a:effectLst>
                <a:latin typeface="楷体_GB2312" pitchFamily="49" charset="-122"/>
                <a:ea typeface="楷体_GB2312" pitchFamily="49" charset="-122"/>
              </a:rPr>
              <a:t>请输入插入学生的学号：</a:t>
            </a:r>
            <a:r>
              <a:rPr lang="en-US" altLang="zh-CN" sz="2000" b="1">
                <a:effectLst>
                  <a:outerShdw blurRad="38100" dist="38100" dir="2700000" algn="tl">
                    <a:srgbClr val="000000"/>
                  </a:outerShdw>
                </a:effectLst>
                <a:latin typeface="楷体_GB2312" pitchFamily="49" charset="-122"/>
                <a:ea typeface="楷体_GB2312" pitchFamily="49" charset="-122"/>
              </a:rPr>
              <a:t>"); </a:t>
            </a:r>
          </a:p>
          <a:p>
            <a:pPr marL="0" indent="0" eaLnBrk="1" hangingPunct="1">
              <a:lnSpc>
                <a:spcPct val="80000"/>
              </a:lnSpc>
              <a:buFont typeface="Monotype Sorts" pitchFamily="2" charset="2"/>
              <a:buNone/>
              <a:defRPr/>
            </a:pPr>
            <a:r>
              <a:rPr lang="en-US" altLang="zh-CN" sz="2000" b="1">
                <a:effectLst>
                  <a:outerShdw blurRad="38100" dist="38100" dir="2700000" algn="tl">
                    <a:srgbClr val="000000"/>
                  </a:outerShdw>
                </a:effectLst>
                <a:latin typeface="楷体_GB2312" pitchFamily="49" charset="-122"/>
                <a:ea typeface="楷体_GB2312" pitchFamily="49" charset="-122"/>
              </a:rPr>
              <a:t>	         scanf("%d", &amp;number); </a:t>
            </a:r>
          </a:p>
          <a:p>
            <a:pPr marL="0" indent="0" eaLnBrk="1" hangingPunct="1">
              <a:lnSpc>
                <a:spcPct val="80000"/>
              </a:lnSpc>
              <a:buFont typeface="Monotype Sorts" pitchFamily="2" charset="2"/>
              <a:buNone/>
              <a:defRPr/>
            </a:pPr>
            <a:r>
              <a:rPr lang="en-US" altLang="zh-CN" sz="2000" b="1">
                <a:effectLst>
                  <a:outerShdw blurRad="38100" dist="38100" dir="2700000" algn="tl">
                    <a:srgbClr val="000000"/>
                  </a:outerShdw>
                </a:effectLst>
                <a:latin typeface="楷体_GB2312" pitchFamily="49" charset="-122"/>
                <a:ea typeface="楷体_GB2312" pitchFamily="49" charset="-122"/>
              </a:rPr>
              <a:t>	         insert (head, number);  break;</a:t>
            </a:r>
          </a:p>
          <a:p>
            <a:pPr marL="0" indent="0" eaLnBrk="1" hangingPunct="1">
              <a:lnSpc>
                <a:spcPct val="80000"/>
              </a:lnSpc>
              <a:buFont typeface="Monotype Sorts" pitchFamily="2" charset="2"/>
              <a:buNone/>
              <a:defRPr/>
            </a:pPr>
            <a:r>
              <a:rPr lang="en-US" altLang="zh-CN" sz="2000" b="1">
                <a:effectLst>
                  <a:outerShdw blurRad="38100" dist="38100" dir="2700000" algn="tl">
                    <a:srgbClr val="000000"/>
                  </a:outerShdw>
                </a:effectLst>
                <a:latin typeface="楷体_GB2312" pitchFamily="49" charset="-122"/>
                <a:ea typeface="楷体_GB2312" pitchFamily="49" charset="-122"/>
              </a:rPr>
              <a:t>         case 3: travelStuLink(head); break;</a:t>
            </a:r>
          </a:p>
          <a:p>
            <a:pPr marL="0" indent="0" eaLnBrk="1" hangingPunct="1">
              <a:lnSpc>
                <a:spcPct val="80000"/>
              </a:lnSpc>
              <a:buFont typeface="Monotype Sorts" pitchFamily="2" charset="2"/>
              <a:buNone/>
              <a:defRPr/>
            </a:pPr>
            <a:r>
              <a:rPr lang="en-US" altLang="zh-CN" sz="2000" b="1">
                <a:effectLst>
                  <a:outerShdw blurRad="38100" dist="38100" dir="2700000" algn="tl">
                    <a:srgbClr val="000000"/>
                  </a:outerShdw>
                </a:effectLst>
                <a:latin typeface="楷体_GB2312" pitchFamily="49" charset="-122"/>
                <a:ea typeface="楷体_GB2312" pitchFamily="49" charset="-122"/>
              </a:rPr>
              <a:t>         case 4: printf ("</a:t>
            </a:r>
            <a:r>
              <a:rPr lang="zh-CN" altLang="en-US" sz="2000" b="1">
                <a:effectLst>
                  <a:outerShdw blurRad="38100" dist="38100" dir="2700000" algn="tl">
                    <a:srgbClr val="000000"/>
                  </a:outerShdw>
                </a:effectLst>
                <a:latin typeface="楷体_GB2312" pitchFamily="49" charset="-122"/>
                <a:ea typeface="楷体_GB2312" pitchFamily="49" charset="-122"/>
              </a:rPr>
              <a:t>请输入要删除的学号：</a:t>
            </a:r>
            <a:r>
              <a:rPr lang="en-US" altLang="zh-CN" sz="2000" b="1">
                <a:effectLst>
                  <a:outerShdw blurRad="38100" dist="38100" dir="2700000" algn="tl">
                    <a:srgbClr val="000000"/>
                  </a:outerShdw>
                </a:effectLst>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000" b="1">
                <a:effectLst>
                  <a:outerShdw blurRad="38100" dist="38100" dir="2700000" algn="tl">
                    <a:srgbClr val="000000"/>
                  </a:outerShdw>
                </a:effectLst>
                <a:latin typeface="楷体_GB2312" pitchFamily="49" charset="-122"/>
                <a:ea typeface="楷体_GB2312" pitchFamily="49" charset="-122"/>
              </a:rPr>
              <a:t>	         scanf ("%d", &amp;number); </a:t>
            </a:r>
          </a:p>
          <a:p>
            <a:pPr marL="0" indent="0" eaLnBrk="1" hangingPunct="1">
              <a:lnSpc>
                <a:spcPct val="80000"/>
              </a:lnSpc>
              <a:buFont typeface="Monotype Sorts" pitchFamily="2" charset="2"/>
              <a:buNone/>
              <a:defRPr/>
            </a:pPr>
            <a:r>
              <a:rPr lang="en-US" altLang="zh-CN" sz="2000" b="1">
                <a:effectLst>
                  <a:outerShdw blurRad="38100" dist="38100" dir="2700000" algn="tl">
                    <a:srgbClr val="000000"/>
                  </a:outerShdw>
                </a:effectLst>
                <a:latin typeface="楷体_GB2312" pitchFamily="49" charset="-122"/>
                <a:ea typeface="楷体_GB2312" pitchFamily="49" charset="-122"/>
              </a:rPr>
              <a:t>	         head = delStu(head, number);  break; </a:t>
            </a:r>
          </a:p>
          <a:p>
            <a:pPr marL="0" indent="0" eaLnBrk="1" hangingPunct="1">
              <a:lnSpc>
                <a:spcPct val="80000"/>
              </a:lnSpc>
              <a:buFont typeface="Monotype Sorts" pitchFamily="2" charset="2"/>
              <a:buNone/>
              <a:defRPr/>
            </a:pPr>
            <a:r>
              <a:rPr lang="en-US" altLang="zh-CN" sz="2000" b="1">
                <a:effectLst>
                  <a:outerShdw blurRad="38100" dist="38100" dir="2700000" algn="tl">
                    <a:srgbClr val="000000"/>
                  </a:outerShdw>
                </a:effectLst>
                <a:latin typeface="楷体_GB2312" pitchFamily="49" charset="-122"/>
                <a:ea typeface="楷体_GB2312" pitchFamily="49" charset="-122"/>
              </a:rPr>
              <a:t>         default: return;</a:t>
            </a:r>
          </a:p>
          <a:p>
            <a:pPr marL="0" indent="0" eaLnBrk="1" hangingPunct="1">
              <a:lnSpc>
                <a:spcPct val="80000"/>
              </a:lnSpc>
              <a:buFont typeface="Monotype Sorts" pitchFamily="2" charset="2"/>
              <a:buNone/>
              <a:defRPr/>
            </a:pPr>
            <a:r>
              <a:rPr lang="en-US" altLang="zh-CN" sz="2000" b="1">
                <a:effectLst>
                  <a:outerShdw blurRad="38100" dist="38100" dir="2700000" algn="tl">
                    <a:srgbClr val="000000"/>
                  </a:outerShdw>
                </a:effectLst>
                <a:latin typeface="楷体_GB2312" pitchFamily="49" charset="-122"/>
                <a:ea typeface="楷体_GB2312" pitchFamily="49" charset="-122"/>
              </a:rPr>
              <a:t>       }</a:t>
            </a:r>
          </a:p>
          <a:p>
            <a:pPr marL="0" indent="0" eaLnBrk="1" hangingPunct="1">
              <a:lnSpc>
                <a:spcPct val="80000"/>
              </a:lnSpc>
              <a:buFont typeface="Monotype Sorts" pitchFamily="2" charset="2"/>
              <a:buNone/>
              <a:defRPr/>
            </a:pPr>
            <a:r>
              <a:rPr lang="en-US" altLang="zh-CN" sz="2000" b="1">
                <a:effectLst>
                  <a:outerShdw blurRad="38100" dist="38100" dir="2700000" algn="tl">
                    <a:srgbClr val="000000"/>
                  </a:outerShdw>
                </a:effectLst>
                <a:latin typeface="楷体_GB2312" pitchFamily="49" charset="-122"/>
                <a:ea typeface="楷体_GB2312" pitchFamily="49" charset="-122"/>
              </a:rPr>
              <a:t>    }</a:t>
            </a:r>
          </a:p>
          <a:p>
            <a:pPr marL="0" indent="0" eaLnBrk="1" hangingPunct="1">
              <a:lnSpc>
                <a:spcPct val="80000"/>
              </a:lnSpc>
              <a:buFont typeface="Monotype Sorts" pitchFamily="2" charset="2"/>
              <a:buNone/>
              <a:defRPr/>
            </a:pPr>
            <a:r>
              <a:rPr lang="en-US" altLang="zh-CN" sz="2000" b="1">
                <a:effectLst>
                  <a:outerShdw blurRad="38100" dist="38100" dir="2700000" algn="tl">
                    <a:srgbClr val="000000"/>
                  </a:outerShdw>
                </a:effectLst>
                <a:latin typeface="楷体_GB2312" pitchFamily="49" charset="-122"/>
                <a:ea typeface="楷体_GB2312" pitchFamily="49" charset="-122"/>
              </a:rPr>
              <a:t>}</a:t>
            </a:r>
          </a:p>
        </p:txBody>
      </p:sp>
      <p:sp>
        <p:nvSpPr>
          <p:cNvPr id="5" name="灯片编号占位符 5"/>
          <p:cNvSpPr>
            <a:spLocks noGrp="1"/>
          </p:cNvSpPr>
          <p:nvPr>
            <p:ph type="sldNum" sz="quarter" idx="12"/>
          </p:nvPr>
        </p:nvSpPr>
        <p:spPr/>
        <p:txBody>
          <a:bodyPr/>
          <a:lstStyle/>
          <a:p>
            <a:pPr>
              <a:defRPr/>
            </a:pPr>
            <a:fld id="{7FA9283A-57FA-4F5D-B610-628D0A0998CC}" type="slidenum">
              <a:rPr lang="en-US" altLang="zh-CN"/>
              <a:pPr>
                <a:defRPr/>
              </a:pPr>
              <a:t>94</a:t>
            </a:fld>
            <a:endParaRPr lang="en-US" altLang="zh-CN"/>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8130" name="Rectangle 2"/>
          <p:cNvSpPr>
            <a:spLocks noGrp="1" noChangeArrowheads="1"/>
          </p:cNvSpPr>
          <p:nvPr>
            <p:ph idx="1"/>
          </p:nvPr>
        </p:nvSpPr>
        <p:spPr>
          <a:xfrm>
            <a:off x="468313" y="620713"/>
            <a:ext cx="8304212" cy="2303462"/>
          </a:xfrm>
        </p:spPr>
        <p:txBody>
          <a:bodyPr/>
          <a:lstStyle/>
          <a:p>
            <a:pPr marL="0" indent="0" eaLnBrk="1" hangingPunct="1">
              <a:buFont typeface="Monotype Sorts" pitchFamily="2" charset="2"/>
              <a:buNone/>
              <a:defRPr/>
            </a:pPr>
            <a:r>
              <a:rPr lang="zh-CN" altLang="en-US" b="1" dirty="0">
                <a:effectLst>
                  <a:outerShdw blurRad="38100" dist="38100" dir="2700000" algn="tl">
                    <a:srgbClr val="000000"/>
                  </a:outerShdw>
                </a:effectLst>
                <a:latin typeface="楷体_GB2312" pitchFamily="49" charset="-122"/>
                <a:ea typeface="楷体_GB2312" pitchFamily="49" charset="-122"/>
              </a:rPr>
              <a:t>为了避免判别是否是链表的首表元和修改链表头指针，这类程序中的</a:t>
            </a:r>
            <a:r>
              <a:rPr lang="zh-CN" altLang="en-US" b="1" dirty="0">
                <a:solidFill>
                  <a:srgbClr val="FF0000"/>
                </a:solidFill>
                <a:effectLst>
                  <a:outerShdw blurRad="38100" dist="38100" dir="2700000" algn="tl">
                    <a:srgbClr val="000000"/>
                  </a:outerShdw>
                </a:effectLst>
                <a:latin typeface="楷体_GB2312" pitchFamily="49" charset="-122"/>
                <a:ea typeface="楷体_GB2312" pitchFamily="49" charset="-122"/>
              </a:rPr>
              <a:t>单链表通常增设一个辅助的表元</a:t>
            </a:r>
            <a:r>
              <a:rPr lang="zh-CN" altLang="en-US" b="1" dirty="0">
                <a:effectLst>
                  <a:outerShdw blurRad="38100" dist="38100" dir="2700000" algn="tl">
                    <a:srgbClr val="000000"/>
                  </a:outerShdw>
                </a:effectLst>
                <a:latin typeface="楷体_GB2312" pitchFamily="49" charset="-122"/>
                <a:ea typeface="楷体_GB2312" pitchFamily="49" charset="-122"/>
              </a:rPr>
              <a:t>，它出现在链表有效表元的首表元之前，如图</a:t>
            </a:r>
            <a:r>
              <a:rPr lang="en-US" altLang="zh-CN" b="1" dirty="0">
                <a:effectLst>
                  <a:outerShdw blurRad="38100" dist="38100" dir="2700000" algn="tl">
                    <a:srgbClr val="000000"/>
                  </a:outerShdw>
                </a:effectLst>
                <a:latin typeface="楷体_GB2312" pitchFamily="49" charset="-122"/>
                <a:ea typeface="楷体_GB2312" pitchFamily="49" charset="-122"/>
              </a:rPr>
              <a:t>7-10</a:t>
            </a:r>
            <a:r>
              <a:rPr lang="zh-CN" altLang="en-US" b="1" dirty="0">
                <a:effectLst>
                  <a:outerShdw blurRad="38100" dist="38100" dir="2700000" algn="tl">
                    <a:srgbClr val="000000"/>
                  </a:outerShdw>
                </a:effectLst>
                <a:latin typeface="楷体_GB2312" pitchFamily="49" charset="-122"/>
                <a:ea typeface="楷体_GB2312" pitchFamily="49" charset="-122"/>
              </a:rPr>
              <a:t>所示。辅助的表元的值往往比较特殊，以便能与其他有效表元相区别。</a:t>
            </a:r>
            <a:r>
              <a:rPr lang="zh-CN" altLang="en-US" dirty="0">
                <a:latin typeface="楷体_GB2312" pitchFamily="49" charset="-122"/>
                <a:ea typeface="楷体_GB2312" pitchFamily="49" charset="-122"/>
              </a:rPr>
              <a:t> </a:t>
            </a:r>
          </a:p>
        </p:txBody>
      </p:sp>
      <p:sp>
        <p:nvSpPr>
          <p:cNvPr id="8" name="灯片编号占位符 5"/>
          <p:cNvSpPr>
            <a:spLocks noGrp="1"/>
          </p:cNvSpPr>
          <p:nvPr>
            <p:ph type="sldNum" sz="quarter" idx="12"/>
          </p:nvPr>
        </p:nvSpPr>
        <p:spPr/>
        <p:txBody>
          <a:bodyPr/>
          <a:lstStyle/>
          <a:p>
            <a:pPr>
              <a:defRPr/>
            </a:pPr>
            <a:fld id="{B5C69ABD-FF96-43C9-9CBD-BF95B7A61905}" type="slidenum">
              <a:rPr lang="en-US" altLang="zh-CN"/>
              <a:pPr>
                <a:defRPr/>
              </a:pPr>
              <a:t>95</a:t>
            </a:fld>
            <a:endParaRPr lang="en-US" altLang="zh-CN"/>
          </a:p>
        </p:txBody>
      </p:sp>
      <p:sp>
        <p:nvSpPr>
          <p:cNvPr id="8197" name="Rectangle 4"/>
          <p:cNvSpPr>
            <a:spLocks noChangeArrowheads="1"/>
          </p:cNvSpPr>
          <p:nvPr/>
        </p:nvSpPr>
        <p:spPr bwMode="auto">
          <a:xfrm>
            <a:off x="0" y="2828925"/>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8194" name="Object 3"/>
          <p:cNvGraphicFramePr>
            <a:graphicFrameLocks noChangeAspect="1"/>
          </p:cNvGraphicFramePr>
          <p:nvPr/>
        </p:nvGraphicFramePr>
        <p:xfrm>
          <a:off x="900113" y="3021013"/>
          <a:ext cx="7200900" cy="2279650"/>
        </p:xfrm>
        <a:graphic>
          <a:graphicData uri="http://schemas.openxmlformats.org/presentationml/2006/ole">
            <mc:AlternateContent xmlns:mc="http://schemas.openxmlformats.org/markup-compatibility/2006">
              <mc:Choice xmlns:v="urn:schemas-microsoft-com:vml" Requires="v">
                <p:oleObj r:id="rId2" imgW="7288829" imgH="2611490" progId="">
                  <p:embed/>
                </p:oleObj>
              </mc:Choice>
              <mc:Fallback>
                <p:oleObj r:id="rId2" imgW="7288829" imgH="2611490" progId="">
                  <p:embed/>
                  <p:pic>
                    <p:nvPicPr>
                      <p:cNvPr id="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3021013"/>
                        <a:ext cx="7200900" cy="2279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8" name="Text Box 5"/>
          <p:cNvSpPr txBox="1">
            <a:spLocks noChangeArrowheads="1"/>
          </p:cNvSpPr>
          <p:nvPr/>
        </p:nvSpPr>
        <p:spPr bwMode="auto">
          <a:xfrm>
            <a:off x="2165350" y="5373688"/>
            <a:ext cx="4278313" cy="396875"/>
          </a:xfrm>
          <a:prstGeom prst="rect">
            <a:avLst/>
          </a:prstGeom>
          <a:noFill/>
          <a:ln w="9525">
            <a:noFill/>
            <a:miter lim="800000"/>
            <a:headEnd/>
            <a:tailEnd/>
          </a:ln>
        </p:spPr>
        <p:txBody>
          <a:bodyPr wrap="none">
            <a:spAutoFit/>
          </a:bodyPr>
          <a:lstStyle/>
          <a:p>
            <a:r>
              <a:rPr lang="zh-CN" altLang="en-US" sz="2000" b="1">
                <a:latin typeface="楷体_GB2312" pitchFamily="49" charset="-122"/>
                <a:ea typeface="楷体_GB2312" pitchFamily="49" charset="-122"/>
              </a:rPr>
              <a:t>图</a:t>
            </a:r>
            <a:r>
              <a:rPr lang="en-US" altLang="zh-CN" sz="2000" b="1">
                <a:latin typeface="楷体_GB2312" pitchFamily="49" charset="-122"/>
                <a:ea typeface="楷体_GB2312" pitchFamily="49" charset="-122"/>
              </a:rPr>
              <a:t>7-10 </a:t>
            </a:r>
            <a:r>
              <a:rPr lang="zh-CN" altLang="en-US" sz="2000" b="1">
                <a:latin typeface="楷体_GB2312" pitchFamily="49" charset="-122"/>
                <a:ea typeface="楷体_GB2312" pitchFamily="49" charset="-122"/>
              </a:rPr>
              <a:t>带辅助表元链表结构示意图 </a:t>
            </a:r>
          </a:p>
        </p:txBody>
      </p:sp>
      <p:sp>
        <p:nvSpPr>
          <p:cNvPr id="2" name="文本框 1"/>
          <p:cNvSpPr txBox="1"/>
          <p:nvPr/>
        </p:nvSpPr>
        <p:spPr>
          <a:xfrm>
            <a:off x="2267744" y="5894685"/>
            <a:ext cx="5400600" cy="461665"/>
          </a:xfrm>
          <a:prstGeom prst="rect">
            <a:avLst/>
          </a:prstGeom>
          <a:noFill/>
        </p:spPr>
        <p:txBody>
          <a:bodyPr wrap="square" rtlCol="0">
            <a:spAutoFit/>
          </a:bodyPr>
          <a:lstStyle/>
          <a:p>
            <a:r>
              <a:rPr lang="zh-CN" altLang="en-US" dirty="0">
                <a:solidFill>
                  <a:srgbClr val="FF0000"/>
                </a:solidFill>
              </a:rPr>
              <a:t>注意：</a:t>
            </a:r>
            <a:r>
              <a:rPr lang="en-US" altLang="zh-CN" dirty="0">
                <a:solidFill>
                  <a:srgbClr val="FF0000"/>
                </a:solidFill>
              </a:rPr>
              <a:t>head-&gt;next</a:t>
            </a:r>
            <a:r>
              <a:rPr lang="zh-CN" altLang="en-US" dirty="0">
                <a:solidFill>
                  <a:srgbClr val="FF0000"/>
                </a:solidFill>
              </a:rPr>
              <a:t>是第一个有效表元</a:t>
            </a:r>
            <a:endParaRPr lang="en-US" altLang="zh-CN"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011" name="Rectangle 3"/>
          <p:cNvSpPr>
            <a:spLocks noGrp="1" noChangeArrowheads="1"/>
          </p:cNvSpPr>
          <p:nvPr>
            <p:ph idx="1"/>
          </p:nvPr>
        </p:nvSpPr>
        <p:spPr>
          <a:xfrm>
            <a:off x="611560" y="620688"/>
            <a:ext cx="8304212" cy="6237312"/>
          </a:xfrm>
        </p:spPr>
        <p:txBody>
          <a:bodyPr>
            <a:noAutofit/>
          </a:bodyPr>
          <a:lstStyle/>
          <a:p>
            <a:pPr marL="0" indent="0">
              <a:buNone/>
              <a:defRPr/>
            </a:pPr>
            <a:r>
              <a:rPr lang="zh-CN" altLang="en-US" sz="2800" dirty="0">
                <a:solidFill>
                  <a:srgbClr val="FF0000"/>
                </a:solidFill>
              </a:rPr>
              <a:t>引入辅助表元带来的好处实例：</a:t>
            </a:r>
            <a:r>
              <a:rPr lang="zh-CN" altLang="en-US" sz="2800" b="1" dirty="0">
                <a:latin typeface="楷体_GB2312" pitchFamily="49" charset="-122"/>
                <a:ea typeface="楷体_GB2312" pitchFamily="49" charset="-122"/>
              </a:rPr>
              <a:t>重新编写删除指定学号的表元函数。</a:t>
            </a:r>
            <a:endParaRPr lang="en-US" altLang="zh-CN" sz="2800" b="1" dirty="0">
              <a:latin typeface="楷体_GB2312" pitchFamily="49" charset="-122"/>
              <a:ea typeface="楷体_GB2312" pitchFamily="49" charset="-122"/>
            </a:endParaRPr>
          </a:p>
          <a:p>
            <a:pPr marL="514350" indent="-514350">
              <a:buAutoNum type="arabicPeriod"/>
              <a:defRPr/>
            </a:pPr>
            <a:r>
              <a:rPr lang="zh-CN" altLang="en-US" sz="2400" b="1" dirty="0">
                <a:latin typeface="楷体_GB2312" pitchFamily="49" charset="-122"/>
                <a:ea typeface="楷体_GB2312" pitchFamily="49" charset="-122"/>
              </a:rPr>
              <a:t>不需要返回值（</a:t>
            </a:r>
            <a:r>
              <a:rPr lang="en-US" altLang="zh-CN" sz="2400" b="1" dirty="0">
                <a:latin typeface="楷体_GB2312" pitchFamily="49" charset="-122"/>
                <a:ea typeface="楷体_GB2312" pitchFamily="49" charset="-122"/>
              </a:rPr>
              <a:t>head</a:t>
            </a:r>
            <a:r>
              <a:rPr lang="zh-CN" altLang="en-US" sz="2400" b="1" dirty="0">
                <a:latin typeface="楷体_GB2312" pitchFamily="49" charset="-122"/>
                <a:ea typeface="楷体_GB2312" pitchFamily="49" charset="-122"/>
              </a:rPr>
              <a:t>指针不会被修改）</a:t>
            </a:r>
            <a:endParaRPr lang="en-US" altLang="zh-CN" sz="2400" b="1" dirty="0">
              <a:latin typeface="楷体_GB2312" pitchFamily="49" charset="-122"/>
              <a:ea typeface="楷体_GB2312" pitchFamily="49" charset="-122"/>
            </a:endParaRPr>
          </a:p>
          <a:p>
            <a:pPr marL="514350" indent="-514350">
              <a:buAutoNum type="arabicPeriod"/>
              <a:defRPr/>
            </a:pPr>
            <a:r>
              <a:rPr lang="zh-CN" altLang="en-US" sz="2400" b="1" dirty="0">
                <a:latin typeface="楷体_GB2312" pitchFamily="49" charset="-122"/>
                <a:ea typeface="楷体_GB2312" pitchFamily="49" charset="-122"/>
              </a:rPr>
              <a:t>程序简化</a:t>
            </a:r>
            <a:endParaRPr lang="en-US" altLang="zh-CN" sz="2400" b="1" dirty="0">
              <a:latin typeface="楷体_GB2312" pitchFamily="49" charset="-122"/>
              <a:ea typeface="楷体_GB2312" pitchFamily="49" charset="-122"/>
            </a:endParaRPr>
          </a:p>
          <a:p>
            <a:pPr marL="0" indent="0">
              <a:lnSpc>
                <a:spcPct val="90000"/>
              </a:lnSpc>
              <a:buNone/>
              <a:defRPr/>
            </a:pPr>
            <a:r>
              <a:rPr lang="en-US" altLang="zh-CN" sz="2400" b="1" dirty="0">
                <a:solidFill>
                  <a:srgbClr val="FF0000"/>
                </a:solidFill>
                <a:latin typeface="楷体_GB2312" pitchFamily="49" charset="-122"/>
                <a:ea typeface="楷体_GB2312" pitchFamily="49" charset="-122"/>
              </a:rPr>
              <a:t>void</a:t>
            </a: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delStu</a:t>
            </a: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stuS</a:t>
            </a:r>
            <a:r>
              <a:rPr lang="en-US" altLang="zh-CN" sz="2400" b="1" dirty="0">
                <a:latin typeface="楷体_GB2312" pitchFamily="49" charset="-122"/>
                <a:ea typeface="楷体_GB2312" pitchFamily="49" charset="-122"/>
              </a:rPr>
              <a:t> *head, </a:t>
            </a:r>
            <a:r>
              <a:rPr lang="en-US" altLang="zh-CN" sz="2400" b="1" dirty="0" err="1">
                <a:latin typeface="楷体_GB2312" pitchFamily="49" charset="-122"/>
                <a:ea typeface="楷体_GB2312" pitchFamily="49" charset="-122"/>
              </a:rPr>
              <a:t>int</a:t>
            </a: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num</a:t>
            </a:r>
            <a:r>
              <a:rPr lang="en-US" altLang="zh-CN" sz="2400" b="1" dirty="0">
                <a:latin typeface="楷体_GB2312" pitchFamily="49" charset="-122"/>
                <a:ea typeface="楷体_GB2312" pitchFamily="49" charset="-122"/>
              </a:rPr>
              <a:t>){ </a:t>
            </a:r>
          </a:p>
          <a:p>
            <a:pPr marL="0" indent="0">
              <a:lnSpc>
                <a:spcPct val="90000"/>
              </a:lnSpc>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stuS</a:t>
            </a:r>
            <a:r>
              <a:rPr lang="en-US" altLang="zh-CN" sz="2400" b="1" dirty="0">
                <a:latin typeface="楷体_GB2312" pitchFamily="49" charset="-122"/>
                <a:ea typeface="楷体_GB2312" pitchFamily="49" charset="-122"/>
              </a:rPr>
              <a:t> *w, *p;</a:t>
            </a:r>
          </a:p>
          <a:p>
            <a:pPr marL="0" indent="0">
              <a:lnSpc>
                <a:spcPct val="90000"/>
              </a:lnSpc>
              <a:buNone/>
              <a:defRPr/>
            </a:pPr>
            <a:r>
              <a:rPr lang="en-US" altLang="zh-CN" sz="2400" b="1" dirty="0">
                <a:latin typeface="楷体_GB2312" pitchFamily="49" charset="-122"/>
                <a:ea typeface="楷体_GB2312" pitchFamily="49" charset="-122"/>
              </a:rPr>
              <a:t>  if (</a:t>
            </a:r>
            <a:r>
              <a:rPr lang="en-US" altLang="zh-CN" sz="2400" b="1" dirty="0">
                <a:solidFill>
                  <a:srgbClr val="FF0000"/>
                </a:solidFill>
                <a:latin typeface="楷体_GB2312" pitchFamily="49" charset="-122"/>
                <a:ea typeface="楷体_GB2312" pitchFamily="49" charset="-122"/>
              </a:rPr>
              <a:t>head-&gt;next </a:t>
            </a:r>
            <a:r>
              <a:rPr lang="en-US" altLang="zh-CN" sz="2400" b="1" dirty="0">
                <a:latin typeface="楷体_GB2312" pitchFamily="49" charset="-122"/>
                <a:ea typeface="楷体_GB2312" pitchFamily="49" charset="-122"/>
              </a:rPr>
              <a:t>== NULL) return;</a:t>
            </a:r>
          </a:p>
          <a:p>
            <a:pPr marL="0" indent="0">
              <a:lnSpc>
                <a:spcPct val="90000"/>
              </a:lnSpc>
              <a:buNone/>
              <a:defRPr/>
            </a:pPr>
            <a:r>
              <a:rPr lang="en-US" altLang="zh-CN" sz="2400" b="1" dirty="0">
                <a:latin typeface="楷体_GB2312" pitchFamily="49" charset="-122"/>
                <a:ea typeface="楷体_GB2312" pitchFamily="49" charset="-122"/>
              </a:rPr>
              <a:t>  </a:t>
            </a:r>
            <a:r>
              <a:rPr lang="en-US" altLang="zh-CN" sz="2400" b="1" dirty="0">
                <a:solidFill>
                  <a:srgbClr val="FF0000"/>
                </a:solidFill>
                <a:latin typeface="楷体_GB2312" pitchFamily="49" charset="-122"/>
                <a:ea typeface="楷体_GB2312" pitchFamily="49" charset="-122"/>
              </a:rPr>
              <a:t>w = head; p = head-&gt;next; </a:t>
            </a:r>
            <a:r>
              <a:rPr lang="en-US" altLang="zh-CN" sz="2400" b="1" dirty="0">
                <a:latin typeface="楷体_GB2312" pitchFamily="49" charset="-122"/>
                <a:ea typeface="楷体_GB2312" pitchFamily="49" charset="-122"/>
              </a:rPr>
              <a:t>	</a:t>
            </a:r>
          </a:p>
          <a:p>
            <a:pPr marL="0" indent="0">
              <a:lnSpc>
                <a:spcPct val="90000"/>
              </a:lnSpc>
              <a:buNone/>
              <a:defRPr/>
            </a:pPr>
            <a:r>
              <a:rPr lang="en-US" altLang="zh-CN" sz="2400" b="1" dirty="0">
                <a:solidFill>
                  <a:srgbClr val="C00000"/>
                </a:solidFill>
                <a:latin typeface="楷体_GB2312" pitchFamily="49" charset="-122"/>
                <a:ea typeface="楷体_GB2312" pitchFamily="49" charset="-122"/>
              </a:rPr>
              <a:t>  </a:t>
            </a:r>
            <a:r>
              <a:rPr lang="en-US" altLang="zh-CN" sz="2400" b="1" dirty="0">
                <a:latin typeface="楷体_GB2312" pitchFamily="49" charset="-122"/>
                <a:ea typeface="楷体_GB2312" pitchFamily="49" charset="-122"/>
              </a:rPr>
              <a:t>while (p != NULL &amp;&amp; p-&gt;number != </a:t>
            </a:r>
            <a:r>
              <a:rPr lang="en-US" altLang="zh-CN" sz="2400" b="1" dirty="0" err="1">
                <a:latin typeface="楷体_GB2312" pitchFamily="49" charset="-122"/>
                <a:ea typeface="楷体_GB2312" pitchFamily="49" charset="-122"/>
              </a:rPr>
              <a:t>num</a:t>
            </a:r>
            <a:r>
              <a:rPr lang="en-US" altLang="zh-CN" sz="2400" b="1" dirty="0">
                <a:latin typeface="楷体_GB2312" pitchFamily="49" charset="-122"/>
                <a:ea typeface="楷体_GB2312" pitchFamily="49" charset="-122"/>
              </a:rPr>
              <a:t>) {</a:t>
            </a:r>
          </a:p>
          <a:p>
            <a:pPr marL="0" indent="0">
              <a:lnSpc>
                <a:spcPct val="90000"/>
              </a:lnSpc>
              <a:buNone/>
              <a:defRPr/>
            </a:pPr>
            <a:r>
              <a:rPr lang="en-US" altLang="zh-CN" sz="2400" b="1" dirty="0">
                <a:latin typeface="楷体_GB2312" pitchFamily="49" charset="-122"/>
                <a:ea typeface="楷体_GB2312" pitchFamily="49" charset="-122"/>
              </a:rPr>
              <a:t>     w = p; p = p-&gt;next;  </a:t>
            </a:r>
          </a:p>
          <a:p>
            <a:pPr marL="0" indent="0">
              <a:lnSpc>
                <a:spcPct val="90000"/>
              </a:lnSpc>
              <a:buNone/>
              <a:defRPr/>
            </a:pPr>
            <a:r>
              <a:rPr lang="en-US" altLang="zh-CN" sz="2400" b="1" dirty="0">
                <a:latin typeface="楷体_GB2312" pitchFamily="49" charset="-122"/>
                <a:ea typeface="楷体_GB2312" pitchFamily="49" charset="-122"/>
              </a:rPr>
              <a:t>  }		</a:t>
            </a:r>
          </a:p>
          <a:p>
            <a:pPr marL="0" indent="0">
              <a:lnSpc>
                <a:spcPct val="90000"/>
              </a:lnSpc>
              <a:buNone/>
              <a:defRPr/>
            </a:pPr>
            <a:r>
              <a:rPr lang="en-US" altLang="zh-CN" sz="2400" b="1" dirty="0">
                <a:latin typeface="楷体_GB2312" pitchFamily="49" charset="-122"/>
                <a:ea typeface="楷体_GB2312" pitchFamily="49" charset="-122"/>
              </a:rPr>
              <a:t>  if (p != NULL) {</a:t>
            </a:r>
          </a:p>
          <a:p>
            <a:pPr marL="0" indent="0">
              <a:lnSpc>
                <a:spcPct val="90000"/>
              </a:lnSpc>
              <a:buNone/>
              <a:defRPr/>
            </a:pPr>
            <a:r>
              <a:rPr lang="en-US" altLang="zh-CN" sz="2400" b="1" dirty="0">
                <a:latin typeface="楷体_GB2312" pitchFamily="49" charset="-122"/>
                <a:ea typeface="楷体_GB2312" pitchFamily="49" charset="-122"/>
              </a:rPr>
              <a:t>     w-&gt;next = p-&gt;next; free (p);	</a:t>
            </a:r>
          </a:p>
          <a:p>
            <a:pPr marL="0" indent="0">
              <a:lnSpc>
                <a:spcPct val="90000"/>
              </a:lnSpc>
              <a:buNone/>
              <a:defRPr/>
            </a:pPr>
            <a:r>
              <a:rPr lang="en-US" altLang="zh-CN" sz="2400" b="1" dirty="0">
                <a:latin typeface="楷体_GB2312" pitchFamily="49" charset="-122"/>
                <a:ea typeface="楷体_GB2312" pitchFamily="49" charset="-122"/>
              </a:rPr>
              <a:t>  } </a:t>
            </a:r>
          </a:p>
          <a:p>
            <a:pPr marL="0" indent="0">
              <a:lnSpc>
                <a:spcPct val="90000"/>
              </a:lnSpc>
              <a:buNone/>
              <a:defRPr/>
            </a:pPr>
            <a:r>
              <a:rPr lang="en-US" altLang="zh-CN" sz="2400" b="1" dirty="0">
                <a:latin typeface="楷体_GB2312" pitchFamily="49" charset="-122"/>
                <a:ea typeface="楷体_GB2312" pitchFamily="49" charset="-122"/>
              </a:rPr>
              <a:t>}</a:t>
            </a:r>
          </a:p>
          <a:p>
            <a:pPr marL="0" indent="0">
              <a:buNone/>
              <a:defRPr/>
            </a:pPr>
            <a:endParaRPr lang="en-US" altLang="zh-CN" sz="2800" b="1" dirty="0">
              <a:latin typeface="楷体_GB2312" pitchFamily="49" charset="-122"/>
              <a:ea typeface="楷体_GB2312" pitchFamily="49" charset="-122"/>
            </a:endParaRPr>
          </a:p>
          <a:p>
            <a:pPr marL="0" indent="0" eaLnBrk="1" hangingPunct="1">
              <a:buFont typeface="Monotype Sorts" pitchFamily="2" charset="2"/>
              <a:buNone/>
              <a:defRPr/>
            </a:pPr>
            <a:endParaRPr lang="zh-CN" altLang="en-US" sz="2800" b="1" dirty="0">
              <a:latin typeface="楷体_GB2312" pitchFamily="49" charset="-122"/>
              <a:ea typeface="楷体_GB2312" pitchFamily="49" charset="-122"/>
            </a:endParaRPr>
          </a:p>
        </p:txBody>
      </p:sp>
      <p:sp>
        <p:nvSpPr>
          <p:cNvPr id="5" name="灯片编号占位符 5"/>
          <p:cNvSpPr>
            <a:spLocks noGrp="1"/>
          </p:cNvSpPr>
          <p:nvPr>
            <p:ph type="sldNum" sz="quarter" idx="12"/>
          </p:nvPr>
        </p:nvSpPr>
        <p:spPr/>
        <p:txBody>
          <a:bodyPr/>
          <a:lstStyle/>
          <a:p>
            <a:pPr>
              <a:defRPr/>
            </a:pPr>
            <a:fld id="{78286F6F-4B4F-438A-ACF6-D79286C3A5E3}" type="slidenum">
              <a:rPr lang="en-US" altLang="zh-CN"/>
              <a:pPr>
                <a:defRPr/>
              </a:pPr>
              <a:t>96</a:t>
            </a:fld>
            <a:endParaRPr lang="en-US" altLang="zh-CN"/>
          </a:p>
        </p:txBody>
      </p:sp>
    </p:spTree>
    <p:extLst>
      <p:ext uri="{BB962C8B-B14F-4D97-AF65-F5344CB8AC3E}">
        <p14:creationId xmlns:p14="http://schemas.microsoft.com/office/powerpoint/2010/main" val="2957545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83011">
                                            <p:txEl>
                                              <p:pRg st="3" end="3"/>
                                            </p:txEl>
                                          </p:spTgt>
                                        </p:tgtEl>
                                        <p:attrNameLst>
                                          <p:attrName>style.visibility</p:attrName>
                                        </p:attrNameLst>
                                      </p:cBhvr>
                                      <p:to>
                                        <p:strVal val="visible"/>
                                      </p:to>
                                    </p:set>
                                    <p:anim calcmode="lin" valueType="num">
                                      <p:cBhvr additive="base">
                                        <p:cTn id="7" dur="500" fill="hold"/>
                                        <p:tgtEl>
                                          <p:spTgt spid="683011">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83011">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83011">
                                            <p:txEl>
                                              <p:pRg st="4" end="4"/>
                                            </p:txEl>
                                          </p:spTgt>
                                        </p:tgtEl>
                                        <p:attrNameLst>
                                          <p:attrName>style.visibility</p:attrName>
                                        </p:attrNameLst>
                                      </p:cBhvr>
                                      <p:to>
                                        <p:strVal val="visible"/>
                                      </p:to>
                                    </p:set>
                                    <p:anim calcmode="lin" valueType="num">
                                      <p:cBhvr additive="base">
                                        <p:cTn id="11" dur="500" fill="hold"/>
                                        <p:tgtEl>
                                          <p:spTgt spid="683011">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83011">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83011">
                                            <p:txEl>
                                              <p:pRg st="5" end="5"/>
                                            </p:txEl>
                                          </p:spTgt>
                                        </p:tgtEl>
                                        <p:attrNameLst>
                                          <p:attrName>style.visibility</p:attrName>
                                        </p:attrNameLst>
                                      </p:cBhvr>
                                      <p:to>
                                        <p:strVal val="visible"/>
                                      </p:to>
                                    </p:set>
                                    <p:anim calcmode="lin" valueType="num">
                                      <p:cBhvr additive="base">
                                        <p:cTn id="15" dur="500" fill="hold"/>
                                        <p:tgtEl>
                                          <p:spTgt spid="683011">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83011">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83011">
                                            <p:txEl>
                                              <p:pRg st="6" end="6"/>
                                            </p:txEl>
                                          </p:spTgt>
                                        </p:tgtEl>
                                        <p:attrNameLst>
                                          <p:attrName>style.visibility</p:attrName>
                                        </p:attrNameLst>
                                      </p:cBhvr>
                                      <p:to>
                                        <p:strVal val="visible"/>
                                      </p:to>
                                    </p:set>
                                    <p:anim calcmode="lin" valueType="num">
                                      <p:cBhvr additive="base">
                                        <p:cTn id="19" dur="500" fill="hold"/>
                                        <p:tgtEl>
                                          <p:spTgt spid="683011">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83011">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83011">
                                            <p:txEl>
                                              <p:pRg st="7" end="7"/>
                                            </p:txEl>
                                          </p:spTgt>
                                        </p:tgtEl>
                                        <p:attrNameLst>
                                          <p:attrName>style.visibility</p:attrName>
                                        </p:attrNameLst>
                                      </p:cBhvr>
                                      <p:to>
                                        <p:strVal val="visible"/>
                                      </p:to>
                                    </p:set>
                                    <p:anim calcmode="lin" valueType="num">
                                      <p:cBhvr additive="base">
                                        <p:cTn id="23" dur="500" fill="hold"/>
                                        <p:tgtEl>
                                          <p:spTgt spid="683011">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83011">
                                            <p:txEl>
                                              <p:pRg st="7" end="7"/>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683011">
                                            <p:txEl>
                                              <p:pRg st="8" end="8"/>
                                            </p:txEl>
                                          </p:spTgt>
                                        </p:tgtEl>
                                        <p:attrNameLst>
                                          <p:attrName>style.visibility</p:attrName>
                                        </p:attrNameLst>
                                      </p:cBhvr>
                                      <p:to>
                                        <p:strVal val="visible"/>
                                      </p:to>
                                    </p:set>
                                    <p:anim calcmode="lin" valueType="num">
                                      <p:cBhvr additive="base">
                                        <p:cTn id="27" dur="500" fill="hold"/>
                                        <p:tgtEl>
                                          <p:spTgt spid="683011">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83011">
                                            <p:txEl>
                                              <p:pRg st="8" end="8"/>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683011">
                                            <p:txEl>
                                              <p:pRg st="9" end="9"/>
                                            </p:txEl>
                                          </p:spTgt>
                                        </p:tgtEl>
                                        <p:attrNameLst>
                                          <p:attrName>style.visibility</p:attrName>
                                        </p:attrNameLst>
                                      </p:cBhvr>
                                      <p:to>
                                        <p:strVal val="visible"/>
                                      </p:to>
                                    </p:set>
                                    <p:anim calcmode="lin" valueType="num">
                                      <p:cBhvr additive="base">
                                        <p:cTn id="31" dur="500" fill="hold"/>
                                        <p:tgtEl>
                                          <p:spTgt spid="683011">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83011">
                                            <p:txEl>
                                              <p:pRg st="9" end="9"/>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683011">
                                            <p:txEl>
                                              <p:pRg st="10" end="10"/>
                                            </p:txEl>
                                          </p:spTgt>
                                        </p:tgtEl>
                                        <p:attrNameLst>
                                          <p:attrName>style.visibility</p:attrName>
                                        </p:attrNameLst>
                                      </p:cBhvr>
                                      <p:to>
                                        <p:strVal val="visible"/>
                                      </p:to>
                                    </p:set>
                                    <p:anim calcmode="lin" valueType="num">
                                      <p:cBhvr additive="base">
                                        <p:cTn id="35" dur="500" fill="hold"/>
                                        <p:tgtEl>
                                          <p:spTgt spid="683011">
                                            <p:txEl>
                                              <p:pRg st="10" end="1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83011">
                                            <p:txEl>
                                              <p:pRg st="10" end="10"/>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683011">
                                            <p:txEl>
                                              <p:pRg st="11" end="11"/>
                                            </p:txEl>
                                          </p:spTgt>
                                        </p:tgtEl>
                                        <p:attrNameLst>
                                          <p:attrName>style.visibility</p:attrName>
                                        </p:attrNameLst>
                                      </p:cBhvr>
                                      <p:to>
                                        <p:strVal val="visible"/>
                                      </p:to>
                                    </p:set>
                                    <p:anim calcmode="lin" valueType="num">
                                      <p:cBhvr additive="base">
                                        <p:cTn id="39" dur="500" fill="hold"/>
                                        <p:tgtEl>
                                          <p:spTgt spid="683011">
                                            <p:txEl>
                                              <p:pRg st="11" end="11"/>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683011">
                                            <p:txEl>
                                              <p:pRg st="11" end="11"/>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683011">
                                            <p:txEl>
                                              <p:pRg st="12" end="12"/>
                                            </p:txEl>
                                          </p:spTgt>
                                        </p:tgtEl>
                                        <p:attrNameLst>
                                          <p:attrName>style.visibility</p:attrName>
                                        </p:attrNameLst>
                                      </p:cBhvr>
                                      <p:to>
                                        <p:strVal val="visible"/>
                                      </p:to>
                                    </p:set>
                                    <p:anim calcmode="lin" valueType="num">
                                      <p:cBhvr additive="base">
                                        <p:cTn id="43" dur="500" fill="hold"/>
                                        <p:tgtEl>
                                          <p:spTgt spid="683011">
                                            <p:txEl>
                                              <p:pRg st="12" end="1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83011">
                                            <p:txEl>
                                              <p:pRg st="12" end="12"/>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683011">
                                            <p:txEl>
                                              <p:pRg st="13" end="13"/>
                                            </p:txEl>
                                          </p:spTgt>
                                        </p:tgtEl>
                                        <p:attrNameLst>
                                          <p:attrName>style.visibility</p:attrName>
                                        </p:attrNameLst>
                                      </p:cBhvr>
                                      <p:to>
                                        <p:strVal val="visible"/>
                                      </p:to>
                                    </p:set>
                                    <p:anim calcmode="lin" valueType="num">
                                      <p:cBhvr additive="base">
                                        <p:cTn id="47" dur="500" fill="hold"/>
                                        <p:tgtEl>
                                          <p:spTgt spid="683011">
                                            <p:txEl>
                                              <p:pRg st="13" end="13"/>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683011">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3FD51CBC-D341-4D1A-9838-3C70B744B68D}" type="slidenum">
              <a:rPr lang="en-US" altLang="zh-CN" smtClean="0"/>
              <a:pPr>
                <a:defRPr/>
              </a:pPr>
              <a:t>97</a:t>
            </a:fld>
            <a:endParaRPr lang="en-US" altLang="zh-CN"/>
          </a:p>
        </p:txBody>
      </p:sp>
      <p:sp>
        <p:nvSpPr>
          <p:cNvPr id="5" name="Rectangle 2"/>
          <p:cNvSpPr>
            <a:spLocks noGrp="1" noChangeArrowheads="1"/>
          </p:cNvSpPr>
          <p:nvPr>
            <p:ph idx="1"/>
          </p:nvPr>
        </p:nvSpPr>
        <p:spPr>
          <a:xfrm>
            <a:off x="4716016" y="620688"/>
            <a:ext cx="4319711" cy="5976937"/>
          </a:xfrm>
        </p:spPr>
        <p:txBody>
          <a:bodyPr>
            <a:noAutofit/>
          </a:bodyPr>
          <a:lstStyle/>
          <a:p>
            <a:pPr marL="0" indent="0" eaLnBrk="1" hangingPunct="1">
              <a:lnSpc>
                <a:spcPct val="90000"/>
              </a:lnSpc>
              <a:buFont typeface="Monotype Sorts" pitchFamily="2" charset="2"/>
              <a:buNone/>
              <a:defRPr/>
            </a:pPr>
            <a:r>
              <a:rPr lang="en-US" altLang="zh-CN" sz="1600" b="1" dirty="0" err="1">
                <a:solidFill>
                  <a:srgbClr val="FF0000"/>
                </a:solidFill>
                <a:latin typeface="楷体_GB2312" pitchFamily="49" charset="-122"/>
                <a:ea typeface="楷体_GB2312" pitchFamily="49" charset="-122"/>
              </a:rPr>
              <a:t>stuS</a:t>
            </a:r>
            <a:r>
              <a:rPr lang="en-US" altLang="zh-CN" sz="1600" b="1" dirty="0">
                <a:solidFill>
                  <a:srgbClr val="FF0000"/>
                </a:solidFill>
                <a:latin typeface="楷体_GB2312" pitchFamily="49" charset="-122"/>
                <a:ea typeface="楷体_GB2312" pitchFamily="49" charset="-122"/>
              </a:rPr>
              <a:t> *</a:t>
            </a:r>
            <a:r>
              <a:rPr lang="en-US" altLang="zh-CN" sz="1600" b="1" dirty="0" err="1">
                <a:latin typeface="楷体_GB2312" pitchFamily="49" charset="-122"/>
                <a:ea typeface="楷体_GB2312" pitchFamily="49" charset="-122"/>
              </a:rPr>
              <a:t>delStu</a:t>
            </a:r>
            <a:r>
              <a:rPr lang="en-US" altLang="zh-CN" sz="1600" b="1" dirty="0">
                <a:latin typeface="楷体_GB2312" pitchFamily="49" charset="-122"/>
                <a:ea typeface="楷体_GB2312" pitchFamily="49" charset="-122"/>
              </a:rPr>
              <a:t> (</a:t>
            </a:r>
            <a:r>
              <a:rPr lang="en-US" altLang="zh-CN" sz="1600" b="1" dirty="0" err="1">
                <a:latin typeface="楷体_GB2312" pitchFamily="49" charset="-122"/>
                <a:ea typeface="楷体_GB2312" pitchFamily="49" charset="-122"/>
              </a:rPr>
              <a:t>stuS</a:t>
            </a:r>
            <a:r>
              <a:rPr lang="en-US" altLang="zh-CN" sz="1600" b="1" dirty="0">
                <a:latin typeface="楷体_GB2312" pitchFamily="49" charset="-122"/>
                <a:ea typeface="楷体_GB2312" pitchFamily="49" charset="-122"/>
              </a:rPr>
              <a:t> *head, </a:t>
            </a:r>
            <a:r>
              <a:rPr lang="en-US" altLang="zh-CN" sz="1600" b="1" dirty="0" err="1">
                <a:latin typeface="楷体_GB2312" pitchFamily="49" charset="-122"/>
                <a:ea typeface="楷体_GB2312" pitchFamily="49" charset="-122"/>
              </a:rPr>
              <a:t>int</a:t>
            </a:r>
            <a:r>
              <a:rPr lang="en-US" altLang="zh-CN" sz="1600" b="1" dirty="0">
                <a:latin typeface="楷体_GB2312" pitchFamily="49" charset="-122"/>
                <a:ea typeface="楷体_GB2312" pitchFamily="49" charset="-122"/>
              </a:rPr>
              <a:t> num)	 { </a:t>
            </a:r>
          </a:p>
          <a:p>
            <a:pPr marL="0" indent="0" eaLnBrk="1" hangingPunct="1">
              <a:lnSpc>
                <a:spcPct val="90000"/>
              </a:lnSpc>
              <a:buFont typeface="Monotype Sorts" pitchFamily="2" charset="2"/>
              <a:buNone/>
              <a:defRPr/>
            </a:pPr>
            <a:r>
              <a:rPr lang="en-US" altLang="zh-CN" sz="1600" b="1" dirty="0">
                <a:latin typeface="楷体_GB2312" pitchFamily="49" charset="-122"/>
                <a:ea typeface="楷体_GB2312" pitchFamily="49" charset="-122"/>
              </a:rPr>
              <a:t>  </a:t>
            </a:r>
            <a:r>
              <a:rPr lang="en-US" altLang="zh-CN" sz="1600" b="1" dirty="0" err="1">
                <a:latin typeface="楷体_GB2312" pitchFamily="49" charset="-122"/>
                <a:ea typeface="楷体_GB2312" pitchFamily="49" charset="-122"/>
              </a:rPr>
              <a:t>stuS</a:t>
            </a:r>
            <a:r>
              <a:rPr lang="en-US" altLang="zh-CN" sz="1600" b="1" dirty="0">
                <a:latin typeface="楷体_GB2312" pitchFamily="49" charset="-122"/>
                <a:ea typeface="楷体_GB2312" pitchFamily="49" charset="-122"/>
              </a:rPr>
              <a:t> *w, *p;</a:t>
            </a:r>
          </a:p>
          <a:p>
            <a:pPr marL="0" indent="0" eaLnBrk="1" hangingPunct="1">
              <a:lnSpc>
                <a:spcPct val="90000"/>
              </a:lnSpc>
              <a:buFont typeface="Monotype Sorts" pitchFamily="2" charset="2"/>
              <a:buNone/>
              <a:defRPr/>
            </a:pPr>
            <a:r>
              <a:rPr lang="en-US" altLang="zh-CN" sz="1600" b="1" dirty="0">
                <a:latin typeface="楷体_GB2312" pitchFamily="49" charset="-122"/>
                <a:ea typeface="楷体_GB2312" pitchFamily="49" charset="-122"/>
              </a:rPr>
              <a:t>  </a:t>
            </a:r>
            <a:r>
              <a:rPr lang="en-US" altLang="zh-CN" sz="1600" b="1" dirty="0">
                <a:solidFill>
                  <a:srgbClr val="FF0000"/>
                </a:solidFill>
                <a:latin typeface="楷体_GB2312" pitchFamily="49" charset="-122"/>
                <a:ea typeface="楷体_GB2312" pitchFamily="49" charset="-122"/>
              </a:rPr>
              <a:t>if (head == NULL) return NULL;</a:t>
            </a:r>
          </a:p>
          <a:p>
            <a:pPr marL="0" indent="0" eaLnBrk="1" hangingPunct="1">
              <a:lnSpc>
                <a:spcPct val="90000"/>
              </a:lnSpc>
              <a:buFont typeface="Monotype Sorts" pitchFamily="2" charset="2"/>
              <a:buNone/>
              <a:defRPr/>
            </a:pPr>
            <a:r>
              <a:rPr lang="en-US" altLang="zh-CN" sz="1600" b="1" dirty="0">
                <a:solidFill>
                  <a:srgbClr val="FF0000"/>
                </a:solidFill>
                <a:latin typeface="楷体_GB2312" pitchFamily="49" charset="-122"/>
                <a:ea typeface="楷体_GB2312" pitchFamily="49" charset="-122"/>
              </a:rPr>
              <a:t>  p = head; </a:t>
            </a:r>
            <a:r>
              <a:rPr lang="en-US" altLang="zh-CN" sz="1600" b="1" dirty="0">
                <a:latin typeface="楷体_GB2312" pitchFamily="49" charset="-122"/>
                <a:ea typeface="楷体_GB2312" pitchFamily="49" charset="-122"/>
              </a:rPr>
              <a:t>	</a:t>
            </a:r>
          </a:p>
          <a:p>
            <a:pPr marL="0" indent="0" eaLnBrk="1" hangingPunct="1">
              <a:lnSpc>
                <a:spcPct val="90000"/>
              </a:lnSpc>
              <a:buFont typeface="Monotype Sorts" pitchFamily="2" charset="2"/>
              <a:buNone/>
              <a:defRPr/>
            </a:pPr>
            <a:r>
              <a:rPr lang="en-US" altLang="zh-CN" sz="1600" b="1" dirty="0">
                <a:latin typeface="楷体_GB2312" pitchFamily="49" charset="-122"/>
                <a:ea typeface="楷体_GB2312" pitchFamily="49" charset="-122"/>
              </a:rPr>
              <a:t>  while (p != NULL &amp;&amp; p-&gt;number != </a:t>
            </a:r>
            <a:r>
              <a:rPr lang="en-US" altLang="zh-CN" sz="1600" b="1" dirty="0" err="1">
                <a:latin typeface="楷体_GB2312" pitchFamily="49" charset="-122"/>
                <a:ea typeface="楷体_GB2312" pitchFamily="49" charset="-122"/>
              </a:rPr>
              <a:t>num</a:t>
            </a:r>
            <a:r>
              <a:rPr lang="en-US" altLang="zh-CN" sz="1600" b="1" dirty="0">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1600" b="1" dirty="0">
                <a:latin typeface="楷体_GB2312" pitchFamily="49" charset="-122"/>
                <a:ea typeface="楷体_GB2312" pitchFamily="49" charset="-122"/>
              </a:rPr>
              <a:t>     w = p; p = p-&gt;next; </a:t>
            </a:r>
          </a:p>
          <a:p>
            <a:pPr marL="0" indent="0" eaLnBrk="1" hangingPunct="1">
              <a:lnSpc>
                <a:spcPct val="90000"/>
              </a:lnSpc>
              <a:buFont typeface="Monotype Sorts" pitchFamily="2" charset="2"/>
              <a:buNone/>
              <a:defRPr/>
            </a:pPr>
            <a:r>
              <a:rPr lang="en-US" altLang="zh-CN" sz="1600" b="1" dirty="0">
                <a:latin typeface="楷体_GB2312" pitchFamily="49" charset="-122"/>
                <a:ea typeface="楷体_GB2312" pitchFamily="49" charset="-122"/>
              </a:rPr>
              <a:t>  }		</a:t>
            </a:r>
          </a:p>
          <a:p>
            <a:pPr marL="0" indent="0" eaLnBrk="1" hangingPunct="1">
              <a:lnSpc>
                <a:spcPct val="90000"/>
              </a:lnSpc>
              <a:buFont typeface="Monotype Sorts" pitchFamily="2" charset="2"/>
              <a:buNone/>
              <a:defRPr/>
            </a:pPr>
            <a:r>
              <a:rPr lang="en-US" altLang="zh-CN" sz="1600" b="1" dirty="0">
                <a:latin typeface="楷体_GB2312" pitchFamily="49" charset="-122"/>
                <a:ea typeface="楷体_GB2312" pitchFamily="49" charset="-122"/>
              </a:rPr>
              <a:t>  if (p != NULL) {</a:t>
            </a:r>
          </a:p>
          <a:p>
            <a:pPr marL="0" indent="0" eaLnBrk="1" hangingPunct="1">
              <a:lnSpc>
                <a:spcPct val="90000"/>
              </a:lnSpc>
              <a:buFont typeface="Monotype Sorts" pitchFamily="2" charset="2"/>
              <a:buNone/>
              <a:defRPr/>
            </a:pPr>
            <a:r>
              <a:rPr lang="en-US" altLang="zh-CN" sz="1600" b="1" dirty="0">
                <a:latin typeface="楷体_GB2312" pitchFamily="49" charset="-122"/>
                <a:ea typeface="楷体_GB2312" pitchFamily="49" charset="-122"/>
              </a:rPr>
              <a:t>     </a:t>
            </a:r>
            <a:r>
              <a:rPr lang="en-US" altLang="zh-CN" sz="1600" b="1" dirty="0">
                <a:solidFill>
                  <a:srgbClr val="FF0000"/>
                </a:solidFill>
                <a:latin typeface="楷体_GB2312" pitchFamily="49" charset="-122"/>
                <a:ea typeface="楷体_GB2312" pitchFamily="49" charset="-122"/>
              </a:rPr>
              <a:t>if(p == head) head = p-&gt;next</a:t>
            </a:r>
            <a:r>
              <a:rPr lang="zh-CN" altLang="en-US" sz="1600" b="1" dirty="0">
                <a:solidFill>
                  <a:srgbClr val="FF0000"/>
                </a:solidFill>
                <a:latin typeface="楷体_GB2312" pitchFamily="49" charset="-122"/>
                <a:ea typeface="楷体_GB2312" pitchFamily="49" charset="-122"/>
              </a:rPr>
              <a:t>；</a:t>
            </a:r>
            <a:endParaRPr lang="en-US" altLang="zh-CN" sz="1600" b="1" dirty="0">
              <a:solidFill>
                <a:srgbClr val="FF0000"/>
              </a:solidFill>
              <a:latin typeface="楷体_GB2312" pitchFamily="49" charset="-122"/>
              <a:ea typeface="楷体_GB2312" pitchFamily="49" charset="-122"/>
            </a:endParaRPr>
          </a:p>
          <a:p>
            <a:pPr marL="0" indent="0" eaLnBrk="1" hangingPunct="1">
              <a:lnSpc>
                <a:spcPct val="90000"/>
              </a:lnSpc>
              <a:buFont typeface="Monotype Sorts" pitchFamily="2" charset="2"/>
              <a:buNone/>
              <a:defRPr/>
            </a:pPr>
            <a:r>
              <a:rPr lang="en-US" altLang="zh-CN" sz="1600" b="1" dirty="0">
                <a:latin typeface="楷体_GB2312" pitchFamily="49" charset="-122"/>
                <a:ea typeface="楷体_GB2312" pitchFamily="49" charset="-122"/>
              </a:rPr>
              <a:t>     else  w-&gt;next = p-&gt;next; </a:t>
            </a:r>
          </a:p>
          <a:p>
            <a:pPr marL="0" indent="0" eaLnBrk="1" hangingPunct="1">
              <a:lnSpc>
                <a:spcPct val="90000"/>
              </a:lnSpc>
              <a:buFont typeface="Monotype Sorts" pitchFamily="2" charset="2"/>
              <a:buNone/>
              <a:defRPr/>
            </a:pPr>
            <a:r>
              <a:rPr lang="en-US" altLang="zh-CN" sz="1600" b="1" dirty="0">
                <a:latin typeface="楷体_GB2312" pitchFamily="49" charset="-122"/>
                <a:ea typeface="楷体_GB2312" pitchFamily="49" charset="-122"/>
              </a:rPr>
              <a:t>     free (p);	</a:t>
            </a:r>
          </a:p>
          <a:p>
            <a:pPr marL="0" indent="0" eaLnBrk="1" hangingPunct="1">
              <a:lnSpc>
                <a:spcPct val="90000"/>
              </a:lnSpc>
              <a:buFont typeface="Monotype Sorts" pitchFamily="2" charset="2"/>
              <a:buNone/>
              <a:defRPr/>
            </a:pPr>
            <a:r>
              <a:rPr lang="en-US" altLang="zh-CN" sz="1600" b="1" dirty="0">
                <a:latin typeface="楷体_GB2312" pitchFamily="49" charset="-122"/>
                <a:ea typeface="楷体_GB2312" pitchFamily="49" charset="-122"/>
              </a:rPr>
              <a:t>  } </a:t>
            </a:r>
          </a:p>
          <a:p>
            <a:pPr marL="0" indent="0" eaLnBrk="1" hangingPunct="1">
              <a:lnSpc>
                <a:spcPct val="90000"/>
              </a:lnSpc>
              <a:buFont typeface="Monotype Sorts" pitchFamily="2" charset="2"/>
              <a:buNone/>
              <a:defRPr/>
            </a:pPr>
            <a:r>
              <a:rPr lang="en-US" altLang="zh-CN" sz="1600" b="1" dirty="0">
                <a:latin typeface="楷体_GB2312" pitchFamily="49" charset="-122"/>
                <a:ea typeface="楷体_GB2312" pitchFamily="49" charset="-122"/>
              </a:rPr>
              <a:t>  </a:t>
            </a:r>
            <a:r>
              <a:rPr lang="en-US" altLang="zh-CN" sz="1600" b="1" dirty="0">
                <a:solidFill>
                  <a:srgbClr val="FF0000"/>
                </a:solidFill>
                <a:latin typeface="楷体_GB2312" pitchFamily="49" charset="-122"/>
                <a:ea typeface="楷体_GB2312" pitchFamily="49" charset="-122"/>
              </a:rPr>
              <a:t>return head; 	</a:t>
            </a:r>
          </a:p>
          <a:p>
            <a:pPr marL="0" indent="0" eaLnBrk="1" hangingPunct="1">
              <a:lnSpc>
                <a:spcPct val="90000"/>
              </a:lnSpc>
              <a:buFont typeface="Monotype Sorts" pitchFamily="2" charset="2"/>
              <a:buNone/>
              <a:defRPr/>
            </a:pPr>
            <a:r>
              <a:rPr lang="en-US" altLang="zh-CN" sz="1600" b="1" dirty="0">
                <a:latin typeface="楷体_GB2312" pitchFamily="49" charset="-122"/>
                <a:ea typeface="楷体_GB2312" pitchFamily="49" charset="-122"/>
              </a:rPr>
              <a:t>}</a:t>
            </a:r>
          </a:p>
        </p:txBody>
      </p:sp>
      <p:sp>
        <p:nvSpPr>
          <p:cNvPr id="6" name="矩形 5"/>
          <p:cNvSpPr/>
          <p:nvPr/>
        </p:nvSpPr>
        <p:spPr>
          <a:xfrm>
            <a:off x="144016" y="692696"/>
            <a:ext cx="4355976" cy="2529923"/>
          </a:xfrm>
          <a:prstGeom prst="rect">
            <a:avLst/>
          </a:prstGeom>
        </p:spPr>
        <p:txBody>
          <a:bodyPr wrap="square">
            <a:spAutoFit/>
          </a:bodyPr>
          <a:lstStyle/>
          <a:p>
            <a:pPr marL="0" indent="0">
              <a:lnSpc>
                <a:spcPct val="90000"/>
              </a:lnSpc>
              <a:buNone/>
              <a:defRPr/>
            </a:pPr>
            <a:r>
              <a:rPr lang="en-US" altLang="zh-CN" sz="1600" b="1" dirty="0">
                <a:solidFill>
                  <a:srgbClr val="FF0000"/>
                </a:solidFill>
                <a:latin typeface="楷体_GB2312" pitchFamily="49" charset="-122"/>
                <a:ea typeface="楷体_GB2312" pitchFamily="49" charset="-122"/>
              </a:rPr>
              <a:t>void</a:t>
            </a:r>
            <a:r>
              <a:rPr lang="en-US" altLang="zh-CN" sz="1600" b="1" dirty="0">
                <a:latin typeface="楷体_GB2312" pitchFamily="49" charset="-122"/>
                <a:ea typeface="楷体_GB2312" pitchFamily="49" charset="-122"/>
              </a:rPr>
              <a:t> </a:t>
            </a:r>
            <a:r>
              <a:rPr lang="en-US" altLang="zh-CN" sz="1600" b="1" dirty="0" err="1">
                <a:latin typeface="楷体_GB2312" pitchFamily="49" charset="-122"/>
                <a:ea typeface="楷体_GB2312" pitchFamily="49" charset="-122"/>
              </a:rPr>
              <a:t>delStu</a:t>
            </a:r>
            <a:r>
              <a:rPr lang="en-US" altLang="zh-CN" sz="1600" b="1" dirty="0">
                <a:latin typeface="楷体_GB2312" pitchFamily="49" charset="-122"/>
                <a:ea typeface="楷体_GB2312" pitchFamily="49" charset="-122"/>
              </a:rPr>
              <a:t> (</a:t>
            </a:r>
            <a:r>
              <a:rPr lang="en-US" altLang="zh-CN" sz="1600" b="1" dirty="0" err="1">
                <a:latin typeface="楷体_GB2312" pitchFamily="49" charset="-122"/>
                <a:ea typeface="楷体_GB2312" pitchFamily="49" charset="-122"/>
              </a:rPr>
              <a:t>stuS</a:t>
            </a:r>
            <a:r>
              <a:rPr lang="en-US" altLang="zh-CN" sz="1600" b="1" dirty="0">
                <a:latin typeface="楷体_GB2312" pitchFamily="49" charset="-122"/>
                <a:ea typeface="楷体_GB2312" pitchFamily="49" charset="-122"/>
              </a:rPr>
              <a:t> *head, </a:t>
            </a:r>
            <a:r>
              <a:rPr lang="en-US" altLang="zh-CN" sz="1600" b="1" dirty="0" err="1">
                <a:latin typeface="楷体_GB2312" pitchFamily="49" charset="-122"/>
                <a:ea typeface="楷体_GB2312" pitchFamily="49" charset="-122"/>
              </a:rPr>
              <a:t>int</a:t>
            </a:r>
            <a:r>
              <a:rPr lang="en-US" altLang="zh-CN" sz="1600" b="1" dirty="0">
                <a:latin typeface="楷体_GB2312" pitchFamily="49" charset="-122"/>
                <a:ea typeface="楷体_GB2312" pitchFamily="49" charset="-122"/>
              </a:rPr>
              <a:t> </a:t>
            </a:r>
            <a:r>
              <a:rPr lang="en-US" altLang="zh-CN" sz="1600" b="1" dirty="0" err="1">
                <a:latin typeface="楷体_GB2312" pitchFamily="49" charset="-122"/>
                <a:ea typeface="楷体_GB2312" pitchFamily="49" charset="-122"/>
              </a:rPr>
              <a:t>num</a:t>
            </a:r>
            <a:r>
              <a:rPr lang="en-US" altLang="zh-CN" sz="1600" b="1" dirty="0">
                <a:latin typeface="楷体_GB2312" pitchFamily="49" charset="-122"/>
                <a:ea typeface="楷体_GB2312" pitchFamily="49" charset="-122"/>
              </a:rPr>
              <a:t>){ </a:t>
            </a:r>
          </a:p>
          <a:p>
            <a:pPr marL="0" indent="0">
              <a:lnSpc>
                <a:spcPct val="90000"/>
              </a:lnSpc>
              <a:buNone/>
              <a:defRPr/>
            </a:pPr>
            <a:r>
              <a:rPr lang="en-US" altLang="zh-CN" sz="1600" b="1" dirty="0">
                <a:latin typeface="楷体_GB2312" pitchFamily="49" charset="-122"/>
                <a:ea typeface="楷体_GB2312" pitchFamily="49" charset="-122"/>
              </a:rPr>
              <a:t>  </a:t>
            </a:r>
            <a:r>
              <a:rPr lang="en-US" altLang="zh-CN" sz="1600" b="1" dirty="0" err="1">
                <a:latin typeface="楷体_GB2312" pitchFamily="49" charset="-122"/>
                <a:ea typeface="楷体_GB2312" pitchFamily="49" charset="-122"/>
              </a:rPr>
              <a:t>stuS</a:t>
            </a:r>
            <a:r>
              <a:rPr lang="en-US" altLang="zh-CN" sz="1600" b="1" dirty="0">
                <a:latin typeface="楷体_GB2312" pitchFamily="49" charset="-122"/>
                <a:ea typeface="楷体_GB2312" pitchFamily="49" charset="-122"/>
              </a:rPr>
              <a:t> *w, *p;</a:t>
            </a:r>
          </a:p>
          <a:p>
            <a:pPr marL="0" indent="0">
              <a:lnSpc>
                <a:spcPct val="90000"/>
              </a:lnSpc>
              <a:buNone/>
              <a:defRPr/>
            </a:pPr>
            <a:r>
              <a:rPr lang="en-US" altLang="zh-CN" sz="1600" b="1" dirty="0">
                <a:latin typeface="楷体_GB2312" pitchFamily="49" charset="-122"/>
                <a:ea typeface="楷体_GB2312" pitchFamily="49" charset="-122"/>
              </a:rPr>
              <a:t>  </a:t>
            </a:r>
            <a:r>
              <a:rPr lang="en-US" altLang="zh-CN" sz="1600" b="1" dirty="0">
                <a:solidFill>
                  <a:srgbClr val="FF0000"/>
                </a:solidFill>
                <a:latin typeface="楷体_GB2312" pitchFamily="49" charset="-122"/>
                <a:ea typeface="楷体_GB2312" pitchFamily="49" charset="-122"/>
              </a:rPr>
              <a:t>if (head-&gt;next == NULL) return;</a:t>
            </a:r>
          </a:p>
          <a:p>
            <a:pPr marL="0" indent="0">
              <a:lnSpc>
                <a:spcPct val="90000"/>
              </a:lnSpc>
              <a:buNone/>
              <a:defRPr/>
            </a:pPr>
            <a:r>
              <a:rPr lang="en-US" altLang="zh-CN" sz="1600" b="1" dirty="0">
                <a:solidFill>
                  <a:srgbClr val="FF0000"/>
                </a:solidFill>
                <a:latin typeface="楷体_GB2312" pitchFamily="49" charset="-122"/>
                <a:ea typeface="楷体_GB2312" pitchFamily="49" charset="-122"/>
              </a:rPr>
              <a:t>  w = head; p = head-&gt;next; </a:t>
            </a:r>
            <a:r>
              <a:rPr lang="en-US" altLang="zh-CN" sz="1600" b="1" dirty="0">
                <a:latin typeface="楷体_GB2312" pitchFamily="49" charset="-122"/>
                <a:ea typeface="楷体_GB2312" pitchFamily="49" charset="-122"/>
              </a:rPr>
              <a:t>	</a:t>
            </a:r>
          </a:p>
          <a:p>
            <a:pPr marL="0" indent="0">
              <a:lnSpc>
                <a:spcPct val="90000"/>
              </a:lnSpc>
              <a:buNone/>
              <a:defRPr/>
            </a:pPr>
            <a:r>
              <a:rPr lang="en-US" altLang="zh-CN" sz="1600" b="1" dirty="0">
                <a:solidFill>
                  <a:srgbClr val="C00000"/>
                </a:solidFill>
                <a:latin typeface="楷体_GB2312" pitchFamily="49" charset="-122"/>
                <a:ea typeface="楷体_GB2312" pitchFamily="49" charset="-122"/>
              </a:rPr>
              <a:t>  </a:t>
            </a:r>
            <a:r>
              <a:rPr lang="en-US" altLang="zh-CN" sz="1600" b="1" dirty="0">
                <a:latin typeface="楷体_GB2312" pitchFamily="49" charset="-122"/>
                <a:ea typeface="楷体_GB2312" pitchFamily="49" charset="-122"/>
              </a:rPr>
              <a:t>while (p != NULL &amp;&amp; p-&gt;number != </a:t>
            </a:r>
            <a:r>
              <a:rPr lang="en-US" altLang="zh-CN" sz="1600" b="1" dirty="0" err="1">
                <a:latin typeface="楷体_GB2312" pitchFamily="49" charset="-122"/>
                <a:ea typeface="楷体_GB2312" pitchFamily="49" charset="-122"/>
              </a:rPr>
              <a:t>num</a:t>
            </a:r>
            <a:r>
              <a:rPr lang="en-US" altLang="zh-CN" sz="1600" b="1" dirty="0">
                <a:latin typeface="楷体_GB2312" pitchFamily="49" charset="-122"/>
                <a:ea typeface="楷体_GB2312" pitchFamily="49" charset="-122"/>
              </a:rPr>
              <a:t>){</a:t>
            </a:r>
          </a:p>
          <a:p>
            <a:pPr marL="0" indent="0">
              <a:lnSpc>
                <a:spcPct val="90000"/>
              </a:lnSpc>
              <a:buNone/>
              <a:defRPr/>
            </a:pPr>
            <a:r>
              <a:rPr lang="en-US" altLang="zh-CN" sz="1600" b="1" dirty="0">
                <a:latin typeface="楷体_GB2312" pitchFamily="49" charset="-122"/>
                <a:ea typeface="楷体_GB2312" pitchFamily="49" charset="-122"/>
              </a:rPr>
              <a:t>     w = p; p = p-&gt;next;  </a:t>
            </a:r>
          </a:p>
          <a:p>
            <a:pPr marL="0" indent="0">
              <a:lnSpc>
                <a:spcPct val="90000"/>
              </a:lnSpc>
              <a:buNone/>
              <a:defRPr/>
            </a:pPr>
            <a:r>
              <a:rPr lang="en-US" altLang="zh-CN" sz="1600" b="1" dirty="0">
                <a:latin typeface="楷体_GB2312" pitchFamily="49" charset="-122"/>
                <a:ea typeface="楷体_GB2312" pitchFamily="49" charset="-122"/>
              </a:rPr>
              <a:t>  }		</a:t>
            </a:r>
          </a:p>
          <a:p>
            <a:pPr marL="0" indent="0">
              <a:lnSpc>
                <a:spcPct val="90000"/>
              </a:lnSpc>
              <a:buNone/>
              <a:defRPr/>
            </a:pPr>
            <a:r>
              <a:rPr lang="en-US" altLang="zh-CN" sz="1600" b="1" dirty="0">
                <a:latin typeface="楷体_GB2312" pitchFamily="49" charset="-122"/>
                <a:ea typeface="楷体_GB2312" pitchFamily="49" charset="-122"/>
              </a:rPr>
              <a:t>  if (p != NULL) {</a:t>
            </a:r>
          </a:p>
          <a:p>
            <a:pPr marL="0" indent="0">
              <a:lnSpc>
                <a:spcPct val="90000"/>
              </a:lnSpc>
              <a:buNone/>
              <a:defRPr/>
            </a:pPr>
            <a:r>
              <a:rPr lang="en-US" altLang="zh-CN" sz="1600" b="1" dirty="0">
                <a:latin typeface="楷体_GB2312" pitchFamily="49" charset="-122"/>
                <a:ea typeface="楷体_GB2312" pitchFamily="49" charset="-122"/>
              </a:rPr>
              <a:t>     w-&gt;next = p-&gt;next; free (p);	</a:t>
            </a:r>
          </a:p>
          <a:p>
            <a:pPr marL="0" indent="0">
              <a:lnSpc>
                <a:spcPct val="90000"/>
              </a:lnSpc>
              <a:buNone/>
              <a:defRPr/>
            </a:pPr>
            <a:r>
              <a:rPr lang="en-US" altLang="zh-CN" sz="1600" b="1" dirty="0">
                <a:latin typeface="楷体_GB2312" pitchFamily="49" charset="-122"/>
                <a:ea typeface="楷体_GB2312" pitchFamily="49" charset="-122"/>
              </a:rPr>
              <a:t>  } </a:t>
            </a:r>
          </a:p>
          <a:p>
            <a:pPr marL="0" indent="0">
              <a:lnSpc>
                <a:spcPct val="90000"/>
              </a:lnSpc>
              <a:buNone/>
              <a:defRPr/>
            </a:pPr>
            <a:r>
              <a:rPr lang="en-US" altLang="zh-CN" sz="1600" b="1" dirty="0">
                <a:latin typeface="楷体_GB2312" pitchFamily="49" charset="-122"/>
                <a:ea typeface="楷体_GB2312" pitchFamily="49" charset="-122"/>
              </a:rPr>
              <a:t>}</a:t>
            </a:r>
          </a:p>
        </p:txBody>
      </p:sp>
      <p:sp>
        <p:nvSpPr>
          <p:cNvPr id="7" name="文本框 6"/>
          <p:cNvSpPr txBox="1"/>
          <p:nvPr/>
        </p:nvSpPr>
        <p:spPr>
          <a:xfrm>
            <a:off x="539552" y="3861048"/>
            <a:ext cx="2376264" cy="461665"/>
          </a:xfrm>
          <a:prstGeom prst="rect">
            <a:avLst/>
          </a:prstGeom>
          <a:noFill/>
        </p:spPr>
        <p:txBody>
          <a:bodyPr wrap="square" rtlCol="0">
            <a:spAutoFit/>
          </a:bodyPr>
          <a:lstStyle/>
          <a:p>
            <a:r>
              <a:rPr lang="zh-CN" altLang="en-US" dirty="0"/>
              <a:t>有辅助表元</a:t>
            </a:r>
          </a:p>
        </p:txBody>
      </p:sp>
    </p:spTree>
    <p:extLst>
      <p:ext uri="{BB962C8B-B14F-4D97-AF65-F5344CB8AC3E}">
        <p14:creationId xmlns:p14="http://schemas.microsoft.com/office/powerpoint/2010/main" val="363661578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Rectangle 2"/>
          <p:cNvSpPr>
            <a:spLocks noGrp="1" noChangeArrowheads="1"/>
          </p:cNvSpPr>
          <p:nvPr>
            <p:ph type="title"/>
          </p:nvPr>
        </p:nvSpPr>
        <p:spPr>
          <a:xfrm>
            <a:off x="714348" y="0"/>
            <a:ext cx="7920037" cy="935037"/>
          </a:xfrm>
        </p:spPr>
        <p:txBody>
          <a:bodyPr>
            <a:normAutofit/>
          </a:bodyPr>
          <a:lstStyle/>
          <a:p>
            <a:pPr eaLnBrk="1" hangingPunct="1"/>
            <a:r>
              <a:rPr lang="zh-CN" altLang="en-US" sz="3600" b="1" dirty="0">
                <a:solidFill>
                  <a:schemeClr val="tx1"/>
                </a:solidFill>
                <a:latin typeface="黑体" pitchFamily="2" charset="-122"/>
                <a:ea typeface="黑体" pitchFamily="2" charset="-122"/>
              </a:rPr>
              <a:t>单链表程序设计实例 </a:t>
            </a:r>
          </a:p>
        </p:txBody>
      </p:sp>
      <p:sp>
        <p:nvSpPr>
          <p:cNvPr id="689155" name="Rectangle 3"/>
          <p:cNvSpPr>
            <a:spLocks noGrp="1" noChangeArrowheads="1"/>
          </p:cNvSpPr>
          <p:nvPr>
            <p:ph idx="1"/>
          </p:nvPr>
        </p:nvSpPr>
        <p:spPr>
          <a:xfrm>
            <a:off x="468313" y="981075"/>
            <a:ext cx="8304212" cy="5472113"/>
          </a:xfrm>
        </p:spPr>
        <p:txBody>
          <a:bodyPr>
            <a:normAutofit fontScale="92500" lnSpcReduction="10000"/>
          </a:bodyPr>
          <a:lstStyle/>
          <a:p>
            <a:pPr marL="0" indent="0" eaLnBrk="1" hangingPunct="1">
              <a:lnSpc>
                <a:spcPct val="110000"/>
              </a:lnSpc>
              <a:buFont typeface="Monotype Sorts" pitchFamily="2" charset="2"/>
              <a:buNone/>
              <a:defRPr/>
            </a:pP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例</a:t>
            </a:r>
            <a:r>
              <a:rPr lang="en-US" altLang="zh-CN" sz="2400" b="1" dirty="0">
                <a:latin typeface="楷体_GB2312" pitchFamily="49" charset="-122"/>
                <a:ea typeface="楷体_GB2312" pitchFamily="49" charset="-122"/>
              </a:rPr>
              <a:t>7.11】</a:t>
            </a:r>
            <a:r>
              <a:rPr lang="zh-CN" altLang="en-US" sz="2400" b="1" dirty="0">
                <a:latin typeface="楷体_GB2312" pitchFamily="49" charset="-122"/>
                <a:ea typeface="楷体_GB2312" pitchFamily="49" charset="-122"/>
              </a:rPr>
              <a:t>写一个函数，输入</a:t>
            </a:r>
            <a:r>
              <a:rPr lang="en-US" altLang="zh-CN" sz="2400" b="1" dirty="0">
                <a:latin typeface="楷体_GB2312" pitchFamily="49" charset="-122"/>
                <a:ea typeface="楷体_GB2312" pitchFamily="49" charset="-122"/>
              </a:rPr>
              <a:t>n</a:t>
            </a:r>
            <a:r>
              <a:rPr lang="zh-CN" altLang="en-US" sz="2400" b="1" dirty="0">
                <a:latin typeface="楷体_GB2312" pitchFamily="49" charset="-122"/>
                <a:ea typeface="楷体_GB2312" pitchFamily="49" charset="-122"/>
              </a:rPr>
              <a:t>个整数，并按整数的</a:t>
            </a:r>
            <a:r>
              <a:rPr lang="zh-CN" altLang="en-US" sz="2400" b="1" dirty="0">
                <a:solidFill>
                  <a:srgbClr val="FF0000"/>
                </a:solidFill>
                <a:latin typeface="楷体_GB2312" pitchFamily="49" charset="-122"/>
                <a:ea typeface="楷体_GB2312" pitchFamily="49" charset="-122"/>
              </a:rPr>
              <a:t>输入顺序</a:t>
            </a:r>
            <a:r>
              <a:rPr lang="zh-CN" altLang="en-US" sz="2400" b="1" dirty="0">
                <a:latin typeface="楷体_GB2312" pitchFamily="49" charset="-122"/>
                <a:ea typeface="楷体_GB2312" pitchFamily="49" charset="-122"/>
              </a:rPr>
              <a:t>建立一个整数单链表。</a:t>
            </a:r>
          </a:p>
          <a:p>
            <a:pPr marL="0" indent="0" eaLnBrk="1" hangingPunct="1">
              <a:lnSpc>
                <a:spcPct val="110000"/>
              </a:lnSpc>
              <a:buFont typeface="Monotype Sorts" pitchFamily="2" charset="2"/>
              <a:buNone/>
              <a:defRPr/>
            </a:pP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解题思路</a:t>
            </a:r>
            <a:r>
              <a:rPr lang="en-US" altLang="zh-CN" sz="2400" b="1" dirty="0">
                <a:latin typeface="楷体_GB2312" pitchFamily="49" charset="-122"/>
                <a:ea typeface="楷体_GB2312" pitchFamily="49" charset="-122"/>
              </a:rPr>
              <a:t>】</a:t>
            </a:r>
          </a:p>
          <a:p>
            <a:pPr marL="0" indent="0" eaLnBrk="1" hangingPunct="1">
              <a:lnSpc>
                <a:spcPct val="110000"/>
              </a:lnSpc>
              <a:buFont typeface="Monotype Sorts" pitchFamily="2" charset="2"/>
              <a:buNone/>
              <a:defRPr/>
            </a:pPr>
            <a:r>
              <a:rPr lang="zh-CN" altLang="en-US" sz="2400" b="1" dirty="0">
                <a:latin typeface="楷体_GB2312" pitchFamily="49" charset="-122"/>
                <a:ea typeface="楷体_GB2312" pitchFamily="49" charset="-122"/>
              </a:rPr>
              <a:t>从空单链表开始，每输入一个整数，就向系统申请一个表元的存储空间，将输入整数存入新表元，并将新表元接在单链表末尾。当</a:t>
            </a:r>
            <a:r>
              <a:rPr lang="en-US" altLang="zh-CN" sz="2400" b="1" dirty="0">
                <a:latin typeface="楷体_GB2312" pitchFamily="49" charset="-122"/>
                <a:ea typeface="楷体_GB2312" pitchFamily="49" charset="-122"/>
              </a:rPr>
              <a:t>n</a:t>
            </a:r>
            <a:r>
              <a:rPr lang="zh-CN" altLang="en-US" sz="2400" b="1" dirty="0">
                <a:latin typeface="楷体_GB2312" pitchFamily="49" charset="-122"/>
                <a:ea typeface="楷体_GB2312" pitchFamily="49" charset="-122"/>
              </a:rPr>
              <a:t>个整数全部输入，并插入到单链表后，函数返回生成的单链表的头指针。</a:t>
            </a:r>
          </a:p>
          <a:p>
            <a:pPr marL="0" indent="0" eaLnBrk="1" hangingPunct="1">
              <a:lnSpc>
                <a:spcPct val="110000"/>
              </a:lnSpc>
              <a:buFont typeface="Monotype Sorts" pitchFamily="2" charset="2"/>
              <a:buNone/>
              <a:defRPr/>
            </a:pPr>
            <a:r>
              <a:rPr lang="zh-CN" altLang="en-US" sz="2400" b="1" dirty="0">
                <a:latin typeface="楷体_GB2312" pitchFamily="49" charset="-122"/>
                <a:ea typeface="楷体_GB2312" pitchFamily="49" charset="-122"/>
              </a:rPr>
              <a:t>为使新表元能方便地接在单链表的末尾，另引入一个指针变量</a:t>
            </a:r>
            <a:r>
              <a:rPr lang="en-US" altLang="zh-CN" sz="2400" b="1" dirty="0">
                <a:solidFill>
                  <a:srgbClr val="FF0000"/>
                </a:solidFill>
                <a:latin typeface="楷体_GB2312" pitchFamily="49" charset="-122"/>
                <a:ea typeface="楷体_GB2312" pitchFamily="49" charset="-122"/>
              </a:rPr>
              <a:t>tail</a:t>
            </a:r>
            <a:r>
              <a:rPr lang="zh-CN" altLang="en-US" sz="2400" b="1" dirty="0">
                <a:latin typeface="楷体_GB2312" pitchFamily="49" charset="-122"/>
                <a:ea typeface="楷体_GB2312" pitchFamily="49" charset="-122"/>
              </a:rPr>
              <a:t>总是指向单链表的末尾表元。建立空链表时，头指针</a:t>
            </a:r>
            <a:r>
              <a:rPr lang="en-US" altLang="zh-CN" sz="2400" b="1" dirty="0">
                <a:latin typeface="楷体_GB2312" pitchFamily="49" charset="-122"/>
                <a:ea typeface="楷体_GB2312" pitchFamily="49" charset="-122"/>
              </a:rPr>
              <a:t>h</a:t>
            </a:r>
            <a:r>
              <a:rPr lang="zh-CN" altLang="en-US" sz="2400" b="1" dirty="0">
                <a:latin typeface="楷体_GB2312" pitchFamily="49" charset="-122"/>
                <a:ea typeface="楷体_GB2312" pitchFamily="49" charset="-122"/>
              </a:rPr>
              <a:t>和末尾表元指针</a:t>
            </a:r>
            <a:r>
              <a:rPr lang="en-US" altLang="zh-CN" sz="2400" b="1" dirty="0">
                <a:latin typeface="楷体_GB2312" pitchFamily="49" charset="-122"/>
                <a:ea typeface="楷体_GB2312" pitchFamily="49" charset="-122"/>
              </a:rPr>
              <a:t>tail</a:t>
            </a:r>
            <a:r>
              <a:rPr lang="zh-CN" altLang="en-US" sz="2400" b="1" dirty="0">
                <a:latin typeface="楷体_GB2312" pitchFamily="49" charset="-122"/>
                <a:ea typeface="楷体_GB2312" pitchFamily="49" charset="-122"/>
              </a:rPr>
              <a:t>都置</a:t>
            </a:r>
            <a:r>
              <a:rPr lang="en-US" altLang="zh-CN" sz="2400" b="1" dirty="0">
                <a:latin typeface="楷体_GB2312" pitchFamily="49" charset="-122"/>
                <a:ea typeface="楷体_GB2312" pitchFamily="49" charset="-122"/>
              </a:rPr>
              <a:t>NULL</a:t>
            </a:r>
            <a:r>
              <a:rPr lang="zh-CN" altLang="en-US" sz="2400" b="1" dirty="0">
                <a:latin typeface="楷体_GB2312" pitchFamily="49" charset="-122"/>
                <a:ea typeface="楷体_GB2312" pitchFamily="49" charset="-122"/>
              </a:rPr>
              <a:t>。将新表元接在链表末尾的工作要分两种情况。一是原单链表为空单链表；二是原单链表有表元。图</a:t>
            </a:r>
            <a:r>
              <a:rPr lang="en-US" altLang="zh-CN" sz="2400" b="1" dirty="0">
                <a:latin typeface="楷体_GB2312" pitchFamily="49" charset="-122"/>
                <a:ea typeface="楷体_GB2312" pitchFamily="49" charset="-122"/>
              </a:rPr>
              <a:t>7-11</a:t>
            </a:r>
            <a:r>
              <a:rPr lang="zh-CN" altLang="en-US" sz="2400" b="1" dirty="0">
                <a:latin typeface="楷体_GB2312" pitchFamily="49" charset="-122"/>
                <a:ea typeface="楷体_GB2312" pitchFamily="49" charset="-122"/>
              </a:rPr>
              <a:t>是在非空单链表末尾表元之后接入一个由指针</a:t>
            </a:r>
            <a:r>
              <a:rPr lang="en-US" altLang="zh-CN" sz="2400" b="1" dirty="0">
                <a:latin typeface="楷体_GB2312" pitchFamily="49" charset="-122"/>
                <a:ea typeface="楷体_GB2312" pitchFamily="49" charset="-122"/>
              </a:rPr>
              <a:t>p</a:t>
            </a:r>
            <a:r>
              <a:rPr lang="zh-CN" altLang="en-US" sz="2400" b="1" dirty="0">
                <a:latin typeface="楷体_GB2312" pitchFamily="49" charset="-122"/>
                <a:ea typeface="楷体_GB2312" pitchFamily="49" charset="-122"/>
              </a:rPr>
              <a:t>所指新表元的示意图。接入新表元，首先是让</a:t>
            </a:r>
            <a:r>
              <a:rPr lang="en-US" altLang="zh-CN" sz="2400" b="1" dirty="0">
                <a:latin typeface="楷体_GB2312" pitchFamily="49" charset="-122"/>
                <a:ea typeface="楷体_GB2312" pitchFamily="49" charset="-122"/>
              </a:rPr>
              <a:t>tail</a:t>
            </a:r>
            <a:r>
              <a:rPr lang="zh-CN" altLang="en-US" sz="2400" b="1" dirty="0">
                <a:latin typeface="楷体_GB2312" pitchFamily="49" charset="-122"/>
                <a:ea typeface="楷体_GB2312" pitchFamily="49" charset="-122"/>
              </a:rPr>
              <a:t>所指的尾表元的后继指针由</a:t>
            </a:r>
            <a:r>
              <a:rPr lang="en-US" altLang="zh-CN" sz="2400" b="1" dirty="0">
                <a:latin typeface="楷体_GB2312" pitchFamily="49" charset="-122"/>
                <a:ea typeface="楷体_GB2312" pitchFamily="49" charset="-122"/>
              </a:rPr>
              <a:t>NULL</a:t>
            </a:r>
            <a:r>
              <a:rPr lang="zh-CN" altLang="en-US" sz="2400" b="1" dirty="0">
                <a:latin typeface="楷体_GB2312" pitchFamily="49" charset="-122"/>
                <a:ea typeface="楷体_GB2312" pitchFamily="49" charset="-122"/>
              </a:rPr>
              <a:t>改为指向</a:t>
            </a:r>
            <a:r>
              <a:rPr lang="en-US" altLang="zh-CN" sz="2400" b="1" dirty="0">
                <a:latin typeface="楷体_GB2312" pitchFamily="49" charset="-122"/>
                <a:ea typeface="楷体_GB2312" pitchFamily="49" charset="-122"/>
              </a:rPr>
              <a:t>p</a:t>
            </a:r>
            <a:r>
              <a:rPr lang="zh-CN" altLang="en-US" sz="2400" b="1" dirty="0">
                <a:latin typeface="楷体_GB2312" pitchFamily="49" charset="-122"/>
                <a:ea typeface="楷体_GB2312" pitchFamily="49" charset="-122"/>
              </a:rPr>
              <a:t>所指的新表元，接着是让</a:t>
            </a:r>
            <a:r>
              <a:rPr lang="en-US" altLang="zh-CN" sz="2400" b="1" dirty="0">
                <a:latin typeface="楷体_GB2312" pitchFamily="49" charset="-122"/>
                <a:ea typeface="楷体_GB2312" pitchFamily="49" charset="-122"/>
              </a:rPr>
              <a:t>tail</a:t>
            </a:r>
            <a:r>
              <a:rPr lang="zh-CN" altLang="en-US" sz="2400" b="1" dirty="0">
                <a:latin typeface="楷体_GB2312" pitchFamily="49" charset="-122"/>
                <a:ea typeface="楷体_GB2312" pitchFamily="49" charset="-122"/>
              </a:rPr>
              <a:t>指向新的尾表元。这两项改动可用代码</a:t>
            </a:r>
            <a:r>
              <a:rPr lang="en-US" altLang="zh-CN" sz="2400" b="1" dirty="0">
                <a:solidFill>
                  <a:srgbClr val="FF0000"/>
                </a:solidFill>
                <a:latin typeface="楷体_GB2312" pitchFamily="49" charset="-122"/>
                <a:ea typeface="楷体_GB2312" pitchFamily="49" charset="-122"/>
              </a:rPr>
              <a:t>tail = tail-&gt;next = p</a:t>
            </a:r>
            <a:r>
              <a:rPr lang="zh-CN" altLang="en-US" sz="2400" b="1" dirty="0">
                <a:latin typeface="楷体_GB2312" pitchFamily="49" charset="-122"/>
                <a:ea typeface="楷体_GB2312" pitchFamily="49" charset="-122"/>
              </a:rPr>
              <a:t>实现。 </a:t>
            </a:r>
          </a:p>
        </p:txBody>
      </p:sp>
      <p:sp>
        <p:nvSpPr>
          <p:cNvPr id="6" name="灯片编号占位符 5"/>
          <p:cNvSpPr>
            <a:spLocks noGrp="1"/>
          </p:cNvSpPr>
          <p:nvPr>
            <p:ph type="sldNum" sz="quarter" idx="12"/>
          </p:nvPr>
        </p:nvSpPr>
        <p:spPr/>
        <p:txBody>
          <a:bodyPr/>
          <a:lstStyle/>
          <a:p>
            <a:pPr>
              <a:defRPr/>
            </a:pPr>
            <a:fld id="{3C0FF914-744D-4975-92EC-68712B223809}" type="slidenum">
              <a:rPr lang="en-US" altLang="zh-CN"/>
              <a:pPr>
                <a:defRPr/>
              </a:pPr>
              <a:t>98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89155">
                                            <p:txEl>
                                              <p:pRg st="3" end="3"/>
                                            </p:txEl>
                                          </p:spTgt>
                                        </p:tgtEl>
                                        <p:attrNameLst>
                                          <p:attrName>style.visibility</p:attrName>
                                        </p:attrNameLst>
                                      </p:cBhvr>
                                      <p:to>
                                        <p:strVal val="visible"/>
                                      </p:to>
                                    </p:set>
                                    <p:anim calcmode="lin" valueType="num">
                                      <p:cBhvr additive="base">
                                        <p:cTn id="7" dur="500" fill="hold"/>
                                        <p:tgtEl>
                                          <p:spTgt spid="68915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8915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A8DC1969-AAF2-448B-83E9-407F6882F6C8}" type="slidenum">
              <a:rPr lang="en-US" altLang="zh-CN"/>
              <a:pPr>
                <a:defRPr/>
              </a:pPr>
              <a:t>99</a:t>
            </a:fld>
            <a:endParaRPr lang="en-US" altLang="zh-CN"/>
          </a:p>
        </p:txBody>
      </p:sp>
      <p:sp>
        <p:nvSpPr>
          <p:cNvPr id="9220" name="Rectangle 5"/>
          <p:cNvSpPr>
            <a:spLocks noChangeArrowheads="1"/>
          </p:cNvSpPr>
          <p:nvPr/>
        </p:nvSpPr>
        <p:spPr bwMode="auto">
          <a:xfrm>
            <a:off x="0" y="26241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9218" name="Object 4"/>
          <p:cNvGraphicFramePr>
            <a:graphicFrameLocks noChangeAspect="1"/>
          </p:cNvGraphicFramePr>
          <p:nvPr/>
        </p:nvGraphicFramePr>
        <p:xfrm>
          <a:off x="595313" y="836613"/>
          <a:ext cx="7864475" cy="2978150"/>
        </p:xfrm>
        <a:graphic>
          <a:graphicData uri="http://schemas.openxmlformats.org/presentationml/2006/ole">
            <mc:AlternateContent xmlns:mc="http://schemas.openxmlformats.org/markup-compatibility/2006">
              <mc:Choice xmlns:v="urn:schemas-microsoft-com:vml" Requires="v">
                <p:oleObj r:id="rId2" imgW="7259930" imgH="3042475" progId="">
                  <p:embed/>
                </p:oleObj>
              </mc:Choice>
              <mc:Fallback>
                <p:oleObj r:id="rId2" imgW="7259930" imgH="3042475" progId="">
                  <p:embed/>
                  <p:pic>
                    <p:nvPicPr>
                      <p:cNvPr id="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313" y="836613"/>
                        <a:ext cx="7864475" cy="297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21" name="Text Box 6"/>
          <p:cNvSpPr txBox="1">
            <a:spLocks noChangeArrowheads="1"/>
          </p:cNvSpPr>
          <p:nvPr/>
        </p:nvSpPr>
        <p:spPr bwMode="auto">
          <a:xfrm>
            <a:off x="1023938" y="4129088"/>
            <a:ext cx="6578600" cy="396875"/>
          </a:xfrm>
          <a:prstGeom prst="rect">
            <a:avLst/>
          </a:prstGeom>
          <a:noFill/>
          <a:ln w="9525">
            <a:noFill/>
            <a:miter lim="800000"/>
            <a:headEnd/>
            <a:tailEnd/>
          </a:ln>
        </p:spPr>
        <p:txBody>
          <a:bodyPr wrap="none">
            <a:spAutoFit/>
          </a:bodyPr>
          <a:lstStyle/>
          <a:p>
            <a:r>
              <a:rPr lang="zh-CN" altLang="en-US" sz="2000" b="1">
                <a:latin typeface="楷体_GB2312" pitchFamily="49" charset="-122"/>
                <a:ea typeface="楷体_GB2312" pitchFamily="49" charset="-122"/>
              </a:rPr>
              <a:t>图</a:t>
            </a:r>
            <a:r>
              <a:rPr lang="en-US" altLang="zh-CN" sz="2000" b="1">
                <a:latin typeface="楷体_GB2312" pitchFamily="49" charset="-122"/>
                <a:ea typeface="楷体_GB2312" pitchFamily="49" charset="-122"/>
              </a:rPr>
              <a:t>7-11 </a:t>
            </a:r>
            <a:r>
              <a:rPr lang="zh-CN" altLang="en-US" sz="2000" b="1">
                <a:latin typeface="楷体_GB2312" pitchFamily="49" charset="-122"/>
                <a:ea typeface="楷体_GB2312" pitchFamily="49" charset="-122"/>
              </a:rPr>
              <a:t>在链表末尾表元之后接新表元，链表状态变化图 </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203" name="Rectangle 3"/>
          <p:cNvSpPr>
            <a:spLocks noGrp="1" noChangeArrowheads="1"/>
          </p:cNvSpPr>
          <p:nvPr>
            <p:ph idx="1"/>
          </p:nvPr>
        </p:nvSpPr>
        <p:spPr>
          <a:xfrm>
            <a:off x="468313" y="620713"/>
            <a:ext cx="8304212" cy="5976937"/>
          </a:xfrm>
        </p:spPr>
        <p:txBody>
          <a:bodyPr/>
          <a:lstStyle/>
          <a:p>
            <a:pPr marL="0" indent="0" eaLnBrk="1" hangingPunct="1">
              <a:lnSpc>
                <a:spcPct val="80000"/>
              </a:lnSpc>
              <a:buFont typeface="Monotype Sorts" pitchFamily="2" charset="2"/>
              <a:buNone/>
              <a:defRPr/>
            </a:pPr>
            <a:r>
              <a:rPr lang="en-US" altLang="zh-CN" sz="2400" dirty="0"/>
              <a:t> </a:t>
            </a:r>
            <a:r>
              <a:rPr lang="en-US" altLang="zh-CN" sz="2400" b="1" dirty="0" err="1">
                <a:latin typeface="楷体_GB2312" pitchFamily="49" charset="-122"/>
                <a:ea typeface="楷体_GB2312" pitchFamily="49" charset="-122"/>
              </a:rPr>
              <a:t>intNode</a:t>
            </a: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createList</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int</a:t>
            </a:r>
            <a:r>
              <a:rPr lang="en-US" altLang="zh-CN" sz="2400" b="1" dirty="0">
                <a:latin typeface="楷体_GB2312" pitchFamily="49" charset="-122"/>
                <a:ea typeface="楷体_GB2312" pitchFamily="49" charset="-122"/>
              </a:rPr>
              <a:t> n)</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intNode</a:t>
            </a:r>
            <a:r>
              <a:rPr lang="en-US" altLang="zh-CN" sz="2400" b="1" dirty="0">
                <a:latin typeface="楷体_GB2312" pitchFamily="49" charset="-122"/>
                <a:ea typeface="楷体_GB2312" pitchFamily="49" charset="-122"/>
              </a:rPr>
              <a:t> *h, /* </a:t>
            </a:r>
            <a:r>
              <a:rPr lang="zh-CN" altLang="en-US" sz="2400" b="1" dirty="0">
                <a:latin typeface="楷体_GB2312" pitchFamily="49" charset="-122"/>
                <a:ea typeface="楷体_GB2312" pitchFamily="49" charset="-122"/>
              </a:rPr>
              <a:t>链表的头指针 *</a:t>
            </a:r>
            <a:r>
              <a:rPr lang="en-US" altLang="zh-CN" sz="2400" b="1" dirty="0">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*tail, /* </a:t>
            </a:r>
            <a:r>
              <a:rPr lang="zh-CN" altLang="en-US" sz="2400" b="1" dirty="0">
                <a:latin typeface="楷体_GB2312" pitchFamily="49" charset="-122"/>
                <a:ea typeface="楷体_GB2312" pitchFamily="49" charset="-122"/>
              </a:rPr>
              <a:t>链表未尾表元的指针 *</a:t>
            </a:r>
            <a:r>
              <a:rPr lang="en-US" altLang="zh-CN" sz="2400" b="1" dirty="0">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*p;</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int</a:t>
            </a:r>
            <a:r>
              <a:rPr lang="en-US" altLang="zh-CN" sz="2400" b="1" dirty="0">
                <a:latin typeface="楷体_GB2312" pitchFamily="49" charset="-122"/>
                <a:ea typeface="楷体_GB2312" pitchFamily="49" charset="-122"/>
              </a:rPr>
              <a:t>  k;</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h = tail = NULL;   </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printf</a:t>
            </a:r>
            <a:r>
              <a:rPr lang="en-US" altLang="zh-CN" sz="2400" b="1" dirty="0">
                <a:latin typeface="楷体_GB2312" pitchFamily="49" charset="-122"/>
                <a:ea typeface="楷体_GB2312" pitchFamily="49" charset="-122"/>
              </a:rPr>
              <a:t>("Input data.\n");</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for(k = 0; k &lt; n; k++) {</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p = (</a:t>
            </a:r>
            <a:r>
              <a:rPr lang="en-US" altLang="zh-CN" sz="2400" b="1" dirty="0" err="1">
                <a:latin typeface="楷体_GB2312" pitchFamily="49" charset="-122"/>
                <a:ea typeface="楷体_GB2312" pitchFamily="49" charset="-122"/>
              </a:rPr>
              <a:t>intNode</a:t>
            </a: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malloc</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sizeof</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intNode</a:t>
            </a:r>
            <a:r>
              <a:rPr lang="en-US" altLang="zh-CN" sz="2400" b="1" dirty="0">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scanf</a:t>
            </a:r>
            <a:r>
              <a:rPr lang="en-US" altLang="zh-CN" sz="2400" b="1" dirty="0">
                <a:latin typeface="楷体_GB2312" pitchFamily="49" charset="-122"/>
                <a:ea typeface="楷体_GB2312" pitchFamily="49" charset="-122"/>
              </a:rPr>
              <a:t>("%d", &amp;p-&gt;value);     </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a:solidFill>
                  <a:srgbClr val="FF0000"/>
                </a:solidFill>
                <a:latin typeface="楷体_GB2312" pitchFamily="49" charset="-122"/>
                <a:ea typeface="楷体_GB2312" pitchFamily="49" charset="-122"/>
              </a:rPr>
              <a:t>if (h == NULL) h = tail = p;</a:t>
            </a:r>
          </a:p>
          <a:p>
            <a:pPr marL="0" indent="0" eaLnBrk="1" hangingPunct="1">
              <a:lnSpc>
                <a:spcPct val="80000"/>
              </a:lnSpc>
              <a:buFont typeface="Monotype Sorts" pitchFamily="2" charset="2"/>
              <a:buNone/>
              <a:defRPr/>
            </a:pPr>
            <a:r>
              <a:rPr lang="en-US" altLang="zh-CN" sz="2400" b="1" dirty="0">
                <a:solidFill>
                  <a:srgbClr val="FF0000"/>
                </a:solidFill>
                <a:latin typeface="楷体_GB2312" pitchFamily="49" charset="-122"/>
                <a:ea typeface="楷体_GB2312" pitchFamily="49" charset="-122"/>
              </a:rPr>
              <a:t>      else  tail = tail-&gt;next = p;</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a:solidFill>
                  <a:srgbClr val="FF0000"/>
                </a:solidFill>
                <a:latin typeface="楷体_GB2312" pitchFamily="49" charset="-122"/>
                <a:ea typeface="楷体_GB2312" pitchFamily="49" charset="-122"/>
              </a:rPr>
              <a:t>if(tail) tail-&gt;next  = NULL;/*</a:t>
            </a:r>
            <a:r>
              <a:rPr lang="zh-CN" altLang="en-US" sz="2400" b="1" dirty="0">
                <a:solidFill>
                  <a:srgbClr val="FF0000"/>
                </a:solidFill>
                <a:latin typeface="楷体_GB2312" pitchFamily="49" charset="-122"/>
                <a:ea typeface="楷体_GB2312" pitchFamily="49" charset="-122"/>
              </a:rPr>
              <a:t>末表元之后为空*</a:t>
            </a:r>
            <a:r>
              <a:rPr lang="en-US" altLang="zh-CN" sz="2400" b="1" dirty="0">
                <a:solidFill>
                  <a:srgbClr val="FF0000"/>
                </a:solidFill>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  return h;</a:t>
            </a:r>
          </a:p>
          <a:p>
            <a:pPr marL="0" indent="0" eaLnBrk="1" hangingPunct="1">
              <a:lnSpc>
                <a:spcPct val="80000"/>
              </a:lnSpc>
              <a:buFont typeface="Monotype Sorts" pitchFamily="2" charset="2"/>
              <a:buNone/>
              <a:defRPr/>
            </a:pPr>
            <a:r>
              <a:rPr lang="en-US" altLang="zh-CN" sz="2400" b="1" dirty="0">
                <a:latin typeface="楷体_GB2312" pitchFamily="49" charset="-122"/>
                <a:ea typeface="楷体_GB2312" pitchFamily="49" charset="-122"/>
              </a:rPr>
              <a:t>}</a:t>
            </a:r>
          </a:p>
        </p:txBody>
      </p:sp>
      <p:sp>
        <p:nvSpPr>
          <p:cNvPr id="7" name="灯片编号占位符 5"/>
          <p:cNvSpPr>
            <a:spLocks noGrp="1"/>
          </p:cNvSpPr>
          <p:nvPr>
            <p:ph type="sldNum" sz="quarter" idx="12"/>
          </p:nvPr>
        </p:nvSpPr>
        <p:spPr/>
        <p:txBody>
          <a:bodyPr/>
          <a:lstStyle/>
          <a:p>
            <a:pPr>
              <a:defRPr/>
            </a:pPr>
            <a:fld id="{24B0E8A3-A14D-49D0-A4CA-B950525978C9}" type="slidenum">
              <a:rPr lang="en-US" altLang="zh-CN"/>
              <a:pPr>
                <a:defRPr/>
              </a:pPr>
              <a:t>100</a:t>
            </a:fld>
            <a:endParaRPr lang="en-US" altLang="zh-CN"/>
          </a:p>
        </p:txBody>
      </p:sp>
      <p:sp>
        <p:nvSpPr>
          <p:cNvPr id="99332" name="Text Box 4"/>
          <p:cNvSpPr txBox="1">
            <a:spLocks noChangeArrowheads="1"/>
          </p:cNvSpPr>
          <p:nvPr/>
        </p:nvSpPr>
        <p:spPr bwMode="auto">
          <a:xfrm>
            <a:off x="5559425" y="331788"/>
            <a:ext cx="184150" cy="457200"/>
          </a:xfrm>
          <a:prstGeom prst="rect">
            <a:avLst/>
          </a:prstGeom>
          <a:noFill/>
          <a:ln w="9525">
            <a:noFill/>
            <a:miter lim="800000"/>
            <a:headEnd/>
            <a:tailEnd/>
          </a:ln>
        </p:spPr>
        <p:txBody>
          <a:bodyPr wrap="none">
            <a:spAutoFit/>
          </a:bodyPr>
          <a:lstStyle/>
          <a:p>
            <a:endParaRPr lang="zh-CN" altLang="zh-CN"/>
          </a:p>
        </p:txBody>
      </p:sp>
      <p:sp>
        <p:nvSpPr>
          <p:cNvPr id="691205" name="Text Box 5"/>
          <p:cNvSpPr txBox="1">
            <a:spLocks noChangeArrowheads="1"/>
          </p:cNvSpPr>
          <p:nvPr/>
        </p:nvSpPr>
        <p:spPr bwMode="auto">
          <a:xfrm>
            <a:off x="5715008" y="1857364"/>
            <a:ext cx="3024188" cy="1200329"/>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a:spAutoFit/>
          </a:bodyPr>
          <a:lstStyle/>
          <a:p>
            <a:pPr>
              <a:defRPr/>
            </a:pPr>
            <a:r>
              <a:rPr kumimoji="1" lang="zh-CN" altLang="en-US" b="1" dirty="0">
                <a:solidFill>
                  <a:schemeClr val="tx1"/>
                </a:solidFill>
                <a:latin typeface="楷体_GB2312" pitchFamily="49" charset="-122"/>
                <a:ea typeface="楷体_GB2312" pitchFamily="49" charset="-122"/>
              </a:rPr>
              <a:t>输入</a:t>
            </a:r>
            <a:r>
              <a:rPr kumimoji="1" lang="en-US" altLang="zh-CN" b="1" dirty="0">
                <a:solidFill>
                  <a:schemeClr val="tx1"/>
                </a:solidFill>
                <a:latin typeface="楷体_GB2312" pitchFamily="49" charset="-122"/>
                <a:ea typeface="楷体_GB2312" pitchFamily="49" charset="-122"/>
              </a:rPr>
              <a:t>n</a:t>
            </a:r>
            <a:r>
              <a:rPr kumimoji="1" lang="zh-CN" altLang="en-US" b="1" dirty="0">
                <a:solidFill>
                  <a:schemeClr val="tx1"/>
                </a:solidFill>
                <a:latin typeface="楷体_GB2312" pitchFamily="49" charset="-122"/>
                <a:ea typeface="楷体_GB2312" pitchFamily="49" charset="-122"/>
              </a:rPr>
              <a:t>个整数，并按整数的输入顺序建立一个整数单链表</a:t>
            </a:r>
          </a:p>
        </p:txBody>
      </p:sp>
      <p:sp>
        <p:nvSpPr>
          <p:cNvPr id="2" name="矩形 1"/>
          <p:cNvSpPr/>
          <p:nvPr/>
        </p:nvSpPr>
        <p:spPr>
          <a:xfrm>
            <a:off x="755576" y="5301208"/>
            <a:ext cx="7344816"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91203">
                                            <p:txEl>
                                              <p:pRg st="10" end="10"/>
                                            </p:txEl>
                                          </p:spTgt>
                                        </p:tgtEl>
                                        <p:attrNameLst>
                                          <p:attrName>style.visibility</p:attrName>
                                        </p:attrNameLst>
                                      </p:cBhvr>
                                      <p:to>
                                        <p:strVal val="visible"/>
                                      </p:to>
                                    </p:set>
                                    <p:anim calcmode="lin" valueType="num">
                                      <p:cBhvr additive="base">
                                        <p:cTn id="7" dur="500" fill="hold"/>
                                        <p:tgtEl>
                                          <p:spTgt spid="691203">
                                            <p:txEl>
                                              <p:pRg st="10" end="1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91203">
                                            <p:txEl>
                                              <p:pRg st="10" end="1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91203">
                                            <p:txEl>
                                              <p:pRg st="11" end="11"/>
                                            </p:txEl>
                                          </p:spTgt>
                                        </p:tgtEl>
                                        <p:attrNameLst>
                                          <p:attrName>style.visibility</p:attrName>
                                        </p:attrNameLst>
                                      </p:cBhvr>
                                      <p:to>
                                        <p:strVal val="visible"/>
                                      </p:to>
                                    </p:set>
                                    <p:anim calcmode="lin" valueType="num">
                                      <p:cBhvr additive="base">
                                        <p:cTn id="11" dur="500" fill="hold"/>
                                        <p:tgtEl>
                                          <p:spTgt spid="691203">
                                            <p:txEl>
                                              <p:pRg st="11" end="1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9120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xit" presetSubtype="4" fill="hold" grpId="0" nodeType="clickEffect">
                                  <p:stCondLst>
                                    <p:cond delay="0"/>
                                  </p:stCondLst>
                                  <p:childTnLst>
                                    <p:anim calcmode="lin" valueType="num">
                                      <p:cBhvr additive="base">
                                        <p:cTn id="16" dur="500"/>
                                        <p:tgtEl>
                                          <p:spTgt spid="2"/>
                                        </p:tgtEl>
                                        <p:attrNameLst>
                                          <p:attrName>ppt_x</p:attrName>
                                        </p:attrNameLst>
                                      </p:cBhvr>
                                      <p:tavLst>
                                        <p:tav tm="0">
                                          <p:val>
                                            <p:strVal val="ppt_x"/>
                                          </p:val>
                                        </p:tav>
                                        <p:tav tm="100000">
                                          <p:val>
                                            <p:strVal val="ppt_x"/>
                                          </p:val>
                                        </p:tav>
                                      </p:tavLst>
                                    </p:anim>
                                    <p:anim calcmode="lin" valueType="num">
                                      <p:cBhvr additive="base">
                                        <p:cTn id="17" dur="500"/>
                                        <p:tgtEl>
                                          <p:spTgt spid="2"/>
                                        </p:tgtEl>
                                        <p:attrNameLst>
                                          <p:attrName>ppt_y</p:attrName>
                                        </p:attrNameLst>
                                      </p:cBhvr>
                                      <p:tavLst>
                                        <p:tav tm="0">
                                          <p:val>
                                            <p:strVal val="ppt_y"/>
                                          </p:val>
                                        </p:tav>
                                        <p:tav tm="100000">
                                          <p:val>
                                            <p:strVal val="1+ppt_h/2"/>
                                          </p:val>
                                        </p:tav>
                                      </p:tavLst>
                                    </p:anim>
                                    <p:set>
                                      <p:cBhvr>
                                        <p:cTn id="18"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250" name="Rectangle 2"/>
          <p:cNvSpPr>
            <a:spLocks noGrp="1" noChangeArrowheads="1"/>
          </p:cNvSpPr>
          <p:nvPr>
            <p:ph idx="1"/>
          </p:nvPr>
        </p:nvSpPr>
        <p:spPr>
          <a:xfrm>
            <a:off x="468313" y="549275"/>
            <a:ext cx="8304212" cy="6048375"/>
          </a:xfrm>
        </p:spPr>
        <p:txBody>
          <a:bodyPr/>
          <a:lstStyle/>
          <a:p>
            <a:pPr marL="0" indent="0" eaLnBrk="1" hangingPunct="1">
              <a:lnSpc>
                <a:spcPct val="80000"/>
              </a:lnSpc>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a:t>
            </a:r>
            <a:r>
              <a:rPr lang="zh-CN" altLang="en-US" sz="2400" b="1" dirty="0">
                <a:effectLst>
                  <a:outerShdw blurRad="38100" dist="38100" dir="2700000" algn="tl">
                    <a:srgbClr val="000000"/>
                  </a:outerShdw>
                </a:effectLst>
                <a:latin typeface="楷体_GB2312" pitchFamily="49" charset="-122"/>
                <a:ea typeface="楷体_GB2312" pitchFamily="49" charset="-122"/>
              </a:rPr>
              <a:t>主函数 *</a:t>
            </a:r>
            <a:r>
              <a:rPr lang="en-US" altLang="zh-CN" sz="2400" b="1" dirty="0">
                <a:effectLst>
                  <a:outerShdw blurRad="38100" dist="38100" dir="2700000" algn="tl">
                    <a:srgbClr val="000000"/>
                  </a:outerShdw>
                </a:effectLst>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void main()</a:t>
            </a:r>
          </a:p>
          <a:p>
            <a:pPr marL="0" indent="0" eaLnBrk="1" hangingPunct="1">
              <a:lnSpc>
                <a:spcPct val="80000"/>
              </a:lnSpc>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a:t>
            </a:r>
            <a:r>
              <a:rPr lang="en-US" altLang="zh-CN" sz="2400" b="1" dirty="0" err="1">
                <a:effectLst>
                  <a:outerShdw blurRad="38100" dist="38100" dir="2700000" algn="tl">
                    <a:srgbClr val="000000"/>
                  </a:outerShdw>
                </a:effectLst>
                <a:latin typeface="楷体_GB2312" pitchFamily="49" charset="-122"/>
                <a:ea typeface="楷体_GB2312" pitchFamily="49" charset="-122"/>
              </a:rPr>
              <a:t>struct</a:t>
            </a:r>
            <a:r>
              <a:rPr lang="en-US" altLang="zh-CN" sz="2400" b="1" dirty="0">
                <a:effectLst>
                  <a:outerShdw blurRad="38100" dist="38100" dir="2700000" algn="tl">
                    <a:srgbClr val="000000"/>
                  </a:outerShdw>
                </a:effectLst>
                <a:latin typeface="楷体_GB2312" pitchFamily="49" charset="-122"/>
                <a:ea typeface="楷体_GB2312" pitchFamily="49" charset="-122"/>
              </a:rPr>
              <a:t> </a:t>
            </a:r>
            <a:r>
              <a:rPr lang="en-US" altLang="zh-CN" sz="2400" b="1" dirty="0" err="1">
                <a:effectLst>
                  <a:outerShdw blurRad="38100" dist="38100" dir="2700000" algn="tl">
                    <a:srgbClr val="000000"/>
                  </a:outerShdw>
                </a:effectLst>
                <a:latin typeface="楷体_GB2312" pitchFamily="49" charset="-122"/>
                <a:ea typeface="楷体_GB2312" pitchFamily="49" charset="-122"/>
              </a:rPr>
              <a:t>intNode</a:t>
            </a:r>
            <a:r>
              <a:rPr lang="en-US" altLang="zh-CN" sz="2400" b="1" dirty="0">
                <a:effectLst>
                  <a:outerShdw blurRad="38100" dist="38100" dir="2700000" algn="tl">
                    <a:srgbClr val="000000"/>
                  </a:outerShdw>
                </a:effectLst>
                <a:latin typeface="楷体_GB2312" pitchFamily="49" charset="-122"/>
                <a:ea typeface="楷体_GB2312" pitchFamily="49" charset="-122"/>
              </a:rPr>
              <a:t> *p, *q; </a:t>
            </a:r>
            <a:endParaRPr lang="zh-CN" altLang="en-US" sz="2400" b="1" dirty="0">
              <a:effectLst>
                <a:outerShdw blurRad="38100" dist="38100" dir="2700000" algn="tl">
                  <a:srgbClr val="000000"/>
                </a:outerShdw>
              </a:effectLst>
              <a:latin typeface="楷体_GB2312" pitchFamily="49" charset="-122"/>
              <a:ea typeface="楷体_GB2312" pitchFamily="49" charset="-122"/>
            </a:endParaRPr>
          </a:p>
          <a:p>
            <a:pPr marL="0" indent="0" eaLnBrk="1" hangingPunct="1">
              <a:lnSpc>
                <a:spcPct val="80000"/>
              </a:lnSpc>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  </a:t>
            </a:r>
            <a:r>
              <a:rPr lang="en-US" altLang="zh-CN" sz="2400" b="1" dirty="0" err="1">
                <a:effectLst>
                  <a:outerShdw blurRad="38100" dist="38100" dir="2700000" algn="tl">
                    <a:srgbClr val="000000"/>
                  </a:outerShdw>
                </a:effectLst>
                <a:latin typeface="楷体_GB2312" pitchFamily="49" charset="-122"/>
                <a:ea typeface="楷体_GB2312" pitchFamily="49" charset="-122"/>
              </a:rPr>
              <a:t>int</a:t>
            </a:r>
            <a:r>
              <a:rPr lang="en-US" altLang="zh-CN" sz="2400" b="1" dirty="0">
                <a:effectLst>
                  <a:outerShdw blurRad="38100" dist="38100" dir="2700000" algn="tl">
                    <a:srgbClr val="000000"/>
                  </a:outerShdw>
                </a:effectLst>
                <a:latin typeface="楷体_GB2312" pitchFamily="49" charset="-122"/>
                <a:ea typeface="楷体_GB2312" pitchFamily="49" charset="-122"/>
              </a:rPr>
              <a:t> n;</a:t>
            </a:r>
          </a:p>
          <a:p>
            <a:pPr marL="0" indent="0" eaLnBrk="1" hangingPunct="1">
              <a:lnSpc>
                <a:spcPct val="80000"/>
              </a:lnSpc>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a:t>
            </a:r>
            <a:r>
              <a:rPr lang="en-US" altLang="zh-CN" sz="2400" b="1" dirty="0" err="1">
                <a:effectLst>
                  <a:outerShdw blurRad="38100" dist="38100" dir="2700000" algn="tl">
                    <a:srgbClr val="000000"/>
                  </a:outerShdw>
                </a:effectLst>
                <a:latin typeface="楷体_GB2312" pitchFamily="49" charset="-122"/>
                <a:ea typeface="楷体_GB2312" pitchFamily="49" charset="-122"/>
              </a:rPr>
              <a:t>printf</a:t>
            </a:r>
            <a:r>
              <a:rPr lang="en-US" altLang="zh-CN" sz="2400" b="1" dirty="0">
                <a:effectLst>
                  <a:outerShdw blurRad="38100" dist="38100" dir="2700000" algn="tl">
                    <a:srgbClr val="000000"/>
                  </a:outerShdw>
                </a:effectLst>
                <a:latin typeface="楷体_GB2312" pitchFamily="49" charset="-122"/>
                <a:ea typeface="楷体_GB2312" pitchFamily="49" charset="-122"/>
              </a:rPr>
              <a:t>(</a:t>
            </a:r>
            <a:r>
              <a:rPr lang="en-US" altLang="zh-CN" sz="2400" b="1" dirty="0">
                <a:effectLst>
                  <a:outerShdw blurRad="38100" dist="38100" dir="2700000" algn="tl">
                    <a:srgbClr val="000000"/>
                  </a:outerShdw>
                </a:effectLst>
                <a:ea typeface="楷体_GB2312" pitchFamily="49" charset="-122"/>
              </a:rPr>
              <a:t>“</a:t>
            </a:r>
            <a:r>
              <a:rPr lang="zh-CN" altLang="en-US" sz="2400" b="1" dirty="0">
                <a:effectLst>
                  <a:outerShdw blurRad="38100" dist="38100" dir="2700000" algn="tl">
                    <a:srgbClr val="000000"/>
                  </a:outerShdw>
                </a:effectLst>
                <a:latin typeface="楷体_GB2312" pitchFamily="49" charset="-122"/>
                <a:ea typeface="楷体_GB2312" pitchFamily="49" charset="-122"/>
              </a:rPr>
              <a:t>输入链表的表元个数</a:t>
            </a:r>
            <a:r>
              <a:rPr lang="en-US" altLang="zh-CN" sz="2400" b="1" dirty="0">
                <a:effectLst>
                  <a:outerShdw blurRad="38100" dist="38100" dir="2700000" algn="tl">
                    <a:srgbClr val="000000"/>
                  </a:outerShdw>
                </a:effectLst>
                <a:latin typeface="楷体_GB2312" pitchFamily="49" charset="-122"/>
                <a:ea typeface="楷体_GB2312" pitchFamily="49" charset="-122"/>
              </a:rPr>
              <a:t>!\n</a:t>
            </a:r>
            <a:r>
              <a:rPr lang="en-US" altLang="zh-CN" sz="2400" b="1" dirty="0">
                <a:effectLst>
                  <a:outerShdw blurRad="38100" dist="38100" dir="2700000" algn="tl">
                    <a:srgbClr val="000000"/>
                  </a:outerShdw>
                </a:effectLst>
                <a:ea typeface="楷体_GB2312" pitchFamily="49" charset="-122"/>
              </a:rPr>
              <a:t>”</a:t>
            </a:r>
            <a:r>
              <a:rPr lang="en-US" altLang="zh-CN" sz="2400" b="1" dirty="0">
                <a:effectLst>
                  <a:outerShdw blurRad="38100" dist="38100" dir="2700000" algn="tl">
                    <a:srgbClr val="000000"/>
                  </a:outerShdw>
                </a:effectLst>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a:t>
            </a:r>
            <a:r>
              <a:rPr lang="en-US" altLang="zh-CN" sz="2400" b="1" dirty="0" err="1">
                <a:effectLst>
                  <a:outerShdw blurRad="38100" dist="38100" dir="2700000" algn="tl">
                    <a:srgbClr val="000000"/>
                  </a:outerShdw>
                </a:effectLst>
                <a:latin typeface="楷体_GB2312" pitchFamily="49" charset="-122"/>
                <a:ea typeface="楷体_GB2312" pitchFamily="49" charset="-122"/>
              </a:rPr>
              <a:t>scanf</a:t>
            </a:r>
            <a:r>
              <a:rPr lang="en-US" altLang="zh-CN" sz="2400" b="1" dirty="0">
                <a:effectLst>
                  <a:outerShdw blurRad="38100" dist="38100" dir="2700000" algn="tl">
                    <a:srgbClr val="000000"/>
                  </a:outerShdw>
                </a:effectLst>
                <a:latin typeface="楷体_GB2312" pitchFamily="49" charset="-122"/>
                <a:ea typeface="楷体_GB2312" pitchFamily="49" charset="-122"/>
              </a:rPr>
              <a:t>(</a:t>
            </a:r>
            <a:r>
              <a:rPr lang="en-US" altLang="zh-CN" sz="2400" b="1" dirty="0">
                <a:effectLst>
                  <a:outerShdw blurRad="38100" dist="38100" dir="2700000" algn="tl">
                    <a:srgbClr val="000000"/>
                  </a:outerShdw>
                </a:effectLst>
                <a:ea typeface="楷体_GB2312" pitchFamily="49" charset="-122"/>
              </a:rPr>
              <a:t>“</a:t>
            </a:r>
            <a:r>
              <a:rPr lang="en-US" altLang="zh-CN" sz="2400" b="1" dirty="0">
                <a:effectLst>
                  <a:outerShdw blurRad="38100" dist="38100" dir="2700000" algn="tl">
                    <a:srgbClr val="000000"/>
                  </a:outerShdw>
                </a:effectLst>
                <a:latin typeface="楷体_GB2312" pitchFamily="49" charset="-122"/>
                <a:ea typeface="楷体_GB2312" pitchFamily="49" charset="-122"/>
              </a:rPr>
              <a:t>%d</a:t>
            </a:r>
            <a:r>
              <a:rPr lang="en-US" altLang="zh-CN" sz="2400" b="1" dirty="0">
                <a:effectLst>
                  <a:outerShdw blurRad="38100" dist="38100" dir="2700000" algn="tl">
                    <a:srgbClr val="000000"/>
                  </a:outerShdw>
                </a:effectLst>
                <a:ea typeface="楷体_GB2312" pitchFamily="49" charset="-122"/>
              </a:rPr>
              <a:t>”</a:t>
            </a:r>
            <a:r>
              <a:rPr lang="en-US" altLang="zh-CN" sz="2400" b="1" dirty="0">
                <a:effectLst>
                  <a:outerShdw blurRad="38100" dist="38100" dir="2700000" algn="tl">
                    <a:srgbClr val="000000"/>
                  </a:outerShdw>
                </a:effectLst>
                <a:latin typeface="楷体_GB2312" pitchFamily="49" charset="-122"/>
                <a:ea typeface="楷体_GB2312" pitchFamily="49" charset="-122"/>
              </a:rPr>
              <a:t>, &amp;n);</a:t>
            </a:r>
          </a:p>
          <a:p>
            <a:pPr marL="0" indent="0" eaLnBrk="1" hangingPunct="1">
              <a:lnSpc>
                <a:spcPct val="80000"/>
              </a:lnSpc>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q = </a:t>
            </a:r>
            <a:r>
              <a:rPr lang="en-US" altLang="zh-CN" sz="2400" b="1" dirty="0" err="1">
                <a:solidFill>
                  <a:srgbClr val="FF0000"/>
                </a:solidFill>
                <a:effectLst>
                  <a:outerShdw blurRad="38100" dist="38100" dir="2700000" algn="tl">
                    <a:srgbClr val="000000"/>
                  </a:outerShdw>
                </a:effectLst>
                <a:latin typeface="楷体_GB2312" pitchFamily="49" charset="-122"/>
                <a:ea typeface="楷体_GB2312" pitchFamily="49" charset="-122"/>
              </a:rPr>
              <a:t>createList</a:t>
            </a:r>
            <a:r>
              <a:rPr lang="en-US" altLang="zh-CN" sz="2400" b="1" dirty="0">
                <a:solidFill>
                  <a:srgbClr val="FF0000"/>
                </a:solidFill>
                <a:effectLst>
                  <a:outerShdw blurRad="38100" dist="38100" dir="2700000" algn="tl">
                    <a:srgbClr val="000000"/>
                  </a:outerShdw>
                </a:effectLst>
                <a:latin typeface="楷体_GB2312" pitchFamily="49" charset="-122"/>
                <a:ea typeface="楷体_GB2312" pitchFamily="49" charset="-122"/>
              </a:rPr>
              <a:t> (n)</a:t>
            </a:r>
            <a:r>
              <a:rPr lang="en-US" altLang="zh-CN" sz="2400" b="1" dirty="0">
                <a:effectLst>
                  <a:outerShdw blurRad="38100" dist="38100" dir="2700000" algn="tl">
                    <a:srgbClr val="000000"/>
                  </a:outerShdw>
                </a:effectLst>
                <a:latin typeface="楷体_GB2312" pitchFamily="49" charset="-122"/>
                <a:ea typeface="楷体_GB2312" pitchFamily="49" charset="-122"/>
              </a:rPr>
              <a:t>; /* </a:t>
            </a:r>
            <a:r>
              <a:rPr lang="zh-CN" altLang="en-US" sz="2400" b="1" dirty="0">
                <a:effectLst>
                  <a:outerShdw blurRad="38100" dist="38100" dir="2700000" algn="tl">
                    <a:srgbClr val="000000"/>
                  </a:outerShdw>
                </a:effectLst>
                <a:latin typeface="楷体_GB2312" pitchFamily="49" charset="-122"/>
                <a:ea typeface="楷体_GB2312" pitchFamily="49" charset="-122"/>
              </a:rPr>
              <a:t>当函数返回时，</a:t>
            </a:r>
            <a:r>
              <a:rPr lang="en-US" altLang="zh-CN" sz="2400" b="1" dirty="0">
                <a:effectLst>
                  <a:outerShdw blurRad="38100" dist="38100" dir="2700000" algn="tl">
                    <a:srgbClr val="000000"/>
                  </a:outerShdw>
                </a:effectLst>
                <a:latin typeface="楷体_GB2312" pitchFamily="49" charset="-122"/>
                <a:ea typeface="楷体_GB2312" pitchFamily="49" charset="-122"/>
              </a:rPr>
              <a:t>q</a:t>
            </a:r>
            <a:r>
              <a:rPr lang="zh-CN" altLang="en-US" sz="2400" b="1" dirty="0">
                <a:effectLst>
                  <a:outerShdw blurRad="38100" dist="38100" dir="2700000" algn="tl">
                    <a:srgbClr val="000000"/>
                  </a:outerShdw>
                </a:effectLst>
                <a:latin typeface="楷体_GB2312" pitchFamily="49" charset="-122"/>
                <a:ea typeface="楷体_GB2312" pitchFamily="49" charset="-122"/>
              </a:rPr>
              <a:t>为头指针 *</a:t>
            </a:r>
            <a:r>
              <a:rPr lang="en-US" altLang="zh-CN" sz="2400" b="1" dirty="0">
                <a:effectLst>
                  <a:outerShdw blurRad="38100" dist="38100" dir="2700000" algn="tl">
                    <a:srgbClr val="000000"/>
                  </a:outerShdw>
                </a:effectLst>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while (q) {</a:t>
            </a:r>
          </a:p>
          <a:p>
            <a:pPr marL="0" indent="0" eaLnBrk="1" hangingPunct="1">
              <a:lnSpc>
                <a:spcPct val="80000"/>
              </a:lnSpc>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a:t>
            </a:r>
            <a:r>
              <a:rPr lang="en-US" altLang="zh-CN" sz="2400" b="1" dirty="0" err="1">
                <a:effectLst>
                  <a:outerShdw blurRad="38100" dist="38100" dir="2700000" algn="tl">
                    <a:srgbClr val="000000"/>
                  </a:outerShdw>
                </a:effectLst>
                <a:latin typeface="楷体_GB2312" pitchFamily="49" charset="-122"/>
                <a:ea typeface="楷体_GB2312" pitchFamily="49" charset="-122"/>
              </a:rPr>
              <a:t>printf</a:t>
            </a:r>
            <a:r>
              <a:rPr lang="en-US" altLang="zh-CN" sz="2400" b="1" dirty="0">
                <a:effectLst>
                  <a:outerShdw blurRad="38100" dist="38100" dir="2700000" algn="tl">
                    <a:srgbClr val="000000"/>
                  </a:outerShdw>
                </a:effectLst>
                <a:latin typeface="楷体_GB2312" pitchFamily="49" charset="-122"/>
                <a:ea typeface="楷体_GB2312" pitchFamily="49" charset="-122"/>
              </a:rPr>
              <a:t>(</a:t>
            </a:r>
            <a:r>
              <a:rPr lang="en-US" altLang="zh-CN" sz="2400" b="1" dirty="0">
                <a:effectLst>
                  <a:outerShdw blurRad="38100" dist="38100" dir="2700000" algn="tl">
                    <a:srgbClr val="000000"/>
                  </a:outerShdw>
                </a:effectLst>
                <a:ea typeface="楷体_GB2312" pitchFamily="49" charset="-122"/>
              </a:rPr>
              <a:t>“</a:t>
            </a:r>
            <a:r>
              <a:rPr lang="en-US" altLang="zh-CN" sz="2400" b="1" dirty="0">
                <a:effectLst>
                  <a:outerShdw blurRad="38100" dist="38100" dir="2700000" algn="tl">
                    <a:srgbClr val="000000"/>
                  </a:outerShdw>
                </a:effectLst>
                <a:latin typeface="楷体_GB2312" pitchFamily="49" charset="-122"/>
                <a:ea typeface="楷体_GB2312" pitchFamily="49" charset="-122"/>
              </a:rPr>
              <a:t>%d\</a:t>
            </a:r>
            <a:r>
              <a:rPr lang="en-US" altLang="zh-CN" sz="2400" b="1" dirty="0" err="1">
                <a:effectLst>
                  <a:outerShdw blurRad="38100" dist="38100" dir="2700000" algn="tl">
                    <a:srgbClr val="000000"/>
                  </a:outerShdw>
                </a:effectLst>
                <a:latin typeface="楷体_GB2312" pitchFamily="49" charset="-122"/>
                <a:ea typeface="楷体_GB2312" pitchFamily="49" charset="-122"/>
              </a:rPr>
              <a:t>n</a:t>
            </a:r>
            <a:r>
              <a:rPr lang="en-US" altLang="zh-CN" sz="2400" b="1" dirty="0" err="1">
                <a:effectLst>
                  <a:outerShdw blurRad="38100" dist="38100" dir="2700000" algn="tl">
                    <a:srgbClr val="000000"/>
                  </a:outerShdw>
                </a:effectLst>
                <a:ea typeface="楷体_GB2312" pitchFamily="49" charset="-122"/>
              </a:rPr>
              <a:t>”</a:t>
            </a:r>
            <a:r>
              <a:rPr lang="en-US" altLang="zh-CN" sz="2400" b="1" dirty="0" err="1">
                <a:effectLst>
                  <a:outerShdw blurRad="38100" dist="38100" dir="2700000" algn="tl">
                    <a:srgbClr val="000000"/>
                  </a:outerShdw>
                </a:effectLst>
                <a:latin typeface="楷体_GB2312" pitchFamily="49" charset="-122"/>
                <a:ea typeface="楷体_GB2312" pitchFamily="49" charset="-122"/>
              </a:rPr>
              <a:t>,q</a:t>
            </a:r>
            <a:r>
              <a:rPr lang="en-US" altLang="zh-CN" sz="2400" b="1" dirty="0">
                <a:effectLst>
                  <a:outerShdw blurRad="38100" dist="38100" dir="2700000" algn="tl">
                    <a:srgbClr val="000000"/>
                  </a:outerShdw>
                </a:effectLst>
                <a:latin typeface="楷体_GB2312" pitchFamily="49" charset="-122"/>
                <a:ea typeface="楷体_GB2312" pitchFamily="49" charset="-122"/>
              </a:rPr>
              <a:t>-&gt;value);//</a:t>
            </a:r>
            <a:r>
              <a:rPr lang="zh-CN" altLang="en-US" sz="2400" b="1" dirty="0">
                <a:effectLst>
                  <a:outerShdw blurRad="38100" dist="38100" dir="2700000" algn="tl">
                    <a:srgbClr val="000000"/>
                  </a:outerShdw>
                </a:effectLst>
                <a:latin typeface="楷体_GB2312" pitchFamily="49" charset="-122"/>
                <a:ea typeface="楷体_GB2312" pitchFamily="49" charset="-122"/>
              </a:rPr>
              <a:t>依次显示链表中的表元值</a:t>
            </a:r>
          </a:p>
          <a:p>
            <a:pPr marL="0" indent="0" eaLnBrk="1" hangingPunct="1">
              <a:lnSpc>
                <a:spcPct val="80000"/>
              </a:lnSpc>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   </a:t>
            </a:r>
            <a:r>
              <a:rPr lang="en-US" altLang="zh-CN" sz="2400" b="1" dirty="0">
                <a:solidFill>
                  <a:srgbClr val="FF0000"/>
                </a:solidFill>
                <a:effectLst>
                  <a:outerShdw blurRad="38100" dist="38100" dir="2700000" algn="tl">
                    <a:srgbClr val="000000"/>
                  </a:outerShdw>
                </a:effectLst>
                <a:latin typeface="楷体_GB2312" pitchFamily="49" charset="-122"/>
                <a:ea typeface="楷体_GB2312" pitchFamily="49" charset="-122"/>
              </a:rPr>
              <a:t>p = q-&gt;next</a:t>
            </a:r>
            <a:r>
              <a:rPr lang="en-US" altLang="zh-CN" sz="2400" b="1" dirty="0">
                <a:effectLst>
                  <a:outerShdw blurRad="38100" dist="38100" dir="2700000" algn="tl">
                    <a:srgbClr val="000000"/>
                  </a:outerShdw>
                </a:effectLst>
                <a:latin typeface="楷体_GB2312" pitchFamily="49" charset="-122"/>
                <a:ea typeface="楷体_GB2312" pitchFamily="49" charset="-122"/>
              </a:rPr>
              <a:t>;  /*</a:t>
            </a:r>
            <a:r>
              <a:rPr lang="zh-CN" altLang="en-US" sz="2400" b="1" dirty="0">
                <a:effectLst>
                  <a:outerShdw blurRad="38100" dist="38100" dir="2700000" algn="tl">
                    <a:srgbClr val="000000"/>
                  </a:outerShdw>
                </a:effectLst>
                <a:latin typeface="楷体_GB2312" pitchFamily="49" charset="-122"/>
                <a:ea typeface="楷体_GB2312" pitchFamily="49" charset="-122"/>
              </a:rPr>
              <a:t>保存后继表元指针*</a:t>
            </a:r>
            <a:r>
              <a:rPr lang="en-US" altLang="zh-CN" sz="2400" b="1" dirty="0">
                <a:effectLst>
                  <a:outerShdw blurRad="38100" dist="38100" dir="2700000" algn="tl">
                    <a:srgbClr val="000000"/>
                  </a:outerShdw>
                </a:effectLst>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free(q);/*</a:t>
            </a:r>
            <a:r>
              <a:rPr lang="zh-CN" altLang="en-US" sz="2400" b="1" dirty="0">
                <a:effectLst>
                  <a:outerShdw blurRad="38100" dist="38100" dir="2700000" algn="tl">
                    <a:srgbClr val="000000"/>
                  </a:outerShdw>
                </a:effectLst>
                <a:latin typeface="楷体_GB2312" pitchFamily="49" charset="-122"/>
                <a:ea typeface="楷体_GB2312" pitchFamily="49" charset="-122"/>
              </a:rPr>
              <a:t>删除当前表元*</a:t>
            </a:r>
            <a:r>
              <a:rPr lang="en-US" altLang="zh-CN" sz="2400" b="1" dirty="0">
                <a:effectLst>
                  <a:outerShdw blurRad="38100" dist="38100" dir="2700000" algn="tl">
                    <a:srgbClr val="000000"/>
                  </a:outerShdw>
                </a:effectLst>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a:t>
            </a:r>
            <a:r>
              <a:rPr lang="en-US" altLang="zh-CN" sz="2400" b="1" dirty="0">
                <a:solidFill>
                  <a:srgbClr val="FF0000"/>
                </a:solidFill>
                <a:effectLst>
                  <a:outerShdw blurRad="38100" dist="38100" dir="2700000" algn="tl">
                    <a:srgbClr val="000000"/>
                  </a:outerShdw>
                </a:effectLst>
                <a:latin typeface="楷体_GB2312" pitchFamily="49" charset="-122"/>
                <a:ea typeface="楷体_GB2312" pitchFamily="49" charset="-122"/>
              </a:rPr>
              <a:t>q = p</a:t>
            </a:r>
            <a:r>
              <a:rPr lang="en-US" altLang="zh-CN" sz="2400" b="1" dirty="0">
                <a:effectLst>
                  <a:outerShdw blurRad="38100" dist="38100" dir="2700000" algn="tl">
                    <a:srgbClr val="000000"/>
                  </a:outerShdw>
                </a:effectLst>
                <a:latin typeface="楷体_GB2312" pitchFamily="49" charset="-122"/>
                <a:ea typeface="楷体_GB2312" pitchFamily="49" charset="-122"/>
              </a:rPr>
              <a:t>;  /*</a:t>
            </a:r>
            <a:r>
              <a:rPr lang="zh-CN" altLang="en-US" sz="2400" b="1" dirty="0">
                <a:effectLst>
                  <a:outerShdw blurRad="38100" dist="38100" dir="2700000" algn="tl">
                    <a:srgbClr val="000000"/>
                  </a:outerShdw>
                </a:effectLst>
                <a:latin typeface="楷体_GB2312" pitchFamily="49" charset="-122"/>
                <a:ea typeface="楷体_GB2312" pitchFamily="49" charset="-122"/>
              </a:rPr>
              <a:t>后继表元成为当前表元*</a:t>
            </a:r>
            <a:r>
              <a:rPr lang="en-US" altLang="zh-CN" sz="2400" b="1" dirty="0">
                <a:effectLst>
                  <a:outerShdw blurRad="38100" dist="38100" dir="2700000" algn="tl">
                    <a:srgbClr val="000000"/>
                  </a:outerShdw>
                </a:effectLst>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a:t>
            </a:r>
          </a:p>
          <a:p>
            <a:pPr marL="0" indent="0" eaLnBrk="1" hangingPunct="1">
              <a:lnSpc>
                <a:spcPct val="80000"/>
              </a:lnSpc>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a:t>
            </a:r>
          </a:p>
        </p:txBody>
      </p:sp>
      <p:sp>
        <p:nvSpPr>
          <p:cNvPr id="5" name="灯片编号占位符 5"/>
          <p:cNvSpPr>
            <a:spLocks noGrp="1"/>
          </p:cNvSpPr>
          <p:nvPr>
            <p:ph type="sldNum" sz="quarter" idx="12"/>
          </p:nvPr>
        </p:nvSpPr>
        <p:spPr/>
        <p:txBody>
          <a:bodyPr/>
          <a:lstStyle/>
          <a:p>
            <a:pPr>
              <a:defRPr/>
            </a:pPr>
            <a:fld id="{97A6E231-E261-4EE0-A9A4-E7FDB9BF9B78}" type="slidenum">
              <a:rPr lang="en-US" altLang="zh-CN"/>
              <a:pPr>
                <a:defRPr/>
              </a:pPr>
              <a:t>101</a:t>
            </a:fld>
            <a:endParaRPr lang="en-US" altLang="zh-CN"/>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274" name="Rectangle 2"/>
          <p:cNvSpPr>
            <a:spLocks noGrp="1" noChangeArrowheads="1"/>
          </p:cNvSpPr>
          <p:nvPr>
            <p:ph idx="1"/>
          </p:nvPr>
        </p:nvSpPr>
        <p:spPr>
          <a:xfrm>
            <a:off x="468313" y="285750"/>
            <a:ext cx="8304212" cy="6048375"/>
          </a:xfrm>
        </p:spPr>
        <p:txBody>
          <a:bodyPr>
            <a:normAutofit/>
          </a:bodyPr>
          <a:lstStyle/>
          <a:p>
            <a:pPr marL="0" indent="0" eaLnBrk="1" hangingPunct="1">
              <a:buFont typeface="Monotype Sorts" pitchFamily="2" charset="2"/>
              <a:buNone/>
              <a:defRPr/>
            </a:pP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例</a:t>
            </a:r>
            <a:r>
              <a:rPr lang="en-US" altLang="zh-CN" sz="2800" b="1" dirty="0">
                <a:latin typeface="楷体_GB2312" pitchFamily="49" charset="-122"/>
                <a:ea typeface="楷体_GB2312" pitchFamily="49" charset="-122"/>
              </a:rPr>
              <a:t>7.12】</a:t>
            </a:r>
            <a:r>
              <a:rPr lang="zh-CN" altLang="en-US" sz="2800" b="1" dirty="0">
                <a:latin typeface="楷体_GB2312" pitchFamily="49" charset="-122"/>
                <a:ea typeface="楷体_GB2312" pitchFamily="49" charset="-122"/>
              </a:rPr>
              <a:t>编写一个函数，输入</a:t>
            </a:r>
            <a:r>
              <a:rPr lang="en-US" altLang="zh-CN" sz="2800" b="1" dirty="0">
                <a:latin typeface="楷体_GB2312" pitchFamily="49" charset="-122"/>
                <a:ea typeface="楷体_GB2312" pitchFamily="49" charset="-122"/>
              </a:rPr>
              <a:t>n</a:t>
            </a:r>
            <a:r>
              <a:rPr lang="zh-CN" altLang="en-US" sz="2800" b="1" dirty="0">
                <a:latin typeface="楷体_GB2312" pitchFamily="49" charset="-122"/>
                <a:ea typeface="楷体_GB2312" pitchFamily="49" charset="-122"/>
              </a:rPr>
              <a:t>个整数，建立一个按值</a:t>
            </a:r>
            <a:r>
              <a:rPr lang="zh-CN" altLang="en-US" sz="2800" b="1" dirty="0">
                <a:solidFill>
                  <a:srgbClr val="FF0000"/>
                </a:solidFill>
                <a:latin typeface="楷体_GB2312" pitchFamily="49" charset="-122"/>
                <a:ea typeface="楷体_GB2312" pitchFamily="49" charset="-122"/>
              </a:rPr>
              <a:t>从小到大顺序</a:t>
            </a:r>
            <a:r>
              <a:rPr lang="zh-CN" altLang="en-US" sz="2800" b="1" dirty="0">
                <a:latin typeface="楷体_GB2312" pitchFamily="49" charset="-122"/>
                <a:ea typeface="楷体_GB2312" pitchFamily="49" charset="-122"/>
              </a:rPr>
              <a:t>链接的链表。</a:t>
            </a:r>
          </a:p>
          <a:p>
            <a:pPr marL="0" indent="0" eaLnBrk="1" hangingPunct="1">
              <a:buFont typeface="Monotype Sorts" pitchFamily="2" charset="2"/>
              <a:buNone/>
              <a:defRPr/>
            </a:pPr>
            <a:endParaRPr lang="zh-CN" altLang="en-US" sz="2400" b="1" dirty="0">
              <a:effectLst>
                <a:outerShdw blurRad="38100" dist="38100" dir="2700000" algn="tl">
                  <a:srgbClr val="000000"/>
                </a:outerShdw>
              </a:effectLst>
              <a:latin typeface="楷体_GB2312" pitchFamily="49" charset="-122"/>
              <a:ea typeface="楷体_GB2312" pitchFamily="49" charset="-122"/>
            </a:endParaRPr>
          </a:p>
          <a:p>
            <a:pPr marL="0" indent="0" eaLnBrk="1" hangingPunct="1">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a:t>
            </a:r>
            <a:r>
              <a:rPr lang="zh-CN" altLang="en-US" sz="2400" b="1" dirty="0">
                <a:effectLst>
                  <a:outerShdw blurRad="38100" dist="38100" dir="2700000" algn="tl">
                    <a:srgbClr val="000000"/>
                  </a:outerShdw>
                </a:effectLst>
                <a:latin typeface="楷体_GB2312" pitchFamily="49" charset="-122"/>
                <a:ea typeface="楷体_GB2312" pitchFamily="49" charset="-122"/>
              </a:rPr>
              <a:t>解题思路</a:t>
            </a:r>
            <a:r>
              <a:rPr lang="en-US" altLang="zh-CN" sz="2400" b="1" dirty="0">
                <a:effectLst>
                  <a:outerShdw blurRad="38100" dist="38100" dir="2700000" algn="tl">
                    <a:srgbClr val="000000"/>
                  </a:outerShdw>
                </a:effectLst>
                <a:latin typeface="楷体_GB2312" pitchFamily="49" charset="-122"/>
                <a:ea typeface="楷体_GB2312" pitchFamily="49" charset="-122"/>
              </a:rPr>
              <a:t>】</a:t>
            </a:r>
          </a:p>
          <a:p>
            <a:pPr marL="0" indent="0" eaLnBrk="1" hangingPunct="1">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输入整数构建有序链表的过程是一个循环。算法思想：</a:t>
            </a:r>
          </a:p>
          <a:p>
            <a:pPr marL="0" indent="0" eaLnBrk="1" hangingPunct="1">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(1)</a:t>
            </a:r>
            <a:r>
              <a:rPr lang="zh-CN" altLang="en-US" sz="2400" b="1" dirty="0">
                <a:effectLst>
                  <a:outerShdw blurRad="38100" dist="38100" dir="2700000" algn="tl">
                    <a:srgbClr val="000000"/>
                  </a:outerShdw>
                </a:effectLst>
                <a:latin typeface="楷体_GB2312" pitchFamily="49" charset="-122"/>
                <a:ea typeface="楷体_GB2312" pitchFamily="49" charset="-122"/>
              </a:rPr>
              <a:t>链表的初始状态为空链表，即头指针</a:t>
            </a:r>
            <a:r>
              <a:rPr lang="en-US" altLang="zh-CN" sz="2400" b="1" dirty="0">
                <a:effectLst>
                  <a:outerShdw blurRad="38100" dist="38100" dir="2700000" algn="tl">
                    <a:srgbClr val="000000"/>
                  </a:outerShdw>
                </a:effectLst>
                <a:latin typeface="楷体_GB2312" pitchFamily="49" charset="-122"/>
                <a:ea typeface="楷体_GB2312" pitchFamily="49" charset="-122"/>
              </a:rPr>
              <a:t>head</a:t>
            </a:r>
            <a:r>
              <a:rPr lang="zh-CN" altLang="en-US" sz="2400" b="1" dirty="0">
                <a:effectLst>
                  <a:outerShdw blurRad="38100" dist="38100" dir="2700000" algn="tl">
                    <a:srgbClr val="000000"/>
                  </a:outerShdw>
                </a:effectLst>
                <a:latin typeface="楷体_GB2312" pitchFamily="49" charset="-122"/>
                <a:ea typeface="楷体_GB2312" pitchFamily="49" charset="-122"/>
              </a:rPr>
              <a:t>为</a:t>
            </a:r>
            <a:r>
              <a:rPr lang="en-US" altLang="zh-CN" sz="2400" b="1" dirty="0">
                <a:effectLst>
                  <a:outerShdw blurRad="38100" dist="38100" dir="2700000" algn="tl">
                    <a:srgbClr val="000000"/>
                  </a:outerShdw>
                </a:effectLst>
                <a:latin typeface="楷体_GB2312" pitchFamily="49" charset="-122"/>
                <a:ea typeface="楷体_GB2312" pitchFamily="49" charset="-122"/>
              </a:rPr>
              <a:t>NULL</a:t>
            </a:r>
            <a:r>
              <a:rPr lang="zh-CN" altLang="en-US" sz="2400" b="1" dirty="0">
                <a:effectLst>
                  <a:outerShdw blurRad="38100" dist="38100" dir="2700000" algn="tl">
                    <a:srgbClr val="000000"/>
                  </a:outerShdw>
                </a:effectLst>
                <a:latin typeface="楷体_GB2312" pitchFamily="49" charset="-122"/>
                <a:ea typeface="楷体_GB2312" pitchFamily="49" charset="-122"/>
              </a:rPr>
              <a:t>； </a:t>
            </a:r>
          </a:p>
          <a:p>
            <a:pPr marL="0" indent="0" eaLnBrk="1" hangingPunct="1">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(2)</a:t>
            </a:r>
            <a:r>
              <a:rPr lang="zh-CN" altLang="en-US" sz="2400" b="1" dirty="0">
                <a:effectLst>
                  <a:outerShdw blurRad="38100" dist="38100" dir="2700000" algn="tl">
                    <a:srgbClr val="000000"/>
                  </a:outerShdw>
                </a:effectLst>
                <a:latin typeface="楷体_GB2312" pitchFamily="49" charset="-122"/>
                <a:ea typeface="楷体_GB2312" pitchFamily="49" charset="-122"/>
              </a:rPr>
              <a:t>构建有序链表的过程是一个循环，循环完成以下工作：</a:t>
            </a:r>
          </a:p>
          <a:p>
            <a:pPr marL="0" indent="0" eaLnBrk="1" hangingPunct="1">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●输入一个整数，就向系统申请一个表元的存储空间并赋给指针变量</a:t>
            </a:r>
            <a:r>
              <a:rPr lang="en-US" altLang="zh-CN" sz="2400" b="1" dirty="0">
                <a:effectLst>
                  <a:outerShdw blurRad="38100" dist="38100" dir="2700000" algn="tl">
                    <a:srgbClr val="000000"/>
                  </a:outerShdw>
                </a:effectLst>
                <a:latin typeface="楷体_GB2312" pitchFamily="49" charset="-122"/>
                <a:ea typeface="楷体_GB2312" pitchFamily="49" charset="-122"/>
              </a:rPr>
              <a:t>p</a:t>
            </a:r>
            <a:r>
              <a:rPr lang="zh-CN" altLang="en-US" sz="2400" b="1" dirty="0">
                <a:effectLst>
                  <a:outerShdw blurRad="38100" dist="38100" dir="2700000" algn="tl">
                    <a:srgbClr val="000000"/>
                  </a:outerShdw>
                </a:effectLst>
                <a:latin typeface="楷体_GB2312" pitchFamily="49" charset="-122"/>
                <a:ea typeface="楷体_GB2312" pitchFamily="49" charset="-122"/>
              </a:rPr>
              <a:t>，将输入的整数存入新表元； </a:t>
            </a:r>
          </a:p>
          <a:p>
            <a:pPr marL="0" indent="0" eaLnBrk="1" hangingPunct="1">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●寻找新表元插入位置；</a:t>
            </a:r>
          </a:p>
          <a:p>
            <a:pPr marL="0" indent="0" eaLnBrk="1" hangingPunct="1">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●将新表元插入在插入处的前面。</a:t>
            </a:r>
          </a:p>
          <a:p>
            <a:pPr marL="0" indent="0" eaLnBrk="1" hangingPunct="1">
              <a:buFont typeface="Monotype Sorts" pitchFamily="2" charset="2"/>
              <a:buNone/>
              <a:defRPr/>
            </a:pPr>
            <a:endParaRPr lang="zh-CN" altLang="en-US" sz="2400" b="1" dirty="0">
              <a:effectLst>
                <a:outerShdw blurRad="38100" dist="38100" dir="2700000" algn="tl">
                  <a:srgbClr val="000000"/>
                </a:outerShdw>
              </a:effectLst>
              <a:latin typeface="楷体_GB2312" pitchFamily="49" charset="-122"/>
              <a:ea typeface="楷体_GB2312" pitchFamily="49" charset="-122"/>
            </a:endParaRPr>
          </a:p>
          <a:p>
            <a:pPr marL="0" indent="0" eaLnBrk="1" hangingPunct="1">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n</a:t>
            </a:r>
            <a:r>
              <a:rPr lang="zh-CN" altLang="en-US" sz="2400" b="1" dirty="0">
                <a:effectLst>
                  <a:outerShdw blurRad="38100" dist="38100" dir="2700000" algn="tl">
                    <a:srgbClr val="000000"/>
                  </a:outerShdw>
                </a:effectLst>
                <a:latin typeface="楷体_GB2312" pitchFamily="49" charset="-122"/>
                <a:ea typeface="楷体_GB2312" pitchFamily="49" charset="-122"/>
              </a:rPr>
              <a:t>个整数全部输入后，函数返回生成的单链表的头指针。 </a:t>
            </a:r>
          </a:p>
        </p:txBody>
      </p:sp>
      <p:sp>
        <p:nvSpPr>
          <p:cNvPr id="5" name="灯片编号占位符 5"/>
          <p:cNvSpPr>
            <a:spLocks noGrp="1"/>
          </p:cNvSpPr>
          <p:nvPr>
            <p:ph type="sldNum" sz="quarter" idx="12"/>
          </p:nvPr>
        </p:nvSpPr>
        <p:spPr/>
        <p:txBody>
          <a:bodyPr/>
          <a:lstStyle/>
          <a:p>
            <a:pPr>
              <a:defRPr/>
            </a:pPr>
            <a:fld id="{46B486AD-9D1B-4862-9BD8-B55FDCEA9778}" type="slidenum">
              <a:rPr lang="en-US" altLang="zh-CN"/>
              <a:pPr>
                <a:defRPr/>
              </a:pPr>
              <a:t>102</a:t>
            </a:fld>
            <a:endParaRPr lang="en-US" altLang="zh-CN"/>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5298" name="Rectangle 2"/>
          <p:cNvSpPr>
            <a:spLocks noGrp="1" noChangeArrowheads="1"/>
          </p:cNvSpPr>
          <p:nvPr>
            <p:ph idx="1"/>
          </p:nvPr>
        </p:nvSpPr>
        <p:spPr>
          <a:xfrm>
            <a:off x="468313" y="549275"/>
            <a:ext cx="8304212" cy="6048375"/>
          </a:xfrm>
        </p:spPr>
        <p:txBody>
          <a:bodyPr/>
          <a:lstStyle/>
          <a:p>
            <a:pPr marL="0" indent="0" eaLnBrk="1" hangingPunct="1">
              <a:buFont typeface="Monotype Sorts" pitchFamily="2" charset="2"/>
              <a:buNone/>
              <a:defRPr/>
            </a:pPr>
            <a:r>
              <a:rPr lang="zh-CN" altLang="en-US" b="1" dirty="0">
                <a:effectLst>
                  <a:outerShdw blurRad="38100" dist="38100" dir="2700000" algn="tl">
                    <a:srgbClr val="000000"/>
                  </a:outerShdw>
                </a:effectLst>
                <a:latin typeface="楷体_GB2312" pitchFamily="49" charset="-122"/>
                <a:ea typeface="楷体_GB2312" pitchFamily="49" charset="-122"/>
              </a:rPr>
              <a:t>寻找插入位置也是一个循环</a:t>
            </a:r>
            <a:r>
              <a:rPr lang="en-US" altLang="zh-CN" b="1" dirty="0">
                <a:effectLst>
                  <a:outerShdw blurRad="38100" dist="38100" dir="2700000" algn="tl">
                    <a:srgbClr val="000000"/>
                  </a:outerShdw>
                </a:effectLst>
                <a:latin typeface="楷体_GB2312" pitchFamily="49" charset="-122"/>
                <a:ea typeface="楷体_GB2312" pitchFamily="49" charset="-122"/>
              </a:rPr>
              <a:t>:</a:t>
            </a:r>
          </a:p>
          <a:p>
            <a:pPr marL="0" indent="0" eaLnBrk="1" hangingPunct="1">
              <a:buFont typeface="Monotype Sorts" pitchFamily="2" charset="2"/>
              <a:buNone/>
              <a:defRPr/>
            </a:pPr>
            <a:r>
              <a:rPr lang="zh-CN" altLang="en-US" b="1" dirty="0">
                <a:effectLst>
                  <a:outerShdw blurRad="38100" dist="38100" dir="2700000" algn="tl">
                    <a:srgbClr val="000000"/>
                  </a:outerShdw>
                </a:effectLst>
                <a:latin typeface="楷体_GB2312" pitchFamily="49" charset="-122"/>
                <a:ea typeface="楷体_GB2312" pitchFamily="49" charset="-122"/>
              </a:rPr>
              <a:t>从链表的首表元开始考察，因越大的数插在越后面，如果输入整数大于当前表元的值，需继续考察下一个表元；</a:t>
            </a:r>
          </a:p>
          <a:p>
            <a:pPr marL="0" indent="0" eaLnBrk="1" hangingPunct="1">
              <a:buFont typeface="Monotype Sorts" pitchFamily="2" charset="2"/>
              <a:buNone/>
              <a:defRPr/>
            </a:pPr>
            <a:r>
              <a:rPr lang="zh-CN" altLang="en-US" b="1" dirty="0">
                <a:effectLst>
                  <a:outerShdw blurRad="38100" dist="38100" dir="2700000" algn="tl">
                    <a:srgbClr val="000000"/>
                  </a:outerShdw>
                </a:effectLst>
                <a:latin typeface="楷体_GB2312" pitchFamily="49" charset="-122"/>
                <a:ea typeface="楷体_GB2312" pitchFamily="49" charset="-122"/>
              </a:rPr>
              <a:t>否则，新表元插在当前表元之前。</a:t>
            </a:r>
          </a:p>
          <a:p>
            <a:pPr marL="0" indent="0" eaLnBrk="1" hangingPunct="1">
              <a:buFont typeface="Monotype Sorts" pitchFamily="2" charset="2"/>
              <a:buNone/>
              <a:defRPr/>
            </a:pPr>
            <a:endParaRPr lang="zh-CN" altLang="en-US" b="1" dirty="0">
              <a:effectLst>
                <a:outerShdw blurRad="38100" dist="38100" dir="2700000" algn="tl">
                  <a:srgbClr val="000000"/>
                </a:outerShdw>
              </a:effectLst>
              <a:latin typeface="楷体_GB2312" pitchFamily="49" charset="-122"/>
              <a:ea typeface="楷体_GB2312" pitchFamily="49" charset="-122"/>
            </a:endParaRPr>
          </a:p>
          <a:p>
            <a:pPr marL="0" indent="0" eaLnBrk="1" hangingPunct="1">
              <a:buFont typeface="Monotype Sorts" pitchFamily="2" charset="2"/>
              <a:buNone/>
              <a:defRPr/>
            </a:pPr>
            <a:r>
              <a:rPr lang="zh-CN" altLang="en-US" b="1" dirty="0">
                <a:solidFill>
                  <a:srgbClr val="C00000"/>
                </a:solidFill>
                <a:effectLst>
                  <a:outerShdw blurRad="38100" dist="38100" dir="2700000" algn="tl">
                    <a:srgbClr val="000000"/>
                  </a:outerShdw>
                </a:effectLst>
                <a:latin typeface="楷体_GB2312" pitchFamily="49" charset="-122"/>
                <a:ea typeface="楷体_GB2312" pitchFamily="49" charset="-122"/>
              </a:rPr>
              <a:t>由于单链表上无法简单地完成插在某表元之前的工作，寻找循环引入指向当前要考察的表元的指针变量</a:t>
            </a:r>
            <a:r>
              <a:rPr lang="en-US" altLang="zh-CN" b="1" dirty="0">
                <a:solidFill>
                  <a:srgbClr val="C00000"/>
                </a:solidFill>
                <a:effectLst>
                  <a:outerShdw blurRad="38100" dist="38100" dir="2700000" algn="tl">
                    <a:srgbClr val="000000"/>
                  </a:outerShdw>
                </a:effectLst>
                <a:latin typeface="楷体_GB2312" pitchFamily="49" charset="-122"/>
                <a:ea typeface="楷体_GB2312" pitchFamily="49" charset="-122"/>
              </a:rPr>
              <a:t>v</a:t>
            </a:r>
            <a:r>
              <a:rPr lang="zh-CN" altLang="en-US" b="1" dirty="0">
                <a:solidFill>
                  <a:srgbClr val="C00000"/>
                </a:solidFill>
                <a:effectLst>
                  <a:outerShdw blurRad="38100" dist="38100" dir="2700000" algn="tl">
                    <a:srgbClr val="000000"/>
                  </a:outerShdw>
                </a:effectLst>
                <a:latin typeface="楷体_GB2312" pitchFamily="49" charset="-122"/>
                <a:ea typeface="楷体_GB2312" pitchFamily="49" charset="-122"/>
              </a:rPr>
              <a:t>和指向当前要考察的表元前一个表元的指针变量</a:t>
            </a:r>
            <a:r>
              <a:rPr lang="en-US" altLang="zh-CN" b="1" dirty="0">
                <a:solidFill>
                  <a:srgbClr val="C00000"/>
                </a:solidFill>
                <a:effectLst>
                  <a:outerShdw blurRad="38100" dist="38100" dir="2700000" algn="tl">
                    <a:srgbClr val="000000"/>
                  </a:outerShdw>
                </a:effectLst>
                <a:latin typeface="楷体_GB2312" pitchFamily="49" charset="-122"/>
                <a:ea typeface="楷体_GB2312" pitchFamily="49" charset="-122"/>
              </a:rPr>
              <a:t>u</a:t>
            </a:r>
            <a:r>
              <a:rPr lang="zh-CN" altLang="en-US" b="1" dirty="0">
                <a:solidFill>
                  <a:srgbClr val="C00000"/>
                </a:solidFill>
                <a:effectLst>
                  <a:outerShdw blurRad="38100" dist="38100" dir="2700000" algn="tl">
                    <a:srgbClr val="000000"/>
                  </a:outerShdw>
                </a:effectLst>
                <a:latin typeface="楷体_GB2312" pitchFamily="49" charset="-122"/>
                <a:ea typeface="楷体_GB2312" pitchFamily="49" charset="-122"/>
              </a:rPr>
              <a:t>；</a:t>
            </a:r>
          </a:p>
          <a:p>
            <a:pPr marL="0" indent="0" eaLnBrk="1" hangingPunct="1">
              <a:buFont typeface="Monotype Sorts" pitchFamily="2" charset="2"/>
              <a:buNone/>
              <a:defRPr/>
            </a:pPr>
            <a:endParaRPr lang="zh-CN" altLang="en-US" b="1" dirty="0">
              <a:effectLst>
                <a:outerShdw blurRad="38100" dist="38100" dir="2700000" algn="tl">
                  <a:srgbClr val="000000"/>
                </a:outerShdw>
              </a:effectLst>
              <a:latin typeface="楷体_GB2312" pitchFamily="49" charset="-122"/>
              <a:ea typeface="楷体_GB2312" pitchFamily="49" charset="-122"/>
            </a:endParaRPr>
          </a:p>
          <a:p>
            <a:pPr marL="0" indent="0" eaLnBrk="1" hangingPunct="1">
              <a:buFont typeface="Monotype Sorts" pitchFamily="2" charset="2"/>
              <a:buNone/>
              <a:defRPr/>
            </a:pPr>
            <a:r>
              <a:rPr lang="zh-CN" altLang="en-US" dirty="0">
                <a:latin typeface="楷体_GB2312" pitchFamily="49" charset="-122"/>
                <a:ea typeface="楷体_GB2312" pitchFamily="49" charset="-122"/>
              </a:rPr>
              <a:t> </a:t>
            </a:r>
          </a:p>
        </p:txBody>
      </p:sp>
      <p:sp>
        <p:nvSpPr>
          <p:cNvPr id="5" name="灯片编号占位符 5"/>
          <p:cNvSpPr>
            <a:spLocks noGrp="1"/>
          </p:cNvSpPr>
          <p:nvPr>
            <p:ph type="sldNum" sz="quarter" idx="12"/>
          </p:nvPr>
        </p:nvSpPr>
        <p:spPr/>
        <p:txBody>
          <a:bodyPr/>
          <a:lstStyle/>
          <a:p>
            <a:pPr>
              <a:defRPr/>
            </a:pPr>
            <a:fld id="{E16ED254-EB98-46F6-A1BF-DC198F61E89E}" type="slidenum">
              <a:rPr lang="en-US" altLang="zh-CN"/>
              <a:pPr>
                <a:defRPr/>
              </a:pPr>
              <a:t>103</a:t>
            </a:fld>
            <a:endParaRPr lang="en-US" altLang="zh-CN"/>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22" name="Rectangle 2"/>
          <p:cNvSpPr>
            <a:spLocks noGrp="1" noChangeArrowheads="1"/>
          </p:cNvSpPr>
          <p:nvPr>
            <p:ph idx="1"/>
          </p:nvPr>
        </p:nvSpPr>
        <p:spPr>
          <a:xfrm>
            <a:off x="500034" y="214290"/>
            <a:ext cx="8304212" cy="6048375"/>
          </a:xfrm>
        </p:spPr>
        <p:txBody>
          <a:bodyPr>
            <a:noAutofit/>
          </a:bodyPr>
          <a:lstStyle/>
          <a:p>
            <a:pPr marL="0" indent="0" eaLnBrk="1" hangingPunct="1">
              <a:lnSpc>
                <a:spcPct val="80000"/>
              </a:lnSpc>
              <a:buFont typeface="Monotype Sorts" pitchFamily="2" charset="2"/>
              <a:buNone/>
              <a:defRPr/>
            </a:pPr>
            <a:r>
              <a:rPr lang="en-US" altLang="zh-CN" sz="2400" b="1" dirty="0" err="1">
                <a:latin typeface="Times New Roman" pitchFamily="18" charset="0"/>
                <a:ea typeface="楷体_GB2312" pitchFamily="49" charset="-122"/>
                <a:cs typeface="Times New Roman" pitchFamily="18" charset="0"/>
              </a:rPr>
              <a:t>intNode</a:t>
            </a:r>
            <a:r>
              <a:rPr lang="en-US" altLang="zh-CN" sz="2400" b="1" dirty="0">
                <a:latin typeface="Times New Roman" pitchFamily="18" charset="0"/>
                <a:ea typeface="楷体_GB2312" pitchFamily="49" charset="-122"/>
                <a:cs typeface="Times New Roman" pitchFamily="18" charset="0"/>
              </a:rPr>
              <a:t> *</a:t>
            </a:r>
            <a:r>
              <a:rPr lang="en-US" altLang="zh-CN" sz="2400" b="1" dirty="0" err="1">
                <a:latin typeface="Times New Roman" pitchFamily="18" charset="0"/>
                <a:ea typeface="楷体_GB2312" pitchFamily="49" charset="-122"/>
                <a:cs typeface="Times New Roman" pitchFamily="18" charset="0"/>
              </a:rPr>
              <a:t>createSortList</a:t>
            </a:r>
            <a:r>
              <a:rPr lang="en-US" altLang="zh-CN" sz="2400" b="1" dirty="0">
                <a:latin typeface="Times New Roman" pitchFamily="18" charset="0"/>
                <a:ea typeface="楷体_GB2312" pitchFamily="49" charset="-122"/>
                <a:cs typeface="Times New Roman" pitchFamily="18" charset="0"/>
              </a:rPr>
              <a:t>(</a:t>
            </a:r>
            <a:r>
              <a:rPr lang="en-US" altLang="zh-CN" sz="2400" b="1" dirty="0" err="1">
                <a:latin typeface="Times New Roman" pitchFamily="18" charset="0"/>
                <a:ea typeface="楷体_GB2312" pitchFamily="49" charset="-122"/>
                <a:cs typeface="Times New Roman" pitchFamily="18" charset="0"/>
              </a:rPr>
              <a:t>int</a:t>
            </a:r>
            <a:r>
              <a:rPr lang="en-US" altLang="zh-CN" sz="2400" b="1" dirty="0">
                <a:latin typeface="Times New Roman" pitchFamily="18" charset="0"/>
                <a:ea typeface="楷体_GB2312" pitchFamily="49" charset="-122"/>
                <a:cs typeface="Times New Roman" pitchFamily="18" charset="0"/>
              </a:rPr>
              <a:t> n)</a:t>
            </a:r>
          </a:p>
          <a:p>
            <a:pPr marL="0" indent="0" eaLnBrk="1" hangingPunct="1">
              <a:lnSpc>
                <a:spcPct val="80000"/>
              </a:lnSpc>
              <a:buFont typeface="Monotype Sorts" pitchFamily="2" charset="2"/>
              <a:buNone/>
              <a:defRPr/>
            </a:pPr>
            <a:r>
              <a:rPr lang="en-US" altLang="zh-CN" sz="2400" b="1" dirty="0">
                <a:latin typeface="Times New Roman" pitchFamily="18" charset="0"/>
                <a:ea typeface="楷体_GB2312" pitchFamily="49" charset="-122"/>
                <a:cs typeface="Times New Roman" pitchFamily="18" charset="0"/>
              </a:rPr>
              <a:t>{ </a:t>
            </a:r>
            <a:r>
              <a:rPr lang="en-US" altLang="zh-CN" sz="2400" b="1" dirty="0" err="1">
                <a:latin typeface="Times New Roman" pitchFamily="18" charset="0"/>
                <a:ea typeface="楷体_GB2312" pitchFamily="49" charset="-122"/>
                <a:cs typeface="Times New Roman" pitchFamily="18" charset="0"/>
              </a:rPr>
              <a:t>intNode</a:t>
            </a:r>
            <a:r>
              <a:rPr lang="en-US" altLang="zh-CN" sz="2400" b="1" dirty="0">
                <a:latin typeface="Times New Roman" pitchFamily="18" charset="0"/>
                <a:ea typeface="楷体_GB2312" pitchFamily="49" charset="-122"/>
                <a:cs typeface="Times New Roman" pitchFamily="18" charset="0"/>
              </a:rPr>
              <a:t> *u, *v, *p, *head=NULL; </a:t>
            </a:r>
            <a:r>
              <a:rPr lang="en-US" altLang="zh-CN" sz="1800" b="1" dirty="0">
                <a:latin typeface="Times New Roman" pitchFamily="18" charset="0"/>
                <a:ea typeface="楷体_GB2312" pitchFamily="49" charset="-122"/>
                <a:cs typeface="Times New Roman" pitchFamily="18" charset="0"/>
              </a:rPr>
              <a:t>/*u</a:t>
            </a:r>
            <a:r>
              <a:rPr lang="zh-CN" altLang="en-US" sz="1800" b="1" dirty="0">
                <a:latin typeface="Times New Roman" pitchFamily="18" charset="0"/>
                <a:ea typeface="楷体_GB2312" pitchFamily="49" charset="-122"/>
                <a:cs typeface="Times New Roman" pitchFamily="18" charset="0"/>
              </a:rPr>
              <a:t>指向上一个，</a:t>
            </a:r>
            <a:r>
              <a:rPr lang="en-US" altLang="zh-CN" sz="1800" b="1" dirty="0">
                <a:latin typeface="Times New Roman" pitchFamily="18" charset="0"/>
                <a:ea typeface="楷体_GB2312" pitchFamily="49" charset="-122"/>
                <a:cs typeface="Times New Roman" pitchFamily="18" charset="0"/>
              </a:rPr>
              <a:t>v</a:t>
            </a:r>
            <a:r>
              <a:rPr lang="zh-CN" altLang="en-US" sz="1800" b="1" dirty="0">
                <a:latin typeface="Times New Roman" pitchFamily="18" charset="0"/>
                <a:ea typeface="楷体_GB2312" pitchFamily="49" charset="-122"/>
                <a:cs typeface="Times New Roman" pitchFamily="18" charset="0"/>
              </a:rPr>
              <a:t>指向当前表元 *</a:t>
            </a:r>
            <a:r>
              <a:rPr lang="en-US" altLang="zh-CN" sz="1800" b="1" dirty="0">
                <a:latin typeface="Times New Roman" pitchFamily="18" charset="0"/>
                <a:ea typeface="楷体_GB2312" pitchFamily="49" charset="-122"/>
                <a:cs typeface="Times New Roman" pitchFamily="18" charset="0"/>
              </a:rPr>
              <a:t>/</a:t>
            </a:r>
            <a:endParaRPr lang="en-US" altLang="zh-CN" sz="2400" b="1" dirty="0">
              <a:latin typeface="Times New Roman" pitchFamily="18" charset="0"/>
              <a:ea typeface="楷体_GB2312" pitchFamily="49" charset="-122"/>
              <a:cs typeface="Times New Roman" pitchFamily="18" charset="0"/>
            </a:endParaRPr>
          </a:p>
          <a:p>
            <a:pPr marL="0" indent="0" eaLnBrk="1" hangingPunct="1">
              <a:lnSpc>
                <a:spcPct val="80000"/>
              </a:lnSpc>
              <a:buFont typeface="Monotype Sorts" pitchFamily="2" charset="2"/>
              <a:buNone/>
              <a:defRPr/>
            </a:pPr>
            <a:r>
              <a:rPr lang="en-US" altLang="zh-CN" sz="2400" b="1" dirty="0">
                <a:latin typeface="Times New Roman" pitchFamily="18" charset="0"/>
                <a:ea typeface="楷体_GB2312" pitchFamily="49" charset="-122"/>
                <a:cs typeface="Times New Roman" pitchFamily="18" charset="0"/>
              </a:rPr>
              <a:t>  </a:t>
            </a:r>
            <a:r>
              <a:rPr lang="en-US" altLang="zh-CN" sz="2400" b="1" dirty="0" err="1">
                <a:latin typeface="Times New Roman" pitchFamily="18" charset="0"/>
                <a:ea typeface="楷体_GB2312" pitchFamily="49" charset="-122"/>
                <a:cs typeface="Times New Roman" pitchFamily="18" charset="0"/>
              </a:rPr>
              <a:t>int</a:t>
            </a:r>
            <a:r>
              <a:rPr lang="en-US" altLang="zh-CN" sz="2400" b="1" dirty="0">
                <a:latin typeface="Times New Roman" pitchFamily="18" charset="0"/>
                <a:ea typeface="楷体_GB2312" pitchFamily="49" charset="-122"/>
                <a:cs typeface="Times New Roman" pitchFamily="18" charset="0"/>
              </a:rPr>
              <a:t>  k;</a:t>
            </a:r>
          </a:p>
          <a:p>
            <a:pPr marL="0" indent="0" eaLnBrk="1" hangingPunct="1">
              <a:lnSpc>
                <a:spcPct val="80000"/>
              </a:lnSpc>
              <a:buFont typeface="Monotype Sorts" pitchFamily="2" charset="2"/>
              <a:buNone/>
              <a:defRPr/>
            </a:pPr>
            <a:r>
              <a:rPr lang="en-US" altLang="zh-CN" sz="2400" b="1" dirty="0">
                <a:latin typeface="Times New Roman" pitchFamily="18" charset="0"/>
                <a:ea typeface="楷体_GB2312" pitchFamily="49" charset="-122"/>
                <a:cs typeface="Times New Roman" pitchFamily="18" charset="0"/>
              </a:rPr>
              <a:t>  </a:t>
            </a:r>
            <a:r>
              <a:rPr lang="en-US" altLang="zh-CN" sz="2400" b="1" dirty="0" err="1">
                <a:latin typeface="Times New Roman" pitchFamily="18" charset="0"/>
                <a:ea typeface="楷体_GB2312" pitchFamily="49" charset="-122"/>
                <a:cs typeface="Times New Roman" pitchFamily="18" charset="0"/>
              </a:rPr>
              <a:t>printf</a:t>
            </a:r>
            <a:r>
              <a:rPr lang="en-US" altLang="zh-CN" sz="2400" b="1" dirty="0">
                <a:latin typeface="Times New Roman" pitchFamily="18" charset="0"/>
                <a:ea typeface="楷体_GB2312" pitchFamily="49" charset="-122"/>
                <a:cs typeface="Times New Roman" pitchFamily="18" charset="0"/>
              </a:rPr>
              <a:t>("Input data.\n");</a:t>
            </a:r>
          </a:p>
          <a:p>
            <a:pPr marL="0" indent="0" eaLnBrk="1" hangingPunct="1">
              <a:lnSpc>
                <a:spcPct val="80000"/>
              </a:lnSpc>
              <a:buFont typeface="Monotype Sorts" pitchFamily="2" charset="2"/>
              <a:buNone/>
              <a:defRPr/>
            </a:pPr>
            <a:r>
              <a:rPr lang="en-US" altLang="zh-CN" sz="2400" b="1" dirty="0">
                <a:latin typeface="Times New Roman" pitchFamily="18" charset="0"/>
                <a:ea typeface="楷体_GB2312" pitchFamily="49" charset="-122"/>
                <a:cs typeface="Times New Roman" pitchFamily="18" charset="0"/>
              </a:rPr>
              <a:t>  for(k = 0; k &lt; n; k++) {</a:t>
            </a:r>
          </a:p>
          <a:p>
            <a:pPr marL="0" indent="0" eaLnBrk="1" hangingPunct="1">
              <a:lnSpc>
                <a:spcPct val="80000"/>
              </a:lnSpc>
              <a:buFont typeface="Monotype Sorts" pitchFamily="2" charset="2"/>
              <a:buNone/>
              <a:defRPr/>
            </a:pPr>
            <a:r>
              <a:rPr lang="en-US" altLang="zh-CN" sz="2400" b="1" dirty="0">
                <a:latin typeface="Times New Roman" pitchFamily="18" charset="0"/>
                <a:ea typeface="楷体_GB2312" pitchFamily="49" charset="-122"/>
                <a:cs typeface="Times New Roman" pitchFamily="18" charset="0"/>
              </a:rPr>
              <a:t>      p = (</a:t>
            </a:r>
            <a:r>
              <a:rPr lang="en-US" altLang="zh-CN" sz="2400" b="1" dirty="0" err="1">
                <a:latin typeface="Times New Roman" pitchFamily="18" charset="0"/>
                <a:ea typeface="楷体_GB2312" pitchFamily="49" charset="-122"/>
                <a:cs typeface="Times New Roman" pitchFamily="18" charset="0"/>
              </a:rPr>
              <a:t>intNode</a:t>
            </a:r>
            <a:r>
              <a:rPr lang="en-US" altLang="zh-CN" sz="2400" b="1" dirty="0">
                <a:latin typeface="Times New Roman" pitchFamily="18" charset="0"/>
                <a:ea typeface="楷体_GB2312" pitchFamily="49" charset="-122"/>
                <a:cs typeface="Times New Roman" pitchFamily="18" charset="0"/>
              </a:rPr>
              <a:t> *)</a:t>
            </a:r>
            <a:r>
              <a:rPr lang="en-US" altLang="zh-CN" sz="2400" b="1" dirty="0" err="1">
                <a:latin typeface="Times New Roman" pitchFamily="18" charset="0"/>
                <a:ea typeface="楷体_GB2312" pitchFamily="49" charset="-122"/>
                <a:cs typeface="Times New Roman" pitchFamily="18" charset="0"/>
              </a:rPr>
              <a:t>malloc</a:t>
            </a:r>
            <a:r>
              <a:rPr lang="en-US" altLang="zh-CN" sz="2400" b="1" dirty="0">
                <a:latin typeface="Times New Roman" pitchFamily="18" charset="0"/>
                <a:ea typeface="楷体_GB2312" pitchFamily="49" charset="-122"/>
                <a:cs typeface="Times New Roman" pitchFamily="18" charset="0"/>
              </a:rPr>
              <a:t> (</a:t>
            </a:r>
            <a:r>
              <a:rPr lang="en-US" altLang="zh-CN" sz="2400" b="1" dirty="0" err="1">
                <a:latin typeface="Times New Roman" pitchFamily="18" charset="0"/>
                <a:ea typeface="楷体_GB2312" pitchFamily="49" charset="-122"/>
                <a:cs typeface="Times New Roman" pitchFamily="18" charset="0"/>
              </a:rPr>
              <a:t>sizeof</a:t>
            </a:r>
            <a:r>
              <a:rPr lang="en-US" altLang="zh-CN" sz="2400" b="1" dirty="0">
                <a:latin typeface="Times New Roman" pitchFamily="18" charset="0"/>
                <a:ea typeface="楷体_GB2312" pitchFamily="49" charset="-122"/>
                <a:cs typeface="Times New Roman" pitchFamily="18" charset="0"/>
              </a:rPr>
              <a:t>(</a:t>
            </a:r>
            <a:r>
              <a:rPr lang="en-US" altLang="zh-CN" sz="2400" b="1" dirty="0" err="1">
                <a:latin typeface="Times New Roman" pitchFamily="18" charset="0"/>
                <a:ea typeface="楷体_GB2312" pitchFamily="49" charset="-122"/>
                <a:cs typeface="Times New Roman" pitchFamily="18" charset="0"/>
              </a:rPr>
              <a:t>intNode</a:t>
            </a:r>
            <a:r>
              <a:rPr lang="en-US" altLang="zh-CN" sz="2400" b="1" dirty="0">
                <a:latin typeface="Times New Roman" pitchFamily="18" charset="0"/>
                <a:ea typeface="楷体_GB2312" pitchFamily="49" charset="-122"/>
                <a:cs typeface="Times New Roman" pitchFamily="18" charset="0"/>
              </a:rPr>
              <a:t>)); </a:t>
            </a:r>
          </a:p>
          <a:p>
            <a:pPr marL="0" indent="0" eaLnBrk="1" hangingPunct="1">
              <a:lnSpc>
                <a:spcPct val="80000"/>
              </a:lnSpc>
              <a:buFont typeface="Monotype Sorts" pitchFamily="2" charset="2"/>
              <a:buNone/>
              <a:defRPr/>
            </a:pPr>
            <a:r>
              <a:rPr lang="zh-CN" altLang="en-US" sz="2400" b="1" dirty="0">
                <a:latin typeface="Times New Roman" pitchFamily="18" charset="0"/>
                <a:ea typeface="楷体_GB2312" pitchFamily="49" charset="-122"/>
                <a:cs typeface="Times New Roman" pitchFamily="18" charset="0"/>
              </a:rPr>
              <a:t>　  </a:t>
            </a:r>
            <a:r>
              <a:rPr lang="en-US" altLang="zh-CN" sz="2400" b="1" dirty="0" err="1">
                <a:latin typeface="Times New Roman" pitchFamily="18" charset="0"/>
                <a:ea typeface="楷体_GB2312" pitchFamily="49" charset="-122"/>
                <a:cs typeface="Times New Roman" pitchFamily="18" charset="0"/>
              </a:rPr>
              <a:t>printf</a:t>
            </a:r>
            <a:r>
              <a:rPr lang="en-US" altLang="zh-CN" sz="2400" b="1" dirty="0">
                <a:latin typeface="Times New Roman" pitchFamily="18" charset="0"/>
                <a:ea typeface="楷体_GB2312" pitchFamily="49" charset="-122"/>
                <a:cs typeface="Times New Roman" pitchFamily="18" charset="0"/>
              </a:rPr>
              <a:t> ("</a:t>
            </a:r>
            <a:r>
              <a:rPr lang="zh-CN" altLang="en-US" sz="2000" b="1" dirty="0">
                <a:latin typeface="Times New Roman" pitchFamily="18" charset="0"/>
                <a:ea typeface="楷体_GB2312" pitchFamily="49" charset="-122"/>
                <a:cs typeface="Times New Roman" pitchFamily="18" charset="0"/>
              </a:rPr>
              <a:t>请输入一个整型数据： </a:t>
            </a:r>
            <a:r>
              <a:rPr lang="en-US" altLang="zh-CN" sz="2400" b="1" dirty="0">
                <a:latin typeface="Times New Roman" pitchFamily="18" charset="0"/>
                <a:ea typeface="楷体_GB2312" pitchFamily="49" charset="-122"/>
                <a:cs typeface="Times New Roman" pitchFamily="18" charset="0"/>
              </a:rPr>
              <a:t>");</a:t>
            </a:r>
          </a:p>
          <a:p>
            <a:pPr marL="0" indent="0" eaLnBrk="1" hangingPunct="1">
              <a:lnSpc>
                <a:spcPct val="80000"/>
              </a:lnSpc>
              <a:buFont typeface="Monotype Sorts" pitchFamily="2" charset="2"/>
              <a:buNone/>
              <a:defRPr/>
            </a:pPr>
            <a:r>
              <a:rPr lang="en-US" altLang="zh-CN" sz="2400" b="1" dirty="0">
                <a:latin typeface="Times New Roman" pitchFamily="18" charset="0"/>
                <a:ea typeface="楷体_GB2312" pitchFamily="49" charset="-122"/>
                <a:cs typeface="Times New Roman" pitchFamily="18" charset="0"/>
              </a:rPr>
              <a:t>      </a:t>
            </a:r>
            <a:r>
              <a:rPr lang="en-US" altLang="zh-CN" sz="2400" b="1" dirty="0" err="1">
                <a:latin typeface="Times New Roman" pitchFamily="18" charset="0"/>
                <a:ea typeface="楷体_GB2312" pitchFamily="49" charset="-122"/>
                <a:cs typeface="Times New Roman" pitchFamily="18" charset="0"/>
              </a:rPr>
              <a:t>scanf</a:t>
            </a:r>
            <a:r>
              <a:rPr lang="en-US" altLang="zh-CN" sz="2400" b="1" dirty="0">
                <a:latin typeface="Times New Roman" pitchFamily="18" charset="0"/>
                <a:ea typeface="楷体_GB2312" pitchFamily="49" charset="-122"/>
                <a:cs typeface="Times New Roman" pitchFamily="18" charset="0"/>
              </a:rPr>
              <a:t> ("%d", &amp; p-&gt;value);/* </a:t>
            </a:r>
            <a:r>
              <a:rPr lang="zh-CN" altLang="en-US" sz="2400" b="1" dirty="0">
                <a:latin typeface="Times New Roman" pitchFamily="18" charset="0"/>
                <a:ea typeface="楷体_GB2312" pitchFamily="49" charset="-122"/>
                <a:cs typeface="Times New Roman" pitchFamily="18" charset="0"/>
              </a:rPr>
              <a:t>输入的整数存入新表元 *</a:t>
            </a:r>
            <a:r>
              <a:rPr lang="en-US" altLang="zh-CN" sz="2400" b="1" dirty="0">
                <a:latin typeface="Times New Roman" pitchFamily="18" charset="0"/>
                <a:ea typeface="楷体_GB2312" pitchFamily="49" charset="-122"/>
                <a:cs typeface="Times New Roman" pitchFamily="18" charset="0"/>
              </a:rPr>
              <a:t>/</a:t>
            </a:r>
          </a:p>
          <a:p>
            <a:pPr marL="0" indent="0" eaLnBrk="1" hangingPunct="1">
              <a:lnSpc>
                <a:spcPct val="80000"/>
              </a:lnSpc>
              <a:buFont typeface="Monotype Sorts" pitchFamily="2" charset="2"/>
              <a:buNone/>
              <a:defRPr/>
            </a:pPr>
            <a:r>
              <a:rPr lang="en-US" altLang="zh-CN" sz="2400" b="1" dirty="0">
                <a:latin typeface="Times New Roman" pitchFamily="18" charset="0"/>
                <a:ea typeface="楷体_GB2312" pitchFamily="49" charset="-122"/>
                <a:cs typeface="Times New Roman" pitchFamily="18" charset="0"/>
              </a:rPr>
              <a:t>      v = head; 	/* </a:t>
            </a:r>
            <a:r>
              <a:rPr lang="zh-CN" altLang="en-US" sz="2400" b="1" dirty="0">
                <a:latin typeface="Times New Roman" pitchFamily="18" charset="0"/>
                <a:ea typeface="楷体_GB2312" pitchFamily="49" charset="-122"/>
                <a:cs typeface="Times New Roman" pitchFamily="18" charset="0"/>
              </a:rPr>
              <a:t>从首表元开始寻找插入位置 *</a:t>
            </a:r>
            <a:r>
              <a:rPr lang="en-US" altLang="zh-CN" sz="2400" b="1" dirty="0">
                <a:latin typeface="Times New Roman" pitchFamily="18" charset="0"/>
                <a:ea typeface="楷体_GB2312" pitchFamily="49" charset="-122"/>
                <a:cs typeface="Times New Roman" pitchFamily="18" charset="0"/>
              </a:rPr>
              <a:t>/</a:t>
            </a:r>
          </a:p>
          <a:p>
            <a:pPr marL="0" indent="0" eaLnBrk="1" hangingPunct="1">
              <a:lnSpc>
                <a:spcPct val="80000"/>
              </a:lnSpc>
              <a:buFont typeface="Monotype Sorts" pitchFamily="2" charset="2"/>
              <a:buNone/>
              <a:defRPr/>
            </a:pPr>
            <a:r>
              <a:rPr lang="en-US" altLang="zh-CN" sz="2400" b="1" dirty="0">
                <a:latin typeface="Times New Roman" pitchFamily="18" charset="0"/>
                <a:ea typeface="楷体_GB2312" pitchFamily="49" charset="-122"/>
                <a:cs typeface="Times New Roman" pitchFamily="18" charset="0"/>
              </a:rPr>
              <a:t>      while(v != NULL &amp;&amp; p-&gt;value &gt; v-&gt;value) </a:t>
            </a:r>
            <a:r>
              <a:rPr lang="en-US" altLang="zh-CN" sz="1800" b="1" dirty="0">
                <a:latin typeface="Times New Roman" pitchFamily="18" charset="0"/>
                <a:ea typeface="楷体_GB2312" pitchFamily="49" charset="-122"/>
                <a:cs typeface="Times New Roman" pitchFamily="18" charset="0"/>
              </a:rPr>
              <a:t>//</a:t>
            </a:r>
            <a:r>
              <a:rPr lang="zh-CN" altLang="en-US" sz="1800" b="1" dirty="0">
                <a:latin typeface="Times New Roman" pitchFamily="18" charset="0"/>
                <a:ea typeface="楷体_GB2312" pitchFamily="49" charset="-122"/>
                <a:cs typeface="Times New Roman" pitchFamily="18" charset="0"/>
              </a:rPr>
              <a:t>寻找要插入的位置</a:t>
            </a:r>
            <a:endParaRPr lang="zh-CN" altLang="en-US" sz="2400" b="1" dirty="0">
              <a:latin typeface="Times New Roman" pitchFamily="18" charset="0"/>
              <a:ea typeface="楷体_GB2312" pitchFamily="49" charset="-122"/>
              <a:cs typeface="Times New Roman" pitchFamily="18" charset="0"/>
            </a:endParaRPr>
          </a:p>
          <a:p>
            <a:pPr marL="0" indent="0" eaLnBrk="1" hangingPunct="1">
              <a:lnSpc>
                <a:spcPct val="80000"/>
              </a:lnSpc>
              <a:buFont typeface="Monotype Sorts" pitchFamily="2" charset="2"/>
              <a:buNone/>
              <a:defRPr/>
            </a:pPr>
            <a:r>
              <a:rPr lang="zh-CN" altLang="en-US" sz="2400" b="1" dirty="0">
                <a:latin typeface="Times New Roman" pitchFamily="18" charset="0"/>
                <a:ea typeface="楷体_GB2312" pitchFamily="49" charset="-122"/>
                <a:cs typeface="Times New Roman" pitchFamily="18" charset="0"/>
              </a:rPr>
              <a:t>      </a:t>
            </a:r>
            <a:r>
              <a:rPr lang="en-US" altLang="zh-CN" sz="2400" b="1" dirty="0">
                <a:latin typeface="Times New Roman" pitchFamily="18" charset="0"/>
                <a:ea typeface="楷体_GB2312" pitchFamily="49" charset="-122"/>
                <a:cs typeface="Times New Roman" pitchFamily="18" charset="0"/>
              </a:rPr>
              <a:t>{</a:t>
            </a:r>
            <a:r>
              <a:rPr lang="en-US" altLang="zh-CN" sz="2400" b="1" dirty="0">
                <a:solidFill>
                  <a:srgbClr val="FF0000"/>
                </a:solidFill>
                <a:latin typeface="Times New Roman" pitchFamily="18" charset="0"/>
                <a:ea typeface="楷体_GB2312" pitchFamily="49" charset="-122"/>
                <a:cs typeface="Times New Roman" pitchFamily="18" charset="0"/>
              </a:rPr>
              <a:t>u = v</a:t>
            </a:r>
            <a:r>
              <a:rPr lang="en-US" altLang="zh-CN" sz="2400" b="1" dirty="0">
                <a:latin typeface="Times New Roman" pitchFamily="18" charset="0"/>
                <a:ea typeface="楷体_GB2312" pitchFamily="49" charset="-122"/>
                <a:cs typeface="Times New Roman" pitchFamily="18" charset="0"/>
              </a:rPr>
              <a:t>; v = v-&gt;next; </a:t>
            </a:r>
            <a:r>
              <a:rPr lang="en-US" altLang="zh-CN" sz="2000" b="1" dirty="0">
                <a:latin typeface="Times New Roman" pitchFamily="18" charset="0"/>
                <a:ea typeface="楷体_GB2312" pitchFamily="49" charset="-122"/>
                <a:cs typeface="Times New Roman" pitchFamily="18" charset="0"/>
              </a:rPr>
              <a:t>}//</a:t>
            </a:r>
            <a:r>
              <a:rPr lang="zh-CN" altLang="en-US" sz="2000" b="1" dirty="0">
                <a:solidFill>
                  <a:srgbClr val="C00000"/>
                </a:solidFill>
                <a:latin typeface="Times New Roman" pitchFamily="18" charset="0"/>
                <a:ea typeface="楷体_GB2312" pitchFamily="49" charset="-122"/>
                <a:cs typeface="Times New Roman" pitchFamily="18" charset="0"/>
              </a:rPr>
              <a:t>保存前驱表元指针，并考察下一个表元</a:t>
            </a:r>
            <a:endParaRPr lang="zh-CN" altLang="en-US" sz="2400" b="1" dirty="0">
              <a:solidFill>
                <a:srgbClr val="C00000"/>
              </a:solidFill>
              <a:latin typeface="Times New Roman" pitchFamily="18" charset="0"/>
              <a:ea typeface="楷体_GB2312" pitchFamily="49" charset="-122"/>
              <a:cs typeface="Times New Roman" pitchFamily="18" charset="0"/>
            </a:endParaRPr>
          </a:p>
          <a:p>
            <a:pPr marL="0" indent="0" eaLnBrk="1" hangingPunct="1">
              <a:lnSpc>
                <a:spcPct val="80000"/>
              </a:lnSpc>
              <a:buFont typeface="Monotype Sorts" pitchFamily="2" charset="2"/>
              <a:buNone/>
              <a:defRPr/>
            </a:pPr>
            <a:r>
              <a:rPr lang="zh-CN" altLang="en-US" sz="2400" b="1" dirty="0">
                <a:latin typeface="Times New Roman" pitchFamily="18" charset="0"/>
                <a:ea typeface="楷体_GB2312" pitchFamily="49" charset="-122"/>
                <a:cs typeface="Times New Roman" pitchFamily="18" charset="0"/>
              </a:rPr>
              <a:t>      </a:t>
            </a:r>
            <a:r>
              <a:rPr lang="en-US" altLang="zh-CN" sz="2400" b="1" dirty="0">
                <a:latin typeface="Times New Roman" pitchFamily="18" charset="0"/>
                <a:ea typeface="楷体_GB2312" pitchFamily="49" charset="-122"/>
                <a:cs typeface="Times New Roman" pitchFamily="18" charset="0"/>
              </a:rPr>
              <a:t>if(v == head)  head = p;</a:t>
            </a:r>
            <a:r>
              <a:rPr lang="en-US" altLang="zh-CN" sz="2000" b="1" dirty="0">
                <a:latin typeface="Times New Roman" pitchFamily="18" charset="0"/>
                <a:ea typeface="楷体_GB2312" pitchFamily="49" charset="-122"/>
                <a:cs typeface="Times New Roman" pitchFamily="18" charset="0"/>
              </a:rPr>
              <a:t>/* </a:t>
            </a:r>
            <a:r>
              <a:rPr lang="zh-CN" altLang="en-US" sz="2000" b="1" dirty="0">
                <a:latin typeface="Times New Roman" pitchFamily="18" charset="0"/>
                <a:ea typeface="楷体_GB2312" pitchFamily="49" charset="-122"/>
                <a:cs typeface="Times New Roman" pitchFamily="18" charset="0"/>
              </a:rPr>
              <a:t>新表元插在首表元之前 *</a:t>
            </a:r>
            <a:r>
              <a:rPr lang="en-US" altLang="zh-CN" sz="2000" b="1" dirty="0">
                <a:latin typeface="Times New Roman" pitchFamily="18" charset="0"/>
                <a:ea typeface="楷体_GB2312" pitchFamily="49" charset="-122"/>
                <a:cs typeface="Times New Roman" pitchFamily="18" charset="0"/>
              </a:rPr>
              <a:t>/</a:t>
            </a:r>
            <a:endParaRPr lang="en-US" altLang="zh-CN" sz="2400" b="1" dirty="0">
              <a:latin typeface="Times New Roman" pitchFamily="18" charset="0"/>
              <a:ea typeface="楷体_GB2312" pitchFamily="49" charset="-122"/>
              <a:cs typeface="Times New Roman" pitchFamily="18" charset="0"/>
            </a:endParaRPr>
          </a:p>
          <a:p>
            <a:pPr marL="0" indent="0" eaLnBrk="1" hangingPunct="1">
              <a:lnSpc>
                <a:spcPct val="80000"/>
              </a:lnSpc>
              <a:buFont typeface="Monotype Sorts" pitchFamily="2" charset="2"/>
              <a:buNone/>
              <a:defRPr/>
            </a:pPr>
            <a:r>
              <a:rPr lang="en-US" altLang="zh-CN" sz="2400" b="1" dirty="0">
                <a:latin typeface="Times New Roman" pitchFamily="18" charset="0"/>
                <a:ea typeface="楷体_GB2312" pitchFamily="49" charset="-122"/>
                <a:cs typeface="Times New Roman" pitchFamily="18" charset="0"/>
              </a:rPr>
              <a:t>      else  u-&gt;next=p</a:t>
            </a:r>
            <a:r>
              <a:rPr lang="en-US" altLang="zh-CN" sz="2000" b="1" dirty="0">
                <a:latin typeface="Times New Roman" pitchFamily="18" charset="0"/>
                <a:ea typeface="楷体_GB2312" pitchFamily="49" charset="-122"/>
                <a:cs typeface="Times New Roman" pitchFamily="18" charset="0"/>
              </a:rPr>
              <a:t>;//</a:t>
            </a:r>
            <a:r>
              <a:rPr lang="zh-CN" altLang="en-US" sz="2000" b="1" dirty="0">
                <a:latin typeface="Times New Roman" pitchFamily="18" charset="0"/>
                <a:ea typeface="楷体_GB2312" pitchFamily="49" charset="-122"/>
                <a:cs typeface="Times New Roman" pitchFamily="18" charset="0"/>
              </a:rPr>
              <a:t>新表元插在</a:t>
            </a:r>
            <a:r>
              <a:rPr lang="en-US" altLang="zh-CN" sz="2000" b="1" dirty="0">
                <a:latin typeface="Times New Roman" pitchFamily="18" charset="0"/>
                <a:ea typeface="楷体_GB2312" pitchFamily="49" charset="-122"/>
                <a:cs typeface="Times New Roman" pitchFamily="18" charset="0"/>
              </a:rPr>
              <a:t>u</a:t>
            </a:r>
            <a:r>
              <a:rPr lang="zh-CN" altLang="en-US" sz="2000" b="1" dirty="0">
                <a:latin typeface="Times New Roman" pitchFamily="18" charset="0"/>
                <a:ea typeface="楷体_GB2312" pitchFamily="49" charset="-122"/>
                <a:cs typeface="Times New Roman" pitchFamily="18" charset="0"/>
              </a:rPr>
              <a:t>所指表元之后，</a:t>
            </a:r>
            <a:r>
              <a:rPr lang="en-US" altLang="zh-CN" sz="2000" b="1" dirty="0">
                <a:latin typeface="Times New Roman" pitchFamily="18" charset="0"/>
                <a:ea typeface="楷体_GB2312" pitchFamily="49" charset="-122"/>
                <a:cs typeface="Times New Roman" pitchFamily="18" charset="0"/>
              </a:rPr>
              <a:t>v</a:t>
            </a:r>
            <a:r>
              <a:rPr lang="zh-CN" altLang="en-US" sz="2000" b="1" dirty="0">
                <a:latin typeface="Times New Roman" pitchFamily="18" charset="0"/>
                <a:ea typeface="楷体_GB2312" pitchFamily="49" charset="-122"/>
                <a:cs typeface="Times New Roman" pitchFamily="18" charset="0"/>
              </a:rPr>
              <a:t>所指表元之前 </a:t>
            </a:r>
            <a:endParaRPr lang="zh-CN" altLang="en-US" sz="2400" b="1" dirty="0">
              <a:latin typeface="Times New Roman" pitchFamily="18" charset="0"/>
              <a:ea typeface="楷体_GB2312" pitchFamily="49" charset="-122"/>
              <a:cs typeface="Times New Roman" pitchFamily="18" charset="0"/>
            </a:endParaRPr>
          </a:p>
          <a:p>
            <a:pPr marL="0" indent="0" eaLnBrk="1" hangingPunct="1">
              <a:lnSpc>
                <a:spcPct val="80000"/>
              </a:lnSpc>
              <a:buFont typeface="Monotype Sorts" pitchFamily="2" charset="2"/>
              <a:buNone/>
              <a:defRPr/>
            </a:pPr>
            <a:r>
              <a:rPr lang="zh-CN" altLang="en-US" sz="2400" b="1" dirty="0">
                <a:latin typeface="Times New Roman" pitchFamily="18" charset="0"/>
                <a:ea typeface="楷体_GB2312" pitchFamily="49" charset="-122"/>
                <a:cs typeface="Times New Roman" pitchFamily="18" charset="0"/>
              </a:rPr>
              <a:t>      </a:t>
            </a:r>
            <a:r>
              <a:rPr lang="en-US" altLang="zh-CN" sz="2400" b="1" dirty="0">
                <a:latin typeface="Times New Roman" pitchFamily="18" charset="0"/>
                <a:ea typeface="楷体_GB2312" pitchFamily="49" charset="-122"/>
                <a:cs typeface="Times New Roman" pitchFamily="18" charset="0"/>
              </a:rPr>
              <a:t>p-&gt;next = v; 	</a:t>
            </a:r>
          </a:p>
          <a:p>
            <a:pPr marL="0" indent="0" eaLnBrk="1" hangingPunct="1">
              <a:lnSpc>
                <a:spcPct val="80000"/>
              </a:lnSpc>
              <a:buFont typeface="Monotype Sorts" pitchFamily="2" charset="2"/>
              <a:buNone/>
              <a:defRPr/>
            </a:pPr>
            <a:r>
              <a:rPr lang="en-US" altLang="zh-CN" sz="2400" b="1" dirty="0">
                <a:latin typeface="Times New Roman" pitchFamily="18" charset="0"/>
                <a:ea typeface="楷体_GB2312" pitchFamily="49" charset="-122"/>
                <a:cs typeface="Times New Roman" pitchFamily="18" charset="0"/>
              </a:rPr>
              <a:t>  }	</a:t>
            </a:r>
          </a:p>
          <a:p>
            <a:pPr marL="0" indent="0" eaLnBrk="1" hangingPunct="1">
              <a:lnSpc>
                <a:spcPct val="80000"/>
              </a:lnSpc>
              <a:buFont typeface="Monotype Sorts" pitchFamily="2" charset="2"/>
              <a:buNone/>
              <a:defRPr/>
            </a:pPr>
            <a:r>
              <a:rPr lang="en-US" altLang="zh-CN" sz="2400" b="1" dirty="0">
                <a:latin typeface="Times New Roman" pitchFamily="18" charset="0"/>
                <a:ea typeface="楷体_GB2312" pitchFamily="49" charset="-122"/>
                <a:cs typeface="Times New Roman" pitchFamily="18" charset="0"/>
              </a:rPr>
              <a:t>  return head;	/* </a:t>
            </a:r>
            <a:r>
              <a:rPr lang="zh-CN" altLang="en-US" sz="2400" b="1" dirty="0">
                <a:latin typeface="Times New Roman" pitchFamily="18" charset="0"/>
                <a:ea typeface="楷体_GB2312" pitchFamily="49" charset="-122"/>
                <a:cs typeface="Times New Roman" pitchFamily="18" charset="0"/>
              </a:rPr>
              <a:t>返回链表的头指针</a:t>
            </a:r>
            <a:r>
              <a:rPr lang="en-US" altLang="zh-CN" sz="2400" b="1" dirty="0">
                <a:latin typeface="Times New Roman" pitchFamily="18" charset="0"/>
                <a:ea typeface="楷体_GB2312" pitchFamily="49" charset="-122"/>
                <a:cs typeface="Times New Roman" pitchFamily="18" charset="0"/>
              </a:rPr>
              <a:t>head */</a:t>
            </a:r>
          </a:p>
          <a:p>
            <a:pPr marL="0" indent="0" eaLnBrk="1" hangingPunct="1">
              <a:lnSpc>
                <a:spcPct val="80000"/>
              </a:lnSpc>
              <a:buFont typeface="Monotype Sorts" pitchFamily="2" charset="2"/>
              <a:buNone/>
              <a:defRPr/>
            </a:pPr>
            <a:r>
              <a:rPr lang="en-US" altLang="zh-CN" sz="2400" b="1" dirty="0">
                <a:latin typeface="Times New Roman" pitchFamily="18" charset="0"/>
                <a:ea typeface="楷体_GB2312" pitchFamily="49" charset="-122"/>
                <a:cs typeface="Times New Roman" pitchFamily="18" charset="0"/>
              </a:rPr>
              <a:t>}</a:t>
            </a:r>
          </a:p>
        </p:txBody>
      </p:sp>
      <p:sp>
        <p:nvSpPr>
          <p:cNvPr id="5" name="灯片编号占位符 5"/>
          <p:cNvSpPr>
            <a:spLocks noGrp="1"/>
          </p:cNvSpPr>
          <p:nvPr>
            <p:ph type="sldNum" sz="quarter" idx="12"/>
          </p:nvPr>
        </p:nvSpPr>
        <p:spPr/>
        <p:txBody>
          <a:bodyPr/>
          <a:lstStyle/>
          <a:p>
            <a:pPr>
              <a:defRPr/>
            </a:pPr>
            <a:fld id="{43F7A42F-1315-42A2-AC9A-3790B040B6A9}" type="slidenum">
              <a:rPr lang="en-US" altLang="zh-CN"/>
              <a:pPr>
                <a:defRPr/>
              </a:pPr>
              <a:t>104</a:t>
            </a:fld>
            <a:endParaRPr lang="en-US" altLang="zh-CN"/>
          </a:p>
        </p:txBody>
      </p:sp>
      <p:sp>
        <p:nvSpPr>
          <p:cNvPr id="2" name="矩形 1"/>
          <p:cNvSpPr/>
          <p:nvPr/>
        </p:nvSpPr>
        <p:spPr>
          <a:xfrm>
            <a:off x="2843808" y="4221088"/>
            <a:ext cx="1224136"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619672" y="4653136"/>
            <a:ext cx="1512168" cy="2775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043608" y="5024338"/>
            <a:ext cx="1656184" cy="3488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形标注 3"/>
          <p:cNvSpPr/>
          <p:nvPr/>
        </p:nvSpPr>
        <p:spPr>
          <a:xfrm>
            <a:off x="5043566" y="3861048"/>
            <a:ext cx="2736304" cy="864096"/>
          </a:xfrm>
          <a:prstGeom prst="wedgeEllipseCallout">
            <a:avLst>
              <a:gd name="adj1" fmla="val -132688"/>
              <a:gd name="adj2" fmla="val 5956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如果第一个元素就比要插入的大，则</a:t>
            </a:r>
            <a:r>
              <a:rPr lang="en-US" altLang="zh-CN" sz="1600" dirty="0"/>
              <a:t>u</a:t>
            </a:r>
            <a:r>
              <a:rPr lang="zh-CN" altLang="en-US" sz="1600" dirty="0"/>
              <a:t>没有赋值</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96322">
                                            <p:txEl>
                                              <p:pRg st="8" end="8"/>
                                            </p:txEl>
                                          </p:spTgt>
                                        </p:tgtEl>
                                        <p:attrNameLst>
                                          <p:attrName>style.visibility</p:attrName>
                                        </p:attrNameLst>
                                      </p:cBhvr>
                                      <p:to>
                                        <p:strVal val="visible"/>
                                      </p:to>
                                    </p:set>
                                    <p:anim calcmode="lin" valueType="num">
                                      <p:cBhvr additive="base">
                                        <p:cTn id="7" dur="500" fill="hold"/>
                                        <p:tgtEl>
                                          <p:spTgt spid="696322">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9632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96322">
                                            <p:txEl>
                                              <p:pRg st="9" end="9"/>
                                            </p:txEl>
                                          </p:spTgt>
                                        </p:tgtEl>
                                        <p:attrNameLst>
                                          <p:attrName>style.visibility</p:attrName>
                                        </p:attrNameLst>
                                      </p:cBhvr>
                                      <p:to>
                                        <p:strVal val="visible"/>
                                      </p:to>
                                    </p:set>
                                    <p:anim calcmode="lin" valueType="num">
                                      <p:cBhvr additive="base">
                                        <p:cTn id="13" dur="500" fill="hold"/>
                                        <p:tgtEl>
                                          <p:spTgt spid="696322">
                                            <p:txEl>
                                              <p:pRg st="9" end="9"/>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96322">
                                            <p:txEl>
                                              <p:pRg st="9" end="9"/>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696322">
                                            <p:txEl>
                                              <p:pRg st="10" end="10"/>
                                            </p:txEl>
                                          </p:spTgt>
                                        </p:tgtEl>
                                        <p:attrNameLst>
                                          <p:attrName>style.visibility</p:attrName>
                                        </p:attrNameLst>
                                      </p:cBhvr>
                                      <p:to>
                                        <p:strVal val="visible"/>
                                      </p:to>
                                    </p:set>
                                    <p:anim calcmode="lin" valueType="num">
                                      <p:cBhvr additive="base">
                                        <p:cTn id="17" dur="500" fill="hold"/>
                                        <p:tgtEl>
                                          <p:spTgt spid="696322">
                                            <p:txEl>
                                              <p:pRg st="10" end="1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96322">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696322">
                                            <p:txEl>
                                              <p:pRg st="11" end="11"/>
                                            </p:txEl>
                                          </p:spTgt>
                                        </p:tgtEl>
                                        <p:attrNameLst>
                                          <p:attrName>style.visibility</p:attrName>
                                        </p:attrNameLst>
                                      </p:cBhvr>
                                      <p:to>
                                        <p:strVal val="visible"/>
                                      </p:to>
                                    </p:set>
                                    <p:anim calcmode="lin" valueType="num">
                                      <p:cBhvr additive="base">
                                        <p:cTn id="23" dur="500" fill="hold"/>
                                        <p:tgtEl>
                                          <p:spTgt spid="696322">
                                            <p:txEl>
                                              <p:pRg st="11" end="1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96322">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xit" presetSubtype="4" fill="hold" grpId="0" nodeType="clickEffect">
                                  <p:stCondLst>
                                    <p:cond delay="0"/>
                                  </p:stCondLst>
                                  <p:childTnLst>
                                    <p:anim calcmode="lin" valueType="num">
                                      <p:cBhvr additive="base">
                                        <p:cTn id="28" dur="500"/>
                                        <p:tgtEl>
                                          <p:spTgt spid="2"/>
                                        </p:tgtEl>
                                        <p:attrNameLst>
                                          <p:attrName>ppt_x</p:attrName>
                                        </p:attrNameLst>
                                      </p:cBhvr>
                                      <p:tavLst>
                                        <p:tav tm="0">
                                          <p:val>
                                            <p:strVal val="ppt_x"/>
                                          </p:val>
                                        </p:tav>
                                        <p:tav tm="100000">
                                          <p:val>
                                            <p:strVal val="ppt_x"/>
                                          </p:val>
                                        </p:tav>
                                      </p:tavLst>
                                    </p:anim>
                                    <p:anim calcmode="lin" valueType="num">
                                      <p:cBhvr additive="base">
                                        <p:cTn id="29" dur="500"/>
                                        <p:tgtEl>
                                          <p:spTgt spid="2"/>
                                        </p:tgtEl>
                                        <p:attrNameLst>
                                          <p:attrName>ppt_y</p:attrName>
                                        </p:attrNameLst>
                                      </p:cBhvr>
                                      <p:tavLst>
                                        <p:tav tm="0">
                                          <p:val>
                                            <p:strVal val="ppt_y"/>
                                          </p:val>
                                        </p:tav>
                                        <p:tav tm="100000">
                                          <p:val>
                                            <p:strVal val="1+ppt_h/2"/>
                                          </p:val>
                                        </p:tav>
                                      </p:tavLst>
                                    </p:anim>
                                    <p:set>
                                      <p:cBhvr>
                                        <p:cTn id="30" dur="1" fill="hold">
                                          <p:stCondLst>
                                            <p:cond delay="499"/>
                                          </p:stCondLst>
                                        </p:cTn>
                                        <p:tgtEl>
                                          <p:spTgt spid="2"/>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696322">
                                            <p:txEl>
                                              <p:pRg st="12" end="12"/>
                                            </p:txEl>
                                          </p:spTgt>
                                        </p:tgtEl>
                                        <p:attrNameLst>
                                          <p:attrName>style.visibility</p:attrName>
                                        </p:attrNameLst>
                                      </p:cBhvr>
                                      <p:to>
                                        <p:strVal val="visible"/>
                                      </p:to>
                                    </p:set>
                                    <p:anim calcmode="lin" valueType="num">
                                      <p:cBhvr additive="base">
                                        <p:cTn id="35" dur="500" fill="hold"/>
                                        <p:tgtEl>
                                          <p:spTgt spid="696322">
                                            <p:txEl>
                                              <p:pRg st="12" end="1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96322">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xit" presetSubtype="4" fill="hold" grpId="0" nodeType="clickEffect">
                                  <p:stCondLst>
                                    <p:cond delay="0"/>
                                  </p:stCondLst>
                                  <p:childTnLst>
                                    <p:anim calcmode="lin" valueType="num">
                                      <p:cBhvr additive="base">
                                        <p:cTn id="40" dur="500"/>
                                        <p:tgtEl>
                                          <p:spTgt spid="6"/>
                                        </p:tgtEl>
                                        <p:attrNameLst>
                                          <p:attrName>ppt_x</p:attrName>
                                        </p:attrNameLst>
                                      </p:cBhvr>
                                      <p:tavLst>
                                        <p:tav tm="0">
                                          <p:val>
                                            <p:strVal val="ppt_x"/>
                                          </p:val>
                                        </p:tav>
                                        <p:tav tm="100000">
                                          <p:val>
                                            <p:strVal val="ppt_x"/>
                                          </p:val>
                                        </p:tav>
                                      </p:tavLst>
                                    </p:anim>
                                    <p:anim calcmode="lin" valueType="num">
                                      <p:cBhvr additive="base">
                                        <p:cTn id="41" dur="500"/>
                                        <p:tgtEl>
                                          <p:spTgt spid="6"/>
                                        </p:tgtEl>
                                        <p:attrNameLst>
                                          <p:attrName>ppt_y</p:attrName>
                                        </p:attrNameLst>
                                      </p:cBhvr>
                                      <p:tavLst>
                                        <p:tav tm="0">
                                          <p:val>
                                            <p:strVal val="ppt_y"/>
                                          </p:val>
                                        </p:tav>
                                        <p:tav tm="100000">
                                          <p:val>
                                            <p:strVal val="1+ppt_h/2"/>
                                          </p:val>
                                        </p:tav>
                                      </p:tavLst>
                                    </p:anim>
                                    <p:set>
                                      <p:cBhvr>
                                        <p:cTn id="42" dur="1" fill="hold">
                                          <p:stCondLst>
                                            <p:cond delay="499"/>
                                          </p:stCondLst>
                                        </p:cTn>
                                        <p:tgtEl>
                                          <p:spTgt spid="6"/>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4"/>
                                        </p:tgtEl>
                                        <p:attrNameLst>
                                          <p:attrName>style.visibility</p:attrName>
                                        </p:attrNameLst>
                                      </p:cBhvr>
                                      <p:to>
                                        <p:strVal val="visible"/>
                                      </p:to>
                                    </p:set>
                                    <p:anim calcmode="lin" valueType="num">
                                      <p:cBhvr additive="base">
                                        <p:cTn id="47" dur="500" fill="hold"/>
                                        <p:tgtEl>
                                          <p:spTgt spid="4"/>
                                        </p:tgtEl>
                                        <p:attrNameLst>
                                          <p:attrName>ppt_x</p:attrName>
                                        </p:attrNameLst>
                                      </p:cBhvr>
                                      <p:tavLst>
                                        <p:tav tm="0">
                                          <p:val>
                                            <p:strVal val="#ppt_x"/>
                                          </p:val>
                                        </p:tav>
                                        <p:tav tm="100000">
                                          <p:val>
                                            <p:strVal val="#ppt_x"/>
                                          </p:val>
                                        </p:tav>
                                      </p:tavLst>
                                    </p:anim>
                                    <p:anim calcmode="lin" valueType="num">
                                      <p:cBhvr additive="base">
                                        <p:cTn id="4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xit" presetSubtype="4" fill="hold" grpId="1" nodeType="clickEffect">
                                  <p:stCondLst>
                                    <p:cond delay="0"/>
                                  </p:stCondLst>
                                  <p:childTnLst>
                                    <p:anim calcmode="lin" valueType="num">
                                      <p:cBhvr additive="base">
                                        <p:cTn id="52" dur="500"/>
                                        <p:tgtEl>
                                          <p:spTgt spid="4"/>
                                        </p:tgtEl>
                                        <p:attrNameLst>
                                          <p:attrName>ppt_x</p:attrName>
                                        </p:attrNameLst>
                                      </p:cBhvr>
                                      <p:tavLst>
                                        <p:tav tm="0">
                                          <p:val>
                                            <p:strVal val="ppt_x"/>
                                          </p:val>
                                        </p:tav>
                                        <p:tav tm="100000">
                                          <p:val>
                                            <p:strVal val="ppt_x"/>
                                          </p:val>
                                        </p:tav>
                                      </p:tavLst>
                                    </p:anim>
                                    <p:anim calcmode="lin" valueType="num">
                                      <p:cBhvr additive="base">
                                        <p:cTn id="53" dur="500"/>
                                        <p:tgtEl>
                                          <p:spTgt spid="4"/>
                                        </p:tgtEl>
                                        <p:attrNameLst>
                                          <p:attrName>ppt_y</p:attrName>
                                        </p:attrNameLst>
                                      </p:cBhvr>
                                      <p:tavLst>
                                        <p:tav tm="0">
                                          <p:val>
                                            <p:strVal val="ppt_y"/>
                                          </p:val>
                                        </p:tav>
                                        <p:tav tm="100000">
                                          <p:val>
                                            <p:strVal val="1+ppt_h/2"/>
                                          </p:val>
                                        </p:tav>
                                      </p:tavLst>
                                    </p:anim>
                                    <p:set>
                                      <p:cBhvr>
                                        <p:cTn id="54" dur="1" fill="hold">
                                          <p:stCondLst>
                                            <p:cond delay="499"/>
                                          </p:stCondLst>
                                        </p:cTn>
                                        <p:tgtEl>
                                          <p:spTgt spid="4"/>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696322">
                                            <p:txEl>
                                              <p:pRg st="13" end="13"/>
                                            </p:txEl>
                                          </p:spTgt>
                                        </p:tgtEl>
                                        <p:attrNameLst>
                                          <p:attrName>style.visibility</p:attrName>
                                        </p:attrNameLst>
                                      </p:cBhvr>
                                      <p:to>
                                        <p:strVal val="visible"/>
                                      </p:to>
                                    </p:set>
                                    <p:anim calcmode="lin" valueType="num">
                                      <p:cBhvr additive="base">
                                        <p:cTn id="59" dur="500" fill="hold"/>
                                        <p:tgtEl>
                                          <p:spTgt spid="696322">
                                            <p:txEl>
                                              <p:pRg st="13" end="13"/>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696322">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xit" presetSubtype="4" fill="hold" grpId="0" nodeType="clickEffect">
                                  <p:stCondLst>
                                    <p:cond delay="0"/>
                                  </p:stCondLst>
                                  <p:childTnLst>
                                    <p:anim calcmode="lin" valueType="num">
                                      <p:cBhvr additive="base">
                                        <p:cTn id="64" dur="500"/>
                                        <p:tgtEl>
                                          <p:spTgt spid="7"/>
                                        </p:tgtEl>
                                        <p:attrNameLst>
                                          <p:attrName>ppt_x</p:attrName>
                                        </p:attrNameLst>
                                      </p:cBhvr>
                                      <p:tavLst>
                                        <p:tav tm="0">
                                          <p:val>
                                            <p:strVal val="ppt_x"/>
                                          </p:val>
                                        </p:tav>
                                        <p:tav tm="100000">
                                          <p:val>
                                            <p:strVal val="ppt_x"/>
                                          </p:val>
                                        </p:tav>
                                      </p:tavLst>
                                    </p:anim>
                                    <p:anim calcmode="lin" valueType="num">
                                      <p:cBhvr additive="base">
                                        <p:cTn id="65" dur="500"/>
                                        <p:tgtEl>
                                          <p:spTgt spid="7"/>
                                        </p:tgtEl>
                                        <p:attrNameLst>
                                          <p:attrName>ppt_y</p:attrName>
                                        </p:attrNameLst>
                                      </p:cBhvr>
                                      <p:tavLst>
                                        <p:tav tm="0">
                                          <p:val>
                                            <p:strVal val="ppt_y"/>
                                          </p:val>
                                        </p:tav>
                                        <p:tav tm="100000">
                                          <p:val>
                                            <p:strVal val="1+ppt_h/2"/>
                                          </p:val>
                                        </p:tav>
                                      </p:tavLst>
                                    </p:anim>
                                    <p:set>
                                      <p:cBhvr>
                                        <p:cTn id="66"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4" grpId="0" animBg="1"/>
      <p:bldP spid="4" grpId="1"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99392"/>
            <a:ext cx="8229600" cy="566936"/>
          </a:xfrm>
        </p:spPr>
        <p:txBody>
          <a:bodyPr>
            <a:normAutofit/>
          </a:bodyPr>
          <a:lstStyle/>
          <a:p>
            <a:r>
              <a:rPr lang="zh-CN" altLang="en-US" sz="2400" dirty="0"/>
              <a:t>冒泡排序</a:t>
            </a:r>
          </a:p>
        </p:txBody>
      </p:sp>
      <p:sp>
        <p:nvSpPr>
          <p:cNvPr id="3" name="内容占位符 2"/>
          <p:cNvSpPr>
            <a:spLocks noGrp="1"/>
          </p:cNvSpPr>
          <p:nvPr>
            <p:ph idx="1"/>
          </p:nvPr>
        </p:nvSpPr>
        <p:spPr>
          <a:xfrm>
            <a:off x="457200" y="467544"/>
            <a:ext cx="8229600" cy="5888806"/>
          </a:xfrm>
        </p:spPr>
        <p:txBody>
          <a:bodyPr>
            <a:noAutofit/>
          </a:bodyPr>
          <a:lstStyle/>
          <a:p>
            <a:r>
              <a:rPr lang="en-US" altLang="zh-CN" sz="1600" dirty="0"/>
              <a:t>void </a:t>
            </a:r>
            <a:r>
              <a:rPr lang="en-US" altLang="zh-CN" sz="1600" dirty="0" err="1"/>
              <a:t>bubbleSort</a:t>
            </a:r>
            <a:r>
              <a:rPr lang="en-US" altLang="zh-CN" sz="1600" dirty="0"/>
              <a:t>(struct </a:t>
            </a:r>
            <a:r>
              <a:rPr lang="en-US" altLang="zh-CN" sz="1600" dirty="0" err="1"/>
              <a:t>ListNode</a:t>
            </a:r>
            <a:r>
              <a:rPr lang="en-US" altLang="zh-CN" sz="1600" dirty="0"/>
              <a:t>* head) {  </a:t>
            </a:r>
          </a:p>
          <a:p>
            <a:r>
              <a:rPr lang="en-US" altLang="zh-CN" sz="1600" dirty="0"/>
              <a:t>    if (head == NULL) return;    // </a:t>
            </a:r>
            <a:r>
              <a:rPr lang="zh-CN" altLang="en-US" sz="1600" dirty="0"/>
              <a:t>检查链表是否为空  </a:t>
            </a:r>
          </a:p>
          <a:p>
            <a:r>
              <a:rPr lang="zh-CN" altLang="en-US" sz="1600" dirty="0"/>
              <a:t>    </a:t>
            </a:r>
            <a:r>
              <a:rPr lang="en-US" altLang="zh-CN" sz="1600" dirty="0"/>
              <a:t>struct </a:t>
            </a:r>
            <a:r>
              <a:rPr lang="en-US" altLang="zh-CN" sz="1600" dirty="0" err="1"/>
              <a:t>ListNode</a:t>
            </a:r>
            <a:r>
              <a:rPr lang="en-US" altLang="zh-CN" sz="1600" dirty="0"/>
              <a:t>* ptr1;  </a:t>
            </a:r>
          </a:p>
          <a:p>
            <a:r>
              <a:rPr lang="en-US" altLang="zh-CN" sz="1600" dirty="0"/>
              <a:t>    struct </a:t>
            </a:r>
            <a:r>
              <a:rPr lang="en-US" altLang="zh-CN" sz="1600" dirty="0" err="1"/>
              <a:t>ListNode</a:t>
            </a:r>
            <a:r>
              <a:rPr lang="en-US" altLang="zh-CN" sz="1600" dirty="0"/>
              <a:t>* </a:t>
            </a:r>
            <a:r>
              <a:rPr lang="en-US" altLang="zh-CN" sz="1600" dirty="0" err="1"/>
              <a:t>lptr</a:t>
            </a:r>
            <a:r>
              <a:rPr lang="en-US" altLang="zh-CN" sz="1600" dirty="0"/>
              <a:t> = NULL;  // </a:t>
            </a:r>
            <a:r>
              <a:rPr lang="zh-CN" altLang="en-US" sz="1600" dirty="0"/>
              <a:t>最后一次交换的位置  </a:t>
            </a:r>
          </a:p>
          <a:p>
            <a:r>
              <a:rPr lang="zh-CN" altLang="en-US" sz="1600" dirty="0"/>
              <a:t>    </a:t>
            </a:r>
            <a:r>
              <a:rPr lang="en-US" altLang="zh-CN" sz="1600" dirty="0"/>
              <a:t>while (1) { // </a:t>
            </a:r>
            <a:r>
              <a:rPr lang="zh-CN" altLang="en-US" sz="1600" dirty="0"/>
              <a:t>终止条件在于 </a:t>
            </a:r>
            <a:r>
              <a:rPr lang="en-US" altLang="zh-CN" sz="1600" dirty="0" err="1"/>
              <a:t>lptr</a:t>
            </a:r>
            <a:r>
              <a:rPr lang="en-US" altLang="zh-CN" sz="1600" dirty="0"/>
              <a:t>  </a:t>
            </a:r>
          </a:p>
          <a:p>
            <a:r>
              <a:rPr lang="en-US" altLang="zh-CN" sz="1600" dirty="0"/>
              <a:t>        ptr1 = head; // </a:t>
            </a:r>
            <a:r>
              <a:rPr lang="zh-CN" altLang="en-US" sz="1600" dirty="0"/>
              <a:t>每次从头开始  </a:t>
            </a:r>
          </a:p>
          <a:p>
            <a:r>
              <a:rPr lang="zh-CN" altLang="en-US" sz="1600" dirty="0"/>
              <a:t>        </a:t>
            </a:r>
            <a:r>
              <a:rPr lang="en-US" altLang="zh-CN" sz="1600" dirty="0"/>
              <a:t>struct </a:t>
            </a:r>
            <a:r>
              <a:rPr lang="en-US" altLang="zh-CN" sz="1600" dirty="0" err="1"/>
              <a:t>ListNode</a:t>
            </a:r>
            <a:r>
              <a:rPr lang="en-US" altLang="zh-CN" sz="1600" dirty="0"/>
              <a:t>* </a:t>
            </a:r>
            <a:r>
              <a:rPr lang="en-US" altLang="zh-CN" sz="1600" dirty="0" err="1"/>
              <a:t>lastSwap</a:t>
            </a:r>
            <a:r>
              <a:rPr lang="en-US" altLang="zh-CN" sz="1600" dirty="0"/>
              <a:t> = NULL; // </a:t>
            </a:r>
            <a:r>
              <a:rPr lang="zh-CN" altLang="en-US" sz="1600" dirty="0"/>
              <a:t>当前轮次最后交换的位置  </a:t>
            </a:r>
          </a:p>
          <a:p>
            <a:r>
              <a:rPr lang="zh-CN" altLang="en-US" sz="1600" dirty="0"/>
              <a:t>        </a:t>
            </a:r>
            <a:r>
              <a:rPr lang="en-US" altLang="zh-CN" sz="1600" dirty="0"/>
              <a:t>while (ptr1-&gt;next != </a:t>
            </a:r>
            <a:r>
              <a:rPr lang="en-US" altLang="zh-CN" sz="1600" dirty="0" err="1"/>
              <a:t>lptr</a:t>
            </a:r>
            <a:r>
              <a:rPr lang="en-US" altLang="zh-CN" sz="1600" dirty="0"/>
              <a:t>) {  </a:t>
            </a:r>
          </a:p>
          <a:p>
            <a:r>
              <a:rPr lang="en-US" altLang="zh-CN" sz="1600" dirty="0"/>
              <a:t>            if (ptr1-&gt;</a:t>
            </a:r>
            <a:r>
              <a:rPr lang="en-US" altLang="zh-CN" sz="1600" dirty="0" err="1"/>
              <a:t>val</a:t>
            </a:r>
            <a:r>
              <a:rPr lang="en-US" altLang="zh-CN" sz="1600" dirty="0"/>
              <a:t> &gt; ptr1-&gt;next-&gt;</a:t>
            </a:r>
            <a:r>
              <a:rPr lang="en-US" altLang="zh-CN" sz="1600" dirty="0" err="1"/>
              <a:t>val</a:t>
            </a:r>
            <a:r>
              <a:rPr lang="en-US" altLang="zh-CN" sz="1600" dirty="0"/>
              <a:t>) {  </a:t>
            </a:r>
          </a:p>
          <a:p>
            <a:r>
              <a:rPr lang="en-US" altLang="zh-CN" sz="1600" dirty="0"/>
              <a:t>                // </a:t>
            </a:r>
            <a:r>
              <a:rPr lang="zh-CN" altLang="en-US" sz="1600" dirty="0"/>
              <a:t>如果当前节点的值大于下一个节点的值，进行交换  </a:t>
            </a:r>
          </a:p>
          <a:p>
            <a:r>
              <a:rPr lang="zh-CN" altLang="en-US" sz="1600" dirty="0"/>
              <a:t>                </a:t>
            </a:r>
            <a:r>
              <a:rPr lang="en-US" altLang="zh-CN" sz="1600" dirty="0"/>
              <a:t>int temp = ptr1-&gt;</a:t>
            </a:r>
            <a:r>
              <a:rPr lang="en-US" altLang="zh-CN" sz="1600" dirty="0" err="1"/>
              <a:t>val</a:t>
            </a:r>
            <a:r>
              <a:rPr lang="en-US" altLang="zh-CN" sz="1600" dirty="0"/>
              <a:t>;  </a:t>
            </a:r>
          </a:p>
          <a:p>
            <a:r>
              <a:rPr lang="en-US" altLang="zh-CN" sz="1600" dirty="0"/>
              <a:t>                ptr1-&gt;</a:t>
            </a:r>
            <a:r>
              <a:rPr lang="en-US" altLang="zh-CN" sz="1600" dirty="0" err="1"/>
              <a:t>val</a:t>
            </a:r>
            <a:r>
              <a:rPr lang="en-US" altLang="zh-CN" sz="1600" dirty="0"/>
              <a:t> = ptr1-&gt;next-&gt;</a:t>
            </a:r>
            <a:r>
              <a:rPr lang="en-US" altLang="zh-CN" sz="1600" dirty="0" err="1"/>
              <a:t>val</a:t>
            </a:r>
            <a:r>
              <a:rPr lang="en-US" altLang="zh-CN" sz="1600" dirty="0"/>
              <a:t>;  </a:t>
            </a:r>
          </a:p>
          <a:p>
            <a:r>
              <a:rPr lang="en-US" altLang="zh-CN" sz="1600" dirty="0"/>
              <a:t>                ptr1-&gt;next-&gt;</a:t>
            </a:r>
            <a:r>
              <a:rPr lang="en-US" altLang="zh-CN" sz="1600" dirty="0" err="1"/>
              <a:t>val</a:t>
            </a:r>
            <a:r>
              <a:rPr lang="en-US" altLang="zh-CN" sz="1600" dirty="0"/>
              <a:t> = temp;  </a:t>
            </a:r>
          </a:p>
          <a:p>
            <a:r>
              <a:rPr lang="en-US" altLang="zh-CN" sz="1600" dirty="0"/>
              <a:t>                </a:t>
            </a:r>
            <a:r>
              <a:rPr lang="en-US" altLang="zh-CN" sz="1600" dirty="0" err="1"/>
              <a:t>lastSwap</a:t>
            </a:r>
            <a:r>
              <a:rPr lang="en-US" altLang="zh-CN" sz="1600" dirty="0"/>
              <a:t> = ptr1-&gt;next; // </a:t>
            </a:r>
            <a:r>
              <a:rPr lang="zh-CN" altLang="en-US" sz="1600" dirty="0"/>
              <a:t>更新最新的交换位置  </a:t>
            </a:r>
          </a:p>
          <a:p>
            <a:r>
              <a:rPr lang="zh-CN" altLang="en-US" sz="1600" dirty="0"/>
              <a:t>            </a:t>
            </a:r>
            <a:r>
              <a:rPr lang="en-US" altLang="zh-CN" sz="1600" dirty="0"/>
              <a:t>}  </a:t>
            </a:r>
          </a:p>
          <a:p>
            <a:r>
              <a:rPr lang="en-US" altLang="zh-CN" sz="1600" dirty="0"/>
              <a:t>            ptr1 = ptr1-&gt;next; // </a:t>
            </a:r>
            <a:r>
              <a:rPr lang="zh-CN" altLang="en-US" sz="1600" dirty="0"/>
              <a:t>移动到下一个节点  </a:t>
            </a:r>
          </a:p>
          <a:p>
            <a:r>
              <a:rPr lang="zh-CN" altLang="en-US" sz="1600" dirty="0"/>
              <a:t>        </a:t>
            </a:r>
            <a:r>
              <a:rPr lang="en-US" altLang="zh-CN" sz="1600" dirty="0"/>
              <a:t>}  </a:t>
            </a:r>
          </a:p>
          <a:p>
            <a:r>
              <a:rPr lang="en-US" altLang="zh-CN" sz="1600" dirty="0"/>
              <a:t>        if (</a:t>
            </a:r>
            <a:r>
              <a:rPr lang="en-US" altLang="zh-CN" sz="1600" dirty="0" err="1"/>
              <a:t>lastSwap</a:t>
            </a:r>
            <a:r>
              <a:rPr lang="en-US" altLang="zh-CN" sz="1600" dirty="0"/>
              <a:t> == NULL) break; // </a:t>
            </a:r>
            <a:r>
              <a:rPr lang="zh-CN" altLang="en-US" sz="1600" dirty="0"/>
              <a:t>如果没有发生交换，说明链表已经排序完成 </a:t>
            </a:r>
            <a:endParaRPr lang="en-US" altLang="zh-CN" sz="1600" dirty="0"/>
          </a:p>
          <a:p>
            <a:r>
              <a:rPr lang="en-US" altLang="zh-CN" sz="1600" dirty="0"/>
              <a:t>        </a:t>
            </a:r>
            <a:r>
              <a:rPr lang="en-US" altLang="zh-CN" sz="1600" dirty="0" err="1"/>
              <a:t>lptr</a:t>
            </a:r>
            <a:r>
              <a:rPr lang="en-US" altLang="zh-CN" sz="1600" dirty="0"/>
              <a:t> = </a:t>
            </a:r>
            <a:r>
              <a:rPr lang="en-US" altLang="zh-CN" sz="1600" dirty="0" err="1"/>
              <a:t>lastSwap</a:t>
            </a:r>
            <a:r>
              <a:rPr lang="en-US" altLang="zh-CN" sz="1600" dirty="0"/>
              <a:t>; // </a:t>
            </a:r>
            <a:r>
              <a:rPr lang="zh-CN" altLang="en-US" sz="1600" dirty="0"/>
              <a:t>更新 </a:t>
            </a:r>
            <a:r>
              <a:rPr lang="en-US" altLang="zh-CN" sz="1600" dirty="0" err="1"/>
              <a:t>lptr</a:t>
            </a:r>
            <a:r>
              <a:rPr lang="en-US" altLang="zh-CN" sz="1600" dirty="0"/>
              <a:t>  </a:t>
            </a:r>
          </a:p>
          <a:p>
            <a:r>
              <a:rPr lang="en-US" altLang="zh-CN" sz="1600" dirty="0"/>
              <a:t>    }  </a:t>
            </a:r>
          </a:p>
          <a:p>
            <a:r>
              <a:rPr lang="en-US" altLang="zh-CN" sz="1600" dirty="0"/>
              <a:t>}</a:t>
            </a:r>
            <a:endParaRPr lang="zh-CN" altLang="en-US" sz="1600" dirty="0"/>
          </a:p>
        </p:txBody>
      </p:sp>
      <p:sp>
        <p:nvSpPr>
          <p:cNvPr id="4" name="灯片编号占位符 3"/>
          <p:cNvSpPr>
            <a:spLocks noGrp="1"/>
          </p:cNvSpPr>
          <p:nvPr>
            <p:ph type="sldNum" sz="quarter" idx="12"/>
          </p:nvPr>
        </p:nvSpPr>
        <p:spPr/>
        <p:txBody>
          <a:bodyPr/>
          <a:lstStyle/>
          <a:p>
            <a:pPr>
              <a:defRPr/>
            </a:pPr>
            <a:fld id="{3FD51CBC-D341-4D1A-9838-3C70B744B68D}" type="slidenum">
              <a:rPr lang="en-US" altLang="zh-CN" smtClean="0"/>
              <a:pPr>
                <a:defRPr/>
              </a:pPr>
              <a:t>105</a:t>
            </a:fld>
            <a:endParaRPr lang="en-US" altLang="zh-CN"/>
          </a:p>
        </p:txBody>
      </p:sp>
      <p:sp>
        <p:nvSpPr>
          <p:cNvPr id="5" name="矩形 4"/>
          <p:cNvSpPr/>
          <p:nvPr/>
        </p:nvSpPr>
        <p:spPr>
          <a:xfrm>
            <a:off x="1043608" y="2564904"/>
            <a:ext cx="6768752" cy="29523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755576" y="1628801"/>
            <a:ext cx="7488832" cy="472754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0DAB377E-9D6A-6165-19F5-5BF085DA4257}"/>
              </a:ext>
            </a:extLst>
          </p:cNvPr>
          <p:cNvSpPr/>
          <p:nvPr/>
        </p:nvSpPr>
        <p:spPr>
          <a:xfrm>
            <a:off x="1331640" y="2852936"/>
            <a:ext cx="5256584" cy="20882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41243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7" end="17"/>
                                            </p:txEl>
                                          </p:spTgt>
                                        </p:tgtEl>
                                        <p:attrNameLst>
                                          <p:attrName>style.visibility</p:attrName>
                                        </p:attrNameLst>
                                      </p:cBhvr>
                                      <p:to>
                                        <p:strVal val="visible"/>
                                      </p:to>
                                    </p:set>
                                    <p:anim calcmode="lin" valueType="num">
                                      <p:cBhvr additive="base">
                                        <p:cTn id="19"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8" end="18"/>
                                            </p:txEl>
                                          </p:spTgt>
                                        </p:tgtEl>
                                        <p:attrNameLst>
                                          <p:attrName>style.visibility</p:attrName>
                                        </p:attrNameLst>
                                      </p:cBhvr>
                                      <p:to>
                                        <p:strVal val="visible"/>
                                      </p:to>
                                    </p:set>
                                    <p:anim calcmode="lin" valueType="num">
                                      <p:cBhvr additive="base">
                                        <p:cTn id="23"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8" end="1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9" end="19"/>
                                            </p:txEl>
                                          </p:spTgt>
                                        </p:tgtEl>
                                        <p:attrNameLst>
                                          <p:attrName>style.visibility</p:attrName>
                                        </p:attrNameLst>
                                      </p:cBhvr>
                                      <p:to>
                                        <p:strVal val="visible"/>
                                      </p:to>
                                    </p:set>
                                    <p:anim calcmode="lin" valueType="num">
                                      <p:cBhvr additive="base">
                                        <p:cTn id="27"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9" end="19"/>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ppt_x"/>
                                          </p:val>
                                        </p:tav>
                                        <p:tav tm="100000">
                                          <p:val>
                                            <p:strVal val="#ppt_x"/>
                                          </p:val>
                                        </p:tav>
                                      </p:tavLst>
                                    </p:anim>
                                    <p:anim calcmode="lin" valueType="num">
                                      <p:cBhvr additive="base">
                                        <p:cTn id="3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anim calcmode="lin" valueType="num">
                                      <p:cBhvr additive="base">
                                        <p:cTn id="39" dur="500" fill="hold"/>
                                        <p:tgtEl>
                                          <p:spTgt spid="5"/>
                                        </p:tgtEl>
                                        <p:attrNameLst>
                                          <p:attrName>ppt_x</p:attrName>
                                        </p:attrNameLst>
                                      </p:cBhvr>
                                      <p:tavLst>
                                        <p:tav tm="0">
                                          <p:val>
                                            <p:strVal val="#ppt_x"/>
                                          </p:val>
                                        </p:tav>
                                        <p:tav tm="100000">
                                          <p:val>
                                            <p:strVal val="#ppt_x"/>
                                          </p:val>
                                        </p:tav>
                                      </p:tavLst>
                                    </p:anim>
                                    <p:anim calcmode="lin" valueType="num">
                                      <p:cBhvr additive="base">
                                        <p:cTn id="4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anim calcmode="lin" valueType="num">
                                      <p:cBhvr additive="base">
                                        <p:cTn id="4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3">
                                            <p:txEl>
                                              <p:pRg st="15" end="15"/>
                                            </p:txEl>
                                          </p:spTgt>
                                        </p:tgtEl>
                                        <p:attrNameLst>
                                          <p:attrName>style.visibility</p:attrName>
                                        </p:attrNameLst>
                                      </p:cBhvr>
                                      <p:to>
                                        <p:strVal val="visible"/>
                                      </p:to>
                                    </p:set>
                                    <p:anim calcmode="lin" valueType="num">
                                      <p:cBhvr additive="base">
                                        <p:cTn id="49"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3">
                                            <p:txEl>
                                              <p:pRg st="16" end="16"/>
                                            </p:txEl>
                                          </p:spTgt>
                                        </p:tgtEl>
                                        <p:attrNameLst>
                                          <p:attrName>style.visibility</p:attrName>
                                        </p:attrNameLst>
                                      </p:cBhvr>
                                      <p:to>
                                        <p:strVal val="visible"/>
                                      </p:to>
                                    </p:set>
                                    <p:anim calcmode="lin" valueType="num">
                                      <p:cBhvr additive="base">
                                        <p:cTn id="53"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16" end="16"/>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3">
                                            <p:txEl>
                                              <p:pRg st="8" end="8"/>
                                            </p:txEl>
                                          </p:spTgt>
                                        </p:tgtEl>
                                        <p:attrNameLst>
                                          <p:attrName>style.visibility</p:attrName>
                                        </p:attrNameLst>
                                      </p:cBhvr>
                                      <p:to>
                                        <p:strVal val="visible"/>
                                      </p:to>
                                    </p:set>
                                    <p:anim calcmode="lin" valueType="num">
                                      <p:cBhvr additive="base">
                                        <p:cTn id="5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3">
                                            <p:txEl>
                                              <p:pRg st="9" end="9"/>
                                            </p:txEl>
                                          </p:spTgt>
                                        </p:tgtEl>
                                        <p:attrNameLst>
                                          <p:attrName>style.visibility</p:attrName>
                                        </p:attrNameLst>
                                      </p:cBhvr>
                                      <p:to>
                                        <p:strVal val="visible"/>
                                      </p:to>
                                    </p:set>
                                    <p:anim calcmode="lin" valueType="num">
                                      <p:cBhvr additive="base">
                                        <p:cTn id="6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
                                            <p:txEl>
                                              <p:pRg st="9" end="9"/>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3">
                                            <p:txEl>
                                              <p:pRg st="11" end="11"/>
                                            </p:txEl>
                                          </p:spTgt>
                                        </p:tgtEl>
                                        <p:attrNameLst>
                                          <p:attrName>style.visibility</p:attrName>
                                        </p:attrNameLst>
                                      </p:cBhvr>
                                      <p:to>
                                        <p:strVal val="visible"/>
                                      </p:to>
                                    </p:set>
                                    <p:anim calcmode="lin" valueType="num">
                                      <p:cBhvr additive="base">
                                        <p:cTn id="7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3">
                                            <p:txEl>
                                              <p:pRg st="12" end="12"/>
                                            </p:txEl>
                                          </p:spTgt>
                                        </p:tgtEl>
                                        <p:attrNameLst>
                                          <p:attrName>style.visibility</p:attrName>
                                        </p:attrNameLst>
                                      </p:cBhvr>
                                      <p:to>
                                        <p:strVal val="visible"/>
                                      </p:to>
                                    </p:set>
                                    <p:anim calcmode="lin" valueType="num">
                                      <p:cBhvr additive="base">
                                        <p:cTn id="7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3">
                                            <p:txEl>
                                              <p:pRg st="13" end="13"/>
                                            </p:txEl>
                                          </p:spTgt>
                                        </p:tgtEl>
                                        <p:attrNameLst>
                                          <p:attrName>style.visibility</p:attrName>
                                        </p:attrNameLst>
                                      </p:cBhvr>
                                      <p:to>
                                        <p:strVal val="visible"/>
                                      </p:to>
                                    </p:set>
                                    <p:anim calcmode="lin" valueType="num">
                                      <p:cBhvr additive="base">
                                        <p:cTn id="79"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3">
                                            <p:txEl>
                                              <p:pRg st="14" end="14"/>
                                            </p:txEl>
                                          </p:spTgt>
                                        </p:tgtEl>
                                        <p:attrNameLst>
                                          <p:attrName>style.visibility</p:attrName>
                                        </p:attrNameLst>
                                      </p:cBhvr>
                                      <p:to>
                                        <p:strVal val="visible"/>
                                      </p:to>
                                    </p:set>
                                    <p:anim calcmode="lin" valueType="num">
                                      <p:cBhvr additive="base">
                                        <p:cTn id="83"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7"/>
                                        </p:tgtEl>
                                        <p:attrNameLst>
                                          <p:attrName>style.visibility</p:attrName>
                                        </p:attrNameLst>
                                      </p:cBhvr>
                                      <p:to>
                                        <p:strVal val="visible"/>
                                      </p:to>
                                    </p:set>
                                    <p:anim calcmode="lin" valueType="num">
                                      <p:cBhvr additive="base">
                                        <p:cTn id="89" dur="500" fill="hold"/>
                                        <p:tgtEl>
                                          <p:spTgt spid="7"/>
                                        </p:tgtEl>
                                        <p:attrNameLst>
                                          <p:attrName>ppt_x</p:attrName>
                                        </p:attrNameLst>
                                      </p:cBhvr>
                                      <p:tavLst>
                                        <p:tav tm="0">
                                          <p:val>
                                            <p:strVal val="#ppt_x"/>
                                          </p:val>
                                        </p:tav>
                                        <p:tav tm="100000">
                                          <p:val>
                                            <p:strVal val="#ppt_x"/>
                                          </p:val>
                                        </p:tav>
                                      </p:tavLst>
                                    </p:anim>
                                    <p:anim calcmode="lin" valueType="num">
                                      <p:cBhvr additive="base">
                                        <p:cTn id="9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Rectangle 2"/>
          <p:cNvSpPr>
            <a:spLocks noGrp="1" noChangeArrowheads="1"/>
          </p:cNvSpPr>
          <p:nvPr>
            <p:ph type="title"/>
          </p:nvPr>
        </p:nvSpPr>
        <p:spPr>
          <a:xfrm>
            <a:off x="323850" y="476250"/>
            <a:ext cx="8640763" cy="1944688"/>
          </a:xfrm>
        </p:spPr>
        <p:txBody>
          <a:bodyPr>
            <a:normAutofit fontScale="90000"/>
          </a:bodyPr>
          <a:lstStyle/>
          <a:p>
            <a:pPr eaLnBrk="1" hangingPunct="1">
              <a:lnSpc>
                <a:spcPct val="90000"/>
              </a:lnSpc>
              <a:defRPr/>
            </a:pPr>
            <a:r>
              <a:rPr lang="en-US" altLang="zh-CN" sz="2800" b="1" dirty="0">
                <a:solidFill>
                  <a:schemeClr val="tx1"/>
                </a:solidFill>
                <a:latin typeface="+mn-ea"/>
                <a:ea typeface="+mn-ea"/>
              </a:rPr>
              <a:t>【</a:t>
            </a:r>
            <a:r>
              <a:rPr lang="zh-CN" altLang="en-US" sz="2800" b="1" dirty="0">
                <a:solidFill>
                  <a:schemeClr val="tx1"/>
                </a:solidFill>
                <a:latin typeface="+mn-ea"/>
                <a:ea typeface="+mn-ea"/>
              </a:rPr>
              <a:t>例</a:t>
            </a:r>
            <a:r>
              <a:rPr lang="en-US" altLang="zh-CN" sz="2800" b="1" dirty="0">
                <a:solidFill>
                  <a:schemeClr val="tx1"/>
                </a:solidFill>
                <a:latin typeface="+mn-ea"/>
                <a:ea typeface="+mn-ea"/>
              </a:rPr>
              <a:t>7.13】</a:t>
            </a:r>
            <a:r>
              <a:rPr lang="zh-CN" altLang="en-US" sz="2800" b="1" dirty="0">
                <a:solidFill>
                  <a:schemeClr val="tx1"/>
                </a:solidFill>
                <a:latin typeface="+mn-ea"/>
                <a:ea typeface="+mn-ea"/>
              </a:rPr>
              <a:t>编制一个函数，实现将已知单链表的表元链接顺序颠倒。即使单链表的第</a:t>
            </a:r>
            <a:r>
              <a:rPr lang="en-US" altLang="zh-CN" sz="2800" b="1" dirty="0">
                <a:solidFill>
                  <a:schemeClr val="tx1"/>
                </a:solidFill>
                <a:latin typeface="+mn-ea"/>
                <a:ea typeface="+mn-ea"/>
              </a:rPr>
              <a:t>1</a:t>
            </a:r>
            <a:r>
              <a:rPr lang="zh-CN" altLang="en-US" sz="2800" b="1" dirty="0">
                <a:solidFill>
                  <a:schemeClr val="tx1"/>
                </a:solidFill>
                <a:latin typeface="+mn-ea"/>
                <a:ea typeface="+mn-ea"/>
              </a:rPr>
              <a:t>个表元变为最末一个表元，第</a:t>
            </a:r>
            <a:r>
              <a:rPr lang="en-US" altLang="zh-CN" sz="2800" b="1" dirty="0">
                <a:solidFill>
                  <a:schemeClr val="tx1"/>
                </a:solidFill>
                <a:latin typeface="+mn-ea"/>
                <a:ea typeface="+mn-ea"/>
              </a:rPr>
              <a:t>2</a:t>
            </a:r>
            <a:r>
              <a:rPr lang="zh-CN" altLang="en-US" sz="2800" b="1" dirty="0">
                <a:solidFill>
                  <a:schemeClr val="tx1"/>
                </a:solidFill>
                <a:latin typeface="+mn-ea"/>
                <a:ea typeface="+mn-ea"/>
              </a:rPr>
              <a:t>个表元变为最后第</a:t>
            </a:r>
            <a:r>
              <a:rPr lang="en-US" altLang="zh-CN" sz="2800" b="1" dirty="0">
                <a:solidFill>
                  <a:schemeClr val="tx1"/>
                </a:solidFill>
                <a:latin typeface="+mn-ea"/>
                <a:ea typeface="+mn-ea"/>
              </a:rPr>
              <a:t>2</a:t>
            </a:r>
            <a:r>
              <a:rPr lang="zh-CN" altLang="en-US" sz="2800" b="1" dirty="0">
                <a:solidFill>
                  <a:schemeClr val="tx1"/>
                </a:solidFill>
                <a:latin typeface="+mn-ea"/>
                <a:ea typeface="+mn-ea"/>
              </a:rPr>
              <a:t>个表元，</a:t>
            </a:r>
            <a:r>
              <a:rPr lang="en-US" altLang="zh-CN" sz="2800" b="1" dirty="0">
                <a:solidFill>
                  <a:schemeClr val="tx1"/>
                </a:solidFill>
                <a:latin typeface="+mn-ea"/>
                <a:ea typeface="+mn-ea"/>
              </a:rPr>
              <a:t>……</a:t>
            </a:r>
            <a:r>
              <a:rPr lang="zh-CN" altLang="en-US" sz="2800" b="1" dirty="0">
                <a:solidFill>
                  <a:schemeClr val="tx1"/>
                </a:solidFill>
                <a:latin typeface="+mn-ea"/>
                <a:ea typeface="+mn-ea"/>
              </a:rPr>
              <a:t>，最后一个表元变为第</a:t>
            </a:r>
            <a:r>
              <a:rPr lang="en-US" altLang="zh-CN" sz="2800" b="1" dirty="0">
                <a:solidFill>
                  <a:schemeClr val="tx1"/>
                </a:solidFill>
                <a:latin typeface="+mn-ea"/>
                <a:ea typeface="+mn-ea"/>
              </a:rPr>
              <a:t>1</a:t>
            </a:r>
            <a:r>
              <a:rPr lang="zh-CN" altLang="en-US" sz="2800" b="1" dirty="0">
                <a:solidFill>
                  <a:schemeClr val="tx1"/>
                </a:solidFill>
                <a:latin typeface="+mn-ea"/>
                <a:ea typeface="+mn-ea"/>
              </a:rPr>
              <a:t>个表元。</a:t>
            </a:r>
            <a:br>
              <a:rPr lang="zh-CN" altLang="en-US" sz="2800" b="1" dirty="0">
                <a:solidFill>
                  <a:srgbClr val="FF0000"/>
                </a:solidFill>
                <a:latin typeface="+mn-ea"/>
                <a:ea typeface="+mn-ea"/>
              </a:rPr>
            </a:br>
            <a:endParaRPr lang="zh-CN" altLang="en-US" sz="2800" b="1" dirty="0">
              <a:solidFill>
                <a:srgbClr val="FF0000"/>
              </a:solidFill>
              <a:latin typeface="+mn-ea"/>
              <a:ea typeface="+mn-ea"/>
            </a:endParaRPr>
          </a:p>
        </p:txBody>
      </p:sp>
      <p:sp>
        <p:nvSpPr>
          <p:cNvPr id="9" name="灯片编号占位符 5"/>
          <p:cNvSpPr>
            <a:spLocks noGrp="1"/>
          </p:cNvSpPr>
          <p:nvPr>
            <p:ph type="sldNum" sz="quarter" idx="12"/>
          </p:nvPr>
        </p:nvSpPr>
        <p:spPr/>
        <p:txBody>
          <a:bodyPr/>
          <a:lstStyle/>
          <a:p>
            <a:pPr>
              <a:defRPr/>
            </a:pPr>
            <a:fld id="{FD6A3C7A-BE55-4E7A-8474-55520968C73E}" type="slidenum">
              <a:rPr lang="en-US" altLang="zh-CN"/>
              <a:pPr>
                <a:defRPr/>
              </a:pPr>
              <a:t>106</a:t>
            </a:fld>
            <a:endParaRPr lang="en-US" altLang="zh-CN"/>
          </a:p>
        </p:txBody>
      </p:sp>
      <p:sp>
        <p:nvSpPr>
          <p:cNvPr id="545990" name="Text Box 198"/>
          <p:cNvSpPr txBox="1">
            <a:spLocks noChangeArrowheads="1"/>
          </p:cNvSpPr>
          <p:nvPr/>
        </p:nvSpPr>
        <p:spPr bwMode="auto">
          <a:xfrm>
            <a:off x="466725" y="2349500"/>
            <a:ext cx="8137525" cy="830263"/>
          </a:xfrm>
          <a:prstGeom prst="rect">
            <a:avLst/>
          </a:prstGeom>
          <a:noFill/>
          <a:ln w="9525">
            <a:noFill/>
            <a:miter lim="800000"/>
            <a:headEnd/>
            <a:tailEnd/>
          </a:ln>
          <a:effectLst/>
        </p:spPr>
        <p:txBody>
          <a:bodyPr>
            <a:spAutoFit/>
          </a:bodyPr>
          <a:lstStyle/>
          <a:p>
            <a:pPr>
              <a:defRPr/>
            </a:pPr>
            <a:r>
              <a:rPr kumimoji="1" lang="zh-CN" altLang="en-US" b="1" dirty="0">
                <a:latin typeface="楷体_GB2312" pitchFamily="49" charset="-122"/>
                <a:ea typeface="楷体_GB2312" pitchFamily="49" charset="-122"/>
              </a:rPr>
              <a:t>依旧设链表为整数链表，且设链表是带</a:t>
            </a:r>
            <a:r>
              <a:rPr kumimoji="1" lang="zh-CN" altLang="en-US" b="1" dirty="0">
                <a:solidFill>
                  <a:srgbClr val="FF0000"/>
                </a:solidFill>
                <a:latin typeface="楷体_GB2312" pitchFamily="49" charset="-122"/>
                <a:ea typeface="楷体_GB2312" pitchFamily="49" charset="-122"/>
              </a:rPr>
              <a:t>辅助表元</a:t>
            </a:r>
            <a:r>
              <a:rPr kumimoji="1" lang="zh-CN" altLang="en-US" b="1" dirty="0">
                <a:latin typeface="楷体_GB2312" pitchFamily="49" charset="-122"/>
                <a:ea typeface="楷体_GB2312" pitchFamily="49" charset="-122"/>
              </a:rPr>
              <a:t>的。图</a:t>
            </a:r>
            <a:r>
              <a:rPr kumimoji="1" lang="en-US" altLang="zh-CN" b="1" dirty="0">
                <a:latin typeface="楷体_GB2312" pitchFamily="49" charset="-122"/>
                <a:ea typeface="楷体_GB2312" pitchFamily="49" charset="-122"/>
              </a:rPr>
              <a:t>7-12 </a:t>
            </a:r>
            <a:r>
              <a:rPr kumimoji="1" lang="zh-CN" altLang="en-US" b="1" dirty="0">
                <a:latin typeface="楷体_GB2312" pitchFamily="49" charset="-122"/>
                <a:ea typeface="楷体_GB2312" pitchFamily="49" charset="-122"/>
              </a:rPr>
              <a:t>表示链表颠倒前和颠倒后的链表状态。</a:t>
            </a:r>
          </a:p>
        </p:txBody>
      </p:sp>
      <p:sp>
        <p:nvSpPr>
          <p:cNvPr id="10246" name="Rectangle 200"/>
          <p:cNvSpPr>
            <a:spLocks noChangeArrowheads="1"/>
          </p:cNvSpPr>
          <p:nvPr/>
        </p:nvSpPr>
        <p:spPr bwMode="auto">
          <a:xfrm>
            <a:off x="0" y="26908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0242" name="Object 199"/>
          <p:cNvGraphicFramePr>
            <a:graphicFrameLocks noChangeAspect="1"/>
          </p:cNvGraphicFramePr>
          <p:nvPr/>
        </p:nvGraphicFramePr>
        <p:xfrm>
          <a:off x="906463" y="3213100"/>
          <a:ext cx="7481887" cy="2736850"/>
        </p:xfrm>
        <a:graphic>
          <a:graphicData uri="http://schemas.openxmlformats.org/presentationml/2006/ole">
            <mc:AlternateContent xmlns:mc="http://schemas.openxmlformats.org/markup-compatibility/2006">
              <mc:Choice xmlns:v="urn:schemas-microsoft-com:vml" Requires="v">
                <p:oleObj r:id="rId2" imgW="7158781" imgH="2755632" progId="">
                  <p:embed/>
                </p:oleObj>
              </mc:Choice>
              <mc:Fallback>
                <p:oleObj r:id="rId2" imgW="7158781" imgH="2755632" progId="">
                  <p:embed/>
                  <p:pic>
                    <p:nvPicPr>
                      <p:cNvPr id="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6463" y="3213100"/>
                        <a:ext cx="7481887" cy="2736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7" name="Text Box 201"/>
          <p:cNvSpPr txBox="1">
            <a:spLocks noChangeArrowheads="1"/>
          </p:cNvSpPr>
          <p:nvPr/>
        </p:nvSpPr>
        <p:spPr bwMode="auto">
          <a:xfrm>
            <a:off x="3203575" y="5949950"/>
            <a:ext cx="5329238" cy="457200"/>
          </a:xfrm>
          <a:prstGeom prst="rect">
            <a:avLst/>
          </a:prstGeom>
          <a:noFill/>
          <a:ln w="9525">
            <a:noFill/>
            <a:miter lim="800000"/>
            <a:headEnd/>
            <a:tailEnd/>
          </a:ln>
        </p:spPr>
        <p:txBody>
          <a:bodyPr>
            <a:spAutoFit/>
          </a:bodyPr>
          <a:lstStyle/>
          <a:p>
            <a:pPr>
              <a:spcBef>
                <a:spcPct val="50000"/>
              </a:spcBef>
            </a:pPr>
            <a:r>
              <a:rPr lang="zh-CN" altLang="en-US" sz="2000" b="1">
                <a:latin typeface="楷体_GB2312" pitchFamily="49" charset="-122"/>
                <a:ea typeface="楷体_GB2312" pitchFamily="49" charset="-122"/>
              </a:rPr>
              <a:t>图</a:t>
            </a:r>
            <a:r>
              <a:rPr lang="en-US" altLang="zh-CN" sz="2000" b="1">
                <a:latin typeface="楷体_GB2312" pitchFamily="49" charset="-122"/>
                <a:ea typeface="楷体_GB2312" pitchFamily="49" charset="-122"/>
              </a:rPr>
              <a:t>7-12 </a:t>
            </a:r>
            <a:r>
              <a:rPr lang="zh-CN" altLang="en-US" sz="2000" b="1">
                <a:latin typeface="楷体_GB2312" pitchFamily="49" charset="-122"/>
                <a:ea typeface="楷体_GB2312" pitchFamily="49" charset="-122"/>
              </a:rPr>
              <a:t>链表颠倒示意图</a:t>
            </a:r>
            <a:r>
              <a:rPr lang="zh-CN" altLang="en-US"/>
              <a:t> </a:t>
            </a:r>
          </a:p>
        </p:txBody>
      </p: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5" name="Rectangle 3"/>
          <p:cNvSpPr>
            <a:spLocks noGrp="1" noChangeArrowheads="1"/>
          </p:cNvSpPr>
          <p:nvPr>
            <p:ph idx="1"/>
          </p:nvPr>
        </p:nvSpPr>
        <p:spPr>
          <a:xfrm>
            <a:off x="395288" y="908050"/>
            <a:ext cx="8424862" cy="5400675"/>
          </a:xfrm>
        </p:spPr>
        <p:txBody>
          <a:bodyPr/>
          <a:lstStyle/>
          <a:p>
            <a:pPr marL="0" indent="0" eaLnBrk="1" hangingPunct="1">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完成颠倒操作是一个循环过程。假设从第</a:t>
            </a:r>
            <a:r>
              <a:rPr lang="en-US" altLang="zh-CN" sz="2400" b="1" dirty="0">
                <a:effectLst>
                  <a:outerShdw blurRad="38100" dist="38100" dir="2700000" algn="tl">
                    <a:srgbClr val="000000"/>
                  </a:outerShdw>
                </a:effectLst>
                <a:latin typeface="楷体_GB2312" pitchFamily="49" charset="-122"/>
                <a:ea typeface="楷体_GB2312" pitchFamily="49" charset="-122"/>
              </a:rPr>
              <a:t>1</a:t>
            </a:r>
            <a:r>
              <a:rPr lang="zh-CN" altLang="en-US" sz="2400" b="1" dirty="0">
                <a:effectLst>
                  <a:outerShdw blurRad="38100" dist="38100" dir="2700000" algn="tl">
                    <a:srgbClr val="000000"/>
                  </a:outerShdw>
                </a:effectLst>
                <a:latin typeface="楷体_GB2312" pitchFamily="49" charset="-122"/>
                <a:ea typeface="楷体_GB2312" pitchFamily="49" charset="-122"/>
              </a:rPr>
              <a:t>个表元开始颠倒，每次颠倒一个表元的链接关系，直至颠倒了最后一个表元。</a:t>
            </a:r>
            <a:endParaRPr lang="en-US" altLang="zh-CN" sz="2400" b="1" dirty="0">
              <a:effectLst>
                <a:outerShdw blurRad="38100" dist="38100" dir="2700000" algn="tl">
                  <a:srgbClr val="000000"/>
                </a:outerShdw>
              </a:effectLst>
              <a:latin typeface="楷体_GB2312" pitchFamily="49" charset="-122"/>
              <a:ea typeface="楷体_GB2312" pitchFamily="49" charset="-122"/>
            </a:endParaRPr>
          </a:p>
          <a:p>
            <a:pPr marL="0" indent="0" eaLnBrk="1" hangingPunct="1">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假设某次循环前已颠倒好的部分链表的头指针为</a:t>
            </a:r>
            <a:r>
              <a:rPr lang="en-US" altLang="zh-CN" sz="2400" b="1" dirty="0">
                <a:effectLst>
                  <a:outerShdw blurRad="38100" dist="38100" dir="2700000" algn="tl">
                    <a:srgbClr val="000000"/>
                  </a:outerShdw>
                </a:effectLst>
                <a:latin typeface="楷体_GB2312" pitchFamily="49" charset="-122"/>
                <a:ea typeface="楷体_GB2312" pitchFamily="49" charset="-122"/>
              </a:rPr>
              <a:t>v1</a:t>
            </a:r>
            <a:r>
              <a:rPr lang="zh-CN" altLang="en-US" sz="2400" b="1" dirty="0">
                <a:effectLst>
                  <a:outerShdw blurRad="38100" dist="38100" dir="2700000" algn="tl">
                    <a:srgbClr val="000000"/>
                  </a:outerShdw>
                </a:effectLst>
                <a:latin typeface="楷体_GB2312" pitchFamily="49" charset="-122"/>
                <a:ea typeface="楷体_GB2312" pitchFamily="49" charset="-122"/>
              </a:rPr>
              <a:t>，那些还未颠倒的部分链表的头指针为</a:t>
            </a:r>
            <a:r>
              <a:rPr lang="en-US" altLang="zh-CN" sz="2400" b="1" dirty="0">
                <a:effectLst>
                  <a:outerShdw blurRad="38100" dist="38100" dir="2700000" algn="tl">
                    <a:srgbClr val="000000"/>
                  </a:outerShdw>
                </a:effectLst>
                <a:latin typeface="楷体_GB2312" pitchFamily="49" charset="-122"/>
                <a:ea typeface="楷体_GB2312" pitchFamily="49" charset="-122"/>
              </a:rPr>
              <a:t>v2</a:t>
            </a:r>
            <a:r>
              <a:rPr lang="zh-CN" altLang="en-US" sz="2400" b="1" dirty="0">
                <a:effectLst>
                  <a:outerShdw blurRad="38100" dist="38100" dir="2700000" algn="tl">
                    <a:srgbClr val="000000"/>
                  </a:outerShdw>
                </a:effectLst>
                <a:latin typeface="楷体_GB2312" pitchFamily="49" charset="-122"/>
                <a:ea typeface="楷体_GB2312" pitchFamily="49" charset="-122"/>
              </a:rPr>
              <a:t>。为实现从颠倒前状态变为颠倒后的状态，可用以下四个赋值操作实现：</a:t>
            </a:r>
          </a:p>
          <a:p>
            <a:pPr marL="0" indent="0" eaLnBrk="1" hangingPunct="1">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 </a:t>
            </a:r>
            <a:r>
              <a:rPr lang="en-US" altLang="zh-CN" sz="2400" b="1" dirty="0">
                <a:solidFill>
                  <a:srgbClr val="0000FF"/>
                </a:solidFill>
                <a:effectLst>
                  <a:outerShdw blurRad="38100" dist="38100" dir="2700000" algn="tl">
                    <a:srgbClr val="000000"/>
                  </a:outerShdw>
                </a:effectLst>
                <a:latin typeface="楷体_GB2312" pitchFamily="49" charset="-122"/>
                <a:ea typeface="楷体_GB2312" pitchFamily="49" charset="-122"/>
              </a:rPr>
              <a:t>p = v2-&gt;next; //</a:t>
            </a:r>
            <a:r>
              <a:rPr lang="zh-CN" altLang="en-US" sz="2400" b="1" dirty="0">
                <a:solidFill>
                  <a:srgbClr val="0000FF"/>
                </a:solidFill>
                <a:effectLst>
                  <a:outerShdw blurRad="38100" dist="38100" dir="2700000" algn="tl">
                    <a:srgbClr val="000000"/>
                  </a:outerShdw>
                </a:effectLst>
                <a:latin typeface="楷体_GB2312" pitchFamily="49" charset="-122"/>
                <a:ea typeface="楷体_GB2312" pitchFamily="49" charset="-122"/>
              </a:rPr>
              <a:t>保护</a:t>
            </a:r>
            <a:r>
              <a:rPr lang="en-US" altLang="zh-CN" sz="2400" b="1" dirty="0">
                <a:solidFill>
                  <a:srgbClr val="0000FF"/>
                </a:solidFill>
                <a:effectLst>
                  <a:outerShdw blurRad="38100" dist="38100" dir="2700000" algn="tl">
                    <a:srgbClr val="000000"/>
                  </a:outerShdw>
                </a:effectLst>
                <a:latin typeface="楷体_GB2312" pitchFamily="49" charset="-122"/>
                <a:ea typeface="楷体_GB2312" pitchFamily="49" charset="-122"/>
              </a:rPr>
              <a:t>v2</a:t>
            </a:r>
            <a:r>
              <a:rPr lang="zh-CN" altLang="en-US" sz="2400" b="1" dirty="0">
                <a:solidFill>
                  <a:srgbClr val="0000FF"/>
                </a:solidFill>
                <a:effectLst>
                  <a:outerShdw blurRad="38100" dist="38100" dir="2700000" algn="tl">
                    <a:srgbClr val="000000"/>
                  </a:outerShdw>
                </a:effectLst>
                <a:latin typeface="楷体_GB2312" pitchFamily="49" charset="-122"/>
                <a:ea typeface="楷体_GB2312" pitchFamily="49" charset="-122"/>
              </a:rPr>
              <a:t>所指表元的后继指针 </a:t>
            </a:r>
          </a:p>
          <a:p>
            <a:pPr marL="0" indent="0" eaLnBrk="1" hangingPunct="1">
              <a:buFont typeface="Monotype Sorts" pitchFamily="2" charset="2"/>
              <a:buNone/>
              <a:defRPr/>
            </a:pPr>
            <a:r>
              <a:rPr lang="zh-CN" altLang="en-US" sz="2400" b="1" dirty="0">
                <a:solidFill>
                  <a:srgbClr val="0000FF"/>
                </a:solidFill>
                <a:effectLst>
                  <a:outerShdw blurRad="38100" dist="38100" dir="2700000" algn="tl">
                    <a:srgbClr val="000000"/>
                  </a:outerShdw>
                </a:effectLst>
                <a:latin typeface="楷体_GB2312" pitchFamily="49" charset="-122"/>
                <a:ea typeface="楷体_GB2312" pitchFamily="49" charset="-122"/>
              </a:rPr>
              <a:t> </a:t>
            </a:r>
            <a:r>
              <a:rPr lang="en-US" altLang="zh-CN" sz="2400" b="1" dirty="0">
                <a:solidFill>
                  <a:srgbClr val="FF0000"/>
                </a:solidFill>
                <a:effectLst>
                  <a:outerShdw blurRad="38100" dist="38100" dir="2700000" algn="tl">
                    <a:srgbClr val="000000"/>
                  </a:outerShdw>
                </a:effectLst>
                <a:latin typeface="楷体_GB2312" pitchFamily="49" charset="-122"/>
                <a:ea typeface="楷体_GB2312" pitchFamily="49" charset="-122"/>
              </a:rPr>
              <a:t>v2-&gt;next = v1</a:t>
            </a:r>
            <a:r>
              <a:rPr lang="en-US" altLang="zh-CN" sz="2400" b="1" dirty="0">
                <a:solidFill>
                  <a:srgbClr val="0000FF"/>
                </a:solidFill>
                <a:effectLst>
                  <a:outerShdw blurRad="38100" dist="38100" dir="2700000" algn="tl">
                    <a:srgbClr val="000000"/>
                  </a:outerShdw>
                </a:effectLst>
                <a:latin typeface="楷体_GB2312" pitchFamily="49" charset="-122"/>
                <a:ea typeface="楷体_GB2312" pitchFamily="49" charset="-122"/>
              </a:rPr>
              <a:t>;//</a:t>
            </a:r>
            <a:r>
              <a:rPr lang="zh-CN" altLang="en-US" sz="2400" b="1" dirty="0">
                <a:solidFill>
                  <a:srgbClr val="0000FF"/>
                </a:solidFill>
                <a:effectLst>
                  <a:outerShdw blurRad="38100" dist="38100" dir="2700000" algn="tl">
                    <a:srgbClr val="000000"/>
                  </a:outerShdw>
                </a:effectLst>
                <a:latin typeface="楷体_GB2312" pitchFamily="49" charset="-122"/>
                <a:ea typeface="楷体_GB2312" pitchFamily="49" charset="-122"/>
              </a:rPr>
              <a:t>使</a:t>
            </a:r>
            <a:r>
              <a:rPr lang="en-US" altLang="zh-CN" sz="2400" b="1" dirty="0">
                <a:solidFill>
                  <a:srgbClr val="0000FF"/>
                </a:solidFill>
                <a:effectLst>
                  <a:outerShdw blurRad="38100" dist="38100" dir="2700000" algn="tl">
                    <a:srgbClr val="000000"/>
                  </a:outerShdw>
                </a:effectLst>
                <a:latin typeface="楷体_GB2312" pitchFamily="49" charset="-122"/>
                <a:ea typeface="楷体_GB2312" pitchFamily="49" charset="-122"/>
              </a:rPr>
              <a:t>v2</a:t>
            </a:r>
            <a:r>
              <a:rPr lang="zh-CN" altLang="en-US" sz="2400" b="1" dirty="0">
                <a:solidFill>
                  <a:srgbClr val="0000FF"/>
                </a:solidFill>
                <a:effectLst>
                  <a:outerShdw blurRad="38100" dist="38100" dir="2700000" algn="tl">
                    <a:srgbClr val="000000"/>
                  </a:outerShdw>
                </a:effectLst>
                <a:latin typeface="楷体_GB2312" pitchFamily="49" charset="-122"/>
                <a:ea typeface="楷体_GB2312" pitchFamily="49" charset="-122"/>
              </a:rPr>
              <a:t>所指表元的后继表元是</a:t>
            </a:r>
            <a:r>
              <a:rPr lang="en-US" altLang="zh-CN" sz="2400" b="1" dirty="0">
                <a:solidFill>
                  <a:srgbClr val="0000FF"/>
                </a:solidFill>
                <a:effectLst>
                  <a:outerShdw blurRad="38100" dist="38100" dir="2700000" algn="tl">
                    <a:srgbClr val="000000"/>
                  </a:outerShdw>
                </a:effectLst>
                <a:latin typeface="楷体_GB2312" pitchFamily="49" charset="-122"/>
                <a:ea typeface="楷体_GB2312" pitchFamily="49" charset="-122"/>
              </a:rPr>
              <a:t>v1</a:t>
            </a:r>
            <a:r>
              <a:rPr lang="zh-CN" altLang="en-US" sz="2400" b="1" dirty="0">
                <a:solidFill>
                  <a:srgbClr val="0000FF"/>
                </a:solidFill>
                <a:effectLst>
                  <a:outerShdw blurRad="38100" dist="38100" dir="2700000" algn="tl">
                    <a:srgbClr val="000000"/>
                  </a:outerShdw>
                </a:effectLst>
                <a:latin typeface="楷体_GB2312" pitchFamily="49" charset="-122"/>
                <a:ea typeface="楷体_GB2312" pitchFamily="49" charset="-122"/>
              </a:rPr>
              <a:t>所指表元 </a:t>
            </a:r>
          </a:p>
          <a:p>
            <a:pPr marL="0" indent="0" eaLnBrk="1" hangingPunct="1">
              <a:buFont typeface="Monotype Sorts" pitchFamily="2" charset="2"/>
              <a:buNone/>
              <a:defRPr/>
            </a:pPr>
            <a:r>
              <a:rPr lang="zh-CN" altLang="en-US" sz="2400" b="1" dirty="0">
                <a:solidFill>
                  <a:srgbClr val="0000FF"/>
                </a:solidFill>
                <a:effectLst>
                  <a:outerShdw blurRad="38100" dist="38100" dir="2700000" algn="tl">
                    <a:srgbClr val="000000"/>
                  </a:outerShdw>
                </a:effectLst>
                <a:latin typeface="楷体_GB2312" pitchFamily="49" charset="-122"/>
                <a:ea typeface="楷体_GB2312" pitchFamily="49" charset="-122"/>
              </a:rPr>
              <a:t> </a:t>
            </a:r>
            <a:r>
              <a:rPr lang="en-US" altLang="zh-CN" sz="2400" b="1" dirty="0">
                <a:solidFill>
                  <a:srgbClr val="0000FF"/>
                </a:solidFill>
                <a:effectLst>
                  <a:outerShdw blurRad="38100" dist="38100" dir="2700000" algn="tl">
                    <a:srgbClr val="000000"/>
                  </a:outerShdw>
                </a:effectLst>
                <a:latin typeface="楷体_GB2312" pitchFamily="49" charset="-122"/>
                <a:ea typeface="楷体_GB2312" pitchFamily="49" charset="-122"/>
              </a:rPr>
              <a:t>v1 = v2;          /* </a:t>
            </a:r>
            <a:r>
              <a:rPr lang="zh-CN" altLang="en-US" sz="2400" b="1" dirty="0">
                <a:solidFill>
                  <a:srgbClr val="0000FF"/>
                </a:solidFill>
                <a:effectLst>
                  <a:outerShdw blurRad="38100" dist="38100" dir="2700000" algn="tl">
                    <a:srgbClr val="000000"/>
                  </a:outerShdw>
                </a:effectLst>
                <a:latin typeface="楷体_GB2312" pitchFamily="49" charset="-122"/>
                <a:ea typeface="楷体_GB2312" pitchFamily="49" charset="-122"/>
              </a:rPr>
              <a:t>调整</a:t>
            </a:r>
            <a:r>
              <a:rPr lang="en-US" altLang="zh-CN" sz="2400" b="1" dirty="0">
                <a:solidFill>
                  <a:srgbClr val="0000FF"/>
                </a:solidFill>
                <a:effectLst>
                  <a:outerShdw blurRad="38100" dist="38100" dir="2700000" algn="tl">
                    <a:srgbClr val="000000"/>
                  </a:outerShdw>
                </a:effectLst>
                <a:latin typeface="楷体_GB2312" pitchFamily="49" charset="-122"/>
                <a:ea typeface="楷体_GB2312" pitchFamily="49" charset="-122"/>
              </a:rPr>
              <a:t>v1 */</a:t>
            </a:r>
          </a:p>
          <a:p>
            <a:pPr marL="0" indent="0" eaLnBrk="1" hangingPunct="1">
              <a:buFont typeface="Monotype Sorts" pitchFamily="2" charset="2"/>
              <a:buNone/>
              <a:defRPr/>
            </a:pPr>
            <a:r>
              <a:rPr lang="en-US" altLang="zh-CN" sz="2400" b="1" dirty="0">
                <a:solidFill>
                  <a:srgbClr val="0000FF"/>
                </a:solidFill>
                <a:effectLst>
                  <a:outerShdw blurRad="38100" dist="38100" dir="2700000" algn="tl">
                    <a:srgbClr val="000000"/>
                  </a:outerShdw>
                </a:effectLst>
                <a:latin typeface="楷体_GB2312" pitchFamily="49" charset="-122"/>
                <a:ea typeface="楷体_GB2312" pitchFamily="49" charset="-122"/>
              </a:rPr>
              <a:t> v2 = p;           /* </a:t>
            </a:r>
            <a:r>
              <a:rPr lang="zh-CN" altLang="en-US" sz="2400" b="1" dirty="0">
                <a:solidFill>
                  <a:srgbClr val="0000FF"/>
                </a:solidFill>
                <a:effectLst>
                  <a:outerShdw blurRad="38100" dist="38100" dir="2700000" algn="tl">
                    <a:srgbClr val="000000"/>
                  </a:outerShdw>
                </a:effectLst>
                <a:latin typeface="楷体_GB2312" pitchFamily="49" charset="-122"/>
                <a:ea typeface="楷体_GB2312" pitchFamily="49" charset="-122"/>
              </a:rPr>
              <a:t>调整</a:t>
            </a:r>
            <a:r>
              <a:rPr lang="en-US" altLang="zh-CN" sz="2400" b="1" dirty="0">
                <a:solidFill>
                  <a:srgbClr val="0000FF"/>
                </a:solidFill>
                <a:effectLst>
                  <a:outerShdw blurRad="38100" dist="38100" dir="2700000" algn="tl">
                    <a:srgbClr val="000000"/>
                  </a:outerShdw>
                </a:effectLst>
                <a:latin typeface="楷体_GB2312" pitchFamily="49" charset="-122"/>
                <a:ea typeface="楷体_GB2312" pitchFamily="49" charset="-122"/>
              </a:rPr>
              <a:t>v2 */</a:t>
            </a:r>
          </a:p>
        </p:txBody>
      </p:sp>
      <p:sp>
        <p:nvSpPr>
          <p:cNvPr id="5" name="灯片编号占位符 5"/>
          <p:cNvSpPr>
            <a:spLocks noGrp="1"/>
          </p:cNvSpPr>
          <p:nvPr>
            <p:ph type="sldNum" sz="quarter" idx="12"/>
          </p:nvPr>
        </p:nvSpPr>
        <p:spPr/>
        <p:txBody>
          <a:bodyPr/>
          <a:lstStyle/>
          <a:p>
            <a:pPr>
              <a:defRPr/>
            </a:pPr>
            <a:fld id="{5EC57C19-89D7-4D31-8D5B-25E96E1E1C21}" type="slidenum">
              <a:rPr lang="en-US" altLang="zh-CN"/>
              <a:pPr>
                <a:defRPr/>
              </a:pPr>
              <a:t>107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61155">
                                            <p:txEl>
                                              <p:pRg st="2" end="2"/>
                                            </p:txEl>
                                          </p:spTgt>
                                        </p:tgtEl>
                                        <p:attrNameLst>
                                          <p:attrName>style.visibility</p:attrName>
                                        </p:attrNameLst>
                                      </p:cBhvr>
                                      <p:to>
                                        <p:strVal val="visible"/>
                                      </p:to>
                                    </p:set>
                                    <p:anim calcmode="lin" valueType="num">
                                      <p:cBhvr additive="base">
                                        <p:cTn id="7" dur="500" fill="hold"/>
                                        <p:tgtEl>
                                          <p:spTgt spid="56115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61155">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61155">
                                            <p:txEl>
                                              <p:pRg st="3" end="3"/>
                                            </p:txEl>
                                          </p:spTgt>
                                        </p:tgtEl>
                                        <p:attrNameLst>
                                          <p:attrName>style.visibility</p:attrName>
                                        </p:attrNameLst>
                                      </p:cBhvr>
                                      <p:to>
                                        <p:strVal val="visible"/>
                                      </p:to>
                                    </p:set>
                                    <p:anim calcmode="lin" valueType="num">
                                      <p:cBhvr additive="base">
                                        <p:cTn id="11" dur="500" fill="hold"/>
                                        <p:tgtEl>
                                          <p:spTgt spid="561155">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61155">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61155">
                                            <p:txEl>
                                              <p:pRg st="4" end="4"/>
                                            </p:txEl>
                                          </p:spTgt>
                                        </p:tgtEl>
                                        <p:attrNameLst>
                                          <p:attrName>style.visibility</p:attrName>
                                        </p:attrNameLst>
                                      </p:cBhvr>
                                      <p:to>
                                        <p:strVal val="visible"/>
                                      </p:to>
                                    </p:set>
                                    <p:anim calcmode="lin" valueType="num">
                                      <p:cBhvr additive="base">
                                        <p:cTn id="15" dur="500" fill="hold"/>
                                        <p:tgtEl>
                                          <p:spTgt spid="561155">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61155">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61155">
                                            <p:txEl>
                                              <p:pRg st="5" end="5"/>
                                            </p:txEl>
                                          </p:spTgt>
                                        </p:tgtEl>
                                        <p:attrNameLst>
                                          <p:attrName>style.visibility</p:attrName>
                                        </p:attrNameLst>
                                      </p:cBhvr>
                                      <p:to>
                                        <p:strVal val="visible"/>
                                      </p:to>
                                    </p:set>
                                    <p:anim calcmode="lin" valueType="num">
                                      <p:cBhvr additive="base">
                                        <p:cTn id="19" dur="500" fill="hold"/>
                                        <p:tgtEl>
                                          <p:spTgt spid="561155">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6115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a:defRPr/>
            </a:pPr>
            <a:fld id="{55A5DFB2-413B-47B2-A97F-5A66DDEA5524}" type="slidenum">
              <a:rPr lang="en-US" altLang="zh-CN"/>
              <a:pPr>
                <a:defRPr/>
              </a:pPr>
              <a:t>108</a:t>
            </a:fld>
            <a:endParaRPr lang="en-US" altLang="zh-CN"/>
          </a:p>
        </p:txBody>
      </p:sp>
      <p:sp>
        <p:nvSpPr>
          <p:cNvPr id="11268" name="Rectangle 5"/>
          <p:cNvSpPr>
            <a:spLocks noChangeArrowheads="1"/>
          </p:cNvSpPr>
          <p:nvPr/>
        </p:nvSpPr>
        <p:spPr bwMode="auto">
          <a:xfrm>
            <a:off x="0" y="27289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1266" name="Object 4"/>
          <p:cNvGraphicFramePr>
            <a:graphicFrameLocks noChangeAspect="1"/>
          </p:cNvGraphicFramePr>
          <p:nvPr/>
        </p:nvGraphicFramePr>
        <p:xfrm>
          <a:off x="611188" y="1412875"/>
          <a:ext cx="7921625" cy="2716213"/>
        </p:xfrm>
        <a:graphic>
          <a:graphicData uri="http://schemas.openxmlformats.org/presentationml/2006/ole">
            <mc:AlternateContent xmlns:mc="http://schemas.openxmlformats.org/markup-compatibility/2006">
              <mc:Choice xmlns:v="urn:schemas-microsoft-com:vml" Requires="v">
                <p:oleObj name="Visio" r:id="rId2" imgW="6389827" imgH="2936138" progId="">
                  <p:embed/>
                </p:oleObj>
              </mc:Choice>
              <mc:Fallback>
                <p:oleObj name="Visio" r:id="rId2" imgW="6389827" imgH="2936138" progId="">
                  <p:embed/>
                  <p:pic>
                    <p:nvPicPr>
                      <p:cNvPr id="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412875"/>
                        <a:ext cx="7921625" cy="2716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69" name="Text Box 6"/>
          <p:cNvSpPr txBox="1">
            <a:spLocks noChangeArrowheads="1"/>
          </p:cNvSpPr>
          <p:nvPr/>
        </p:nvSpPr>
        <p:spPr bwMode="auto">
          <a:xfrm>
            <a:off x="1600200" y="4344988"/>
            <a:ext cx="5429250" cy="396875"/>
          </a:xfrm>
          <a:prstGeom prst="rect">
            <a:avLst/>
          </a:prstGeom>
          <a:noFill/>
          <a:ln w="9525">
            <a:noFill/>
            <a:miter lim="800000"/>
            <a:headEnd/>
            <a:tailEnd/>
          </a:ln>
        </p:spPr>
        <p:txBody>
          <a:bodyPr wrap="none">
            <a:spAutoFit/>
          </a:bodyPr>
          <a:lstStyle/>
          <a:p>
            <a:r>
              <a:rPr lang="zh-CN" altLang="en-US" sz="2000" b="1">
                <a:latin typeface="楷体_GB2312" pitchFamily="49" charset="-122"/>
                <a:ea typeface="楷体_GB2312" pitchFamily="49" charset="-122"/>
              </a:rPr>
              <a:t>图</a:t>
            </a:r>
            <a:r>
              <a:rPr lang="en-US" altLang="zh-CN" sz="2000" b="1">
                <a:latin typeface="楷体_GB2312" pitchFamily="49" charset="-122"/>
                <a:ea typeface="楷体_GB2312" pitchFamily="49" charset="-122"/>
              </a:rPr>
              <a:t>7-13 </a:t>
            </a:r>
            <a:r>
              <a:rPr lang="zh-CN" altLang="en-US" sz="2000" b="1">
                <a:latin typeface="楷体_GB2312" pitchFamily="49" charset="-122"/>
                <a:ea typeface="楷体_GB2312" pitchFamily="49" charset="-122"/>
              </a:rPr>
              <a:t>第</a:t>
            </a:r>
            <a:r>
              <a:rPr lang="en-US" altLang="zh-CN" sz="2000" b="1">
                <a:latin typeface="楷体_GB2312" pitchFamily="49" charset="-122"/>
                <a:ea typeface="楷体_GB2312" pitchFamily="49" charset="-122"/>
              </a:rPr>
              <a:t>i</a:t>
            </a:r>
            <a:r>
              <a:rPr lang="zh-CN" altLang="en-US" sz="2000" b="1">
                <a:latin typeface="楷体_GB2312" pitchFamily="49" charset="-122"/>
                <a:ea typeface="楷体_GB2312" pitchFamily="49" charset="-122"/>
              </a:rPr>
              <a:t>个表元颠倒前、后链表状态变化图 </a:t>
            </a:r>
          </a:p>
        </p:txBody>
      </p:sp>
      <p:sp>
        <p:nvSpPr>
          <p:cNvPr id="698375" name="Text Box 7"/>
          <p:cNvSpPr txBox="1">
            <a:spLocks noChangeArrowheads="1"/>
          </p:cNvSpPr>
          <p:nvPr/>
        </p:nvSpPr>
        <p:spPr bwMode="auto">
          <a:xfrm>
            <a:off x="592138" y="4818063"/>
            <a:ext cx="8012112" cy="830997"/>
          </a:xfrm>
          <a:prstGeom prst="rect">
            <a:avLst/>
          </a:prstGeom>
          <a:noFill/>
          <a:ln w="9525">
            <a:noFill/>
            <a:miter lim="800000"/>
            <a:headEnd/>
            <a:tailEnd/>
          </a:ln>
          <a:effectLst/>
        </p:spPr>
        <p:txBody>
          <a:bodyPr>
            <a:spAutoFit/>
          </a:bodyPr>
          <a:lstStyle/>
          <a:p>
            <a:pPr>
              <a:defRPr/>
            </a:pPr>
            <a:r>
              <a:rPr lang="zh-CN" altLang="en-US" b="1" dirty="0">
                <a:latin typeface="楷体_GB2312" pitchFamily="49" charset="-122"/>
                <a:ea typeface="楷体_GB2312" pitchFamily="49" charset="-122"/>
              </a:rPr>
              <a:t>实际实现颠倒的只有（</a:t>
            </a:r>
            <a:r>
              <a:rPr lang="en-US" altLang="zh-CN" b="1" dirty="0">
                <a:latin typeface="楷体_GB2312" pitchFamily="49" charset="-122"/>
                <a:ea typeface="楷体_GB2312" pitchFamily="49" charset="-122"/>
              </a:rPr>
              <a:t>2</a:t>
            </a:r>
            <a:r>
              <a:rPr lang="zh-CN" altLang="en-US" b="1" dirty="0">
                <a:latin typeface="楷体_GB2312" pitchFamily="49" charset="-122"/>
                <a:ea typeface="楷体_GB2312" pitchFamily="49" charset="-122"/>
              </a:rPr>
              <a:t>）一句；（</a:t>
            </a:r>
            <a:r>
              <a:rPr lang="en-US" altLang="zh-CN" b="1" dirty="0">
                <a:latin typeface="楷体_GB2312" pitchFamily="49" charset="-122"/>
                <a:ea typeface="楷体_GB2312" pitchFamily="49" charset="-122"/>
              </a:rPr>
              <a:t>1</a:t>
            </a: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3</a:t>
            </a: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4</a:t>
            </a:r>
            <a:r>
              <a:rPr lang="zh-CN" altLang="en-US" b="1" dirty="0">
                <a:latin typeface="楷体_GB2312" pitchFamily="49" charset="-122"/>
                <a:ea typeface="楷体_GB2312" pitchFamily="49" charset="-122"/>
              </a:rPr>
              <a:t>）句都是在维护循环的状态</a:t>
            </a:r>
          </a:p>
        </p:txBody>
      </p:sp>
      <p:cxnSp>
        <p:nvCxnSpPr>
          <p:cNvPr id="9" name="Straight Arrow Connector 8"/>
          <p:cNvCxnSpPr/>
          <p:nvPr/>
        </p:nvCxnSpPr>
        <p:spPr>
          <a:xfrm rot="5400000">
            <a:off x="3643306" y="2428868"/>
            <a:ext cx="42862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rot="5400000">
            <a:off x="5358612" y="2428074"/>
            <a:ext cx="42862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rot="5400000">
            <a:off x="7144562" y="2499512"/>
            <a:ext cx="42862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143636" y="2928934"/>
            <a:ext cx="70326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Freeform 15"/>
          <p:cNvSpPr/>
          <p:nvPr/>
        </p:nvSpPr>
        <p:spPr>
          <a:xfrm>
            <a:off x="2571736" y="3000372"/>
            <a:ext cx="1500198" cy="428628"/>
          </a:xfrm>
          <a:custGeom>
            <a:avLst/>
            <a:gdLst>
              <a:gd name="connsiteX0" fmla="*/ 1782502 w 1782502"/>
              <a:gd name="connsiteY0" fmla="*/ 0 h 779362"/>
              <a:gd name="connsiteX1" fmla="*/ 578734 w 1782502"/>
              <a:gd name="connsiteY1" fmla="*/ 740780 h 779362"/>
              <a:gd name="connsiteX2" fmla="*/ 0 w 1782502"/>
              <a:gd name="connsiteY2" fmla="*/ 231494 h 779362"/>
            </a:gdLst>
            <a:ahLst/>
            <a:cxnLst>
              <a:cxn ang="0">
                <a:pos x="connsiteX0" y="connsiteY0"/>
              </a:cxn>
              <a:cxn ang="0">
                <a:pos x="connsiteX1" y="connsiteY1"/>
              </a:cxn>
              <a:cxn ang="0">
                <a:pos x="connsiteX2" y="connsiteY2"/>
              </a:cxn>
            </a:cxnLst>
            <a:rect l="l" t="t" r="r" b="b"/>
            <a:pathLst>
              <a:path w="1782502" h="779362">
                <a:moveTo>
                  <a:pt x="1782502" y="0"/>
                </a:moveTo>
                <a:cubicBezTo>
                  <a:pt x="1329160" y="351099"/>
                  <a:pt x="875818" y="702198"/>
                  <a:pt x="578734" y="740780"/>
                </a:cubicBezTo>
                <a:cubicBezTo>
                  <a:pt x="281650" y="779362"/>
                  <a:pt x="140825" y="505428"/>
                  <a:pt x="0" y="231494"/>
                </a:cubicBezTo>
              </a:path>
            </a:pathLst>
          </a:cu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Freeform 16"/>
          <p:cNvSpPr/>
          <p:nvPr/>
        </p:nvSpPr>
        <p:spPr>
          <a:xfrm>
            <a:off x="4357686" y="3000372"/>
            <a:ext cx="1782502" cy="571504"/>
          </a:xfrm>
          <a:custGeom>
            <a:avLst/>
            <a:gdLst>
              <a:gd name="connsiteX0" fmla="*/ 1782502 w 1782502"/>
              <a:gd name="connsiteY0" fmla="*/ 0 h 779362"/>
              <a:gd name="connsiteX1" fmla="*/ 578734 w 1782502"/>
              <a:gd name="connsiteY1" fmla="*/ 740780 h 779362"/>
              <a:gd name="connsiteX2" fmla="*/ 0 w 1782502"/>
              <a:gd name="connsiteY2" fmla="*/ 231494 h 779362"/>
            </a:gdLst>
            <a:ahLst/>
            <a:cxnLst>
              <a:cxn ang="0">
                <a:pos x="connsiteX0" y="connsiteY0"/>
              </a:cxn>
              <a:cxn ang="0">
                <a:pos x="connsiteX1" y="connsiteY1"/>
              </a:cxn>
              <a:cxn ang="0">
                <a:pos x="connsiteX2" y="connsiteY2"/>
              </a:cxn>
            </a:cxnLst>
            <a:rect l="l" t="t" r="r" b="b"/>
            <a:pathLst>
              <a:path w="1782502" h="779362">
                <a:moveTo>
                  <a:pt x="1782502" y="0"/>
                </a:moveTo>
                <a:cubicBezTo>
                  <a:pt x="1329160" y="351099"/>
                  <a:pt x="875818" y="702198"/>
                  <a:pt x="578734" y="740780"/>
                </a:cubicBezTo>
                <a:cubicBezTo>
                  <a:pt x="281650" y="779362"/>
                  <a:pt x="140825" y="505428"/>
                  <a:pt x="0" y="231494"/>
                </a:cubicBezTo>
              </a:path>
            </a:pathLst>
          </a:cu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8" name="Straight Arrow Connector 17"/>
          <p:cNvCxnSpPr/>
          <p:nvPr/>
        </p:nvCxnSpPr>
        <p:spPr>
          <a:xfrm>
            <a:off x="4071934" y="2000240"/>
            <a:ext cx="1000132" cy="6429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5857884" y="2000240"/>
            <a:ext cx="1000132" cy="6429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000496" y="2285992"/>
            <a:ext cx="853119" cy="307777"/>
          </a:xfrm>
          <a:prstGeom prst="rect">
            <a:avLst/>
          </a:prstGeom>
          <a:noFill/>
        </p:spPr>
        <p:txBody>
          <a:bodyPr wrap="none" rtlCol="0">
            <a:spAutoFit/>
          </a:bodyPr>
          <a:lstStyle/>
          <a:p>
            <a:r>
              <a:rPr lang="en-US" altLang="zh-CN" sz="1400" dirty="0"/>
              <a:t>(3)v1=v2</a:t>
            </a:r>
            <a:endParaRPr lang="zh-CN" altLang="en-US" sz="1400" dirty="0"/>
          </a:p>
        </p:txBody>
      </p:sp>
      <p:sp>
        <p:nvSpPr>
          <p:cNvPr id="23" name="TextBox 22"/>
          <p:cNvSpPr txBox="1"/>
          <p:nvPr/>
        </p:nvSpPr>
        <p:spPr>
          <a:xfrm>
            <a:off x="5643570" y="2357430"/>
            <a:ext cx="763351" cy="307777"/>
          </a:xfrm>
          <a:prstGeom prst="rect">
            <a:avLst/>
          </a:prstGeom>
          <a:noFill/>
        </p:spPr>
        <p:txBody>
          <a:bodyPr wrap="none" rtlCol="0">
            <a:spAutoFit/>
          </a:bodyPr>
          <a:lstStyle/>
          <a:p>
            <a:r>
              <a:rPr lang="en-US" altLang="zh-CN" sz="1400" dirty="0"/>
              <a:t>(4)v2=p</a:t>
            </a:r>
            <a:endParaRPr lang="zh-CN" alt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2"/>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9"/>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10"/>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698375">
                                            <p:txEl>
                                              <p:pRg st="0" end="0"/>
                                            </p:txEl>
                                          </p:spTgt>
                                        </p:tgtEl>
                                        <p:attrNameLst>
                                          <p:attrName>style.visibility</p:attrName>
                                        </p:attrNameLst>
                                      </p:cBhvr>
                                      <p:to>
                                        <p:strVal val="visible"/>
                                      </p:to>
                                    </p:set>
                                    <p:anim calcmode="lin" valueType="num">
                                      <p:cBhvr additive="base">
                                        <p:cTn id="33" dur="500" fill="hold"/>
                                        <p:tgtEl>
                                          <p:spTgt spid="698375">
                                            <p:txEl>
                                              <p:pRg st="0" end="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69837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Rectangle 3"/>
          <p:cNvSpPr>
            <a:spLocks noGrp="1" noChangeArrowheads="1"/>
          </p:cNvSpPr>
          <p:nvPr>
            <p:ph idx="1"/>
          </p:nvPr>
        </p:nvSpPr>
        <p:spPr>
          <a:xfrm>
            <a:off x="395288" y="476250"/>
            <a:ext cx="8424862" cy="5832475"/>
          </a:xfrm>
        </p:spPr>
        <p:txBody>
          <a:bodyPr/>
          <a:lstStyle/>
          <a:p>
            <a:pPr marL="0" indent="0" eaLnBrk="1" hangingPunct="1">
              <a:lnSpc>
                <a:spcPct val="90000"/>
              </a:lnSpc>
              <a:buFont typeface="Monotype Sorts" pitchFamily="2" charset="2"/>
              <a:buNone/>
            </a:pPr>
            <a:r>
              <a:rPr lang="en-US" altLang="zh-CN" b="1" dirty="0">
                <a:latin typeface="楷体_GB2312" pitchFamily="49" charset="-122"/>
                <a:ea typeface="楷体_GB2312" pitchFamily="49" charset="-122"/>
              </a:rPr>
              <a:t>void reverse(</a:t>
            </a:r>
            <a:r>
              <a:rPr lang="en-US" altLang="zh-CN" b="1" dirty="0" err="1">
                <a:latin typeface="楷体_GB2312" pitchFamily="49" charset="-122"/>
                <a:ea typeface="楷体_GB2312" pitchFamily="49" charset="-122"/>
              </a:rPr>
              <a:t>intNode</a:t>
            </a:r>
            <a:r>
              <a:rPr lang="en-US" altLang="zh-CN" b="1" dirty="0">
                <a:latin typeface="楷体_GB2312" pitchFamily="49" charset="-122"/>
                <a:ea typeface="楷体_GB2312" pitchFamily="49" charset="-122"/>
              </a:rPr>
              <a:t> *h)</a:t>
            </a:r>
          </a:p>
          <a:p>
            <a:pPr marL="0" indent="0" eaLnBrk="1" hangingPunct="1">
              <a:lnSpc>
                <a:spcPct val="90000"/>
              </a:lnSpc>
              <a:buFont typeface="Monotype Sorts" pitchFamily="2" charset="2"/>
              <a:buNone/>
            </a:pPr>
            <a:r>
              <a:rPr lang="en-US" altLang="zh-CN" b="1" dirty="0">
                <a:latin typeface="楷体_GB2312" pitchFamily="49" charset="-122"/>
                <a:ea typeface="楷体_GB2312" pitchFamily="49" charset="-122"/>
              </a:rPr>
              <a:t>{  </a:t>
            </a:r>
            <a:r>
              <a:rPr lang="en-US" altLang="zh-CN" b="1" dirty="0" err="1">
                <a:latin typeface="楷体_GB2312" pitchFamily="49" charset="-122"/>
                <a:ea typeface="楷体_GB2312" pitchFamily="49" charset="-122"/>
              </a:rPr>
              <a:t>intNode</a:t>
            </a:r>
            <a:r>
              <a:rPr lang="en-US" altLang="zh-CN" b="1" dirty="0">
                <a:latin typeface="楷体_GB2312" pitchFamily="49" charset="-122"/>
                <a:ea typeface="楷体_GB2312" pitchFamily="49" charset="-122"/>
              </a:rPr>
              <a:t> *p, *v1, *v2;</a:t>
            </a:r>
          </a:p>
          <a:p>
            <a:pPr marL="0" indent="0" eaLnBrk="1" hangingPunct="1">
              <a:lnSpc>
                <a:spcPct val="90000"/>
              </a:lnSpc>
              <a:buFont typeface="Monotype Sorts" pitchFamily="2" charset="2"/>
              <a:buNone/>
            </a:pPr>
            <a:r>
              <a:rPr lang="en-US" altLang="zh-CN" b="1" dirty="0">
                <a:latin typeface="楷体_GB2312" pitchFamily="49" charset="-122"/>
                <a:ea typeface="楷体_GB2312" pitchFamily="49" charset="-122"/>
              </a:rPr>
              <a:t>   v1 = NULL; /* </a:t>
            </a:r>
            <a:r>
              <a:rPr lang="zh-CN" altLang="en-US" b="1" dirty="0">
                <a:latin typeface="楷体_GB2312" pitchFamily="49" charset="-122"/>
                <a:ea typeface="楷体_GB2312" pitchFamily="49" charset="-122"/>
              </a:rPr>
              <a:t>开始颠倒时，已颠倒部分为空 *</a:t>
            </a:r>
            <a:r>
              <a:rPr lang="en-US" altLang="zh-CN" b="1" dirty="0">
                <a:latin typeface="楷体_GB2312" pitchFamily="49" charset="-122"/>
                <a:ea typeface="楷体_GB2312" pitchFamily="49" charset="-122"/>
              </a:rPr>
              <a:t>/</a:t>
            </a:r>
          </a:p>
          <a:p>
            <a:pPr marL="0" indent="0" eaLnBrk="1" hangingPunct="1">
              <a:lnSpc>
                <a:spcPct val="90000"/>
              </a:lnSpc>
              <a:buFont typeface="Monotype Sorts" pitchFamily="2" charset="2"/>
              <a:buNone/>
            </a:pPr>
            <a:r>
              <a:rPr lang="en-US" altLang="zh-CN" b="1" dirty="0">
                <a:latin typeface="楷体_GB2312" pitchFamily="49" charset="-122"/>
                <a:ea typeface="楷体_GB2312" pitchFamily="49" charset="-122"/>
              </a:rPr>
              <a:t>   v2 = h-&gt;next;   /* v2 </a:t>
            </a:r>
            <a:r>
              <a:rPr lang="zh-CN" altLang="en-US" b="1" dirty="0">
                <a:latin typeface="楷体_GB2312" pitchFamily="49" charset="-122"/>
                <a:ea typeface="楷体_GB2312" pitchFamily="49" charset="-122"/>
              </a:rPr>
              <a:t>指向链表的首表元 *</a:t>
            </a:r>
            <a:r>
              <a:rPr lang="en-US" altLang="zh-CN" b="1" dirty="0">
                <a:latin typeface="楷体_GB2312" pitchFamily="49" charset="-122"/>
                <a:ea typeface="楷体_GB2312" pitchFamily="49" charset="-122"/>
              </a:rPr>
              <a:t>/</a:t>
            </a:r>
          </a:p>
          <a:p>
            <a:pPr marL="0" indent="0" eaLnBrk="1" hangingPunct="1">
              <a:lnSpc>
                <a:spcPct val="90000"/>
              </a:lnSpc>
              <a:buFont typeface="Monotype Sorts" pitchFamily="2" charset="2"/>
              <a:buNone/>
            </a:pPr>
            <a:r>
              <a:rPr lang="en-US" altLang="zh-CN" b="1" dirty="0">
                <a:latin typeface="楷体_GB2312" pitchFamily="49" charset="-122"/>
                <a:ea typeface="楷体_GB2312" pitchFamily="49" charset="-122"/>
              </a:rPr>
              <a:t>   while(v2 != NULL) { /* </a:t>
            </a:r>
            <a:r>
              <a:rPr lang="zh-CN" altLang="en-US" b="1" dirty="0">
                <a:latin typeface="楷体_GB2312" pitchFamily="49" charset="-122"/>
                <a:ea typeface="楷体_GB2312" pitchFamily="49" charset="-122"/>
              </a:rPr>
              <a:t>还未颠倒完，循环 *</a:t>
            </a:r>
            <a:r>
              <a:rPr lang="en-US" altLang="zh-CN" b="1" dirty="0">
                <a:latin typeface="楷体_GB2312" pitchFamily="49" charset="-122"/>
                <a:ea typeface="楷体_GB2312" pitchFamily="49" charset="-122"/>
              </a:rPr>
              <a:t>/</a:t>
            </a:r>
          </a:p>
          <a:p>
            <a:pPr marL="0" indent="0" eaLnBrk="1" hangingPunct="1">
              <a:lnSpc>
                <a:spcPct val="90000"/>
              </a:lnSpc>
              <a:buFont typeface="Monotype Sorts" pitchFamily="2" charset="2"/>
              <a:buNone/>
            </a:pPr>
            <a:r>
              <a:rPr lang="en-US" altLang="zh-CN" b="1" dirty="0">
                <a:latin typeface="楷体_GB2312" pitchFamily="49" charset="-122"/>
                <a:ea typeface="楷体_GB2312" pitchFamily="49" charset="-122"/>
              </a:rPr>
              <a:t>          p = v2-&gt;next;</a:t>
            </a:r>
          </a:p>
          <a:p>
            <a:pPr marL="0" indent="0" eaLnBrk="1" hangingPunct="1">
              <a:lnSpc>
                <a:spcPct val="90000"/>
              </a:lnSpc>
              <a:buFont typeface="Monotype Sorts" pitchFamily="2" charset="2"/>
              <a:buNone/>
            </a:pPr>
            <a:r>
              <a:rPr lang="en-US" altLang="zh-CN" b="1" dirty="0">
                <a:latin typeface="楷体_GB2312" pitchFamily="49" charset="-122"/>
                <a:ea typeface="楷体_GB2312" pitchFamily="49" charset="-122"/>
              </a:rPr>
              <a:t>          v2-&gt;next = v1;</a:t>
            </a:r>
          </a:p>
          <a:p>
            <a:pPr marL="0" indent="0" eaLnBrk="1" hangingPunct="1">
              <a:lnSpc>
                <a:spcPct val="90000"/>
              </a:lnSpc>
              <a:buFont typeface="Monotype Sorts" pitchFamily="2" charset="2"/>
              <a:buNone/>
            </a:pPr>
            <a:r>
              <a:rPr lang="en-US" altLang="zh-CN" b="1" dirty="0">
                <a:latin typeface="楷体_GB2312" pitchFamily="49" charset="-122"/>
                <a:ea typeface="楷体_GB2312" pitchFamily="49" charset="-122"/>
              </a:rPr>
              <a:t>          v1 = v2;</a:t>
            </a:r>
          </a:p>
          <a:p>
            <a:pPr marL="0" indent="0" eaLnBrk="1" hangingPunct="1">
              <a:lnSpc>
                <a:spcPct val="90000"/>
              </a:lnSpc>
              <a:buFont typeface="Monotype Sorts" pitchFamily="2" charset="2"/>
              <a:buNone/>
            </a:pPr>
            <a:r>
              <a:rPr lang="en-US" altLang="zh-CN" b="1" dirty="0">
                <a:latin typeface="楷体_GB2312" pitchFamily="49" charset="-122"/>
                <a:ea typeface="楷体_GB2312" pitchFamily="49" charset="-122"/>
              </a:rPr>
              <a:t>          v2 = p;</a:t>
            </a:r>
          </a:p>
          <a:p>
            <a:pPr marL="0" indent="0" eaLnBrk="1" hangingPunct="1">
              <a:lnSpc>
                <a:spcPct val="90000"/>
              </a:lnSpc>
              <a:buFont typeface="Monotype Sorts" pitchFamily="2" charset="2"/>
              <a:buNone/>
            </a:pPr>
            <a:r>
              <a:rPr lang="en-US" altLang="zh-CN" b="1" dirty="0">
                <a:latin typeface="楷体_GB2312" pitchFamily="49" charset="-122"/>
                <a:ea typeface="楷体_GB2312" pitchFamily="49" charset="-122"/>
              </a:rPr>
              <a:t>   }</a:t>
            </a:r>
          </a:p>
          <a:p>
            <a:pPr marL="0" indent="0" eaLnBrk="1" hangingPunct="1">
              <a:lnSpc>
                <a:spcPct val="90000"/>
              </a:lnSpc>
              <a:buFont typeface="Monotype Sorts" pitchFamily="2" charset="2"/>
              <a:buNone/>
            </a:pPr>
            <a:r>
              <a:rPr lang="en-US" altLang="zh-CN" b="1" dirty="0">
                <a:latin typeface="楷体_GB2312" pitchFamily="49" charset="-122"/>
                <a:ea typeface="楷体_GB2312" pitchFamily="49" charset="-122"/>
              </a:rPr>
              <a:t>   h-&gt;next = v1;        // </a:t>
            </a:r>
            <a:r>
              <a:rPr lang="zh-CN" altLang="en-US" b="1" dirty="0">
                <a:latin typeface="楷体_GB2312" pitchFamily="49" charset="-122"/>
                <a:ea typeface="楷体_GB2312" pitchFamily="49" charset="-122"/>
              </a:rPr>
              <a:t>辅助表元</a:t>
            </a:r>
            <a:endParaRPr lang="en-US" altLang="zh-CN" b="1" dirty="0">
              <a:latin typeface="楷体_GB2312" pitchFamily="49" charset="-122"/>
              <a:ea typeface="楷体_GB2312" pitchFamily="49" charset="-122"/>
            </a:endParaRPr>
          </a:p>
          <a:p>
            <a:pPr marL="0" indent="0" eaLnBrk="1" hangingPunct="1">
              <a:lnSpc>
                <a:spcPct val="90000"/>
              </a:lnSpc>
              <a:buFont typeface="Monotype Sorts" pitchFamily="2" charset="2"/>
              <a:buNone/>
            </a:pPr>
            <a:r>
              <a:rPr lang="en-US" altLang="zh-CN" b="1" dirty="0">
                <a:latin typeface="楷体_GB2312" pitchFamily="49" charset="-122"/>
                <a:ea typeface="楷体_GB2312" pitchFamily="49" charset="-122"/>
              </a:rPr>
              <a:t> }</a:t>
            </a:r>
          </a:p>
        </p:txBody>
      </p:sp>
      <p:sp>
        <p:nvSpPr>
          <p:cNvPr id="5" name="灯片编号占位符 5"/>
          <p:cNvSpPr>
            <a:spLocks noGrp="1"/>
          </p:cNvSpPr>
          <p:nvPr>
            <p:ph type="sldNum" sz="quarter" idx="12"/>
          </p:nvPr>
        </p:nvSpPr>
        <p:spPr/>
        <p:txBody>
          <a:bodyPr/>
          <a:lstStyle/>
          <a:p>
            <a:pPr>
              <a:defRPr/>
            </a:pPr>
            <a:fld id="{57B9C389-1D12-4D72-9483-40731E185D12}" type="slidenum">
              <a:rPr lang="en-US" altLang="zh-CN"/>
              <a:pPr>
                <a:defRPr/>
              </a:pPr>
              <a:t>109</a:t>
            </a:fld>
            <a:endParaRPr lang="en-US" altLang="zh-CN"/>
          </a:p>
        </p:txBody>
      </p:sp>
      <p:sp>
        <p:nvSpPr>
          <p:cNvPr id="6" name="矩形 5"/>
          <p:cNvSpPr/>
          <p:nvPr/>
        </p:nvSpPr>
        <p:spPr>
          <a:xfrm>
            <a:off x="1619672" y="1340768"/>
            <a:ext cx="1008112"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639640" y="1844824"/>
            <a:ext cx="1348184"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55576" y="4869160"/>
            <a:ext cx="2376264"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6"/>
                                        </p:tgtEl>
                                        <p:attrNameLst>
                                          <p:attrName>ppt_x</p:attrName>
                                        </p:attrNameLst>
                                      </p:cBhvr>
                                      <p:tavLst>
                                        <p:tav tm="0">
                                          <p:val>
                                            <p:strVal val="ppt_x"/>
                                          </p:val>
                                        </p:tav>
                                        <p:tav tm="100000">
                                          <p:val>
                                            <p:strVal val="ppt_x"/>
                                          </p:val>
                                        </p:tav>
                                      </p:tavLst>
                                    </p:anim>
                                    <p:anim calcmode="lin" valueType="num">
                                      <p:cBhvr additive="base">
                                        <p:cTn id="7" dur="500"/>
                                        <p:tgtEl>
                                          <p:spTgt spid="6"/>
                                        </p:tgtEl>
                                        <p:attrNameLst>
                                          <p:attrName>ppt_y</p:attrName>
                                        </p:attrNameLst>
                                      </p:cBhvr>
                                      <p:tavLst>
                                        <p:tav tm="0">
                                          <p:val>
                                            <p:strVal val="ppt_y"/>
                                          </p:val>
                                        </p:tav>
                                        <p:tav tm="100000">
                                          <p:val>
                                            <p:strVal val="1+ppt_h/2"/>
                                          </p:val>
                                        </p:tav>
                                      </p:tavLst>
                                    </p:anim>
                                    <p:set>
                                      <p:cBhvr>
                                        <p:cTn id="8" dur="1" fill="hold">
                                          <p:stCondLst>
                                            <p:cond delay="499"/>
                                          </p:stCondLst>
                                        </p:cTn>
                                        <p:tgtEl>
                                          <p:spTgt spid="6"/>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0" nodeType="clickEffect">
                                  <p:stCondLst>
                                    <p:cond delay="0"/>
                                  </p:stCondLst>
                                  <p:childTnLst>
                                    <p:anim calcmode="lin" valueType="num">
                                      <p:cBhvr additive="base">
                                        <p:cTn id="12" dur="500"/>
                                        <p:tgtEl>
                                          <p:spTgt spid="7"/>
                                        </p:tgtEl>
                                        <p:attrNameLst>
                                          <p:attrName>ppt_x</p:attrName>
                                        </p:attrNameLst>
                                      </p:cBhvr>
                                      <p:tavLst>
                                        <p:tav tm="0">
                                          <p:val>
                                            <p:strVal val="ppt_x"/>
                                          </p:val>
                                        </p:tav>
                                        <p:tav tm="100000">
                                          <p:val>
                                            <p:strVal val="ppt_x"/>
                                          </p:val>
                                        </p:tav>
                                      </p:tavLst>
                                    </p:anim>
                                    <p:anim calcmode="lin" valueType="num">
                                      <p:cBhvr additive="base">
                                        <p:cTn id="13" dur="500"/>
                                        <p:tgtEl>
                                          <p:spTgt spid="7"/>
                                        </p:tgtEl>
                                        <p:attrNameLst>
                                          <p:attrName>ppt_y</p:attrName>
                                        </p:attrNameLst>
                                      </p:cBhvr>
                                      <p:tavLst>
                                        <p:tav tm="0">
                                          <p:val>
                                            <p:strVal val="ppt_y"/>
                                          </p:val>
                                        </p:tav>
                                        <p:tav tm="100000">
                                          <p:val>
                                            <p:strVal val="1+ppt_h/2"/>
                                          </p:val>
                                        </p:tav>
                                      </p:tavLst>
                                    </p:anim>
                                    <p:set>
                                      <p:cBhvr>
                                        <p:cTn id="14" dur="1" fill="hold">
                                          <p:stCondLst>
                                            <p:cond delay="499"/>
                                          </p:stCondLst>
                                        </p:cTn>
                                        <p:tgtEl>
                                          <p:spTgt spid="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6499">
                                            <p:txEl>
                                              <p:pRg st="4" end="4"/>
                                            </p:txEl>
                                          </p:spTgt>
                                        </p:tgtEl>
                                        <p:attrNameLst>
                                          <p:attrName>style.visibility</p:attrName>
                                        </p:attrNameLst>
                                      </p:cBhvr>
                                      <p:to>
                                        <p:strVal val="visible"/>
                                      </p:to>
                                    </p:set>
                                    <p:anim calcmode="lin" valueType="num">
                                      <p:cBhvr additive="base">
                                        <p:cTn id="19" dur="500" fill="hold"/>
                                        <p:tgtEl>
                                          <p:spTgt spid="106499">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6499">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06499">
                                            <p:txEl>
                                              <p:pRg st="5" end="5"/>
                                            </p:txEl>
                                          </p:spTgt>
                                        </p:tgtEl>
                                        <p:attrNameLst>
                                          <p:attrName>style.visibility</p:attrName>
                                        </p:attrNameLst>
                                      </p:cBhvr>
                                      <p:to>
                                        <p:strVal val="visible"/>
                                      </p:to>
                                    </p:set>
                                    <p:anim calcmode="lin" valueType="num">
                                      <p:cBhvr additive="base">
                                        <p:cTn id="23" dur="500" fill="hold"/>
                                        <p:tgtEl>
                                          <p:spTgt spid="106499">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06499">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06499">
                                            <p:txEl>
                                              <p:pRg st="6" end="6"/>
                                            </p:txEl>
                                          </p:spTgt>
                                        </p:tgtEl>
                                        <p:attrNameLst>
                                          <p:attrName>style.visibility</p:attrName>
                                        </p:attrNameLst>
                                      </p:cBhvr>
                                      <p:to>
                                        <p:strVal val="visible"/>
                                      </p:to>
                                    </p:set>
                                    <p:anim calcmode="lin" valueType="num">
                                      <p:cBhvr additive="base">
                                        <p:cTn id="27" dur="500" fill="hold"/>
                                        <p:tgtEl>
                                          <p:spTgt spid="106499">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06499">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06499">
                                            <p:txEl>
                                              <p:pRg st="7" end="7"/>
                                            </p:txEl>
                                          </p:spTgt>
                                        </p:tgtEl>
                                        <p:attrNameLst>
                                          <p:attrName>style.visibility</p:attrName>
                                        </p:attrNameLst>
                                      </p:cBhvr>
                                      <p:to>
                                        <p:strVal val="visible"/>
                                      </p:to>
                                    </p:set>
                                    <p:anim calcmode="lin" valueType="num">
                                      <p:cBhvr additive="base">
                                        <p:cTn id="31" dur="500" fill="hold"/>
                                        <p:tgtEl>
                                          <p:spTgt spid="106499">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6499">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06499">
                                            <p:txEl>
                                              <p:pRg st="8" end="8"/>
                                            </p:txEl>
                                          </p:spTgt>
                                        </p:tgtEl>
                                        <p:attrNameLst>
                                          <p:attrName>style.visibility</p:attrName>
                                        </p:attrNameLst>
                                      </p:cBhvr>
                                      <p:to>
                                        <p:strVal val="visible"/>
                                      </p:to>
                                    </p:set>
                                    <p:anim calcmode="lin" valueType="num">
                                      <p:cBhvr additive="base">
                                        <p:cTn id="35" dur="500" fill="hold"/>
                                        <p:tgtEl>
                                          <p:spTgt spid="106499">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06499">
                                            <p:txEl>
                                              <p:pRg st="8" end="8"/>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06499">
                                            <p:txEl>
                                              <p:pRg st="9" end="9"/>
                                            </p:txEl>
                                          </p:spTgt>
                                        </p:tgtEl>
                                        <p:attrNameLst>
                                          <p:attrName>style.visibility</p:attrName>
                                        </p:attrNameLst>
                                      </p:cBhvr>
                                      <p:to>
                                        <p:strVal val="visible"/>
                                      </p:to>
                                    </p:set>
                                    <p:anim calcmode="lin" valueType="num">
                                      <p:cBhvr additive="base">
                                        <p:cTn id="39" dur="500" fill="hold"/>
                                        <p:tgtEl>
                                          <p:spTgt spid="106499">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06499">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xit" presetSubtype="4" fill="hold" grpId="1" nodeType="clickEffect">
                                  <p:stCondLst>
                                    <p:cond delay="0"/>
                                  </p:stCondLst>
                                  <p:childTnLst>
                                    <p:anim calcmode="lin" valueType="num">
                                      <p:cBhvr additive="base">
                                        <p:cTn id="44" dur="500"/>
                                        <p:tgtEl>
                                          <p:spTgt spid="8"/>
                                        </p:tgtEl>
                                        <p:attrNameLst>
                                          <p:attrName>ppt_x</p:attrName>
                                        </p:attrNameLst>
                                      </p:cBhvr>
                                      <p:tavLst>
                                        <p:tav tm="0">
                                          <p:val>
                                            <p:strVal val="ppt_x"/>
                                          </p:val>
                                        </p:tav>
                                        <p:tav tm="100000">
                                          <p:val>
                                            <p:strVal val="ppt_x"/>
                                          </p:val>
                                        </p:tav>
                                      </p:tavLst>
                                    </p:anim>
                                    <p:anim calcmode="lin" valueType="num">
                                      <p:cBhvr additive="base">
                                        <p:cTn id="45" dur="500"/>
                                        <p:tgtEl>
                                          <p:spTgt spid="8"/>
                                        </p:tgtEl>
                                        <p:attrNameLst>
                                          <p:attrName>ppt_y</p:attrName>
                                        </p:attrNameLst>
                                      </p:cBhvr>
                                      <p:tavLst>
                                        <p:tav tm="0">
                                          <p:val>
                                            <p:strVal val="ppt_y"/>
                                          </p:val>
                                        </p:tav>
                                        <p:tav tm="100000">
                                          <p:val>
                                            <p:strVal val="1+ppt_h/2"/>
                                          </p:val>
                                        </p:tav>
                                      </p:tavLst>
                                    </p:anim>
                                    <p:set>
                                      <p:cBhvr>
                                        <p:cTn id="46"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1"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Rectangle 2"/>
          <p:cNvSpPr>
            <a:spLocks noGrp="1" noChangeArrowheads="1"/>
          </p:cNvSpPr>
          <p:nvPr>
            <p:ph idx="1"/>
          </p:nvPr>
        </p:nvSpPr>
        <p:spPr>
          <a:xfrm>
            <a:off x="395288" y="476250"/>
            <a:ext cx="8424862" cy="5832475"/>
          </a:xfrm>
        </p:spPr>
        <p:txBody>
          <a:bodyPr>
            <a:normAutofit lnSpcReduction="10000"/>
          </a:bodyPr>
          <a:lstStyle/>
          <a:p>
            <a:pPr marL="0" indent="0" eaLnBrk="1" hangingPunct="1">
              <a:lnSpc>
                <a:spcPct val="90000"/>
              </a:lnSpc>
              <a:buFont typeface="Monotype Sorts" pitchFamily="2" charset="2"/>
              <a:buNone/>
            </a:pPr>
            <a:r>
              <a:rPr lang="zh-CN" altLang="en-US" b="1" dirty="0">
                <a:latin typeface="楷体_GB2312" pitchFamily="49" charset="-122"/>
                <a:ea typeface="楷体_GB2312" pitchFamily="49" charset="-122"/>
              </a:rPr>
              <a:t>如果颠倒的单链表没有辅助表元，则函数应</a:t>
            </a:r>
            <a:r>
              <a:rPr lang="zh-CN" altLang="en-US" b="1" dirty="0">
                <a:solidFill>
                  <a:srgbClr val="FF0000"/>
                </a:solidFill>
                <a:latin typeface="楷体_GB2312" pitchFamily="49" charset="-122"/>
                <a:ea typeface="楷体_GB2312" pitchFamily="49" charset="-122"/>
              </a:rPr>
              <a:t>返回颠倒后的链表头指针</a:t>
            </a:r>
            <a:r>
              <a:rPr lang="zh-CN" altLang="en-US" b="1" dirty="0">
                <a:latin typeface="楷体_GB2312" pitchFamily="49" charset="-122"/>
                <a:ea typeface="楷体_GB2312" pitchFamily="49" charset="-122"/>
              </a:rPr>
              <a:t>，单链表颠倒函数可以改写如下：</a:t>
            </a:r>
          </a:p>
          <a:p>
            <a:pPr marL="0" indent="0" eaLnBrk="1" hangingPunct="1">
              <a:lnSpc>
                <a:spcPct val="90000"/>
              </a:lnSpc>
              <a:buFont typeface="Monotype Sorts" pitchFamily="2" charset="2"/>
              <a:buNone/>
            </a:pPr>
            <a:r>
              <a:rPr lang="en-US" altLang="zh-CN" b="1" dirty="0" err="1">
                <a:solidFill>
                  <a:srgbClr val="FF0000"/>
                </a:solidFill>
                <a:latin typeface="楷体_GB2312" pitchFamily="49" charset="-122"/>
                <a:ea typeface="楷体_GB2312" pitchFamily="49" charset="-122"/>
              </a:rPr>
              <a:t>intNode</a:t>
            </a:r>
            <a:r>
              <a:rPr lang="en-US" altLang="zh-CN" b="1" dirty="0">
                <a:solidFill>
                  <a:srgbClr val="FF0000"/>
                </a:solidFill>
                <a:latin typeface="楷体_GB2312" pitchFamily="49" charset="-122"/>
                <a:ea typeface="楷体_GB2312" pitchFamily="49" charset="-122"/>
              </a:rPr>
              <a:t> *</a:t>
            </a:r>
            <a:r>
              <a:rPr lang="en-US" altLang="zh-CN" b="1" dirty="0">
                <a:latin typeface="楷体_GB2312" pitchFamily="49" charset="-122"/>
                <a:ea typeface="楷体_GB2312" pitchFamily="49" charset="-122"/>
              </a:rPr>
              <a:t>reverse (</a:t>
            </a:r>
            <a:r>
              <a:rPr lang="en-US" altLang="zh-CN" b="1" dirty="0" err="1">
                <a:latin typeface="楷体_GB2312" pitchFamily="49" charset="-122"/>
                <a:ea typeface="楷体_GB2312" pitchFamily="49" charset="-122"/>
              </a:rPr>
              <a:t>intNode</a:t>
            </a:r>
            <a:r>
              <a:rPr lang="en-US" altLang="zh-CN" b="1" dirty="0">
                <a:latin typeface="楷体_GB2312" pitchFamily="49" charset="-122"/>
                <a:ea typeface="楷体_GB2312" pitchFamily="49" charset="-122"/>
              </a:rPr>
              <a:t> *h)</a:t>
            </a:r>
          </a:p>
          <a:p>
            <a:pPr marL="0" indent="0" eaLnBrk="1" hangingPunct="1">
              <a:lnSpc>
                <a:spcPct val="90000"/>
              </a:lnSpc>
              <a:buFont typeface="Monotype Sorts" pitchFamily="2" charset="2"/>
              <a:buNone/>
            </a:pPr>
            <a:r>
              <a:rPr lang="en-US" altLang="zh-CN" b="1" dirty="0">
                <a:latin typeface="楷体_GB2312" pitchFamily="49" charset="-122"/>
                <a:ea typeface="楷体_GB2312" pitchFamily="49" charset="-122"/>
              </a:rPr>
              <a:t>{  </a:t>
            </a:r>
            <a:r>
              <a:rPr lang="en-US" altLang="zh-CN" b="1" dirty="0" err="1">
                <a:latin typeface="楷体_GB2312" pitchFamily="49" charset="-122"/>
                <a:ea typeface="楷体_GB2312" pitchFamily="49" charset="-122"/>
              </a:rPr>
              <a:t>intNode</a:t>
            </a:r>
            <a:r>
              <a:rPr lang="en-US" altLang="zh-CN" b="1" dirty="0">
                <a:latin typeface="楷体_GB2312" pitchFamily="49" charset="-122"/>
                <a:ea typeface="楷体_GB2312" pitchFamily="49" charset="-122"/>
              </a:rPr>
              <a:t> *p, *v1, *v2;</a:t>
            </a:r>
          </a:p>
          <a:p>
            <a:pPr marL="0" indent="0" eaLnBrk="1" hangingPunct="1">
              <a:lnSpc>
                <a:spcPct val="90000"/>
              </a:lnSpc>
              <a:buFont typeface="Monotype Sorts" pitchFamily="2" charset="2"/>
              <a:buNone/>
            </a:pPr>
            <a:r>
              <a:rPr lang="en-US" altLang="zh-CN" b="1" dirty="0">
                <a:latin typeface="楷体_GB2312" pitchFamily="49" charset="-122"/>
                <a:ea typeface="楷体_GB2312" pitchFamily="49" charset="-122"/>
              </a:rPr>
              <a:t>   v1 = NULL;/* </a:t>
            </a:r>
            <a:r>
              <a:rPr lang="zh-CN" altLang="en-US" b="1" dirty="0">
                <a:latin typeface="楷体_GB2312" pitchFamily="49" charset="-122"/>
                <a:ea typeface="楷体_GB2312" pitchFamily="49" charset="-122"/>
              </a:rPr>
              <a:t>开始颠倒时，已颠倒部分为空 *</a:t>
            </a:r>
            <a:r>
              <a:rPr lang="en-US" altLang="zh-CN" b="1" dirty="0">
                <a:latin typeface="楷体_GB2312" pitchFamily="49" charset="-122"/>
                <a:ea typeface="楷体_GB2312" pitchFamily="49" charset="-122"/>
              </a:rPr>
              <a:t>/</a:t>
            </a:r>
          </a:p>
          <a:p>
            <a:pPr marL="0" indent="0" eaLnBrk="1" hangingPunct="1">
              <a:lnSpc>
                <a:spcPct val="90000"/>
              </a:lnSpc>
              <a:buFont typeface="Monotype Sorts" pitchFamily="2" charset="2"/>
              <a:buNone/>
            </a:pPr>
            <a:r>
              <a:rPr lang="en-US" altLang="zh-CN" b="1" dirty="0">
                <a:latin typeface="楷体_GB2312" pitchFamily="49" charset="-122"/>
                <a:ea typeface="楷体_GB2312" pitchFamily="49" charset="-122"/>
              </a:rPr>
              <a:t>   </a:t>
            </a:r>
            <a:r>
              <a:rPr lang="en-US" altLang="zh-CN" b="1" dirty="0">
                <a:solidFill>
                  <a:srgbClr val="FF0000"/>
                </a:solidFill>
                <a:latin typeface="楷体_GB2312" pitchFamily="49" charset="-122"/>
                <a:ea typeface="楷体_GB2312" pitchFamily="49" charset="-122"/>
              </a:rPr>
              <a:t>v2 = h</a:t>
            </a:r>
            <a:r>
              <a:rPr lang="en-US" altLang="zh-CN" b="1" dirty="0">
                <a:latin typeface="楷体_GB2312" pitchFamily="49" charset="-122"/>
                <a:ea typeface="楷体_GB2312" pitchFamily="49" charset="-122"/>
              </a:rPr>
              <a:t>;   /* v2 </a:t>
            </a:r>
            <a:r>
              <a:rPr lang="zh-CN" altLang="en-US" b="1" dirty="0">
                <a:latin typeface="楷体_GB2312" pitchFamily="49" charset="-122"/>
                <a:ea typeface="楷体_GB2312" pitchFamily="49" charset="-122"/>
              </a:rPr>
              <a:t>指向链表的首表元 *</a:t>
            </a:r>
            <a:r>
              <a:rPr lang="en-US" altLang="zh-CN" b="1" dirty="0">
                <a:latin typeface="楷体_GB2312" pitchFamily="49" charset="-122"/>
                <a:ea typeface="楷体_GB2312" pitchFamily="49" charset="-122"/>
              </a:rPr>
              <a:t>/</a:t>
            </a:r>
          </a:p>
          <a:p>
            <a:pPr marL="0" indent="0" eaLnBrk="1" hangingPunct="1">
              <a:lnSpc>
                <a:spcPct val="90000"/>
              </a:lnSpc>
              <a:buFont typeface="Monotype Sorts" pitchFamily="2" charset="2"/>
              <a:buNone/>
            </a:pPr>
            <a:r>
              <a:rPr lang="en-US" altLang="zh-CN" b="1" dirty="0">
                <a:latin typeface="楷体_GB2312" pitchFamily="49" charset="-122"/>
                <a:ea typeface="楷体_GB2312" pitchFamily="49" charset="-122"/>
              </a:rPr>
              <a:t>   while(v2 != NULL) { /* </a:t>
            </a:r>
            <a:r>
              <a:rPr lang="zh-CN" altLang="en-US" b="1" dirty="0">
                <a:latin typeface="楷体_GB2312" pitchFamily="49" charset="-122"/>
                <a:ea typeface="楷体_GB2312" pitchFamily="49" charset="-122"/>
              </a:rPr>
              <a:t>还未颠倒完，循环 *</a:t>
            </a:r>
            <a:r>
              <a:rPr lang="en-US" altLang="zh-CN" b="1" dirty="0">
                <a:latin typeface="楷体_GB2312" pitchFamily="49" charset="-122"/>
                <a:ea typeface="楷体_GB2312" pitchFamily="49" charset="-122"/>
              </a:rPr>
              <a:t>/</a:t>
            </a:r>
          </a:p>
          <a:p>
            <a:pPr marL="0" indent="0" eaLnBrk="1" hangingPunct="1">
              <a:lnSpc>
                <a:spcPct val="90000"/>
              </a:lnSpc>
              <a:buFont typeface="Monotype Sorts" pitchFamily="2" charset="2"/>
              <a:buNone/>
            </a:pPr>
            <a:r>
              <a:rPr lang="en-US" altLang="zh-CN" b="1" dirty="0">
                <a:latin typeface="楷体_GB2312" pitchFamily="49" charset="-122"/>
                <a:ea typeface="楷体_GB2312" pitchFamily="49" charset="-122"/>
              </a:rPr>
              <a:t>          p = v2-&gt;next; </a:t>
            </a:r>
          </a:p>
          <a:p>
            <a:pPr marL="0" indent="0" eaLnBrk="1" hangingPunct="1">
              <a:lnSpc>
                <a:spcPct val="90000"/>
              </a:lnSpc>
              <a:buFont typeface="Monotype Sorts" pitchFamily="2" charset="2"/>
              <a:buNone/>
            </a:pPr>
            <a:r>
              <a:rPr lang="en-US" altLang="zh-CN" b="1" dirty="0">
                <a:latin typeface="楷体_GB2312" pitchFamily="49" charset="-122"/>
                <a:ea typeface="楷体_GB2312" pitchFamily="49" charset="-122"/>
              </a:rPr>
              <a:t>          v2-&gt;next = v1;</a:t>
            </a:r>
          </a:p>
          <a:p>
            <a:pPr marL="0" indent="0" eaLnBrk="1" hangingPunct="1">
              <a:lnSpc>
                <a:spcPct val="90000"/>
              </a:lnSpc>
              <a:buFont typeface="Monotype Sorts" pitchFamily="2" charset="2"/>
              <a:buNone/>
            </a:pPr>
            <a:r>
              <a:rPr lang="en-US" altLang="zh-CN" b="1" dirty="0">
                <a:latin typeface="楷体_GB2312" pitchFamily="49" charset="-122"/>
                <a:ea typeface="楷体_GB2312" pitchFamily="49" charset="-122"/>
              </a:rPr>
              <a:t>          v1 = v2;      </a:t>
            </a:r>
          </a:p>
          <a:p>
            <a:pPr marL="0" indent="0" eaLnBrk="1" hangingPunct="1">
              <a:lnSpc>
                <a:spcPct val="90000"/>
              </a:lnSpc>
              <a:buFont typeface="Monotype Sorts" pitchFamily="2" charset="2"/>
              <a:buNone/>
            </a:pPr>
            <a:r>
              <a:rPr lang="en-US" altLang="zh-CN" b="1" dirty="0">
                <a:latin typeface="楷体_GB2312" pitchFamily="49" charset="-122"/>
                <a:ea typeface="楷体_GB2312" pitchFamily="49" charset="-122"/>
              </a:rPr>
              <a:t>          v2 = p;</a:t>
            </a:r>
          </a:p>
          <a:p>
            <a:pPr marL="0" indent="0" eaLnBrk="1" hangingPunct="1">
              <a:lnSpc>
                <a:spcPct val="90000"/>
              </a:lnSpc>
              <a:buFont typeface="Monotype Sorts" pitchFamily="2" charset="2"/>
              <a:buNone/>
            </a:pPr>
            <a:r>
              <a:rPr lang="en-US" altLang="zh-CN" b="1" dirty="0">
                <a:latin typeface="楷体_GB2312" pitchFamily="49" charset="-122"/>
                <a:ea typeface="楷体_GB2312" pitchFamily="49" charset="-122"/>
              </a:rPr>
              <a:t>   }</a:t>
            </a:r>
          </a:p>
          <a:p>
            <a:pPr marL="0" indent="0" eaLnBrk="1" hangingPunct="1">
              <a:lnSpc>
                <a:spcPct val="90000"/>
              </a:lnSpc>
              <a:buFont typeface="Monotype Sorts" pitchFamily="2" charset="2"/>
              <a:buNone/>
            </a:pPr>
            <a:r>
              <a:rPr lang="en-US" altLang="zh-CN" b="1" dirty="0">
                <a:latin typeface="楷体_GB2312" pitchFamily="49" charset="-122"/>
                <a:ea typeface="楷体_GB2312" pitchFamily="49" charset="-122"/>
              </a:rPr>
              <a:t>   </a:t>
            </a:r>
            <a:r>
              <a:rPr lang="en-US" altLang="zh-CN" b="1" dirty="0">
                <a:solidFill>
                  <a:srgbClr val="FF0000"/>
                </a:solidFill>
                <a:latin typeface="楷体_GB2312" pitchFamily="49" charset="-122"/>
                <a:ea typeface="楷体_GB2312" pitchFamily="49" charset="-122"/>
              </a:rPr>
              <a:t>return v1</a:t>
            </a:r>
            <a:r>
              <a:rPr lang="en-US" altLang="zh-CN" b="1" dirty="0">
                <a:latin typeface="楷体_GB2312" pitchFamily="49" charset="-122"/>
                <a:ea typeface="楷体_GB2312" pitchFamily="49" charset="-122"/>
              </a:rPr>
              <a:t>;</a:t>
            </a:r>
          </a:p>
          <a:p>
            <a:pPr marL="0" indent="0" eaLnBrk="1" hangingPunct="1">
              <a:lnSpc>
                <a:spcPct val="90000"/>
              </a:lnSpc>
              <a:buFont typeface="Monotype Sorts" pitchFamily="2" charset="2"/>
              <a:buNone/>
            </a:pPr>
            <a:r>
              <a:rPr lang="en-US" altLang="zh-CN" b="1" dirty="0">
                <a:latin typeface="楷体_GB2312" pitchFamily="49" charset="-122"/>
                <a:ea typeface="楷体_GB2312" pitchFamily="49" charset="-122"/>
              </a:rPr>
              <a:t>}</a:t>
            </a:r>
          </a:p>
        </p:txBody>
      </p:sp>
      <p:sp>
        <p:nvSpPr>
          <p:cNvPr id="5" name="灯片编号占位符 5"/>
          <p:cNvSpPr>
            <a:spLocks noGrp="1"/>
          </p:cNvSpPr>
          <p:nvPr>
            <p:ph type="sldNum" sz="quarter" idx="12"/>
          </p:nvPr>
        </p:nvSpPr>
        <p:spPr/>
        <p:txBody>
          <a:bodyPr/>
          <a:lstStyle/>
          <a:p>
            <a:pPr>
              <a:defRPr/>
            </a:pPr>
            <a:fld id="{A75A4C22-FE68-4B0A-9DD6-F8043E37BCA2}" type="slidenum">
              <a:rPr lang="en-US" altLang="zh-CN"/>
              <a:pPr>
                <a:defRPr/>
              </a:pPr>
              <a:t>110</a:t>
            </a:fld>
            <a:endParaRPr lang="en-US" altLang="zh-CN"/>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442" name="Rectangle 2"/>
          <p:cNvSpPr>
            <a:spLocks noGrp="1" noChangeArrowheads="1"/>
          </p:cNvSpPr>
          <p:nvPr>
            <p:ph type="body" sz="half" idx="1"/>
          </p:nvPr>
        </p:nvSpPr>
        <p:spPr>
          <a:xfrm>
            <a:off x="250825" y="476250"/>
            <a:ext cx="2520950" cy="5329238"/>
          </a:xfrm>
        </p:spPr>
        <p:txBody>
          <a:bodyPr>
            <a:noAutofit/>
          </a:bodyPr>
          <a:lstStyle/>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例</a:t>
            </a:r>
            <a:r>
              <a:rPr lang="en-US" altLang="zh-CN" sz="2400" b="1" dirty="0">
                <a:latin typeface="楷体_GB2312" pitchFamily="49" charset="-122"/>
                <a:ea typeface="楷体_GB2312" pitchFamily="49" charset="-122"/>
              </a:rPr>
              <a:t>7.14】</a:t>
            </a:r>
            <a:r>
              <a:rPr lang="zh-CN" altLang="en-US" sz="2400" b="1" dirty="0">
                <a:latin typeface="楷体_GB2312" pitchFamily="49" charset="-122"/>
                <a:ea typeface="楷体_GB2312" pitchFamily="49" charset="-122"/>
              </a:rPr>
              <a:t>设有顺序编号为</a:t>
            </a:r>
            <a:r>
              <a:rPr lang="en-US" altLang="zh-CN" sz="2400" b="1" dirty="0">
                <a:latin typeface="楷体_GB2312" pitchFamily="49" charset="-122"/>
                <a:ea typeface="楷体_GB2312" pitchFamily="49" charset="-122"/>
              </a:rPr>
              <a:t>1</a:t>
            </a:r>
            <a:r>
              <a:rPr lang="zh-CN" altLang="en-US" sz="2400" b="1" dirty="0">
                <a:latin typeface="楷体_GB2312" pitchFamily="49" charset="-122"/>
                <a:ea typeface="楷体_GB2312" pitchFamily="49" charset="-122"/>
              </a:rPr>
              <a:t>至</a:t>
            </a:r>
            <a:r>
              <a:rPr lang="en-US" altLang="zh-CN" sz="2400" b="1" dirty="0">
                <a:latin typeface="楷体_GB2312" pitchFamily="49" charset="-122"/>
                <a:ea typeface="楷体_GB2312" pitchFamily="49" charset="-122"/>
              </a:rPr>
              <a:t>n</a:t>
            </a:r>
            <a:r>
              <a:rPr lang="zh-CN" altLang="en-US" sz="2400" b="1" dirty="0">
                <a:latin typeface="楷体_GB2312" pitchFamily="49" charset="-122"/>
                <a:ea typeface="楷体_GB2312" pitchFamily="49" charset="-122"/>
              </a:rPr>
              <a:t>的</a:t>
            </a:r>
            <a:r>
              <a:rPr lang="en-US" altLang="zh-CN" sz="2400" b="1" dirty="0">
                <a:latin typeface="楷体_GB2312" pitchFamily="49" charset="-122"/>
                <a:ea typeface="楷体_GB2312" pitchFamily="49" charset="-122"/>
              </a:rPr>
              <a:t>n</a:t>
            </a:r>
            <a:r>
              <a:rPr lang="zh-CN" altLang="en-US" sz="2400" b="1" dirty="0">
                <a:latin typeface="楷体_GB2312" pitchFamily="49" charset="-122"/>
                <a:ea typeface="楷体_GB2312" pitchFamily="49" charset="-122"/>
              </a:rPr>
              <a:t>个人，按顺时针顺序站成一个圆圈。首先从第</a:t>
            </a:r>
            <a:r>
              <a:rPr lang="en-US" altLang="zh-CN" sz="2400" b="1" dirty="0">
                <a:latin typeface="楷体_GB2312" pitchFamily="49" charset="-122"/>
                <a:ea typeface="楷体_GB2312" pitchFamily="49" charset="-122"/>
              </a:rPr>
              <a:t>1</a:t>
            </a:r>
            <a:r>
              <a:rPr lang="zh-CN" altLang="en-US" sz="2400" b="1" dirty="0">
                <a:latin typeface="楷体_GB2312" pitchFamily="49" charset="-122"/>
                <a:ea typeface="楷体_GB2312" pitchFamily="49" charset="-122"/>
              </a:rPr>
              <a:t>个人开始，从</a:t>
            </a:r>
            <a:r>
              <a:rPr lang="en-US" altLang="zh-CN" sz="2400" b="1" dirty="0">
                <a:latin typeface="楷体_GB2312" pitchFamily="49" charset="-122"/>
                <a:ea typeface="楷体_GB2312" pitchFamily="49" charset="-122"/>
              </a:rPr>
              <a:t>1</a:t>
            </a:r>
            <a:r>
              <a:rPr lang="zh-CN" altLang="en-US" sz="2400" b="1" dirty="0">
                <a:latin typeface="楷体_GB2312" pitchFamily="49" charset="-122"/>
                <a:ea typeface="楷体_GB2312" pitchFamily="49" charset="-122"/>
              </a:rPr>
              <a:t>开始顺时针报数</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报到第</a:t>
            </a:r>
            <a:r>
              <a:rPr lang="en-US" altLang="zh-CN" sz="2400" b="1" dirty="0">
                <a:latin typeface="楷体_GB2312" pitchFamily="49" charset="-122"/>
                <a:ea typeface="楷体_GB2312" pitchFamily="49" charset="-122"/>
              </a:rPr>
              <a:t>m</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n</a:t>
            </a:r>
            <a:r>
              <a:rPr lang="zh-CN" altLang="en-US" sz="2400" b="1" dirty="0">
                <a:latin typeface="楷体_GB2312" pitchFamily="49" charset="-122"/>
                <a:ea typeface="楷体_GB2312" pitchFamily="49" charset="-122"/>
              </a:rPr>
              <a:t>）个人，令其出列。然后再从出列的下一个人开始，从</a:t>
            </a:r>
            <a:r>
              <a:rPr lang="en-US" altLang="zh-CN" sz="2400" b="1" dirty="0">
                <a:latin typeface="楷体_GB2312" pitchFamily="49" charset="-122"/>
                <a:ea typeface="楷体_GB2312" pitchFamily="49" charset="-122"/>
              </a:rPr>
              <a:t>1</a:t>
            </a:r>
            <a:r>
              <a:rPr lang="zh-CN" altLang="en-US" sz="2400" b="1" dirty="0">
                <a:latin typeface="楷体_GB2312" pitchFamily="49" charset="-122"/>
                <a:ea typeface="楷体_GB2312" pitchFamily="49" charset="-122"/>
              </a:rPr>
              <a:t>顺时针报数，报到第</a:t>
            </a:r>
            <a:r>
              <a:rPr lang="en-US" altLang="zh-CN" sz="2400" b="1" dirty="0">
                <a:latin typeface="楷体_GB2312" pitchFamily="49" charset="-122"/>
                <a:ea typeface="楷体_GB2312" pitchFamily="49" charset="-122"/>
              </a:rPr>
              <a:t>m</a:t>
            </a:r>
            <a:r>
              <a:rPr lang="zh-CN" altLang="en-US" sz="2400" b="1" dirty="0">
                <a:latin typeface="楷体_GB2312" pitchFamily="49" charset="-122"/>
                <a:ea typeface="楷体_GB2312" pitchFamily="49" charset="-122"/>
              </a:rPr>
              <a:t>个人，再令其出列，┅┅  ，如此下去</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直到圆圈不再有人为止。求这</a:t>
            </a:r>
            <a:r>
              <a:rPr lang="en-US" altLang="zh-CN" sz="2400" b="1" dirty="0">
                <a:latin typeface="楷体_GB2312" pitchFamily="49" charset="-122"/>
                <a:ea typeface="楷体_GB2312" pitchFamily="49" charset="-122"/>
              </a:rPr>
              <a:t>n</a:t>
            </a:r>
            <a:r>
              <a:rPr lang="zh-CN" altLang="en-US" sz="2400" b="1" dirty="0">
                <a:latin typeface="楷体_GB2312" pitchFamily="49" charset="-122"/>
                <a:ea typeface="楷体_GB2312" pitchFamily="49" charset="-122"/>
              </a:rPr>
              <a:t>个人出列顺序。</a:t>
            </a:r>
          </a:p>
        </p:txBody>
      </p:sp>
      <p:pic>
        <p:nvPicPr>
          <p:cNvPr id="108548" name="Picture 3"/>
          <p:cNvPicPr>
            <a:picLocks noGrp="1" noChangeAspect="1" noChangeArrowheads="1"/>
          </p:cNvPicPr>
          <p:nvPr>
            <p:ph sz="quarter" idx="2"/>
          </p:nvPr>
        </p:nvPicPr>
        <p:blipFill>
          <a:blip r:embed="rId2" cstate="print"/>
          <a:srcRect r="54085" b="212"/>
          <a:stretch>
            <a:fillRect/>
          </a:stretch>
        </p:blipFill>
        <p:spPr>
          <a:xfrm>
            <a:off x="3276600" y="1125538"/>
            <a:ext cx="5064125" cy="1895475"/>
          </a:xfrm>
          <a:noFill/>
        </p:spPr>
      </p:pic>
      <p:pic>
        <p:nvPicPr>
          <p:cNvPr id="108549" name="Picture 6"/>
          <p:cNvPicPr>
            <a:picLocks noGrp="1" noChangeAspect="1" noChangeArrowheads="1"/>
          </p:cNvPicPr>
          <p:nvPr>
            <p:ph sz="quarter" idx="3"/>
          </p:nvPr>
        </p:nvPicPr>
        <p:blipFill>
          <a:blip r:embed="rId2" cstate="print"/>
          <a:srcRect l="45760" t="1250" b="983"/>
          <a:stretch>
            <a:fillRect/>
          </a:stretch>
        </p:blipFill>
        <p:spPr>
          <a:xfrm>
            <a:off x="2843213" y="3068638"/>
            <a:ext cx="5929312" cy="1800225"/>
          </a:xfrm>
          <a:noFill/>
        </p:spPr>
      </p:pic>
      <p:sp>
        <p:nvSpPr>
          <p:cNvPr id="8" name="灯片编号占位符 7"/>
          <p:cNvSpPr>
            <a:spLocks noGrp="1"/>
          </p:cNvSpPr>
          <p:nvPr>
            <p:ph type="sldNum" sz="quarter" idx="12"/>
          </p:nvPr>
        </p:nvSpPr>
        <p:spPr/>
        <p:txBody>
          <a:bodyPr/>
          <a:lstStyle/>
          <a:p>
            <a:pPr>
              <a:defRPr/>
            </a:pPr>
            <a:fld id="{D6CB5379-8A63-47B8-AE26-964BCF7E1064}" type="slidenum">
              <a:rPr lang="en-US" altLang="zh-CN"/>
              <a:pPr>
                <a:defRPr/>
              </a:pPr>
              <a:t>111</a:t>
            </a:fld>
            <a:endParaRPr lang="en-US" altLang="zh-CN"/>
          </a:p>
        </p:txBody>
      </p:sp>
      <p:sp>
        <p:nvSpPr>
          <p:cNvPr id="701449" name="Text Box 9"/>
          <p:cNvSpPr txBox="1">
            <a:spLocks noChangeArrowheads="1"/>
          </p:cNvSpPr>
          <p:nvPr/>
        </p:nvSpPr>
        <p:spPr bwMode="auto">
          <a:xfrm>
            <a:off x="3357554" y="4929198"/>
            <a:ext cx="5184775" cy="1458912"/>
          </a:xfrm>
          <a:prstGeom prst="rect">
            <a:avLst/>
          </a:prstGeom>
          <a:noFill/>
          <a:ln w="9525">
            <a:noFill/>
            <a:miter lim="800000"/>
            <a:headEnd/>
            <a:tailEnd/>
          </a:ln>
          <a:effectLst/>
        </p:spPr>
        <p:txBody>
          <a:bodyPr>
            <a:spAutoFit/>
          </a:bodyPr>
          <a:lstStyle/>
          <a:p>
            <a:pPr>
              <a:lnSpc>
                <a:spcPct val="90000"/>
              </a:lnSpc>
              <a:spcBef>
                <a:spcPct val="20000"/>
              </a:spcBef>
              <a:buClr>
                <a:schemeClr val="hlink"/>
              </a:buClr>
              <a:buSzPct val="50000"/>
              <a:buFont typeface="Monotype Sorts" pitchFamily="2" charset="2"/>
              <a:buNone/>
              <a:defRPr/>
            </a:pPr>
            <a:r>
              <a:rPr kumimoji="1" lang="zh-CN" altLang="en-US" b="1" dirty="0">
                <a:effectLst>
                  <a:outerShdw blurRad="38100" dist="38100" dir="2700000" algn="tl">
                    <a:srgbClr val="000000"/>
                  </a:outerShdw>
                </a:effectLst>
                <a:latin typeface="楷体_GB2312" pitchFamily="49" charset="-122"/>
                <a:ea typeface="楷体_GB2312" pitchFamily="49" charset="-122"/>
              </a:rPr>
              <a:t>图</a:t>
            </a:r>
            <a:r>
              <a:rPr kumimoji="1" lang="en-US" altLang="zh-CN" b="1" dirty="0">
                <a:effectLst>
                  <a:outerShdw blurRad="38100" dist="38100" dir="2700000" algn="tl">
                    <a:srgbClr val="000000"/>
                  </a:outerShdw>
                </a:effectLst>
                <a:latin typeface="楷体_GB2312" pitchFamily="49" charset="-122"/>
                <a:ea typeface="楷体_GB2312" pitchFamily="49" charset="-122"/>
              </a:rPr>
              <a:t>7-14 n = 8</a:t>
            </a:r>
            <a:r>
              <a:rPr kumimoji="1" lang="zh-CN" altLang="en-US" b="1" dirty="0">
                <a:effectLst>
                  <a:outerShdw blurRad="38100" dist="38100" dir="2700000" algn="tl">
                    <a:srgbClr val="000000"/>
                  </a:outerShdw>
                </a:effectLst>
                <a:latin typeface="楷体_GB2312" pitchFamily="49" charset="-122"/>
                <a:ea typeface="楷体_GB2312" pitchFamily="49" charset="-122"/>
              </a:rPr>
              <a:t>，</a:t>
            </a:r>
            <a:r>
              <a:rPr kumimoji="1" lang="en-US" altLang="zh-CN" b="1" dirty="0">
                <a:effectLst>
                  <a:outerShdw blurRad="38100" dist="38100" dir="2700000" algn="tl">
                    <a:srgbClr val="000000"/>
                  </a:outerShdw>
                </a:effectLst>
                <a:latin typeface="楷体_GB2312" pitchFamily="49" charset="-122"/>
                <a:ea typeface="楷体_GB2312" pitchFamily="49" charset="-122"/>
              </a:rPr>
              <a:t>m = 3,8</a:t>
            </a:r>
            <a:r>
              <a:rPr kumimoji="1" lang="zh-CN" altLang="en-US" b="1" dirty="0">
                <a:effectLst>
                  <a:outerShdw blurRad="38100" dist="38100" dir="2700000" algn="tl">
                    <a:srgbClr val="000000"/>
                  </a:outerShdw>
                </a:effectLst>
                <a:latin typeface="楷体_GB2312" pitchFamily="49" charset="-122"/>
                <a:ea typeface="楷体_GB2312" pitchFamily="49" charset="-122"/>
              </a:rPr>
              <a:t>个人站成圆圈，从第一个人开始报数，每次第</a:t>
            </a:r>
            <a:r>
              <a:rPr kumimoji="1" lang="en-US" altLang="zh-CN" b="1" dirty="0">
                <a:effectLst>
                  <a:outerShdw blurRad="38100" dist="38100" dir="2700000" algn="tl">
                    <a:srgbClr val="000000"/>
                  </a:outerShdw>
                </a:effectLst>
                <a:latin typeface="楷体_GB2312" pitchFamily="49" charset="-122"/>
                <a:ea typeface="楷体_GB2312" pitchFamily="49" charset="-122"/>
              </a:rPr>
              <a:t>3</a:t>
            </a:r>
            <a:r>
              <a:rPr kumimoji="1" lang="zh-CN" altLang="en-US" b="1" dirty="0">
                <a:effectLst>
                  <a:outerShdw blurRad="38100" dist="38100" dir="2700000" algn="tl">
                    <a:srgbClr val="000000"/>
                  </a:outerShdw>
                </a:effectLst>
                <a:latin typeface="楷体_GB2312" pitchFamily="49" charset="-122"/>
                <a:ea typeface="楷体_GB2312" pitchFamily="49" charset="-122"/>
              </a:rPr>
              <a:t>人出列的示意图。 </a:t>
            </a:r>
          </a:p>
          <a:p>
            <a:pPr>
              <a:defRPr/>
            </a:pPr>
            <a:endParaRPr lang="en-US" altLang="zh-CN" b="1" dirty="0">
              <a:effectLst>
                <a:outerShdw blurRad="38100" dist="38100" dir="2700000" algn="tl">
                  <a:srgbClr val="000000"/>
                </a:outerShdw>
              </a:effectLst>
              <a:latin typeface="楷体_GB2312" pitchFamily="49" charset="-122"/>
              <a:ea typeface="楷体_GB2312" pitchFamily="49" charset="-122"/>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5538" name="Rectangle 2"/>
          <p:cNvSpPr>
            <a:spLocks noGrp="1" noChangeArrowheads="1"/>
          </p:cNvSpPr>
          <p:nvPr>
            <p:ph idx="1"/>
          </p:nvPr>
        </p:nvSpPr>
        <p:spPr>
          <a:xfrm>
            <a:off x="395288" y="476250"/>
            <a:ext cx="8424862" cy="5832475"/>
          </a:xfrm>
        </p:spPr>
        <p:txBody>
          <a:bodyPr/>
          <a:lstStyle/>
          <a:p>
            <a:pPr marL="0" indent="0" eaLnBrk="1" hangingPunct="1">
              <a:lnSpc>
                <a:spcPct val="80000"/>
              </a:lnSpc>
              <a:buFont typeface="Monotype Sorts" pitchFamily="2" charset="2"/>
              <a:buNone/>
              <a:defRPr/>
            </a:pPr>
            <a:r>
              <a:rPr lang="en-US" altLang="zh-CN" sz="2000" b="1" dirty="0">
                <a:latin typeface="楷体_GB2312" pitchFamily="49" charset="-122"/>
                <a:ea typeface="楷体_GB2312" pitchFamily="49" charset="-122"/>
              </a:rPr>
              <a:t>#include  &lt;</a:t>
            </a:r>
            <a:r>
              <a:rPr lang="en-US" altLang="zh-CN" sz="2000" b="1" dirty="0" err="1">
                <a:latin typeface="楷体_GB2312" pitchFamily="49" charset="-122"/>
                <a:ea typeface="楷体_GB2312" pitchFamily="49" charset="-122"/>
              </a:rPr>
              <a:t>stdio.h</a:t>
            </a:r>
            <a:r>
              <a:rPr lang="en-US" altLang="zh-CN" sz="2000" b="1" dirty="0">
                <a:latin typeface="楷体_GB2312" pitchFamily="49" charset="-122"/>
                <a:ea typeface="楷体_GB2312" pitchFamily="49" charset="-122"/>
              </a:rPr>
              <a:t>&gt;</a:t>
            </a:r>
          </a:p>
          <a:p>
            <a:pPr marL="0" indent="0" eaLnBrk="1" hangingPunct="1">
              <a:lnSpc>
                <a:spcPct val="80000"/>
              </a:lnSpc>
              <a:buFont typeface="Monotype Sorts" pitchFamily="2" charset="2"/>
              <a:buNone/>
              <a:defRPr/>
            </a:pPr>
            <a:r>
              <a:rPr lang="en-US" altLang="zh-CN" sz="2000" b="1" dirty="0">
                <a:latin typeface="楷体_GB2312" pitchFamily="49" charset="-122"/>
                <a:ea typeface="楷体_GB2312" pitchFamily="49" charset="-122"/>
              </a:rPr>
              <a:t>#include &lt;</a:t>
            </a:r>
            <a:r>
              <a:rPr lang="en-US" altLang="zh-CN" sz="2000" b="1" dirty="0" err="1">
                <a:latin typeface="楷体_GB2312" pitchFamily="49" charset="-122"/>
                <a:ea typeface="楷体_GB2312" pitchFamily="49" charset="-122"/>
              </a:rPr>
              <a:t>malloc.h</a:t>
            </a:r>
            <a:r>
              <a:rPr lang="en-US" altLang="zh-CN" sz="2000" b="1" dirty="0">
                <a:latin typeface="楷体_GB2312" pitchFamily="49" charset="-122"/>
                <a:ea typeface="楷体_GB2312" pitchFamily="49" charset="-122"/>
              </a:rPr>
              <a:t>&gt;</a:t>
            </a:r>
          </a:p>
          <a:p>
            <a:pPr marL="0" indent="0" eaLnBrk="1" hangingPunct="1">
              <a:lnSpc>
                <a:spcPct val="80000"/>
              </a:lnSpc>
              <a:buFont typeface="Monotype Sorts" pitchFamily="2" charset="2"/>
              <a:buNone/>
              <a:defRPr/>
            </a:pPr>
            <a:r>
              <a:rPr lang="en-US" altLang="zh-CN" sz="2000" b="1" dirty="0" err="1">
                <a:latin typeface="楷体_GB2312" pitchFamily="49" charset="-122"/>
                <a:ea typeface="楷体_GB2312" pitchFamily="49" charset="-122"/>
              </a:rPr>
              <a:t>struct</a:t>
            </a:r>
            <a:r>
              <a:rPr lang="en-US" altLang="zh-CN" sz="2000" b="1" dirty="0">
                <a:latin typeface="楷体_GB2312" pitchFamily="49" charset="-122"/>
                <a:ea typeface="楷体_GB2312" pitchFamily="49" charset="-122"/>
              </a:rPr>
              <a:t> Node{</a:t>
            </a:r>
          </a:p>
          <a:p>
            <a:pPr marL="0" indent="0" eaLnBrk="1" hangingPunct="1">
              <a:lnSpc>
                <a:spcPct val="80000"/>
              </a:lnSpc>
              <a:buFont typeface="Monotype Sorts" pitchFamily="2" charset="2"/>
              <a:buNone/>
              <a:defRPr/>
            </a:pPr>
            <a:r>
              <a:rPr lang="en-US" altLang="zh-CN" sz="2000" b="1" dirty="0">
                <a:latin typeface="楷体_GB2312" pitchFamily="49" charset="-122"/>
                <a:ea typeface="楷体_GB2312" pitchFamily="49" charset="-122"/>
              </a:rPr>
              <a:t>    </a:t>
            </a:r>
            <a:r>
              <a:rPr lang="en-US" altLang="zh-CN" sz="2000" b="1" dirty="0" err="1">
                <a:latin typeface="楷体_GB2312" pitchFamily="49" charset="-122"/>
                <a:ea typeface="楷体_GB2312" pitchFamily="49" charset="-122"/>
              </a:rPr>
              <a:t>int</a:t>
            </a:r>
            <a:r>
              <a:rPr lang="en-US" altLang="zh-CN" sz="2000" b="1" dirty="0">
                <a:latin typeface="楷体_GB2312" pitchFamily="49" charset="-122"/>
                <a:ea typeface="楷体_GB2312" pitchFamily="49" charset="-122"/>
              </a:rPr>
              <a:t> num;</a:t>
            </a:r>
          </a:p>
          <a:p>
            <a:pPr marL="0" indent="0" eaLnBrk="1" hangingPunct="1">
              <a:lnSpc>
                <a:spcPct val="80000"/>
              </a:lnSpc>
              <a:buFont typeface="Monotype Sorts" pitchFamily="2" charset="2"/>
              <a:buNone/>
              <a:defRPr/>
            </a:pPr>
            <a:r>
              <a:rPr lang="en-US" altLang="zh-CN" sz="2000" b="1" dirty="0">
                <a:latin typeface="楷体_GB2312" pitchFamily="49" charset="-122"/>
                <a:ea typeface="楷体_GB2312" pitchFamily="49" charset="-122"/>
              </a:rPr>
              <a:t>    Node *next;</a:t>
            </a:r>
          </a:p>
          <a:p>
            <a:pPr marL="0" indent="0" eaLnBrk="1" hangingPunct="1">
              <a:lnSpc>
                <a:spcPct val="80000"/>
              </a:lnSpc>
              <a:buFont typeface="Monotype Sorts" pitchFamily="2" charset="2"/>
              <a:buNone/>
              <a:defRPr/>
            </a:pPr>
            <a:r>
              <a:rPr lang="en-US" altLang="zh-CN" sz="2000" b="1" dirty="0">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0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构造含</a:t>
            </a:r>
            <a:r>
              <a:rPr lang="en-US" altLang="zh-CN" sz="2000" b="1" dirty="0">
                <a:latin typeface="楷体_GB2312" pitchFamily="49" charset="-122"/>
                <a:ea typeface="楷体_GB2312" pitchFamily="49" charset="-122"/>
              </a:rPr>
              <a:t>n</a:t>
            </a:r>
            <a:r>
              <a:rPr lang="zh-CN" altLang="en-US" sz="2000" b="1" dirty="0">
                <a:latin typeface="楷体_GB2312" pitchFamily="49" charset="-122"/>
                <a:ea typeface="楷体_GB2312" pitchFamily="49" charset="-122"/>
              </a:rPr>
              <a:t>个表元的循环链表*</a:t>
            </a:r>
            <a:r>
              <a:rPr lang="en-US" altLang="zh-CN" sz="2000" b="1" dirty="0">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000" b="1" dirty="0">
                <a:latin typeface="楷体_GB2312" pitchFamily="49" charset="-122"/>
                <a:ea typeface="楷体_GB2312" pitchFamily="49" charset="-122"/>
              </a:rPr>
              <a:t>Node *</a:t>
            </a:r>
            <a:r>
              <a:rPr lang="en-US" altLang="zh-CN" sz="2000" b="1" dirty="0" err="1">
                <a:latin typeface="楷体_GB2312" pitchFamily="49" charset="-122"/>
                <a:ea typeface="楷体_GB2312" pitchFamily="49" charset="-122"/>
              </a:rPr>
              <a:t>makeLoop</a:t>
            </a:r>
            <a:r>
              <a:rPr lang="en-US" altLang="zh-CN" sz="2000" b="1" dirty="0">
                <a:latin typeface="楷体_GB2312" pitchFamily="49" charset="-122"/>
                <a:ea typeface="楷体_GB2312" pitchFamily="49" charset="-122"/>
              </a:rPr>
              <a:t>(</a:t>
            </a:r>
            <a:r>
              <a:rPr lang="en-US" altLang="zh-CN" sz="2000" b="1" dirty="0" err="1">
                <a:latin typeface="楷体_GB2312" pitchFamily="49" charset="-122"/>
                <a:ea typeface="楷体_GB2312" pitchFamily="49" charset="-122"/>
              </a:rPr>
              <a:t>int</a:t>
            </a:r>
            <a:r>
              <a:rPr lang="en-US" altLang="zh-CN" sz="2000" b="1" dirty="0">
                <a:latin typeface="楷体_GB2312" pitchFamily="49" charset="-122"/>
                <a:ea typeface="楷体_GB2312" pitchFamily="49" charset="-122"/>
              </a:rPr>
              <a:t> n)</a:t>
            </a:r>
          </a:p>
          <a:p>
            <a:pPr marL="0" indent="0" eaLnBrk="1" hangingPunct="1">
              <a:lnSpc>
                <a:spcPct val="80000"/>
              </a:lnSpc>
              <a:buFont typeface="Monotype Sorts" pitchFamily="2" charset="2"/>
              <a:buNone/>
              <a:defRPr/>
            </a:pPr>
            <a:r>
              <a:rPr lang="en-US" altLang="zh-CN" sz="2000" b="1" dirty="0">
                <a:latin typeface="楷体_GB2312" pitchFamily="49" charset="-122"/>
                <a:ea typeface="楷体_GB2312" pitchFamily="49" charset="-122"/>
              </a:rPr>
              <a:t>{   Node *h, *tail, *p;</a:t>
            </a:r>
          </a:p>
          <a:p>
            <a:pPr marL="0" indent="0" eaLnBrk="1" hangingPunct="1">
              <a:lnSpc>
                <a:spcPct val="80000"/>
              </a:lnSpc>
              <a:buFont typeface="Monotype Sorts" pitchFamily="2" charset="2"/>
              <a:buNone/>
              <a:defRPr/>
            </a:pPr>
            <a:r>
              <a:rPr lang="en-US" altLang="zh-CN" sz="2000" b="1" dirty="0">
                <a:latin typeface="楷体_GB2312" pitchFamily="49" charset="-122"/>
                <a:ea typeface="楷体_GB2312" pitchFamily="49" charset="-122"/>
              </a:rPr>
              <a:t>    </a:t>
            </a:r>
            <a:r>
              <a:rPr lang="en-US" altLang="zh-CN" sz="2000" b="1" dirty="0" err="1">
                <a:latin typeface="楷体_GB2312" pitchFamily="49" charset="-122"/>
                <a:ea typeface="楷体_GB2312" pitchFamily="49" charset="-122"/>
              </a:rPr>
              <a:t>int</a:t>
            </a:r>
            <a:r>
              <a:rPr lang="en-US" altLang="zh-CN" sz="2000" b="1" dirty="0">
                <a:latin typeface="楷体_GB2312" pitchFamily="49" charset="-122"/>
                <a:ea typeface="楷体_GB2312" pitchFamily="49" charset="-122"/>
              </a:rPr>
              <a:t> </a:t>
            </a:r>
            <a:r>
              <a:rPr lang="en-US" altLang="zh-CN" sz="2000" b="1" dirty="0" err="1">
                <a:latin typeface="楷体_GB2312" pitchFamily="49" charset="-122"/>
                <a:ea typeface="楷体_GB2312" pitchFamily="49" charset="-122"/>
              </a:rPr>
              <a:t>i</a:t>
            </a:r>
            <a:r>
              <a:rPr lang="en-US" altLang="zh-CN" sz="2000" b="1" dirty="0">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000" b="1" dirty="0">
                <a:latin typeface="楷体_GB2312" pitchFamily="49" charset="-122"/>
                <a:ea typeface="楷体_GB2312" pitchFamily="49" charset="-122"/>
              </a:rPr>
              <a:t>    for(h = tail = NULL, </a:t>
            </a:r>
            <a:r>
              <a:rPr lang="en-US" altLang="zh-CN" sz="2000" b="1" dirty="0" err="1">
                <a:latin typeface="楷体_GB2312" pitchFamily="49" charset="-122"/>
                <a:ea typeface="楷体_GB2312" pitchFamily="49" charset="-122"/>
              </a:rPr>
              <a:t>i</a:t>
            </a:r>
            <a:r>
              <a:rPr lang="en-US" altLang="zh-CN" sz="2000" b="1" dirty="0">
                <a:latin typeface="楷体_GB2312" pitchFamily="49" charset="-122"/>
                <a:ea typeface="楷体_GB2312" pitchFamily="49" charset="-122"/>
              </a:rPr>
              <a:t> = 1; </a:t>
            </a:r>
            <a:r>
              <a:rPr lang="en-US" altLang="zh-CN" sz="2000" b="1" dirty="0" err="1">
                <a:latin typeface="楷体_GB2312" pitchFamily="49" charset="-122"/>
                <a:ea typeface="楷体_GB2312" pitchFamily="49" charset="-122"/>
              </a:rPr>
              <a:t>i</a:t>
            </a:r>
            <a:r>
              <a:rPr lang="en-US" altLang="zh-CN" sz="2000" b="1" dirty="0">
                <a:latin typeface="楷体_GB2312" pitchFamily="49" charset="-122"/>
                <a:ea typeface="楷体_GB2312" pitchFamily="49" charset="-122"/>
              </a:rPr>
              <a:t> &lt;= n; </a:t>
            </a:r>
            <a:r>
              <a:rPr lang="en-US" altLang="zh-CN" sz="2000" b="1" dirty="0" err="1">
                <a:latin typeface="楷体_GB2312" pitchFamily="49" charset="-122"/>
                <a:ea typeface="楷体_GB2312" pitchFamily="49" charset="-122"/>
              </a:rPr>
              <a:t>i</a:t>
            </a:r>
            <a:r>
              <a:rPr lang="en-US" altLang="zh-CN" sz="2000" b="1" dirty="0">
                <a:latin typeface="楷体_GB2312" pitchFamily="49" charset="-122"/>
                <a:ea typeface="楷体_GB2312" pitchFamily="49" charset="-122"/>
              </a:rPr>
              <a:t>++) {</a:t>
            </a:r>
          </a:p>
          <a:p>
            <a:pPr marL="0" indent="0" eaLnBrk="1" hangingPunct="1">
              <a:lnSpc>
                <a:spcPct val="80000"/>
              </a:lnSpc>
              <a:buFont typeface="Monotype Sorts" pitchFamily="2" charset="2"/>
              <a:buNone/>
              <a:defRPr/>
            </a:pPr>
            <a:r>
              <a:rPr lang="en-US" altLang="zh-CN" sz="2000" b="1" dirty="0">
                <a:latin typeface="楷体_GB2312" pitchFamily="49" charset="-122"/>
                <a:ea typeface="楷体_GB2312" pitchFamily="49" charset="-122"/>
              </a:rPr>
              <a:t>        p = (Node *)</a:t>
            </a:r>
            <a:r>
              <a:rPr lang="en-US" altLang="zh-CN" sz="2000" b="1" dirty="0" err="1">
                <a:latin typeface="楷体_GB2312" pitchFamily="49" charset="-122"/>
                <a:ea typeface="楷体_GB2312" pitchFamily="49" charset="-122"/>
              </a:rPr>
              <a:t>malloc</a:t>
            </a:r>
            <a:r>
              <a:rPr lang="en-US" altLang="zh-CN" sz="2000" b="1" dirty="0">
                <a:latin typeface="楷体_GB2312" pitchFamily="49" charset="-122"/>
                <a:ea typeface="楷体_GB2312" pitchFamily="49" charset="-122"/>
              </a:rPr>
              <a:t>(</a:t>
            </a:r>
            <a:r>
              <a:rPr lang="en-US" altLang="zh-CN" sz="2000" b="1" dirty="0" err="1">
                <a:latin typeface="楷体_GB2312" pitchFamily="49" charset="-122"/>
                <a:ea typeface="楷体_GB2312" pitchFamily="49" charset="-122"/>
              </a:rPr>
              <a:t>sizeof</a:t>
            </a:r>
            <a:r>
              <a:rPr lang="en-US" altLang="zh-CN" sz="2000" b="1" dirty="0">
                <a:latin typeface="楷体_GB2312" pitchFamily="49" charset="-122"/>
                <a:ea typeface="楷体_GB2312" pitchFamily="49" charset="-122"/>
              </a:rPr>
              <a:t>(Node));</a:t>
            </a:r>
          </a:p>
          <a:p>
            <a:pPr marL="0" indent="0" eaLnBrk="1" hangingPunct="1">
              <a:lnSpc>
                <a:spcPct val="80000"/>
              </a:lnSpc>
              <a:buFont typeface="Monotype Sorts" pitchFamily="2" charset="2"/>
              <a:buNone/>
              <a:defRPr/>
            </a:pPr>
            <a:r>
              <a:rPr lang="en-US" altLang="zh-CN" sz="2000" b="1" dirty="0">
                <a:latin typeface="楷体_GB2312" pitchFamily="49" charset="-122"/>
                <a:ea typeface="楷体_GB2312" pitchFamily="49" charset="-122"/>
              </a:rPr>
              <a:t>        p-&gt;num = </a:t>
            </a:r>
            <a:r>
              <a:rPr lang="en-US" altLang="zh-CN" sz="2000" b="1" dirty="0" err="1">
                <a:latin typeface="楷体_GB2312" pitchFamily="49" charset="-122"/>
                <a:ea typeface="楷体_GB2312" pitchFamily="49" charset="-122"/>
              </a:rPr>
              <a:t>i</a:t>
            </a:r>
            <a:r>
              <a:rPr lang="en-US" altLang="zh-CN" sz="20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生成第</a:t>
            </a:r>
            <a:r>
              <a:rPr lang="en-US" altLang="zh-CN" sz="2000" b="1" dirty="0" err="1">
                <a:latin typeface="楷体_GB2312" pitchFamily="49" charset="-122"/>
                <a:ea typeface="楷体_GB2312" pitchFamily="49" charset="-122"/>
              </a:rPr>
              <a:t>i</a:t>
            </a:r>
            <a:r>
              <a:rPr lang="zh-CN" altLang="en-US" sz="2000" b="1" dirty="0">
                <a:latin typeface="楷体_GB2312" pitchFamily="49" charset="-122"/>
                <a:ea typeface="楷体_GB2312" pitchFamily="49" charset="-122"/>
              </a:rPr>
              <a:t>号表元*</a:t>
            </a:r>
            <a:r>
              <a:rPr lang="en-US" altLang="zh-CN" sz="2000" b="1" dirty="0">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000" b="1" dirty="0">
                <a:latin typeface="楷体_GB2312" pitchFamily="49" charset="-122"/>
                <a:ea typeface="楷体_GB2312" pitchFamily="49" charset="-122"/>
              </a:rPr>
              <a:t>        if(h == NULL) h = tail = p; /*</a:t>
            </a:r>
            <a:r>
              <a:rPr lang="zh-CN" altLang="en-US" sz="2000" b="1" dirty="0">
                <a:latin typeface="楷体_GB2312" pitchFamily="49" charset="-122"/>
                <a:ea typeface="楷体_GB2312" pitchFamily="49" charset="-122"/>
              </a:rPr>
              <a:t>插入首表元*</a:t>
            </a:r>
            <a:r>
              <a:rPr lang="en-US" altLang="zh-CN" sz="2000" b="1" dirty="0">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000" b="1" dirty="0">
                <a:latin typeface="楷体_GB2312" pitchFamily="49" charset="-122"/>
                <a:ea typeface="楷体_GB2312" pitchFamily="49" charset="-122"/>
              </a:rPr>
              <a:t>        else tail = tail-&gt;next = p; /*</a:t>
            </a:r>
            <a:r>
              <a:rPr lang="zh-CN" altLang="en-US" sz="2000" b="1" dirty="0">
                <a:latin typeface="楷体_GB2312" pitchFamily="49" charset="-122"/>
                <a:ea typeface="楷体_GB2312" pitchFamily="49" charset="-122"/>
              </a:rPr>
              <a:t>第</a:t>
            </a:r>
            <a:r>
              <a:rPr lang="en-US" altLang="zh-CN" sz="2000" b="1" dirty="0" err="1">
                <a:latin typeface="楷体_GB2312" pitchFamily="49" charset="-122"/>
                <a:ea typeface="楷体_GB2312" pitchFamily="49" charset="-122"/>
              </a:rPr>
              <a:t>i</a:t>
            </a:r>
            <a:r>
              <a:rPr lang="zh-CN" altLang="en-US" sz="2000" b="1" dirty="0">
                <a:latin typeface="楷体_GB2312" pitchFamily="49" charset="-122"/>
                <a:ea typeface="楷体_GB2312" pitchFamily="49" charset="-122"/>
              </a:rPr>
              <a:t>号表元接在链表末尾*</a:t>
            </a:r>
            <a:r>
              <a:rPr lang="en-US" altLang="zh-CN" sz="2000" b="1" dirty="0">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000" b="1" dirty="0">
                <a:latin typeface="楷体_GB2312" pitchFamily="49" charset="-122"/>
                <a:ea typeface="楷体_GB2312" pitchFamily="49" charset="-122"/>
              </a:rPr>
              <a:t>    }</a:t>
            </a:r>
          </a:p>
          <a:p>
            <a:pPr marL="0" indent="0" eaLnBrk="1" hangingPunct="1">
              <a:lnSpc>
                <a:spcPct val="80000"/>
              </a:lnSpc>
              <a:buFont typeface="Monotype Sorts" pitchFamily="2" charset="2"/>
              <a:buNone/>
              <a:defRPr/>
            </a:pPr>
            <a:r>
              <a:rPr lang="en-US" altLang="zh-CN" sz="2000" b="1" dirty="0">
                <a:latin typeface="楷体_GB2312" pitchFamily="49" charset="-122"/>
                <a:ea typeface="楷体_GB2312" pitchFamily="49" charset="-122"/>
              </a:rPr>
              <a:t>    </a:t>
            </a:r>
            <a:r>
              <a:rPr lang="en-US" altLang="zh-CN" sz="2000" b="1" dirty="0">
                <a:solidFill>
                  <a:srgbClr val="FF0000"/>
                </a:solidFill>
                <a:latin typeface="楷体_GB2312" pitchFamily="49" charset="-122"/>
                <a:ea typeface="楷体_GB2312" pitchFamily="49" charset="-122"/>
              </a:rPr>
              <a:t>tail-&gt;next = h; </a:t>
            </a:r>
            <a:r>
              <a:rPr lang="en-US" altLang="zh-CN" sz="20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构成循环链表*</a:t>
            </a:r>
            <a:r>
              <a:rPr lang="en-US" altLang="zh-CN" sz="2000" b="1" dirty="0">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000" b="1" dirty="0">
                <a:latin typeface="楷体_GB2312" pitchFamily="49" charset="-122"/>
                <a:ea typeface="楷体_GB2312" pitchFamily="49" charset="-122"/>
              </a:rPr>
              <a:t>    return h; /*</a:t>
            </a:r>
            <a:r>
              <a:rPr lang="zh-CN" altLang="en-US" sz="2000" b="1" dirty="0">
                <a:latin typeface="楷体_GB2312" pitchFamily="49" charset="-122"/>
                <a:ea typeface="楷体_GB2312" pitchFamily="49" charset="-122"/>
              </a:rPr>
              <a:t>返回首表元指针*</a:t>
            </a:r>
            <a:r>
              <a:rPr lang="en-US" altLang="zh-CN" sz="2000" b="1" dirty="0">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000" b="1" dirty="0">
                <a:latin typeface="楷体_GB2312" pitchFamily="49" charset="-122"/>
                <a:ea typeface="楷体_GB2312" pitchFamily="49" charset="-122"/>
              </a:rPr>
              <a:t>}</a:t>
            </a:r>
          </a:p>
        </p:txBody>
      </p:sp>
      <p:sp>
        <p:nvSpPr>
          <p:cNvPr id="5" name="灯片编号占位符 5"/>
          <p:cNvSpPr>
            <a:spLocks noGrp="1"/>
          </p:cNvSpPr>
          <p:nvPr>
            <p:ph type="sldNum" sz="quarter" idx="12"/>
          </p:nvPr>
        </p:nvSpPr>
        <p:spPr/>
        <p:txBody>
          <a:bodyPr/>
          <a:lstStyle/>
          <a:p>
            <a:pPr>
              <a:defRPr/>
            </a:pPr>
            <a:fld id="{485FEF83-9062-4A77-BFD1-887D1166E3AB}" type="slidenum">
              <a:rPr lang="en-US" altLang="zh-CN"/>
              <a:pPr>
                <a:defRPr/>
              </a:pPr>
              <a:t>112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05538">
                                            <p:txEl>
                                              <p:pRg st="10" end="10"/>
                                            </p:txEl>
                                          </p:spTgt>
                                        </p:tgtEl>
                                        <p:attrNameLst>
                                          <p:attrName>style.visibility</p:attrName>
                                        </p:attrNameLst>
                                      </p:cBhvr>
                                      <p:to>
                                        <p:strVal val="visible"/>
                                      </p:to>
                                    </p:set>
                                    <p:anim calcmode="lin" valueType="num">
                                      <p:cBhvr additive="base">
                                        <p:cTn id="7" dur="500" fill="hold"/>
                                        <p:tgtEl>
                                          <p:spTgt spid="705538">
                                            <p:txEl>
                                              <p:pRg st="10" end="1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05538">
                                            <p:txEl>
                                              <p:pRg st="10" end="1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05538">
                                            <p:txEl>
                                              <p:pRg st="11" end="11"/>
                                            </p:txEl>
                                          </p:spTgt>
                                        </p:tgtEl>
                                        <p:attrNameLst>
                                          <p:attrName>style.visibility</p:attrName>
                                        </p:attrNameLst>
                                      </p:cBhvr>
                                      <p:to>
                                        <p:strVal val="visible"/>
                                      </p:to>
                                    </p:set>
                                    <p:anim calcmode="lin" valueType="num">
                                      <p:cBhvr additive="base">
                                        <p:cTn id="11" dur="500" fill="hold"/>
                                        <p:tgtEl>
                                          <p:spTgt spid="705538">
                                            <p:txEl>
                                              <p:pRg st="11" end="1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05538">
                                            <p:txEl>
                                              <p:pRg st="11" end="1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05538">
                                            <p:txEl>
                                              <p:pRg st="12" end="12"/>
                                            </p:txEl>
                                          </p:spTgt>
                                        </p:tgtEl>
                                        <p:attrNameLst>
                                          <p:attrName>style.visibility</p:attrName>
                                        </p:attrNameLst>
                                      </p:cBhvr>
                                      <p:to>
                                        <p:strVal val="visible"/>
                                      </p:to>
                                    </p:set>
                                    <p:anim calcmode="lin" valueType="num">
                                      <p:cBhvr additive="base">
                                        <p:cTn id="15" dur="500" fill="hold"/>
                                        <p:tgtEl>
                                          <p:spTgt spid="705538">
                                            <p:txEl>
                                              <p:pRg st="12" end="1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05538">
                                            <p:txEl>
                                              <p:pRg st="12" end="1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705538">
                                            <p:txEl>
                                              <p:pRg st="13" end="13"/>
                                            </p:txEl>
                                          </p:spTgt>
                                        </p:tgtEl>
                                        <p:attrNameLst>
                                          <p:attrName>style.visibility</p:attrName>
                                        </p:attrNameLst>
                                      </p:cBhvr>
                                      <p:to>
                                        <p:strVal val="visible"/>
                                      </p:to>
                                    </p:set>
                                    <p:anim calcmode="lin" valueType="num">
                                      <p:cBhvr additive="base">
                                        <p:cTn id="19" dur="500" fill="hold"/>
                                        <p:tgtEl>
                                          <p:spTgt spid="705538">
                                            <p:txEl>
                                              <p:pRg st="13" end="1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05538">
                                            <p:txEl>
                                              <p:pRg st="13" end="1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705538">
                                            <p:txEl>
                                              <p:pRg st="14" end="14"/>
                                            </p:txEl>
                                          </p:spTgt>
                                        </p:tgtEl>
                                        <p:attrNameLst>
                                          <p:attrName>style.visibility</p:attrName>
                                        </p:attrNameLst>
                                      </p:cBhvr>
                                      <p:to>
                                        <p:strVal val="visible"/>
                                      </p:to>
                                    </p:set>
                                    <p:anim calcmode="lin" valueType="num">
                                      <p:cBhvr additive="base">
                                        <p:cTn id="23" dur="500" fill="hold"/>
                                        <p:tgtEl>
                                          <p:spTgt spid="705538">
                                            <p:txEl>
                                              <p:pRg st="14" end="1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05538">
                                            <p:txEl>
                                              <p:pRg st="14" end="1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705538">
                                            <p:txEl>
                                              <p:pRg st="15" end="15"/>
                                            </p:txEl>
                                          </p:spTgt>
                                        </p:tgtEl>
                                        <p:attrNameLst>
                                          <p:attrName>style.visibility</p:attrName>
                                        </p:attrNameLst>
                                      </p:cBhvr>
                                      <p:to>
                                        <p:strVal val="visible"/>
                                      </p:to>
                                    </p:set>
                                    <p:anim calcmode="lin" valueType="num">
                                      <p:cBhvr additive="base">
                                        <p:cTn id="27" dur="500" fill="hold"/>
                                        <p:tgtEl>
                                          <p:spTgt spid="705538">
                                            <p:txEl>
                                              <p:pRg st="15" end="1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05538">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705538">
                                            <p:txEl>
                                              <p:pRg st="16" end="16"/>
                                            </p:txEl>
                                          </p:spTgt>
                                        </p:tgtEl>
                                        <p:attrNameLst>
                                          <p:attrName>style.visibility</p:attrName>
                                        </p:attrNameLst>
                                      </p:cBhvr>
                                      <p:to>
                                        <p:strVal val="visible"/>
                                      </p:to>
                                    </p:set>
                                    <p:anim calcmode="lin" valueType="num">
                                      <p:cBhvr additive="base">
                                        <p:cTn id="33" dur="500" fill="hold"/>
                                        <p:tgtEl>
                                          <p:spTgt spid="705538">
                                            <p:txEl>
                                              <p:pRg st="16" end="1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705538">
                                            <p:txEl>
                                              <p:pRg st="16" end="1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705538">
                                            <p:txEl>
                                              <p:pRg st="17" end="17"/>
                                            </p:txEl>
                                          </p:spTgt>
                                        </p:tgtEl>
                                        <p:attrNameLst>
                                          <p:attrName>style.visibility</p:attrName>
                                        </p:attrNameLst>
                                      </p:cBhvr>
                                      <p:to>
                                        <p:strVal val="visible"/>
                                      </p:to>
                                    </p:set>
                                    <p:anim calcmode="lin" valueType="num">
                                      <p:cBhvr additive="base">
                                        <p:cTn id="39" dur="500" fill="hold"/>
                                        <p:tgtEl>
                                          <p:spTgt spid="705538">
                                            <p:txEl>
                                              <p:pRg st="17" end="1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705538">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62" name="Rectangle 2"/>
          <p:cNvSpPr>
            <a:spLocks noGrp="1" noChangeArrowheads="1"/>
          </p:cNvSpPr>
          <p:nvPr>
            <p:ph idx="1"/>
          </p:nvPr>
        </p:nvSpPr>
        <p:spPr>
          <a:xfrm>
            <a:off x="395288" y="476250"/>
            <a:ext cx="8424862" cy="5832475"/>
          </a:xfrm>
        </p:spPr>
        <p:txBody>
          <a:bodyPr/>
          <a:lstStyle/>
          <a:p>
            <a:pPr marL="0" indent="0" eaLnBrk="1" hangingPunct="1">
              <a:lnSpc>
                <a:spcPct val="90000"/>
              </a:lnSpc>
              <a:buFont typeface="Monotype Sorts" pitchFamily="2" charset="2"/>
              <a:buNone/>
              <a:defRPr/>
            </a:pPr>
            <a:r>
              <a:rPr lang="en-US" altLang="zh-CN" sz="2000" b="1" dirty="0">
                <a:latin typeface="楷体_GB2312" pitchFamily="49" charset="-122"/>
                <a:ea typeface="楷体_GB2312" pitchFamily="49" charset="-122"/>
              </a:rPr>
              <a:t>void main()</a:t>
            </a:r>
          </a:p>
          <a:p>
            <a:pPr marL="0" indent="0" eaLnBrk="1" hangingPunct="1">
              <a:lnSpc>
                <a:spcPct val="90000"/>
              </a:lnSpc>
              <a:buFont typeface="Monotype Sorts" pitchFamily="2" charset="2"/>
              <a:buNone/>
              <a:defRPr/>
            </a:pPr>
            <a:r>
              <a:rPr lang="en-US" altLang="zh-CN" sz="2000" b="1" dirty="0">
                <a:latin typeface="楷体_GB2312" pitchFamily="49" charset="-122"/>
                <a:ea typeface="楷体_GB2312" pitchFamily="49" charset="-122"/>
              </a:rPr>
              <a:t>{ </a:t>
            </a:r>
            <a:r>
              <a:rPr lang="en-US" altLang="zh-CN" sz="2000" b="1" dirty="0" err="1">
                <a:latin typeface="楷体_GB2312" pitchFamily="49" charset="-122"/>
                <a:ea typeface="楷体_GB2312" pitchFamily="49" charset="-122"/>
              </a:rPr>
              <a:t>int</a:t>
            </a:r>
            <a:r>
              <a:rPr lang="en-US" altLang="zh-CN" sz="2000" b="1" dirty="0">
                <a:latin typeface="楷体_GB2312" pitchFamily="49" charset="-122"/>
                <a:ea typeface="楷体_GB2312" pitchFamily="49" charset="-122"/>
              </a:rPr>
              <a:t> n, </a:t>
            </a:r>
            <a:r>
              <a:rPr lang="en-US" altLang="zh-CN" sz="2000" b="1" dirty="0" err="1">
                <a:latin typeface="楷体_GB2312" pitchFamily="49" charset="-122"/>
                <a:ea typeface="楷体_GB2312" pitchFamily="49" charset="-122"/>
              </a:rPr>
              <a:t>i</a:t>
            </a:r>
            <a:r>
              <a:rPr lang="en-US" altLang="zh-CN" sz="2000" b="1" dirty="0">
                <a:latin typeface="楷体_GB2312" pitchFamily="49" charset="-122"/>
                <a:ea typeface="楷体_GB2312" pitchFamily="49" charset="-122"/>
              </a:rPr>
              <a:t>, m;   Node *h, *p, *t;</a:t>
            </a:r>
          </a:p>
          <a:p>
            <a:pPr marL="0" indent="0" eaLnBrk="1" hangingPunct="1">
              <a:lnSpc>
                <a:spcPct val="90000"/>
              </a:lnSpc>
              <a:buFont typeface="Monotype Sorts" pitchFamily="2" charset="2"/>
              <a:buNone/>
              <a:defRPr/>
            </a:pPr>
            <a:r>
              <a:rPr lang="en-US" altLang="zh-CN" sz="2000" b="1" dirty="0">
                <a:latin typeface="楷体_GB2312" pitchFamily="49" charset="-122"/>
                <a:ea typeface="楷体_GB2312" pitchFamily="49" charset="-122"/>
              </a:rPr>
              <a:t>    </a:t>
            </a:r>
            <a:r>
              <a:rPr lang="en-US" altLang="zh-CN" sz="2000" b="1" dirty="0" err="1">
                <a:latin typeface="楷体_GB2312" pitchFamily="49" charset="-122"/>
                <a:ea typeface="楷体_GB2312" pitchFamily="49" charset="-122"/>
              </a:rPr>
              <a:t>printf</a:t>
            </a:r>
            <a:r>
              <a:rPr lang="en-US" altLang="zh-CN" sz="2000" b="1" dirty="0">
                <a:latin typeface="楷体_GB2312" pitchFamily="49" charset="-122"/>
                <a:ea typeface="楷体_GB2312" pitchFamily="49" charset="-122"/>
              </a:rPr>
              <a:t>("Enter n &amp; m\n");    </a:t>
            </a:r>
            <a:r>
              <a:rPr lang="en-US" altLang="zh-CN" sz="2000" b="1" dirty="0" err="1">
                <a:latin typeface="楷体_GB2312" pitchFamily="49" charset="-122"/>
                <a:ea typeface="楷体_GB2312" pitchFamily="49" charset="-122"/>
              </a:rPr>
              <a:t>scanf</a:t>
            </a:r>
            <a:r>
              <a:rPr lang="en-US" altLang="zh-CN" sz="2000" b="1" dirty="0">
                <a:latin typeface="楷体_GB2312" pitchFamily="49" charset="-122"/>
                <a:ea typeface="楷体_GB2312" pitchFamily="49" charset="-122"/>
              </a:rPr>
              <a:t>("%</a:t>
            </a:r>
            <a:r>
              <a:rPr lang="en-US" altLang="zh-CN" sz="2000" b="1" dirty="0" err="1">
                <a:latin typeface="楷体_GB2312" pitchFamily="49" charset="-122"/>
                <a:ea typeface="楷体_GB2312" pitchFamily="49" charset="-122"/>
              </a:rPr>
              <a:t>d%d</a:t>
            </a:r>
            <a:r>
              <a:rPr lang="en-US" altLang="zh-CN" sz="2000" b="1" dirty="0">
                <a:latin typeface="楷体_GB2312" pitchFamily="49" charset="-122"/>
                <a:ea typeface="楷体_GB2312" pitchFamily="49" charset="-122"/>
              </a:rPr>
              <a:t>", &amp;n, &amp;m);</a:t>
            </a:r>
          </a:p>
          <a:p>
            <a:pPr marL="0" indent="0" eaLnBrk="1" hangingPunct="1">
              <a:lnSpc>
                <a:spcPct val="90000"/>
              </a:lnSpc>
              <a:buFont typeface="Monotype Sorts" pitchFamily="2" charset="2"/>
              <a:buNone/>
              <a:defRPr/>
            </a:pPr>
            <a:r>
              <a:rPr lang="en-US" altLang="zh-CN" sz="2000" b="1" dirty="0">
                <a:latin typeface="楷体_GB2312" pitchFamily="49" charset="-122"/>
                <a:ea typeface="楷体_GB2312" pitchFamily="49" charset="-122"/>
              </a:rPr>
              <a:t>    if(m == 1){ for(</a:t>
            </a:r>
            <a:r>
              <a:rPr lang="en-US" altLang="zh-CN" sz="2000" b="1" dirty="0" err="1">
                <a:latin typeface="楷体_GB2312" pitchFamily="49" charset="-122"/>
                <a:ea typeface="楷体_GB2312" pitchFamily="49" charset="-122"/>
              </a:rPr>
              <a:t>i</a:t>
            </a:r>
            <a:r>
              <a:rPr lang="en-US" altLang="zh-CN" sz="2000" b="1" dirty="0">
                <a:latin typeface="楷体_GB2312" pitchFamily="49" charset="-122"/>
                <a:ea typeface="楷体_GB2312" pitchFamily="49" charset="-122"/>
              </a:rPr>
              <a:t> = 1; </a:t>
            </a:r>
            <a:r>
              <a:rPr lang="en-US" altLang="zh-CN" sz="2000" b="1" dirty="0" err="1">
                <a:latin typeface="楷体_GB2312" pitchFamily="49" charset="-122"/>
                <a:ea typeface="楷体_GB2312" pitchFamily="49" charset="-122"/>
              </a:rPr>
              <a:t>i</a:t>
            </a:r>
            <a:r>
              <a:rPr lang="en-US" altLang="zh-CN" sz="2000" b="1" dirty="0">
                <a:latin typeface="楷体_GB2312" pitchFamily="49" charset="-122"/>
                <a:ea typeface="楷体_GB2312" pitchFamily="49" charset="-122"/>
              </a:rPr>
              <a:t> &lt;= n; </a:t>
            </a:r>
            <a:r>
              <a:rPr lang="en-US" altLang="zh-CN" sz="2000" b="1" dirty="0" err="1">
                <a:latin typeface="楷体_GB2312" pitchFamily="49" charset="-122"/>
                <a:ea typeface="楷体_GB2312" pitchFamily="49" charset="-122"/>
              </a:rPr>
              <a:t>i</a:t>
            </a:r>
            <a:r>
              <a:rPr lang="en-US" altLang="zh-CN" sz="2000" b="1" dirty="0">
                <a:latin typeface="楷体_GB2312" pitchFamily="49" charset="-122"/>
                <a:ea typeface="楷体_GB2312" pitchFamily="49" charset="-122"/>
              </a:rPr>
              <a:t>++)  </a:t>
            </a:r>
            <a:r>
              <a:rPr lang="en-US" altLang="zh-CN" sz="2000" b="1" dirty="0" err="1">
                <a:latin typeface="楷体_GB2312" pitchFamily="49" charset="-122"/>
                <a:ea typeface="楷体_GB2312" pitchFamily="49" charset="-122"/>
              </a:rPr>
              <a:t>printf</a:t>
            </a:r>
            <a:r>
              <a:rPr lang="en-US" altLang="zh-CN" sz="2000" b="1" dirty="0">
                <a:latin typeface="楷体_GB2312" pitchFamily="49" charset="-122"/>
                <a:ea typeface="楷体_GB2312" pitchFamily="49" charset="-122"/>
              </a:rPr>
              <a:t>("%4d", </a:t>
            </a:r>
            <a:r>
              <a:rPr lang="en-US" altLang="zh-CN" sz="2000" b="1" dirty="0" err="1">
                <a:latin typeface="楷体_GB2312" pitchFamily="49" charset="-122"/>
                <a:ea typeface="楷体_GB2312" pitchFamily="49" charset="-122"/>
              </a:rPr>
              <a:t>i</a:t>
            </a:r>
            <a:r>
              <a:rPr lang="en-US" altLang="zh-CN" sz="2000" b="1" dirty="0">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000" b="1" dirty="0">
                <a:latin typeface="楷体_GB2312" pitchFamily="49" charset="-122"/>
                <a:ea typeface="楷体_GB2312" pitchFamily="49" charset="-122"/>
              </a:rPr>
              <a:t>       return;</a:t>
            </a:r>
          </a:p>
          <a:p>
            <a:pPr marL="0" indent="0" eaLnBrk="1" hangingPunct="1">
              <a:lnSpc>
                <a:spcPct val="90000"/>
              </a:lnSpc>
              <a:buFont typeface="Monotype Sorts" pitchFamily="2" charset="2"/>
              <a:buNone/>
              <a:defRPr/>
            </a:pPr>
            <a:r>
              <a:rPr lang="en-US" altLang="zh-CN" sz="2000" b="1" dirty="0">
                <a:latin typeface="楷体_GB2312" pitchFamily="49" charset="-122"/>
                <a:ea typeface="楷体_GB2312" pitchFamily="49" charset="-122"/>
              </a:rPr>
              <a:t>    }</a:t>
            </a:r>
          </a:p>
          <a:p>
            <a:pPr marL="0" indent="0" eaLnBrk="1" hangingPunct="1">
              <a:lnSpc>
                <a:spcPct val="90000"/>
              </a:lnSpc>
              <a:buFont typeface="Monotype Sorts" pitchFamily="2" charset="2"/>
              <a:buNone/>
              <a:defRPr/>
            </a:pPr>
            <a:r>
              <a:rPr lang="en-US" altLang="zh-CN" sz="2000" b="1" dirty="0">
                <a:latin typeface="楷体_GB2312" pitchFamily="49" charset="-122"/>
                <a:ea typeface="楷体_GB2312" pitchFamily="49" charset="-122"/>
              </a:rPr>
              <a:t>    p = h = </a:t>
            </a:r>
            <a:r>
              <a:rPr lang="en-US" altLang="zh-CN" sz="2000" b="1" dirty="0" err="1">
                <a:latin typeface="楷体_GB2312" pitchFamily="49" charset="-122"/>
                <a:ea typeface="楷体_GB2312" pitchFamily="49" charset="-122"/>
              </a:rPr>
              <a:t>makeLoop</a:t>
            </a:r>
            <a:r>
              <a:rPr lang="en-US" altLang="zh-CN" sz="2000" b="1" dirty="0">
                <a:latin typeface="楷体_GB2312" pitchFamily="49" charset="-122"/>
                <a:ea typeface="楷体_GB2312" pitchFamily="49" charset="-122"/>
              </a:rPr>
              <a:t>(n);</a:t>
            </a:r>
          </a:p>
          <a:p>
            <a:pPr marL="0" indent="0" eaLnBrk="1" hangingPunct="1">
              <a:lnSpc>
                <a:spcPct val="90000"/>
              </a:lnSpc>
              <a:buFont typeface="Monotype Sorts" pitchFamily="2" charset="2"/>
              <a:buNone/>
              <a:defRPr/>
            </a:pPr>
            <a:r>
              <a:rPr lang="en-US" altLang="zh-CN" sz="2000" b="1" dirty="0">
                <a:latin typeface="楷体_GB2312" pitchFamily="49" charset="-122"/>
                <a:ea typeface="楷体_GB2312" pitchFamily="49" charset="-122"/>
              </a:rPr>
              <a:t>    while(p) {</a:t>
            </a:r>
          </a:p>
          <a:p>
            <a:pPr marL="0" indent="0" eaLnBrk="1" hangingPunct="1">
              <a:lnSpc>
                <a:spcPct val="90000"/>
              </a:lnSpc>
              <a:buFont typeface="Monotype Sorts" pitchFamily="2" charset="2"/>
              <a:buNone/>
              <a:defRPr/>
            </a:pPr>
            <a:r>
              <a:rPr lang="en-US" altLang="zh-CN" sz="2000" b="1" dirty="0">
                <a:latin typeface="楷体_GB2312" pitchFamily="49" charset="-122"/>
                <a:ea typeface="楷体_GB2312" pitchFamily="49" charset="-122"/>
              </a:rPr>
              <a:t>       for(</a:t>
            </a:r>
            <a:r>
              <a:rPr lang="en-US" altLang="zh-CN" sz="2000" b="1" dirty="0" err="1">
                <a:latin typeface="楷体_GB2312" pitchFamily="49" charset="-122"/>
                <a:ea typeface="楷体_GB2312" pitchFamily="49" charset="-122"/>
              </a:rPr>
              <a:t>i</a:t>
            </a:r>
            <a:r>
              <a:rPr lang="en-US" altLang="zh-CN" sz="2000" b="1" dirty="0">
                <a:latin typeface="楷体_GB2312" pitchFamily="49" charset="-122"/>
                <a:ea typeface="楷体_GB2312" pitchFamily="49" charset="-122"/>
              </a:rPr>
              <a:t>=1;i&lt;m-1;i++)p=p-&gt;next;/*</a:t>
            </a:r>
            <a:r>
              <a:rPr lang="zh-CN" altLang="en-US" sz="2000" b="1" dirty="0">
                <a:solidFill>
                  <a:srgbClr val="FF0000"/>
                </a:solidFill>
                <a:latin typeface="楷体_GB2312" pitchFamily="49" charset="-122"/>
                <a:ea typeface="楷体_GB2312" pitchFamily="49" charset="-122"/>
              </a:rPr>
              <a:t>向前</a:t>
            </a:r>
            <a:r>
              <a:rPr lang="en-US" altLang="zh-CN" sz="2000" b="1" dirty="0">
                <a:solidFill>
                  <a:srgbClr val="FF0000"/>
                </a:solidFill>
                <a:latin typeface="楷体_GB2312" pitchFamily="49" charset="-122"/>
                <a:ea typeface="楷体_GB2312" pitchFamily="49" charset="-122"/>
              </a:rPr>
              <a:t>m-2</a:t>
            </a:r>
            <a:r>
              <a:rPr lang="zh-CN" altLang="en-US" sz="2000" b="1" dirty="0">
                <a:solidFill>
                  <a:srgbClr val="FF0000"/>
                </a:solidFill>
                <a:latin typeface="楷体_GB2312" pitchFamily="49" charset="-122"/>
                <a:ea typeface="楷体_GB2312" pitchFamily="49" charset="-122"/>
              </a:rPr>
              <a:t>次，报数</a:t>
            </a:r>
            <a:r>
              <a:rPr lang="en-US" altLang="zh-CN" sz="2000" b="1" dirty="0">
                <a:solidFill>
                  <a:srgbClr val="FF0000"/>
                </a:solidFill>
                <a:latin typeface="楷体_GB2312" pitchFamily="49" charset="-122"/>
                <a:ea typeface="楷体_GB2312" pitchFamily="49" charset="-122"/>
              </a:rPr>
              <a:t>m-1</a:t>
            </a:r>
            <a:r>
              <a:rPr lang="zh-CN" altLang="en-US" sz="2000" b="1" dirty="0">
                <a:solidFill>
                  <a:srgbClr val="FF0000"/>
                </a:solidFill>
                <a:latin typeface="楷体_GB2312" pitchFamily="49" charset="-122"/>
                <a:ea typeface="楷体_GB2312" pitchFamily="49" charset="-122"/>
              </a:rPr>
              <a:t>人</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000" b="1" dirty="0">
                <a:latin typeface="楷体_GB2312" pitchFamily="49" charset="-122"/>
                <a:ea typeface="楷体_GB2312" pitchFamily="49" charset="-122"/>
              </a:rPr>
              <a:t>       t = p-&gt;next; /*</a:t>
            </a:r>
            <a:r>
              <a:rPr lang="zh-CN" altLang="en-US" sz="2000" b="1" dirty="0">
                <a:latin typeface="楷体_GB2312" pitchFamily="49" charset="-122"/>
                <a:ea typeface="楷体_GB2312" pitchFamily="49" charset="-122"/>
              </a:rPr>
              <a:t>下一个表元出列*</a:t>
            </a:r>
            <a:r>
              <a:rPr lang="en-US" altLang="zh-CN" sz="2000" b="1" dirty="0">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000" b="1" dirty="0">
                <a:latin typeface="楷体_GB2312" pitchFamily="49" charset="-122"/>
                <a:ea typeface="楷体_GB2312" pitchFamily="49" charset="-122"/>
              </a:rPr>
              <a:t>       </a:t>
            </a:r>
            <a:r>
              <a:rPr lang="en-US" altLang="zh-CN" sz="2000" b="1" dirty="0" err="1">
                <a:latin typeface="楷体_GB2312" pitchFamily="49" charset="-122"/>
                <a:ea typeface="楷体_GB2312" pitchFamily="49" charset="-122"/>
              </a:rPr>
              <a:t>printf</a:t>
            </a:r>
            <a:r>
              <a:rPr lang="en-US" altLang="zh-CN" sz="2000" b="1" dirty="0">
                <a:latin typeface="楷体_GB2312" pitchFamily="49" charset="-122"/>
                <a:ea typeface="楷体_GB2312" pitchFamily="49" charset="-122"/>
              </a:rPr>
              <a:t>("%4d", t-&gt;num);  </a:t>
            </a:r>
          </a:p>
          <a:p>
            <a:pPr marL="0" indent="0" eaLnBrk="1" hangingPunct="1">
              <a:lnSpc>
                <a:spcPct val="90000"/>
              </a:lnSpc>
              <a:buFont typeface="Monotype Sorts" pitchFamily="2" charset="2"/>
              <a:buNone/>
              <a:defRPr/>
            </a:pPr>
            <a:r>
              <a:rPr lang="en-US" altLang="zh-CN" sz="2000" b="1" dirty="0">
                <a:latin typeface="楷体_GB2312" pitchFamily="49" charset="-122"/>
                <a:ea typeface="楷体_GB2312" pitchFamily="49" charset="-122"/>
              </a:rPr>
              <a:t>       p = p-&gt;next = t-&gt;next;</a:t>
            </a:r>
          </a:p>
          <a:p>
            <a:pPr marL="0" indent="0" eaLnBrk="1" hangingPunct="1">
              <a:lnSpc>
                <a:spcPct val="90000"/>
              </a:lnSpc>
              <a:buFont typeface="Monotype Sorts" pitchFamily="2" charset="2"/>
              <a:buNone/>
              <a:defRPr/>
            </a:pPr>
            <a:r>
              <a:rPr lang="en-US" altLang="zh-CN" sz="2000" b="1" dirty="0">
                <a:latin typeface="楷体_GB2312" pitchFamily="49" charset="-122"/>
                <a:ea typeface="楷体_GB2312" pitchFamily="49" charset="-122"/>
              </a:rPr>
              <a:t>       if(p == t) p = NULL; /*</a:t>
            </a:r>
            <a:r>
              <a:rPr lang="zh-CN" altLang="en-US" sz="2000" b="1" dirty="0">
                <a:latin typeface="楷体_GB2312" pitchFamily="49" charset="-122"/>
                <a:ea typeface="楷体_GB2312" pitchFamily="49" charset="-122"/>
              </a:rPr>
              <a:t>最后一个表元出列，变成空链表*</a:t>
            </a:r>
            <a:r>
              <a:rPr lang="en-US" altLang="zh-CN" sz="2000" b="1" dirty="0">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000" b="1" dirty="0">
                <a:latin typeface="楷体_GB2312" pitchFamily="49" charset="-122"/>
                <a:ea typeface="楷体_GB2312" pitchFamily="49" charset="-122"/>
              </a:rPr>
              <a:t>       free(t); /*</a:t>
            </a:r>
            <a:r>
              <a:rPr lang="zh-CN" altLang="en-US" sz="2000" b="1" dirty="0">
                <a:latin typeface="楷体_GB2312" pitchFamily="49" charset="-122"/>
                <a:ea typeface="楷体_GB2312" pitchFamily="49" charset="-122"/>
              </a:rPr>
              <a:t>释放出列表元的空间*</a:t>
            </a:r>
            <a:r>
              <a:rPr lang="en-US" altLang="zh-CN" sz="2000" b="1" dirty="0">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000" b="1" dirty="0">
                <a:latin typeface="楷体_GB2312" pitchFamily="49" charset="-122"/>
                <a:ea typeface="楷体_GB2312" pitchFamily="49" charset="-122"/>
              </a:rPr>
              <a:t>    }</a:t>
            </a:r>
          </a:p>
          <a:p>
            <a:pPr marL="0" indent="0" eaLnBrk="1" hangingPunct="1">
              <a:lnSpc>
                <a:spcPct val="90000"/>
              </a:lnSpc>
              <a:buFont typeface="Monotype Sorts" pitchFamily="2" charset="2"/>
              <a:buNone/>
              <a:defRPr/>
            </a:pPr>
            <a:r>
              <a:rPr lang="en-US" altLang="zh-CN" sz="2000" b="1" dirty="0">
                <a:latin typeface="楷体_GB2312" pitchFamily="49" charset="-122"/>
                <a:ea typeface="楷体_GB2312" pitchFamily="49" charset="-122"/>
              </a:rPr>
              <a:t>    </a:t>
            </a:r>
            <a:r>
              <a:rPr lang="en-US" altLang="zh-CN" sz="2000" b="1" dirty="0" err="1">
                <a:latin typeface="楷体_GB2312" pitchFamily="49" charset="-122"/>
                <a:ea typeface="楷体_GB2312" pitchFamily="49" charset="-122"/>
              </a:rPr>
              <a:t>printf</a:t>
            </a:r>
            <a:r>
              <a:rPr lang="en-US" altLang="zh-CN" sz="2000" b="1" dirty="0">
                <a:latin typeface="楷体_GB2312" pitchFamily="49" charset="-122"/>
                <a:ea typeface="楷体_GB2312" pitchFamily="49" charset="-122"/>
              </a:rPr>
              <a:t>("\n");</a:t>
            </a:r>
          </a:p>
          <a:p>
            <a:pPr marL="0" indent="0" eaLnBrk="1" hangingPunct="1">
              <a:lnSpc>
                <a:spcPct val="90000"/>
              </a:lnSpc>
              <a:buFont typeface="Monotype Sorts" pitchFamily="2" charset="2"/>
              <a:buNone/>
              <a:defRPr/>
            </a:pPr>
            <a:r>
              <a:rPr lang="en-US" altLang="zh-CN" sz="2000" b="1" dirty="0">
                <a:latin typeface="楷体_GB2312" pitchFamily="49" charset="-122"/>
                <a:ea typeface="楷体_GB2312" pitchFamily="49" charset="-122"/>
              </a:rPr>
              <a:t>}</a:t>
            </a:r>
          </a:p>
        </p:txBody>
      </p:sp>
      <p:sp>
        <p:nvSpPr>
          <p:cNvPr id="5" name="灯片编号占位符 5"/>
          <p:cNvSpPr>
            <a:spLocks noGrp="1"/>
          </p:cNvSpPr>
          <p:nvPr>
            <p:ph type="sldNum" sz="quarter" idx="12"/>
          </p:nvPr>
        </p:nvSpPr>
        <p:spPr/>
        <p:txBody>
          <a:bodyPr/>
          <a:lstStyle/>
          <a:p>
            <a:pPr>
              <a:defRPr/>
            </a:pPr>
            <a:fld id="{87B5D476-3185-40BB-AF2C-AC69CDDBF32D}" type="slidenum">
              <a:rPr lang="en-US" altLang="zh-CN"/>
              <a:pPr>
                <a:defRPr/>
              </a:pPr>
              <a:t>113</a:t>
            </a:fld>
            <a:endParaRPr lang="en-US" altLang="zh-CN"/>
          </a:p>
        </p:txBody>
      </p:sp>
      <p:sp>
        <p:nvSpPr>
          <p:cNvPr id="7" name="椭圆形标注 6"/>
          <p:cNvSpPr/>
          <p:nvPr/>
        </p:nvSpPr>
        <p:spPr>
          <a:xfrm>
            <a:off x="5004048" y="3573016"/>
            <a:ext cx="2088232" cy="936104"/>
          </a:xfrm>
          <a:prstGeom prst="wedgeEllipseCallout">
            <a:avLst>
              <a:gd name="adj1" fmla="val -167057"/>
              <a:gd name="adj2" fmla="val 5213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t>注意是环！设置</a:t>
            </a:r>
            <a:r>
              <a:rPr lang="en-US" altLang="zh-CN" sz="1600" dirty="0"/>
              <a:t>p</a:t>
            </a:r>
            <a:r>
              <a:rPr lang="zh-CN" altLang="en-US" sz="1600" dirty="0"/>
              <a:t>为</a:t>
            </a:r>
            <a:r>
              <a:rPr lang="en-US" altLang="zh-CN" sz="1600" dirty="0"/>
              <a:t>NULL</a:t>
            </a:r>
            <a:r>
              <a:rPr lang="zh-CN" altLang="en-US" sz="1600" dirty="0"/>
              <a:t>，循环才能终止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06562">
                                            <p:txEl>
                                              <p:pRg st="8" end="8"/>
                                            </p:txEl>
                                          </p:spTgt>
                                        </p:tgtEl>
                                        <p:attrNameLst>
                                          <p:attrName>style.visibility</p:attrName>
                                        </p:attrNameLst>
                                      </p:cBhvr>
                                      <p:to>
                                        <p:strVal val="visible"/>
                                      </p:to>
                                    </p:set>
                                    <p:anim calcmode="lin" valueType="num">
                                      <p:cBhvr additive="base">
                                        <p:cTn id="7" dur="500" fill="hold"/>
                                        <p:tgtEl>
                                          <p:spTgt spid="706562">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0656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06562">
                                            <p:txEl>
                                              <p:pRg st="9" end="9"/>
                                            </p:txEl>
                                          </p:spTgt>
                                        </p:tgtEl>
                                        <p:attrNameLst>
                                          <p:attrName>style.visibility</p:attrName>
                                        </p:attrNameLst>
                                      </p:cBhvr>
                                      <p:to>
                                        <p:strVal val="visible"/>
                                      </p:to>
                                    </p:set>
                                    <p:anim calcmode="lin" valueType="num">
                                      <p:cBhvr additive="base">
                                        <p:cTn id="13" dur="500" fill="hold"/>
                                        <p:tgtEl>
                                          <p:spTgt spid="706562">
                                            <p:txEl>
                                              <p:pRg st="9" end="9"/>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06562">
                                            <p:txEl>
                                              <p:pRg st="9" end="9"/>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06562">
                                            <p:txEl>
                                              <p:pRg st="10" end="10"/>
                                            </p:txEl>
                                          </p:spTgt>
                                        </p:tgtEl>
                                        <p:attrNameLst>
                                          <p:attrName>style.visibility</p:attrName>
                                        </p:attrNameLst>
                                      </p:cBhvr>
                                      <p:to>
                                        <p:strVal val="visible"/>
                                      </p:to>
                                    </p:set>
                                    <p:anim calcmode="lin" valueType="num">
                                      <p:cBhvr additive="base">
                                        <p:cTn id="17" dur="500" fill="hold"/>
                                        <p:tgtEl>
                                          <p:spTgt spid="706562">
                                            <p:txEl>
                                              <p:pRg st="10" end="1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06562">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06562">
                                            <p:txEl>
                                              <p:pRg st="11" end="11"/>
                                            </p:txEl>
                                          </p:spTgt>
                                        </p:tgtEl>
                                        <p:attrNameLst>
                                          <p:attrName>style.visibility</p:attrName>
                                        </p:attrNameLst>
                                      </p:cBhvr>
                                      <p:to>
                                        <p:strVal val="visible"/>
                                      </p:to>
                                    </p:set>
                                    <p:anim calcmode="lin" valueType="num">
                                      <p:cBhvr additive="base">
                                        <p:cTn id="23" dur="500" fill="hold"/>
                                        <p:tgtEl>
                                          <p:spTgt spid="706562">
                                            <p:txEl>
                                              <p:pRg st="11" end="1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06562">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iterate type="lt">
                                    <p:tmPct val="0"/>
                                  </p:iterate>
                                  <p:childTnLst>
                                    <p:set>
                                      <p:cBhvr>
                                        <p:cTn id="28" dur="1" fill="hold">
                                          <p:stCondLst>
                                            <p:cond delay="0"/>
                                          </p:stCondLst>
                                        </p:cTn>
                                        <p:tgtEl>
                                          <p:spTgt spid="706562">
                                            <p:txEl>
                                              <p:pRg st="12" end="12"/>
                                            </p:txEl>
                                          </p:spTgt>
                                        </p:tgtEl>
                                        <p:attrNameLst>
                                          <p:attrName>style.visibility</p:attrName>
                                        </p:attrNameLst>
                                      </p:cBhvr>
                                      <p:to>
                                        <p:strVal val="visible"/>
                                      </p:to>
                                    </p:set>
                                    <p:anim calcmode="lin" valueType="num">
                                      <p:cBhvr additive="base">
                                        <p:cTn id="29" dur="500" fill="hold"/>
                                        <p:tgtEl>
                                          <p:spTgt spid="706562">
                                            <p:txEl>
                                              <p:pRg st="12" end="1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06562">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additive="base">
                                        <p:cTn id="35" dur="500" fill="hold"/>
                                        <p:tgtEl>
                                          <p:spTgt spid="7"/>
                                        </p:tgtEl>
                                        <p:attrNameLst>
                                          <p:attrName>ppt_x</p:attrName>
                                        </p:attrNameLst>
                                      </p:cBhvr>
                                      <p:tavLst>
                                        <p:tav tm="0">
                                          <p:val>
                                            <p:strVal val="#ppt_x"/>
                                          </p:val>
                                        </p:tav>
                                        <p:tav tm="100000">
                                          <p:val>
                                            <p:strVal val="#ppt_x"/>
                                          </p:val>
                                        </p:tav>
                                      </p:tavLst>
                                    </p:anim>
                                    <p:anim calcmode="lin" valueType="num">
                                      <p:cBhvr additive="base">
                                        <p:cTn id="36" dur="500" fill="hold"/>
                                        <p:tgtEl>
                                          <p:spTgt spid="7"/>
                                        </p:tgtEl>
                                        <p:attrNameLst>
                                          <p:attrName>ppt_y</p:attrName>
                                        </p:attrNameLst>
                                      </p:cBhvr>
                                      <p:tavLst>
                                        <p:tav tm="0">
                                          <p:val>
                                            <p:strVal val="1+#ppt_h/2"/>
                                          </p:val>
                                        </p:tav>
                                        <p:tav tm="100000">
                                          <p:val>
                                            <p:strVal val="#ppt_y"/>
                                          </p:val>
                                        </p:tav>
                                      </p:tavLst>
                                    </p:anim>
                                  </p:childTnLst>
                                </p:cTn>
                              </p:par>
                              <p:par>
                                <p:cTn id="37" presetID="18" presetClass="emph" presetSubtype="0" fill="hold" nodeType="withEffect">
                                  <p:stCondLst>
                                    <p:cond delay="0"/>
                                  </p:stCondLst>
                                  <p:iterate type="lt">
                                    <p:tmPct val="4000"/>
                                  </p:iterate>
                                  <p:childTnLst>
                                    <p:set>
                                      <p:cBhvr override="childStyle">
                                        <p:cTn id="38" dur="500" fill="hold"/>
                                        <p:tgtEl>
                                          <p:spTgt spid="706562">
                                            <p:txEl>
                                              <p:pRg st="12" end="12"/>
                                            </p:txEl>
                                          </p:spTgt>
                                        </p:tgtEl>
                                        <p:attrNameLst>
                                          <p:attrName>style.textDecorationUnderline</p:attrName>
                                        </p:attrNameLst>
                                      </p:cBhvr>
                                      <p:to>
                                        <p:strVal val="true"/>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06562">
                                            <p:txEl>
                                              <p:pRg st="13" end="13"/>
                                            </p:txEl>
                                          </p:spTgt>
                                        </p:tgtEl>
                                        <p:attrNameLst>
                                          <p:attrName>style.visibility</p:attrName>
                                        </p:attrNameLst>
                                      </p:cBhvr>
                                      <p:to>
                                        <p:strVal val="visible"/>
                                      </p:to>
                                    </p:set>
                                    <p:anim calcmode="lin" valueType="num">
                                      <p:cBhvr additive="base">
                                        <p:cTn id="43" dur="500" fill="hold"/>
                                        <p:tgtEl>
                                          <p:spTgt spid="706562">
                                            <p:txEl>
                                              <p:pRg st="13" end="1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06562">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586" name="Rectangle 2"/>
          <p:cNvSpPr>
            <a:spLocks noGrp="1" noChangeArrowheads="1"/>
          </p:cNvSpPr>
          <p:nvPr>
            <p:ph idx="1"/>
          </p:nvPr>
        </p:nvSpPr>
        <p:spPr>
          <a:xfrm>
            <a:off x="395288" y="476251"/>
            <a:ext cx="8424862" cy="4536926"/>
          </a:xfrm>
        </p:spPr>
        <p:txBody>
          <a:bodyPr/>
          <a:lstStyle/>
          <a:p>
            <a:pPr marL="0" indent="0" eaLnBrk="1" hangingPunct="1">
              <a:buFont typeface="Monotype Sorts" pitchFamily="2" charset="2"/>
              <a:buNone/>
              <a:defRPr/>
            </a:pP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例</a:t>
            </a:r>
            <a:r>
              <a:rPr lang="en-US" altLang="zh-CN" b="1" dirty="0">
                <a:latin typeface="楷体_GB2312" pitchFamily="49" charset="-122"/>
                <a:ea typeface="楷体_GB2312" pitchFamily="49" charset="-122"/>
              </a:rPr>
              <a:t>7.15】</a:t>
            </a:r>
            <a:r>
              <a:rPr lang="zh-CN" altLang="en-US" b="1" dirty="0">
                <a:latin typeface="楷体_GB2312" pitchFamily="49" charset="-122"/>
                <a:ea typeface="楷体_GB2312" pitchFamily="49" charset="-122"/>
              </a:rPr>
              <a:t>编写一个多项式相加的函数。</a:t>
            </a:r>
          </a:p>
          <a:p>
            <a:pPr marL="0" indent="0" eaLnBrk="1" hangingPunct="1">
              <a:buFont typeface="Monotype Sorts" pitchFamily="2" charset="2"/>
              <a:buNone/>
              <a:defRPr/>
            </a:pPr>
            <a:r>
              <a:rPr lang="zh-CN" altLang="en-US" b="1" dirty="0">
                <a:latin typeface="楷体_GB2312" pitchFamily="49" charset="-122"/>
                <a:ea typeface="楷体_GB2312" pitchFamily="49" charset="-122"/>
              </a:rPr>
              <a:t>一个</a:t>
            </a:r>
            <a:r>
              <a:rPr lang="en-US" altLang="zh-CN" b="1" dirty="0">
                <a:latin typeface="楷体_GB2312" pitchFamily="49" charset="-122"/>
                <a:ea typeface="楷体_GB2312" pitchFamily="49" charset="-122"/>
              </a:rPr>
              <a:t>n</a:t>
            </a:r>
            <a:r>
              <a:rPr lang="zh-CN" altLang="en-US" b="1" dirty="0">
                <a:latin typeface="楷体_GB2312" pitchFamily="49" charset="-122"/>
                <a:ea typeface="楷体_GB2312" pitchFamily="49" charset="-122"/>
              </a:rPr>
              <a:t>次多项式</a:t>
            </a:r>
            <a:r>
              <a:rPr lang="en-US" altLang="zh-CN" b="1" dirty="0" err="1">
                <a:latin typeface="楷体_GB2312" pitchFamily="49" charset="-122"/>
                <a:ea typeface="楷体_GB2312" pitchFamily="49" charset="-122"/>
              </a:rPr>
              <a:t>pn</a:t>
            </a:r>
            <a:r>
              <a:rPr lang="en-US" altLang="zh-CN" b="1" dirty="0">
                <a:latin typeface="楷体_GB2312" pitchFamily="49" charset="-122"/>
                <a:ea typeface="楷体_GB2312" pitchFamily="49" charset="-122"/>
              </a:rPr>
              <a:t>(x)</a:t>
            </a:r>
            <a:r>
              <a:rPr lang="zh-CN" altLang="en-US" b="1" dirty="0">
                <a:latin typeface="楷体_GB2312" pitchFamily="49" charset="-122"/>
                <a:ea typeface="楷体_GB2312" pitchFamily="49" charset="-122"/>
              </a:rPr>
              <a:t>可写成以下形式：</a:t>
            </a:r>
          </a:p>
          <a:p>
            <a:pPr marL="0" indent="0" eaLnBrk="1" hangingPunct="1">
              <a:buFont typeface="Monotype Sorts" pitchFamily="2" charset="2"/>
              <a:buNone/>
              <a:defRPr/>
            </a:pPr>
            <a:r>
              <a:rPr lang="zh-CN" altLang="en-US" b="1" dirty="0">
                <a:latin typeface="楷体_GB2312" pitchFamily="49" charset="-122"/>
                <a:ea typeface="楷体_GB2312" pitchFamily="49" charset="-122"/>
              </a:rPr>
              <a:t> </a:t>
            </a:r>
            <a:r>
              <a:rPr lang="en-US" altLang="zh-CN" b="1" dirty="0" err="1">
                <a:latin typeface="楷体_GB2312" pitchFamily="49" charset="-122"/>
                <a:ea typeface="楷体_GB2312" pitchFamily="49" charset="-122"/>
              </a:rPr>
              <a:t>p</a:t>
            </a:r>
            <a:r>
              <a:rPr lang="en-US" altLang="zh-CN" b="1" baseline="-25000" dirty="0" err="1">
                <a:latin typeface="楷体_GB2312" pitchFamily="49" charset="-122"/>
                <a:ea typeface="楷体_GB2312" pitchFamily="49" charset="-122"/>
              </a:rPr>
              <a:t>n</a:t>
            </a:r>
            <a:r>
              <a:rPr lang="en-US" altLang="zh-CN" b="1" dirty="0">
                <a:latin typeface="楷体_GB2312" pitchFamily="49" charset="-122"/>
                <a:ea typeface="楷体_GB2312" pitchFamily="49" charset="-122"/>
              </a:rPr>
              <a:t>(x) =a</a:t>
            </a:r>
            <a:r>
              <a:rPr lang="en-US" altLang="zh-CN" b="1" baseline="-25000" dirty="0">
                <a:latin typeface="楷体_GB2312" pitchFamily="49" charset="-122"/>
                <a:ea typeface="楷体_GB2312" pitchFamily="49" charset="-122"/>
              </a:rPr>
              <a:t>n</a:t>
            </a:r>
            <a:r>
              <a:rPr lang="en-US" altLang="zh-CN" b="1" dirty="0">
                <a:latin typeface="楷体_GB2312" pitchFamily="49" charset="-122"/>
                <a:ea typeface="楷体_GB2312" pitchFamily="49" charset="-122"/>
              </a:rPr>
              <a:t>*x</a:t>
            </a:r>
            <a:r>
              <a:rPr lang="en-US" altLang="zh-CN" b="1" baseline="30000" dirty="0">
                <a:latin typeface="楷体_GB2312" pitchFamily="49" charset="-122"/>
                <a:ea typeface="楷体_GB2312" pitchFamily="49" charset="-122"/>
              </a:rPr>
              <a:t>n</a:t>
            </a:r>
            <a:r>
              <a:rPr lang="en-US" altLang="zh-CN" b="1" dirty="0">
                <a:latin typeface="楷体_GB2312" pitchFamily="49" charset="-122"/>
                <a:ea typeface="楷体_GB2312" pitchFamily="49" charset="-122"/>
              </a:rPr>
              <a:t>+a</a:t>
            </a:r>
            <a:r>
              <a:rPr lang="en-US" altLang="zh-CN" b="1" baseline="-25000" dirty="0">
                <a:latin typeface="楷体_GB2312" pitchFamily="49" charset="-122"/>
                <a:ea typeface="楷体_GB2312" pitchFamily="49" charset="-122"/>
              </a:rPr>
              <a:t>n-1</a:t>
            </a:r>
            <a:r>
              <a:rPr lang="en-US" altLang="zh-CN" b="1" dirty="0">
                <a:latin typeface="楷体_GB2312" pitchFamily="49" charset="-122"/>
                <a:ea typeface="楷体_GB2312" pitchFamily="49" charset="-122"/>
              </a:rPr>
              <a:t>*x</a:t>
            </a:r>
            <a:r>
              <a:rPr lang="en-US" altLang="zh-CN" b="1" baseline="30000" dirty="0">
                <a:latin typeface="楷体_GB2312" pitchFamily="49" charset="-122"/>
                <a:ea typeface="楷体_GB2312" pitchFamily="49" charset="-122"/>
              </a:rPr>
              <a:t>n-1</a:t>
            </a:r>
            <a:r>
              <a:rPr lang="en-US" altLang="zh-CN" b="1" dirty="0">
                <a:latin typeface="楷体_GB2312" pitchFamily="49" charset="-122"/>
                <a:ea typeface="楷体_GB2312" pitchFamily="49" charset="-122"/>
              </a:rPr>
              <a:t>+a</a:t>
            </a:r>
            <a:r>
              <a:rPr lang="en-US" altLang="zh-CN" b="1" baseline="-25000" dirty="0">
                <a:latin typeface="楷体_GB2312" pitchFamily="49" charset="-122"/>
                <a:ea typeface="楷体_GB2312" pitchFamily="49" charset="-122"/>
              </a:rPr>
              <a:t>n-2</a:t>
            </a:r>
            <a:r>
              <a:rPr lang="en-US" altLang="zh-CN" b="1" dirty="0">
                <a:latin typeface="楷体_GB2312" pitchFamily="49" charset="-122"/>
                <a:ea typeface="楷体_GB2312" pitchFamily="49" charset="-122"/>
              </a:rPr>
              <a:t>*x</a:t>
            </a:r>
            <a:r>
              <a:rPr lang="en-US" altLang="zh-CN" b="1" baseline="30000" dirty="0">
                <a:latin typeface="楷体_GB2312" pitchFamily="49" charset="-122"/>
                <a:ea typeface="楷体_GB2312" pitchFamily="49" charset="-122"/>
              </a:rPr>
              <a:t>n-2</a:t>
            </a:r>
            <a:r>
              <a:rPr lang="en-US" altLang="zh-CN" b="1" dirty="0">
                <a:latin typeface="楷体_GB2312" pitchFamily="49" charset="-122"/>
                <a:ea typeface="楷体_GB2312" pitchFamily="49" charset="-122"/>
              </a:rPr>
              <a:t> + </a:t>
            </a:r>
            <a:r>
              <a:rPr lang="en-US" altLang="zh-CN" b="1" dirty="0">
                <a:ea typeface="楷体_GB2312" pitchFamily="49" charset="-122"/>
              </a:rPr>
              <a:t>…</a:t>
            </a:r>
            <a:r>
              <a:rPr lang="en-US" altLang="zh-CN" b="1" dirty="0">
                <a:latin typeface="楷体_GB2312" pitchFamily="49" charset="-122"/>
                <a:ea typeface="楷体_GB2312" pitchFamily="49" charset="-122"/>
              </a:rPr>
              <a:t> + a</a:t>
            </a:r>
            <a:r>
              <a:rPr lang="en-US" altLang="zh-CN" b="1" baseline="-25000" dirty="0">
                <a:latin typeface="楷体_GB2312" pitchFamily="49" charset="-122"/>
                <a:ea typeface="楷体_GB2312" pitchFamily="49" charset="-122"/>
              </a:rPr>
              <a:t>1</a:t>
            </a:r>
            <a:r>
              <a:rPr lang="en-US" altLang="zh-CN" b="1" dirty="0">
                <a:latin typeface="楷体_GB2312" pitchFamily="49" charset="-122"/>
                <a:ea typeface="楷体_GB2312" pitchFamily="49" charset="-122"/>
              </a:rPr>
              <a:t>*x</a:t>
            </a:r>
            <a:r>
              <a:rPr lang="en-US" altLang="zh-CN" b="1" baseline="30000" dirty="0">
                <a:latin typeface="楷体_GB2312" pitchFamily="49" charset="-122"/>
                <a:ea typeface="楷体_GB2312" pitchFamily="49" charset="-122"/>
              </a:rPr>
              <a:t>1</a:t>
            </a:r>
            <a:r>
              <a:rPr lang="en-US" altLang="zh-CN" b="1" dirty="0">
                <a:latin typeface="楷体_GB2312" pitchFamily="49" charset="-122"/>
                <a:ea typeface="楷体_GB2312" pitchFamily="49" charset="-122"/>
              </a:rPr>
              <a:t>+a</a:t>
            </a:r>
            <a:r>
              <a:rPr lang="en-US" altLang="zh-CN" b="1" baseline="-25000" dirty="0">
                <a:latin typeface="楷体_GB2312" pitchFamily="49" charset="-122"/>
                <a:ea typeface="楷体_GB2312" pitchFamily="49" charset="-122"/>
              </a:rPr>
              <a:t>0</a:t>
            </a:r>
          </a:p>
          <a:p>
            <a:pPr marL="0" indent="0" eaLnBrk="1" hangingPunct="1">
              <a:buFont typeface="Monotype Sorts" pitchFamily="2" charset="2"/>
              <a:buNone/>
              <a:defRPr/>
            </a:pP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解题思路</a:t>
            </a:r>
            <a:r>
              <a:rPr lang="en-US" altLang="zh-CN" b="1" dirty="0">
                <a:latin typeface="楷体_GB2312" pitchFamily="49" charset="-122"/>
                <a:ea typeface="楷体_GB2312" pitchFamily="49" charset="-122"/>
              </a:rPr>
              <a:t>】</a:t>
            </a:r>
          </a:p>
          <a:p>
            <a:pPr marL="0" indent="0" eaLnBrk="1" hangingPunct="1">
              <a:buFont typeface="Monotype Sorts" pitchFamily="2" charset="2"/>
              <a:buNone/>
              <a:defRPr/>
            </a:pPr>
            <a:r>
              <a:rPr lang="zh-CN" altLang="en-US" b="1" dirty="0">
                <a:latin typeface="楷体_GB2312" pitchFamily="49" charset="-122"/>
                <a:ea typeface="楷体_GB2312" pitchFamily="49" charset="-122"/>
              </a:rPr>
              <a:t>当多项式的幂次很高，且系数为</a:t>
            </a:r>
            <a:r>
              <a:rPr lang="en-US" altLang="zh-CN" b="1" dirty="0">
                <a:latin typeface="楷体_GB2312" pitchFamily="49" charset="-122"/>
                <a:ea typeface="楷体_GB2312" pitchFamily="49" charset="-122"/>
              </a:rPr>
              <a:t>0</a:t>
            </a:r>
            <a:r>
              <a:rPr lang="zh-CN" altLang="en-US" b="1" dirty="0">
                <a:latin typeface="楷体_GB2312" pitchFamily="49" charset="-122"/>
                <a:ea typeface="楷体_GB2312" pitchFamily="49" charset="-122"/>
              </a:rPr>
              <a:t>的项所占比例较高时，多项式可用一个单链表来表示。例如，</a:t>
            </a:r>
            <a:r>
              <a:rPr lang="en-US" altLang="zh-CN" b="1" dirty="0">
                <a:latin typeface="楷体_GB2312" pitchFamily="49" charset="-122"/>
                <a:ea typeface="楷体_GB2312" pitchFamily="49" charset="-122"/>
              </a:rPr>
              <a:t>p(x) = 3*x</a:t>
            </a:r>
            <a:r>
              <a:rPr lang="en-US" altLang="zh-CN" b="1" baseline="30000" dirty="0">
                <a:latin typeface="楷体_GB2312" pitchFamily="49" charset="-122"/>
                <a:ea typeface="楷体_GB2312" pitchFamily="49" charset="-122"/>
              </a:rPr>
              <a:t>3</a:t>
            </a:r>
            <a:r>
              <a:rPr lang="en-US" altLang="zh-CN" b="1" dirty="0">
                <a:latin typeface="楷体_GB2312" pitchFamily="49" charset="-122"/>
                <a:ea typeface="楷体_GB2312" pitchFamily="49" charset="-122"/>
              </a:rPr>
              <a:t>-x</a:t>
            </a:r>
            <a:r>
              <a:rPr lang="en-US" altLang="zh-CN" b="1" baseline="30000" dirty="0">
                <a:latin typeface="楷体_GB2312" pitchFamily="49" charset="-122"/>
                <a:ea typeface="楷体_GB2312" pitchFamily="49" charset="-122"/>
              </a:rPr>
              <a:t>1</a:t>
            </a:r>
            <a:r>
              <a:rPr lang="en-US" altLang="zh-CN" b="1" dirty="0">
                <a:latin typeface="楷体_GB2312" pitchFamily="49" charset="-122"/>
                <a:ea typeface="楷体_GB2312" pitchFamily="49" charset="-122"/>
              </a:rPr>
              <a:t>+5</a:t>
            </a:r>
            <a:r>
              <a:rPr lang="zh-CN" altLang="en-US" b="1" dirty="0">
                <a:latin typeface="楷体_GB2312" pitchFamily="49" charset="-122"/>
                <a:ea typeface="楷体_GB2312" pitchFamily="49" charset="-122"/>
              </a:rPr>
              <a:t>用如图</a:t>
            </a:r>
            <a:r>
              <a:rPr lang="en-US" altLang="zh-CN" b="1" dirty="0">
                <a:latin typeface="楷体_GB2312" pitchFamily="49" charset="-122"/>
                <a:ea typeface="楷体_GB2312" pitchFamily="49" charset="-122"/>
              </a:rPr>
              <a:t>7-15</a:t>
            </a:r>
            <a:r>
              <a:rPr lang="zh-CN" altLang="en-US" b="1" dirty="0">
                <a:latin typeface="楷体_GB2312" pitchFamily="49" charset="-122"/>
                <a:ea typeface="楷体_GB2312" pitchFamily="49" charset="-122"/>
              </a:rPr>
              <a:t>所示的带辅助表元的单链表表示，其中表元是由幂次、系数和后继表元指针三个成员组成的结构。单链表的表元按幂次降序的顺序链接，系数为</a:t>
            </a:r>
            <a:r>
              <a:rPr lang="en-US" altLang="zh-CN" b="1" dirty="0">
                <a:latin typeface="楷体_GB2312" pitchFamily="49" charset="-122"/>
                <a:ea typeface="楷体_GB2312" pitchFamily="49" charset="-122"/>
              </a:rPr>
              <a:t>0</a:t>
            </a:r>
            <a:r>
              <a:rPr lang="zh-CN" altLang="en-US" b="1" dirty="0">
                <a:latin typeface="楷体_GB2312" pitchFamily="49" charset="-122"/>
                <a:ea typeface="楷体_GB2312" pitchFamily="49" charset="-122"/>
              </a:rPr>
              <a:t>的项在单链表中不表示。</a:t>
            </a:r>
          </a:p>
        </p:txBody>
      </p:sp>
      <p:sp>
        <p:nvSpPr>
          <p:cNvPr id="5" name="灯片编号占位符 5"/>
          <p:cNvSpPr>
            <a:spLocks noGrp="1"/>
          </p:cNvSpPr>
          <p:nvPr>
            <p:ph type="sldNum" sz="quarter" idx="12"/>
          </p:nvPr>
        </p:nvSpPr>
        <p:spPr/>
        <p:txBody>
          <a:bodyPr/>
          <a:lstStyle/>
          <a:p>
            <a:pPr>
              <a:defRPr/>
            </a:pPr>
            <a:fld id="{F9E0FF27-41D8-4038-85D4-417AAEFA0939}" type="slidenum">
              <a:rPr lang="en-US" altLang="zh-CN"/>
              <a:pPr>
                <a:defRPr/>
              </a:pPr>
              <a:t>114</a:t>
            </a:fld>
            <a:endParaRPr lang="en-US" altLang="zh-CN"/>
          </a:p>
        </p:txBody>
      </p:sp>
      <p:graphicFrame>
        <p:nvGraphicFramePr>
          <p:cNvPr id="117762" name="Object 2"/>
          <p:cNvGraphicFramePr>
            <a:graphicFrameLocks noChangeAspect="1"/>
          </p:cNvGraphicFramePr>
          <p:nvPr/>
        </p:nvGraphicFramePr>
        <p:xfrm>
          <a:off x="683568" y="5013176"/>
          <a:ext cx="7556500" cy="1358900"/>
        </p:xfrm>
        <a:graphic>
          <a:graphicData uri="http://schemas.openxmlformats.org/presentationml/2006/ole">
            <mc:AlternateContent xmlns:mc="http://schemas.openxmlformats.org/markup-compatibility/2006">
              <mc:Choice xmlns:v="urn:schemas-microsoft-com:vml" Requires="v">
                <p:oleObj r:id="rId2" imgW="7238616" imgH="1147369" progId="">
                  <p:embed/>
                </p:oleObj>
              </mc:Choice>
              <mc:Fallback>
                <p:oleObj r:id="rId2" imgW="7238616" imgH="1147369" progId="">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5013176"/>
                        <a:ext cx="7556500" cy="1358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a:defRPr/>
            </a:pPr>
            <a:fld id="{1DE4E0C7-907F-4591-8CA9-471BE0FEA4FC}" type="slidenum">
              <a:rPr lang="en-US" altLang="zh-CN"/>
              <a:pPr>
                <a:defRPr/>
              </a:pPr>
              <a:t>115</a:t>
            </a:fld>
            <a:endParaRPr lang="en-US" altLang="zh-CN"/>
          </a:p>
        </p:txBody>
      </p:sp>
      <p:sp>
        <p:nvSpPr>
          <p:cNvPr id="12292" name="Rectangle 5"/>
          <p:cNvSpPr>
            <a:spLocks noChangeArrowheads="1"/>
          </p:cNvSpPr>
          <p:nvPr/>
        </p:nvSpPr>
        <p:spPr bwMode="auto">
          <a:xfrm>
            <a:off x="0" y="3095625"/>
            <a:ext cx="9144000" cy="0"/>
          </a:xfrm>
          <a:prstGeom prst="rect">
            <a:avLst/>
          </a:prstGeom>
          <a:noFill/>
          <a:ln w="9525">
            <a:noFill/>
            <a:miter lim="800000"/>
            <a:headEnd/>
            <a:tailEnd/>
          </a:ln>
        </p:spPr>
        <p:txBody>
          <a:bodyPr wrap="none" anchor="ctr">
            <a:spAutoFit/>
          </a:bodyPr>
          <a:lstStyle/>
          <a:p>
            <a:endParaRPr lang="zh-CN" altLang="en-US"/>
          </a:p>
        </p:txBody>
      </p:sp>
      <p:sp>
        <p:nvSpPr>
          <p:cNvPr id="708615" name="Text Box 7"/>
          <p:cNvSpPr txBox="1">
            <a:spLocks noChangeArrowheads="1"/>
          </p:cNvSpPr>
          <p:nvPr/>
        </p:nvSpPr>
        <p:spPr bwMode="auto">
          <a:xfrm>
            <a:off x="467544" y="1196752"/>
            <a:ext cx="8424862" cy="4154984"/>
          </a:xfrm>
          <a:prstGeom prst="rect">
            <a:avLst/>
          </a:prstGeom>
          <a:noFill/>
          <a:ln w="9525">
            <a:noFill/>
            <a:miter lim="800000"/>
            <a:headEnd/>
            <a:tailEnd/>
          </a:ln>
          <a:effectLst/>
        </p:spPr>
        <p:txBody>
          <a:bodyPr>
            <a:spAutoFit/>
          </a:bodyPr>
          <a:lstStyle/>
          <a:p>
            <a:pPr>
              <a:defRPr/>
            </a:pPr>
            <a:r>
              <a:rPr lang="zh-CN" altLang="en-US" b="1" dirty="0">
                <a:latin typeface="楷体_GB2312" pitchFamily="49" charset="-122"/>
                <a:ea typeface="楷体_GB2312" pitchFamily="49" charset="-122"/>
              </a:rPr>
              <a:t>假设函数</a:t>
            </a:r>
            <a:r>
              <a:rPr lang="en-US" altLang="zh-CN" b="1" dirty="0" err="1">
                <a:latin typeface="楷体_GB2312" pitchFamily="49" charset="-122"/>
                <a:ea typeface="楷体_GB2312" pitchFamily="49" charset="-122"/>
              </a:rPr>
              <a:t>addPoly</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实现</a:t>
            </a:r>
          </a:p>
          <a:p>
            <a:pPr>
              <a:defRPr/>
            </a:pPr>
            <a:r>
              <a:rPr lang="zh-CN" altLang="en-US" b="1" dirty="0">
                <a:latin typeface="楷体_GB2312" pitchFamily="49" charset="-122"/>
                <a:ea typeface="楷体_GB2312" pitchFamily="49" charset="-122"/>
              </a:rPr>
              <a:t>           </a:t>
            </a:r>
            <a:r>
              <a:rPr lang="en-US" altLang="zh-CN" b="1" dirty="0">
                <a:latin typeface="楷体_GB2312" pitchFamily="49" charset="-122"/>
                <a:ea typeface="楷体_GB2312" pitchFamily="49" charset="-122"/>
              </a:rPr>
              <a:t>l(x) + k(x) =&gt; l(x)</a:t>
            </a:r>
          </a:p>
          <a:p>
            <a:pPr>
              <a:defRPr/>
            </a:pPr>
            <a:r>
              <a:rPr lang="zh-CN" altLang="en-US" b="1" dirty="0">
                <a:latin typeface="楷体_GB2312" pitchFamily="49" charset="-122"/>
                <a:ea typeface="楷体_GB2312" pitchFamily="49" charset="-122"/>
              </a:rPr>
              <a:t>利用两多项式链表的表元由幂次从高到低链接的性质，顺序考察两多项式的项，对</a:t>
            </a:r>
            <a:r>
              <a:rPr lang="en-US" altLang="zh-CN" b="1" dirty="0">
                <a:latin typeface="楷体_GB2312" pitchFamily="49" charset="-122"/>
                <a:ea typeface="楷体_GB2312" pitchFamily="49" charset="-122"/>
              </a:rPr>
              <a:t>l(x)</a:t>
            </a:r>
            <a:r>
              <a:rPr lang="zh-CN" altLang="en-US" b="1" dirty="0">
                <a:latin typeface="楷体_GB2312" pitchFamily="49" charset="-122"/>
                <a:ea typeface="楷体_GB2312" pitchFamily="49" charset="-122"/>
              </a:rPr>
              <a:t>多项式链表作修正。</a:t>
            </a:r>
            <a:endParaRPr lang="en-US" altLang="zh-CN" b="1" dirty="0">
              <a:latin typeface="楷体_GB2312" pitchFamily="49" charset="-122"/>
              <a:ea typeface="楷体_GB2312" pitchFamily="49" charset="-122"/>
            </a:endParaRPr>
          </a:p>
          <a:p>
            <a:pPr marL="457200" indent="-457200">
              <a:buAutoNum type="arabicPeriod"/>
              <a:defRPr/>
            </a:pPr>
            <a:r>
              <a:rPr lang="zh-CN" altLang="en-US" b="1" dirty="0">
                <a:latin typeface="楷体_GB2312" pitchFamily="49" charset="-122"/>
                <a:ea typeface="楷体_GB2312" pitchFamily="49" charset="-122"/>
              </a:rPr>
              <a:t>如果</a:t>
            </a:r>
            <a:r>
              <a:rPr lang="en-US" altLang="zh-CN" b="1" dirty="0">
                <a:latin typeface="楷体_GB2312" pitchFamily="49" charset="-122"/>
                <a:ea typeface="楷体_GB2312" pitchFamily="49" charset="-122"/>
              </a:rPr>
              <a:t>l(x)</a:t>
            </a:r>
            <a:r>
              <a:rPr lang="zh-CN" altLang="en-US" b="1" dirty="0">
                <a:latin typeface="楷体_GB2312" pitchFamily="49" charset="-122"/>
                <a:ea typeface="楷体_GB2312" pitchFamily="49" charset="-122"/>
              </a:rPr>
              <a:t>的当前项幂次与</a:t>
            </a:r>
            <a:r>
              <a:rPr lang="en-US" altLang="zh-CN" b="1" dirty="0">
                <a:latin typeface="楷体_GB2312" pitchFamily="49" charset="-122"/>
                <a:ea typeface="楷体_GB2312" pitchFamily="49" charset="-122"/>
              </a:rPr>
              <a:t>k(x)</a:t>
            </a:r>
            <a:r>
              <a:rPr lang="zh-CN" altLang="en-US" b="1" dirty="0">
                <a:latin typeface="楷体_GB2312" pitchFamily="49" charset="-122"/>
                <a:ea typeface="楷体_GB2312" pitchFamily="49" charset="-122"/>
              </a:rPr>
              <a:t>的当前项幂次相等，则将</a:t>
            </a:r>
            <a:r>
              <a:rPr lang="en-US" altLang="zh-CN" b="1" dirty="0">
                <a:latin typeface="楷体_GB2312" pitchFamily="49" charset="-122"/>
                <a:ea typeface="楷体_GB2312" pitchFamily="49" charset="-122"/>
              </a:rPr>
              <a:t>k(x)</a:t>
            </a:r>
            <a:r>
              <a:rPr lang="zh-CN" altLang="en-US" b="1" dirty="0">
                <a:latin typeface="楷体_GB2312" pitchFamily="49" charset="-122"/>
                <a:ea typeface="楷体_GB2312" pitchFamily="49" charset="-122"/>
              </a:rPr>
              <a:t>的当前项系数加到</a:t>
            </a:r>
            <a:r>
              <a:rPr lang="en-US" altLang="zh-CN" b="1" dirty="0">
                <a:latin typeface="楷体_GB2312" pitchFamily="49" charset="-122"/>
                <a:ea typeface="楷体_GB2312" pitchFamily="49" charset="-122"/>
              </a:rPr>
              <a:t>l(x)</a:t>
            </a:r>
            <a:r>
              <a:rPr lang="zh-CN" altLang="en-US" b="1" dirty="0">
                <a:latin typeface="楷体_GB2312" pitchFamily="49" charset="-122"/>
                <a:ea typeface="楷体_GB2312" pitchFamily="49" charset="-122"/>
              </a:rPr>
              <a:t>的当前项的系数上。如果它们的系数和为零，结果多项式</a:t>
            </a:r>
            <a:r>
              <a:rPr lang="en-US" altLang="zh-CN" b="1" dirty="0">
                <a:latin typeface="楷体_GB2312" pitchFamily="49" charset="-122"/>
                <a:ea typeface="楷体_GB2312" pitchFamily="49" charset="-122"/>
              </a:rPr>
              <a:t>l(x)</a:t>
            </a:r>
            <a:r>
              <a:rPr lang="zh-CN" altLang="en-US" b="1" dirty="0">
                <a:latin typeface="楷体_GB2312" pitchFamily="49" charset="-122"/>
                <a:ea typeface="楷体_GB2312" pitchFamily="49" charset="-122"/>
              </a:rPr>
              <a:t>的当前项应从链表中删去。</a:t>
            </a:r>
            <a:endParaRPr lang="en-US" altLang="zh-CN" b="1" dirty="0">
              <a:latin typeface="楷体_GB2312" pitchFamily="49" charset="-122"/>
              <a:ea typeface="楷体_GB2312" pitchFamily="49" charset="-122"/>
            </a:endParaRPr>
          </a:p>
          <a:p>
            <a:pPr marL="457200" indent="-457200">
              <a:buAutoNum type="arabicPeriod"/>
              <a:defRPr/>
            </a:pPr>
            <a:r>
              <a:rPr lang="zh-CN" altLang="en-US" b="1" dirty="0">
                <a:latin typeface="楷体_GB2312" pitchFamily="49" charset="-122"/>
                <a:ea typeface="楷体_GB2312" pitchFamily="49" charset="-122"/>
              </a:rPr>
              <a:t>当</a:t>
            </a:r>
            <a:r>
              <a:rPr lang="en-US" altLang="zh-CN" b="1" dirty="0">
                <a:latin typeface="楷体_GB2312" pitchFamily="49" charset="-122"/>
                <a:ea typeface="楷体_GB2312" pitchFamily="49" charset="-122"/>
              </a:rPr>
              <a:t>l(x)</a:t>
            </a:r>
            <a:r>
              <a:rPr lang="zh-CN" altLang="en-US" b="1" dirty="0">
                <a:latin typeface="楷体_GB2312" pitchFamily="49" charset="-122"/>
                <a:ea typeface="楷体_GB2312" pitchFamily="49" charset="-122"/>
              </a:rPr>
              <a:t>链表已结束、或当</a:t>
            </a:r>
            <a:r>
              <a:rPr lang="en-US" altLang="zh-CN" b="1" dirty="0">
                <a:latin typeface="楷体_GB2312" pitchFamily="49" charset="-122"/>
                <a:ea typeface="楷体_GB2312" pitchFamily="49" charset="-122"/>
              </a:rPr>
              <a:t>l(x)</a:t>
            </a:r>
            <a:r>
              <a:rPr lang="zh-CN" altLang="en-US" b="1" dirty="0">
                <a:latin typeface="楷体_GB2312" pitchFamily="49" charset="-122"/>
                <a:ea typeface="楷体_GB2312" pitchFamily="49" charset="-122"/>
              </a:rPr>
              <a:t>当前项的幂次小于</a:t>
            </a:r>
            <a:r>
              <a:rPr lang="en-US" altLang="zh-CN" b="1" dirty="0">
                <a:latin typeface="楷体_GB2312" pitchFamily="49" charset="-122"/>
                <a:ea typeface="楷体_GB2312" pitchFamily="49" charset="-122"/>
              </a:rPr>
              <a:t>k(x)</a:t>
            </a:r>
            <a:r>
              <a:rPr lang="zh-CN" altLang="en-US" b="1" dirty="0">
                <a:latin typeface="楷体_GB2312" pitchFamily="49" charset="-122"/>
                <a:ea typeface="楷体_GB2312" pitchFamily="49" charset="-122"/>
              </a:rPr>
              <a:t>当前项的幂次，说明</a:t>
            </a:r>
            <a:r>
              <a:rPr lang="en-US" altLang="zh-CN" b="1" dirty="0">
                <a:latin typeface="楷体_GB2312" pitchFamily="49" charset="-122"/>
                <a:ea typeface="楷体_GB2312" pitchFamily="49" charset="-122"/>
              </a:rPr>
              <a:t>l(x)</a:t>
            </a:r>
            <a:r>
              <a:rPr lang="zh-CN" altLang="en-US" b="1" dirty="0">
                <a:latin typeface="楷体_GB2312" pitchFamily="49" charset="-122"/>
                <a:ea typeface="楷体_GB2312" pitchFamily="49" charset="-122"/>
              </a:rPr>
              <a:t>中没有</a:t>
            </a:r>
            <a:r>
              <a:rPr lang="en-US" altLang="zh-CN" b="1" dirty="0">
                <a:latin typeface="楷体_GB2312" pitchFamily="49" charset="-122"/>
                <a:ea typeface="楷体_GB2312" pitchFamily="49" charset="-122"/>
              </a:rPr>
              <a:t>k(x)</a:t>
            </a:r>
            <a:r>
              <a:rPr lang="zh-CN" altLang="en-US" b="1" dirty="0">
                <a:latin typeface="楷体_GB2312" pitchFamily="49" charset="-122"/>
                <a:ea typeface="楷体_GB2312" pitchFamily="49" charset="-122"/>
              </a:rPr>
              <a:t>当前项那样的项。在</a:t>
            </a:r>
            <a:r>
              <a:rPr lang="en-US" altLang="zh-CN" b="1" dirty="0">
                <a:latin typeface="楷体_GB2312" pitchFamily="49" charset="-122"/>
                <a:ea typeface="楷体_GB2312" pitchFamily="49" charset="-122"/>
              </a:rPr>
              <a:t>l(x)</a:t>
            </a:r>
            <a:r>
              <a:rPr lang="zh-CN" altLang="en-US" b="1" dirty="0">
                <a:latin typeface="楷体_GB2312" pitchFamily="49" charset="-122"/>
                <a:ea typeface="楷体_GB2312" pitchFamily="49" charset="-122"/>
              </a:rPr>
              <a:t>中应插入</a:t>
            </a:r>
            <a:r>
              <a:rPr lang="en-US" altLang="zh-CN" b="1" dirty="0">
                <a:latin typeface="楷体_GB2312" pitchFamily="49" charset="-122"/>
                <a:ea typeface="楷体_GB2312" pitchFamily="49" charset="-122"/>
              </a:rPr>
              <a:t>k(x)</a:t>
            </a:r>
            <a:r>
              <a:rPr lang="zh-CN" altLang="en-US" b="1" dirty="0">
                <a:latin typeface="楷体_GB2312" pitchFamily="49" charset="-122"/>
                <a:ea typeface="楷体_GB2312" pitchFamily="49" charset="-122"/>
              </a:rPr>
              <a:t>这样的项。</a:t>
            </a:r>
            <a:endParaRPr lang="en-US" altLang="zh-CN" b="1" dirty="0">
              <a:latin typeface="楷体_GB2312" pitchFamily="49" charset="-122"/>
              <a:ea typeface="楷体_GB2312" pitchFamily="49" charset="-122"/>
            </a:endParaRPr>
          </a:p>
          <a:p>
            <a:pPr marL="457200" indent="-457200">
              <a:defRPr/>
            </a:pPr>
            <a:r>
              <a:rPr lang="zh-CN" altLang="en-US" b="1" dirty="0">
                <a:latin typeface="楷体_GB2312" pitchFamily="49" charset="-122"/>
                <a:ea typeface="楷体_GB2312" pitchFamily="49" charset="-122"/>
              </a:rPr>
              <a:t>以上顺序考察过程直至</a:t>
            </a:r>
            <a:r>
              <a:rPr lang="en-US" altLang="zh-CN" b="1" dirty="0">
                <a:latin typeface="楷体_GB2312" pitchFamily="49" charset="-122"/>
                <a:ea typeface="楷体_GB2312" pitchFamily="49" charset="-122"/>
              </a:rPr>
              <a:t>k(x)</a:t>
            </a:r>
            <a:r>
              <a:rPr lang="zh-CN" altLang="en-US" b="1" dirty="0">
                <a:latin typeface="楷体_GB2312" pitchFamily="49" charset="-122"/>
                <a:ea typeface="楷体_GB2312" pitchFamily="49" charset="-122"/>
              </a:rPr>
              <a:t>多项式链表结束。</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4515" name="Rectangle 3"/>
          <p:cNvSpPr>
            <a:spLocks noGrp="1" noChangeArrowheads="1"/>
          </p:cNvSpPr>
          <p:nvPr>
            <p:ph idx="1"/>
          </p:nvPr>
        </p:nvSpPr>
        <p:spPr>
          <a:xfrm>
            <a:off x="395288" y="404813"/>
            <a:ext cx="8280400" cy="5903912"/>
          </a:xfrm>
        </p:spPr>
        <p:txBody>
          <a:bodyPr/>
          <a:lstStyle/>
          <a:p>
            <a:pPr marL="0" indent="0" eaLnBrk="1" hangingPunct="1">
              <a:lnSpc>
                <a:spcPct val="90000"/>
              </a:lnSpc>
              <a:buFont typeface="Monotype Sorts" pitchFamily="2" charset="2"/>
              <a:buNone/>
              <a:defRPr/>
            </a:pPr>
            <a:r>
              <a:rPr lang="zh-CN" altLang="en-US" b="1" dirty="0">
                <a:latin typeface="楷体_GB2312" pitchFamily="49" charset="-122"/>
                <a:ea typeface="楷体_GB2312" pitchFamily="49" charset="-122"/>
              </a:rPr>
              <a:t>引入三个指针变量</a:t>
            </a:r>
            <a:r>
              <a:rPr lang="en-US" altLang="zh-CN" b="1" dirty="0" err="1">
                <a:latin typeface="楷体_GB2312" pitchFamily="49" charset="-122"/>
                <a:ea typeface="楷体_GB2312" pitchFamily="49" charset="-122"/>
              </a:rPr>
              <a:t>lpt</a:t>
            </a:r>
            <a:r>
              <a:rPr lang="zh-CN" altLang="en-US" b="1" dirty="0">
                <a:latin typeface="楷体_GB2312" pitchFamily="49" charset="-122"/>
                <a:ea typeface="楷体_GB2312" pitchFamily="49" charset="-122"/>
              </a:rPr>
              <a:t>、</a:t>
            </a:r>
            <a:r>
              <a:rPr lang="en-US" altLang="zh-CN" b="1" dirty="0" err="1">
                <a:latin typeface="楷体_GB2312" pitchFamily="49" charset="-122"/>
                <a:ea typeface="楷体_GB2312" pitchFamily="49" charset="-122"/>
              </a:rPr>
              <a:t>kpt</a:t>
            </a:r>
            <a:r>
              <a:rPr lang="zh-CN" altLang="en-US" b="1" dirty="0">
                <a:latin typeface="楷体_GB2312" pitchFamily="49" charset="-122"/>
                <a:ea typeface="楷体_GB2312" pitchFamily="49" charset="-122"/>
              </a:rPr>
              <a:t>和</a:t>
            </a:r>
            <a:r>
              <a:rPr lang="en-US" altLang="zh-CN" b="1" dirty="0">
                <a:latin typeface="楷体_GB2312" pitchFamily="49" charset="-122"/>
                <a:ea typeface="楷体_GB2312" pitchFamily="49" charset="-122"/>
              </a:rPr>
              <a:t>p</a:t>
            </a:r>
            <a:r>
              <a:rPr lang="zh-CN" altLang="en-US" b="1" dirty="0">
                <a:latin typeface="楷体_GB2312" pitchFamily="49" charset="-122"/>
                <a:ea typeface="楷体_GB2312" pitchFamily="49" charset="-122"/>
              </a:rPr>
              <a:t>，分别指向</a:t>
            </a:r>
            <a:r>
              <a:rPr lang="en-US" altLang="zh-CN" b="1" dirty="0">
                <a:latin typeface="楷体_GB2312" pitchFamily="49" charset="-122"/>
                <a:ea typeface="楷体_GB2312" pitchFamily="49" charset="-122"/>
              </a:rPr>
              <a:t>l(x)</a:t>
            </a:r>
            <a:r>
              <a:rPr lang="zh-CN" altLang="en-US" b="1" dirty="0">
                <a:latin typeface="楷体_GB2312" pitchFamily="49" charset="-122"/>
                <a:ea typeface="楷体_GB2312" pitchFamily="49" charset="-122"/>
              </a:rPr>
              <a:t>单链表和</a:t>
            </a:r>
            <a:r>
              <a:rPr lang="en-US" altLang="zh-CN" b="1" dirty="0">
                <a:latin typeface="楷体_GB2312" pitchFamily="49" charset="-122"/>
                <a:ea typeface="楷体_GB2312" pitchFamily="49" charset="-122"/>
              </a:rPr>
              <a:t>k(x)</a:t>
            </a:r>
            <a:r>
              <a:rPr lang="zh-CN" altLang="en-US" b="1" dirty="0">
                <a:latin typeface="楷体_GB2312" pitchFamily="49" charset="-122"/>
                <a:ea typeface="楷体_GB2312" pitchFamily="49" charset="-122"/>
              </a:rPr>
              <a:t>单链表的当前项</a:t>
            </a:r>
            <a:r>
              <a:rPr lang="en-US" altLang="zh-CN" b="1" dirty="0">
                <a:latin typeface="楷体_GB2312" pitchFamily="49" charset="-122"/>
                <a:ea typeface="楷体_GB2312" pitchFamily="49" charset="-122"/>
              </a:rPr>
              <a:t>(*</a:t>
            </a:r>
            <a:r>
              <a:rPr lang="en-US" altLang="zh-CN" b="1" dirty="0" err="1">
                <a:latin typeface="楷体_GB2312" pitchFamily="49" charset="-122"/>
                <a:ea typeface="楷体_GB2312" pitchFamily="49" charset="-122"/>
              </a:rPr>
              <a:t>lpt</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a:t>
            </a:r>
            <a:r>
              <a:rPr lang="en-US" altLang="zh-CN" b="1" dirty="0" err="1">
                <a:latin typeface="楷体_GB2312" pitchFamily="49" charset="-122"/>
                <a:ea typeface="楷体_GB2312" pitchFamily="49" charset="-122"/>
              </a:rPr>
              <a:t>kpt</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和</a:t>
            </a:r>
            <a:r>
              <a:rPr lang="en-US" altLang="zh-CN" b="1" dirty="0">
                <a:solidFill>
                  <a:srgbClr val="C00000"/>
                </a:solidFill>
                <a:latin typeface="楷体_GB2312" pitchFamily="49" charset="-122"/>
                <a:ea typeface="楷体_GB2312" pitchFamily="49" charset="-122"/>
              </a:rPr>
              <a:t>(*</a:t>
            </a:r>
            <a:r>
              <a:rPr lang="en-US" altLang="zh-CN" b="1" dirty="0" err="1">
                <a:solidFill>
                  <a:srgbClr val="C00000"/>
                </a:solidFill>
                <a:latin typeface="楷体_GB2312" pitchFamily="49" charset="-122"/>
                <a:ea typeface="楷体_GB2312" pitchFamily="49" charset="-122"/>
              </a:rPr>
              <a:t>lpt</a:t>
            </a:r>
            <a:r>
              <a:rPr lang="en-US" altLang="zh-CN" b="1" dirty="0">
                <a:solidFill>
                  <a:srgbClr val="C00000"/>
                </a:solidFill>
                <a:latin typeface="楷体_GB2312" pitchFamily="49" charset="-122"/>
                <a:ea typeface="楷体_GB2312" pitchFamily="49" charset="-122"/>
              </a:rPr>
              <a:t>)</a:t>
            </a:r>
            <a:r>
              <a:rPr lang="zh-CN" altLang="en-US" b="1" dirty="0">
                <a:solidFill>
                  <a:srgbClr val="C00000"/>
                </a:solidFill>
                <a:latin typeface="楷体_GB2312" pitchFamily="49" charset="-122"/>
                <a:ea typeface="楷体_GB2312" pitchFamily="49" charset="-122"/>
              </a:rPr>
              <a:t>的前驱表元</a:t>
            </a:r>
            <a:r>
              <a:rPr lang="en-US" altLang="zh-CN" b="1" dirty="0">
                <a:solidFill>
                  <a:srgbClr val="C00000"/>
                </a:solidFill>
                <a:latin typeface="楷体_GB2312" pitchFamily="49" charset="-122"/>
                <a:ea typeface="楷体_GB2312" pitchFamily="49" charset="-122"/>
              </a:rPr>
              <a:t>(*p)</a:t>
            </a:r>
            <a:r>
              <a:rPr lang="zh-CN" altLang="en-US" b="1" dirty="0">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zh-CN" altLang="en-US" b="1" dirty="0">
                <a:latin typeface="楷体_GB2312" pitchFamily="49" charset="-122"/>
                <a:ea typeface="楷体_GB2312" pitchFamily="49" charset="-122"/>
              </a:rPr>
              <a:t>完成求和运算是一个从高幂次项到低幂次项，逐一参照</a:t>
            </a:r>
            <a:r>
              <a:rPr lang="en-US" altLang="zh-CN" b="1" dirty="0">
                <a:latin typeface="楷体_GB2312" pitchFamily="49" charset="-122"/>
                <a:ea typeface="楷体_GB2312" pitchFamily="49" charset="-122"/>
              </a:rPr>
              <a:t>k(x)</a:t>
            </a:r>
            <a:r>
              <a:rPr lang="zh-CN" altLang="en-US" b="1" dirty="0">
                <a:latin typeface="楷体_GB2312" pitchFamily="49" charset="-122"/>
                <a:ea typeface="楷体_GB2312" pitchFamily="49" charset="-122"/>
              </a:rPr>
              <a:t>项的循环，直至多项式</a:t>
            </a:r>
            <a:r>
              <a:rPr lang="en-US" altLang="zh-CN" b="1" dirty="0">
                <a:latin typeface="楷体_GB2312" pitchFamily="49" charset="-122"/>
                <a:ea typeface="楷体_GB2312" pitchFamily="49" charset="-122"/>
              </a:rPr>
              <a:t>k(x)</a:t>
            </a:r>
            <a:r>
              <a:rPr lang="zh-CN" altLang="en-US" b="1" dirty="0">
                <a:latin typeface="楷体_GB2312" pitchFamily="49" charset="-122"/>
                <a:ea typeface="楷体_GB2312" pitchFamily="49" charset="-122"/>
              </a:rPr>
              <a:t>的项参照完结束循环。每次循环要做的工作是：</a:t>
            </a:r>
          </a:p>
          <a:p>
            <a:pPr marL="0" indent="0" eaLnBrk="1" hangingPunct="1">
              <a:lnSpc>
                <a:spcPct val="90000"/>
              </a:lnSpc>
              <a:buFont typeface="Monotype Sorts" pitchFamily="2" charset="2"/>
              <a:buNone/>
              <a:defRPr/>
            </a:pPr>
            <a:endParaRPr lang="en-US" altLang="zh-CN" b="1" dirty="0">
              <a:solidFill>
                <a:srgbClr val="0000FF"/>
              </a:solidFill>
              <a:latin typeface="楷体_GB2312" pitchFamily="49" charset="-122"/>
              <a:ea typeface="楷体_GB2312" pitchFamily="49" charset="-122"/>
            </a:endParaRPr>
          </a:p>
          <a:p>
            <a:pPr marL="0" indent="0" eaLnBrk="1" hangingPunct="1">
              <a:lnSpc>
                <a:spcPct val="90000"/>
              </a:lnSpc>
              <a:buFont typeface="Monotype Sorts" pitchFamily="2" charset="2"/>
              <a:buNone/>
              <a:defRPr/>
            </a:pPr>
            <a:r>
              <a:rPr lang="en-US" altLang="zh-CN" b="1" dirty="0">
                <a:solidFill>
                  <a:srgbClr val="0000FF"/>
                </a:solidFill>
                <a:latin typeface="楷体_GB2312" pitchFamily="49" charset="-122"/>
                <a:ea typeface="楷体_GB2312" pitchFamily="49" charset="-122"/>
              </a:rPr>
              <a:t>1</a:t>
            </a:r>
            <a:r>
              <a:rPr lang="zh-CN" altLang="en-US" b="1" dirty="0">
                <a:solidFill>
                  <a:srgbClr val="0000FF"/>
                </a:solidFill>
                <a:latin typeface="楷体_GB2312" pitchFamily="49" charset="-122"/>
                <a:ea typeface="楷体_GB2312" pitchFamily="49" charset="-122"/>
              </a:rPr>
              <a:t>、</a:t>
            </a:r>
            <a:r>
              <a:rPr lang="en-US" altLang="zh-CN" b="1" dirty="0">
                <a:solidFill>
                  <a:srgbClr val="0000FF"/>
                </a:solidFill>
                <a:latin typeface="楷体_GB2312" pitchFamily="49" charset="-122"/>
                <a:ea typeface="楷体_GB2312" pitchFamily="49" charset="-122"/>
              </a:rPr>
              <a:t>(*</a:t>
            </a:r>
            <a:r>
              <a:rPr lang="en-US" altLang="zh-CN" b="1" dirty="0" err="1">
                <a:solidFill>
                  <a:srgbClr val="0000FF"/>
                </a:solidFill>
                <a:latin typeface="楷体_GB2312" pitchFamily="49" charset="-122"/>
                <a:ea typeface="楷体_GB2312" pitchFamily="49" charset="-122"/>
              </a:rPr>
              <a:t>lpt</a:t>
            </a:r>
            <a:r>
              <a:rPr lang="en-US" altLang="zh-CN" b="1" dirty="0">
                <a:solidFill>
                  <a:srgbClr val="0000FF"/>
                </a:solidFill>
                <a:latin typeface="楷体_GB2312" pitchFamily="49" charset="-122"/>
                <a:ea typeface="楷体_GB2312" pitchFamily="49" charset="-122"/>
              </a:rPr>
              <a:t>)</a:t>
            </a:r>
            <a:r>
              <a:rPr lang="zh-CN" altLang="en-US" b="1" dirty="0">
                <a:solidFill>
                  <a:srgbClr val="0000FF"/>
                </a:solidFill>
                <a:latin typeface="楷体_GB2312" pitchFamily="49" charset="-122"/>
                <a:ea typeface="楷体_GB2312" pitchFamily="49" charset="-122"/>
              </a:rPr>
              <a:t>的幂次大于</a:t>
            </a:r>
            <a:r>
              <a:rPr lang="en-US" altLang="zh-CN" b="1" dirty="0">
                <a:solidFill>
                  <a:srgbClr val="0000FF"/>
                </a:solidFill>
                <a:latin typeface="楷体_GB2312" pitchFamily="49" charset="-122"/>
                <a:ea typeface="楷体_GB2312" pitchFamily="49" charset="-122"/>
              </a:rPr>
              <a:t>(*</a:t>
            </a:r>
            <a:r>
              <a:rPr lang="en-US" altLang="zh-CN" b="1" dirty="0" err="1">
                <a:solidFill>
                  <a:srgbClr val="0000FF"/>
                </a:solidFill>
                <a:latin typeface="楷体_GB2312" pitchFamily="49" charset="-122"/>
                <a:ea typeface="楷体_GB2312" pitchFamily="49" charset="-122"/>
              </a:rPr>
              <a:t>kpt</a:t>
            </a:r>
            <a:r>
              <a:rPr lang="en-US" altLang="zh-CN" b="1" dirty="0">
                <a:solidFill>
                  <a:srgbClr val="0000FF"/>
                </a:solidFill>
                <a:latin typeface="楷体_GB2312" pitchFamily="49" charset="-122"/>
                <a:ea typeface="楷体_GB2312" pitchFamily="49" charset="-122"/>
              </a:rPr>
              <a:t>)</a:t>
            </a:r>
            <a:r>
              <a:rPr lang="zh-CN" altLang="en-US" b="1" dirty="0">
                <a:solidFill>
                  <a:srgbClr val="0000FF"/>
                </a:solidFill>
                <a:latin typeface="楷体_GB2312" pitchFamily="49" charset="-122"/>
                <a:ea typeface="楷体_GB2312" pitchFamily="49" charset="-122"/>
              </a:rPr>
              <a:t>的幂次，</a:t>
            </a:r>
            <a:r>
              <a:rPr lang="en-US" altLang="zh-CN" b="1" dirty="0">
                <a:solidFill>
                  <a:srgbClr val="0000FF"/>
                </a:solidFill>
                <a:latin typeface="楷体_GB2312" pitchFamily="49" charset="-122"/>
                <a:ea typeface="楷体_GB2312" pitchFamily="49" charset="-122"/>
              </a:rPr>
              <a:t>(*k</a:t>
            </a:r>
            <a:r>
              <a:rPr lang="en-US" altLang="zh-CN" b="1">
                <a:solidFill>
                  <a:srgbClr val="0000FF"/>
                </a:solidFill>
                <a:latin typeface="楷体_GB2312" pitchFamily="49" charset="-122"/>
                <a:ea typeface="楷体_GB2312" pitchFamily="49" charset="-122"/>
              </a:rPr>
              <a:t>pt</a:t>
            </a:r>
            <a:r>
              <a:rPr lang="en-US" altLang="zh-CN" b="1" dirty="0">
                <a:solidFill>
                  <a:srgbClr val="0000FF"/>
                </a:solidFill>
                <a:latin typeface="楷体_GB2312" pitchFamily="49" charset="-122"/>
                <a:ea typeface="楷体_GB2312" pitchFamily="49" charset="-122"/>
              </a:rPr>
              <a:t>)</a:t>
            </a:r>
            <a:r>
              <a:rPr lang="zh-CN" altLang="en-US" b="1" dirty="0">
                <a:solidFill>
                  <a:srgbClr val="0000FF"/>
                </a:solidFill>
                <a:latin typeface="楷体_GB2312" pitchFamily="49" charset="-122"/>
                <a:ea typeface="楷体_GB2312" pitchFamily="49" charset="-122"/>
              </a:rPr>
              <a:t>不变，继续考察</a:t>
            </a:r>
            <a:r>
              <a:rPr lang="en-US" altLang="zh-CN" b="1" dirty="0">
                <a:solidFill>
                  <a:srgbClr val="0000FF"/>
                </a:solidFill>
                <a:latin typeface="楷体_GB2312" pitchFamily="49" charset="-122"/>
                <a:ea typeface="楷体_GB2312" pitchFamily="49" charset="-122"/>
              </a:rPr>
              <a:t>l(x)</a:t>
            </a:r>
            <a:r>
              <a:rPr lang="zh-CN" altLang="en-US" b="1" dirty="0">
                <a:solidFill>
                  <a:srgbClr val="0000FF"/>
                </a:solidFill>
                <a:latin typeface="楷体_GB2312" pitchFamily="49" charset="-122"/>
                <a:ea typeface="楷体_GB2312" pitchFamily="49" charset="-122"/>
              </a:rPr>
              <a:t>的下一项。</a:t>
            </a:r>
          </a:p>
          <a:p>
            <a:pPr marL="0" indent="0" eaLnBrk="1" hangingPunct="1">
              <a:lnSpc>
                <a:spcPct val="90000"/>
              </a:lnSpc>
              <a:buFont typeface="Monotype Sorts" pitchFamily="2" charset="2"/>
              <a:buNone/>
              <a:defRPr/>
            </a:pPr>
            <a:r>
              <a:rPr lang="en-US" altLang="zh-CN" b="1" dirty="0">
                <a:solidFill>
                  <a:srgbClr val="0000FF"/>
                </a:solidFill>
                <a:latin typeface="楷体_GB2312" pitchFamily="49" charset="-122"/>
                <a:ea typeface="楷体_GB2312" pitchFamily="49" charset="-122"/>
              </a:rPr>
              <a:t>2</a:t>
            </a:r>
            <a:r>
              <a:rPr lang="zh-CN" altLang="en-US" b="1" dirty="0">
                <a:solidFill>
                  <a:srgbClr val="0000FF"/>
                </a:solidFill>
                <a:latin typeface="楷体_GB2312" pitchFamily="49" charset="-122"/>
                <a:ea typeface="楷体_GB2312" pitchFamily="49" charset="-122"/>
              </a:rPr>
              <a:t>、</a:t>
            </a:r>
            <a:r>
              <a:rPr lang="en-US" altLang="zh-CN" b="1" dirty="0">
                <a:solidFill>
                  <a:srgbClr val="0000FF"/>
                </a:solidFill>
                <a:latin typeface="楷体_GB2312" pitchFamily="49" charset="-122"/>
                <a:ea typeface="楷体_GB2312" pitchFamily="49" charset="-122"/>
              </a:rPr>
              <a:t>(*</a:t>
            </a:r>
            <a:r>
              <a:rPr lang="en-US" altLang="zh-CN" b="1" dirty="0" err="1">
                <a:solidFill>
                  <a:srgbClr val="0000FF"/>
                </a:solidFill>
                <a:latin typeface="楷体_GB2312" pitchFamily="49" charset="-122"/>
                <a:ea typeface="楷体_GB2312" pitchFamily="49" charset="-122"/>
              </a:rPr>
              <a:t>lpt</a:t>
            </a:r>
            <a:r>
              <a:rPr lang="en-US" altLang="zh-CN" b="1" dirty="0">
                <a:solidFill>
                  <a:srgbClr val="0000FF"/>
                </a:solidFill>
                <a:latin typeface="楷体_GB2312" pitchFamily="49" charset="-122"/>
                <a:ea typeface="楷体_GB2312" pitchFamily="49" charset="-122"/>
              </a:rPr>
              <a:t>)</a:t>
            </a:r>
            <a:r>
              <a:rPr lang="zh-CN" altLang="en-US" b="1" dirty="0">
                <a:solidFill>
                  <a:srgbClr val="0000FF"/>
                </a:solidFill>
                <a:latin typeface="楷体_GB2312" pitchFamily="49" charset="-122"/>
                <a:ea typeface="楷体_GB2312" pitchFamily="49" charset="-122"/>
              </a:rPr>
              <a:t>的幂次小于 </a:t>
            </a:r>
            <a:r>
              <a:rPr lang="en-US" altLang="zh-CN" b="1" dirty="0">
                <a:solidFill>
                  <a:srgbClr val="0000FF"/>
                </a:solidFill>
                <a:latin typeface="楷体_GB2312" pitchFamily="49" charset="-122"/>
                <a:ea typeface="楷体_GB2312" pitchFamily="49" charset="-122"/>
              </a:rPr>
              <a:t>(*</a:t>
            </a:r>
            <a:r>
              <a:rPr lang="en-US" altLang="zh-CN" b="1" dirty="0" err="1">
                <a:solidFill>
                  <a:srgbClr val="0000FF"/>
                </a:solidFill>
                <a:latin typeface="楷体_GB2312" pitchFamily="49" charset="-122"/>
                <a:ea typeface="楷体_GB2312" pitchFamily="49" charset="-122"/>
              </a:rPr>
              <a:t>kpt</a:t>
            </a:r>
            <a:r>
              <a:rPr lang="en-US" altLang="zh-CN" b="1" dirty="0">
                <a:solidFill>
                  <a:srgbClr val="0000FF"/>
                </a:solidFill>
                <a:latin typeface="楷体_GB2312" pitchFamily="49" charset="-122"/>
                <a:ea typeface="楷体_GB2312" pitchFamily="49" charset="-122"/>
              </a:rPr>
              <a:t>) </a:t>
            </a:r>
            <a:r>
              <a:rPr lang="zh-CN" altLang="en-US" b="1" dirty="0">
                <a:solidFill>
                  <a:srgbClr val="0000FF"/>
                </a:solidFill>
                <a:latin typeface="楷体_GB2312" pitchFamily="49" charset="-122"/>
                <a:ea typeface="楷体_GB2312" pitchFamily="49" charset="-122"/>
              </a:rPr>
              <a:t>的幂次，在</a:t>
            </a:r>
            <a:r>
              <a:rPr lang="en-US" altLang="zh-CN" b="1" dirty="0">
                <a:solidFill>
                  <a:srgbClr val="0000FF"/>
                </a:solidFill>
                <a:latin typeface="楷体_GB2312" pitchFamily="49" charset="-122"/>
                <a:ea typeface="楷体_GB2312" pitchFamily="49" charset="-122"/>
              </a:rPr>
              <a:t>l(x)</a:t>
            </a:r>
            <a:r>
              <a:rPr lang="zh-CN" altLang="en-US" b="1" dirty="0">
                <a:solidFill>
                  <a:srgbClr val="0000FF"/>
                </a:solidFill>
                <a:latin typeface="楷体_GB2312" pitchFamily="49" charset="-122"/>
                <a:ea typeface="楷体_GB2312" pitchFamily="49" charset="-122"/>
              </a:rPr>
              <a:t>的单链表中插入一项，其幂次与系数均与</a:t>
            </a:r>
            <a:r>
              <a:rPr lang="en-US" altLang="zh-CN" b="1" dirty="0">
                <a:solidFill>
                  <a:srgbClr val="0000FF"/>
                </a:solidFill>
                <a:latin typeface="楷体_GB2312" pitchFamily="49" charset="-122"/>
                <a:ea typeface="楷体_GB2312" pitchFamily="49" charset="-122"/>
              </a:rPr>
              <a:t>(*</a:t>
            </a:r>
            <a:r>
              <a:rPr lang="en-US" altLang="zh-CN" b="1" dirty="0" err="1">
                <a:solidFill>
                  <a:srgbClr val="0000FF"/>
                </a:solidFill>
                <a:latin typeface="楷体_GB2312" pitchFamily="49" charset="-122"/>
                <a:ea typeface="楷体_GB2312" pitchFamily="49" charset="-122"/>
              </a:rPr>
              <a:t>kpt</a:t>
            </a:r>
            <a:r>
              <a:rPr lang="en-US" altLang="zh-CN" b="1" dirty="0">
                <a:solidFill>
                  <a:srgbClr val="0000FF"/>
                </a:solidFill>
                <a:latin typeface="楷体_GB2312" pitchFamily="49" charset="-122"/>
                <a:ea typeface="楷体_GB2312" pitchFamily="49" charset="-122"/>
              </a:rPr>
              <a:t>)</a:t>
            </a:r>
            <a:r>
              <a:rPr lang="zh-CN" altLang="en-US" b="1" dirty="0">
                <a:solidFill>
                  <a:srgbClr val="0000FF"/>
                </a:solidFill>
                <a:latin typeface="楷体_GB2312" pitchFamily="49" charset="-122"/>
                <a:ea typeface="楷体_GB2312" pitchFamily="49" charset="-122"/>
              </a:rPr>
              <a:t>的相同。</a:t>
            </a:r>
          </a:p>
          <a:p>
            <a:pPr marL="0" indent="0" eaLnBrk="1" hangingPunct="1">
              <a:lnSpc>
                <a:spcPct val="90000"/>
              </a:lnSpc>
              <a:buFont typeface="Monotype Sorts" pitchFamily="2" charset="2"/>
              <a:buNone/>
              <a:defRPr/>
            </a:pPr>
            <a:r>
              <a:rPr lang="en-US" altLang="zh-CN" b="1" dirty="0">
                <a:solidFill>
                  <a:srgbClr val="0000FF"/>
                </a:solidFill>
                <a:latin typeface="楷体_GB2312" pitchFamily="49" charset="-122"/>
                <a:ea typeface="楷体_GB2312" pitchFamily="49" charset="-122"/>
              </a:rPr>
              <a:t>3</a:t>
            </a:r>
            <a:r>
              <a:rPr lang="zh-CN" altLang="en-US" b="1" dirty="0">
                <a:solidFill>
                  <a:srgbClr val="0000FF"/>
                </a:solidFill>
                <a:latin typeface="楷体_GB2312" pitchFamily="49" charset="-122"/>
                <a:ea typeface="楷体_GB2312" pitchFamily="49" charset="-122"/>
              </a:rPr>
              <a:t>、</a:t>
            </a:r>
            <a:r>
              <a:rPr lang="en-US" altLang="zh-CN" b="1" dirty="0">
                <a:solidFill>
                  <a:srgbClr val="0000FF"/>
                </a:solidFill>
                <a:latin typeface="楷体_GB2312" pitchFamily="49" charset="-122"/>
                <a:ea typeface="楷体_GB2312" pitchFamily="49" charset="-122"/>
              </a:rPr>
              <a:t>(*</a:t>
            </a:r>
            <a:r>
              <a:rPr lang="en-US" altLang="zh-CN" b="1" dirty="0" err="1">
                <a:solidFill>
                  <a:srgbClr val="0000FF"/>
                </a:solidFill>
                <a:latin typeface="楷体_GB2312" pitchFamily="49" charset="-122"/>
                <a:ea typeface="楷体_GB2312" pitchFamily="49" charset="-122"/>
              </a:rPr>
              <a:t>lpt</a:t>
            </a:r>
            <a:r>
              <a:rPr lang="en-US" altLang="zh-CN" b="1" dirty="0">
                <a:solidFill>
                  <a:srgbClr val="0000FF"/>
                </a:solidFill>
                <a:latin typeface="楷体_GB2312" pitchFamily="49" charset="-122"/>
                <a:ea typeface="楷体_GB2312" pitchFamily="49" charset="-122"/>
              </a:rPr>
              <a:t>)</a:t>
            </a:r>
            <a:r>
              <a:rPr lang="zh-CN" altLang="en-US" b="1" dirty="0">
                <a:solidFill>
                  <a:srgbClr val="0000FF"/>
                </a:solidFill>
                <a:latin typeface="楷体_GB2312" pitchFamily="49" charset="-122"/>
                <a:ea typeface="楷体_GB2312" pitchFamily="49" charset="-122"/>
              </a:rPr>
              <a:t>的幂次等于</a:t>
            </a:r>
            <a:r>
              <a:rPr lang="en-US" altLang="zh-CN" b="1" dirty="0">
                <a:solidFill>
                  <a:srgbClr val="0000FF"/>
                </a:solidFill>
                <a:latin typeface="楷体_GB2312" pitchFamily="49" charset="-122"/>
                <a:ea typeface="楷体_GB2312" pitchFamily="49" charset="-122"/>
              </a:rPr>
              <a:t>(*</a:t>
            </a:r>
            <a:r>
              <a:rPr lang="en-US" altLang="zh-CN" b="1" dirty="0" err="1">
                <a:solidFill>
                  <a:srgbClr val="0000FF"/>
                </a:solidFill>
                <a:latin typeface="楷体_GB2312" pitchFamily="49" charset="-122"/>
                <a:ea typeface="楷体_GB2312" pitchFamily="49" charset="-122"/>
              </a:rPr>
              <a:t>kpt</a:t>
            </a:r>
            <a:r>
              <a:rPr lang="en-US" altLang="zh-CN" b="1" dirty="0">
                <a:solidFill>
                  <a:srgbClr val="0000FF"/>
                </a:solidFill>
                <a:latin typeface="楷体_GB2312" pitchFamily="49" charset="-122"/>
                <a:ea typeface="楷体_GB2312" pitchFamily="49" charset="-122"/>
              </a:rPr>
              <a:t>)</a:t>
            </a:r>
            <a:r>
              <a:rPr lang="zh-CN" altLang="en-US" b="1" dirty="0">
                <a:solidFill>
                  <a:srgbClr val="0000FF"/>
                </a:solidFill>
                <a:latin typeface="楷体_GB2312" pitchFamily="49" charset="-122"/>
                <a:ea typeface="楷体_GB2312" pitchFamily="49" charset="-122"/>
              </a:rPr>
              <a:t>的幂次，计算系数和，在和不为</a:t>
            </a:r>
            <a:r>
              <a:rPr lang="en-US" altLang="zh-CN" b="1" dirty="0">
                <a:solidFill>
                  <a:srgbClr val="0000FF"/>
                </a:solidFill>
                <a:latin typeface="楷体_GB2312" pitchFamily="49" charset="-122"/>
                <a:ea typeface="楷体_GB2312" pitchFamily="49" charset="-122"/>
              </a:rPr>
              <a:t>0</a:t>
            </a:r>
            <a:r>
              <a:rPr lang="zh-CN" altLang="en-US" b="1" dirty="0">
                <a:solidFill>
                  <a:srgbClr val="0000FF"/>
                </a:solidFill>
                <a:latin typeface="楷体_GB2312" pitchFamily="49" charset="-122"/>
                <a:ea typeface="楷体_GB2312" pitchFamily="49" charset="-122"/>
              </a:rPr>
              <a:t>时，用和修改</a:t>
            </a:r>
            <a:r>
              <a:rPr lang="en-US" altLang="zh-CN" b="1" dirty="0">
                <a:solidFill>
                  <a:srgbClr val="0000FF"/>
                </a:solidFill>
                <a:latin typeface="楷体_GB2312" pitchFamily="49" charset="-122"/>
                <a:ea typeface="楷体_GB2312" pitchFamily="49" charset="-122"/>
              </a:rPr>
              <a:t>(*</a:t>
            </a:r>
            <a:r>
              <a:rPr lang="en-US" altLang="zh-CN" b="1" dirty="0" err="1">
                <a:solidFill>
                  <a:srgbClr val="0000FF"/>
                </a:solidFill>
                <a:latin typeface="楷体_GB2312" pitchFamily="49" charset="-122"/>
                <a:ea typeface="楷体_GB2312" pitchFamily="49" charset="-122"/>
              </a:rPr>
              <a:t>lpt</a:t>
            </a:r>
            <a:r>
              <a:rPr lang="en-US" altLang="zh-CN" b="1" dirty="0">
                <a:solidFill>
                  <a:srgbClr val="0000FF"/>
                </a:solidFill>
                <a:latin typeface="楷体_GB2312" pitchFamily="49" charset="-122"/>
                <a:ea typeface="楷体_GB2312" pitchFamily="49" charset="-122"/>
              </a:rPr>
              <a:t>)</a:t>
            </a:r>
            <a:r>
              <a:rPr lang="zh-CN" altLang="en-US" b="1" dirty="0">
                <a:solidFill>
                  <a:srgbClr val="0000FF"/>
                </a:solidFill>
                <a:latin typeface="楷体_GB2312" pitchFamily="49" charset="-122"/>
                <a:ea typeface="楷体_GB2312" pitchFamily="49" charset="-122"/>
              </a:rPr>
              <a:t>项的系数，在和为</a:t>
            </a:r>
            <a:r>
              <a:rPr lang="en-US" altLang="zh-CN" b="1" dirty="0">
                <a:solidFill>
                  <a:srgbClr val="0000FF"/>
                </a:solidFill>
                <a:latin typeface="楷体_GB2312" pitchFamily="49" charset="-122"/>
                <a:ea typeface="楷体_GB2312" pitchFamily="49" charset="-122"/>
              </a:rPr>
              <a:t>0</a:t>
            </a:r>
            <a:r>
              <a:rPr lang="zh-CN" altLang="en-US" b="1" dirty="0">
                <a:solidFill>
                  <a:srgbClr val="0000FF"/>
                </a:solidFill>
                <a:latin typeface="楷体_GB2312" pitchFamily="49" charset="-122"/>
                <a:ea typeface="楷体_GB2312" pitchFamily="49" charset="-122"/>
              </a:rPr>
              <a:t>时，则将表元</a:t>
            </a:r>
            <a:r>
              <a:rPr lang="en-US" altLang="zh-CN" b="1" dirty="0">
                <a:solidFill>
                  <a:srgbClr val="0000FF"/>
                </a:solidFill>
                <a:latin typeface="楷体_GB2312" pitchFamily="49" charset="-122"/>
                <a:ea typeface="楷体_GB2312" pitchFamily="49" charset="-122"/>
              </a:rPr>
              <a:t>(*</a:t>
            </a:r>
            <a:r>
              <a:rPr lang="en-US" altLang="zh-CN" b="1" dirty="0" err="1">
                <a:solidFill>
                  <a:srgbClr val="0000FF"/>
                </a:solidFill>
                <a:latin typeface="楷体_GB2312" pitchFamily="49" charset="-122"/>
                <a:ea typeface="楷体_GB2312" pitchFamily="49" charset="-122"/>
              </a:rPr>
              <a:t>lpt</a:t>
            </a:r>
            <a:r>
              <a:rPr lang="en-US" altLang="zh-CN" b="1" dirty="0">
                <a:solidFill>
                  <a:srgbClr val="0000FF"/>
                </a:solidFill>
                <a:latin typeface="楷体_GB2312" pitchFamily="49" charset="-122"/>
                <a:ea typeface="楷体_GB2312" pitchFamily="49" charset="-122"/>
              </a:rPr>
              <a:t>)</a:t>
            </a:r>
            <a:r>
              <a:rPr lang="zh-CN" altLang="en-US" b="1" dirty="0">
                <a:solidFill>
                  <a:srgbClr val="0000FF"/>
                </a:solidFill>
                <a:latin typeface="楷体_GB2312" pitchFamily="49" charset="-122"/>
                <a:ea typeface="楷体_GB2312" pitchFamily="49" charset="-122"/>
              </a:rPr>
              <a:t>从</a:t>
            </a:r>
            <a:r>
              <a:rPr lang="en-US" altLang="zh-CN" b="1" dirty="0">
                <a:solidFill>
                  <a:srgbClr val="0000FF"/>
                </a:solidFill>
                <a:latin typeface="楷体_GB2312" pitchFamily="49" charset="-122"/>
                <a:ea typeface="楷体_GB2312" pitchFamily="49" charset="-122"/>
              </a:rPr>
              <a:t>l(x)</a:t>
            </a:r>
            <a:r>
              <a:rPr lang="zh-CN" altLang="en-US" b="1" dirty="0">
                <a:solidFill>
                  <a:srgbClr val="0000FF"/>
                </a:solidFill>
                <a:latin typeface="楷体_GB2312" pitchFamily="49" charset="-122"/>
                <a:ea typeface="楷体_GB2312" pitchFamily="49" charset="-122"/>
              </a:rPr>
              <a:t>单链表中删去。 </a:t>
            </a:r>
          </a:p>
        </p:txBody>
      </p:sp>
      <p:sp>
        <p:nvSpPr>
          <p:cNvPr id="5" name="灯片编号占位符 5"/>
          <p:cNvSpPr>
            <a:spLocks noGrp="1"/>
          </p:cNvSpPr>
          <p:nvPr>
            <p:ph type="sldNum" sz="quarter" idx="12"/>
          </p:nvPr>
        </p:nvSpPr>
        <p:spPr/>
        <p:txBody>
          <a:bodyPr/>
          <a:lstStyle/>
          <a:p>
            <a:pPr>
              <a:defRPr/>
            </a:pPr>
            <a:fld id="{FDD34E77-E218-4BEA-9D0D-CFE231E04217}" type="slidenum">
              <a:rPr lang="en-US" altLang="zh-CN"/>
              <a:pPr>
                <a:defRPr/>
              </a:pPr>
              <a:t>116</a:t>
            </a:fld>
            <a:endParaRPr lang="en-US" altLang="zh-CN"/>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0658" name="Rectangle 2"/>
          <p:cNvSpPr>
            <a:spLocks noGrp="1" noChangeArrowheads="1"/>
          </p:cNvSpPr>
          <p:nvPr>
            <p:ph idx="1"/>
          </p:nvPr>
        </p:nvSpPr>
        <p:spPr>
          <a:xfrm>
            <a:off x="395288" y="404813"/>
            <a:ext cx="8280400" cy="5903912"/>
          </a:xfrm>
        </p:spPr>
        <p:txBody>
          <a:bodyPr/>
          <a:lstStyle/>
          <a:p>
            <a:pPr marL="0" indent="0" eaLnBrk="1" hangingPunct="1">
              <a:buFont typeface="Monotype Sorts" pitchFamily="2" charset="2"/>
              <a:buNone/>
              <a:defRPr/>
            </a:pPr>
            <a:r>
              <a:rPr lang="en-US" altLang="zh-CN" dirty="0"/>
              <a:t>   </a:t>
            </a:r>
            <a:r>
              <a:rPr lang="zh-CN" altLang="en-US" dirty="0"/>
              <a:t>  </a:t>
            </a:r>
            <a:r>
              <a:rPr lang="en-US" altLang="zh-CN" b="1" dirty="0">
                <a:effectLst>
                  <a:outerShdw blurRad="38100" dist="38100" dir="2700000" algn="tl">
                    <a:srgbClr val="000000"/>
                  </a:outerShdw>
                </a:effectLst>
                <a:latin typeface="楷体_GB2312" pitchFamily="49" charset="-122"/>
                <a:ea typeface="楷体_GB2312" pitchFamily="49" charset="-122"/>
              </a:rPr>
              <a:t>#include  &lt;</a:t>
            </a:r>
            <a:r>
              <a:rPr lang="en-US" altLang="zh-CN" b="1" dirty="0" err="1">
                <a:effectLst>
                  <a:outerShdw blurRad="38100" dist="38100" dir="2700000" algn="tl">
                    <a:srgbClr val="000000"/>
                  </a:outerShdw>
                </a:effectLst>
                <a:latin typeface="楷体_GB2312" pitchFamily="49" charset="-122"/>
                <a:ea typeface="楷体_GB2312" pitchFamily="49" charset="-122"/>
              </a:rPr>
              <a:t>stdio.h</a:t>
            </a:r>
            <a:r>
              <a:rPr lang="en-US" altLang="zh-CN" b="1" dirty="0">
                <a:effectLst>
                  <a:outerShdw blurRad="38100" dist="38100" dir="2700000" algn="tl">
                    <a:srgbClr val="000000"/>
                  </a:outerShdw>
                </a:effectLst>
                <a:latin typeface="楷体_GB2312" pitchFamily="49" charset="-122"/>
                <a:ea typeface="楷体_GB2312" pitchFamily="49" charset="-122"/>
              </a:rPr>
              <a:t>&gt;</a:t>
            </a:r>
          </a:p>
          <a:p>
            <a:pPr marL="0" indent="0" eaLnBrk="1" hangingPunct="1">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#include  &lt;</a:t>
            </a:r>
            <a:r>
              <a:rPr lang="en-US" altLang="zh-CN" b="1" dirty="0" err="1">
                <a:effectLst>
                  <a:outerShdw blurRad="38100" dist="38100" dir="2700000" algn="tl">
                    <a:srgbClr val="000000"/>
                  </a:outerShdw>
                </a:effectLst>
                <a:latin typeface="楷体_GB2312" pitchFamily="49" charset="-122"/>
                <a:ea typeface="楷体_GB2312" pitchFamily="49" charset="-122"/>
              </a:rPr>
              <a:t>stdlib.h</a:t>
            </a:r>
            <a:r>
              <a:rPr lang="en-US" altLang="zh-CN" b="1" dirty="0">
                <a:effectLst>
                  <a:outerShdw blurRad="38100" dist="38100" dir="2700000" algn="tl">
                    <a:srgbClr val="000000"/>
                  </a:outerShdw>
                </a:effectLst>
                <a:latin typeface="楷体_GB2312" pitchFamily="49" charset="-122"/>
                <a:ea typeface="楷体_GB2312" pitchFamily="49" charset="-122"/>
              </a:rPr>
              <a:t>&gt;</a:t>
            </a:r>
          </a:p>
          <a:p>
            <a:pPr marL="0" indent="0" eaLnBrk="1" hangingPunct="1">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#define EPSILON  1.0e-5</a:t>
            </a:r>
          </a:p>
          <a:p>
            <a:pPr marL="0" indent="0" eaLnBrk="1" hangingPunct="1">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#include &lt;</a:t>
            </a:r>
            <a:r>
              <a:rPr lang="en-US" altLang="zh-CN" b="1" dirty="0" err="1">
                <a:effectLst>
                  <a:outerShdw blurRad="38100" dist="38100" dir="2700000" algn="tl">
                    <a:srgbClr val="000000"/>
                  </a:outerShdw>
                </a:effectLst>
                <a:latin typeface="楷体_GB2312" pitchFamily="49" charset="-122"/>
                <a:ea typeface="楷体_GB2312" pitchFamily="49" charset="-122"/>
              </a:rPr>
              <a:t>math.h</a:t>
            </a:r>
            <a:r>
              <a:rPr lang="en-US" altLang="zh-CN" b="1" dirty="0">
                <a:effectLst>
                  <a:outerShdw blurRad="38100" dist="38100" dir="2700000" algn="tl">
                    <a:srgbClr val="000000"/>
                  </a:outerShdw>
                </a:effectLst>
                <a:latin typeface="楷体_GB2312" pitchFamily="49" charset="-122"/>
                <a:ea typeface="楷体_GB2312" pitchFamily="49" charset="-122"/>
              </a:rPr>
              <a:t>&gt;</a:t>
            </a:r>
          </a:p>
          <a:p>
            <a:pPr marL="0" indent="0" eaLnBrk="1" hangingPunct="1">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a:t>
            </a:r>
            <a:r>
              <a:rPr lang="en-US" altLang="zh-CN" b="1" dirty="0" err="1">
                <a:effectLst>
                  <a:outerShdw blurRad="38100" dist="38100" dir="2700000" algn="tl">
                    <a:srgbClr val="000000"/>
                  </a:outerShdw>
                </a:effectLst>
                <a:latin typeface="楷体_GB2312" pitchFamily="49" charset="-122"/>
                <a:ea typeface="楷体_GB2312" pitchFamily="49" charset="-122"/>
              </a:rPr>
              <a:t>struct</a:t>
            </a:r>
            <a:r>
              <a:rPr lang="en-US" altLang="zh-CN" b="1" dirty="0">
                <a:effectLst>
                  <a:outerShdw blurRad="38100" dist="38100" dir="2700000" algn="tl">
                    <a:srgbClr val="000000"/>
                  </a:outerShdw>
                </a:effectLst>
                <a:latin typeface="楷体_GB2312" pitchFamily="49" charset="-122"/>
                <a:ea typeface="楷体_GB2312" pitchFamily="49" charset="-122"/>
              </a:rPr>
              <a:t> Node  {</a:t>
            </a:r>
          </a:p>
          <a:p>
            <a:pPr marL="0" indent="0" eaLnBrk="1" hangingPunct="1">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a:t>
            </a:r>
            <a:r>
              <a:rPr lang="en-US" altLang="zh-CN" b="1" dirty="0" err="1">
                <a:effectLst>
                  <a:outerShdw blurRad="38100" dist="38100" dir="2700000" algn="tl">
                    <a:srgbClr val="000000"/>
                  </a:outerShdw>
                </a:effectLst>
                <a:latin typeface="楷体_GB2312" pitchFamily="49" charset="-122"/>
                <a:ea typeface="楷体_GB2312" pitchFamily="49" charset="-122"/>
              </a:rPr>
              <a:t>int</a:t>
            </a:r>
            <a:r>
              <a:rPr lang="en-US" altLang="zh-CN" b="1" dirty="0">
                <a:effectLst>
                  <a:outerShdw blurRad="38100" dist="38100" dir="2700000" algn="tl">
                    <a:srgbClr val="000000"/>
                  </a:outerShdw>
                </a:effectLst>
                <a:latin typeface="楷体_GB2312" pitchFamily="49" charset="-122"/>
                <a:ea typeface="楷体_GB2312" pitchFamily="49" charset="-122"/>
              </a:rPr>
              <a:t>     power;</a:t>
            </a:r>
          </a:p>
          <a:p>
            <a:pPr marL="0" indent="0" eaLnBrk="1" hangingPunct="1">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double  </a:t>
            </a:r>
            <a:r>
              <a:rPr lang="en-US" altLang="zh-CN" b="1" dirty="0" err="1">
                <a:effectLst>
                  <a:outerShdw blurRad="38100" dist="38100" dir="2700000" algn="tl">
                    <a:srgbClr val="000000"/>
                  </a:outerShdw>
                </a:effectLst>
                <a:latin typeface="楷体_GB2312" pitchFamily="49" charset="-122"/>
                <a:ea typeface="楷体_GB2312" pitchFamily="49" charset="-122"/>
              </a:rPr>
              <a:t>coef</a:t>
            </a:r>
            <a:r>
              <a:rPr lang="en-US" altLang="zh-CN" b="1" dirty="0">
                <a:effectLst>
                  <a:outerShdw blurRad="38100" dist="38100" dir="2700000" algn="tl">
                    <a:srgbClr val="000000"/>
                  </a:outerShdw>
                </a:effectLst>
                <a:latin typeface="楷体_GB2312" pitchFamily="49" charset="-122"/>
                <a:ea typeface="楷体_GB2312" pitchFamily="49" charset="-122"/>
              </a:rPr>
              <a:t>;</a:t>
            </a:r>
          </a:p>
          <a:p>
            <a:pPr marL="0" indent="0" eaLnBrk="1" hangingPunct="1">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Node *link;</a:t>
            </a:r>
          </a:p>
          <a:p>
            <a:pPr marL="0" indent="0" eaLnBrk="1" hangingPunct="1">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a:t>
            </a:r>
          </a:p>
          <a:p>
            <a:pPr marL="0" indent="0" eaLnBrk="1" hangingPunct="1">
              <a:buFont typeface="Monotype Sorts" pitchFamily="2" charset="2"/>
              <a:buNone/>
              <a:defRPr/>
            </a:pPr>
            <a:r>
              <a:rPr lang="en-US" altLang="zh-CN" b="1" dirty="0">
                <a:effectLst>
                  <a:outerShdw blurRad="38100" dist="38100" dir="2700000" algn="tl">
                    <a:srgbClr val="000000"/>
                  </a:outerShdw>
                </a:effectLst>
              </a:rPr>
              <a:t>    </a:t>
            </a:r>
          </a:p>
        </p:txBody>
      </p:sp>
      <p:sp>
        <p:nvSpPr>
          <p:cNvPr id="5" name="灯片编号占位符 5"/>
          <p:cNvSpPr>
            <a:spLocks noGrp="1"/>
          </p:cNvSpPr>
          <p:nvPr>
            <p:ph type="sldNum" sz="quarter" idx="12"/>
          </p:nvPr>
        </p:nvSpPr>
        <p:spPr/>
        <p:txBody>
          <a:bodyPr/>
          <a:lstStyle/>
          <a:p>
            <a:pPr>
              <a:defRPr/>
            </a:pPr>
            <a:fld id="{364ED592-623A-4EB8-98EB-EE02D27E5AA0}" type="slidenum">
              <a:rPr lang="en-US" altLang="zh-CN"/>
              <a:pPr>
                <a:defRPr/>
              </a:pPr>
              <a:t>117</a:t>
            </a:fld>
            <a:endParaRPr lang="en-US" altLang="zh-CN"/>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1682" name="Rectangle 2"/>
          <p:cNvSpPr>
            <a:spLocks noGrp="1" noChangeArrowheads="1"/>
          </p:cNvSpPr>
          <p:nvPr>
            <p:ph idx="1"/>
          </p:nvPr>
        </p:nvSpPr>
        <p:spPr>
          <a:xfrm>
            <a:off x="395288" y="404813"/>
            <a:ext cx="8280400" cy="5903912"/>
          </a:xfrm>
        </p:spPr>
        <p:txBody>
          <a:bodyPr>
            <a:normAutofit lnSpcReduction="10000"/>
          </a:bodyPr>
          <a:lstStyle/>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void </a:t>
            </a:r>
            <a:r>
              <a:rPr lang="en-US" altLang="zh-CN" sz="2400" b="1" dirty="0" err="1">
                <a:latin typeface="楷体_GB2312" pitchFamily="49" charset="-122"/>
                <a:ea typeface="楷体_GB2312" pitchFamily="49" charset="-122"/>
              </a:rPr>
              <a:t>addPoly</a:t>
            </a:r>
            <a:r>
              <a:rPr lang="en-US" altLang="zh-CN" sz="2400" b="1" dirty="0">
                <a:latin typeface="楷体_GB2312" pitchFamily="49" charset="-122"/>
                <a:ea typeface="楷体_GB2312" pitchFamily="49" charset="-122"/>
              </a:rPr>
              <a:t>(Node *l, Node *k)//</a:t>
            </a:r>
            <a:r>
              <a:rPr lang="zh-CN" altLang="en-US" sz="2400" b="1" dirty="0">
                <a:latin typeface="楷体_GB2312" pitchFamily="49" charset="-122"/>
                <a:ea typeface="楷体_GB2312" pitchFamily="49" charset="-122"/>
              </a:rPr>
              <a:t>多项式相加函数</a:t>
            </a:r>
          </a:p>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    Node *p, *</a:t>
            </a:r>
            <a:r>
              <a:rPr lang="en-US" altLang="zh-CN" sz="2400" b="1" dirty="0" err="1">
                <a:latin typeface="楷体_GB2312" pitchFamily="49" charset="-122"/>
                <a:ea typeface="楷体_GB2312" pitchFamily="49" charset="-122"/>
              </a:rPr>
              <a:t>lpt</a:t>
            </a: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kpt</a:t>
            </a:r>
            <a:r>
              <a:rPr lang="en-US" altLang="zh-CN" sz="2400" b="1" dirty="0">
                <a:latin typeface="楷体_GB2312" pitchFamily="49" charset="-122"/>
                <a:ea typeface="楷体_GB2312" pitchFamily="49" charset="-122"/>
              </a:rPr>
              <a:t>, *q;</a:t>
            </a:r>
          </a:p>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     p    = l;   </a:t>
            </a:r>
            <a:r>
              <a:rPr lang="en-US" altLang="zh-CN" sz="2400" b="1" dirty="0" err="1">
                <a:latin typeface="楷体_GB2312" pitchFamily="49" charset="-122"/>
                <a:ea typeface="楷体_GB2312" pitchFamily="49" charset="-122"/>
              </a:rPr>
              <a:t>lpt</a:t>
            </a:r>
            <a:r>
              <a:rPr lang="en-US" altLang="zh-CN" sz="2400" b="1" dirty="0">
                <a:latin typeface="楷体_GB2312" pitchFamily="49" charset="-122"/>
                <a:ea typeface="楷体_GB2312" pitchFamily="49" charset="-122"/>
              </a:rPr>
              <a:t>  = l-&gt;link;  </a:t>
            </a:r>
            <a:r>
              <a:rPr lang="en-US" altLang="zh-CN" sz="2400" b="1" dirty="0" err="1">
                <a:latin typeface="楷体_GB2312" pitchFamily="49" charset="-122"/>
                <a:ea typeface="楷体_GB2312" pitchFamily="49" charset="-122"/>
              </a:rPr>
              <a:t>kpt</a:t>
            </a:r>
            <a:r>
              <a:rPr lang="en-US" altLang="zh-CN" sz="2400" b="1" dirty="0">
                <a:latin typeface="楷体_GB2312" pitchFamily="49" charset="-122"/>
                <a:ea typeface="楷体_GB2312" pitchFamily="49" charset="-122"/>
              </a:rPr>
              <a:t>  = k-&gt;link;</a:t>
            </a:r>
          </a:p>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     while (</a:t>
            </a:r>
            <a:r>
              <a:rPr lang="en-US" altLang="zh-CN" sz="2400" b="1" dirty="0" err="1">
                <a:latin typeface="楷体_GB2312" pitchFamily="49" charset="-122"/>
                <a:ea typeface="楷体_GB2312" pitchFamily="49" charset="-122"/>
              </a:rPr>
              <a:t>kpt</a:t>
            </a:r>
            <a:r>
              <a:rPr lang="en-US" altLang="zh-CN" sz="2400" b="1" dirty="0">
                <a:latin typeface="楷体_GB2312" pitchFamily="49" charset="-122"/>
                <a:ea typeface="楷体_GB2312" pitchFamily="49" charset="-122"/>
              </a:rPr>
              <a:t>)    {</a:t>
            </a:r>
          </a:p>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       if(</a:t>
            </a:r>
            <a:r>
              <a:rPr lang="en-US" altLang="zh-CN" sz="2400" b="1" dirty="0" err="1">
                <a:latin typeface="楷体_GB2312" pitchFamily="49" charset="-122"/>
                <a:ea typeface="楷体_GB2312" pitchFamily="49" charset="-122"/>
              </a:rPr>
              <a:t>lpt</a:t>
            </a:r>
            <a:r>
              <a:rPr lang="en-US" altLang="zh-CN" sz="2400" b="1" dirty="0">
                <a:latin typeface="楷体_GB2312" pitchFamily="49" charset="-122"/>
                <a:ea typeface="楷体_GB2312" pitchFamily="49" charset="-122"/>
              </a:rPr>
              <a:t>==NULL || </a:t>
            </a:r>
            <a:r>
              <a:rPr lang="en-US" altLang="zh-CN" sz="2400" b="1" dirty="0" err="1">
                <a:latin typeface="楷体_GB2312" pitchFamily="49" charset="-122"/>
                <a:ea typeface="楷体_GB2312" pitchFamily="49" charset="-122"/>
              </a:rPr>
              <a:t>lpt</a:t>
            </a:r>
            <a:r>
              <a:rPr lang="en-US" altLang="zh-CN" sz="2400" b="1" dirty="0">
                <a:latin typeface="楷体_GB2312" pitchFamily="49" charset="-122"/>
                <a:ea typeface="楷体_GB2312" pitchFamily="49" charset="-122"/>
              </a:rPr>
              <a:t>-&gt;power &lt; </a:t>
            </a:r>
            <a:r>
              <a:rPr lang="en-US" altLang="zh-CN" sz="2400" b="1" dirty="0" err="1">
                <a:latin typeface="楷体_GB2312" pitchFamily="49" charset="-122"/>
                <a:ea typeface="楷体_GB2312" pitchFamily="49" charset="-122"/>
              </a:rPr>
              <a:t>kpt</a:t>
            </a:r>
            <a:r>
              <a:rPr lang="en-US" altLang="zh-CN" sz="2400" b="1" dirty="0">
                <a:latin typeface="楷体_GB2312" pitchFamily="49" charset="-122"/>
                <a:ea typeface="楷体_GB2312" pitchFamily="49" charset="-122"/>
              </a:rPr>
              <a:t>-&gt;power){</a:t>
            </a:r>
          </a:p>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插入</a:t>
            </a:r>
            <a:endParaRPr lang="en-US" altLang="zh-CN" sz="2400" b="1" dirty="0">
              <a:latin typeface="楷体_GB2312" pitchFamily="49" charset="-122"/>
              <a:ea typeface="楷体_GB2312" pitchFamily="49" charset="-122"/>
            </a:endParaRPr>
          </a:p>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         q = (Node *)malloc(</a:t>
            </a:r>
            <a:r>
              <a:rPr lang="en-US" altLang="zh-CN" sz="2400" b="1" dirty="0" err="1">
                <a:latin typeface="楷体_GB2312" pitchFamily="49" charset="-122"/>
                <a:ea typeface="楷体_GB2312" pitchFamily="49" charset="-122"/>
              </a:rPr>
              <a:t>sizeof</a:t>
            </a:r>
            <a:r>
              <a:rPr lang="en-US" altLang="zh-CN" sz="2400" b="1" dirty="0">
                <a:latin typeface="楷体_GB2312" pitchFamily="49" charset="-122"/>
                <a:ea typeface="楷体_GB2312" pitchFamily="49" charset="-122"/>
              </a:rPr>
              <a:t>(Node));</a:t>
            </a:r>
          </a:p>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         q-&gt;power = </a:t>
            </a:r>
            <a:r>
              <a:rPr lang="en-US" altLang="zh-CN" sz="2400" b="1" dirty="0" err="1">
                <a:latin typeface="楷体_GB2312" pitchFamily="49" charset="-122"/>
                <a:ea typeface="楷体_GB2312" pitchFamily="49" charset="-122"/>
              </a:rPr>
              <a:t>kpt</a:t>
            </a:r>
            <a:r>
              <a:rPr lang="en-US" altLang="zh-CN" sz="2400" b="1" dirty="0">
                <a:latin typeface="楷体_GB2312" pitchFamily="49" charset="-122"/>
                <a:ea typeface="楷体_GB2312" pitchFamily="49" charset="-122"/>
              </a:rPr>
              <a:t>-&gt;power;</a:t>
            </a:r>
          </a:p>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         q-&gt;</a:t>
            </a:r>
            <a:r>
              <a:rPr lang="en-US" altLang="zh-CN" sz="2400" b="1" dirty="0" err="1">
                <a:latin typeface="楷体_GB2312" pitchFamily="49" charset="-122"/>
                <a:ea typeface="楷体_GB2312" pitchFamily="49" charset="-122"/>
              </a:rPr>
              <a:t>coef</a:t>
            </a:r>
            <a:r>
              <a:rPr lang="en-US" altLang="zh-CN" sz="2400" b="1" dirty="0">
                <a:latin typeface="楷体_GB2312" pitchFamily="49" charset="-122"/>
                <a:ea typeface="楷体_GB2312" pitchFamily="49" charset="-122"/>
              </a:rPr>
              <a:t>  = </a:t>
            </a:r>
            <a:r>
              <a:rPr lang="en-US" altLang="zh-CN" sz="2400" b="1" dirty="0" err="1">
                <a:latin typeface="楷体_GB2312" pitchFamily="49" charset="-122"/>
                <a:ea typeface="楷体_GB2312" pitchFamily="49" charset="-122"/>
              </a:rPr>
              <a:t>kpt</a:t>
            </a:r>
            <a:r>
              <a:rPr lang="en-US" altLang="zh-CN" sz="2400" b="1" dirty="0">
                <a:latin typeface="楷体_GB2312" pitchFamily="49" charset="-122"/>
                <a:ea typeface="楷体_GB2312" pitchFamily="49" charset="-122"/>
              </a:rPr>
              <a:t>-&gt;</a:t>
            </a:r>
            <a:r>
              <a:rPr lang="en-US" altLang="zh-CN" sz="2400" b="1" dirty="0" err="1">
                <a:latin typeface="楷体_GB2312" pitchFamily="49" charset="-122"/>
                <a:ea typeface="楷体_GB2312" pitchFamily="49" charset="-122"/>
              </a:rPr>
              <a:t>coef</a:t>
            </a:r>
            <a:r>
              <a:rPr lang="en-US" altLang="zh-CN" sz="2400" b="1" dirty="0">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a:solidFill>
                  <a:srgbClr val="FF0000"/>
                </a:solidFill>
                <a:latin typeface="楷体_GB2312" pitchFamily="49" charset="-122"/>
                <a:ea typeface="楷体_GB2312" pitchFamily="49" charset="-122"/>
              </a:rPr>
              <a:t>q-&gt;link  = </a:t>
            </a:r>
            <a:r>
              <a:rPr lang="en-US" altLang="zh-CN" sz="2400" b="1" dirty="0" err="1">
                <a:solidFill>
                  <a:srgbClr val="FF0000"/>
                </a:solidFill>
                <a:latin typeface="楷体_GB2312" pitchFamily="49" charset="-122"/>
                <a:ea typeface="楷体_GB2312" pitchFamily="49" charset="-122"/>
              </a:rPr>
              <a:t>lpt</a:t>
            </a:r>
            <a:r>
              <a:rPr lang="en-US" altLang="zh-CN" sz="2400" b="1" dirty="0">
                <a:solidFill>
                  <a:srgbClr val="FF0000"/>
                </a:solidFill>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400" b="1" dirty="0">
                <a:solidFill>
                  <a:srgbClr val="FF0000"/>
                </a:solidFill>
                <a:latin typeface="楷体_GB2312" pitchFamily="49" charset="-122"/>
                <a:ea typeface="楷体_GB2312" pitchFamily="49" charset="-122"/>
              </a:rPr>
              <a:t>         p-&gt;link  = q;</a:t>
            </a:r>
          </a:p>
          <a:p>
            <a:pPr marL="0" indent="0" eaLnBrk="1" hangingPunct="1">
              <a:lnSpc>
                <a:spcPct val="90000"/>
              </a:lnSpc>
              <a:buFont typeface="Monotype Sorts" pitchFamily="2" charset="2"/>
              <a:buNone/>
              <a:defRPr/>
            </a:pPr>
            <a:r>
              <a:rPr lang="en-US" altLang="zh-CN" sz="2400" b="1" dirty="0">
                <a:solidFill>
                  <a:srgbClr val="FF0000"/>
                </a:solidFill>
                <a:latin typeface="楷体_GB2312" pitchFamily="49" charset="-122"/>
                <a:ea typeface="楷体_GB2312" pitchFamily="49" charset="-122"/>
              </a:rPr>
              <a:t>         p  = q;</a:t>
            </a:r>
          </a:p>
          <a:p>
            <a:pPr marL="0" indent="0" eaLnBrk="1" hangingPunct="1">
              <a:lnSpc>
                <a:spcPct val="90000"/>
              </a:lnSpc>
              <a:buFont typeface="Monotype Sorts" pitchFamily="2" charset="2"/>
              <a:buNone/>
              <a:defRPr/>
            </a:pPr>
            <a:r>
              <a:rPr lang="en-US" altLang="zh-CN" sz="2400" b="1" dirty="0">
                <a:solidFill>
                  <a:srgbClr val="FF0000"/>
                </a:solidFill>
                <a:latin typeface="楷体_GB2312" pitchFamily="49" charset="-122"/>
                <a:ea typeface="楷体_GB2312" pitchFamily="49" charset="-122"/>
              </a:rPr>
              <a:t>         </a:t>
            </a:r>
            <a:r>
              <a:rPr lang="en-US" altLang="zh-CN" sz="2400" b="1" dirty="0" err="1">
                <a:solidFill>
                  <a:srgbClr val="FF0000"/>
                </a:solidFill>
                <a:latin typeface="楷体_GB2312" pitchFamily="49" charset="-122"/>
                <a:ea typeface="楷体_GB2312" pitchFamily="49" charset="-122"/>
              </a:rPr>
              <a:t>kpt</a:t>
            </a:r>
            <a:r>
              <a:rPr lang="en-US" altLang="zh-CN" sz="2400" b="1" dirty="0">
                <a:solidFill>
                  <a:srgbClr val="FF0000"/>
                </a:solidFill>
                <a:latin typeface="楷体_GB2312" pitchFamily="49" charset="-122"/>
                <a:ea typeface="楷体_GB2312" pitchFamily="49" charset="-122"/>
              </a:rPr>
              <a:t> = </a:t>
            </a:r>
            <a:r>
              <a:rPr lang="en-US" altLang="zh-CN" sz="2400" b="1" dirty="0" err="1">
                <a:solidFill>
                  <a:srgbClr val="FF0000"/>
                </a:solidFill>
                <a:latin typeface="楷体_GB2312" pitchFamily="49" charset="-122"/>
                <a:ea typeface="楷体_GB2312" pitchFamily="49" charset="-122"/>
              </a:rPr>
              <a:t>kpt</a:t>
            </a:r>
            <a:r>
              <a:rPr lang="en-US" altLang="zh-CN" sz="2400" b="1" dirty="0">
                <a:solidFill>
                  <a:srgbClr val="FF0000"/>
                </a:solidFill>
                <a:latin typeface="楷体_GB2312" pitchFamily="49" charset="-122"/>
                <a:ea typeface="楷体_GB2312" pitchFamily="49" charset="-122"/>
              </a:rPr>
              <a:t>-&gt;link;</a:t>
            </a:r>
          </a:p>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        }</a:t>
            </a:r>
          </a:p>
          <a:p>
            <a:pPr marL="0" indent="0" eaLnBrk="1" hangingPunct="1">
              <a:lnSpc>
                <a:spcPct val="90000"/>
              </a:lnSpc>
              <a:buFont typeface="Monotype Sorts" pitchFamily="2" charset="2"/>
              <a:buNone/>
              <a:defRPr/>
            </a:pPr>
            <a:r>
              <a:rPr lang="en-US" altLang="zh-CN" sz="2400" b="1" dirty="0">
                <a:latin typeface="楷体_GB2312" pitchFamily="49" charset="-122"/>
                <a:ea typeface="楷体_GB2312" pitchFamily="49" charset="-122"/>
              </a:rPr>
              <a:t>           </a:t>
            </a:r>
          </a:p>
        </p:txBody>
      </p:sp>
      <p:sp>
        <p:nvSpPr>
          <p:cNvPr id="5" name="灯片编号占位符 5"/>
          <p:cNvSpPr>
            <a:spLocks noGrp="1"/>
          </p:cNvSpPr>
          <p:nvPr>
            <p:ph type="sldNum" sz="quarter" idx="12"/>
          </p:nvPr>
        </p:nvSpPr>
        <p:spPr/>
        <p:txBody>
          <a:bodyPr/>
          <a:lstStyle/>
          <a:p>
            <a:pPr>
              <a:defRPr/>
            </a:pPr>
            <a:fld id="{4A1A8571-81E0-41C9-9647-7DECE9022807}" type="slidenum">
              <a:rPr lang="en-US" altLang="zh-CN"/>
              <a:pPr>
                <a:defRPr/>
              </a:pPr>
              <a:t>118</a:t>
            </a:fld>
            <a:endParaRPr lang="en-US" altLang="zh-CN"/>
          </a:p>
        </p:txBody>
      </p:sp>
      <p:sp>
        <p:nvSpPr>
          <p:cNvPr id="4" name="矩形 3"/>
          <p:cNvSpPr/>
          <p:nvPr/>
        </p:nvSpPr>
        <p:spPr>
          <a:xfrm>
            <a:off x="4427984" y="5157192"/>
            <a:ext cx="4572000" cy="830997"/>
          </a:xfrm>
          <a:prstGeom prst="rect">
            <a:avLst/>
          </a:prstGeom>
        </p:spPr>
        <p:txBody>
          <a:bodyPr>
            <a:spAutoFit/>
          </a:bodyPr>
          <a:lstStyle/>
          <a:p>
            <a:r>
              <a:rPr lang="en-US" altLang="zh-CN" b="1" dirty="0" err="1">
                <a:latin typeface="楷体_GB2312" pitchFamily="49" charset="-122"/>
                <a:ea typeface="楷体_GB2312" pitchFamily="49" charset="-122"/>
              </a:rPr>
              <a:t>lpt</a:t>
            </a:r>
            <a:r>
              <a:rPr lang="zh-CN" altLang="en-US" b="1" dirty="0">
                <a:latin typeface="楷体_GB2312" pitchFamily="49" charset="-122"/>
                <a:ea typeface="楷体_GB2312" pitchFamily="49" charset="-122"/>
              </a:rPr>
              <a:t>、</a:t>
            </a:r>
            <a:r>
              <a:rPr lang="en-US" altLang="zh-CN" b="1" dirty="0" err="1">
                <a:latin typeface="楷体_GB2312" pitchFamily="49" charset="-122"/>
                <a:ea typeface="楷体_GB2312" pitchFamily="49" charset="-122"/>
              </a:rPr>
              <a:t>kpt</a:t>
            </a:r>
            <a:r>
              <a:rPr lang="zh-CN" altLang="en-US" b="1" dirty="0">
                <a:latin typeface="楷体_GB2312" pitchFamily="49" charset="-122"/>
                <a:ea typeface="楷体_GB2312" pitchFamily="49" charset="-122"/>
              </a:rPr>
              <a:t>指向</a:t>
            </a:r>
            <a:r>
              <a:rPr lang="en-US" altLang="zh-CN" b="1" dirty="0">
                <a:latin typeface="楷体_GB2312" pitchFamily="49" charset="-122"/>
                <a:ea typeface="楷体_GB2312" pitchFamily="49" charset="-122"/>
              </a:rPr>
              <a:t>l</a:t>
            </a:r>
            <a:r>
              <a:rPr lang="zh-CN" altLang="en-US" b="1" dirty="0">
                <a:latin typeface="楷体_GB2312" pitchFamily="49" charset="-122"/>
                <a:ea typeface="楷体_GB2312" pitchFamily="49" charset="-122"/>
              </a:rPr>
              <a:t>和</a:t>
            </a:r>
            <a:r>
              <a:rPr lang="en-US" altLang="zh-CN" b="1" dirty="0">
                <a:latin typeface="楷体_GB2312" pitchFamily="49" charset="-122"/>
                <a:ea typeface="楷体_GB2312" pitchFamily="49" charset="-122"/>
              </a:rPr>
              <a:t>k</a:t>
            </a:r>
            <a:r>
              <a:rPr lang="zh-CN" altLang="en-US" b="1" dirty="0">
                <a:latin typeface="楷体_GB2312" pitchFamily="49" charset="-122"/>
                <a:ea typeface="楷体_GB2312" pitchFamily="49" charset="-122"/>
              </a:rPr>
              <a:t>的当前项</a:t>
            </a:r>
            <a:r>
              <a:rPr lang="en-US" altLang="zh-CN" b="1" dirty="0">
                <a:latin typeface="楷体_GB2312" pitchFamily="49" charset="-122"/>
                <a:ea typeface="楷体_GB2312" pitchFamily="49" charset="-122"/>
              </a:rPr>
              <a:t>;</a:t>
            </a:r>
          </a:p>
          <a:p>
            <a:r>
              <a:rPr lang="en-US" altLang="zh-CN" b="1" dirty="0">
                <a:latin typeface="楷体_GB2312" pitchFamily="49" charset="-122"/>
                <a:ea typeface="楷体_GB2312" pitchFamily="49" charset="-122"/>
              </a:rPr>
              <a:t>p</a:t>
            </a:r>
            <a:r>
              <a:rPr lang="zh-CN" altLang="en-US" b="1" dirty="0">
                <a:latin typeface="楷体_GB2312" pitchFamily="49" charset="-122"/>
                <a:ea typeface="楷体_GB2312" pitchFamily="49" charset="-122"/>
              </a:rPr>
              <a:t>是</a:t>
            </a:r>
            <a:r>
              <a:rPr lang="en-US" altLang="zh-CN" b="1" dirty="0" err="1">
                <a:latin typeface="楷体_GB2312" pitchFamily="49" charset="-122"/>
                <a:ea typeface="楷体_GB2312" pitchFamily="49" charset="-122"/>
              </a:rPr>
              <a:t>lpt</a:t>
            </a:r>
            <a:r>
              <a:rPr lang="zh-CN" altLang="en-US" b="1" dirty="0">
                <a:latin typeface="楷体_GB2312" pitchFamily="49" charset="-122"/>
                <a:ea typeface="楷体_GB2312" pitchFamily="49" charset="-122"/>
              </a:rPr>
              <a:t>的</a:t>
            </a:r>
            <a:r>
              <a:rPr lang="zh-CN" altLang="en-US" b="1" dirty="0">
                <a:solidFill>
                  <a:srgbClr val="C00000"/>
                </a:solidFill>
                <a:latin typeface="楷体_GB2312" pitchFamily="49" charset="-122"/>
                <a:ea typeface="楷体_GB2312" pitchFamily="49" charset="-122"/>
              </a:rPr>
              <a:t>前驱</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1682">
                                            <p:txEl>
                                              <p:pRg st="3" end="3"/>
                                            </p:txEl>
                                          </p:spTgt>
                                        </p:tgtEl>
                                        <p:attrNameLst>
                                          <p:attrName>style.visibility</p:attrName>
                                        </p:attrNameLst>
                                      </p:cBhvr>
                                      <p:to>
                                        <p:strVal val="visible"/>
                                      </p:to>
                                    </p:set>
                                    <p:anim calcmode="lin" valueType="num">
                                      <p:cBhvr additive="base">
                                        <p:cTn id="7" dur="500" fill="hold"/>
                                        <p:tgtEl>
                                          <p:spTgt spid="711682">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168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1682">
                                            <p:txEl>
                                              <p:pRg st="4" end="4"/>
                                            </p:txEl>
                                          </p:spTgt>
                                        </p:tgtEl>
                                        <p:attrNameLst>
                                          <p:attrName>style.visibility</p:attrName>
                                        </p:attrNameLst>
                                      </p:cBhvr>
                                      <p:to>
                                        <p:strVal val="visible"/>
                                      </p:to>
                                    </p:set>
                                    <p:anim calcmode="lin" valueType="num">
                                      <p:cBhvr additive="base">
                                        <p:cTn id="13" dur="500" fill="hold"/>
                                        <p:tgtEl>
                                          <p:spTgt spid="711682">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1682">
                                            <p:txEl>
                                              <p:pRg st="4" end="4"/>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11682">
                                            <p:txEl>
                                              <p:pRg st="13" end="13"/>
                                            </p:txEl>
                                          </p:spTgt>
                                        </p:tgtEl>
                                        <p:attrNameLst>
                                          <p:attrName>style.visibility</p:attrName>
                                        </p:attrNameLst>
                                      </p:cBhvr>
                                      <p:to>
                                        <p:strVal val="visible"/>
                                      </p:to>
                                    </p:set>
                                    <p:anim calcmode="lin" valueType="num">
                                      <p:cBhvr additive="base">
                                        <p:cTn id="17" dur="500" fill="hold"/>
                                        <p:tgtEl>
                                          <p:spTgt spid="711682">
                                            <p:txEl>
                                              <p:pRg st="13" end="1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11682">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11682">
                                            <p:txEl>
                                              <p:pRg st="5" end="5"/>
                                            </p:txEl>
                                          </p:spTgt>
                                        </p:tgtEl>
                                        <p:attrNameLst>
                                          <p:attrName>style.visibility</p:attrName>
                                        </p:attrNameLst>
                                      </p:cBhvr>
                                      <p:to>
                                        <p:strVal val="visible"/>
                                      </p:to>
                                    </p:set>
                                    <p:anim calcmode="lin" valueType="num">
                                      <p:cBhvr additive="base">
                                        <p:cTn id="23" dur="500" fill="hold"/>
                                        <p:tgtEl>
                                          <p:spTgt spid="711682">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1168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11682">
                                            <p:txEl>
                                              <p:pRg st="6" end="6"/>
                                            </p:txEl>
                                          </p:spTgt>
                                        </p:tgtEl>
                                        <p:attrNameLst>
                                          <p:attrName>style.visibility</p:attrName>
                                        </p:attrNameLst>
                                      </p:cBhvr>
                                      <p:to>
                                        <p:strVal val="visible"/>
                                      </p:to>
                                    </p:set>
                                    <p:anim calcmode="lin" valueType="num">
                                      <p:cBhvr additive="base">
                                        <p:cTn id="29" dur="500" fill="hold"/>
                                        <p:tgtEl>
                                          <p:spTgt spid="711682">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11682">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711682">
                                            <p:txEl>
                                              <p:pRg st="7" end="7"/>
                                            </p:txEl>
                                          </p:spTgt>
                                        </p:tgtEl>
                                        <p:attrNameLst>
                                          <p:attrName>style.visibility</p:attrName>
                                        </p:attrNameLst>
                                      </p:cBhvr>
                                      <p:to>
                                        <p:strVal val="visible"/>
                                      </p:to>
                                    </p:set>
                                    <p:anim calcmode="lin" valueType="num">
                                      <p:cBhvr additive="base">
                                        <p:cTn id="33" dur="500" fill="hold"/>
                                        <p:tgtEl>
                                          <p:spTgt spid="711682">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711682">
                                            <p:txEl>
                                              <p:pRg st="7" end="7"/>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711682">
                                            <p:txEl>
                                              <p:pRg st="8" end="8"/>
                                            </p:txEl>
                                          </p:spTgt>
                                        </p:tgtEl>
                                        <p:attrNameLst>
                                          <p:attrName>style.visibility</p:attrName>
                                        </p:attrNameLst>
                                      </p:cBhvr>
                                      <p:to>
                                        <p:strVal val="visible"/>
                                      </p:to>
                                    </p:set>
                                    <p:anim calcmode="lin" valueType="num">
                                      <p:cBhvr additive="base">
                                        <p:cTn id="37" dur="500" fill="hold"/>
                                        <p:tgtEl>
                                          <p:spTgt spid="711682">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1168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11682">
                                            <p:txEl>
                                              <p:pRg st="9" end="9"/>
                                            </p:txEl>
                                          </p:spTgt>
                                        </p:tgtEl>
                                        <p:attrNameLst>
                                          <p:attrName>style.visibility</p:attrName>
                                        </p:attrNameLst>
                                      </p:cBhvr>
                                      <p:to>
                                        <p:strVal val="visible"/>
                                      </p:to>
                                    </p:set>
                                    <p:anim calcmode="lin" valueType="num">
                                      <p:cBhvr additive="base">
                                        <p:cTn id="43" dur="500" fill="hold"/>
                                        <p:tgtEl>
                                          <p:spTgt spid="711682">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11682">
                                            <p:txEl>
                                              <p:pRg st="9" end="9"/>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711682">
                                            <p:txEl>
                                              <p:pRg st="10" end="10"/>
                                            </p:txEl>
                                          </p:spTgt>
                                        </p:tgtEl>
                                        <p:attrNameLst>
                                          <p:attrName>style.visibility</p:attrName>
                                        </p:attrNameLst>
                                      </p:cBhvr>
                                      <p:to>
                                        <p:strVal val="visible"/>
                                      </p:to>
                                    </p:set>
                                    <p:anim calcmode="lin" valueType="num">
                                      <p:cBhvr additive="base">
                                        <p:cTn id="47" dur="500" fill="hold"/>
                                        <p:tgtEl>
                                          <p:spTgt spid="711682">
                                            <p:txEl>
                                              <p:pRg st="10" end="1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711682">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711682">
                                            <p:txEl>
                                              <p:pRg st="11" end="11"/>
                                            </p:txEl>
                                          </p:spTgt>
                                        </p:tgtEl>
                                        <p:attrNameLst>
                                          <p:attrName>style.visibility</p:attrName>
                                        </p:attrNameLst>
                                      </p:cBhvr>
                                      <p:to>
                                        <p:strVal val="visible"/>
                                      </p:to>
                                    </p:set>
                                    <p:anim calcmode="lin" valueType="num">
                                      <p:cBhvr additive="base">
                                        <p:cTn id="53" dur="500" fill="hold"/>
                                        <p:tgtEl>
                                          <p:spTgt spid="711682">
                                            <p:txEl>
                                              <p:pRg st="11" end="11"/>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711682">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711682">
                                            <p:txEl>
                                              <p:pRg st="12" end="12"/>
                                            </p:txEl>
                                          </p:spTgt>
                                        </p:tgtEl>
                                        <p:attrNameLst>
                                          <p:attrName>style.visibility</p:attrName>
                                        </p:attrNameLst>
                                      </p:cBhvr>
                                      <p:to>
                                        <p:strVal val="visible"/>
                                      </p:to>
                                    </p:set>
                                    <p:anim calcmode="lin" valueType="num">
                                      <p:cBhvr additive="base">
                                        <p:cTn id="59" dur="500" fill="hold"/>
                                        <p:tgtEl>
                                          <p:spTgt spid="711682">
                                            <p:txEl>
                                              <p:pRg st="12" end="12"/>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711682">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2706" name="Rectangle 2"/>
          <p:cNvSpPr>
            <a:spLocks noGrp="1" noChangeArrowheads="1"/>
          </p:cNvSpPr>
          <p:nvPr>
            <p:ph idx="1"/>
          </p:nvPr>
        </p:nvSpPr>
        <p:spPr>
          <a:xfrm>
            <a:off x="395288" y="404813"/>
            <a:ext cx="8497887" cy="5903912"/>
          </a:xfrm>
        </p:spPr>
        <p:txBody>
          <a:bodyPr>
            <a:normAutofit fontScale="92500"/>
          </a:bodyPr>
          <a:lstStyle/>
          <a:p>
            <a:pPr marL="0" indent="0" eaLnBrk="1" hangingPunct="1">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else if(</a:t>
            </a:r>
            <a:r>
              <a:rPr lang="en-US" altLang="zh-CN" sz="2400" b="1" dirty="0" err="1">
                <a:effectLst>
                  <a:outerShdw blurRad="38100" dist="38100" dir="2700000" algn="tl">
                    <a:srgbClr val="000000"/>
                  </a:outerShdw>
                </a:effectLst>
                <a:latin typeface="楷体_GB2312" pitchFamily="49" charset="-122"/>
                <a:ea typeface="楷体_GB2312" pitchFamily="49" charset="-122"/>
              </a:rPr>
              <a:t>lpt</a:t>
            </a:r>
            <a:r>
              <a:rPr lang="en-US" altLang="zh-CN" sz="2400" b="1" dirty="0">
                <a:effectLst>
                  <a:outerShdw blurRad="38100" dist="38100" dir="2700000" algn="tl">
                    <a:srgbClr val="000000"/>
                  </a:outerShdw>
                </a:effectLst>
                <a:latin typeface="楷体_GB2312" pitchFamily="49" charset="-122"/>
                <a:ea typeface="楷体_GB2312" pitchFamily="49" charset="-122"/>
              </a:rPr>
              <a:t>-&gt;power==</a:t>
            </a:r>
            <a:r>
              <a:rPr lang="en-US" altLang="zh-CN" sz="2400" b="1" dirty="0" err="1">
                <a:effectLst>
                  <a:outerShdw blurRad="38100" dist="38100" dir="2700000" algn="tl">
                    <a:srgbClr val="000000"/>
                  </a:outerShdw>
                </a:effectLst>
                <a:latin typeface="楷体_GB2312" pitchFamily="49" charset="-122"/>
                <a:ea typeface="楷体_GB2312" pitchFamily="49" charset="-122"/>
              </a:rPr>
              <a:t>kpt</a:t>
            </a:r>
            <a:r>
              <a:rPr lang="en-US" altLang="zh-CN" sz="2400" b="1" dirty="0">
                <a:effectLst>
                  <a:outerShdw blurRad="38100" dist="38100" dir="2700000" algn="tl">
                    <a:srgbClr val="000000"/>
                  </a:outerShdw>
                </a:effectLst>
                <a:latin typeface="楷体_GB2312" pitchFamily="49" charset="-122"/>
                <a:ea typeface="楷体_GB2312" pitchFamily="49" charset="-122"/>
              </a:rPr>
              <a:t>-&gt;power){//</a:t>
            </a:r>
            <a:r>
              <a:rPr lang="zh-CN" altLang="en-US" sz="2400" b="1" dirty="0">
                <a:effectLst>
                  <a:outerShdw blurRad="38100" dist="38100" dir="2700000" algn="tl">
                    <a:srgbClr val="000000"/>
                  </a:outerShdw>
                </a:effectLst>
                <a:latin typeface="楷体_GB2312" pitchFamily="49" charset="-122"/>
                <a:ea typeface="楷体_GB2312" pitchFamily="49" charset="-122"/>
              </a:rPr>
              <a:t>等幂次项系数相加</a:t>
            </a:r>
          </a:p>
          <a:p>
            <a:pPr marL="0" indent="0" eaLnBrk="1" hangingPunct="1">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           </a:t>
            </a:r>
            <a:r>
              <a:rPr lang="en-US" altLang="zh-CN" sz="2400" b="1" dirty="0" err="1">
                <a:effectLst>
                  <a:outerShdw blurRad="38100" dist="38100" dir="2700000" algn="tl">
                    <a:srgbClr val="000000"/>
                  </a:outerShdw>
                </a:effectLst>
                <a:latin typeface="楷体_GB2312" pitchFamily="49" charset="-122"/>
                <a:ea typeface="楷体_GB2312" pitchFamily="49" charset="-122"/>
              </a:rPr>
              <a:t>lpt</a:t>
            </a:r>
            <a:r>
              <a:rPr lang="en-US" altLang="zh-CN" sz="2400" b="1" dirty="0">
                <a:effectLst>
                  <a:outerShdw blurRad="38100" dist="38100" dir="2700000" algn="tl">
                    <a:srgbClr val="000000"/>
                  </a:outerShdw>
                </a:effectLst>
                <a:latin typeface="楷体_GB2312" pitchFamily="49" charset="-122"/>
                <a:ea typeface="楷体_GB2312" pitchFamily="49" charset="-122"/>
              </a:rPr>
              <a:t>-&gt;</a:t>
            </a:r>
            <a:r>
              <a:rPr lang="en-US" altLang="zh-CN" sz="2400" b="1" dirty="0" err="1">
                <a:effectLst>
                  <a:outerShdw blurRad="38100" dist="38100" dir="2700000" algn="tl">
                    <a:srgbClr val="000000"/>
                  </a:outerShdw>
                </a:effectLst>
                <a:latin typeface="楷体_GB2312" pitchFamily="49" charset="-122"/>
                <a:ea typeface="楷体_GB2312" pitchFamily="49" charset="-122"/>
              </a:rPr>
              <a:t>coef</a:t>
            </a:r>
            <a:r>
              <a:rPr lang="en-US" altLang="zh-CN" sz="2400" b="1" dirty="0">
                <a:effectLst>
                  <a:outerShdw blurRad="38100" dist="38100" dir="2700000" algn="tl">
                    <a:srgbClr val="000000"/>
                  </a:outerShdw>
                </a:effectLst>
                <a:latin typeface="楷体_GB2312" pitchFamily="49" charset="-122"/>
                <a:ea typeface="楷体_GB2312" pitchFamily="49" charset="-122"/>
              </a:rPr>
              <a:t> += </a:t>
            </a:r>
            <a:r>
              <a:rPr lang="en-US" altLang="zh-CN" sz="2400" b="1" dirty="0" err="1">
                <a:effectLst>
                  <a:outerShdw blurRad="38100" dist="38100" dir="2700000" algn="tl">
                    <a:srgbClr val="000000"/>
                  </a:outerShdw>
                </a:effectLst>
                <a:latin typeface="楷体_GB2312" pitchFamily="49" charset="-122"/>
                <a:ea typeface="楷体_GB2312" pitchFamily="49" charset="-122"/>
              </a:rPr>
              <a:t>kpt</a:t>
            </a:r>
            <a:r>
              <a:rPr lang="en-US" altLang="zh-CN" sz="2400" b="1" dirty="0">
                <a:effectLst>
                  <a:outerShdw blurRad="38100" dist="38100" dir="2700000" algn="tl">
                    <a:srgbClr val="000000"/>
                  </a:outerShdw>
                </a:effectLst>
                <a:latin typeface="楷体_GB2312" pitchFamily="49" charset="-122"/>
                <a:ea typeface="楷体_GB2312" pitchFamily="49" charset="-122"/>
              </a:rPr>
              <a:t>-&gt;</a:t>
            </a:r>
            <a:r>
              <a:rPr lang="en-US" altLang="zh-CN" sz="2400" b="1" dirty="0" err="1">
                <a:effectLst>
                  <a:outerShdw blurRad="38100" dist="38100" dir="2700000" algn="tl">
                    <a:srgbClr val="000000"/>
                  </a:outerShdw>
                </a:effectLst>
                <a:latin typeface="楷体_GB2312" pitchFamily="49" charset="-122"/>
                <a:ea typeface="楷体_GB2312" pitchFamily="49" charset="-122"/>
              </a:rPr>
              <a:t>coef</a:t>
            </a:r>
            <a:r>
              <a:rPr lang="en-US" altLang="zh-CN" sz="2400" b="1" dirty="0">
                <a:effectLst>
                  <a:outerShdw blurRad="38100" dist="38100" dir="2700000" algn="tl">
                    <a:srgbClr val="000000"/>
                  </a:outerShdw>
                </a:effectLst>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if (</a:t>
            </a:r>
            <a:r>
              <a:rPr lang="en-US" altLang="zh-CN" sz="2400" b="1" dirty="0" err="1">
                <a:effectLst>
                  <a:outerShdw blurRad="38100" dist="38100" dir="2700000" algn="tl">
                    <a:srgbClr val="000000"/>
                  </a:outerShdw>
                </a:effectLst>
                <a:latin typeface="楷体_GB2312" pitchFamily="49" charset="-122"/>
                <a:ea typeface="楷体_GB2312" pitchFamily="49" charset="-122"/>
              </a:rPr>
              <a:t>fabs</a:t>
            </a:r>
            <a:r>
              <a:rPr lang="en-US" altLang="zh-CN" sz="2400" b="1" dirty="0">
                <a:effectLst>
                  <a:outerShdw blurRad="38100" dist="38100" dir="2700000" algn="tl">
                    <a:srgbClr val="000000"/>
                  </a:outerShdw>
                </a:effectLst>
                <a:latin typeface="楷体_GB2312" pitchFamily="49" charset="-122"/>
                <a:ea typeface="楷体_GB2312" pitchFamily="49" charset="-122"/>
              </a:rPr>
              <a:t>(</a:t>
            </a:r>
            <a:r>
              <a:rPr lang="en-US" altLang="zh-CN" sz="2400" b="1" dirty="0" err="1">
                <a:effectLst>
                  <a:outerShdw blurRad="38100" dist="38100" dir="2700000" algn="tl">
                    <a:srgbClr val="000000"/>
                  </a:outerShdw>
                </a:effectLst>
                <a:latin typeface="楷体_GB2312" pitchFamily="49" charset="-122"/>
                <a:ea typeface="楷体_GB2312" pitchFamily="49" charset="-122"/>
              </a:rPr>
              <a:t>lpt</a:t>
            </a:r>
            <a:r>
              <a:rPr lang="en-US" altLang="zh-CN" sz="2400" b="1" dirty="0">
                <a:effectLst>
                  <a:outerShdw blurRad="38100" dist="38100" dir="2700000" algn="tl">
                    <a:srgbClr val="000000"/>
                  </a:outerShdw>
                </a:effectLst>
                <a:latin typeface="楷体_GB2312" pitchFamily="49" charset="-122"/>
                <a:ea typeface="楷体_GB2312" pitchFamily="49" charset="-122"/>
              </a:rPr>
              <a:t>-&gt;</a:t>
            </a:r>
            <a:r>
              <a:rPr lang="en-US" altLang="zh-CN" sz="2400" b="1" dirty="0" err="1">
                <a:effectLst>
                  <a:outerShdw blurRad="38100" dist="38100" dir="2700000" algn="tl">
                    <a:srgbClr val="000000"/>
                  </a:outerShdw>
                </a:effectLst>
                <a:latin typeface="楷体_GB2312" pitchFamily="49" charset="-122"/>
                <a:ea typeface="楷体_GB2312" pitchFamily="49" charset="-122"/>
              </a:rPr>
              <a:t>coef</a:t>
            </a:r>
            <a:r>
              <a:rPr lang="en-US" altLang="zh-CN" sz="2400" b="1" dirty="0">
                <a:effectLst>
                  <a:outerShdw blurRad="38100" dist="38100" dir="2700000" algn="tl">
                    <a:srgbClr val="000000"/>
                  </a:outerShdw>
                </a:effectLst>
                <a:latin typeface="楷体_GB2312" pitchFamily="49" charset="-122"/>
                <a:ea typeface="楷体_GB2312" pitchFamily="49" charset="-122"/>
              </a:rPr>
              <a:t>) &lt;= EPSILON)  {</a:t>
            </a:r>
          </a:p>
          <a:p>
            <a:pPr marL="0" indent="0" eaLnBrk="1" hangingPunct="1">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p-&gt;link = </a:t>
            </a:r>
            <a:r>
              <a:rPr lang="en-US" altLang="zh-CN" sz="2400" b="1" dirty="0" err="1">
                <a:effectLst>
                  <a:outerShdw blurRad="38100" dist="38100" dir="2700000" algn="tl">
                    <a:srgbClr val="000000"/>
                  </a:outerShdw>
                </a:effectLst>
                <a:latin typeface="楷体_GB2312" pitchFamily="49" charset="-122"/>
                <a:ea typeface="楷体_GB2312" pitchFamily="49" charset="-122"/>
              </a:rPr>
              <a:t>lpt</a:t>
            </a:r>
            <a:r>
              <a:rPr lang="en-US" altLang="zh-CN" sz="2400" b="1" dirty="0">
                <a:effectLst>
                  <a:outerShdw blurRad="38100" dist="38100" dir="2700000" algn="tl">
                    <a:srgbClr val="000000"/>
                  </a:outerShdw>
                </a:effectLst>
                <a:latin typeface="楷体_GB2312" pitchFamily="49" charset="-122"/>
                <a:ea typeface="楷体_GB2312" pitchFamily="49" charset="-122"/>
              </a:rPr>
              <a:t>-&gt;link;  free(</a:t>
            </a:r>
            <a:r>
              <a:rPr lang="en-US" altLang="zh-CN" sz="2400" b="1" dirty="0" err="1">
                <a:effectLst>
                  <a:outerShdw blurRad="38100" dist="38100" dir="2700000" algn="tl">
                    <a:srgbClr val="000000"/>
                  </a:outerShdw>
                </a:effectLst>
                <a:latin typeface="楷体_GB2312" pitchFamily="49" charset="-122"/>
                <a:ea typeface="楷体_GB2312" pitchFamily="49" charset="-122"/>
              </a:rPr>
              <a:t>lpt</a:t>
            </a:r>
            <a:r>
              <a:rPr lang="en-US" altLang="zh-CN" sz="2400" b="1" dirty="0">
                <a:effectLst>
                  <a:outerShdw blurRad="38100" dist="38100" dir="2700000" algn="tl">
                    <a:srgbClr val="000000"/>
                  </a:outerShdw>
                </a:effectLst>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a:t>
            </a:r>
          </a:p>
          <a:p>
            <a:pPr marL="0" indent="0" eaLnBrk="1" hangingPunct="1">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else  p = p-&gt;link;</a:t>
            </a:r>
          </a:p>
          <a:p>
            <a:pPr marL="0" indent="0" eaLnBrk="1" hangingPunct="1">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a:t>
            </a:r>
            <a:r>
              <a:rPr lang="en-US" altLang="zh-CN" sz="2400" b="1" dirty="0" err="1">
                <a:effectLst>
                  <a:outerShdw blurRad="38100" dist="38100" dir="2700000" algn="tl">
                    <a:srgbClr val="000000"/>
                  </a:outerShdw>
                </a:effectLst>
                <a:latin typeface="楷体_GB2312" pitchFamily="49" charset="-122"/>
                <a:ea typeface="楷体_GB2312" pitchFamily="49" charset="-122"/>
              </a:rPr>
              <a:t>lpt</a:t>
            </a:r>
            <a:r>
              <a:rPr lang="en-US" altLang="zh-CN" sz="2400" b="1" dirty="0">
                <a:effectLst>
                  <a:outerShdw blurRad="38100" dist="38100" dir="2700000" algn="tl">
                    <a:srgbClr val="000000"/>
                  </a:outerShdw>
                </a:effectLst>
                <a:latin typeface="楷体_GB2312" pitchFamily="49" charset="-122"/>
                <a:ea typeface="楷体_GB2312" pitchFamily="49" charset="-122"/>
              </a:rPr>
              <a:t> = p-&gt;link;  </a:t>
            </a:r>
          </a:p>
          <a:p>
            <a:pPr marL="0" indent="0" eaLnBrk="1" hangingPunct="1">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a:t>
            </a:r>
            <a:r>
              <a:rPr lang="en-US" altLang="zh-CN" sz="2400" b="1" dirty="0" err="1">
                <a:effectLst>
                  <a:outerShdw blurRad="38100" dist="38100" dir="2700000" algn="tl">
                    <a:srgbClr val="000000"/>
                  </a:outerShdw>
                </a:effectLst>
                <a:latin typeface="楷体_GB2312" pitchFamily="49" charset="-122"/>
                <a:ea typeface="楷体_GB2312" pitchFamily="49" charset="-122"/>
              </a:rPr>
              <a:t>kpt</a:t>
            </a:r>
            <a:r>
              <a:rPr lang="en-US" altLang="zh-CN" sz="2400" b="1" dirty="0">
                <a:effectLst>
                  <a:outerShdw blurRad="38100" dist="38100" dir="2700000" algn="tl">
                    <a:srgbClr val="000000"/>
                  </a:outerShdw>
                </a:effectLst>
                <a:latin typeface="楷体_GB2312" pitchFamily="49" charset="-122"/>
                <a:ea typeface="楷体_GB2312" pitchFamily="49" charset="-122"/>
              </a:rPr>
              <a:t> = </a:t>
            </a:r>
            <a:r>
              <a:rPr lang="en-US" altLang="zh-CN" sz="2400" b="1" dirty="0" err="1">
                <a:effectLst>
                  <a:outerShdw blurRad="38100" dist="38100" dir="2700000" algn="tl">
                    <a:srgbClr val="000000"/>
                  </a:outerShdw>
                </a:effectLst>
                <a:latin typeface="楷体_GB2312" pitchFamily="49" charset="-122"/>
                <a:ea typeface="楷体_GB2312" pitchFamily="49" charset="-122"/>
              </a:rPr>
              <a:t>kpt</a:t>
            </a:r>
            <a:r>
              <a:rPr lang="en-US" altLang="zh-CN" sz="2400" b="1" dirty="0">
                <a:effectLst>
                  <a:outerShdw blurRad="38100" dist="38100" dir="2700000" algn="tl">
                    <a:srgbClr val="000000"/>
                  </a:outerShdw>
                </a:effectLst>
                <a:latin typeface="楷体_GB2312" pitchFamily="49" charset="-122"/>
                <a:ea typeface="楷体_GB2312" pitchFamily="49" charset="-122"/>
              </a:rPr>
              <a:t>-&gt;link;</a:t>
            </a:r>
          </a:p>
          <a:p>
            <a:pPr marL="0" indent="0" eaLnBrk="1" hangingPunct="1">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a:t>
            </a:r>
          </a:p>
          <a:p>
            <a:pPr marL="0" indent="0" eaLnBrk="1" hangingPunct="1">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else{/*</a:t>
            </a:r>
            <a:r>
              <a:rPr lang="en-US" altLang="zh-CN" sz="2400" b="1" dirty="0" err="1">
                <a:effectLst>
                  <a:outerShdw blurRad="38100" dist="38100" dir="2700000" algn="tl">
                    <a:srgbClr val="000000"/>
                  </a:outerShdw>
                </a:effectLst>
                <a:latin typeface="楷体_GB2312" pitchFamily="49" charset="-122"/>
                <a:ea typeface="楷体_GB2312" pitchFamily="49" charset="-122"/>
              </a:rPr>
              <a:t>lpt</a:t>
            </a:r>
            <a:r>
              <a:rPr lang="en-US" altLang="zh-CN" sz="2400" b="1" dirty="0">
                <a:effectLst>
                  <a:outerShdw blurRad="38100" dist="38100" dir="2700000" algn="tl">
                    <a:srgbClr val="000000"/>
                  </a:outerShdw>
                </a:effectLst>
                <a:latin typeface="楷体_GB2312" pitchFamily="49" charset="-122"/>
                <a:ea typeface="楷体_GB2312" pitchFamily="49" charset="-122"/>
              </a:rPr>
              <a:t>-&gt;power &gt; </a:t>
            </a:r>
            <a:r>
              <a:rPr lang="en-US" altLang="zh-CN" sz="2400" b="1" dirty="0" err="1">
                <a:effectLst>
                  <a:outerShdw blurRad="38100" dist="38100" dir="2700000" algn="tl">
                    <a:srgbClr val="000000"/>
                  </a:outerShdw>
                </a:effectLst>
                <a:latin typeface="楷体_GB2312" pitchFamily="49" charset="-122"/>
                <a:ea typeface="楷体_GB2312" pitchFamily="49" charset="-122"/>
              </a:rPr>
              <a:t>kpt</a:t>
            </a:r>
            <a:r>
              <a:rPr lang="en-US" altLang="zh-CN" sz="2400" b="1" dirty="0">
                <a:effectLst>
                  <a:outerShdw blurRad="38100" dist="38100" dir="2700000" algn="tl">
                    <a:srgbClr val="000000"/>
                  </a:outerShdw>
                </a:effectLst>
                <a:latin typeface="楷体_GB2312" pitchFamily="49" charset="-122"/>
                <a:ea typeface="楷体_GB2312" pitchFamily="49" charset="-122"/>
              </a:rPr>
              <a:t>-&gt;power,</a:t>
            </a:r>
            <a:r>
              <a:rPr lang="zh-CN" altLang="en-US" sz="2400" b="1" dirty="0">
                <a:effectLst>
                  <a:outerShdw blurRad="38100" dist="38100" dir="2700000" algn="tl">
                    <a:srgbClr val="000000"/>
                  </a:outerShdw>
                </a:effectLst>
                <a:latin typeface="楷体_GB2312" pitchFamily="49" charset="-122"/>
                <a:ea typeface="楷体_GB2312" pitchFamily="49" charset="-122"/>
              </a:rPr>
              <a:t>跳过</a:t>
            </a:r>
            <a:r>
              <a:rPr lang="en-US" altLang="zh-CN" sz="2400" b="1" dirty="0">
                <a:effectLst>
                  <a:outerShdw blurRad="38100" dist="38100" dir="2700000" algn="tl">
                    <a:srgbClr val="000000"/>
                  </a:outerShdw>
                </a:effectLst>
                <a:latin typeface="楷体_GB2312" pitchFamily="49" charset="-122"/>
                <a:ea typeface="楷体_GB2312" pitchFamily="49" charset="-122"/>
              </a:rPr>
              <a:t>(*</a:t>
            </a:r>
            <a:r>
              <a:rPr lang="en-US" altLang="zh-CN" sz="2400" b="1" dirty="0" err="1">
                <a:effectLst>
                  <a:outerShdw blurRad="38100" dist="38100" dir="2700000" algn="tl">
                    <a:srgbClr val="000000"/>
                  </a:outerShdw>
                </a:effectLst>
                <a:latin typeface="楷体_GB2312" pitchFamily="49" charset="-122"/>
                <a:ea typeface="楷体_GB2312" pitchFamily="49" charset="-122"/>
              </a:rPr>
              <a:t>lpt</a:t>
            </a:r>
            <a:r>
              <a:rPr lang="en-US" altLang="zh-CN" sz="2400" b="1" dirty="0">
                <a:effectLst>
                  <a:outerShdw blurRad="38100" dist="38100" dir="2700000" algn="tl">
                    <a:srgbClr val="000000"/>
                  </a:outerShdw>
                </a:effectLst>
                <a:latin typeface="楷体_GB2312" pitchFamily="49" charset="-122"/>
                <a:ea typeface="楷体_GB2312" pitchFamily="49" charset="-122"/>
              </a:rPr>
              <a:t>)*/</a:t>
            </a:r>
          </a:p>
          <a:p>
            <a:pPr marL="0" indent="0" eaLnBrk="1" hangingPunct="1">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p   = </a:t>
            </a:r>
            <a:r>
              <a:rPr lang="en-US" altLang="zh-CN" sz="2400" b="1" dirty="0" err="1">
                <a:effectLst>
                  <a:outerShdw blurRad="38100" dist="38100" dir="2700000" algn="tl">
                    <a:srgbClr val="000000"/>
                  </a:outerShdw>
                </a:effectLst>
                <a:latin typeface="楷体_GB2312" pitchFamily="49" charset="-122"/>
                <a:ea typeface="楷体_GB2312" pitchFamily="49" charset="-122"/>
              </a:rPr>
              <a:t>lpt</a:t>
            </a:r>
            <a:r>
              <a:rPr lang="en-US" altLang="zh-CN" sz="2400" b="1" dirty="0">
                <a:effectLst>
                  <a:outerShdw blurRad="38100" dist="38100" dir="2700000" algn="tl">
                    <a:srgbClr val="000000"/>
                  </a:outerShdw>
                </a:effectLst>
                <a:latin typeface="楷体_GB2312" pitchFamily="49" charset="-122"/>
                <a:ea typeface="楷体_GB2312" pitchFamily="49" charset="-122"/>
              </a:rPr>
              <a:t>;    </a:t>
            </a:r>
            <a:r>
              <a:rPr lang="en-US" altLang="zh-CN" sz="2400" b="1" dirty="0" err="1">
                <a:effectLst>
                  <a:outerShdw blurRad="38100" dist="38100" dir="2700000" algn="tl">
                    <a:srgbClr val="000000"/>
                  </a:outerShdw>
                </a:effectLst>
                <a:latin typeface="楷体_GB2312" pitchFamily="49" charset="-122"/>
                <a:ea typeface="楷体_GB2312" pitchFamily="49" charset="-122"/>
              </a:rPr>
              <a:t>lpt</a:t>
            </a:r>
            <a:r>
              <a:rPr lang="en-US" altLang="zh-CN" sz="2400" b="1" dirty="0">
                <a:effectLst>
                  <a:outerShdw blurRad="38100" dist="38100" dir="2700000" algn="tl">
                    <a:srgbClr val="000000"/>
                  </a:outerShdw>
                </a:effectLst>
                <a:latin typeface="楷体_GB2312" pitchFamily="49" charset="-122"/>
                <a:ea typeface="楷体_GB2312" pitchFamily="49" charset="-122"/>
              </a:rPr>
              <a:t> = </a:t>
            </a:r>
            <a:r>
              <a:rPr lang="en-US" altLang="zh-CN" sz="2400" b="1" dirty="0" err="1">
                <a:effectLst>
                  <a:outerShdw blurRad="38100" dist="38100" dir="2700000" algn="tl">
                    <a:srgbClr val="000000"/>
                  </a:outerShdw>
                </a:effectLst>
                <a:latin typeface="楷体_GB2312" pitchFamily="49" charset="-122"/>
                <a:ea typeface="楷体_GB2312" pitchFamily="49" charset="-122"/>
              </a:rPr>
              <a:t>lpt</a:t>
            </a:r>
            <a:r>
              <a:rPr lang="en-US" altLang="zh-CN" sz="2400" b="1" dirty="0">
                <a:effectLst>
                  <a:outerShdw blurRad="38100" dist="38100" dir="2700000" algn="tl">
                    <a:srgbClr val="000000"/>
                  </a:outerShdw>
                </a:effectLst>
                <a:latin typeface="楷体_GB2312" pitchFamily="49" charset="-122"/>
                <a:ea typeface="楷体_GB2312" pitchFamily="49" charset="-122"/>
              </a:rPr>
              <a:t>-&gt;link;</a:t>
            </a:r>
          </a:p>
          <a:p>
            <a:pPr marL="0" indent="0" eaLnBrk="1" hangingPunct="1">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a:t>
            </a:r>
          </a:p>
          <a:p>
            <a:pPr marL="0" indent="0" eaLnBrk="1" hangingPunct="1">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  // end while</a:t>
            </a:r>
          </a:p>
          <a:p>
            <a:pPr marL="0" indent="0" eaLnBrk="1" hangingPunct="1">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 end </a:t>
            </a:r>
            <a:r>
              <a:rPr lang="en-US" altLang="zh-CN" sz="2400" b="1" dirty="0" err="1">
                <a:effectLst>
                  <a:outerShdw blurRad="38100" dist="38100" dir="2700000" algn="tl">
                    <a:srgbClr val="000000"/>
                  </a:outerShdw>
                </a:effectLst>
                <a:latin typeface="楷体_GB2312" pitchFamily="49" charset="-122"/>
                <a:ea typeface="楷体_GB2312" pitchFamily="49" charset="-122"/>
              </a:rPr>
              <a:t>addPoly</a:t>
            </a:r>
            <a:r>
              <a:rPr lang="en-US" altLang="zh-CN" sz="2400" b="1" dirty="0">
                <a:effectLst>
                  <a:outerShdw blurRad="38100" dist="38100" dir="2700000" algn="tl">
                    <a:srgbClr val="000000"/>
                  </a:outerShdw>
                </a:effectLst>
                <a:latin typeface="楷体_GB2312" pitchFamily="49" charset="-122"/>
                <a:ea typeface="楷体_GB2312" pitchFamily="49" charset="-122"/>
              </a:rPr>
              <a:t>()</a:t>
            </a:r>
          </a:p>
        </p:txBody>
      </p:sp>
      <p:sp>
        <p:nvSpPr>
          <p:cNvPr id="5" name="灯片编号占位符 5"/>
          <p:cNvSpPr>
            <a:spLocks noGrp="1"/>
          </p:cNvSpPr>
          <p:nvPr>
            <p:ph type="sldNum" sz="quarter" idx="12"/>
          </p:nvPr>
        </p:nvSpPr>
        <p:spPr/>
        <p:txBody>
          <a:bodyPr/>
          <a:lstStyle/>
          <a:p>
            <a:pPr>
              <a:defRPr/>
            </a:pPr>
            <a:fld id="{CEABDCC4-C6DE-40DA-A124-741BF4243BF7}" type="slidenum">
              <a:rPr lang="en-US" altLang="zh-CN"/>
              <a:pPr>
                <a:defRPr/>
              </a:pPr>
              <a:t>119</a:t>
            </a:fld>
            <a:endParaRPr lang="en-US" altLang="zh-CN"/>
          </a:p>
        </p:txBody>
      </p:sp>
      <p:sp>
        <p:nvSpPr>
          <p:cNvPr id="4" name="矩形 3"/>
          <p:cNvSpPr/>
          <p:nvPr/>
        </p:nvSpPr>
        <p:spPr>
          <a:xfrm>
            <a:off x="4427984" y="5157192"/>
            <a:ext cx="4572000" cy="830997"/>
          </a:xfrm>
          <a:prstGeom prst="rect">
            <a:avLst/>
          </a:prstGeom>
        </p:spPr>
        <p:txBody>
          <a:bodyPr>
            <a:spAutoFit/>
          </a:bodyPr>
          <a:lstStyle/>
          <a:p>
            <a:r>
              <a:rPr lang="en-US" altLang="zh-CN" b="1" dirty="0" err="1">
                <a:latin typeface="楷体_GB2312" pitchFamily="49" charset="-122"/>
                <a:ea typeface="楷体_GB2312" pitchFamily="49" charset="-122"/>
              </a:rPr>
              <a:t>lpt</a:t>
            </a:r>
            <a:r>
              <a:rPr lang="zh-CN" altLang="en-US" b="1" dirty="0">
                <a:latin typeface="楷体_GB2312" pitchFamily="49" charset="-122"/>
                <a:ea typeface="楷体_GB2312" pitchFamily="49" charset="-122"/>
              </a:rPr>
              <a:t>、</a:t>
            </a:r>
            <a:r>
              <a:rPr lang="en-US" altLang="zh-CN" b="1" dirty="0" err="1">
                <a:latin typeface="楷体_GB2312" pitchFamily="49" charset="-122"/>
                <a:ea typeface="楷体_GB2312" pitchFamily="49" charset="-122"/>
              </a:rPr>
              <a:t>kpt</a:t>
            </a:r>
            <a:r>
              <a:rPr lang="zh-CN" altLang="en-US" b="1" dirty="0">
                <a:latin typeface="楷体_GB2312" pitchFamily="49" charset="-122"/>
                <a:ea typeface="楷体_GB2312" pitchFamily="49" charset="-122"/>
              </a:rPr>
              <a:t>指向</a:t>
            </a:r>
            <a:r>
              <a:rPr lang="en-US" altLang="zh-CN" b="1" dirty="0">
                <a:latin typeface="楷体_GB2312" pitchFamily="49" charset="-122"/>
                <a:ea typeface="楷体_GB2312" pitchFamily="49" charset="-122"/>
              </a:rPr>
              <a:t>l</a:t>
            </a:r>
            <a:r>
              <a:rPr lang="zh-CN" altLang="en-US" b="1" dirty="0">
                <a:latin typeface="楷体_GB2312" pitchFamily="49" charset="-122"/>
                <a:ea typeface="楷体_GB2312" pitchFamily="49" charset="-122"/>
              </a:rPr>
              <a:t>和</a:t>
            </a:r>
            <a:r>
              <a:rPr lang="en-US" altLang="zh-CN" b="1" dirty="0">
                <a:latin typeface="楷体_GB2312" pitchFamily="49" charset="-122"/>
                <a:ea typeface="楷体_GB2312" pitchFamily="49" charset="-122"/>
              </a:rPr>
              <a:t>k</a:t>
            </a:r>
            <a:r>
              <a:rPr lang="zh-CN" altLang="en-US" b="1" dirty="0">
                <a:latin typeface="楷体_GB2312" pitchFamily="49" charset="-122"/>
                <a:ea typeface="楷体_GB2312" pitchFamily="49" charset="-122"/>
              </a:rPr>
              <a:t>的当前项</a:t>
            </a:r>
            <a:r>
              <a:rPr lang="en-US" altLang="zh-CN" b="1" dirty="0">
                <a:latin typeface="楷体_GB2312" pitchFamily="49" charset="-122"/>
                <a:ea typeface="楷体_GB2312" pitchFamily="49" charset="-122"/>
              </a:rPr>
              <a:t>;</a:t>
            </a:r>
          </a:p>
          <a:p>
            <a:r>
              <a:rPr lang="en-US" altLang="zh-CN" b="1" dirty="0">
                <a:latin typeface="楷体_GB2312" pitchFamily="49" charset="-122"/>
                <a:ea typeface="楷体_GB2312" pitchFamily="49" charset="-122"/>
              </a:rPr>
              <a:t>p</a:t>
            </a:r>
            <a:r>
              <a:rPr lang="zh-CN" altLang="en-US" b="1" dirty="0">
                <a:latin typeface="楷体_GB2312" pitchFamily="49" charset="-122"/>
                <a:ea typeface="楷体_GB2312" pitchFamily="49" charset="-122"/>
              </a:rPr>
              <a:t>是</a:t>
            </a:r>
            <a:r>
              <a:rPr lang="en-US" altLang="zh-CN" b="1" dirty="0" err="1">
                <a:latin typeface="楷体_GB2312" pitchFamily="49" charset="-122"/>
                <a:ea typeface="楷体_GB2312" pitchFamily="49" charset="-122"/>
              </a:rPr>
              <a:t>lpt</a:t>
            </a:r>
            <a:r>
              <a:rPr lang="zh-CN" altLang="en-US" b="1" dirty="0">
                <a:latin typeface="楷体_GB2312" pitchFamily="49" charset="-122"/>
                <a:ea typeface="楷体_GB2312" pitchFamily="49" charset="-122"/>
              </a:rPr>
              <a:t>的</a:t>
            </a:r>
            <a:r>
              <a:rPr lang="zh-CN" altLang="en-US" b="1" dirty="0">
                <a:solidFill>
                  <a:srgbClr val="C00000"/>
                </a:solidFill>
                <a:latin typeface="楷体_GB2312" pitchFamily="49" charset="-122"/>
                <a:ea typeface="楷体_GB2312" pitchFamily="49" charset="-122"/>
              </a:rPr>
              <a:t>前驱</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2706">
                                            <p:txEl>
                                              <p:pRg st="1" end="1"/>
                                            </p:txEl>
                                          </p:spTgt>
                                        </p:tgtEl>
                                        <p:attrNameLst>
                                          <p:attrName>style.visibility</p:attrName>
                                        </p:attrNameLst>
                                      </p:cBhvr>
                                      <p:to>
                                        <p:strVal val="visible"/>
                                      </p:to>
                                    </p:set>
                                    <p:anim calcmode="lin" valueType="num">
                                      <p:cBhvr additive="base">
                                        <p:cTn id="7" dur="500" fill="hold"/>
                                        <p:tgtEl>
                                          <p:spTgt spid="71270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270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2706">
                                            <p:txEl>
                                              <p:pRg st="2" end="2"/>
                                            </p:txEl>
                                          </p:spTgt>
                                        </p:tgtEl>
                                        <p:attrNameLst>
                                          <p:attrName>style.visibility</p:attrName>
                                        </p:attrNameLst>
                                      </p:cBhvr>
                                      <p:to>
                                        <p:strVal val="visible"/>
                                      </p:to>
                                    </p:set>
                                    <p:anim calcmode="lin" valueType="num">
                                      <p:cBhvr additive="base">
                                        <p:cTn id="13" dur="500" fill="hold"/>
                                        <p:tgtEl>
                                          <p:spTgt spid="71270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2706">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12706">
                                            <p:txEl>
                                              <p:pRg st="3" end="3"/>
                                            </p:txEl>
                                          </p:spTgt>
                                        </p:tgtEl>
                                        <p:attrNameLst>
                                          <p:attrName>style.visibility</p:attrName>
                                        </p:attrNameLst>
                                      </p:cBhvr>
                                      <p:to>
                                        <p:strVal val="visible"/>
                                      </p:to>
                                    </p:set>
                                    <p:anim calcmode="lin" valueType="num">
                                      <p:cBhvr additive="base">
                                        <p:cTn id="17" dur="500" fill="hold"/>
                                        <p:tgtEl>
                                          <p:spTgt spid="712706">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12706">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712706">
                                            <p:txEl>
                                              <p:pRg st="4" end="4"/>
                                            </p:txEl>
                                          </p:spTgt>
                                        </p:tgtEl>
                                        <p:attrNameLst>
                                          <p:attrName>style.visibility</p:attrName>
                                        </p:attrNameLst>
                                      </p:cBhvr>
                                      <p:to>
                                        <p:strVal val="visible"/>
                                      </p:to>
                                    </p:set>
                                    <p:anim calcmode="lin" valueType="num">
                                      <p:cBhvr additive="base">
                                        <p:cTn id="21" dur="500" fill="hold"/>
                                        <p:tgtEl>
                                          <p:spTgt spid="712706">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71270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712706">
                                            <p:txEl>
                                              <p:pRg st="5" end="5"/>
                                            </p:txEl>
                                          </p:spTgt>
                                        </p:tgtEl>
                                        <p:attrNameLst>
                                          <p:attrName>style.visibility</p:attrName>
                                        </p:attrNameLst>
                                      </p:cBhvr>
                                      <p:to>
                                        <p:strVal val="visible"/>
                                      </p:to>
                                    </p:set>
                                    <p:anim calcmode="lin" valueType="num">
                                      <p:cBhvr additive="base">
                                        <p:cTn id="27" dur="500" fill="hold"/>
                                        <p:tgtEl>
                                          <p:spTgt spid="712706">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1270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712706">
                                            <p:txEl>
                                              <p:pRg st="6" end="6"/>
                                            </p:txEl>
                                          </p:spTgt>
                                        </p:tgtEl>
                                        <p:attrNameLst>
                                          <p:attrName>style.visibility</p:attrName>
                                        </p:attrNameLst>
                                      </p:cBhvr>
                                      <p:to>
                                        <p:strVal val="visible"/>
                                      </p:to>
                                    </p:set>
                                    <p:anim calcmode="lin" valueType="num">
                                      <p:cBhvr additive="base">
                                        <p:cTn id="33" dur="500" fill="hold"/>
                                        <p:tgtEl>
                                          <p:spTgt spid="712706">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712706">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712706">
                                            <p:txEl>
                                              <p:pRg st="7" end="7"/>
                                            </p:txEl>
                                          </p:spTgt>
                                        </p:tgtEl>
                                        <p:attrNameLst>
                                          <p:attrName>style.visibility</p:attrName>
                                        </p:attrNameLst>
                                      </p:cBhvr>
                                      <p:to>
                                        <p:strVal val="visible"/>
                                      </p:to>
                                    </p:set>
                                    <p:anim calcmode="lin" valueType="num">
                                      <p:cBhvr additive="base">
                                        <p:cTn id="37" dur="500" fill="hold"/>
                                        <p:tgtEl>
                                          <p:spTgt spid="712706">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1270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12706">
                                            <p:txEl>
                                              <p:pRg st="9" end="9"/>
                                            </p:txEl>
                                          </p:spTgt>
                                        </p:tgtEl>
                                        <p:attrNameLst>
                                          <p:attrName>style.visibility</p:attrName>
                                        </p:attrNameLst>
                                      </p:cBhvr>
                                      <p:to>
                                        <p:strVal val="visible"/>
                                      </p:to>
                                    </p:set>
                                    <p:anim calcmode="lin" valueType="num">
                                      <p:cBhvr additive="base">
                                        <p:cTn id="43" dur="500" fill="hold"/>
                                        <p:tgtEl>
                                          <p:spTgt spid="712706">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12706">
                                            <p:txEl>
                                              <p:pRg st="9" end="9"/>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712706">
                                            <p:txEl>
                                              <p:pRg st="10" end="10"/>
                                            </p:txEl>
                                          </p:spTgt>
                                        </p:tgtEl>
                                        <p:attrNameLst>
                                          <p:attrName>style.visibility</p:attrName>
                                        </p:attrNameLst>
                                      </p:cBhvr>
                                      <p:to>
                                        <p:strVal val="visible"/>
                                      </p:to>
                                    </p:set>
                                    <p:anim calcmode="lin" valueType="num">
                                      <p:cBhvr additive="base">
                                        <p:cTn id="47" dur="500" fill="hold"/>
                                        <p:tgtEl>
                                          <p:spTgt spid="712706">
                                            <p:txEl>
                                              <p:pRg st="10" end="1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712706">
                                            <p:txEl>
                                              <p:pRg st="10" end="10"/>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712706">
                                            <p:txEl>
                                              <p:pRg st="11" end="11"/>
                                            </p:txEl>
                                          </p:spTgt>
                                        </p:tgtEl>
                                        <p:attrNameLst>
                                          <p:attrName>style.visibility</p:attrName>
                                        </p:attrNameLst>
                                      </p:cBhvr>
                                      <p:to>
                                        <p:strVal val="visible"/>
                                      </p:to>
                                    </p:set>
                                    <p:anim calcmode="lin" valueType="num">
                                      <p:cBhvr additive="base">
                                        <p:cTn id="51" dur="500" fill="hold"/>
                                        <p:tgtEl>
                                          <p:spTgt spid="712706">
                                            <p:txEl>
                                              <p:pRg st="11" end="11"/>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712706">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3730" name="Rectangle 2"/>
          <p:cNvSpPr>
            <a:spLocks noGrp="1" noChangeArrowheads="1"/>
          </p:cNvSpPr>
          <p:nvPr>
            <p:ph idx="1"/>
          </p:nvPr>
        </p:nvSpPr>
        <p:spPr>
          <a:xfrm>
            <a:off x="395288" y="404813"/>
            <a:ext cx="8497887" cy="5903912"/>
          </a:xfrm>
        </p:spPr>
        <p:txBody>
          <a:bodyPr/>
          <a:lstStyle/>
          <a:p>
            <a:pPr marL="0" indent="0" eaLnBrk="1" hangingPunct="1">
              <a:lnSpc>
                <a:spcPct val="90000"/>
              </a:lnSpc>
              <a:buFont typeface="Monotype Sorts" pitchFamily="2" charset="2"/>
              <a:buNone/>
              <a:defRPr/>
            </a:pPr>
            <a:r>
              <a:rPr lang="en-US" altLang="zh-CN">
                <a:latin typeface="楷体_GB2312" pitchFamily="49" charset="-122"/>
                <a:ea typeface="楷体_GB2312" pitchFamily="49" charset="-122"/>
              </a:rPr>
              <a:t> </a:t>
            </a:r>
            <a:r>
              <a:rPr lang="en-US" altLang="zh-CN" b="1">
                <a:effectLst>
                  <a:outerShdw blurRad="38100" dist="38100" dir="2700000" algn="tl">
                    <a:srgbClr val="000000"/>
                  </a:outerShdw>
                </a:effectLst>
                <a:latin typeface="楷体_GB2312" pitchFamily="49" charset="-122"/>
                <a:ea typeface="楷体_GB2312" pitchFamily="49" charset="-122"/>
              </a:rPr>
              <a:t>/* </a:t>
            </a:r>
            <a:r>
              <a:rPr lang="zh-CN" altLang="en-US" b="1">
                <a:effectLst>
                  <a:outerShdw blurRad="38100" dist="38100" dir="2700000" algn="tl">
                    <a:srgbClr val="000000"/>
                  </a:outerShdw>
                </a:effectLst>
                <a:latin typeface="楷体_GB2312" pitchFamily="49" charset="-122"/>
                <a:ea typeface="楷体_GB2312" pitchFamily="49" charset="-122"/>
              </a:rPr>
              <a:t>以下是输入多项式的幂次和系数，构建多项式的单链表函数：*</a:t>
            </a:r>
            <a:r>
              <a:rPr lang="en-US" altLang="zh-CN" b="1">
                <a:effectLst>
                  <a:outerShdw blurRad="38100" dist="38100" dir="2700000" algn="tl">
                    <a:srgbClr val="000000"/>
                  </a:outerShdw>
                </a:effectLst>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b="1">
                <a:effectLst>
                  <a:outerShdw blurRad="38100" dist="38100" dir="2700000" algn="tl">
                    <a:srgbClr val="000000"/>
                  </a:outerShdw>
                </a:effectLst>
                <a:latin typeface="楷体_GB2312" pitchFamily="49" charset="-122"/>
                <a:ea typeface="楷体_GB2312" pitchFamily="49" charset="-122"/>
              </a:rPr>
              <a:t>Node *createPoly()//</a:t>
            </a:r>
            <a:r>
              <a:rPr lang="zh-CN" altLang="en-US" b="1">
                <a:effectLst>
                  <a:outerShdw blurRad="38100" dist="38100" dir="2700000" algn="tl">
                    <a:srgbClr val="000000"/>
                  </a:outerShdw>
                </a:effectLst>
                <a:latin typeface="楷体_GB2312" pitchFamily="49" charset="-122"/>
                <a:ea typeface="楷体_GB2312" pitchFamily="49" charset="-122"/>
              </a:rPr>
              <a:t>输入多项式函数</a:t>
            </a:r>
          </a:p>
          <a:p>
            <a:pPr marL="0" indent="0" eaLnBrk="1" hangingPunct="1">
              <a:lnSpc>
                <a:spcPct val="90000"/>
              </a:lnSpc>
              <a:buFont typeface="Monotype Sorts" pitchFamily="2" charset="2"/>
              <a:buNone/>
              <a:defRPr/>
            </a:pPr>
            <a:r>
              <a:rPr lang="en-US" altLang="zh-CN" b="1">
                <a:effectLst>
                  <a:outerShdw blurRad="38100" dist="38100" dir="2700000" algn="tl">
                    <a:srgbClr val="000000"/>
                  </a:outerShdw>
                </a:effectLst>
                <a:latin typeface="楷体_GB2312" pitchFamily="49" charset="-122"/>
                <a:ea typeface="楷体_GB2312" pitchFamily="49" charset="-122"/>
              </a:rPr>
              <a:t>{    Node *u, *w, *p, *h;</a:t>
            </a:r>
          </a:p>
          <a:p>
            <a:pPr marL="0" indent="0" eaLnBrk="1" hangingPunct="1">
              <a:lnSpc>
                <a:spcPct val="90000"/>
              </a:lnSpc>
              <a:buFont typeface="Monotype Sorts" pitchFamily="2" charset="2"/>
              <a:buNone/>
              <a:defRPr/>
            </a:pPr>
            <a:r>
              <a:rPr lang="en-US" altLang="zh-CN" b="1">
                <a:effectLst>
                  <a:outerShdw blurRad="38100" dist="38100" dir="2700000" algn="tl">
                    <a:srgbClr val="000000"/>
                  </a:outerShdw>
                </a:effectLst>
                <a:latin typeface="楷体_GB2312" pitchFamily="49" charset="-122"/>
                <a:ea typeface="楷体_GB2312" pitchFamily="49" charset="-122"/>
              </a:rPr>
              <a:t>     int  n;</a:t>
            </a:r>
          </a:p>
          <a:p>
            <a:pPr marL="0" indent="0" eaLnBrk="1" hangingPunct="1">
              <a:lnSpc>
                <a:spcPct val="90000"/>
              </a:lnSpc>
              <a:buFont typeface="Monotype Sorts" pitchFamily="2" charset="2"/>
              <a:buNone/>
              <a:defRPr/>
            </a:pPr>
            <a:r>
              <a:rPr lang="en-US" altLang="zh-CN" b="1">
                <a:effectLst>
                  <a:outerShdw blurRad="38100" dist="38100" dir="2700000" algn="tl">
                    <a:srgbClr val="000000"/>
                  </a:outerShdw>
                </a:effectLst>
                <a:latin typeface="楷体_GB2312" pitchFamily="49" charset="-122"/>
                <a:ea typeface="楷体_GB2312" pitchFamily="49" charset="-122"/>
              </a:rPr>
              <a:t>   /* </a:t>
            </a:r>
            <a:r>
              <a:rPr lang="zh-CN" altLang="en-US" b="1">
                <a:effectLst>
                  <a:outerShdw blurRad="38100" dist="38100" dir="2700000" algn="tl">
                    <a:srgbClr val="000000"/>
                  </a:outerShdw>
                </a:effectLst>
                <a:latin typeface="楷体_GB2312" pitchFamily="49" charset="-122"/>
                <a:ea typeface="楷体_GB2312" pitchFamily="49" charset="-122"/>
              </a:rPr>
              <a:t>建立空的带辅助表元的单链表 *</a:t>
            </a:r>
            <a:r>
              <a:rPr lang="en-US" altLang="zh-CN" b="1">
                <a:effectLst>
                  <a:outerShdw blurRad="38100" dist="38100" dir="2700000" algn="tl">
                    <a:srgbClr val="000000"/>
                  </a:outerShdw>
                </a:effectLst>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b="1">
                <a:effectLst>
                  <a:outerShdw blurRad="38100" dist="38100" dir="2700000" algn="tl">
                    <a:srgbClr val="000000"/>
                  </a:outerShdw>
                </a:effectLst>
                <a:latin typeface="楷体_GB2312" pitchFamily="49" charset="-122"/>
                <a:ea typeface="楷体_GB2312" pitchFamily="49" charset="-122"/>
              </a:rPr>
              <a:t>     h = (Node *)malloc(sizeof(Node));</a:t>
            </a:r>
          </a:p>
          <a:p>
            <a:pPr marL="0" indent="0" eaLnBrk="1" hangingPunct="1">
              <a:lnSpc>
                <a:spcPct val="90000"/>
              </a:lnSpc>
              <a:buFont typeface="Monotype Sorts" pitchFamily="2" charset="2"/>
              <a:buNone/>
              <a:defRPr/>
            </a:pPr>
            <a:r>
              <a:rPr lang="en-US" altLang="zh-CN" b="1">
                <a:effectLst>
                  <a:outerShdw blurRad="38100" dist="38100" dir="2700000" algn="tl">
                    <a:srgbClr val="000000"/>
                  </a:outerShdw>
                </a:effectLst>
                <a:latin typeface="楷体_GB2312" pitchFamily="49" charset="-122"/>
                <a:ea typeface="楷体_GB2312" pitchFamily="49" charset="-122"/>
              </a:rPr>
              <a:t>     h-&gt;link = NULL;</a:t>
            </a:r>
          </a:p>
          <a:p>
            <a:pPr marL="0" indent="0" eaLnBrk="1" hangingPunct="1">
              <a:lnSpc>
                <a:spcPct val="90000"/>
              </a:lnSpc>
              <a:buFont typeface="Monotype Sorts" pitchFamily="2" charset="2"/>
              <a:buNone/>
              <a:defRPr/>
            </a:pPr>
            <a:r>
              <a:rPr lang="en-US" altLang="zh-CN" b="1">
                <a:effectLst>
                  <a:outerShdw blurRad="38100" dist="38100" dir="2700000" algn="tl">
                    <a:srgbClr val="000000"/>
                  </a:outerShdw>
                </a:effectLst>
                <a:latin typeface="楷体_GB2312" pitchFamily="49" charset="-122"/>
                <a:ea typeface="楷体_GB2312" pitchFamily="49" charset="-122"/>
              </a:rPr>
              <a:t>     printf("</a:t>
            </a:r>
            <a:r>
              <a:rPr lang="zh-CN" altLang="en-US" b="1">
                <a:effectLst>
                  <a:outerShdw blurRad="38100" dist="38100" dir="2700000" algn="tl">
                    <a:srgbClr val="000000"/>
                  </a:outerShdw>
                </a:effectLst>
                <a:latin typeface="楷体_GB2312" pitchFamily="49" charset="-122"/>
                <a:ea typeface="楷体_GB2312" pitchFamily="49" charset="-122"/>
              </a:rPr>
              <a:t>输入多项式：幂次和系数对，幂次小于</a:t>
            </a:r>
            <a:r>
              <a:rPr lang="en-US" altLang="zh-CN" b="1">
                <a:effectLst>
                  <a:outerShdw blurRad="38100" dist="38100" dir="2700000" algn="tl">
                    <a:srgbClr val="000000"/>
                  </a:outerShdw>
                </a:effectLst>
                <a:latin typeface="楷体_GB2312" pitchFamily="49" charset="-122"/>
                <a:ea typeface="楷体_GB2312" pitchFamily="49" charset="-122"/>
              </a:rPr>
              <a:t>0</a:t>
            </a:r>
            <a:r>
              <a:rPr lang="zh-CN" altLang="en-US" b="1">
                <a:effectLst>
                  <a:outerShdw blurRad="38100" dist="38100" dir="2700000" algn="tl">
                    <a:srgbClr val="000000"/>
                  </a:outerShdw>
                </a:effectLst>
                <a:latin typeface="楷体_GB2312" pitchFamily="49" charset="-122"/>
                <a:ea typeface="楷体_GB2312" pitchFamily="49" charset="-122"/>
              </a:rPr>
              <a:t>输入结束</a:t>
            </a:r>
            <a:r>
              <a:rPr lang="en-US" altLang="zh-CN" b="1">
                <a:effectLst>
                  <a:outerShdw blurRad="38100" dist="38100" dir="2700000" algn="tl">
                    <a:srgbClr val="000000"/>
                  </a:outerShdw>
                </a:effectLst>
                <a:latin typeface="楷体_GB2312" pitchFamily="49" charset="-122"/>
                <a:ea typeface="楷体_GB2312" pitchFamily="49" charset="-122"/>
              </a:rPr>
              <a:t>\n");</a:t>
            </a:r>
          </a:p>
          <a:p>
            <a:pPr marL="0" indent="0" eaLnBrk="1" hangingPunct="1">
              <a:lnSpc>
                <a:spcPct val="90000"/>
              </a:lnSpc>
              <a:buFont typeface="Monotype Sorts" pitchFamily="2" charset="2"/>
              <a:buNone/>
              <a:defRPr/>
            </a:pPr>
            <a:r>
              <a:rPr lang="en-US" altLang="zh-CN" b="1">
                <a:effectLst>
                  <a:outerShdw blurRad="38100" dist="38100" dir="2700000" algn="tl">
                    <a:srgbClr val="000000"/>
                  </a:outerShdw>
                </a:effectLst>
                <a:latin typeface="楷体_GB2312" pitchFamily="49" charset="-122"/>
                <a:ea typeface="楷体_GB2312" pitchFamily="49" charset="-122"/>
              </a:rPr>
              <a:t>     scanf("%d", &amp;n);  /* </a:t>
            </a:r>
            <a:r>
              <a:rPr lang="zh-CN" altLang="en-US" b="1">
                <a:effectLst>
                  <a:outerShdw blurRad="38100" dist="38100" dir="2700000" algn="tl">
                    <a:srgbClr val="000000"/>
                  </a:outerShdw>
                </a:effectLst>
                <a:latin typeface="楷体_GB2312" pitchFamily="49" charset="-122"/>
                <a:ea typeface="楷体_GB2312" pitchFamily="49" charset="-122"/>
              </a:rPr>
              <a:t>输入幂次 *</a:t>
            </a:r>
            <a:r>
              <a:rPr lang="en-US" altLang="zh-CN" b="1">
                <a:effectLst>
                  <a:outerShdw blurRad="38100" dist="38100" dir="2700000" algn="tl">
                    <a:srgbClr val="000000"/>
                  </a:outerShdw>
                </a:effectLst>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b="1">
                <a:effectLst>
                  <a:outerShdw blurRad="38100" dist="38100" dir="2700000" algn="tl">
                    <a:srgbClr val="000000"/>
                  </a:outerShdw>
                </a:effectLst>
                <a:latin typeface="楷体_GB2312" pitchFamily="49" charset="-122"/>
                <a:ea typeface="楷体_GB2312" pitchFamily="49" charset="-122"/>
              </a:rPr>
              <a:t>         </a:t>
            </a:r>
          </a:p>
        </p:txBody>
      </p:sp>
      <p:sp>
        <p:nvSpPr>
          <p:cNvPr id="5" name="灯片编号占位符 5"/>
          <p:cNvSpPr>
            <a:spLocks noGrp="1"/>
          </p:cNvSpPr>
          <p:nvPr>
            <p:ph type="sldNum" sz="quarter" idx="12"/>
          </p:nvPr>
        </p:nvSpPr>
        <p:spPr/>
        <p:txBody>
          <a:bodyPr/>
          <a:lstStyle/>
          <a:p>
            <a:pPr>
              <a:defRPr/>
            </a:pPr>
            <a:fld id="{BE51FB3B-2D07-4192-885E-7BE5A323E29D}" type="slidenum">
              <a:rPr lang="en-US" altLang="zh-CN"/>
              <a:pPr>
                <a:defRPr/>
              </a:pPr>
              <a:t>120</a:t>
            </a:fld>
            <a:endParaRPr lang="en-US" altLang="zh-CN"/>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4754" name="Rectangle 2"/>
          <p:cNvSpPr>
            <a:spLocks noGrp="1" noChangeArrowheads="1"/>
          </p:cNvSpPr>
          <p:nvPr>
            <p:ph idx="1"/>
          </p:nvPr>
        </p:nvSpPr>
        <p:spPr>
          <a:xfrm>
            <a:off x="395288" y="404813"/>
            <a:ext cx="8497887" cy="5903912"/>
          </a:xfrm>
        </p:spPr>
        <p:txBody>
          <a:bodyPr/>
          <a:lstStyle/>
          <a:p>
            <a:pPr marL="0" indent="0" eaLnBrk="1" hangingPunct="1">
              <a:lnSpc>
                <a:spcPct val="90000"/>
              </a:lnSpc>
              <a:buFont typeface="Monotype Sorts" pitchFamily="2" charset="2"/>
              <a:buNone/>
              <a:defRPr/>
            </a:pPr>
            <a:r>
              <a:rPr lang="en-US" altLang="zh-CN" sz="2400" b="1">
                <a:effectLst>
                  <a:outerShdw blurRad="38100" dist="38100" dir="2700000" algn="tl">
                    <a:srgbClr val="000000"/>
                  </a:outerShdw>
                </a:effectLst>
                <a:latin typeface="楷体_GB2312" pitchFamily="49" charset="-122"/>
                <a:ea typeface="楷体_GB2312" pitchFamily="49" charset="-122"/>
              </a:rPr>
              <a:t>   while (n &gt;= 0) {   double  coef;</a:t>
            </a:r>
          </a:p>
          <a:p>
            <a:pPr marL="0" indent="0" eaLnBrk="1" hangingPunct="1">
              <a:lnSpc>
                <a:spcPct val="90000"/>
              </a:lnSpc>
              <a:buFont typeface="Monotype Sorts" pitchFamily="2" charset="2"/>
              <a:buNone/>
              <a:defRPr/>
            </a:pPr>
            <a:r>
              <a:rPr lang="en-US" altLang="zh-CN" sz="2400" b="1">
                <a:effectLst>
                  <a:outerShdw blurRad="38100" dist="38100" dir="2700000" algn="tl">
                    <a:srgbClr val="000000"/>
                  </a:outerShdw>
                </a:effectLst>
                <a:latin typeface="楷体_GB2312" pitchFamily="49" charset="-122"/>
                <a:ea typeface="楷体_GB2312" pitchFamily="49" charset="-122"/>
              </a:rPr>
              <a:t>     p = (Node *)malloc(sizeof(Node));</a:t>
            </a:r>
          </a:p>
          <a:p>
            <a:pPr marL="0" indent="0" eaLnBrk="1" hangingPunct="1">
              <a:lnSpc>
                <a:spcPct val="90000"/>
              </a:lnSpc>
              <a:buFont typeface="Monotype Sorts" pitchFamily="2" charset="2"/>
              <a:buNone/>
              <a:defRPr/>
            </a:pPr>
            <a:r>
              <a:rPr lang="en-US" altLang="zh-CN" sz="2400" b="1">
                <a:effectLst>
                  <a:outerShdw blurRad="38100" dist="38100" dir="2700000" algn="tl">
                    <a:srgbClr val="000000"/>
                  </a:outerShdw>
                </a:effectLst>
                <a:latin typeface="楷体_GB2312" pitchFamily="49" charset="-122"/>
                <a:ea typeface="楷体_GB2312" pitchFamily="49" charset="-122"/>
              </a:rPr>
              <a:t>     p-&gt;power = n;scanf("%lf", &amp;coef); /* </a:t>
            </a:r>
            <a:r>
              <a:rPr lang="zh-CN" altLang="en-US" sz="2400" b="1">
                <a:effectLst>
                  <a:outerShdw blurRad="38100" dist="38100" dir="2700000" algn="tl">
                    <a:srgbClr val="000000"/>
                  </a:outerShdw>
                </a:effectLst>
                <a:latin typeface="楷体_GB2312" pitchFamily="49" charset="-122"/>
                <a:ea typeface="楷体_GB2312" pitchFamily="49" charset="-122"/>
              </a:rPr>
              <a:t>输入系数 *</a:t>
            </a:r>
            <a:r>
              <a:rPr lang="en-US" altLang="zh-CN" sz="2400" b="1">
                <a:effectLst>
                  <a:outerShdw blurRad="38100" dist="38100" dir="2700000" algn="tl">
                    <a:srgbClr val="000000"/>
                  </a:outerShdw>
                </a:effectLst>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400" b="1">
                <a:effectLst>
                  <a:outerShdw blurRad="38100" dist="38100" dir="2700000" algn="tl">
                    <a:srgbClr val="000000"/>
                  </a:outerShdw>
                </a:effectLst>
                <a:latin typeface="楷体_GB2312" pitchFamily="49" charset="-122"/>
                <a:ea typeface="楷体_GB2312" pitchFamily="49" charset="-122"/>
              </a:rPr>
              <a:t>     p-&gt;coef = coef;</a:t>
            </a:r>
          </a:p>
          <a:p>
            <a:pPr marL="0" indent="0" eaLnBrk="1" hangingPunct="1">
              <a:lnSpc>
                <a:spcPct val="90000"/>
              </a:lnSpc>
              <a:buFont typeface="Monotype Sorts" pitchFamily="2" charset="2"/>
              <a:buNone/>
              <a:defRPr/>
            </a:pPr>
            <a:r>
              <a:rPr lang="en-US" altLang="zh-CN" sz="2400" b="1">
                <a:effectLst>
                  <a:outerShdw blurRad="38100" dist="38100" dir="2700000" algn="tl">
                    <a:srgbClr val="000000"/>
                  </a:outerShdw>
                </a:effectLst>
                <a:latin typeface="楷体_GB2312" pitchFamily="49" charset="-122"/>
                <a:ea typeface="楷体_GB2312" pitchFamily="49" charset="-122"/>
              </a:rPr>
              <a:t>     w = h; /* </a:t>
            </a:r>
            <a:r>
              <a:rPr lang="zh-CN" altLang="en-US" sz="2400" b="1">
                <a:effectLst>
                  <a:outerShdw blurRad="38100" dist="38100" dir="2700000" algn="tl">
                    <a:srgbClr val="000000"/>
                  </a:outerShdw>
                </a:effectLst>
                <a:latin typeface="楷体_GB2312" pitchFamily="49" charset="-122"/>
                <a:ea typeface="楷体_GB2312" pitchFamily="49" charset="-122"/>
              </a:rPr>
              <a:t>以下寻找当前项的插入位置*</a:t>
            </a:r>
            <a:r>
              <a:rPr lang="en-US" altLang="zh-CN" sz="2400" b="1">
                <a:effectLst>
                  <a:outerShdw blurRad="38100" dist="38100" dir="2700000" algn="tl">
                    <a:srgbClr val="000000"/>
                  </a:outerShdw>
                </a:effectLst>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400" b="1">
                <a:effectLst>
                  <a:outerShdw blurRad="38100" dist="38100" dir="2700000" algn="tl">
                    <a:srgbClr val="000000"/>
                  </a:outerShdw>
                </a:effectLst>
                <a:latin typeface="楷体_GB2312" pitchFamily="49" charset="-122"/>
                <a:ea typeface="楷体_GB2312" pitchFamily="49" charset="-122"/>
              </a:rPr>
              <a:t>     u = h-&gt;link;</a:t>
            </a:r>
          </a:p>
          <a:p>
            <a:pPr marL="0" indent="0" eaLnBrk="1" hangingPunct="1">
              <a:lnSpc>
                <a:spcPct val="90000"/>
              </a:lnSpc>
              <a:buFont typeface="Monotype Sorts" pitchFamily="2" charset="2"/>
              <a:buNone/>
              <a:defRPr/>
            </a:pPr>
            <a:r>
              <a:rPr lang="en-US" altLang="zh-CN" sz="2400" b="1">
                <a:effectLst>
                  <a:outerShdw blurRad="38100" dist="38100" dir="2700000" algn="tl">
                    <a:srgbClr val="000000"/>
                  </a:outerShdw>
                </a:effectLst>
                <a:latin typeface="楷体_GB2312" pitchFamily="49" charset="-122"/>
                <a:ea typeface="楷体_GB2312" pitchFamily="49" charset="-122"/>
              </a:rPr>
              <a:t>     while (u != NULL &amp;&amp; n &lt; u-&gt;power)  {</a:t>
            </a:r>
          </a:p>
          <a:p>
            <a:pPr marL="0" indent="0" eaLnBrk="1" hangingPunct="1">
              <a:lnSpc>
                <a:spcPct val="90000"/>
              </a:lnSpc>
              <a:buFont typeface="Monotype Sorts" pitchFamily="2" charset="2"/>
              <a:buNone/>
              <a:defRPr/>
            </a:pPr>
            <a:r>
              <a:rPr lang="en-US" altLang="zh-CN" sz="2400" b="1">
                <a:effectLst>
                  <a:outerShdw blurRad="38100" dist="38100" dir="2700000" algn="tl">
                    <a:srgbClr val="000000"/>
                  </a:outerShdw>
                </a:effectLst>
                <a:latin typeface="楷体_GB2312" pitchFamily="49" charset="-122"/>
                <a:ea typeface="楷体_GB2312" pitchFamily="49" charset="-122"/>
              </a:rPr>
              <a:t>         w = u;  u = u-&gt;link;</a:t>
            </a:r>
          </a:p>
          <a:p>
            <a:pPr marL="0" indent="0" eaLnBrk="1" hangingPunct="1">
              <a:lnSpc>
                <a:spcPct val="90000"/>
              </a:lnSpc>
              <a:buFont typeface="Monotype Sorts" pitchFamily="2" charset="2"/>
              <a:buNone/>
              <a:defRPr/>
            </a:pPr>
            <a:r>
              <a:rPr lang="en-US" altLang="zh-CN" sz="2400" b="1">
                <a:effectLst>
                  <a:outerShdw blurRad="38100" dist="38100" dir="2700000" algn="tl">
                    <a:srgbClr val="000000"/>
                  </a:outerShdw>
                </a:effectLst>
                <a:latin typeface="楷体_GB2312" pitchFamily="49" charset="-122"/>
                <a:ea typeface="楷体_GB2312" pitchFamily="49" charset="-122"/>
              </a:rPr>
              <a:t>     }</a:t>
            </a:r>
          </a:p>
          <a:p>
            <a:pPr marL="0" indent="0" eaLnBrk="1" hangingPunct="1">
              <a:lnSpc>
                <a:spcPct val="90000"/>
              </a:lnSpc>
              <a:buFont typeface="Monotype Sorts" pitchFamily="2" charset="2"/>
              <a:buNone/>
              <a:defRPr/>
            </a:pPr>
            <a:r>
              <a:rPr lang="en-US" altLang="zh-CN" sz="2400" b="1">
                <a:effectLst>
                  <a:outerShdw blurRad="38100" dist="38100" dir="2700000" algn="tl">
                    <a:srgbClr val="000000"/>
                  </a:outerShdw>
                </a:effectLst>
                <a:latin typeface="楷体_GB2312" pitchFamily="49" charset="-122"/>
                <a:ea typeface="楷体_GB2312" pitchFamily="49" charset="-122"/>
              </a:rPr>
              <a:t>     w-&gt;link = p;   p-&gt;link = u;</a:t>
            </a:r>
          </a:p>
          <a:p>
            <a:pPr marL="0" indent="0" eaLnBrk="1" hangingPunct="1">
              <a:lnSpc>
                <a:spcPct val="90000"/>
              </a:lnSpc>
              <a:buFont typeface="Monotype Sorts" pitchFamily="2" charset="2"/>
              <a:buNone/>
              <a:defRPr/>
            </a:pPr>
            <a:r>
              <a:rPr lang="en-US" altLang="zh-CN" sz="2400" b="1">
                <a:effectLst>
                  <a:outerShdw blurRad="38100" dist="38100" dir="2700000" algn="tl">
                    <a:srgbClr val="000000"/>
                  </a:outerShdw>
                </a:effectLst>
                <a:latin typeface="楷体_GB2312" pitchFamily="49" charset="-122"/>
                <a:ea typeface="楷体_GB2312" pitchFamily="49" charset="-122"/>
              </a:rPr>
              <a:t>     scanf("%d", &amp;n);  /* </a:t>
            </a:r>
            <a:r>
              <a:rPr lang="zh-CN" altLang="en-US" sz="2400" b="1">
                <a:effectLst>
                  <a:outerShdw blurRad="38100" dist="38100" dir="2700000" algn="tl">
                    <a:srgbClr val="000000"/>
                  </a:outerShdw>
                </a:effectLst>
                <a:latin typeface="楷体_GB2312" pitchFamily="49" charset="-122"/>
                <a:ea typeface="楷体_GB2312" pitchFamily="49" charset="-122"/>
              </a:rPr>
              <a:t>输入下一项的幂次 *</a:t>
            </a:r>
            <a:r>
              <a:rPr lang="en-US" altLang="zh-CN" sz="2400" b="1">
                <a:effectLst>
                  <a:outerShdw blurRad="38100" dist="38100" dir="2700000" algn="tl">
                    <a:srgbClr val="000000"/>
                  </a:outerShdw>
                </a:effectLst>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en-US" altLang="zh-CN" sz="2400" b="1">
                <a:effectLst>
                  <a:outerShdw blurRad="38100" dist="38100" dir="2700000" algn="tl">
                    <a:srgbClr val="000000"/>
                  </a:outerShdw>
                </a:effectLst>
                <a:latin typeface="楷体_GB2312" pitchFamily="49" charset="-122"/>
                <a:ea typeface="楷体_GB2312" pitchFamily="49" charset="-122"/>
              </a:rPr>
              <a:t>    }</a:t>
            </a:r>
          </a:p>
          <a:p>
            <a:pPr marL="0" indent="0" eaLnBrk="1" hangingPunct="1">
              <a:lnSpc>
                <a:spcPct val="90000"/>
              </a:lnSpc>
              <a:buFont typeface="Monotype Sorts" pitchFamily="2" charset="2"/>
              <a:buNone/>
              <a:defRPr/>
            </a:pPr>
            <a:r>
              <a:rPr lang="en-US" altLang="zh-CN" sz="2400" b="1">
                <a:effectLst>
                  <a:outerShdw blurRad="38100" dist="38100" dir="2700000" algn="tl">
                    <a:srgbClr val="000000"/>
                  </a:outerShdw>
                </a:effectLst>
                <a:latin typeface="楷体_GB2312" pitchFamily="49" charset="-122"/>
                <a:ea typeface="楷体_GB2312" pitchFamily="49" charset="-122"/>
              </a:rPr>
              <a:t>    return h;</a:t>
            </a:r>
          </a:p>
          <a:p>
            <a:pPr marL="0" indent="0" eaLnBrk="1" hangingPunct="1">
              <a:lnSpc>
                <a:spcPct val="90000"/>
              </a:lnSpc>
              <a:buFont typeface="Monotype Sorts" pitchFamily="2" charset="2"/>
              <a:buNone/>
              <a:defRPr/>
            </a:pPr>
            <a:r>
              <a:rPr lang="en-US" altLang="zh-CN" sz="2400" b="1">
                <a:effectLst>
                  <a:outerShdw blurRad="38100" dist="38100" dir="2700000" algn="tl">
                    <a:srgbClr val="000000"/>
                  </a:outerShdw>
                </a:effectLst>
                <a:latin typeface="楷体_GB2312" pitchFamily="49" charset="-122"/>
                <a:ea typeface="楷体_GB2312" pitchFamily="49" charset="-122"/>
              </a:rPr>
              <a:t>}</a:t>
            </a:r>
          </a:p>
        </p:txBody>
      </p:sp>
      <p:sp>
        <p:nvSpPr>
          <p:cNvPr id="5" name="灯片编号占位符 5"/>
          <p:cNvSpPr>
            <a:spLocks noGrp="1"/>
          </p:cNvSpPr>
          <p:nvPr>
            <p:ph type="sldNum" sz="quarter" idx="12"/>
          </p:nvPr>
        </p:nvSpPr>
        <p:spPr/>
        <p:txBody>
          <a:bodyPr/>
          <a:lstStyle/>
          <a:p>
            <a:pPr>
              <a:defRPr/>
            </a:pPr>
            <a:fld id="{249D2160-1ACA-43AA-9538-2E47945D2C7E}" type="slidenum">
              <a:rPr lang="en-US" altLang="zh-CN"/>
              <a:pPr>
                <a:defRPr/>
              </a:pPr>
              <a:t>121</a:t>
            </a:fld>
            <a:endParaRPr lang="en-US" altLang="zh-CN"/>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778" name="Rectangle 2"/>
          <p:cNvSpPr>
            <a:spLocks noGrp="1" noChangeArrowheads="1"/>
          </p:cNvSpPr>
          <p:nvPr>
            <p:ph idx="1"/>
          </p:nvPr>
        </p:nvSpPr>
        <p:spPr>
          <a:xfrm>
            <a:off x="395288" y="404813"/>
            <a:ext cx="8497887" cy="5903912"/>
          </a:xfrm>
        </p:spPr>
        <p:txBody>
          <a:bodyPr/>
          <a:lstStyle/>
          <a:p>
            <a:pPr marL="0" indent="0" eaLnBrk="1" hangingPunct="1">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void </a:t>
            </a:r>
            <a:r>
              <a:rPr lang="en-US" altLang="zh-CN" b="1" dirty="0" err="1">
                <a:effectLst>
                  <a:outerShdw blurRad="38100" dist="38100" dir="2700000" algn="tl">
                    <a:srgbClr val="000000"/>
                  </a:outerShdw>
                </a:effectLst>
                <a:latin typeface="楷体_GB2312" pitchFamily="49" charset="-122"/>
                <a:ea typeface="楷体_GB2312" pitchFamily="49" charset="-122"/>
              </a:rPr>
              <a:t>writePoly</a:t>
            </a:r>
            <a:r>
              <a:rPr lang="en-US" altLang="zh-CN" b="1" dirty="0">
                <a:effectLst>
                  <a:outerShdw blurRad="38100" dist="38100" dir="2700000" algn="tl">
                    <a:srgbClr val="000000"/>
                  </a:outerShdw>
                </a:effectLst>
                <a:latin typeface="楷体_GB2312" pitchFamily="49" charset="-122"/>
                <a:ea typeface="楷体_GB2312" pitchFamily="49" charset="-122"/>
              </a:rPr>
              <a:t>(Node *q) //</a:t>
            </a:r>
            <a:r>
              <a:rPr lang="zh-CN" altLang="en-US" b="1" dirty="0">
                <a:effectLst>
                  <a:outerShdw blurRad="38100" dist="38100" dir="2700000" algn="tl">
                    <a:srgbClr val="000000"/>
                  </a:outerShdw>
                </a:effectLst>
                <a:latin typeface="楷体_GB2312" pitchFamily="49" charset="-122"/>
                <a:ea typeface="楷体_GB2312" pitchFamily="49" charset="-122"/>
              </a:rPr>
              <a:t>输出多项式函数</a:t>
            </a:r>
          </a:p>
          <a:p>
            <a:pPr marL="0" indent="0" eaLnBrk="1" hangingPunct="1">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if(!(q = q-&gt;link)) return;  // </a:t>
            </a:r>
            <a:r>
              <a:rPr lang="zh-CN" altLang="en-US" b="1" dirty="0">
                <a:effectLst>
                  <a:outerShdw blurRad="38100" dist="38100" dir="2700000" algn="tl">
                    <a:srgbClr val="000000"/>
                  </a:outerShdw>
                </a:effectLst>
                <a:latin typeface="楷体_GB2312" pitchFamily="49" charset="-122"/>
                <a:ea typeface="楷体_GB2312" pitchFamily="49" charset="-122"/>
              </a:rPr>
              <a:t>空</a:t>
            </a:r>
            <a:endParaRPr lang="en-US" altLang="zh-CN" b="1" dirty="0">
              <a:effectLst>
                <a:outerShdw blurRad="38100" dist="38100" dir="2700000" algn="tl">
                  <a:srgbClr val="000000"/>
                </a:outerShdw>
              </a:effectLst>
              <a:latin typeface="楷体_GB2312" pitchFamily="49" charset="-122"/>
              <a:ea typeface="楷体_GB2312" pitchFamily="49" charset="-122"/>
            </a:endParaRPr>
          </a:p>
          <a:p>
            <a:pPr marL="0" indent="0" eaLnBrk="1" hangingPunct="1">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a:t>
            </a:r>
            <a:r>
              <a:rPr lang="en-US" altLang="zh-CN" b="1" dirty="0" err="1">
                <a:effectLst>
                  <a:outerShdw blurRad="38100" dist="38100" dir="2700000" algn="tl">
                    <a:srgbClr val="000000"/>
                  </a:outerShdw>
                </a:effectLst>
                <a:latin typeface="楷体_GB2312" pitchFamily="49" charset="-122"/>
                <a:ea typeface="楷体_GB2312" pitchFamily="49" charset="-122"/>
              </a:rPr>
              <a:t>printf</a:t>
            </a:r>
            <a:r>
              <a:rPr lang="en-US" altLang="zh-CN" b="1" dirty="0">
                <a:effectLst>
                  <a:outerShdw blurRad="38100" dist="38100" dir="2700000" algn="tl">
                    <a:srgbClr val="000000"/>
                  </a:outerShdw>
                </a:effectLst>
                <a:latin typeface="楷体_GB2312" pitchFamily="49" charset="-122"/>
                <a:ea typeface="楷体_GB2312" pitchFamily="49" charset="-122"/>
              </a:rPr>
              <a:t>("%.2fx↑%d ", q-&gt;</a:t>
            </a:r>
            <a:r>
              <a:rPr lang="en-US" altLang="zh-CN" b="1" dirty="0" err="1">
                <a:effectLst>
                  <a:outerShdw blurRad="38100" dist="38100" dir="2700000" algn="tl">
                    <a:srgbClr val="000000"/>
                  </a:outerShdw>
                </a:effectLst>
                <a:latin typeface="楷体_GB2312" pitchFamily="49" charset="-122"/>
                <a:ea typeface="楷体_GB2312" pitchFamily="49" charset="-122"/>
              </a:rPr>
              <a:t>coef</a:t>
            </a:r>
            <a:r>
              <a:rPr lang="en-US" altLang="zh-CN" b="1" dirty="0">
                <a:effectLst>
                  <a:outerShdw blurRad="38100" dist="38100" dir="2700000" algn="tl">
                    <a:srgbClr val="000000"/>
                  </a:outerShdw>
                </a:effectLst>
                <a:latin typeface="楷体_GB2312" pitchFamily="49" charset="-122"/>
                <a:ea typeface="楷体_GB2312" pitchFamily="49" charset="-122"/>
              </a:rPr>
              <a:t>, q-&gt;power); /* </a:t>
            </a:r>
            <a:r>
              <a:rPr lang="zh-CN" altLang="en-US" b="1" dirty="0">
                <a:effectLst>
                  <a:outerShdw blurRad="38100" dist="38100" dir="2700000" algn="tl">
                    <a:srgbClr val="000000"/>
                  </a:outerShdw>
                </a:effectLst>
                <a:latin typeface="楷体_GB2312" pitchFamily="49" charset="-122"/>
                <a:ea typeface="楷体_GB2312" pitchFamily="49" charset="-122"/>
              </a:rPr>
              <a:t>多项式的首项 *</a:t>
            </a:r>
            <a:r>
              <a:rPr lang="en-US" altLang="zh-CN" b="1" dirty="0">
                <a:effectLst>
                  <a:outerShdw blurRad="38100" dist="38100" dir="2700000" algn="tl">
                    <a:srgbClr val="000000"/>
                  </a:outerShdw>
                </a:effectLst>
                <a:latin typeface="楷体_GB2312" pitchFamily="49" charset="-122"/>
                <a:ea typeface="楷体_GB2312" pitchFamily="49" charset="-122"/>
              </a:rPr>
              <a:t>/</a:t>
            </a:r>
          </a:p>
          <a:p>
            <a:pPr marL="0" indent="0" eaLnBrk="1" hangingPunct="1">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q = q-&gt;link;</a:t>
            </a:r>
          </a:p>
          <a:p>
            <a:pPr marL="0" indent="0" eaLnBrk="1" hangingPunct="1">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while (q)  { /* </a:t>
            </a:r>
            <a:r>
              <a:rPr lang="zh-CN" altLang="en-US" b="1" dirty="0">
                <a:effectLst>
                  <a:outerShdw blurRad="38100" dist="38100" dir="2700000" algn="tl">
                    <a:srgbClr val="000000"/>
                  </a:outerShdw>
                </a:effectLst>
                <a:latin typeface="楷体_GB2312" pitchFamily="49" charset="-122"/>
                <a:ea typeface="楷体_GB2312" pitchFamily="49" charset="-122"/>
              </a:rPr>
              <a:t>输出和多项式的其余项 *</a:t>
            </a:r>
            <a:r>
              <a:rPr lang="en-US" altLang="zh-CN" b="1" dirty="0">
                <a:effectLst>
                  <a:outerShdw blurRad="38100" dist="38100" dir="2700000" algn="tl">
                    <a:srgbClr val="000000"/>
                  </a:outerShdw>
                </a:effectLst>
                <a:latin typeface="楷体_GB2312" pitchFamily="49" charset="-122"/>
                <a:ea typeface="楷体_GB2312" pitchFamily="49" charset="-122"/>
              </a:rPr>
              <a:t>/</a:t>
            </a:r>
          </a:p>
          <a:p>
            <a:pPr marL="0" indent="0">
              <a:buNone/>
              <a:defRPr/>
            </a:pPr>
            <a:r>
              <a:rPr lang="en-US" altLang="zh-CN" b="1" dirty="0">
                <a:effectLst>
                  <a:outerShdw blurRad="38100" dist="38100" dir="2700000" algn="tl">
                    <a:srgbClr val="000000"/>
                  </a:outerShdw>
                </a:effectLst>
                <a:latin typeface="楷体_GB2312" pitchFamily="49" charset="-122"/>
                <a:ea typeface="楷体_GB2312" pitchFamily="49" charset="-122"/>
              </a:rPr>
              <a:t>     </a:t>
            </a:r>
            <a:r>
              <a:rPr lang="en-US" altLang="zh-CN" b="1" dirty="0" err="1">
                <a:effectLst>
                  <a:outerShdw blurRad="38100" dist="38100" dir="2700000" algn="tl">
                    <a:srgbClr val="000000"/>
                  </a:outerShdw>
                </a:effectLst>
                <a:latin typeface="楷体_GB2312" pitchFamily="49" charset="-122"/>
                <a:ea typeface="楷体_GB2312" pitchFamily="49" charset="-122"/>
              </a:rPr>
              <a:t>printf</a:t>
            </a:r>
            <a:r>
              <a:rPr lang="en-US" altLang="zh-CN" b="1" dirty="0">
                <a:effectLst>
                  <a:outerShdw blurRad="38100" dist="38100" dir="2700000" algn="tl">
                    <a:srgbClr val="000000"/>
                  </a:outerShdw>
                </a:effectLst>
                <a:latin typeface="楷体_GB2312" pitchFamily="49" charset="-122"/>
                <a:ea typeface="楷体_GB2312" pitchFamily="49" charset="-122"/>
              </a:rPr>
              <a:t>("%+.2fx↑%d ", q-&gt;</a:t>
            </a:r>
            <a:r>
              <a:rPr lang="en-US" altLang="zh-CN" b="1" dirty="0" err="1">
                <a:effectLst>
                  <a:outerShdw blurRad="38100" dist="38100" dir="2700000" algn="tl">
                    <a:srgbClr val="000000"/>
                  </a:outerShdw>
                </a:effectLst>
                <a:latin typeface="楷体_GB2312" pitchFamily="49" charset="-122"/>
                <a:ea typeface="楷体_GB2312" pitchFamily="49" charset="-122"/>
              </a:rPr>
              <a:t>coef</a:t>
            </a:r>
            <a:r>
              <a:rPr lang="en-US" altLang="zh-CN" b="1" dirty="0">
                <a:effectLst>
                  <a:outerShdw blurRad="38100" dist="38100" dir="2700000" algn="tl">
                    <a:srgbClr val="000000"/>
                  </a:outerShdw>
                </a:effectLst>
                <a:latin typeface="楷体_GB2312" pitchFamily="49" charset="-122"/>
                <a:ea typeface="楷体_GB2312" pitchFamily="49" charset="-122"/>
              </a:rPr>
              <a:t>, q-&gt;power);</a:t>
            </a:r>
          </a:p>
          <a:p>
            <a:pPr marL="0" indent="0" eaLnBrk="1" hangingPunct="1">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q = q-&gt;link;</a:t>
            </a:r>
          </a:p>
          <a:p>
            <a:pPr marL="0" indent="0" eaLnBrk="1" hangingPunct="1">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a:t>
            </a:r>
          </a:p>
          <a:p>
            <a:pPr marL="0" indent="0" eaLnBrk="1" hangingPunct="1">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a:t>
            </a:r>
            <a:r>
              <a:rPr lang="en-US" altLang="zh-CN" b="1" dirty="0" err="1">
                <a:effectLst>
                  <a:outerShdw blurRad="38100" dist="38100" dir="2700000" algn="tl">
                    <a:srgbClr val="000000"/>
                  </a:outerShdw>
                </a:effectLst>
                <a:latin typeface="楷体_GB2312" pitchFamily="49" charset="-122"/>
                <a:ea typeface="楷体_GB2312" pitchFamily="49" charset="-122"/>
              </a:rPr>
              <a:t>printf</a:t>
            </a:r>
            <a:r>
              <a:rPr lang="en-US" altLang="zh-CN" b="1" dirty="0">
                <a:effectLst>
                  <a:outerShdw blurRad="38100" dist="38100" dir="2700000" algn="tl">
                    <a:srgbClr val="000000"/>
                  </a:outerShdw>
                </a:effectLst>
                <a:latin typeface="楷体_GB2312" pitchFamily="49" charset="-122"/>
                <a:ea typeface="楷体_GB2312" pitchFamily="49" charset="-122"/>
              </a:rPr>
              <a:t>(</a:t>
            </a:r>
            <a:r>
              <a:rPr lang="en-US" altLang="zh-CN" b="1" dirty="0">
                <a:effectLst>
                  <a:outerShdw blurRad="38100" dist="38100" dir="2700000" algn="tl">
                    <a:srgbClr val="000000"/>
                  </a:outerShdw>
                </a:effectLst>
                <a:ea typeface="楷体_GB2312" pitchFamily="49" charset="-122"/>
              </a:rPr>
              <a:t>“</a:t>
            </a:r>
            <a:r>
              <a:rPr lang="en-US" altLang="zh-CN" b="1" dirty="0">
                <a:effectLst>
                  <a:outerShdw blurRad="38100" dist="38100" dir="2700000" algn="tl">
                    <a:srgbClr val="000000"/>
                  </a:outerShdw>
                </a:effectLst>
                <a:latin typeface="楷体_GB2312" pitchFamily="49" charset="-122"/>
                <a:ea typeface="楷体_GB2312" pitchFamily="49" charset="-122"/>
              </a:rPr>
              <a:t>\n</a:t>
            </a:r>
            <a:r>
              <a:rPr lang="en-US" altLang="zh-CN" b="1" dirty="0">
                <a:effectLst>
                  <a:outerShdw blurRad="38100" dist="38100" dir="2700000" algn="tl">
                    <a:srgbClr val="000000"/>
                  </a:outerShdw>
                </a:effectLst>
                <a:ea typeface="楷体_GB2312" pitchFamily="49" charset="-122"/>
              </a:rPr>
              <a:t>”</a:t>
            </a:r>
            <a:r>
              <a:rPr lang="en-US" altLang="zh-CN" b="1" dirty="0">
                <a:effectLst>
                  <a:outerShdw blurRad="38100" dist="38100" dir="2700000" algn="tl">
                    <a:srgbClr val="000000"/>
                  </a:outerShdw>
                </a:effectLst>
                <a:latin typeface="楷体_GB2312" pitchFamily="49" charset="-122"/>
                <a:ea typeface="楷体_GB2312" pitchFamily="49" charset="-122"/>
              </a:rPr>
              <a:t>);</a:t>
            </a:r>
          </a:p>
          <a:p>
            <a:pPr marL="0" indent="0" eaLnBrk="1" hangingPunct="1">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a:t>
            </a:r>
          </a:p>
        </p:txBody>
      </p:sp>
      <p:sp>
        <p:nvSpPr>
          <p:cNvPr id="5" name="灯片编号占位符 5"/>
          <p:cNvSpPr>
            <a:spLocks noGrp="1"/>
          </p:cNvSpPr>
          <p:nvPr>
            <p:ph type="sldNum" sz="quarter" idx="12"/>
          </p:nvPr>
        </p:nvSpPr>
        <p:spPr/>
        <p:txBody>
          <a:bodyPr/>
          <a:lstStyle/>
          <a:p>
            <a:pPr>
              <a:defRPr/>
            </a:pPr>
            <a:fld id="{9ED09393-3364-4614-9054-9FD436648F1A}" type="slidenum">
              <a:rPr lang="en-US" altLang="zh-CN"/>
              <a:pPr>
                <a:defRPr/>
              </a:pPr>
              <a:t>122</a:t>
            </a:fld>
            <a:endParaRPr lang="en-US" altLang="zh-CN"/>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02" name="Rectangle 2"/>
          <p:cNvSpPr>
            <a:spLocks noGrp="1" noChangeArrowheads="1"/>
          </p:cNvSpPr>
          <p:nvPr>
            <p:ph idx="1"/>
          </p:nvPr>
        </p:nvSpPr>
        <p:spPr>
          <a:xfrm>
            <a:off x="395288" y="404813"/>
            <a:ext cx="8497887" cy="5903912"/>
          </a:xfrm>
        </p:spPr>
        <p:txBody>
          <a:bodyPr/>
          <a:lstStyle/>
          <a:p>
            <a:pPr marL="0" indent="0" eaLnBrk="1" hangingPunct="1">
              <a:lnSpc>
                <a:spcPct val="80000"/>
              </a:lnSpc>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a:t>
            </a:r>
            <a:r>
              <a:rPr lang="en-US" altLang="zh-CN" sz="2400" dirty="0">
                <a:latin typeface="楷体_GB2312" pitchFamily="49" charset="-122"/>
                <a:ea typeface="楷体_GB2312" pitchFamily="49" charset="-122"/>
              </a:rPr>
              <a:t>  </a:t>
            </a:r>
            <a:r>
              <a:rPr lang="en-US" altLang="zh-CN" sz="2400" b="1" dirty="0">
                <a:effectLst>
                  <a:outerShdw blurRad="38100" dist="38100" dir="2700000" algn="tl">
                    <a:srgbClr val="000000"/>
                  </a:outerShdw>
                </a:effectLst>
                <a:latin typeface="楷体_GB2312" pitchFamily="49" charset="-122"/>
                <a:ea typeface="楷体_GB2312" pitchFamily="49" charset="-122"/>
              </a:rPr>
              <a:t>void main()</a:t>
            </a:r>
          </a:p>
          <a:p>
            <a:pPr marL="0" indent="0" eaLnBrk="1" hangingPunct="1">
              <a:lnSpc>
                <a:spcPct val="80000"/>
              </a:lnSpc>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    Node *h1, *h2, *p, *q;</a:t>
            </a:r>
          </a:p>
          <a:p>
            <a:pPr marL="0" indent="0" eaLnBrk="1" hangingPunct="1">
              <a:lnSpc>
                <a:spcPct val="80000"/>
              </a:lnSpc>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h1 = </a:t>
            </a:r>
            <a:r>
              <a:rPr lang="en-US" altLang="zh-CN" sz="2400" b="1" dirty="0" err="1">
                <a:effectLst>
                  <a:outerShdw blurRad="38100" dist="38100" dir="2700000" algn="tl">
                    <a:srgbClr val="000000"/>
                  </a:outerShdw>
                </a:effectLst>
                <a:latin typeface="楷体_GB2312" pitchFamily="49" charset="-122"/>
                <a:ea typeface="楷体_GB2312" pitchFamily="49" charset="-122"/>
              </a:rPr>
              <a:t>createPoly</a:t>
            </a:r>
            <a:r>
              <a:rPr lang="en-US" altLang="zh-CN" sz="2400" b="1" dirty="0">
                <a:effectLst>
                  <a:outerShdw blurRad="38100" dist="38100" dir="2700000" algn="tl">
                    <a:srgbClr val="000000"/>
                  </a:outerShdw>
                </a:effectLst>
                <a:latin typeface="楷体_GB2312" pitchFamily="49" charset="-122"/>
                <a:ea typeface="楷体_GB2312" pitchFamily="49" charset="-122"/>
              </a:rPr>
              <a:t>(); </a:t>
            </a:r>
            <a:r>
              <a:rPr lang="en-US" altLang="zh-CN" sz="2400" b="1" dirty="0" err="1">
                <a:effectLst>
                  <a:outerShdw blurRad="38100" dist="38100" dir="2700000" algn="tl">
                    <a:srgbClr val="000000"/>
                  </a:outerShdw>
                </a:effectLst>
                <a:latin typeface="楷体_GB2312" pitchFamily="49" charset="-122"/>
                <a:ea typeface="楷体_GB2312" pitchFamily="49" charset="-122"/>
              </a:rPr>
              <a:t>writePoly</a:t>
            </a:r>
            <a:r>
              <a:rPr lang="en-US" altLang="zh-CN" sz="2400" b="1" dirty="0">
                <a:effectLst>
                  <a:outerShdw blurRad="38100" dist="38100" dir="2700000" algn="tl">
                    <a:srgbClr val="000000"/>
                  </a:outerShdw>
                </a:effectLst>
                <a:latin typeface="楷体_GB2312" pitchFamily="49" charset="-122"/>
                <a:ea typeface="楷体_GB2312" pitchFamily="49" charset="-122"/>
              </a:rPr>
              <a:t>(h1);</a:t>
            </a:r>
          </a:p>
          <a:p>
            <a:pPr marL="0" indent="0" eaLnBrk="1" hangingPunct="1">
              <a:lnSpc>
                <a:spcPct val="80000"/>
              </a:lnSpc>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h2 = </a:t>
            </a:r>
            <a:r>
              <a:rPr lang="en-US" altLang="zh-CN" sz="2400" b="1" dirty="0" err="1">
                <a:effectLst>
                  <a:outerShdw blurRad="38100" dist="38100" dir="2700000" algn="tl">
                    <a:srgbClr val="000000"/>
                  </a:outerShdw>
                </a:effectLst>
                <a:latin typeface="楷体_GB2312" pitchFamily="49" charset="-122"/>
                <a:ea typeface="楷体_GB2312" pitchFamily="49" charset="-122"/>
              </a:rPr>
              <a:t>createPoly</a:t>
            </a:r>
            <a:r>
              <a:rPr lang="en-US" altLang="zh-CN" sz="2400" b="1" dirty="0">
                <a:effectLst>
                  <a:outerShdw blurRad="38100" dist="38100" dir="2700000" algn="tl">
                    <a:srgbClr val="000000"/>
                  </a:outerShdw>
                </a:effectLst>
                <a:latin typeface="楷体_GB2312" pitchFamily="49" charset="-122"/>
                <a:ea typeface="楷体_GB2312" pitchFamily="49" charset="-122"/>
              </a:rPr>
              <a:t>(); </a:t>
            </a:r>
            <a:r>
              <a:rPr lang="en-US" altLang="zh-CN" sz="2400" b="1" dirty="0" err="1">
                <a:effectLst>
                  <a:outerShdw blurRad="38100" dist="38100" dir="2700000" algn="tl">
                    <a:srgbClr val="000000"/>
                  </a:outerShdw>
                </a:effectLst>
                <a:latin typeface="楷体_GB2312" pitchFamily="49" charset="-122"/>
                <a:ea typeface="楷体_GB2312" pitchFamily="49" charset="-122"/>
              </a:rPr>
              <a:t>writePoly</a:t>
            </a:r>
            <a:r>
              <a:rPr lang="en-US" altLang="zh-CN" sz="2400" b="1" dirty="0">
                <a:effectLst>
                  <a:outerShdw blurRad="38100" dist="38100" dir="2700000" algn="tl">
                    <a:srgbClr val="000000"/>
                  </a:outerShdw>
                </a:effectLst>
                <a:latin typeface="楷体_GB2312" pitchFamily="49" charset="-122"/>
                <a:ea typeface="楷体_GB2312" pitchFamily="49" charset="-122"/>
              </a:rPr>
              <a:t>(h2);</a:t>
            </a:r>
          </a:p>
          <a:p>
            <a:pPr marL="0" indent="0" eaLnBrk="1" hangingPunct="1">
              <a:lnSpc>
                <a:spcPct val="80000"/>
              </a:lnSpc>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a:t>
            </a:r>
            <a:r>
              <a:rPr lang="en-US" altLang="zh-CN" sz="2400" b="1" dirty="0" err="1">
                <a:effectLst>
                  <a:outerShdw blurRad="38100" dist="38100" dir="2700000" algn="tl">
                    <a:srgbClr val="000000"/>
                  </a:outerShdw>
                </a:effectLst>
                <a:latin typeface="楷体_GB2312" pitchFamily="49" charset="-122"/>
                <a:ea typeface="楷体_GB2312" pitchFamily="49" charset="-122"/>
              </a:rPr>
              <a:t>addPoly</a:t>
            </a:r>
            <a:r>
              <a:rPr lang="en-US" altLang="zh-CN" sz="2400" b="1" dirty="0">
                <a:effectLst>
                  <a:outerShdw blurRad="38100" dist="38100" dir="2700000" algn="tl">
                    <a:srgbClr val="000000"/>
                  </a:outerShdw>
                </a:effectLst>
                <a:latin typeface="楷体_GB2312" pitchFamily="49" charset="-122"/>
                <a:ea typeface="楷体_GB2312" pitchFamily="49" charset="-122"/>
              </a:rPr>
              <a:t>(h1, h2);   </a:t>
            </a:r>
            <a:r>
              <a:rPr lang="en-US" altLang="zh-CN" sz="2400" b="1" dirty="0" err="1">
                <a:effectLst>
                  <a:outerShdw blurRad="38100" dist="38100" dir="2700000" algn="tl">
                    <a:srgbClr val="000000"/>
                  </a:outerShdw>
                </a:effectLst>
                <a:latin typeface="楷体_GB2312" pitchFamily="49" charset="-122"/>
                <a:ea typeface="楷体_GB2312" pitchFamily="49" charset="-122"/>
              </a:rPr>
              <a:t>printf</a:t>
            </a:r>
            <a:r>
              <a:rPr lang="en-US" altLang="zh-CN" sz="2400" b="1" dirty="0">
                <a:effectLst>
                  <a:outerShdw blurRad="38100" dist="38100" dir="2700000" algn="tl">
                    <a:srgbClr val="000000"/>
                  </a:outerShdw>
                </a:effectLst>
                <a:latin typeface="楷体_GB2312" pitchFamily="49" charset="-122"/>
                <a:ea typeface="楷体_GB2312" pitchFamily="49" charset="-122"/>
              </a:rPr>
              <a:t>("</a:t>
            </a:r>
            <a:r>
              <a:rPr lang="zh-CN" altLang="en-US" sz="2400" b="1" dirty="0">
                <a:effectLst>
                  <a:outerShdw blurRad="38100" dist="38100" dir="2700000" algn="tl">
                    <a:srgbClr val="000000"/>
                  </a:outerShdw>
                </a:effectLst>
                <a:latin typeface="楷体_GB2312" pitchFamily="49" charset="-122"/>
                <a:ea typeface="楷体_GB2312" pitchFamily="49" charset="-122"/>
              </a:rPr>
              <a:t>和多项式：</a:t>
            </a:r>
            <a:r>
              <a:rPr lang="en-US" altLang="zh-CN" sz="2400" b="1" dirty="0">
                <a:effectLst>
                  <a:outerShdw blurRad="38100" dist="38100" dir="2700000" algn="tl">
                    <a:srgbClr val="000000"/>
                  </a:outerShdw>
                </a:effectLst>
                <a:latin typeface="楷体_GB2312" pitchFamily="49" charset="-122"/>
                <a:ea typeface="楷体_GB2312" pitchFamily="49" charset="-122"/>
              </a:rPr>
              <a:t>\n</a:t>
            </a:r>
            <a:r>
              <a:rPr lang="en-US" altLang="zh-CN" sz="2400" b="1" dirty="0">
                <a:effectLst>
                  <a:outerShdw blurRad="38100" dist="38100" dir="2700000" algn="tl">
                    <a:srgbClr val="000000"/>
                  </a:outerShdw>
                </a:effectLst>
                <a:ea typeface="楷体_GB2312" pitchFamily="49" charset="-122"/>
              </a:rPr>
              <a:t>”</a:t>
            </a:r>
            <a:r>
              <a:rPr lang="en-US" altLang="zh-CN" sz="2400" b="1" dirty="0">
                <a:effectLst>
                  <a:outerShdw blurRad="38100" dist="38100" dir="2700000" algn="tl">
                    <a:srgbClr val="000000"/>
                  </a:outerShdw>
                </a:effectLst>
                <a:latin typeface="楷体_GB2312" pitchFamily="49" charset="-122"/>
                <a:ea typeface="楷体_GB2312" pitchFamily="49" charset="-122"/>
              </a:rPr>
              <a:t>);</a:t>
            </a:r>
          </a:p>
          <a:p>
            <a:pPr marL="0" indent="0" eaLnBrk="1" hangingPunct="1">
              <a:lnSpc>
                <a:spcPct val="80000"/>
              </a:lnSpc>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a:t>
            </a:r>
            <a:r>
              <a:rPr lang="en-US" altLang="zh-CN" sz="2400" b="1" dirty="0" err="1">
                <a:effectLst>
                  <a:outerShdw blurRad="38100" dist="38100" dir="2700000" algn="tl">
                    <a:srgbClr val="000000"/>
                  </a:outerShdw>
                </a:effectLst>
                <a:latin typeface="楷体_GB2312" pitchFamily="49" charset="-122"/>
                <a:ea typeface="楷体_GB2312" pitchFamily="49" charset="-122"/>
              </a:rPr>
              <a:t>writePoly</a:t>
            </a:r>
            <a:r>
              <a:rPr lang="en-US" altLang="zh-CN" sz="2400" b="1" dirty="0">
                <a:effectLst>
                  <a:outerShdw blurRad="38100" dist="38100" dir="2700000" algn="tl">
                    <a:srgbClr val="000000"/>
                  </a:outerShdw>
                </a:effectLst>
                <a:latin typeface="楷体_GB2312" pitchFamily="49" charset="-122"/>
                <a:ea typeface="楷体_GB2312" pitchFamily="49" charset="-122"/>
              </a:rPr>
              <a:t>(h1);</a:t>
            </a:r>
          </a:p>
          <a:p>
            <a:pPr marL="0" indent="0" eaLnBrk="1" hangingPunct="1">
              <a:lnSpc>
                <a:spcPct val="80000"/>
              </a:lnSpc>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q = h1;   /* </a:t>
            </a:r>
            <a:r>
              <a:rPr lang="zh-CN" altLang="en-US" sz="2400" b="1" dirty="0">
                <a:effectLst>
                  <a:outerShdw blurRad="38100" dist="38100" dir="2700000" algn="tl">
                    <a:srgbClr val="000000"/>
                  </a:outerShdw>
                </a:effectLst>
                <a:latin typeface="楷体_GB2312" pitchFamily="49" charset="-122"/>
                <a:ea typeface="楷体_GB2312" pitchFamily="49" charset="-122"/>
              </a:rPr>
              <a:t>删除多项式</a:t>
            </a:r>
            <a:r>
              <a:rPr lang="en-US" altLang="zh-CN" sz="2400" b="1" dirty="0">
                <a:effectLst>
                  <a:outerShdw blurRad="38100" dist="38100" dir="2700000" algn="tl">
                    <a:srgbClr val="000000"/>
                  </a:outerShdw>
                </a:effectLst>
                <a:latin typeface="楷体_GB2312" pitchFamily="49" charset="-122"/>
                <a:ea typeface="楷体_GB2312" pitchFamily="49" charset="-122"/>
              </a:rPr>
              <a:t>h1 */</a:t>
            </a:r>
          </a:p>
          <a:p>
            <a:pPr marL="0" indent="0" eaLnBrk="1" hangingPunct="1">
              <a:lnSpc>
                <a:spcPct val="80000"/>
              </a:lnSpc>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while (q)   {</a:t>
            </a:r>
          </a:p>
          <a:p>
            <a:pPr marL="0" indent="0" eaLnBrk="1" hangingPunct="1">
              <a:lnSpc>
                <a:spcPct val="80000"/>
              </a:lnSpc>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p = q-&gt;link;   free(q);    q = p;</a:t>
            </a:r>
          </a:p>
          <a:p>
            <a:pPr marL="0" indent="0" eaLnBrk="1" hangingPunct="1">
              <a:lnSpc>
                <a:spcPct val="80000"/>
              </a:lnSpc>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a:t>
            </a:r>
          </a:p>
          <a:p>
            <a:pPr marL="0" indent="0" eaLnBrk="1" hangingPunct="1">
              <a:lnSpc>
                <a:spcPct val="80000"/>
              </a:lnSpc>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q = h2; /* </a:t>
            </a:r>
            <a:r>
              <a:rPr lang="zh-CN" altLang="en-US" sz="2400" b="1" dirty="0">
                <a:effectLst>
                  <a:outerShdw blurRad="38100" dist="38100" dir="2700000" algn="tl">
                    <a:srgbClr val="000000"/>
                  </a:outerShdw>
                </a:effectLst>
                <a:latin typeface="楷体_GB2312" pitchFamily="49" charset="-122"/>
                <a:ea typeface="楷体_GB2312" pitchFamily="49" charset="-122"/>
              </a:rPr>
              <a:t>删除多项式</a:t>
            </a:r>
            <a:r>
              <a:rPr lang="en-US" altLang="zh-CN" sz="2400" b="1" dirty="0">
                <a:effectLst>
                  <a:outerShdw blurRad="38100" dist="38100" dir="2700000" algn="tl">
                    <a:srgbClr val="000000"/>
                  </a:outerShdw>
                </a:effectLst>
                <a:latin typeface="楷体_GB2312" pitchFamily="49" charset="-122"/>
                <a:ea typeface="楷体_GB2312" pitchFamily="49" charset="-122"/>
              </a:rPr>
              <a:t>h2 */</a:t>
            </a:r>
          </a:p>
          <a:p>
            <a:pPr marL="0" indent="0" eaLnBrk="1" hangingPunct="1">
              <a:lnSpc>
                <a:spcPct val="80000"/>
              </a:lnSpc>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while (q) {</a:t>
            </a:r>
          </a:p>
          <a:p>
            <a:pPr marL="0" indent="0" eaLnBrk="1" hangingPunct="1">
              <a:lnSpc>
                <a:spcPct val="80000"/>
              </a:lnSpc>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p = q-&gt;link;  free(q);  q = p;</a:t>
            </a:r>
          </a:p>
          <a:p>
            <a:pPr marL="0" indent="0" eaLnBrk="1" hangingPunct="1">
              <a:lnSpc>
                <a:spcPct val="80000"/>
              </a:lnSpc>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a:t>
            </a:r>
          </a:p>
          <a:p>
            <a:pPr marL="0" indent="0" eaLnBrk="1" hangingPunct="1">
              <a:lnSpc>
                <a:spcPct val="80000"/>
              </a:lnSpc>
              <a:buFont typeface="Monotype Sorts" pitchFamily="2" charset="2"/>
              <a:buNone/>
              <a:defRPr/>
            </a:pPr>
            <a:r>
              <a:rPr lang="en-US" altLang="zh-CN" sz="2400" b="1" dirty="0">
                <a:effectLst>
                  <a:outerShdw blurRad="38100" dist="38100" dir="2700000" algn="tl">
                    <a:srgbClr val="000000"/>
                  </a:outerShdw>
                </a:effectLst>
                <a:latin typeface="楷体_GB2312" pitchFamily="49" charset="-122"/>
                <a:ea typeface="楷体_GB2312" pitchFamily="49" charset="-122"/>
              </a:rPr>
              <a:t>    }</a:t>
            </a:r>
          </a:p>
        </p:txBody>
      </p:sp>
      <p:sp>
        <p:nvSpPr>
          <p:cNvPr id="5" name="灯片编号占位符 5"/>
          <p:cNvSpPr>
            <a:spLocks noGrp="1"/>
          </p:cNvSpPr>
          <p:nvPr>
            <p:ph type="sldNum" sz="quarter" idx="12"/>
          </p:nvPr>
        </p:nvSpPr>
        <p:spPr/>
        <p:txBody>
          <a:bodyPr/>
          <a:lstStyle/>
          <a:p>
            <a:pPr>
              <a:defRPr/>
            </a:pPr>
            <a:fld id="{DB1E7909-463C-4B61-813B-D192CC079C0D}" type="slidenum">
              <a:rPr lang="en-US" altLang="zh-CN"/>
              <a:pPr>
                <a:defRPr/>
              </a:pPr>
              <a:t>123</a:t>
            </a:fld>
            <a:endParaRPr lang="en-US" altLang="zh-CN"/>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2"/>
          <p:cNvSpPr>
            <a:spLocks noGrp="1" noChangeArrowheads="1"/>
          </p:cNvSpPr>
          <p:nvPr>
            <p:ph type="title"/>
          </p:nvPr>
        </p:nvSpPr>
        <p:spPr>
          <a:xfrm>
            <a:off x="468313" y="260350"/>
            <a:ext cx="7920037" cy="609600"/>
          </a:xfrm>
        </p:spPr>
        <p:txBody>
          <a:bodyPr/>
          <a:lstStyle/>
          <a:p>
            <a:pPr eaLnBrk="1" hangingPunct="1">
              <a:lnSpc>
                <a:spcPct val="100000"/>
              </a:lnSpc>
            </a:pPr>
            <a:r>
              <a:rPr lang="en-US" altLang="zh-CN" sz="3600" dirty="0">
                <a:solidFill>
                  <a:schemeClr val="tx1"/>
                </a:solidFill>
                <a:latin typeface="黑体" pitchFamily="2" charset="-122"/>
                <a:ea typeface="黑体" pitchFamily="2" charset="-122"/>
              </a:rPr>
              <a:t>7.5 </a:t>
            </a:r>
            <a:r>
              <a:rPr lang="zh-CN" altLang="en-US" sz="3600" dirty="0">
                <a:solidFill>
                  <a:schemeClr val="tx1"/>
                </a:solidFill>
                <a:latin typeface="黑体" pitchFamily="2" charset="-122"/>
                <a:ea typeface="黑体" pitchFamily="2" charset="-122"/>
              </a:rPr>
              <a:t>联合</a:t>
            </a:r>
            <a:endParaRPr lang="zh-CN" altLang="en-US" sz="5400" dirty="0">
              <a:solidFill>
                <a:schemeClr val="tx1"/>
              </a:solidFill>
              <a:latin typeface="黑体" pitchFamily="2" charset="-122"/>
              <a:ea typeface="黑体" pitchFamily="2" charset="-122"/>
            </a:endParaRPr>
          </a:p>
        </p:txBody>
      </p:sp>
      <p:sp>
        <p:nvSpPr>
          <p:cNvPr id="709635" name="Rectangle 3"/>
          <p:cNvSpPr>
            <a:spLocks noGrp="1" noChangeArrowheads="1"/>
          </p:cNvSpPr>
          <p:nvPr>
            <p:ph idx="1"/>
          </p:nvPr>
        </p:nvSpPr>
        <p:spPr>
          <a:xfrm>
            <a:off x="395288" y="908050"/>
            <a:ext cx="8424862" cy="5400675"/>
          </a:xfrm>
        </p:spPr>
        <p:txBody>
          <a:bodyPr>
            <a:normAutofit/>
          </a:bodyPr>
          <a:lstStyle/>
          <a:p>
            <a:pPr marL="0" indent="0" algn="just" eaLnBrk="1" hangingPunct="1">
              <a:lnSpc>
                <a:spcPct val="120000"/>
              </a:lnSpc>
              <a:buFont typeface="Monotype Sorts" pitchFamily="2" charset="2"/>
              <a:buNone/>
              <a:defRPr/>
            </a:pPr>
            <a:r>
              <a:rPr lang="zh-CN" altLang="en-US" sz="2800" b="1" dirty="0">
                <a:effectLst>
                  <a:outerShdw blurRad="38100" dist="38100" dir="2700000" algn="tl">
                    <a:srgbClr val="000000"/>
                  </a:outerShdw>
                </a:effectLst>
                <a:latin typeface="楷体_GB2312" pitchFamily="49" charset="-122"/>
                <a:ea typeface="楷体_GB2312" pitchFamily="49" charset="-122"/>
              </a:rPr>
              <a:t>在某些特殊应用中，要求将不同的数据对象存放在同一个存储区域。例如，可把一个整型变量、一个字符变量、一个浮点型变量存放在同一个地址开始的内存单元中。在</a:t>
            </a:r>
            <a:r>
              <a:rPr lang="en-US" altLang="zh-CN" sz="2800" b="1" dirty="0">
                <a:effectLst>
                  <a:outerShdw blurRad="38100" dist="38100" dir="2700000" algn="tl">
                    <a:srgbClr val="000000"/>
                  </a:outerShdw>
                </a:effectLst>
                <a:latin typeface="楷体_GB2312" pitchFamily="49" charset="-122"/>
                <a:ea typeface="楷体_GB2312" pitchFamily="49" charset="-122"/>
              </a:rPr>
              <a:t>C</a:t>
            </a:r>
            <a:r>
              <a:rPr lang="zh-CN" altLang="en-US" sz="2800" b="1" dirty="0">
                <a:effectLst>
                  <a:outerShdw blurRad="38100" dist="38100" dir="2700000" algn="tl">
                    <a:srgbClr val="000000"/>
                  </a:outerShdw>
                </a:effectLst>
                <a:latin typeface="楷体_GB2312" pitchFamily="49" charset="-122"/>
                <a:ea typeface="楷体_GB2312" pitchFamily="49" charset="-122"/>
              </a:rPr>
              <a:t>语言中使用这种方法称为联合（或称共用体）。</a:t>
            </a:r>
          </a:p>
          <a:p>
            <a:pPr marL="0" indent="0" algn="just" eaLnBrk="1" hangingPunct="1">
              <a:lnSpc>
                <a:spcPct val="120000"/>
              </a:lnSpc>
              <a:buFont typeface="Monotype Sorts" pitchFamily="2" charset="2"/>
              <a:buNone/>
              <a:defRPr/>
            </a:pPr>
            <a:r>
              <a:rPr lang="zh-CN" altLang="en-US" sz="2800" b="1" dirty="0">
                <a:effectLst>
                  <a:outerShdw blurRad="38100" dist="38100" dir="2700000" algn="tl">
                    <a:srgbClr val="000000"/>
                  </a:outerShdw>
                </a:effectLst>
                <a:latin typeface="楷体_GB2312" pitchFamily="49" charset="-122"/>
                <a:ea typeface="楷体_GB2312" pitchFamily="49" charset="-122"/>
              </a:rPr>
              <a:t>联合是一种覆盖技术，即任一时刻只存储其中一种数据，而不是同时存放多种类型的数据。</a:t>
            </a:r>
          </a:p>
          <a:p>
            <a:pPr marL="0" indent="0" algn="just" eaLnBrk="1" hangingPunct="1">
              <a:lnSpc>
                <a:spcPct val="120000"/>
              </a:lnSpc>
              <a:buFont typeface="Monotype Sorts" pitchFamily="2" charset="2"/>
              <a:buNone/>
              <a:defRPr/>
            </a:pPr>
            <a:r>
              <a:rPr lang="zh-CN" altLang="en-US" sz="2800" b="1" dirty="0">
                <a:effectLst>
                  <a:outerShdw blurRad="38100" dist="38100" dir="2700000" algn="tl">
                    <a:srgbClr val="000000"/>
                  </a:outerShdw>
                </a:effectLst>
                <a:latin typeface="楷体_GB2312" pitchFamily="49" charset="-122"/>
                <a:ea typeface="楷体_GB2312" pitchFamily="49" charset="-122"/>
              </a:rPr>
              <a:t>分配给联合的存储区域大小，要求至少能存储其中最大的一种数据。</a:t>
            </a:r>
          </a:p>
        </p:txBody>
      </p:sp>
      <p:sp>
        <p:nvSpPr>
          <p:cNvPr id="6" name="灯片编号占位符 5"/>
          <p:cNvSpPr>
            <a:spLocks noGrp="1"/>
          </p:cNvSpPr>
          <p:nvPr>
            <p:ph type="sldNum" sz="quarter" idx="12"/>
          </p:nvPr>
        </p:nvSpPr>
        <p:spPr/>
        <p:txBody>
          <a:bodyPr/>
          <a:lstStyle/>
          <a:p>
            <a:pPr>
              <a:defRPr/>
            </a:pPr>
            <a:fld id="{BF40E80C-F2F1-433A-B9DB-45FE83453ADB}" type="slidenum">
              <a:rPr lang="en-US" altLang="zh-CN"/>
              <a:pPr>
                <a:defRPr/>
              </a:pPr>
              <a:t>124</a:t>
            </a:fld>
            <a:endParaRPr lang="en-US" altLang="zh-CN"/>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3" name="Rectangle 2"/>
          <p:cNvSpPr>
            <a:spLocks noGrp="1" noChangeArrowheads="1"/>
          </p:cNvSpPr>
          <p:nvPr>
            <p:ph type="title"/>
          </p:nvPr>
        </p:nvSpPr>
        <p:spPr>
          <a:xfrm>
            <a:off x="395288" y="260350"/>
            <a:ext cx="8064500" cy="609600"/>
          </a:xfrm>
        </p:spPr>
        <p:txBody>
          <a:bodyPr/>
          <a:lstStyle/>
          <a:p>
            <a:pPr eaLnBrk="1" hangingPunct="1">
              <a:lnSpc>
                <a:spcPct val="100000"/>
              </a:lnSpc>
            </a:pPr>
            <a:r>
              <a:rPr lang="zh-CN" altLang="en-US" sz="3600" dirty="0">
                <a:solidFill>
                  <a:schemeClr val="tx1"/>
                </a:solidFill>
                <a:latin typeface="Times New Roman" pitchFamily="18" charset="0"/>
              </a:rPr>
              <a:t>联合类型与联合变量的定义</a:t>
            </a:r>
          </a:p>
        </p:txBody>
      </p:sp>
      <p:sp>
        <p:nvSpPr>
          <p:cNvPr id="562179" name="Rectangle 3"/>
          <p:cNvSpPr>
            <a:spLocks noGrp="1" noChangeArrowheads="1"/>
          </p:cNvSpPr>
          <p:nvPr>
            <p:ph idx="1"/>
          </p:nvPr>
        </p:nvSpPr>
        <p:spPr>
          <a:xfrm>
            <a:off x="393700" y="908050"/>
            <a:ext cx="3890963" cy="3816350"/>
          </a:xfrm>
        </p:spPr>
        <p:txBody>
          <a:bodyPr/>
          <a:lstStyle/>
          <a:p>
            <a:pPr marL="0" indent="0" eaLnBrk="1" hangingPunct="1">
              <a:lnSpc>
                <a:spcPct val="90000"/>
              </a:lnSpc>
              <a:spcBef>
                <a:spcPct val="15000"/>
              </a:spcBef>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联合类型：</a:t>
            </a:r>
          </a:p>
          <a:p>
            <a:pPr marL="0" indent="0" eaLnBrk="1" hangingPunct="1">
              <a:lnSpc>
                <a:spcPct val="90000"/>
              </a:lnSpc>
              <a:spcBef>
                <a:spcPct val="15000"/>
              </a:spcBef>
              <a:buFont typeface="Monotype Sorts" pitchFamily="2" charset="2"/>
              <a:buNone/>
              <a:defRPr/>
            </a:pPr>
            <a:r>
              <a:rPr lang="zh-CN" altLang="en-US" sz="2400" b="1" dirty="0">
                <a:effectLst>
                  <a:outerShdw blurRad="38100" dist="38100" dir="2700000" algn="tl">
                    <a:srgbClr val="FFFFFF"/>
                  </a:outerShdw>
                </a:effectLst>
                <a:latin typeface="楷体_GB2312" pitchFamily="49" charset="-122"/>
                <a:ea typeface="楷体_GB2312" pitchFamily="49" charset="-122"/>
              </a:rPr>
              <a:t>　　　</a:t>
            </a:r>
            <a:r>
              <a:rPr lang="en-US" altLang="zh-CN" sz="2400" b="1" dirty="0">
                <a:effectLst>
                  <a:outerShdw blurRad="38100" dist="38100" dir="2700000" algn="tl">
                    <a:srgbClr val="FFFFFF"/>
                  </a:outerShdw>
                </a:effectLst>
                <a:latin typeface="楷体_GB2312" pitchFamily="49" charset="-122"/>
                <a:ea typeface="楷体_GB2312" pitchFamily="49" charset="-122"/>
              </a:rPr>
              <a:t>union </a:t>
            </a:r>
            <a:r>
              <a:rPr lang="zh-CN" altLang="en-US" sz="2400" b="1" dirty="0">
                <a:effectLst>
                  <a:outerShdw blurRad="38100" dist="38100" dir="2700000" algn="tl">
                    <a:srgbClr val="FFFFFF"/>
                  </a:outerShdw>
                </a:effectLst>
                <a:latin typeface="楷体_GB2312" pitchFamily="49" charset="-122"/>
                <a:ea typeface="楷体_GB2312" pitchFamily="49" charset="-122"/>
              </a:rPr>
              <a:t>联合类型名</a:t>
            </a:r>
            <a:r>
              <a:rPr lang="en-US" altLang="zh-CN" sz="2400" b="1" dirty="0">
                <a:effectLst>
                  <a:outerShdw blurRad="38100" dist="38100" dir="2700000" algn="tl">
                    <a:srgbClr val="FFFFFF"/>
                  </a:outerShdw>
                </a:effectLst>
                <a:latin typeface="楷体_GB2312" pitchFamily="49" charset="-122"/>
                <a:ea typeface="楷体_GB2312" pitchFamily="49" charset="-122"/>
              </a:rPr>
              <a:t>{ </a:t>
            </a:r>
          </a:p>
          <a:p>
            <a:pPr marL="0" indent="0" eaLnBrk="1" hangingPunct="1">
              <a:lnSpc>
                <a:spcPct val="90000"/>
              </a:lnSpc>
              <a:spcBef>
                <a:spcPct val="15000"/>
              </a:spcBef>
              <a:buFont typeface="Monotype Sorts" pitchFamily="2" charset="2"/>
              <a:buNone/>
              <a:defRPr/>
            </a:pPr>
            <a:r>
              <a:rPr lang="zh-CN" altLang="en-US" sz="2400" b="1" dirty="0">
                <a:effectLst>
                  <a:outerShdw blurRad="38100" dist="38100" dir="2700000" algn="tl">
                    <a:srgbClr val="FFFFFF"/>
                  </a:outerShdw>
                </a:effectLst>
                <a:latin typeface="楷体_GB2312" pitchFamily="49" charset="-122"/>
                <a:ea typeface="楷体_GB2312" pitchFamily="49" charset="-122"/>
              </a:rPr>
              <a:t>　　　　　　　成员说明表</a:t>
            </a:r>
          </a:p>
          <a:p>
            <a:pPr marL="0" indent="0" eaLnBrk="1" hangingPunct="1">
              <a:lnSpc>
                <a:spcPct val="90000"/>
              </a:lnSpc>
              <a:spcBef>
                <a:spcPct val="15000"/>
              </a:spcBef>
              <a:buFont typeface="Monotype Sorts" pitchFamily="2" charset="2"/>
              <a:buNone/>
              <a:defRPr/>
            </a:pPr>
            <a:r>
              <a:rPr lang="zh-CN" altLang="en-US" sz="2400" b="1" dirty="0">
                <a:effectLst>
                  <a:outerShdw blurRad="38100" dist="38100" dir="2700000" algn="tl">
                    <a:srgbClr val="FFFFFF"/>
                  </a:outerShdw>
                </a:effectLst>
                <a:latin typeface="楷体_GB2312" pitchFamily="49" charset="-122"/>
                <a:ea typeface="楷体_GB2312" pitchFamily="49" charset="-122"/>
              </a:rPr>
              <a:t>      </a:t>
            </a:r>
            <a:r>
              <a:rPr lang="en-US" altLang="zh-CN" sz="2400" b="1" dirty="0">
                <a:effectLst>
                  <a:outerShdw blurRad="38100" dist="38100" dir="2700000" algn="tl">
                    <a:srgbClr val="FFFFFF"/>
                  </a:outerShdw>
                </a:effectLst>
                <a:latin typeface="楷体_GB2312" pitchFamily="49" charset="-122"/>
                <a:ea typeface="楷体_GB2312" pitchFamily="49" charset="-122"/>
              </a:rPr>
              <a:t>}</a:t>
            </a:r>
            <a:r>
              <a:rPr lang="zh-CN" altLang="en-US" sz="2400" b="1" dirty="0">
                <a:effectLst>
                  <a:outerShdw blurRad="38100" dist="38100" dir="2700000" algn="tl">
                    <a:srgbClr val="FFFFFF"/>
                  </a:outerShdw>
                </a:effectLst>
                <a:latin typeface="楷体_GB2312" pitchFamily="49" charset="-122"/>
                <a:ea typeface="楷体_GB2312" pitchFamily="49" charset="-122"/>
              </a:rPr>
              <a:t>；</a:t>
            </a:r>
          </a:p>
          <a:p>
            <a:pPr marL="0" indent="0" eaLnBrk="1" hangingPunct="1">
              <a:lnSpc>
                <a:spcPct val="90000"/>
              </a:lnSpc>
              <a:spcBef>
                <a:spcPct val="15000"/>
              </a:spcBef>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例如：</a:t>
            </a:r>
            <a:r>
              <a:rPr lang="en-US" altLang="zh-CN" sz="2400" b="1" dirty="0">
                <a:effectLst>
                  <a:outerShdw blurRad="38100" dist="38100" dir="2700000" algn="tl">
                    <a:srgbClr val="FFFFFF"/>
                  </a:outerShdw>
                </a:effectLst>
                <a:latin typeface="楷体_GB2312" pitchFamily="49" charset="-122"/>
                <a:ea typeface="楷体_GB2312" pitchFamily="49" charset="-122"/>
              </a:rPr>
              <a:t>union  Data {</a:t>
            </a:r>
          </a:p>
          <a:p>
            <a:pPr marL="0" indent="0" eaLnBrk="1" hangingPunct="1">
              <a:lnSpc>
                <a:spcPct val="90000"/>
              </a:lnSpc>
              <a:spcBef>
                <a:spcPct val="15000"/>
              </a:spcBef>
              <a:buFont typeface="Monotype Sorts" pitchFamily="2" charset="2"/>
              <a:buNone/>
              <a:defRPr/>
            </a:pPr>
            <a:r>
              <a:rPr lang="zh-CN" altLang="en-US" sz="2400" b="1" dirty="0">
                <a:effectLst>
                  <a:outerShdw blurRad="38100" dist="38100" dir="2700000" algn="tl">
                    <a:srgbClr val="FFFFFF"/>
                  </a:outerShdw>
                </a:effectLst>
                <a:latin typeface="楷体_GB2312" pitchFamily="49" charset="-122"/>
                <a:ea typeface="楷体_GB2312" pitchFamily="49" charset="-122"/>
              </a:rPr>
              <a:t>　　　　　</a:t>
            </a:r>
            <a:r>
              <a:rPr lang="en-US" altLang="zh-CN" sz="2400" b="1" dirty="0" err="1">
                <a:effectLst>
                  <a:outerShdw blurRad="38100" dist="38100" dir="2700000" algn="tl">
                    <a:srgbClr val="FFFFFF"/>
                  </a:outerShdw>
                </a:effectLst>
                <a:latin typeface="楷体_GB2312" pitchFamily="49" charset="-122"/>
                <a:ea typeface="楷体_GB2312" pitchFamily="49" charset="-122"/>
              </a:rPr>
              <a:t>int</a:t>
            </a:r>
            <a:r>
              <a:rPr lang="en-US" altLang="zh-CN" sz="2400" b="1" dirty="0">
                <a:effectLst>
                  <a:outerShdw blurRad="38100" dist="38100" dir="2700000" algn="tl">
                    <a:srgbClr val="FFFFFF"/>
                  </a:outerShdw>
                </a:effectLst>
                <a:latin typeface="楷体_GB2312" pitchFamily="49" charset="-122"/>
                <a:ea typeface="楷体_GB2312" pitchFamily="49" charset="-122"/>
              </a:rPr>
              <a:t>    </a:t>
            </a:r>
            <a:r>
              <a:rPr lang="en-US" altLang="zh-CN" sz="2400" b="1" dirty="0" err="1">
                <a:effectLst>
                  <a:outerShdw blurRad="38100" dist="38100" dir="2700000" algn="tl">
                    <a:srgbClr val="FFFFFF"/>
                  </a:outerShdw>
                </a:effectLst>
                <a:latin typeface="楷体_GB2312" pitchFamily="49" charset="-122"/>
                <a:ea typeface="楷体_GB2312" pitchFamily="49" charset="-122"/>
              </a:rPr>
              <a:t>ival</a:t>
            </a:r>
            <a:r>
              <a:rPr lang="en-US" altLang="zh-CN" sz="2400" b="1" dirty="0">
                <a:effectLst>
                  <a:outerShdw blurRad="38100" dist="38100" dir="2700000" algn="tl">
                    <a:srgbClr val="FFFFFF"/>
                  </a:outerShdw>
                </a:effectLst>
                <a:latin typeface="楷体_GB2312" pitchFamily="49" charset="-122"/>
                <a:ea typeface="楷体_GB2312" pitchFamily="49" charset="-122"/>
              </a:rPr>
              <a:t>;</a:t>
            </a:r>
          </a:p>
          <a:p>
            <a:pPr marL="0" indent="0" eaLnBrk="1" hangingPunct="1">
              <a:lnSpc>
                <a:spcPct val="90000"/>
              </a:lnSpc>
              <a:spcBef>
                <a:spcPct val="15000"/>
              </a:spcBef>
              <a:buFont typeface="Monotype Sorts" pitchFamily="2" charset="2"/>
              <a:buNone/>
              <a:defRPr/>
            </a:pPr>
            <a:r>
              <a:rPr lang="en-US" altLang="zh-CN" sz="2400" b="1" dirty="0">
                <a:effectLst>
                  <a:outerShdw blurRad="38100" dist="38100" dir="2700000" algn="tl">
                    <a:srgbClr val="FFFFFF"/>
                  </a:outerShdw>
                </a:effectLst>
                <a:latin typeface="楷体_GB2312" pitchFamily="49" charset="-122"/>
                <a:ea typeface="楷体_GB2312" pitchFamily="49" charset="-122"/>
              </a:rPr>
              <a:t>          char   </a:t>
            </a:r>
            <a:r>
              <a:rPr lang="en-US" altLang="zh-CN" sz="2400" b="1" dirty="0" err="1">
                <a:effectLst>
                  <a:outerShdw blurRad="38100" dist="38100" dir="2700000" algn="tl">
                    <a:srgbClr val="FFFFFF"/>
                  </a:outerShdw>
                </a:effectLst>
                <a:latin typeface="楷体_GB2312" pitchFamily="49" charset="-122"/>
                <a:ea typeface="楷体_GB2312" pitchFamily="49" charset="-122"/>
              </a:rPr>
              <a:t>chval</a:t>
            </a:r>
            <a:r>
              <a:rPr lang="en-US" altLang="zh-CN" sz="2400" b="1" dirty="0">
                <a:effectLst>
                  <a:outerShdw blurRad="38100" dist="38100" dir="2700000" algn="tl">
                    <a:srgbClr val="FFFFFF"/>
                  </a:outerShdw>
                </a:effectLst>
                <a:latin typeface="楷体_GB2312" pitchFamily="49" charset="-122"/>
                <a:ea typeface="楷体_GB2312" pitchFamily="49" charset="-122"/>
              </a:rPr>
              <a:t>;</a:t>
            </a:r>
          </a:p>
          <a:p>
            <a:pPr marL="0" indent="0" eaLnBrk="1" hangingPunct="1">
              <a:lnSpc>
                <a:spcPct val="90000"/>
              </a:lnSpc>
              <a:spcBef>
                <a:spcPct val="15000"/>
              </a:spcBef>
              <a:buFont typeface="Monotype Sorts" pitchFamily="2" charset="2"/>
              <a:buNone/>
              <a:defRPr/>
            </a:pPr>
            <a:r>
              <a:rPr lang="en-US" altLang="zh-CN" sz="2400" b="1" dirty="0">
                <a:effectLst>
                  <a:outerShdw blurRad="38100" dist="38100" dir="2700000" algn="tl">
                    <a:srgbClr val="FFFFFF"/>
                  </a:outerShdw>
                </a:effectLst>
                <a:latin typeface="楷体_GB2312" pitchFamily="49" charset="-122"/>
                <a:ea typeface="楷体_GB2312" pitchFamily="49" charset="-122"/>
              </a:rPr>
              <a:t>          float  </a:t>
            </a:r>
            <a:r>
              <a:rPr lang="en-US" altLang="zh-CN" sz="2400" b="1" dirty="0" err="1">
                <a:effectLst>
                  <a:outerShdw blurRad="38100" dist="38100" dir="2700000" algn="tl">
                    <a:srgbClr val="FFFFFF"/>
                  </a:outerShdw>
                </a:effectLst>
                <a:latin typeface="楷体_GB2312" pitchFamily="49" charset="-122"/>
                <a:ea typeface="楷体_GB2312" pitchFamily="49" charset="-122"/>
              </a:rPr>
              <a:t>fval</a:t>
            </a:r>
            <a:r>
              <a:rPr lang="en-US" altLang="zh-CN" sz="2400" b="1" dirty="0">
                <a:effectLst>
                  <a:outerShdw blurRad="38100" dist="38100" dir="2700000" algn="tl">
                    <a:srgbClr val="FFFFFF"/>
                  </a:outerShdw>
                </a:effectLst>
                <a:latin typeface="楷体_GB2312" pitchFamily="49" charset="-122"/>
                <a:ea typeface="楷体_GB2312" pitchFamily="49" charset="-122"/>
              </a:rPr>
              <a:t>;</a:t>
            </a:r>
          </a:p>
          <a:p>
            <a:pPr marL="0" indent="0" eaLnBrk="1" hangingPunct="1">
              <a:lnSpc>
                <a:spcPct val="90000"/>
              </a:lnSpc>
              <a:spcBef>
                <a:spcPct val="15000"/>
              </a:spcBef>
              <a:buFont typeface="Monotype Sorts" pitchFamily="2" charset="2"/>
              <a:buNone/>
              <a:defRPr/>
            </a:pPr>
            <a:r>
              <a:rPr lang="en-US" altLang="zh-CN" sz="2400" b="1" dirty="0">
                <a:effectLst>
                  <a:outerShdw blurRad="38100" dist="38100" dir="2700000" algn="tl">
                    <a:srgbClr val="FFFFFF"/>
                  </a:outerShdw>
                </a:effectLst>
                <a:latin typeface="楷体_GB2312" pitchFamily="49" charset="-122"/>
                <a:ea typeface="楷体_GB2312" pitchFamily="49" charset="-122"/>
              </a:rPr>
              <a:t>      };</a:t>
            </a:r>
          </a:p>
        </p:txBody>
      </p:sp>
      <p:sp>
        <p:nvSpPr>
          <p:cNvPr id="8" name="灯片编号占位符 5"/>
          <p:cNvSpPr>
            <a:spLocks noGrp="1"/>
          </p:cNvSpPr>
          <p:nvPr>
            <p:ph type="sldNum" sz="quarter" idx="12"/>
          </p:nvPr>
        </p:nvSpPr>
        <p:spPr/>
        <p:txBody>
          <a:bodyPr/>
          <a:lstStyle/>
          <a:p>
            <a:pPr>
              <a:defRPr/>
            </a:pPr>
            <a:fld id="{D8994950-4EE6-4657-864A-F793026D06A5}" type="slidenum">
              <a:rPr lang="en-US" altLang="zh-CN"/>
              <a:pPr>
                <a:defRPr/>
              </a:pPr>
              <a:t>125</a:t>
            </a:fld>
            <a:endParaRPr lang="en-US" altLang="zh-CN"/>
          </a:p>
        </p:txBody>
      </p:sp>
      <p:sp>
        <p:nvSpPr>
          <p:cNvPr id="562180" name="Rectangle 4"/>
          <p:cNvSpPr>
            <a:spLocks noChangeArrowheads="1"/>
          </p:cNvSpPr>
          <p:nvPr/>
        </p:nvSpPr>
        <p:spPr bwMode="auto">
          <a:xfrm>
            <a:off x="4427538" y="908050"/>
            <a:ext cx="4248150" cy="3446463"/>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a:spAutoFit/>
          </a:bodyPr>
          <a:lstStyle/>
          <a:p>
            <a:pPr>
              <a:defRPr/>
            </a:pPr>
            <a:r>
              <a:rPr kumimoji="1" lang="zh-CN" altLang="en-US" sz="2800" b="1" dirty="0">
                <a:solidFill>
                  <a:schemeClr val="tx1"/>
                </a:solidFill>
                <a:effectLst>
                  <a:outerShdw blurRad="38100" dist="38100" dir="2700000" algn="tl">
                    <a:srgbClr val="FFFFFF"/>
                  </a:outerShdw>
                </a:effectLst>
                <a:latin typeface="Arial" charset="0"/>
                <a:ea typeface="楷体_GB2312" pitchFamily="49" charset="-122"/>
              </a:rPr>
              <a:t>联合变量：</a:t>
            </a:r>
          </a:p>
          <a:p>
            <a:pPr>
              <a:defRPr/>
            </a:pPr>
            <a:r>
              <a:rPr kumimoji="1" lang="zh-CN" altLang="en-US" sz="2800" b="1" dirty="0">
                <a:solidFill>
                  <a:schemeClr val="tx1"/>
                </a:solidFill>
                <a:effectLst>
                  <a:outerShdw blurRad="38100" dist="38100" dir="2700000" algn="tl">
                    <a:srgbClr val="FFFFFF"/>
                  </a:outerShdw>
                </a:effectLst>
                <a:latin typeface="Arial" charset="0"/>
                <a:ea typeface="楷体_GB2312" pitchFamily="49" charset="-122"/>
              </a:rPr>
              <a:t>联合类型　变量名表；</a:t>
            </a:r>
          </a:p>
          <a:p>
            <a:pPr>
              <a:defRPr/>
            </a:pPr>
            <a:r>
              <a:rPr kumimoji="1" lang="en-US" altLang="zh-CN" b="1" dirty="0">
                <a:solidFill>
                  <a:schemeClr val="tx1"/>
                </a:solidFill>
                <a:effectLst>
                  <a:outerShdw blurRad="38100" dist="38100" dir="2700000" algn="tl">
                    <a:srgbClr val="FFFFFF"/>
                  </a:outerShdw>
                </a:effectLst>
                <a:latin typeface="楷体_GB2312" pitchFamily="49" charset="-122"/>
                <a:ea typeface="楷体_GB2312" pitchFamily="49" charset="-122"/>
              </a:rPr>
              <a:t>union Data x, y, z;</a:t>
            </a:r>
          </a:p>
          <a:p>
            <a:pPr>
              <a:defRPr/>
            </a:pPr>
            <a:r>
              <a:rPr kumimoji="1" lang="en-US" altLang="zh-CN" b="1" dirty="0">
                <a:solidFill>
                  <a:schemeClr val="tx1"/>
                </a:solidFill>
                <a:effectLst>
                  <a:outerShdw blurRad="38100" dist="38100" dir="2700000" algn="tl">
                    <a:srgbClr val="FFFFFF"/>
                  </a:outerShdw>
                </a:effectLst>
                <a:latin typeface="楷体_GB2312" pitchFamily="49" charset="-122"/>
                <a:ea typeface="楷体_GB2312" pitchFamily="49" charset="-122"/>
              </a:rPr>
              <a:t>union  Data</a:t>
            </a:r>
            <a:r>
              <a:rPr kumimoji="1" lang="en-US" altLang="zh-CN" sz="2800" b="1" dirty="0">
                <a:solidFill>
                  <a:schemeClr val="tx1"/>
                </a:solidFill>
                <a:effectLst>
                  <a:outerShdw blurRad="38100" dist="38100" dir="2700000" algn="tl">
                    <a:srgbClr val="FFFFFF"/>
                  </a:outerShdw>
                </a:effectLst>
                <a:latin typeface="楷体_GB2312" pitchFamily="49" charset="-122"/>
                <a:ea typeface="楷体_GB2312" pitchFamily="49" charset="-122"/>
              </a:rPr>
              <a:t>{ </a:t>
            </a:r>
          </a:p>
          <a:p>
            <a:pPr>
              <a:defRPr/>
            </a:pPr>
            <a:r>
              <a:rPr kumimoji="1" lang="zh-CN" altLang="en-US" sz="2800" b="1" dirty="0">
                <a:solidFill>
                  <a:schemeClr val="tx1"/>
                </a:solidFill>
                <a:effectLst>
                  <a:outerShdw blurRad="38100" dist="38100" dir="2700000" algn="tl">
                    <a:srgbClr val="FFFFFF"/>
                  </a:outerShdw>
                </a:effectLst>
                <a:latin typeface="楷体_GB2312" pitchFamily="49" charset="-122"/>
                <a:ea typeface="楷体_GB2312" pitchFamily="49" charset="-122"/>
              </a:rPr>
              <a:t>　</a:t>
            </a:r>
            <a:r>
              <a:rPr kumimoji="1" lang="en-US" altLang="zh-CN" sz="2800" b="1" dirty="0" err="1">
                <a:solidFill>
                  <a:schemeClr val="tx1"/>
                </a:solidFill>
                <a:effectLst>
                  <a:outerShdw blurRad="38100" dist="38100" dir="2700000" algn="tl">
                    <a:srgbClr val="FFFFFF"/>
                  </a:outerShdw>
                </a:effectLst>
                <a:latin typeface="楷体_GB2312" pitchFamily="49" charset="-122"/>
                <a:ea typeface="楷体_GB2312" pitchFamily="49" charset="-122"/>
              </a:rPr>
              <a:t>int</a:t>
            </a:r>
            <a:r>
              <a:rPr kumimoji="1" lang="en-US" altLang="zh-CN" sz="2800" b="1" dirty="0">
                <a:solidFill>
                  <a:schemeClr val="tx1"/>
                </a:solidFill>
                <a:effectLst>
                  <a:outerShdw blurRad="38100" dist="38100" dir="2700000" algn="tl">
                    <a:srgbClr val="FFFFFF"/>
                  </a:outerShdw>
                </a:effectLst>
                <a:latin typeface="楷体_GB2312" pitchFamily="49" charset="-122"/>
                <a:ea typeface="楷体_GB2312" pitchFamily="49" charset="-122"/>
              </a:rPr>
              <a:t>    </a:t>
            </a:r>
            <a:r>
              <a:rPr kumimoji="1" lang="en-US" altLang="zh-CN" sz="2800" b="1" dirty="0" err="1">
                <a:solidFill>
                  <a:schemeClr val="tx1"/>
                </a:solidFill>
                <a:effectLst>
                  <a:outerShdw blurRad="38100" dist="38100" dir="2700000" algn="tl">
                    <a:srgbClr val="FFFFFF"/>
                  </a:outerShdw>
                </a:effectLst>
                <a:latin typeface="楷体_GB2312" pitchFamily="49" charset="-122"/>
                <a:ea typeface="楷体_GB2312" pitchFamily="49" charset="-122"/>
              </a:rPr>
              <a:t>ival</a:t>
            </a:r>
            <a:r>
              <a:rPr kumimoji="1" lang="en-US" altLang="zh-CN" sz="2800" b="1" dirty="0">
                <a:solidFill>
                  <a:schemeClr val="tx1"/>
                </a:solidFill>
                <a:effectLst>
                  <a:outerShdw blurRad="38100" dist="38100" dir="2700000" algn="tl">
                    <a:srgbClr val="FFFFFF"/>
                  </a:outerShdw>
                </a:effectLst>
                <a:latin typeface="楷体_GB2312" pitchFamily="49" charset="-122"/>
                <a:ea typeface="楷体_GB2312" pitchFamily="49" charset="-122"/>
              </a:rPr>
              <a:t>;</a:t>
            </a:r>
          </a:p>
          <a:p>
            <a:pPr>
              <a:defRPr/>
            </a:pPr>
            <a:r>
              <a:rPr kumimoji="1" lang="en-US" altLang="zh-CN" sz="2800" b="1" dirty="0">
                <a:solidFill>
                  <a:schemeClr val="tx1"/>
                </a:solidFill>
                <a:effectLst>
                  <a:outerShdw blurRad="38100" dist="38100" dir="2700000" algn="tl">
                    <a:srgbClr val="FFFFFF"/>
                  </a:outerShdw>
                </a:effectLst>
                <a:latin typeface="楷体_GB2312" pitchFamily="49" charset="-122"/>
                <a:ea typeface="楷体_GB2312" pitchFamily="49" charset="-122"/>
              </a:rPr>
              <a:t>  char   </a:t>
            </a:r>
            <a:r>
              <a:rPr kumimoji="1" lang="en-US" altLang="zh-CN" sz="2800" b="1" dirty="0" err="1">
                <a:solidFill>
                  <a:schemeClr val="tx1"/>
                </a:solidFill>
                <a:effectLst>
                  <a:outerShdw blurRad="38100" dist="38100" dir="2700000" algn="tl">
                    <a:srgbClr val="FFFFFF"/>
                  </a:outerShdw>
                </a:effectLst>
                <a:latin typeface="楷体_GB2312" pitchFamily="49" charset="-122"/>
                <a:ea typeface="楷体_GB2312" pitchFamily="49" charset="-122"/>
              </a:rPr>
              <a:t>chval</a:t>
            </a:r>
            <a:r>
              <a:rPr kumimoji="1" lang="en-US" altLang="zh-CN" sz="2800" b="1" dirty="0">
                <a:solidFill>
                  <a:schemeClr val="tx1"/>
                </a:solidFill>
                <a:effectLst>
                  <a:outerShdw blurRad="38100" dist="38100" dir="2700000" algn="tl">
                    <a:srgbClr val="FFFFFF"/>
                  </a:outerShdw>
                </a:effectLst>
                <a:latin typeface="楷体_GB2312" pitchFamily="49" charset="-122"/>
                <a:ea typeface="楷体_GB2312" pitchFamily="49" charset="-122"/>
              </a:rPr>
              <a:t>;</a:t>
            </a:r>
          </a:p>
          <a:p>
            <a:pPr>
              <a:defRPr/>
            </a:pPr>
            <a:r>
              <a:rPr kumimoji="1" lang="en-US" altLang="zh-CN" sz="2800" b="1" dirty="0">
                <a:solidFill>
                  <a:schemeClr val="tx1"/>
                </a:solidFill>
                <a:effectLst>
                  <a:outerShdw blurRad="38100" dist="38100" dir="2700000" algn="tl">
                    <a:srgbClr val="FFFFFF"/>
                  </a:outerShdw>
                </a:effectLst>
                <a:latin typeface="楷体_GB2312" pitchFamily="49" charset="-122"/>
                <a:ea typeface="楷体_GB2312" pitchFamily="49" charset="-122"/>
              </a:rPr>
              <a:t>  float  </a:t>
            </a:r>
            <a:r>
              <a:rPr kumimoji="1" lang="en-US" altLang="zh-CN" sz="2800" b="1" dirty="0" err="1">
                <a:solidFill>
                  <a:schemeClr val="tx1"/>
                </a:solidFill>
                <a:effectLst>
                  <a:outerShdw blurRad="38100" dist="38100" dir="2700000" algn="tl">
                    <a:srgbClr val="FFFFFF"/>
                  </a:outerShdw>
                </a:effectLst>
                <a:latin typeface="楷体_GB2312" pitchFamily="49" charset="-122"/>
                <a:ea typeface="楷体_GB2312" pitchFamily="49" charset="-122"/>
              </a:rPr>
              <a:t>fval</a:t>
            </a:r>
            <a:r>
              <a:rPr kumimoji="1" lang="en-US" altLang="zh-CN" sz="2800" b="1" dirty="0">
                <a:solidFill>
                  <a:schemeClr val="tx1"/>
                </a:solidFill>
                <a:effectLst>
                  <a:outerShdw blurRad="38100" dist="38100" dir="2700000" algn="tl">
                    <a:srgbClr val="FFFFFF"/>
                  </a:outerShdw>
                </a:effectLst>
                <a:latin typeface="楷体_GB2312" pitchFamily="49" charset="-122"/>
                <a:ea typeface="楷体_GB2312" pitchFamily="49" charset="-122"/>
              </a:rPr>
              <a:t>;</a:t>
            </a:r>
          </a:p>
          <a:p>
            <a:pPr>
              <a:defRPr/>
            </a:pPr>
            <a:r>
              <a:rPr kumimoji="1" lang="en-US" altLang="zh-CN" sz="2800" b="1" dirty="0">
                <a:solidFill>
                  <a:schemeClr val="tx1"/>
                </a:solidFill>
                <a:effectLst>
                  <a:outerShdw blurRad="38100" dist="38100" dir="2700000" algn="tl">
                    <a:srgbClr val="FFFFFF"/>
                  </a:outerShdw>
                </a:effectLst>
                <a:latin typeface="楷体_GB2312" pitchFamily="49" charset="-122"/>
                <a:ea typeface="楷体_GB2312" pitchFamily="49" charset="-122"/>
              </a:rPr>
              <a:t>}x, y, z;</a:t>
            </a:r>
          </a:p>
        </p:txBody>
      </p:sp>
      <p:sp>
        <p:nvSpPr>
          <p:cNvPr id="562182" name="Rectangle 6"/>
          <p:cNvSpPr>
            <a:spLocks noChangeArrowheads="1"/>
          </p:cNvSpPr>
          <p:nvPr/>
        </p:nvSpPr>
        <p:spPr bwMode="auto">
          <a:xfrm>
            <a:off x="395288" y="4724400"/>
            <a:ext cx="8064500" cy="1885950"/>
          </a:xfrm>
          <a:prstGeom prst="rect">
            <a:avLst/>
          </a:prstGeom>
          <a:noFill/>
          <a:ln w="9525">
            <a:noFill/>
            <a:miter lim="800000"/>
            <a:headEnd/>
            <a:tailEnd/>
          </a:ln>
          <a:effectLst/>
        </p:spPr>
        <p:txBody>
          <a:bodyPr>
            <a:spAutoFit/>
          </a:bodyPr>
          <a:lstStyle/>
          <a:p>
            <a:pPr marL="1074738" indent="-1074738">
              <a:spcBef>
                <a:spcPct val="20000"/>
              </a:spcBef>
              <a:buClr>
                <a:schemeClr val="hlink"/>
              </a:buClr>
              <a:buSzPct val="50000"/>
              <a:buFont typeface="Monotype Sorts" pitchFamily="2" charset="2"/>
              <a:buNone/>
              <a:defRPr/>
            </a:pPr>
            <a:r>
              <a:rPr kumimoji="1" lang="zh-CN" altLang="en-US" sz="2800" b="1" dirty="0">
                <a:effectLst>
                  <a:outerShdw blurRad="38100" dist="38100" dir="2700000" algn="tl">
                    <a:srgbClr val="000000"/>
                  </a:outerShdw>
                </a:effectLst>
                <a:latin typeface="楷体_GB2312" pitchFamily="49" charset="-122"/>
                <a:ea typeface="楷体_GB2312" pitchFamily="49" charset="-122"/>
              </a:rPr>
              <a:t>说明：定义联合类型 </a:t>
            </a:r>
            <a:r>
              <a:rPr kumimoji="1" lang="en-US" altLang="zh-CN" sz="2800" b="1" dirty="0">
                <a:effectLst>
                  <a:outerShdw blurRad="38100" dist="38100" dir="2700000" algn="tl">
                    <a:srgbClr val="FFFFFF"/>
                  </a:outerShdw>
                </a:effectLst>
                <a:latin typeface="楷体_GB2312" pitchFamily="49" charset="-122"/>
                <a:ea typeface="楷体_GB2312" pitchFamily="49" charset="-122"/>
              </a:rPr>
              <a:t>union Data</a:t>
            </a:r>
            <a:r>
              <a:rPr kumimoji="1" lang="zh-CN" altLang="en-US" sz="2800" b="1" dirty="0">
                <a:effectLst>
                  <a:outerShdw blurRad="38100" dist="38100" dir="2700000" algn="tl">
                    <a:srgbClr val="000000"/>
                  </a:outerShdw>
                </a:effectLst>
                <a:latin typeface="楷体_GB2312" pitchFamily="49" charset="-122"/>
                <a:ea typeface="楷体_GB2312" pitchFamily="49" charset="-122"/>
              </a:rPr>
              <a:t>，能存储整型，或字符型，或浮点型的数据。</a:t>
            </a:r>
          </a:p>
          <a:p>
            <a:pPr marL="1074738" indent="-1074738">
              <a:spcBef>
                <a:spcPct val="20000"/>
              </a:spcBef>
              <a:buClr>
                <a:schemeClr val="hlink"/>
              </a:buClr>
              <a:buSzPct val="50000"/>
              <a:buFont typeface="Monotype Sorts" pitchFamily="2" charset="2"/>
              <a:buNone/>
              <a:defRPr/>
            </a:pPr>
            <a:r>
              <a:rPr kumimoji="1" lang="zh-CN" altLang="en-US" sz="2800" b="1" dirty="0">
                <a:effectLst>
                  <a:outerShdw blurRad="38100" dist="38100" dir="2700000" algn="tl">
                    <a:srgbClr val="000000"/>
                  </a:outerShdw>
                </a:effectLst>
                <a:latin typeface="楷体_GB2312" pitchFamily="49" charset="-122"/>
                <a:ea typeface="楷体_GB2312" pitchFamily="49" charset="-122"/>
              </a:rPr>
              <a:t>注意：联合与结构的定义形式非常相似。但它们的含义是不相同的。</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7" name="Rectangle 2"/>
          <p:cNvSpPr>
            <a:spLocks noGrp="1" noChangeArrowheads="1"/>
          </p:cNvSpPr>
          <p:nvPr>
            <p:ph type="title"/>
          </p:nvPr>
        </p:nvSpPr>
        <p:spPr>
          <a:xfrm>
            <a:off x="395288" y="260350"/>
            <a:ext cx="8280400" cy="609600"/>
          </a:xfrm>
        </p:spPr>
        <p:txBody>
          <a:bodyPr/>
          <a:lstStyle/>
          <a:p>
            <a:pPr eaLnBrk="1" hangingPunct="1">
              <a:lnSpc>
                <a:spcPct val="95000"/>
              </a:lnSpc>
            </a:pPr>
            <a:r>
              <a:rPr lang="zh-CN" altLang="en-US" sz="3600" dirty="0">
                <a:solidFill>
                  <a:schemeClr val="tx1"/>
                </a:solidFill>
                <a:latin typeface="黑体" pitchFamily="2" charset="-122"/>
                <a:ea typeface="黑体" pitchFamily="2" charset="-122"/>
              </a:rPr>
              <a:t>联合变量的引用</a:t>
            </a:r>
            <a:endParaRPr lang="zh-CN" altLang="en-US" sz="5400" dirty="0">
              <a:solidFill>
                <a:schemeClr val="tx1"/>
              </a:solidFill>
              <a:latin typeface="黑体" pitchFamily="2" charset="-122"/>
              <a:ea typeface="黑体" pitchFamily="2" charset="-122"/>
            </a:endParaRPr>
          </a:p>
        </p:txBody>
      </p:sp>
      <p:sp>
        <p:nvSpPr>
          <p:cNvPr id="564227" name="Rectangle 3"/>
          <p:cNvSpPr>
            <a:spLocks noGrp="1" noChangeArrowheads="1"/>
          </p:cNvSpPr>
          <p:nvPr>
            <p:ph idx="1"/>
          </p:nvPr>
        </p:nvSpPr>
        <p:spPr>
          <a:xfrm>
            <a:off x="250825" y="765175"/>
            <a:ext cx="8642350" cy="5903913"/>
          </a:xfrm>
        </p:spPr>
        <p:txBody>
          <a:bodyPr/>
          <a:lstStyle/>
          <a:p>
            <a:pPr marL="0" indent="0" eaLnBrk="1" hangingPunct="1">
              <a:lnSpc>
                <a:spcPct val="110000"/>
              </a:lnSpc>
              <a:buFont typeface="Monotype Sorts" pitchFamily="2" charset="2"/>
              <a:buNone/>
              <a:defRPr/>
            </a:pPr>
            <a:r>
              <a:rPr lang="zh-CN" altLang="en-US" b="1" dirty="0">
                <a:latin typeface="楷体_GB2312" pitchFamily="49" charset="-122"/>
                <a:ea typeface="楷体_GB2312" pitchFamily="49" charset="-122"/>
              </a:rPr>
              <a:t>如上例：</a:t>
            </a:r>
            <a:r>
              <a:rPr lang="en-US" altLang="zh-CN" b="1" dirty="0" err="1">
                <a:latin typeface="楷体_GB2312" pitchFamily="49" charset="-122"/>
                <a:ea typeface="楷体_GB2312" pitchFamily="49" charset="-122"/>
              </a:rPr>
              <a:t>x.ival</a:t>
            </a:r>
            <a:r>
              <a:rPr lang="zh-CN" altLang="en-US" b="1" dirty="0">
                <a:latin typeface="楷体_GB2312" pitchFamily="49" charset="-122"/>
                <a:ea typeface="楷体_GB2312" pitchFamily="49" charset="-122"/>
              </a:rPr>
              <a:t>（引用联合变量</a:t>
            </a:r>
            <a:r>
              <a:rPr lang="en-US" altLang="zh-CN" b="1" dirty="0">
                <a:latin typeface="楷体_GB2312" pitchFamily="49" charset="-122"/>
                <a:ea typeface="楷体_GB2312" pitchFamily="49" charset="-122"/>
              </a:rPr>
              <a:t>a</a:t>
            </a:r>
            <a:r>
              <a:rPr lang="zh-CN" altLang="en-US" b="1" dirty="0">
                <a:latin typeface="楷体_GB2312" pitchFamily="49" charset="-122"/>
                <a:ea typeface="楷体_GB2312" pitchFamily="49" charset="-122"/>
              </a:rPr>
              <a:t>中整型变量</a:t>
            </a:r>
            <a:r>
              <a:rPr lang="en-US" altLang="zh-CN" b="1" dirty="0" err="1">
                <a:latin typeface="楷体_GB2312" pitchFamily="49" charset="-122"/>
                <a:ea typeface="楷体_GB2312" pitchFamily="49" charset="-122"/>
              </a:rPr>
              <a:t>ival</a:t>
            </a:r>
            <a:r>
              <a:rPr lang="zh-CN" altLang="en-US" b="1" dirty="0">
                <a:latin typeface="楷体_GB2312" pitchFamily="49" charset="-122"/>
                <a:ea typeface="楷体_GB2312" pitchFamily="49" charset="-122"/>
              </a:rPr>
              <a:t>）</a:t>
            </a:r>
          </a:p>
          <a:p>
            <a:pPr marL="0" indent="0" eaLnBrk="1" hangingPunct="1">
              <a:lnSpc>
                <a:spcPct val="110000"/>
              </a:lnSpc>
              <a:buFont typeface="Monotype Sorts" pitchFamily="2" charset="2"/>
              <a:buNone/>
              <a:defRPr/>
            </a:pPr>
            <a:r>
              <a:rPr lang="zh-CN" altLang="en-US" b="1" dirty="0">
                <a:latin typeface="楷体_GB2312" pitchFamily="49" charset="-122"/>
                <a:ea typeface="楷体_GB2312" pitchFamily="49" charset="-122"/>
              </a:rPr>
              <a:t>        </a:t>
            </a:r>
            <a:r>
              <a:rPr lang="en-US" altLang="zh-CN" b="1" dirty="0" err="1">
                <a:latin typeface="楷体_GB2312" pitchFamily="49" charset="-122"/>
                <a:ea typeface="楷体_GB2312" pitchFamily="49" charset="-122"/>
              </a:rPr>
              <a:t>x.chval</a:t>
            </a:r>
            <a:r>
              <a:rPr lang="zh-CN" altLang="en-US" b="1" dirty="0">
                <a:latin typeface="楷体_GB2312" pitchFamily="49" charset="-122"/>
                <a:ea typeface="楷体_GB2312" pitchFamily="49" charset="-122"/>
              </a:rPr>
              <a:t>（引用联合变量</a:t>
            </a:r>
            <a:r>
              <a:rPr lang="en-US" altLang="zh-CN" b="1" dirty="0">
                <a:latin typeface="楷体_GB2312" pitchFamily="49" charset="-122"/>
                <a:ea typeface="楷体_GB2312" pitchFamily="49" charset="-122"/>
              </a:rPr>
              <a:t>a</a:t>
            </a:r>
            <a:r>
              <a:rPr lang="zh-CN" altLang="en-US" b="1" dirty="0">
                <a:latin typeface="楷体_GB2312" pitchFamily="49" charset="-122"/>
                <a:ea typeface="楷体_GB2312" pitchFamily="49" charset="-122"/>
              </a:rPr>
              <a:t>中字符变量</a:t>
            </a:r>
            <a:r>
              <a:rPr lang="en-US" altLang="zh-CN" b="1" dirty="0" err="1">
                <a:latin typeface="楷体_GB2312" pitchFamily="49" charset="-122"/>
                <a:ea typeface="楷体_GB2312" pitchFamily="49" charset="-122"/>
              </a:rPr>
              <a:t>chval</a:t>
            </a:r>
            <a:r>
              <a:rPr lang="zh-CN" altLang="en-US" b="1" dirty="0">
                <a:latin typeface="楷体_GB2312" pitchFamily="49" charset="-122"/>
                <a:ea typeface="楷体_GB2312" pitchFamily="49" charset="-122"/>
              </a:rPr>
              <a:t>）</a:t>
            </a:r>
          </a:p>
          <a:p>
            <a:pPr marL="0" indent="0" eaLnBrk="1" hangingPunct="1">
              <a:lnSpc>
                <a:spcPct val="110000"/>
              </a:lnSpc>
              <a:buFont typeface="Monotype Sorts" pitchFamily="2" charset="2"/>
              <a:buNone/>
              <a:defRPr/>
            </a:pPr>
            <a:r>
              <a:rPr lang="zh-CN" altLang="en-US" b="1" dirty="0">
                <a:latin typeface="楷体_GB2312" pitchFamily="49" charset="-122"/>
                <a:ea typeface="楷体_GB2312" pitchFamily="49" charset="-122"/>
              </a:rPr>
              <a:t>        </a:t>
            </a:r>
            <a:r>
              <a:rPr lang="en-US" altLang="zh-CN" b="1" dirty="0" err="1">
                <a:latin typeface="楷体_GB2312" pitchFamily="49" charset="-122"/>
                <a:ea typeface="楷体_GB2312" pitchFamily="49" charset="-122"/>
              </a:rPr>
              <a:t>x.fval</a:t>
            </a:r>
            <a:r>
              <a:rPr lang="en-US" altLang="zh-CN" b="1" dirty="0">
                <a:latin typeface="楷体_GB2312" pitchFamily="49" charset="-122"/>
                <a:ea typeface="楷体_GB2312" pitchFamily="49" charset="-122"/>
              </a:rPr>
              <a:t> </a:t>
            </a:r>
            <a:r>
              <a:rPr lang="zh-CN" altLang="en-US" b="1" dirty="0">
                <a:latin typeface="楷体_GB2312" pitchFamily="49" charset="-122"/>
                <a:ea typeface="楷体_GB2312" pitchFamily="49" charset="-122"/>
              </a:rPr>
              <a:t>（引用联合变量</a:t>
            </a:r>
            <a:r>
              <a:rPr lang="en-US" altLang="zh-CN" b="1" dirty="0">
                <a:latin typeface="楷体_GB2312" pitchFamily="49" charset="-122"/>
                <a:ea typeface="楷体_GB2312" pitchFamily="49" charset="-122"/>
              </a:rPr>
              <a:t>a</a:t>
            </a:r>
            <a:r>
              <a:rPr lang="zh-CN" altLang="en-US" b="1" dirty="0">
                <a:latin typeface="楷体_GB2312" pitchFamily="49" charset="-122"/>
                <a:ea typeface="楷体_GB2312" pitchFamily="49" charset="-122"/>
              </a:rPr>
              <a:t>中浮点变量</a:t>
            </a:r>
            <a:r>
              <a:rPr lang="en-US" altLang="zh-CN" b="1" dirty="0" err="1">
                <a:latin typeface="楷体_GB2312" pitchFamily="49" charset="-122"/>
                <a:ea typeface="楷体_GB2312" pitchFamily="49" charset="-122"/>
              </a:rPr>
              <a:t>fval</a:t>
            </a:r>
            <a:r>
              <a:rPr lang="zh-CN" altLang="en-US" b="1" dirty="0">
                <a:latin typeface="楷体_GB2312" pitchFamily="49" charset="-122"/>
                <a:ea typeface="楷体_GB2312" pitchFamily="49" charset="-122"/>
              </a:rPr>
              <a:t>）</a:t>
            </a:r>
          </a:p>
          <a:p>
            <a:pPr marL="0" indent="0" eaLnBrk="1" hangingPunct="1">
              <a:lnSpc>
                <a:spcPct val="110000"/>
              </a:lnSpc>
              <a:buFont typeface="Monotype Sorts" pitchFamily="2" charset="2"/>
              <a:buNone/>
              <a:defRPr/>
            </a:pPr>
            <a:r>
              <a:rPr lang="zh-CN" altLang="en-US" b="1" dirty="0">
                <a:latin typeface="楷体_GB2312" pitchFamily="49" charset="-122"/>
                <a:ea typeface="楷体_GB2312" pitchFamily="49" charset="-122"/>
              </a:rPr>
              <a:t>联合的特点：</a:t>
            </a:r>
          </a:p>
          <a:p>
            <a:pPr marL="0" indent="0" eaLnBrk="1" hangingPunct="1">
              <a:lnSpc>
                <a:spcPct val="110000"/>
              </a:lnSpc>
              <a:buFont typeface="Monotype Sorts" pitchFamily="2" charset="2"/>
              <a:buNone/>
              <a:defRPr/>
            </a:pPr>
            <a:r>
              <a:rPr lang="en-US" altLang="zh-CN" b="1" dirty="0">
                <a:latin typeface="楷体_GB2312" pitchFamily="49" charset="-122"/>
                <a:ea typeface="楷体_GB2312" pitchFamily="49" charset="-122"/>
              </a:rPr>
              <a:t>1. </a:t>
            </a:r>
            <a:r>
              <a:rPr lang="zh-CN" altLang="en-US" b="1" dirty="0">
                <a:latin typeface="楷体_GB2312" pitchFamily="49" charset="-122"/>
                <a:ea typeface="楷体_GB2312" pitchFamily="49" charset="-122"/>
              </a:rPr>
              <a:t>一个联合可存放多种不同类型的数据，但在</a:t>
            </a:r>
            <a:r>
              <a:rPr lang="zh-CN" altLang="en-US" b="1" dirty="0">
                <a:solidFill>
                  <a:srgbClr val="FF0000"/>
                </a:solidFill>
                <a:latin typeface="楷体_GB2312" pitchFamily="49" charset="-122"/>
                <a:ea typeface="楷体_GB2312" pitchFamily="49" charset="-122"/>
              </a:rPr>
              <a:t>每一具体时刻只能存放其中一种数据</a:t>
            </a:r>
            <a:r>
              <a:rPr lang="zh-CN" altLang="en-US" b="1" dirty="0">
                <a:latin typeface="楷体_GB2312" pitchFamily="49" charset="-122"/>
                <a:ea typeface="楷体_GB2312" pitchFamily="49" charset="-122"/>
              </a:rPr>
              <a:t>，不能同时存放多种数据。</a:t>
            </a:r>
          </a:p>
          <a:p>
            <a:pPr marL="0" indent="0" eaLnBrk="1" hangingPunct="1">
              <a:lnSpc>
                <a:spcPct val="110000"/>
              </a:lnSpc>
              <a:buFont typeface="Monotype Sorts" pitchFamily="2" charset="2"/>
              <a:buNone/>
              <a:defRPr/>
            </a:pPr>
            <a:r>
              <a:rPr lang="en-US" altLang="zh-CN" b="1" dirty="0">
                <a:latin typeface="楷体_GB2312" pitchFamily="49" charset="-122"/>
                <a:ea typeface="楷体_GB2312" pitchFamily="49" charset="-122"/>
              </a:rPr>
              <a:t>2. </a:t>
            </a:r>
            <a:r>
              <a:rPr lang="zh-CN" altLang="en-US" b="1" dirty="0">
                <a:latin typeface="楷体_GB2312" pitchFamily="49" charset="-122"/>
                <a:ea typeface="楷体_GB2312" pitchFamily="49" charset="-122"/>
              </a:rPr>
              <a:t>联合变量中起作用的成员是最后一次存放的成员。</a:t>
            </a:r>
          </a:p>
          <a:p>
            <a:pPr marL="0" indent="0" eaLnBrk="1" hangingPunct="1">
              <a:lnSpc>
                <a:spcPct val="110000"/>
              </a:lnSpc>
              <a:buFont typeface="Monotype Sorts" pitchFamily="2" charset="2"/>
              <a:buNone/>
              <a:defRPr/>
            </a:pPr>
            <a:r>
              <a:rPr lang="zh-CN" altLang="en-US" b="1" dirty="0">
                <a:latin typeface="楷体_GB2312" pitchFamily="49" charset="-122"/>
                <a:ea typeface="楷体_GB2312" pitchFamily="49" charset="-122"/>
              </a:rPr>
              <a:t>例如： </a:t>
            </a:r>
            <a:r>
              <a:rPr lang="en-US" altLang="zh-CN" b="1" dirty="0" err="1">
                <a:latin typeface="楷体_GB2312" pitchFamily="49" charset="-122"/>
                <a:ea typeface="楷体_GB2312" pitchFamily="49" charset="-122"/>
              </a:rPr>
              <a:t>x.ival</a:t>
            </a:r>
            <a:r>
              <a:rPr lang="en-US" altLang="zh-CN" b="1" dirty="0">
                <a:latin typeface="楷体_GB2312" pitchFamily="49" charset="-122"/>
                <a:ea typeface="楷体_GB2312" pitchFamily="49" charset="-122"/>
              </a:rPr>
              <a:t> = 1; </a:t>
            </a:r>
            <a:r>
              <a:rPr lang="en-US" altLang="zh-CN" b="1" dirty="0" err="1">
                <a:latin typeface="楷体_GB2312" pitchFamily="49" charset="-122"/>
                <a:ea typeface="楷体_GB2312" pitchFamily="49" charset="-122"/>
              </a:rPr>
              <a:t>x.fval</a:t>
            </a:r>
            <a:r>
              <a:rPr lang="en-US" altLang="zh-CN" b="1" dirty="0">
                <a:latin typeface="楷体_GB2312" pitchFamily="49" charset="-122"/>
                <a:ea typeface="楷体_GB2312" pitchFamily="49" charset="-122"/>
              </a:rPr>
              <a:t> = 2.0;  </a:t>
            </a:r>
            <a:r>
              <a:rPr lang="en-US" altLang="zh-CN" b="1" dirty="0" err="1">
                <a:latin typeface="楷体_GB2312" pitchFamily="49" charset="-122"/>
                <a:ea typeface="楷体_GB2312" pitchFamily="49" charset="-122"/>
              </a:rPr>
              <a:t>x.chval</a:t>
            </a:r>
            <a:r>
              <a:rPr lang="en-US" altLang="zh-CN" b="1" dirty="0">
                <a:latin typeface="楷体_GB2312" pitchFamily="49" charset="-122"/>
                <a:ea typeface="楷体_GB2312" pitchFamily="49" charset="-122"/>
              </a:rPr>
              <a:t>= '?';</a:t>
            </a:r>
          </a:p>
        </p:txBody>
      </p:sp>
      <p:sp>
        <p:nvSpPr>
          <p:cNvPr id="7" name="灯片编号占位符 5"/>
          <p:cNvSpPr>
            <a:spLocks noGrp="1"/>
          </p:cNvSpPr>
          <p:nvPr>
            <p:ph type="sldNum" sz="quarter" idx="12"/>
          </p:nvPr>
        </p:nvSpPr>
        <p:spPr/>
        <p:txBody>
          <a:bodyPr/>
          <a:lstStyle/>
          <a:p>
            <a:pPr>
              <a:defRPr/>
            </a:pPr>
            <a:fld id="{558B23F9-C235-4689-9A9A-555B7716C094}" type="slidenum">
              <a:rPr lang="en-US" altLang="zh-CN"/>
              <a:pPr>
                <a:defRPr/>
              </a:pPr>
              <a:t>126</a:t>
            </a:fld>
            <a:endParaRPr lang="en-US" altLang="zh-CN"/>
          </a:p>
        </p:txBody>
      </p:sp>
      <p:sp>
        <p:nvSpPr>
          <p:cNvPr id="564228" name="Rectangle 4"/>
          <p:cNvSpPr>
            <a:spLocks noChangeArrowheads="1"/>
          </p:cNvSpPr>
          <p:nvPr/>
        </p:nvSpPr>
        <p:spPr bwMode="auto">
          <a:xfrm>
            <a:off x="250825" y="5300663"/>
            <a:ext cx="7993063" cy="982385"/>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a:spAutoFit/>
          </a:bodyPr>
          <a:lstStyle/>
          <a:p>
            <a:pPr>
              <a:lnSpc>
                <a:spcPct val="110000"/>
              </a:lnSpc>
              <a:spcBef>
                <a:spcPct val="20000"/>
              </a:spcBef>
              <a:buClr>
                <a:schemeClr val="hlink"/>
              </a:buClr>
              <a:buSzPct val="50000"/>
              <a:buFont typeface="Monotype Sorts" pitchFamily="2" charset="2"/>
              <a:buNone/>
              <a:defRPr/>
            </a:pPr>
            <a:r>
              <a:rPr kumimoji="1" lang="zh-CN" altLang="en-US" sz="2800" b="1" dirty="0">
                <a:solidFill>
                  <a:schemeClr val="tx1"/>
                </a:solidFill>
                <a:latin typeface="楷体_GB2312" pitchFamily="49" charset="-122"/>
                <a:ea typeface="楷体_GB2312" pitchFamily="49" charset="-122"/>
              </a:rPr>
              <a:t>说明：只有 </a:t>
            </a:r>
            <a:r>
              <a:rPr kumimoji="1" lang="en-US" altLang="zh-CN" sz="2800" b="1" dirty="0" err="1">
                <a:solidFill>
                  <a:schemeClr val="tx1"/>
                </a:solidFill>
                <a:latin typeface="楷体_GB2312" pitchFamily="49" charset="-122"/>
                <a:ea typeface="楷体_GB2312" pitchFamily="49" charset="-122"/>
              </a:rPr>
              <a:t>x.chval</a:t>
            </a:r>
            <a:r>
              <a:rPr kumimoji="1" lang="en-US" altLang="zh-CN" sz="2800" b="1" dirty="0">
                <a:solidFill>
                  <a:schemeClr val="tx1"/>
                </a:solidFill>
                <a:latin typeface="楷体_GB2312" pitchFamily="49" charset="-122"/>
                <a:ea typeface="楷体_GB2312" pitchFamily="49" charset="-122"/>
              </a:rPr>
              <a:t> </a:t>
            </a:r>
            <a:r>
              <a:rPr kumimoji="1" lang="zh-CN" altLang="en-US" sz="2800" b="1" dirty="0">
                <a:solidFill>
                  <a:schemeClr val="tx1"/>
                </a:solidFill>
                <a:latin typeface="楷体_GB2312" pitchFamily="49" charset="-122"/>
                <a:ea typeface="楷体_GB2312" pitchFamily="49" charset="-122"/>
              </a:rPr>
              <a:t>是有效的，而 </a:t>
            </a:r>
            <a:r>
              <a:rPr kumimoji="1" lang="en-US" altLang="zh-CN" sz="2800" b="1" dirty="0" err="1">
                <a:solidFill>
                  <a:schemeClr val="tx1"/>
                </a:solidFill>
                <a:latin typeface="楷体_GB2312" pitchFamily="49" charset="-122"/>
                <a:ea typeface="楷体_GB2312" pitchFamily="49" charset="-122"/>
              </a:rPr>
              <a:t>x.ival</a:t>
            </a:r>
            <a:r>
              <a:rPr kumimoji="1" lang="en-US" altLang="zh-CN" sz="2800" b="1" dirty="0">
                <a:solidFill>
                  <a:schemeClr val="tx1"/>
                </a:solidFill>
                <a:latin typeface="楷体_GB2312" pitchFamily="49" charset="-122"/>
                <a:ea typeface="楷体_GB2312" pitchFamily="49" charset="-122"/>
              </a:rPr>
              <a:t> </a:t>
            </a:r>
            <a:r>
              <a:rPr kumimoji="1" lang="zh-CN" altLang="en-US" sz="2800" b="1" dirty="0">
                <a:solidFill>
                  <a:schemeClr val="tx1"/>
                </a:solidFill>
                <a:latin typeface="楷体_GB2312" pitchFamily="49" charset="-122"/>
                <a:ea typeface="楷体_GB2312" pitchFamily="49" charset="-122"/>
              </a:rPr>
              <a:t>及 </a:t>
            </a:r>
            <a:r>
              <a:rPr kumimoji="1" lang="en-US" altLang="zh-CN" sz="2800" b="1" dirty="0" err="1">
                <a:solidFill>
                  <a:schemeClr val="tx1"/>
                </a:solidFill>
                <a:latin typeface="楷体_GB2312" pitchFamily="49" charset="-122"/>
                <a:ea typeface="楷体_GB2312" pitchFamily="49" charset="-122"/>
              </a:rPr>
              <a:t>x.fval</a:t>
            </a:r>
            <a:r>
              <a:rPr kumimoji="1" lang="en-US" altLang="zh-CN" sz="2800" b="1" dirty="0">
                <a:solidFill>
                  <a:schemeClr val="tx1"/>
                </a:solidFill>
                <a:latin typeface="楷体_GB2312" pitchFamily="49" charset="-122"/>
                <a:ea typeface="楷体_GB2312" pitchFamily="49" charset="-122"/>
              </a:rPr>
              <a:t> </a:t>
            </a:r>
            <a:r>
              <a:rPr kumimoji="1" lang="zh-CN" altLang="en-US" sz="2800" b="1" dirty="0">
                <a:solidFill>
                  <a:schemeClr val="tx1"/>
                </a:solidFill>
                <a:latin typeface="楷体_GB2312" pitchFamily="49" charset="-122"/>
                <a:ea typeface="楷体_GB2312" pitchFamily="49" charset="-122"/>
              </a:rPr>
              <a:t>引用其值已经变成不确定的了。</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3" name="Rectangle 3"/>
          <p:cNvSpPr>
            <a:spLocks noGrp="1" noChangeArrowheads="1"/>
          </p:cNvSpPr>
          <p:nvPr>
            <p:ph idx="1"/>
          </p:nvPr>
        </p:nvSpPr>
        <p:spPr>
          <a:xfrm>
            <a:off x="250825" y="908050"/>
            <a:ext cx="8713788" cy="5688013"/>
          </a:xfrm>
        </p:spPr>
        <p:txBody>
          <a:bodyPr>
            <a:normAutofit/>
          </a:bodyPr>
          <a:lstStyle/>
          <a:p>
            <a:pPr marL="0" indent="0" eaLnBrk="1" hangingPunct="1">
              <a:lnSpc>
                <a:spcPct val="120000"/>
              </a:lnSpc>
              <a:buFont typeface="Monotype Sorts" pitchFamily="2" charset="2"/>
              <a:buNone/>
              <a:defRPr/>
            </a:pPr>
            <a:r>
              <a:rPr lang="en-US" altLang="zh-CN" sz="2800" b="1" dirty="0">
                <a:latin typeface="楷体_GB2312" pitchFamily="49" charset="-122"/>
                <a:ea typeface="楷体_GB2312" pitchFamily="49" charset="-122"/>
              </a:rPr>
              <a:t>3.</a:t>
            </a:r>
            <a:r>
              <a:rPr lang="zh-CN" altLang="en-US" sz="2800" b="1" dirty="0">
                <a:latin typeface="楷体_GB2312" pitchFamily="49" charset="-122"/>
                <a:ea typeface="楷体_GB2312" pitchFamily="49" charset="-122"/>
              </a:rPr>
              <a:t>联合变量的开始地址和它的各成员变量的开始地址都是相同的。例如：</a:t>
            </a:r>
            <a:r>
              <a:rPr lang="en-US" altLang="zh-CN" sz="2800" b="1" dirty="0">
                <a:latin typeface="楷体_GB2312" pitchFamily="49" charset="-122"/>
                <a:ea typeface="楷体_GB2312" pitchFamily="49" charset="-122"/>
              </a:rPr>
              <a:t>&amp;x</a:t>
            </a:r>
            <a:r>
              <a:rPr lang="zh-CN" altLang="en-US" sz="2800" b="1" dirty="0">
                <a:latin typeface="楷体_GB2312" pitchFamily="49" charset="-122"/>
                <a:ea typeface="楷体_GB2312" pitchFamily="49" charset="-122"/>
              </a:rPr>
              <a:t>，</a:t>
            </a:r>
            <a:r>
              <a:rPr lang="en-US" altLang="zh-CN" sz="2800" b="1" dirty="0">
                <a:latin typeface="楷体_GB2312" pitchFamily="49" charset="-122"/>
                <a:ea typeface="楷体_GB2312" pitchFamily="49" charset="-122"/>
              </a:rPr>
              <a:t>&amp;</a:t>
            </a:r>
            <a:r>
              <a:rPr lang="en-US" altLang="zh-CN" sz="2800" b="1" dirty="0" err="1">
                <a:latin typeface="楷体_GB2312" pitchFamily="49" charset="-122"/>
                <a:ea typeface="楷体_GB2312" pitchFamily="49" charset="-122"/>
              </a:rPr>
              <a:t>x.ival</a:t>
            </a:r>
            <a:r>
              <a:rPr lang="zh-CN" altLang="en-US" sz="2800" b="1" dirty="0">
                <a:latin typeface="楷体_GB2312" pitchFamily="49" charset="-122"/>
                <a:ea typeface="楷体_GB2312" pitchFamily="49" charset="-122"/>
              </a:rPr>
              <a:t>，</a:t>
            </a:r>
            <a:r>
              <a:rPr lang="en-US" altLang="zh-CN" sz="2800" b="1" dirty="0">
                <a:latin typeface="楷体_GB2312" pitchFamily="49" charset="-122"/>
                <a:ea typeface="楷体_GB2312" pitchFamily="49" charset="-122"/>
              </a:rPr>
              <a:t>&amp;</a:t>
            </a:r>
            <a:r>
              <a:rPr lang="en-US" altLang="zh-CN" sz="2800" b="1" dirty="0" err="1">
                <a:latin typeface="楷体_GB2312" pitchFamily="49" charset="-122"/>
                <a:ea typeface="楷体_GB2312" pitchFamily="49" charset="-122"/>
              </a:rPr>
              <a:t>x.chval</a:t>
            </a:r>
            <a:r>
              <a:rPr lang="en-US" altLang="zh-CN" sz="2800" b="1" dirty="0">
                <a:latin typeface="楷体_GB2312" pitchFamily="49" charset="-122"/>
                <a:ea typeface="楷体_GB2312" pitchFamily="49" charset="-122"/>
              </a:rPr>
              <a:t> </a:t>
            </a:r>
            <a:r>
              <a:rPr lang="zh-CN" altLang="en-US" sz="2800" b="1" dirty="0">
                <a:latin typeface="楷体_GB2312" pitchFamily="49" charset="-122"/>
                <a:ea typeface="楷体_GB2312" pitchFamily="49" charset="-122"/>
              </a:rPr>
              <a:t>都是同一地址值。</a:t>
            </a:r>
          </a:p>
          <a:p>
            <a:pPr marL="0" indent="0" eaLnBrk="1" hangingPunct="1">
              <a:lnSpc>
                <a:spcPct val="120000"/>
              </a:lnSpc>
              <a:buFont typeface="Monotype Sorts" pitchFamily="2" charset="2"/>
              <a:buNone/>
              <a:defRPr/>
            </a:pPr>
            <a:r>
              <a:rPr lang="en-US" altLang="zh-CN" sz="2800" b="1" dirty="0">
                <a:latin typeface="楷体_GB2312" pitchFamily="49" charset="-122"/>
                <a:ea typeface="楷体_GB2312" pitchFamily="49" charset="-122"/>
              </a:rPr>
              <a:t>4.</a:t>
            </a:r>
            <a:r>
              <a:rPr lang="zh-CN" altLang="en-US" sz="2800" b="1" dirty="0">
                <a:latin typeface="楷体_GB2312" pitchFamily="49" charset="-122"/>
                <a:ea typeface="楷体_GB2312" pitchFamily="49" charset="-122"/>
              </a:rPr>
              <a:t>对联合的初始化只能对其成员表中列举的第一个成员置初值。</a:t>
            </a:r>
          </a:p>
          <a:p>
            <a:pPr marL="0" indent="0" eaLnBrk="1" hangingPunct="1">
              <a:lnSpc>
                <a:spcPct val="120000"/>
              </a:lnSpc>
              <a:buFont typeface="Monotype Sorts" pitchFamily="2" charset="2"/>
              <a:buNone/>
              <a:defRPr/>
            </a:pPr>
            <a:r>
              <a:rPr lang="en-US" altLang="zh-CN" sz="2800" b="1" dirty="0">
                <a:latin typeface="楷体_GB2312" pitchFamily="49" charset="-122"/>
                <a:ea typeface="楷体_GB2312" pitchFamily="49" charset="-122"/>
              </a:rPr>
              <a:t>5.</a:t>
            </a:r>
            <a:r>
              <a:rPr lang="zh-CN" altLang="en-US" sz="2800" b="1" dirty="0">
                <a:latin typeface="楷体_GB2312" pitchFamily="49" charset="-122"/>
                <a:ea typeface="楷体_GB2312" pitchFamily="49" charset="-122"/>
              </a:rPr>
              <a:t>函数的形参</a:t>
            </a:r>
            <a:r>
              <a:rPr lang="zh-CN" altLang="en-US" sz="2800" b="1" dirty="0">
                <a:solidFill>
                  <a:srgbClr val="FF0000"/>
                </a:solidFill>
                <a:latin typeface="楷体_GB2312" pitchFamily="49" charset="-122"/>
                <a:ea typeface="楷体_GB2312" pitchFamily="49" charset="-122"/>
              </a:rPr>
              <a:t>不</a:t>
            </a:r>
            <a:r>
              <a:rPr lang="zh-CN" altLang="en-US" sz="2800" b="1" dirty="0">
                <a:latin typeface="楷体_GB2312" pitchFamily="49" charset="-122"/>
                <a:ea typeface="楷体_GB2312" pitchFamily="49" charset="-122"/>
              </a:rPr>
              <a:t>能是联合类型，函数的结果也</a:t>
            </a:r>
            <a:r>
              <a:rPr lang="zh-CN" altLang="en-US" sz="2800" b="1" dirty="0">
                <a:solidFill>
                  <a:srgbClr val="FF0000"/>
                </a:solidFill>
                <a:latin typeface="楷体_GB2312" pitchFamily="49" charset="-122"/>
                <a:ea typeface="楷体_GB2312" pitchFamily="49" charset="-122"/>
              </a:rPr>
              <a:t>不</a:t>
            </a:r>
            <a:r>
              <a:rPr lang="zh-CN" altLang="en-US" sz="2800" b="1" dirty="0">
                <a:latin typeface="楷体_GB2312" pitchFamily="49" charset="-122"/>
                <a:ea typeface="楷体_GB2312" pitchFamily="49" charset="-122"/>
              </a:rPr>
              <a:t>能是联合类型。但指向联合的指针可以作为函数形参，函数也可以返回指向联合的指针。</a:t>
            </a:r>
          </a:p>
          <a:p>
            <a:pPr marL="0" indent="0" eaLnBrk="1" hangingPunct="1">
              <a:lnSpc>
                <a:spcPct val="120000"/>
              </a:lnSpc>
              <a:buFont typeface="Monotype Sorts" pitchFamily="2" charset="2"/>
              <a:buNone/>
              <a:defRPr/>
            </a:pPr>
            <a:r>
              <a:rPr lang="en-US" altLang="zh-CN" sz="2800" b="1" dirty="0">
                <a:latin typeface="楷体_GB2312" pitchFamily="49" charset="-122"/>
                <a:ea typeface="楷体_GB2312" pitchFamily="49" charset="-122"/>
              </a:rPr>
              <a:t>6.</a:t>
            </a:r>
            <a:r>
              <a:rPr lang="zh-CN" altLang="en-US" sz="2800" b="1" dirty="0">
                <a:latin typeface="楷体_GB2312" pitchFamily="49" charset="-122"/>
                <a:ea typeface="楷体_GB2312" pitchFamily="49" charset="-122"/>
              </a:rPr>
              <a:t>联合可以嵌套在结构中。</a:t>
            </a:r>
          </a:p>
        </p:txBody>
      </p:sp>
      <p:sp>
        <p:nvSpPr>
          <p:cNvPr id="5" name="灯片编号占位符 5"/>
          <p:cNvSpPr>
            <a:spLocks noGrp="1"/>
          </p:cNvSpPr>
          <p:nvPr>
            <p:ph type="sldNum" sz="quarter" idx="12"/>
          </p:nvPr>
        </p:nvSpPr>
        <p:spPr/>
        <p:txBody>
          <a:bodyPr/>
          <a:lstStyle/>
          <a:p>
            <a:pPr>
              <a:defRPr/>
            </a:pPr>
            <a:fld id="{646A307D-97B5-4C43-A789-C76E1BA5DB2C}" type="slidenum">
              <a:rPr lang="en-US" altLang="zh-CN"/>
              <a:pPr>
                <a:defRPr/>
              </a:pPr>
              <a:t>127</a:t>
            </a:fld>
            <a:endParaRPr lang="en-US" altLang="zh-CN"/>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14" name="Rectangle 2"/>
          <p:cNvSpPr>
            <a:spLocks noGrp="1" noChangeArrowheads="1"/>
          </p:cNvSpPr>
          <p:nvPr>
            <p:ph type="title"/>
          </p:nvPr>
        </p:nvSpPr>
        <p:spPr>
          <a:xfrm>
            <a:off x="323850" y="188913"/>
            <a:ext cx="7920038" cy="609600"/>
          </a:xfrm>
        </p:spPr>
        <p:txBody>
          <a:bodyPr/>
          <a:lstStyle/>
          <a:p>
            <a:pPr eaLnBrk="1" hangingPunct="1">
              <a:lnSpc>
                <a:spcPct val="100000"/>
              </a:lnSpc>
              <a:defRPr/>
            </a:pPr>
            <a:r>
              <a:rPr lang="en-US" altLang="zh-CN" sz="3600" dirty="0">
                <a:solidFill>
                  <a:schemeClr val="tx1"/>
                </a:solidFill>
                <a:latin typeface="黑体" pitchFamily="2" charset="-122"/>
                <a:ea typeface="黑体" pitchFamily="2" charset="-122"/>
              </a:rPr>
              <a:t>7.7 </a:t>
            </a:r>
            <a:r>
              <a:rPr lang="zh-CN" altLang="en-US" sz="3600" dirty="0">
                <a:solidFill>
                  <a:schemeClr val="tx1"/>
                </a:solidFill>
                <a:latin typeface="黑体" pitchFamily="2" charset="-122"/>
                <a:ea typeface="黑体" pitchFamily="2" charset="-122"/>
              </a:rPr>
              <a:t>枚举</a:t>
            </a:r>
            <a:endParaRPr lang="zh-CN" altLang="en-US" sz="3600" b="0" dirty="0">
              <a:solidFill>
                <a:schemeClr val="tx1"/>
              </a:solidFill>
              <a:latin typeface="黑体" pitchFamily="2" charset="-122"/>
              <a:ea typeface="黑体" pitchFamily="2" charset="-122"/>
            </a:endParaRPr>
          </a:p>
        </p:txBody>
      </p:sp>
      <p:sp>
        <p:nvSpPr>
          <p:cNvPr id="576515" name="Rectangle 3"/>
          <p:cNvSpPr>
            <a:spLocks noGrp="1" noChangeArrowheads="1"/>
          </p:cNvSpPr>
          <p:nvPr>
            <p:ph idx="1"/>
          </p:nvPr>
        </p:nvSpPr>
        <p:spPr>
          <a:xfrm>
            <a:off x="250825" y="836613"/>
            <a:ext cx="8642350" cy="5327650"/>
          </a:xfrm>
        </p:spPr>
        <p:txBody>
          <a:bodyPr/>
          <a:lstStyle/>
          <a:p>
            <a:pPr marL="0" indent="0" algn="just" eaLnBrk="1" hangingPunct="1">
              <a:lnSpc>
                <a:spcPct val="115000"/>
              </a:lnSpc>
              <a:spcBef>
                <a:spcPct val="15000"/>
              </a:spcBef>
              <a:buFont typeface="Monotype Sorts" pitchFamily="2" charset="2"/>
              <a:buNone/>
              <a:defRPr/>
            </a:pPr>
            <a:r>
              <a:rPr lang="zh-CN" altLang="en-US" b="1" dirty="0">
                <a:latin typeface="楷体_GB2312" pitchFamily="49" charset="-122"/>
                <a:ea typeface="楷体_GB2312" pitchFamily="49" charset="-122"/>
              </a:rPr>
              <a:t>所谓</a:t>
            </a:r>
            <a:r>
              <a:rPr lang="zh-CN" altLang="en-US" b="1" dirty="0">
                <a:latin typeface="宋体"/>
                <a:ea typeface="楷体_GB2312" pitchFamily="49" charset="-122"/>
              </a:rPr>
              <a:t>“</a:t>
            </a:r>
            <a:r>
              <a:rPr lang="zh-CN" altLang="en-US" b="1" dirty="0">
                <a:latin typeface="楷体_GB2312" pitchFamily="49" charset="-122"/>
                <a:ea typeface="楷体_GB2312" pitchFamily="49" charset="-122"/>
              </a:rPr>
              <a:t>枚举</a:t>
            </a:r>
            <a:r>
              <a:rPr lang="zh-CN" altLang="en-US" b="1" dirty="0">
                <a:latin typeface="宋体"/>
                <a:ea typeface="楷体_GB2312" pitchFamily="49" charset="-122"/>
              </a:rPr>
              <a:t>”</a:t>
            </a:r>
            <a:r>
              <a:rPr lang="zh-CN" altLang="en-US" b="1" dirty="0">
                <a:latin typeface="楷体_GB2312" pitchFamily="49" charset="-122"/>
                <a:ea typeface="楷体_GB2312" pitchFamily="49" charset="-122"/>
              </a:rPr>
              <a:t>是指将所有的值一一列出，以表示枚举变量只取列举出来的值。</a:t>
            </a:r>
          </a:p>
          <a:p>
            <a:pPr marL="0" indent="0" algn="just" eaLnBrk="1" hangingPunct="1">
              <a:lnSpc>
                <a:spcPct val="115000"/>
              </a:lnSpc>
              <a:spcBef>
                <a:spcPct val="15000"/>
              </a:spcBef>
              <a:buFont typeface="Monotype Sorts" pitchFamily="2" charset="2"/>
              <a:buNone/>
              <a:defRPr/>
            </a:pPr>
            <a:r>
              <a:rPr lang="zh-CN" altLang="en-US" b="1" dirty="0">
                <a:latin typeface="楷体_GB2312" pitchFamily="49" charset="-122"/>
                <a:ea typeface="楷体_GB2312" pitchFamily="49" charset="-122"/>
              </a:rPr>
              <a:t>枚举类型的定义：</a:t>
            </a:r>
          </a:p>
          <a:p>
            <a:pPr marL="0" indent="0" algn="just" eaLnBrk="1" hangingPunct="1">
              <a:lnSpc>
                <a:spcPct val="115000"/>
              </a:lnSpc>
              <a:spcBef>
                <a:spcPct val="15000"/>
              </a:spcBef>
              <a:buFont typeface="Monotype Sorts" pitchFamily="2" charset="2"/>
              <a:buNone/>
              <a:defRPr/>
            </a:pPr>
            <a:r>
              <a:rPr lang="zh-CN" altLang="en-US" b="1" dirty="0">
                <a:latin typeface="楷体_GB2312" pitchFamily="49" charset="-122"/>
                <a:ea typeface="楷体_GB2312" pitchFamily="49" charset="-122"/>
              </a:rPr>
              <a:t>  </a:t>
            </a:r>
            <a:r>
              <a:rPr lang="en-US" altLang="zh-CN" b="1" dirty="0" err="1">
                <a:latin typeface="楷体_GB2312" pitchFamily="49" charset="-122"/>
                <a:ea typeface="楷体_GB2312" pitchFamily="49" charset="-122"/>
              </a:rPr>
              <a:t>enum</a:t>
            </a:r>
            <a:r>
              <a:rPr lang="en-US" altLang="zh-CN" b="1" dirty="0">
                <a:latin typeface="楷体_GB2312" pitchFamily="49" charset="-122"/>
                <a:ea typeface="楷体_GB2312" pitchFamily="49" charset="-122"/>
              </a:rPr>
              <a:t> </a:t>
            </a:r>
            <a:r>
              <a:rPr lang="zh-CN" altLang="en-US" b="1" dirty="0">
                <a:latin typeface="楷体_GB2312" pitchFamily="49" charset="-122"/>
                <a:ea typeface="楷体_GB2312" pitchFamily="49" charset="-122"/>
              </a:rPr>
              <a:t>类型名 </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标识符</a:t>
            </a:r>
            <a:r>
              <a:rPr lang="en-US" altLang="zh-CN" b="1" dirty="0">
                <a:latin typeface="楷体_GB2312" pitchFamily="49" charset="-122"/>
                <a:ea typeface="楷体_GB2312" pitchFamily="49" charset="-122"/>
              </a:rPr>
              <a:t>1, </a:t>
            </a:r>
            <a:r>
              <a:rPr lang="zh-CN" altLang="en-US" b="1" dirty="0">
                <a:latin typeface="楷体_GB2312" pitchFamily="49" charset="-122"/>
                <a:ea typeface="楷体_GB2312" pitchFamily="49" charset="-122"/>
              </a:rPr>
              <a:t>标识符</a:t>
            </a:r>
            <a:r>
              <a:rPr lang="en-US" altLang="zh-CN" b="1" dirty="0">
                <a:latin typeface="楷体_GB2312" pitchFamily="49" charset="-122"/>
                <a:ea typeface="楷体_GB2312" pitchFamily="49" charset="-122"/>
              </a:rPr>
              <a:t>2, </a:t>
            </a:r>
            <a:r>
              <a:rPr lang="en-US" altLang="zh-CN" b="1" dirty="0">
                <a:latin typeface="宋体"/>
                <a:ea typeface="楷体_GB2312" pitchFamily="49" charset="-122"/>
              </a:rPr>
              <a:t>…</a:t>
            </a:r>
            <a:r>
              <a:rPr lang="en-US" altLang="zh-CN" b="1" dirty="0">
                <a:latin typeface="楷体_GB2312" pitchFamily="49" charset="-122"/>
                <a:ea typeface="楷体_GB2312" pitchFamily="49" charset="-122"/>
              </a:rPr>
              <a:t>, </a:t>
            </a:r>
            <a:r>
              <a:rPr lang="zh-CN" altLang="en-US" b="1" dirty="0">
                <a:latin typeface="楷体_GB2312" pitchFamily="49" charset="-122"/>
                <a:ea typeface="楷体_GB2312" pitchFamily="49" charset="-122"/>
              </a:rPr>
              <a:t>标识符</a:t>
            </a:r>
            <a:r>
              <a:rPr lang="en-US" altLang="zh-CN" b="1" dirty="0">
                <a:latin typeface="楷体_GB2312" pitchFamily="49" charset="-122"/>
                <a:ea typeface="楷体_GB2312" pitchFamily="49" charset="-122"/>
              </a:rPr>
              <a:t>n};</a:t>
            </a:r>
          </a:p>
          <a:p>
            <a:pPr marL="0" indent="0" algn="just" eaLnBrk="1" hangingPunct="1">
              <a:lnSpc>
                <a:spcPct val="115000"/>
              </a:lnSpc>
              <a:spcBef>
                <a:spcPct val="15000"/>
              </a:spcBef>
              <a:buFont typeface="Monotype Sorts" pitchFamily="2" charset="2"/>
              <a:buNone/>
              <a:defRPr/>
            </a:pPr>
            <a:r>
              <a:rPr lang="zh-CN" altLang="en-US" b="1" dirty="0">
                <a:latin typeface="楷体_GB2312" pitchFamily="49" charset="-122"/>
                <a:ea typeface="楷体_GB2312" pitchFamily="49" charset="-122"/>
              </a:rPr>
              <a:t>例如：</a:t>
            </a:r>
          </a:p>
          <a:p>
            <a:pPr marL="0" indent="0" algn="just" eaLnBrk="1" hangingPunct="1">
              <a:lnSpc>
                <a:spcPct val="115000"/>
              </a:lnSpc>
              <a:spcBef>
                <a:spcPct val="15000"/>
              </a:spcBef>
              <a:buFont typeface="Monotype Sorts" pitchFamily="2" charset="2"/>
              <a:buNone/>
              <a:defRPr/>
            </a:pPr>
            <a:r>
              <a:rPr lang="zh-CN" altLang="en-US"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enum</a:t>
            </a:r>
            <a:r>
              <a:rPr lang="en-US" altLang="zh-CN" sz="2400" b="1" dirty="0">
                <a:latin typeface="楷体_GB2312" pitchFamily="49" charset="-122"/>
                <a:ea typeface="楷体_GB2312" pitchFamily="49" charset="-122"/>
              </a:rPr>
              <a:t> weekday {SUN, MON, TUE, WED, THU, FRI, SAT };</a:t>
            </a:r>
          </a:p>
          <a:p>
            <a:pPr marL="0" indent="0" algn="just" eaLnBrk="1" hangingPunct="1">
              <a:lnSpc>
                <a:spcPct val="115000"/>
              </a:lnSpc>
              <a:spcBef>
                <a:spcPct val="15000"/>
              </a:spcBef>
              <a:buFont typeface="Monotype Sorts" pitchFamily="2" charset="2"/>
              <a:buNone/>
              <a:defRPr/>
            </a:pPr>
            <a:r>
              <a:rPr lang="en-US" altLang="zh-CN"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enum</a:t>
            </a:r>
            <a:r>
              <a:rPr lang="en-US" altLang="zh-CN" sz="2400" b="1" dirty="0">
                <a:latin typeface="楷体_GB2312" pitchFamily="49" charset="-122"/>
                <a:ea typeface="楷体_GB2312" pitchFamily="49" charset="-122"/>
              </a:rPr>
              <a:t> weekday  today, yesterday, tomorrow;</a:t>
            </a:r>
          </a:p>
          <a:p>
            <a:pPr marL="0" indent="0" algn="just" eaLnBrk="1" hangingPunct="1">
              <a:lnSpc>
                <a:spcPct val="115000"/>
              </a:lnSpc>
              <a:spcBef>
                <a:spcPct val="15000"/>
              </a:spcBef>
              <a:buFont typeface="Monotype Sorts" pitchFamily="2" charset="2"/>
              <a:buNone/>
              <a:defRPr/>
            </a:pPr>
            <a:r>
              <a:rPr lang="zh-CN" altLang="en-US" b="1" dirty="0">
                <a:latin typeface="楷体_GB2312" pitchFamily="49" charset="-122"/>
                <a:ea typeface="楷体_GB2312" pitchFamily="49" charset="-122"/>
              </a:rPr>
              <a:t>表示：定义枚举类型 </a:t>
            </a:r>
            <a:r>
              <a:rPr lang="en-US" altLang="zh-CN" sz="2400" b="1" dirty="0" err="1">
                <a:latin typeface="楷体_GB2312" pitchFamily="49" charset="-122"/>
                <a:ea typeface="楷体_GB2312" pitchFamily="49" charset="-122"/>
              </a:rPr>
              <a:t>enum</a:t>
            </a:r>
            <a:r>
              <a:rPr lang="en-US" altLang="zh-CN" sz="2400" b="1" dirty="0">
                <a:latin typeface="楷体_GB2312" pitchFamily="49" charset="-122"/>
                <a:ea typeface="楷体_GB2312" pitchFamily="49" charset="-122"/>
              </a:rPr>
              <a:t> weekday</a:t>
            </a:r>
          </a:p>
          <a:p>
            <a:pPr marL="0" indent="0" algn="just" eaLnBrk="1" hangingPunct="1">
              <a:lnSpc>
                <a:spcPct val="115000"/>
              </a:lnSpc>
              <a:spcBef>
                <a:spcPct val="15000"/>
              </a:spcBef>
              <a:buFont typeface="Monotype Sorts" pitchFamily="2" charset="2"/>
              <a:buNone/>
              <a:defRPr/>
            </a:pPr>
            <a:r>
              <a:rPr lang="en-US" altLang="zh-CN" sz="2400" b="1" dirty="0">
                <a:latin typeface="楷体_GB2312" pitchFamily="49" charset="-122"/>
                <a:ea typeface="楷体_GB2312" pitchFamily="49" charset="-122"/>
              </a:rPr>
              <a:t>       </a:t>
            </a:r>
            <a:r>
              <a:rPr lang="zh-CN" altLang="en-US" b="1" dirty="0">
                <a:latin typeface="楷体_GB2312" pitchFamily="49" charset="-122"/>
                <a:ea typeface="楷体_GB2312" pitchFamily="49" charset="-122"/>
              </a:rPr>
              <a:t>并定义枚举变量 </a:t>
            </a:r>
            <a:r>
              <a:rPr lang="en-US" altLang="zh-CN" sz="2400" b="1" dirty="0">
                <a:latin typeface="楷体_GB2312" pitchFamily="49" charset="-122"/>
                <a:ea typeface="楷体_GB2312" pitchFamily="49" charset="-122"/>
              </a:rPr>
              <a:t>today</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yesterday</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tomorrow</a:t>
            </a:r>
            <a:endParaRPr lang="en-US" altLang="zh-CN" b="1" dirty="0">
              <a:latin typeface="楷体_GB2312" pitchFamily="49" charset="-122"/>
              <a:ea typeface="楷体_GB2312" pitchFamily="49" charset="-122"/>
            </a:endParaRPr>
          </a:p>
        </p:txBody>
      </p:sp>
      <p:sp>
        <p:nvSpPr>
          <p:cNvPr id="6" name="灯片编号占位符 5"/>
          <p:cNvSpPr>
            <a:spLocks noGrp="1"/>
          </p:cNvSpPr>
          <p:nvPr>
            <p:ph type="sldNum" sz="quarter" idx="12"/>
          </p:nvPr>
        </p:nvSpPr>
        <p:spPr/>
        <p:txBody>
          <a:bodyPr/>
          <a:lstStyle/>
          <a:p>
            <a:pPr>
              <a:defRPr/>
            </a:pPr>
            <a:fld id="{8753B221-47CC-4A2A-ACB7-398DB27A49A7}" type="slidenum">
              <a:rPr lang="en-US" altLang="zh-CN"/>
              <a:pPr>
                <a:defRPr/>
              </a:pPr>
              <a:t>128</a:t>
            </a:fld>
            <a:endParaRPr lang="en-US" altLang="zh-CN"/>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539" name="Rectangle 3"/>
          <p:cNvSpPr>
            <a:spLocks noGrp="1" noChangeArrowheads="1"/>
          </p:cNvSpPr>
          <p:nvPr>
            <p:ph idx="1"/>
          </p:nvPr>
        </p:nvSpPr>
        <p:spPr>
          <a:xfrm>
            <a:off x="323850" y="404813"/>
            <a:ext cx="8496300" cy="6264275"/>
          </a:xfrm>
        </p:spPr>
        <p:txBody>
          <a:bodyPr/>
          <a:lstStyle/>
          <a:p>
            <a:pPr marL="363538" indent="-363538" eaLnBrk="1" hangingPunct="1">
              <a:spcBef>
                <a:spcPct val="15000"/>
              </a:spcBef>
              <a:buFont typeface="Monotype Sorts" pitchFamily="2" charset="2"/>
              <a:buNone/>
              <a:tabLst>
                <a:tab pos="2960688" algn="l"/>
              </a:tabLst>
              <a:defRPr/>
            </a:pPr>
            <a:r>
              <a:rPr lang="en-US" altLang="zh-CN" b="1" dirty="0">
                <a:latin typeface="楷体_GB2312" pitchFamily="49" charset="-122"/>
                <a:ea typeface="楷体_GB2312" pitchFamily="49" charset="-122"/>
              </a:rPr>
              <a:t>1.</a:t>
            </a:r>
            <a:r>
              <a:rPr lang="zh-CN" altLang="en-US" b="1" dirty="0">
                <a:latin typeface="楷体_GB2312" pitchFamily="49" charset="-122"/>
                <a:ea typeface="楷体_GB2312" pitchFamily="49" charset="-122"/>
              </a:rPr>
              <a:t>枚举变量 </a:t>
            </a:r>
            <a:r>
              <a:rPr lang="en-US" altLang="zh-CN" b="1" dirty="0">
                <a:latin typeface="楷体_GB2312" pitchFamily="49" charset="-122"/>
                <a:ea typeface="楷体_GB2312" pitchFamily="49" charset="-122"/>
              </a:rPr>
              <a:t>today</a:t>
            </a: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yesterday </a:t>
            </a:r>
            <a:r>
              <a:rPr lang="zh-CN" altLang="en-US" b="1" dirty="0">
                <a:latin typeface="楷体_GB2312" pitchFamily="49" charset="-122"/>
                <a:ea typeface="楷体_GB2312" pitchFamily="49" charset="-122"/>
              </a:rPr>
              <a:t>和 </a:t>
            </a:r>
            <a:r>
              <a:rPr lang="en-US" altLang="zh-CN" b="1" dirty="0">
                <a:latin typeface="楷体_GB2312" pitchFamily="49" charset="-122"/>
                <a:ea typeface="楷体_GB2312" pitchFamily="49" charset="-122"/>
              </a:rPr>
              <a:t>tomorrow </a:t>
            </a:r>
            <a:r>
              <a:rPr lang="zh-CN" altLang="en-US" b="1" dirty="0">
                <a:latin typeface="楷体_GB2312" pitchFamily="49" charset="-122"/>
                <a:ea typeface="楷体_GB2312" pitchFamily="49" charset="-122"/>
              </a:rPr>
              <a:t>只能取 </a:t>
            </a:r>
            <a:r>
              <a:rPr lang="en-US" altLang="zh-CN" b="1" dirty="0">
                <a:latin typeface="楷体_GB2312" pitchFamily="49" charset="-122"/>
                <a:ea typeface="楷体_GB2312" pitchFamily="49" charset="-122"/>
              </a:rPr>
              <a:t>SUN </a:t>
            </a:r>
            <a:r>
              <a:rPr lang="zh-CN" altLang="en-US" b="1" dirty="0">
                <a:latin typeface="楷体_GB2312" pitchFamily="49" charset="-122"/>
                <a:ea typeface="楷体_GB2312" pitchFamily="49" charset="-122"/>
              </a:rPr>
              <a:t>到 </a:t>
            </a:r>
            <a:r>
              <a:rPr lang="en-US" altLang="zh-CN" b="1" dirty="0">
                <a:latin typeface="楷体_GB2312" pitchFamily="49" charset="-122"/>
                <a:ea typeface="楷体_GB2312" pitchFamily="49" charset="-122"/>
              </a:rPr>
              <a:t>SAT </a:t>
            </a:r>
            <a:r>
              <a:rPr lang="zh-CN" altLang="en-US" b="1" dirty="0">
                <a:latin typeface="楷体_GB2312" pitchFamily="49" charset="-122"/>
                <a:ea typeface="楷体_GB2312" pitchFamily="49" charset="-122"/>
              </a:rPr>
              <a:t>之一的值。</a:t>
            </a:r>
          </a:p>
          <a:p>
            <a:pPr marL="363538" indent="-363538" eaLnBrk="1" hangingPunct="1">
              <a:spcBef>
                <a:spcPct val="15000"/>
              </a:spcBef>
              <a:buFont typeface="Monotype Sorts" pitchFamily="2" charset="2"/>
              <a:buNone/>
              <a:tabLst>
                <a:tab pos="2960688" algn="l"/>
              </a:tabLst>
              <a:defRPr/>
            </a:pPr>
            <a:r>
              <a:rPr lang="zh-CN" altLang="en-US" b="1" dirty="0">
                <a:latin typeface="楷体_GB2312" pitchFamily="49" charset="-122"/>
                <a:ea typeface="楷体_GB2312" pitchFamily="49" charset="-122"/>
              </a:rPr>
              <a:t>例如：</a:t>
            </a:r>
            <a:r>
              <a:rPr lang="en-US" altLang="zh-CN" b="1" dirty="0">
                <a:latin typeface="楷体_GB2312" pitchFamily="49" charset="-122"/>
                <a:ea typeface="楷体_GB2312" pitchFamily="49" charset="-122"/>
              </a:rPr>
              <a:t>today     	= SUN;</a:t>
            </a:r>
          </a:p>
          <a:p>
            <a:pPr marL="363538" indent="-363538" eaLnBrk="1" hangingPunct="1">
              <a:spcBef>
                <a:spcPct val="15000"/>
              </a:spcBef>
              <a:buFont typeface="Monotype Sorts" pitchFamily="2" charset="2"/>
              <a:buNone/>
              <a:tabLst>
                <a:tab pos="2960688" algn="l"/>
              </a:tabLst>
              <a:defRPr/>
            </a:pPr>
            <a:r>
              <a:rPr lang="en-US" altLang="zh-CN" b="1" dirty="0">
                <a:latin typeface="楷体_GB2312" pitchFamily="49" charset="-122"/>
                <a:ea typeface="楷体_GB2312" pitchFamily="49" charset="-122"/>
              </a:rPr>
              <a:t>      tomorrow  	= MON;</a:t>
            </a:r>
          </a:p>
          <a:p>
            <a:pPr marL="363538" indent="-363538" eaLnBrk="1" hangingPunct="1">
              <a:spcBef>
                <a:spcPct val="15000"/>
              </a:spcBef>
              <a:buFont typeface="Monotype Sorts" pitchFamily="2" charset="2"/>
              <a:buNone/>
              <a:tabLst>
                <a:tab pos="2960688" algn="l"/>
              </a:tabLst>
              <a:defRPr/>
            </a:pPr>
            <a:r>
              <a:rPr lang="en-US" altLang="zh-CN" b="1" dirty="0">
                <a:latin typeface="楷体_GB2312" pitchFamily="49" charset="-122"/>
                <a:ea typeface="楷体_GB2312" pitchFamily="49" charset="-122"/>
              </a:rPr>
              <a:t>      yesterday 	= SAT;</a:t>
            </a:r>
          </a:p>
          <a:p>
            <a:pPr marL="363538" indent="-363538" eaLnBrk="1" hangingPunct="1">
              <a:spcBef>
                <a:spcPct val="15000"/>
              </a:spcBef>
              <a:buFont typeface="Monotype Sorts" pitchFamily="2" charset="2"/>
              <a:buNone/>
              <a:tabLst>
                <a:tab pos="2960688" algn="l"/>
              </a:tabLst>
              <a:defRPr/>
            </a:pPr>
            <a:r>
              <a:rPr lang="en-US" altLang="zh-CN" b="1" dirty="0">
                <a:latin typeface="楷体_GB2312" pitchFamily="49" charset="-122"/>
                <a:ea typeface="楷体_GB2312" pitchFamily="49" charset="-122"/>
              </a:rPr>
              <a:t>2.</a:t>
            </a:r>
            <a:r>
              <a:rPr lang="zh-CN" altLang="en-US" b="1" dirty="0">
                <a:latin typeface="楷体_GB2312" pitchFamily="49" charset="-122"/>
                <a:ea typeface="楷体_GB2312" pitchFamily="49" charset="-122"/>
              </a:rPr>
              <a:t>可以在定义枚举类型同时，定义枚举类型变量。</a:t>
            </a:r>
          </a:p>
          <a:p>
            <a:pPr marL="363538" indent="-363538" eaLnBrk="1" hangingPunct="1">
              <a:spcBef>
                <a:spcPct val="15000"/>
              </a:spcBef>
              <a:buFont typeface="Monotype Sorts" pitchFamily="2" charset="2"/>
              <a:buNone/>
              <a:tabLst>
                <a:tab pos="2960688" algn="l"/>
              </a:tabLst>
              <a:defRPr/>
            </a:pPr>
            <a:r>
              <a:rPr lang="zh-CN" altLang="en-US" b="1" dirty="0">
                <a:latin typeface="楷体_GB2312" pitchFamily="49" charset="-122"/>
                <a:ea typeface="楷体_GB2312" pitchFamily="49" charset="-122"/>
              </a:rPr>
              <a:t>  如</a:t>
            </a:r>
            <a:r>
              <a:rPr lang="en-US" altLang="zh-CN" b="1" dirty="0">
                <a:latin typeface="楷体_GB2312" pitchFamily="49" charset="-122"/>
                <a:ea typeface="楷体_GB2312" pitchFamily="49" charset="-122"/>
              </a:rPr>
              <a:t>: </a:t>
            </a:r>
            <a:r>
              <a:rPr lang="en-US" altLang="zh-CN" b="1" dirty="0" err="1">
                <a:latin typeface="楷体_GB2312" pitchFamily="49" charset="-122"/>
                <a:ea typeface="楷体_GB2312" pitchFamily="49" charset="-122"/>
              </a:rPr>
              <a:t>enum</a:t>
            </a:r>
            <a:r>
              <a:rPr lang="en-US" altLang="zh-CN" b="1" dirty="0">
                <a:latin typeface="楷体_GB2312" pitchFamily="49" charset="-122"/>
                <a:ea typeface="楷体_GB2312" pitchFamily="49" charset="-122"/>
              </a:rPr>
              <a:t> { RED, YELLOW, BLUE } color;</a:t>
            </a:r>
          </a:p>
          <a:p>
            <a:pPr marL="363538" indent="-363538" eaLnBrk="1" hangingPunct="1">
              <a:spcBef>
                <a:spcPct val="15000"/>
              </a:spcBef>
              <a:buFont typeface="Monotype Sorts" pitchFamily="2" charset="2"/>
              <a:buNone/>
              <a:tabLst>
                <a:tab pos="2960688" algn="l"/>
              </a:tabLst>
              <a:defRPr/>
            </a:pPr>
            <a:r>
              <a:rPr lang="en-US" altLang="zh-CN" b="1" dirty="0">
                <a:latin typeface="楷体_GB2312" pitchFamily="49" charset="-122"/>
                <a:ea typeface="楷体_GB2312" pitchFamily="49" charset="-122"/>
              </a:rPr>
              <a:t>3.</a:t>
            </a:r>
            <a:r>
              <a:rPr lang="zh-CN" altLang="en-US" b="1" dirty="0">
                <a:latin typeface="楷体_GB2312" pitchFamily="49" charset="-122"/>
                <a:ea typeface="楷体_GB2312" pitchFamily="49" charset="-122"/>
              </a:rPr>
              <a:t>枚举类型中的标识符称为枚举常量，每个标识符都表示一个有意义的值。</a:t>
            </a:r>
            <a:r>
              <a:rPr lang="en-US" altLang="zh-CN" b="1" dirty="0">
                <a:latin typeface="楷体_GB2312" pitchFamily="49" charset="-122"/>
                <a:ea typeface="楷体_GB2312" pitchFamily="49" charset="-122"/>
              </a:rPr>
              <a:t>C</a:t>
            </a:r>
            <a:r>
              <a:rPr lang="zh-CN" altLang="en-US" b="1" dirty="0">
                <a:latin typeface="楷体_GB2312" pitchFamily="49" charset="-122"/>
                <a:ea typeface="楷体_GB2312" pitchFamily="49" charset="-122"/>
              </a:rPr>
              <a:t>语言编译按定义时的顺序依次使它们的值为 </a:t>
            </a:r>
            <a:r>
              <a:rPr lang="en-US" altLang="zh-CN" b="1" dirty="0">
                <a:latin typeface="楷体_GB2312" pitchFamily="49" charset="-122"/>
                <a:ea typeface="楷体_GB2312" pitchFamily="49" charset="-122"/>
              </a:rPr>
              <a:t>0</a:t>
            </a: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1</a:t>
            </a: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2</a:t>
            </a:r>
            <a:r>
              <a:rPr lang="zh-CN" altLang="en-US" b="1" dirty="0">
                <a:latin typeface="楷体_GB2312" pitchFamily="49" charset="-122"/>
                <a:ea typeface="楷体_GB2312" pitchFamily="49" charset="-122"/>
              </a:rPr>
              <a:t>，</a:t>
            </a:r>
            <a:r>
              <a:rPr lang="en-US" altLang="zh-CN" b="1" dirty="0">
                <a:latin typeface="宋体"/>
                <a:ea typeface="楷体_GB2312" pitchFamily="49" charset="-122"/>
              </a:rPr>
              <a:t>…</a:t>
            </a:r>
            <a:r>
              <a:rPr lang="zh-CN" altLang="en-US" b="1" dirty="0">
                <a:latin typeface="楷体_GB2312" pitchFamily="49" charset="-122"/>
                <a:ea typeface="楷体_GB2312" pitchFamily="49" charset="-122"/>
              </a:rPr>
              <a:t>。如在上面的定义中，</a:t>
            </a:r>
            <a:r>
              <a:rPr lang="en-US" altLang="zh-CN" b="1" dirty="0">
                <a:latin typeface="楷体_GB2312" pitchFamily="49" charset="-122"/>
                <a:ea typeface="楷体_GB2312" pitchFamily="49" charset="-122"/>
              </a:rPr>
              <a:t>SUN </a:t>
            </a:r>
            <a:r>
              <a:rPr lang="zh-CN" altLang="en-US" b="1" dirty="0">
                <a:latin typeface="楷体_GB2312" pitchFamily="49" charset="-122"/>
                <a:ea typeface="楷体_GB2312" pitchFamily="49" charset="-122"/>
              </a:rPr>
              <a:t>值为</a:t>
            </a:r>
            <a:r>
              <a:rPr lang="en-US" altLang="zh-CN" b="1" dirty="0">
                <a:latin typeface="楷体_GB2312" pitchFamily="49" charset="-122"/>
                <a:ea typeface="楷体_GB2312" pitchFamily="49" charset="-122"/>
              </a:rPr>
              <a:t>0</a:t>
            </a: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MON </a:t>
            </a:r>
            <a:r>
              <a:rPr lang="zh-CN" altLang="en-US" b="1" dirty="0">
                <a:latin typeface="楷体_GB2312" pitchFamily="49" charset="-122"/>
                <a:ea typeface="楷体_GB2312" pitchFamily="49" charset="-122"/>
              </a:rPr>
              <a:t>值为</a:t>
            </a:r>
            <a:r>
              <a:rPr lang="en-US" altLang="zh-CN" b="1" dirty="0">
                <a:latin typeface="楷体_GB2312" pitchFamily="49" charset="-122"/>
                <a:ea typeface="楷体_GB2312" pitchFamily="49" charset="-122"/>
              </a:rPr>
              <a:t>1</a:t>
            </a:r>
            <a:r>
              <a:rPr lang="zh-CN" altLang="en-US" b="1" dirty="0">
                <a:latin typeface="楷体_GB2312" pitchFamily="49" charset="-122"/>
                <a:ea typeface="楷体_GB2312" pitchFamily="49" charset="-122"/>
              </a:rPr>
              <a:t>，</a:t>
            </a:r>
            <a:r>
              <a:rPr lang="en-US" altLang="zh-CN" b="1" dirty="0">
                <a:latin typeface="宋体"/>
                <a:ea typeface="楷体_GB2312" pitchFamily="49" charset="-122"/>
              </a:rPr>
              <a:t>…</a:t>
            </a: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SAT </a:t>
            </a:r>
            <a:r>
              <a:rPr lang="zh-CN" altLang="en-US" b="1" dirty="0">
                <a:latin typeface="楷体_GB2312" pitchFamily="49" charset="-122"/>
                <a:ea typeface="楷体_GB2312" pitchFamily="49" charset="-122"/>
              </a:rPr>
              <a:t>值为</a:t>
            </a:r>
            <a:r>
              <a:rPr lang="en-US" altLang="zh-CN" b="1" dirty="0">
                <a:latin typeface="楷体_GB2312" pitchFamily="49" charset="-122"/>
                <a:ea typeface="楷体_GB2312" pitchFamily="49" charset="-122"/>
              </a:rPr>
              <a:t>6</a:t>
            </a:r>
            <a:r>
              <a:rPr lang="zh-CN" altLang="en-US" b="1" dirty="0">
                <a:latin typeface="楷体_GB2312" pitchFamily="49" charset="-122"/>
                <a:ea typeface="楷体_GB2312" pitchFamily="49" charset="-122"/>
              </a:rPr>
              <a:t>。</a:t>
            </a:r>
          </a:p>
          <a:p>
            <a:pPr marL="363538" indent="-363538" eaLnBrk="1" hangingPunct="1">
              <a:spcBef>
                <a:spcPct val="15000"/>
              </a:spcBef>
              <a:buFont typeface="Monotype Sorts" pitchFamily="2" charset="2"/>
              <a:buNone/>
              <a:tabLst>
                <a:tab pos="2960688" algn="l"/>
              </a:tabLst>
              <a:defRPr/>
            </a:pPr>
            <a:r>
              <a:rPr lang="zh-CN" altLang="en-US" b="1" dirty="0">
                <a:latin typeface="楷体_GB2312" pitchFamily="49" charset="-122"/>
                <a:ea typeface="楷体_GB2312" pitchFamily="49" charset="-122"/>
              </a:rPr>
              <a:t>注意：程序不能对它们赋值。</a:t>
            </a:r>
          </a:p>
        </p:txBody>
      </p:sp>
      <p:sp>
        <p:nvSpPr>
          <p:cNvPr id="5" name="灯片编号占位符 5"/>
          <p:cNvSpPr>
            <a:spLocks noGrp="1"/>
          </p:cNvSpPr>
          <p:nvPr>
            <p:ph type="sldNum" sz="quarter" idx="12"/>
          </p:nvPr>
        </p:nvSpPr>
        <p:spPr/>
        <p:txBody>
          <a:bodyPr/>
          <a:lstStyle/>
          <a:p>
            <a:pPr>
              <a:defRPr/>
            </a:pPr>
            <a:fld id="{C8079707-21FC-4A84-8822-BDD6BF3CC156}" type="slidenum">
              <a:rPr lang="en-US" altLang="zh-CN"/>
              <a:pPr>
                <a:defRPr/>
              </a:pPr>
              <a:t>129</a:t>
            </a:fld>
            <a:endParaRPr lang="en-US" altLang="zh-CN"/>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3" name="Rectangle 3"/>
          <p:cNvSpPr>
            <a:spLocks noGrp="1" noChangeArrowheads="1"/>
          </p:cNvSpPr>
          <p:nvPr>
            <p:ph idx="1"/>
          </p:nvPr>
        </p:nvSpPr>
        <p:spPr>
          <a:xfrm>
            <a:off x="323850" y="476250"/>
            <a:ext cx="8569325" cy="5905500"/>
          </a:xfrm>
        </p:spPr>
        <p:txBody>
          <a:bodyPr/>
          <a:lstStyle/>
          <a:p>
            <a:pPr marL="0" indent="0" eaLnBrk="1" hangingPunct="1">
              <a:lnSpc>
                <a:spcPct val="110000"/>
              </a:lnSpc>
              <a:buFont typeface="Monotype Sorts" pitchFamily="2" charset="2"/>
              <a:buNone/>
              <a:defRPr/>
            </a:pPr>
            <a:r>
              <a:rPr lang="en-US" altLang="zh-CN" b="1" dirty="0">
                <a:latin typeface="楷体_GB2312" pitchFamily="49" charset="-122"/>
                <a:ea typeface="楷体_GB2312" pitchFamily="49" charset="-122"/>
              </a:rPr>
              <a:t>4.</a:t>
            </a:r>
            <a:r>
              <a:rPr lang="zh-CN" altLang="en-US" b="1" dirty="0">
                <a:latin typeface="楷体_GB2312" pitchFamily="49" charset="-122"/>
                <a:ea typeface="楷体_GB2312" pitchFamily="49" charset="-122"/>
              </a:rPr>
              <a:t>枚举变量的赋值。</a:t>
            </a:r>
          </a:p>
          <a:p>
            <a:pPr marL="0" indent="0" eaLnBrk="1" hangingPunct="1">
              <a:lnSpc>
                <a:spcPct val="110000"/>
              </a:lnSpc>
              <a:buFont typeface="Monotype Sorts" pitchFamily="2" charset="2"/>
              <a:buNone/>
              <a:defRPr/>
            </a:pPr>
            <a:r>
              <a:rPr lang="zh-CN" altLang="en-US" b="1" dirty="0">
                <a:latin typeface="楷体_GB2312" pitchFamily="49" charset="-122"/>
                <a:ea typeface="楷体_GB2312" pitchFamily="49" charset="-122"/>
              </a:rPr>
              <a:t>  例如： </a:t>
            </a:r>
            <a:r>
              <a:rPr lang="en-US" altLang="zh-CN" b="1" dirty="0">
                <a:latin typeface="楷体_GB2312" pitchFamily="49" charset="-122"/>
                <a:ea typeface="楷体_GB2312" pitchFamily="49" charset="-122"/>
              </a:rPr>
              <a:t>today = SUN;   </a:t>
            </a:r>
            <a:r>
              <a:rPr lang="zh-CN" altLang="en-US" b="1" dirty="0">
                <a:latin typeface="楷体_GB2312" pitchFamily="49" charset="-122"/>
                <a:ea typeface="楷体_GB2312" pitchFamily="49" charset="-122"/>
              </a:rPr>
              <a:t>是正确的。</a:t>
            </a:r>
          </a:p>
          <a:p>
            <a:pPr marL="0" indent="0" eaLnBrk="1" hangingPunct="1">
              <a:lnSpc>
                <a:spcPct val="110000"/>
              </a:lnSpc>
              <a:buFont typeface="Monotype Sorts" pitchFamily="2" charset="2"/>
              <a:buNone/>
              <a:defRPr/>
            </a:pPr>
            <a:r>
              <a:rPr lang="zh-CN" altLang="en-US" b="1" dirty="0">
                <a:latin typeface="楷体_GB2312" pitchFamily="49" charset="-122"/>
                <a:ea typeface="楷体_GB2312" pitchFamily="49" charset="-122"/>
              </a:rPr>
              <a:t>    而： </a:t>
            </a:r>
            <a:r>
              <a:rPr lang="en-US" altLang="zh-CN" b="1" dirty="0">
                <a:latin typeface="楷体_GB2312" pitchFamily="49" charset="-122"/>
                <a:ea typeface="楷体_GB2312" pitchFamily="49" charset="-122"/>
              </a:rPr>
              <a:t>SUN = 0 </a:t>
            </a:r>
            <a:r>
              <a:rPr lang="zh-CN" altLang="en-US" b="1" dirty="0">
                <a:latin typeface="楷体_GB2312" pitchFamily="49" charset="-122"/>
                <a:ea typeface="楷体_GB2312" pitchFamily="49" charset="-122"/>
              </a:rPr>
              <a:t>或  </a:t>
            </a:r>
            <a:r>
              <a:rPr lang="en-US" altLang="zh-CN" b="1" dirty="0">
                <a:latin typeface="楷体_GB2312" pitchFamily="49" charset="-122"/>
                <a:ea typeface="楷体_GB2312" pitchFamily="49" charset="-122"/>
              </a:rPr>
              <a:t>SAT = 6 </a:t>
            </a:r>
            <a:r>
              <a:rPr lang="zh-CN" altLang="en-US" b="1" dirty="0">
                <a:latin typeface="楷体_GB2312" pitchFamily="49" charset="-122"/>
                <a:ea typeface="楷体_GB2312" pitchFamily="49" charset="-122"/>
              </a:rPr>
              <a:t>都是错误的。</a:t>
            </a:r>
          </a:p>
          <a:p>
            <a:pPr marL="0" indent="0" eaLnBrk="1" hangingPunct="1">
              <a:lnSpc>
                <a:spcPct val="110000"/>
              </a:lnSpc>
              <a:buFont typeface="Monotype Sorts" pitchFamily="2" charset="2"/>
              <a:buNone/>
              <a:defRPr/>
            </a:pPr>
            <a:r>
              <a:rPr lang="en-US" altLang="zh-CN" b="1" dirty="0">
                <a:latin typeface="楷体_GB2312" pitchFamily="49" charset="-122"/>
                <a:ea typeface="楷体_GB2312" pitchFamily="49" charset="-122"/>
              </a:rPr>
              <a:t>5. </a:t>
            </a:r>
            <a:r>
              <a:rPr lang="zh-CN" altLang="en-US" b="1" dirty="0">
                <a:latin typeface="楷体_GB2312" pitchFamily="49" charset="-122"/>
                <a:ea typeface="楷体_GB2312" pitchFamily="49" charset="-122"/>
              </a:rPr>
              <a:t>枚举常量的对应整数也可由程序直接指定。如</a:t>
            </a:r>
            <a:r>
              <a:rPr lang="en-US" altLang="zh-CN" b="1" dirty="0">
                <a:latin typeface="楷体_GB2312" pitchFamily="49" charset="-122"/>
                <a:ea typeface="楷体_GB2312" pitchFamily="49" charset="-122"/>
              </a:rPr>
              <a:t>:</a:t>
            </a:r>
          </a:p>
          <a:p>
            <a:pPr marL="0" indent="0" eaLnBrk="1" hangingPunct="1">
              <a:lnSpc>
                <a:spcPct val="110000"/>
              </a:lnSpc>
              <a:buFont typeface="Monotype Sorts" pitchFamily="2" charset="2"/>
              <a:buNone/>
              <a:defRPr/>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enum</a:t>
            </a:r>
            <a:r>
              <a:rPr lang="en-US" altLang="zh-CN" sz="2400" b="1" dirty="0">
                <a:latin typeface="楷体_GB2312" pitchFamily="49" charset="-122"/>
                <a:ea typeface="楷体_GB2312" pitchFamily="49" charset="-122"/>
              </a:rPr>
              <a:t> weekday {SUN=7,MON=1,TUE,WED,THU,FRI,SAT};</a:t>
            </a:r>
          </a:p>
          <a:p>
            <a:pPr marL="0" indent="0" eaLnBrk="1" hangingPunct="1">
              <a:lnSpc>
                <a:spcPct val="110000"/>
              </a:lnSpc>
              <a:buFont typeface="Monotype Sorts" pitchFamily="2" charset="2"/>
              <a:buNone/>
              <a:defRPr/>
            </a:pPr>
            <a:r>
              <a:rPr lang="zh-CN" altLang="en-US" b="1" dirty="0">
                <a:latin typeface="楷体_GB2312" pitchFamily="49" charset="-122"/>
                <a:ea typeface="楷体_GB2312" pitchFamily="49" charset="-122"/>
              </a:rPr>
              <a:t>表示：指定</a:t>
            </a:r>
            <a:r>
              <a:rPr lang="en-US" altLang="zh-CN" b="1" dirty="0">
                <a:latin typeface="楷体_GB2312" pitchFamily="49" charset="-122"/>
                <a:ea typeface="楷体_GB2312" pitchFamily="49" charset="-122"/>
              </a:rPr>
              <a:t>SUN</a:t>
            </a:r>
            <a:r>
              <a:rPr lang="zh-CN" altLang="en-US" b="1" dirty="0">
                <a:latin typeface="楷体_GB2312" pitchFamily="49" charset="-122"/>
                <a:ea typeface="楷体_GB2312" pitchFamily="49" charset="-122"/>
              </a:rPr>
              <a:t>为</a:t>
            </a:r>
            <a:r>
              <a:rPr lang="en-US" altLang="zh-CN" b="1" dirty="0">
                <a:latin typeface="楷体_GB2312" pitchFamily="49" charset="-122"/>
                <a:ea typeface="楷体_GB2312" pitchFamily="49" charset="-122"/>
              </a:rPr>
              <a:t>7</a:t>
            </a: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MON</a:t>
            </a:r>
            <a:r>
              <a:rPr lang="zh-CN" altLang="en-US" b="1" dirty="0">
                <a:latin typeface="楷体_GB2312" pitchFamily="49" charset="-122"/>
                <a:ea typeface="楷体_GB2312" pitchFamily="49" charset="-122"/>
              </a:rPr>
              <a:t>为</a:t>
            </a:r>
            <a:r>
              <a:rPr lang="en-US" altLang="zh-CN" b="1" dirty="0">
                <a:latin typeface="楷体_GB2312" pitchFamily="49" charset="-122"/>
                <a:ea typeface="楷体_GB2312" pitchFamily="49" charset="-122"/>
              </a:rPr>
              <a:t>1</a:t>
            </a:r>
            <a:r>
              <a:rPr lang="zh-CN" altLang="en-US" b="1" dirty="0">
                <a:latin typeface="楷体_GB2312" pitchFamily="49" charset="-122"/>
                <a:ea typeface="楷体_GB2312" pitchFamily="49" charset="-122"/>
              </a:rPr>
              <a:t>，后面未指定对应整数的枚举常量所代表的整数，是前一个枚举常量代表的整数加</a:t>
            </a:r>
            <a:r>
              <a:rPr lang="en-US" altLang="zh-CN" b="1" dirty="0">
                <a:latin typeface="楷体_GB2312" pitchFamily="49" charset="-122"/>
                <a:ea typeface="楷体_GB2312" pitchFamily="49" charset="-122"/>
              </a:rPr>
              <a:t>1</a:t>
            </a:r>
            <a:r>
              <a:rPr lang="zh-CN" altLang="en-US" b="1" dirty="0">
                <a:latin typeface="楷体_GB2312" pitchFamily="49" charset="-122"/>
                <a:ea typeface="楷体_GB2312" pitchFamily="49" charset="-122"/>
              </a:rPr>
              <a:t>。所以，</a:t>
            </a:r>
            <a:r>
              <a:rPr lang="en-US" altLang="zh-CN" b="1" dirty="0">
                <a:latin typeface="楷体_GB2312" pitchFamily="49" charset="-122"/>
                <a:ea typeface="楷体_GB2312" pitchFamily="49" charset="-122"/>
              </a:rPr>
              <a:t>TUE</a:t>
            </a:r>
            <a:r>
              <a:rPr lang="zh-CN" altLang="en-US" b="1" dirty="0">
                <a:latin typeface="楷体_GB2312" pitchFamily="49" charset="-122"/>
                <a:ea typeface="楷体_GB2312" pitchFamily="49" charset="-122"/>
              </a:rPr>
              <a:t>为</a:t>
            </a:r>
            <a:r>
              <a:rPr lang="en-US" altLang="zh-CN" b="1" dirty="0">
                <a:latin typeface="楷体_GB2312" pitchFamily="49" charset="-122"/>
                <a:ea typeface="楷体_GB2312" pitchFamily="49" charset="-122"/>
              </a:rPr>
              <a:t>2</a:t>
            </a:r>
            <a:r>
              <a:rPr lang="zh-CN" altLang="en-US" b="1" dirty="0">
                <a:latin typeface="楷体_GB2312" pitchFamily="49" charset="-122"/>
                <a:ea typeface="楷体_GB2312" pitchFamily="49" charset="-122"/>
              </a:rPr>
              <a:t>，</a:t>
            </a:r>
            <a:r>
              <a:rPr lang="en-US" altLang="zh-CN" b="1" dirty="0">
                <a:latin typeface="宋体"/>
                <a:ea typeface="楷体_GB2312" pitchFamily="49" charset="-122"/>
              </a:rPr>
              <a:t>…</a:t>
            </a: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SAT</a:t>
            </a:r>
            <a:r>
              <a:rPr lang="zh-CN" altLang="en-US" b="1" dirty="0">
                <a:latin typeface="楷体_GB2312" pitchFamily="49" charset="-122"/>
                <a:ea typeface="楷体_GB2312" pitchFamily="49" charset="-122"/>
              </a:rPr>
              <a:t>为</a:t>
            </a:r>
            <a:r>
              <a:rPr lang="en-US" altLang="zh-CN" b="1" dirty="0">
                <a:latin typeface="楷体_GB2312" pitchFamily="49" charset="-122"/>
                <a:ea typeface="楷体_GB2312" pitchFamily="49" charset="-122"/>
              </a:rPr>
              <a:t>6</a:t>
            </a:r>
            <a:r>
              <a:rPr lang="zh-CN" altLang="en-US" b="1" dirty="0">
                <a:latin typeface="楷体_GB2312" pitchFamily="49" charset="-122"/>
                <a:ea typeface="楷体_GB2312" pitchFamily="49" charset="-122"/>
              </a:rPr>
              <a:t>。</a:t>
            </a:r>
          </a:p>
          <a:p>
            <a:pPr marL="0" indent="0" eaLnBrk="1" hangingPunct="1">
              <a:lnSpc>
                <a:spcPct val="110000"/>
              </a:lnSpc>
              <a:buFont typeface="Monotype Sorts" pitchFamily="2" charset="2"/>
              <a:buNone/>
              <a:defRPr/>
            </a:pPr>
            <a:r>
              <a:rPr lang="en-US" altLang="zh-CN" b="1" dirty="0">
                <a:latin typeface="楷体_GB2312" pitchFamily="49" charset="-122"/>
                <a:ea typeface="楷体_GB2312" pitchFamily="49" charset="-122"/>
              </a:rPr>
              <a:t>6.</a:t>
            </a:r>
            <a:r>
              <a:rPr lang="zh-CN" altLang="en-US" b="1" dirty="0">
                <a:latin typeface="楷体_GB2312" pitchFamily="49" charset="-122"/>
                <a:ea typeface="楷体_GB2312" pitchFamily="49" charset="-122"/>
              </a:rPr>
              <a:t>枚举类型变量与常量或整数可以作关系比较。</a:t>
            </a:r>
          </a:p>
          <a:p>
            <a:pPr marL="0" indent="0" eaLnBrk="1" hangingPunct="1">
              <a:lnSpc>
                <a:spcPct val="110000"/>
              </a:lnSpc>
              <a:buFont typeface="Monotype Sorts" pitchFamily="2" charset="2"/>
              <a:buNone/>
              <a:defRPr/>
            </a:pPr>
            <a:r>
              <a:rPr lang="zh-CN" altLang="en-US" b="1" dirty="0">
                <a:latin typeface="楷体_GB2312" pitchFamily="49" charset="-122"/>
                <a:ea typeface="楷体_GB2312" pitchFamily="49" charset="-122"/>
              </a:rPr>
              <a:t>例如： </a:t>
            </a:r>
            <a:r>
              <a:rPr lang="en-US" altLang="zh-CN" b="1" dirty="0">
                <a:latin typeface="楷体_GB2312" pitchFamily="49" charset="-122"/>
                <a:ea typeface="楷体_GB2312" pitchFamily="49" charset="-122"/>
              </a:rPr>
              <a:t>if (today == SUN) yesterday = SAT</a:t>
            </a:r>
            <a:r>
              <a:rPr lang="en-US" altLang="zh-CN" b="1" dirty="0">
                <a:solidFill>
                  <a:schemeClr val="bg2"/>
                </a:solidFill>
                <a:latin typeface="楷体_GB2312" pitchFamily="49" charset="-122"/>
                <a:ea typeface="楷体_GB2312" pitchFamily="49" charset="-122"/>
              </a:rPr>
              <a:t>;</a:t>
            </a:r>
          </a:p>
        </p:txBody>
      </p:sp>
      <p:sp>
        <p:nvSpPr>
          <p:cNvPr id="5" name="灯片编号占位符 5"/>
          <p:cNvSpPr>
            <a:spLocks noGrp="1"/>
          </p:cNvSpPr>
          <p:nvPr>
            <p:ph type="sldNum" sz="quarter" idx="12"/>
          </p:nvPr>
        </p:nvSpPr>
        <p:spPr/>
        <p:txBody>
          <a:bodyPr/>
          <a:lstStyle/>
          <a:p>
            <a:pPr>
              <a:defRPr/>
            </a:pPr>
            <a:fld id="{BE324831-4D30-4D2A-BFB2-FFEA5BB89BED}" type="slidenum">
              <a:rPr lang="en-US" altLang="zh-CN"/>
              <a:pPr>
                <a:defRPr/>
              </a:pPr>
              <a:t>130</a:t>
            </a:fld>
            <a:endParaRPr lang="en-US" altLang="zh-CN"/>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Grp="1" noChangeArrowheads="1"/>
          </p:cNvSpPr>
          <p:nvPr>
            <p:ph type="title"/>
          </p:nvPr>
        </p:nvSpPr>
        <p:spPr>
          <a:xfrm>
            <a:off x="323850" y="188913"/>
            <a:ext cx="8351838" cy="609600"/>
          </a:xfrm>
        </p:spPr>
        <p:txBody>
          <a:bodyPr/>
          <a:lstStyle/>
          <a:p>
            <a:pPr eaLnBrk="1" hangingPunct="1">
              <a:lnSpc>
                <a:spcPct val="100000"/>
              </a:lnSpc>
              <a:defRPr/>
            </a:pPr>
            <a:r>
              <a:rPr lang="en-US" altLang="zh-CN" sz="3200" b="1" dirty="0">
                <a:solidFill>
                  <a:schemeClr val="tx1"/>
                </a:solidFill>
                <a:latin typeface="Times New Roman" pitchFamily="18" charset="0"/>
              </a:rPr>
              <a:t>7.8 </a:t>
            </a:r>
            <a:r>
              <a:rPr lang="zh-CN" altLang="en-US" sz="3200" b="1" dirty="0">
                <a:solidFill>
                  <a:schemeClr val="tx1"/>
                </a:solidFill>
                <a:latin typeface="Times New Roman" pitchFamily="18" charset="0"/>
              </a:rPr>
              <a:t>类型定义</a:t>
            </a:r>
            <a:endParaRPr lang="zh-CN" altLang="en-US" sz="4800" b="1" dirty="0">
              <a:solidFill>
                <a:schemeClr val="tx1"/>
              </a:solidFill>
              <a:latin typeface="Times New Roman" pitchFamily="18" charset="0"/>
            </a:endParaRPr>
          </a:p>
        </p:txBody>
      </p:sp>
      <p:sp>
        <p:nvSpPr>
          <p:cNvPr id="584707" name="Rectangle 3"/>
          <p:cNvSpPr>
            <a:spLocks noGrp="1" noChangeArrowheads="1"/>
          </p:cNvSpPr>
          <p:nvPr>
            <p:ph idx="1"/>
          </p:nvPr>
        </p:nvSpPr>
        <p:spPr>
          <a:xfrm>
            <a:off x="323850" y="908050"/>
            <a:ext cx="8497888" cy="5689600"/>
          </a:xfrm>
        </p:spPr>
        <p:txBody>
          <a:bodyPr/>
          <a:lstStyle/>
          <a:p>
            <a:pPr marL="0" indent="0" algn="just" eaLnBrk="1" hangingPunct="1">
              <a:buFont typeface="Monotype Sorts" pitchFamily="2" charset="2"/>
              <a:buNone/>
              <a:defRPr/>
            </a:pPr>
            <a:r>
              <a:rPr lang="zh-CN" altLang="en-US" b="1" dirty="0">
                <a:latin typeface="楷体_GB2312" pitchFamily="49" charset="-122"/>
                <a:ea typeface="楷体_GB2312" pitchFamily="49" charset="-122"/>
              </a:rPr>
              <a:t>在</a:t>
            </a:r>
            <a:r>
              <a:rPr lang="en-US" altLang="zh-CN" b="1" dirty="0">
                <a:latin typeface="楷体_GB2312" pitchFamily="49" charset="-122"/>
                <a:ea typeface="楷体_GB2312" pitchFamily="49" charset="-122"/>
              </a:rPr>
              <a:t>C</a:t>
            </a:r>
            <a:r>
              <a:rPr lang="zh-CN" altLang="en-US" b="1" dirty="0">
                <a:latin typeface="楷体_GB2312" pitchFamily="49" charset="-122"/>
                <a:ea typeface="楷体_GB2312" pitchFamily="49" charset="-122"/>
              </a:rPr>
              <a:t>语言中，一般用</a:t>
            </a:r>
            <a:r>
              <a:rPr lang="en-US" altLang="zh-CN" b="1" dirty="0" err="1">
                <a:latin typeface="楷体_GB2312" pitchFamily="49" charset="-122"/>
                <a:ea typeface="楷体_GB2312" pitchFamily="49" charset="-122"/>
              </a:rPr>
              <a:t>int</a:t>
            </a: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char</a:t>
            </a: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float</a:t>
            </a: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double</a:t>
            </a:r>
            <a:r>
              <a:rPr lang="zh-CN" altLang="en-US" b="1" dirty="0">
                <a:latin typeface="楷体_GB2312" pitchFamily="49" charset="-122"/>
                <a:ea typeface="楷体_GB2312" pitchFamily="49" charset="-122"/>
              </a:rPr>
              <a:t>等来定义标准的类型，用</a:t>
            </a:r>
            <a:r>
              <a:rPr lang="en-US" altLang="zh-CN" b="1" dirty="0" err="1">
                <a:latin typeface="楷体_GB2312" pitchFamily="49" charset="-122"/>
                <a:ea typeface="楷体_GB2312" pitchFamily="49" charset="-122"/>
              </a:rPr>
              <a:t>struct</a:t>
            </a: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union</a:t>
            </a:r>
            <a:r>
              <a:rPr lang="zh-CN" altLang="en-US" b="1" dirty="0">
                <a:latin typeface="楷体_GB2312" pitchFamily="49" charset="-122"/>
                <a:ea typeface="楷体_GB2312" pitchFamily="49" charset="-122"/>
              </a:rPr>
              <a:t>、</a:t>
            </a:r>
            <a:r>
              <a:rPr lang="en-US" altLang="zh-CN" b="1" dirty="0" err="1">
                <a:latin typeface="楷体_GB2312" pitchFamily="49" charset="-122"/>
                <a:ea typeface="楷体_GB2312" pitchFamily="49" charset="-122"/>
              </a:rPr>
              <a:t>enum</a:t>
            </a:r>
            <a:r>
              <a:rPr lang="en-US" altLang="zh-CN" b="1" dirty="0">
                <a:latin typeface="楷体_GB2312" pitchFamily="49" charset="-122"/>
                <a:ea typeface="楷体_GB2312" pitchFamily="49" charset="-122"/>
              </a:rPr>
              <a:t> </a:t>
            </a:r>
            <a:r>
              <a:rPr lang="zh-CN" altLang="en-US" b="1" dirty="0">
                <a:latin typeface="楷体_GB2312" pitchFamily="49" charset="-122"/>
                <a:ea typeface="楷体_GB2312" pitchFamily="49" charset="-122"/>
              </a:rPr>
              <a:t>定义结构，联合和枚举。另外，还可用</a:t>
            </a:r>
            <a:r>
              <a:rPr lang="en-US" altLang="zh-CN" b="1" dirty="0" err="1">
                <a:solidFill>
                  <a:srgbClr val="FF0000"/>
                </a:solidFill>
                <a:latin typeface="楷体_GB2312" pitchFamily="49" charset="-122"/>
                <a:ea typeface="楷体_GB2312" pitchFamily="49" charset="-122"/>
              </a:rPr>
              <a:t>typedef</a:t>
            </a:r>
            <a:r>
              <a:rPr lang="zh-CN" altLang="en-US" b="1" dirty="0">
                <a:latin typeface="楷体_GB2312" pitchFamily="49" charset="-122"/>
                <a:ea typeface="楷体_GB2312" pitchFamily="49" charset="-122"/>
              </a:rPr>
              <a:t>定义新的类型名来代替已有的类型名。</a:t>
            </a:r>
          </a:p>
          <a:p>
            <a:pPr marL="0" indent="0" algn="just" eaLnBrk="1" hangingPunct="1">
              <a:buFont typeface="Monotype Sorts" pitchFamily="2" charset="2"/>
              <a:buNone/>
              <a:defRPr/>
            </a:pPr>
            <a:r>
              <a:rPr lang="zh-CN" altLang="en-US" b="1" dirty="0">
                <a:latin typeface="楷体_GB2312" pitchFamily="49" charset="-122"/>
                <a:ea typeface="楷体_GB2312" pitchFamily="49" charset="-122"/>
              </a:rPr>
              <a:t>例</a:t>
            </a:r>
            <a:r>
              <a:rPr lang="en-US" altLang="zh-CN" b="1" dirty="0">
                <a:latin typeface="楷体_GB2312" pitchFamily="49" charset="-122"/>
                <a:ea typeface="楷体_GB2312" pitchFamily="49" charset="-122"/>
              </a:rPr>
              <a:t>1</a:t>
            </a:r>
            <a:r>
              <a:rPr lang="zh-CN" altLang="en-US" b="1" dirty="0">
                <a:latin typeface="楷体_GB2312" pitchFamily="49" charset="-122"/>
                <a:ea typeface="楷体_GB2312" pitchFamily="49" charset="-122"/>
              </a:rPr>
              <a:t>： </a:t>
            </a:r>
            <a:r>
              <a:rPr lang="en-US" altLang="zh-CN" b="1" dirty="0" err="1">
                <a:latin typeface="楷体_GB2312" pitchFamily="49" charset="-122"/>
                <a:ea typeface="楷体_GB2312" pitchFamily="49" charset="-122"/>
              </a:rPr>
              <a:t>typedef</a:t>
            </a:r>
            <a:r>
              <a:rPr lang="en-US" altLang="zh-CN" b="1" dirty="0">
                <a:latin typeface="楷体_GB2312" pitchFamily="49" charset="-122"/>
                <a:ea typeface="楷体_GB2312" pitchFamily="49" charset="-122"/>
              </a:rPr>
              <a:t>  </a:t>
            </a:r>
            <a:r>
              <a:rPr lang="en-US" altLang="zh-CN" b="1" dirty="0" err="1">
                <a:latin typeface="楷体_GB2312" pitchFamily="49" charset="-122"/>
                <a:ea typeface="楷体_GB2312" pitchFamily="49" charset="-122"/>
              </a:rPr>
              <a:t>int</a:t>
            </a:r>
            <a:r>
              <a:rPr lang="en-US" altLang="zh-CN" b="1" dirty="0">
                <a:latin typeface="楷体_GB2312" pitchFamily="49" charset="-122"/>
                <a:ea typeface="楷体_GB2312" pitchFamily="49" charset="-122"/>
              </a:rPr>
              <a:t>   INTEGER;</a:t>
            </a:r>
          </a:p>
          <a:p>
            <a:pPr marL="0" indent="0" algn="just" eaLnBrk="1" hangingPunct="1">
              <a:buFont typeface="Monotype Sorts" pitchFamily="2" charset="2"/>
              <a:buNone/>
              <a:defRPr/>
            </a:pPr>
            <a:r>
              <a:rPr lang="en-US" altLang="zh-CN" b="1" dirty="0">
                <a:latin typeface="楷体_GB2312" pitchFamily="49" charset="-122"/>
                <a:ea typeface="楷体_GB2312" pitchFamily="49" charset="-122"/>
              </a:rPr>
              <a:t>      </a:t>
            </a:r>
            <a:r>
              <a:rPr lang="en-US" altLang="zh-CN" b="1" dirty="0" err="1">
                <a:latin typeface="楷体_GB2312" pitchFamily="49" charset="-122"/>
                <a:ea typeface="楷体_GB2312" pitchFamily="49" charset="-122"/>
              </a:rPr>
              <a:t>typedef</a:t>
            </a:r>
            <a:r>
              <a:rPr lang="en-US" altLang="zh-CN" b="1" dirty="0">
                <a:latin typeface="楷体_GB2312" pitchFamily="49" charset="-122"/>
                <a:ea typeface="楷体_GB2312" pitchFamily="49" charset="-122"/>
              </a:rPr>
              <a:t>  float REAL; </a:t>
            </a:r>
          </a:p>
          <a:p>
            <a:pPr marL="0" indent="0" algn="just" eaLnBrk="1" hangingPunct="1">
              <a:buFont typeface="Monotype Sorts" pitchFamily="2" charset="2"/>
              <a:buNone/>
              <a:defRPr/>
            </a:pPr>
            <a:r>
              <a:rPr lang="zh-CN" altLang="en-US" b="1" dirty="0">
                <a:latin typeface="楷体_GB2312" pitchFamily="49" charset="-122"/>
                <a:ea typeface="楷体_GB2312" pitchFamily="49" charset="-122"/>
              </a:rPr>
              <a:t>表示：用</a:t>
            </a:r>
            <a:r>
              <a:rPr lang="en-US" altLang="zh-CN" b="1" dirty="0">
                <a:latin typeface="楷体_GB2312" pitchFamily="49" charset="-122"/>
                <a:ea typeface="楷体_GB2312" pitchFamily="49" charset="-122"/>
              </a:rPr>
              <a:t>INTEGER</a:t>
            </a:r>
            <a:r>
              <a:rPr lang="zh-CN" altLang="en-US" b="1" dirty="0">
                <a:latin typeface="楷体_GB2312" pitchFamily="49" charset="-122"/>
                <a:ea typeface="楷体_GB2312" pitchFamily="49" charset="-122"/>
              </a:rPr>
              <a:t>代表</a:t>
            </a:r>
            <a:r>
              <a:rPr lang="en-US" altLang="zh-CN" b="1" dirty="0" err="1">
                <a:latin typeface="楷体_GB2312" pitchFamily="49" charset="-122"/>
                <a:ea typeface="楷体_GB2312" pitchFamily="49" charset="-122"/>
              </a:rPr>
              <a:t>int</a:t>
            </a:r>
            <a:r>
              <a:rPr lang="zh-CN" altLang="en-US" b="1" dirty="0">
                <a:latin typeface="楷体_GB2312" pitchFamily="49" charset="-122"/>
                <a:ea typeface="楷体_GB2312" pitchFamily="49" charset="-122"/>
              </a:rPr>
              <a:t>类型；</a:t>
            </a:r>
          </a:p>
          <a:p>
            <a:pPr marL="0" indent="0" algn="just" eaLnBrk="1" hangingPunct="1">
              <a:buFont typeface="Monotype Sorts" pitchFamily="2" charset="2"/>
              <a:buNone/>
              <a:defRPr/>
            </a:pPr>
            <a:r>
              <a:rPr lang="zh-CN" altLang="en-US" b="1" dirty="0">
                <a:latin typeface="楷体_GB2312" pitchFamily="49" charset="-122"/>
                <a:ea typeface="楷体_GB2312" pitchFamily="49" charset="-122"/>
              </a:rPr>
              <a:t>      用</a:t>
            </a:r>
            <a:r>
              <a:rPr lang="en-US" altLang="zh-CN" b="1" dirty="0">
                <a:latin typeface="楷体_GB2312" pitchFamily="49" charset="-122"/>
                <a:ea typeface="楷体_GB2312" pitchFamily="49" charset="-122"/>
              </a:rPr>
              <a:t>REAL</a:t>
            </a:r>
            <a:r>
              <a:rPr lang="zh-CN" altLang="en-US" b="1" dirty="0">
                <a:latin typeface="楷体_GB2312" pitchFamily="49" charset="-122"/>
                <a:ea typeface="楷体_GB2312" pitchFamily="49" charset="-122"/>
              </a:rPr>
              <a:t>代表</a:t>
            </a:r>
            <a:r>
              <a:rPr lang="en-US" altLang="zh-CN" b="1" dirty="0">
                <a:latin typeface="楷体_GB2312" pitchFamily="49" charset="-122"/>
                <a:ea typeface="楷体_GB2312" pitchFamily="49" charset="-122"/>
              </a:rPr>
              <a:t>float</a:t>
            </a:r>
            <a:r>
              <a:rPr lang="zh-CN" altLang="en-US" b="1" dirty="0">
                <a:latin typeface="楷体_GB2312" pitchFamily="49" charset="-122"/>
                <a:ea typeface="楷体_GB2312" pitchFamily="49" charset="-122"/>
              </a:rPr>
              <a:t>类型。</a:t>
            </a:r>
          </a:p>
          <a:p>
            <a:pPr marL="0" indent="0" algn="just" eaLnBrk="1" hangingPunct="1">
              <a:buFont typeface="Monotype Sorts" pitchFamily="2" charset="2"/>
              <a:buNone/>
              <a:defRPr/>
            </a:pPr>
            <a:r>
              <a:rPr lang="zh-CN" altLang="en-US" b="1" dirty="0">
                <a:latin typeface="楷体_GB2312" pitchFamily="49" charset="-122"/>
                <a:ea typeface="楷体_GB2312" pitchFamily="49" charset="-122"/>
              </a:rPr>
              <a:t>这样：</a:t>
            </a:r>
            <a:r>
              <a:rPr lang="en-US" altLang="zh-CN" b="1" dirty="0" err="1">
                <a:latin typeface="楷体_GB2312" pitchFamily="49" charset="-122"/>
                <a:ea typeface="楷体_GB2312" pitchFamily="49" charset="-122"/>
              </a:rPr>
              <a:t>int</a:t>
            </a:r>
            <a:r>
              <a:rPr lang="en-US" altLang="zh-CN" b="1" dirty="0">
                <a:latin typeface="楷体_GB2312" pitchFamily="49" charset="-122"/>
                <a:ea typeface="楷体_GB2312" pitchFamily="49" charset="-122"/>
              </a:rPr>
              <a:t> </a:t>
            </a:r>
            <a:r>
              <a:rPr lang="en-US" altLang="zh-CN" b="1" dirty="0" err="1">
                <a:latin typeface="楷体_GB2312" pitchFamily="49" charset="-122"/>
                <a:ea typeface="楷体_GB2312" pitchFamily="49" charset="-122"/>
              </a:rPr>
              <a:t>i</a:t>
            </a:r>
            <a:r>
              <a:rPr lang="en-US" altLang="zh-CN" b="1" dirty="0">
                <a:latin typeface="楷体_GB2312" pitchFamily="49" charset="-122"/>
                <a:ea typeface="楷体_GB2312" pitchFamily="49" charset="-122"/>
              </a:rPr>
              <a:t>, j; float x, y;</a:t>
            </a:r>
          </a:p>
          <a:p>
            <a:pPr marL="0" indent="0" algn="just" eaLnBrk="1" hangingPunct="1">
              <a:buFont typeface="Monotype Sorts" pitchFamily="2" charset="2"/>
              <a:buNone/>
              <a:defRPr/>
            </a:pPr>
            <a:r>
              <a:rPr lang="en-US" altLang="zh-CN" b="1" dirty="0">
                <a:latin typeface="楷体_GB2312" pitchFamily="49" charset="-122"/>
                <a:ea typeface="楷体_GB2312" pitchFamily="49" charset="-122"/>
              </a:rPr>
              <a:t>      INTEGER </a:t>
            </a:r>
            <a:r>
              <a:rPr lang="en-US" altLang="zh-CN" b="1" dirty="0" err="1">
                <a:latin typeface="楷体_GB2312" pitchFamily="49" charset="-122"/>
                <a:ea typeface="楷体_GB2312" pitchFamily="49" charset="-122"/>
              </a:rPr>
              <a:t>i</a:t>
            </a:r>
            <a:r>
              <a:rPr lang="en-US" altLang="zh-CN" b="1" dirty="0">
                <a:latin typeface="楷体_GB2312" pitchFamily="49" charset="-122"/>
                <a:ea typeface="楷体_GB2312" pitchFamily="49" charset="-122"/>
              </a:rPr>
              <a:t>, j; REAL x, y;</a:t>
            </a:r>
          </a:p>
          <a:p>
            <a:pPr marL="0" indent="0" algn="just" eaLnBrk="1" hangingPunct="1">
              <a:buFont typeface="Monotype Sorts" pitchFamily="2" charset="2"/>
              <a:buNone/>
              <a:defRPr/>
            </a:pPr>
            <a:r>
              <a:rPr lang="en-US" altLang="zh-CN" b="1" dirty="0">
                <a:latin typeface="楷体_GB2312" pitchFamily="49" charset="-122"/>
                <a:ea typeface="楷体_GB2312" pitchFamily="49" charset="-122"/>
              </a:rPr>
              <a:t>       /* </a:t>
            </a:r>
            <a:r>
              <a:rPr lang="zh-CN" altLang="en-US" b="1" dirty="0">
                <a:latin typeface="楷体_GB2312" pitchFamily="49" charset="-122"/>
                <a:ea typeface="楷体_GB2312" pitchFamily="49" charset="-122"/>
              </a:rPr>
              <a:t>以上两行等价 *</a:t>
            </a:r>
            <a:r>
              <a:rPr lang="en-US" altLang="zh-CN" b="1" dirty="0">
                <a:latin typeface="楷体_GB2312" pitchFamily="49" charset="-122"/>
                <a:ea typeface="楷体_GB2312" pitchFamily="49" charset="-122"/>
              </a:rPr>
              <a:t>/</a:t>
            </a:r>
          </a:p>
        </p:txBody>
      </p:sp>
      <p:sp>
        <p:nvSpPr>
          <p:cNvPr id="6" name="灯片编号占位符 5"/>
          <p:cNvSpPr>
            <a:spLocks noGrp="1"/>
          </p:cNvSpPr>
          <p:nvPr>
            <p:ph type="sldNum" sz="quarter" idx="12"/>
          </p:nvPr>
        </p:nvSpPr>
        <p:spPr/>
        <p:txBody>
          <a:bodyPr/>
          <a:lstStyle/>
          <a:p>
            <a:pPr>
              <a:defRPr/>
            </a:pPr>
            <a:fld id="{89D69A2F-01F1-4AFC-B0D6-4720A8F09FED}" type="slidenum">
              <a:rPr lang="en-US" altLang="zh-CN"/>
              <a:pPr>
                <a:defRPr/>
              </a:pPr>
              <a:t>131</a:t>
            </a:fld>
            <a:endParaRPr lang="en-US" altLang="zh-CN"/>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1" name="Rectangle 3"/>
          <p:cNvSpPr>
            <a:spLocks noGrp="1" noChangeArrowheads="1"/>
          </p:cNvSpPr>
          <p:nvPr>
            <p:ph idx="1"/>
          </p:nvPr>
        </p:nvSpPr>
        <p:spPr>
          <a:xfrm>
            <a:off x="179388" y="765175"/>
            <a:ext cx="8713787" cy="5688013"/>
          </a:xfrm>
        </p:spPr>
        <p:txBody>
          <a:bodyPr/>
          <a:lstStyle/>
          <a:p>
            <a:pPr marL="0" indent="0" eaLnBrk="1" hangingPunct="1">
              <a:buFont typeface="Monotype Sorts" pitchFamily="2" charset="2"/>
              <a:buNone/>
              <a:defRPr/>
            </a:pPr>
            <a:r>
              <a:rPr lang="zh-CN" altLang="en-US" b="1" dirty="0">
                <a:effectLst>
                  <a:outerShdw blurRad="38100" dist="38100" dir="2700000" algn="tl">
                    <a:srgbClr val="000000"/>
                  </a:outerShdw>
                </a:effectLst>
                <a:latin typeface="楷体_GB2312" pitchFamily="49" charset="-122"/>
                <a:ea typeface="楷体_GB2312" pitchFamily="49" charset="-122"/>
              </a:rPr>
              <a:t>例</a:t>
            </a:r>
            <a:r>
              <a:rPr lang="en-US" altLang="zh-CN" b="1" dirty="0">
                <a:effectLst>
                  <a:outerShdw blurRad="38100" dist="38100" dir="2700000" algn="tl">
                    <a:srgbClr val="000000"/>
                  </a:outerShdw>
                </a:effectLst>
                <a:latin typeface="楷体_GB2312" pitchFamily="49" charset="-122"/>
                <a:ea typeface="楷体_GB2312" pitchFamily="49" charset="-122"/>
              </a:rPr>
              <a:t>2</a:t>
            </a:r>
            <a:r>
              <a:rPr lang="zh-CN" altLang="en-US" b="1" dirty="0">
                <a:effectLst>
                  <a:outerShdw blurRad="38100" dist="38100" dir="2700000" algn="tl">
                    <a:srgbClr val="000000"/>
                  </a:outerShdw>
                </a:effectLst>
                <a:latin typeface="楷体_GB2312" pitchFamily="49" charset="-122"/>
                <a:ea typeface="楷体_GB2312" pitchFamily="49" charset="-122"/>
              </a:rPr>
              <a:t>： </a:t>
            </a:r>
          </a:p>
          <a:p>
            <a:pPr marL="0" indent="0" eaLnBrk="1" hangingPunct="1">
              <a:buFont typeface="Monotype Sorts" pitchFamily="2" charset="2"/>
              <a:buNone/>
              <a:defRPr/>
            </a:pPr>
            <a:r>
              <a:rPr lang="en-US" altLang="zh-CN" b="1" dirty="0" err="1">
                <a:effectLst>
                  <a:outerShdw blurRad="38100" dist="38100" dir="2700000" algn="tl">
                    <a:srgbClr val="000000"/>
                  </a:outerShdw>
                </a:effectLst>
                <a:latin typeface="楷体_GB2312" pitchFamily="49" charset="-122"/>
                <a:ea typeface="楷体_GB2312" pitchFamily="49" charset="-122"/>
              </a:rPr>
              <a:t>typedef</a:t>
            </a:r>
            <a:r>
              <a:rPr lang="en-US" altLang="zh-CN" b="1" dirty="0">
                <a:effectLst>
                  <a:outerShdw blurRad="38100" dist="38100" dir="2700000" algn="tl">
                    <a:srgbClr val="000000"/>
                  </a:outerShdw>
                </a:effectLst>
                <a:latin typeface="楷体_GB2312" pitchFamily="49" charset="-122"/>
                <a:ea typeface="楷体_GB2312" pitchFamily="49" charset="-122"/>
              </a:rPr>
              <a:t>  </a:t>
            </a:r>
            <a:r>
              <a:rPr lang="en-US" altLang="zh-CN" b="1" dirty="0" err="1">
                <a:effectLst>
                  <a:outerShdw blurRad="38100" dist="38100" dir="2700000" algn="tl">
                    <a:srgbClr val="000000"/>
                  </a:outerShdw>
                </a:effectLst>
                <a:latin typeface="楷体_GB2312" pitchFamily="49" charset="-122"/>
                <a:ea typeface="楷体_GB2312" pitchFamily="49" charset="-122"/>
              </a:rPr>
              <a:t>struct</a:t>
            </a:r>
            <a:r>
              <a:rPr lang="en-US" altLang="zh-CN" b="1" dirty="0">
                <a:effectLst>
                  <a:outerShdw blurRad="38100" dist="38100" dir="2700000" algn="tl">
                    <a:srgbClr val="000000"/>
                  </a:outerShdw>
                </a:effectLst>
                <a:latin typeface="楷体_GB2312" pitchFamily="49" charset="-122"/>
                <a:ea typeface="楷体_GB2312" pitchFamily="49" charset="-122"/>
              </a:rPr>
              <a:t>{ </a:t>
            </a:r>
          </a:p>
          <a:p>
            <a:pPr marL="0" indent="0" eaLnBrk="1" hangingPunct="1">
              <a:buFont typeface="Monotype Sorts" pitchFamily="2" charset="2"/>
              <a:buNone/>
              <a:defRPr/>
            </a:pPr>
            <a:r>
              <a:rPr lang="zh-CN" altLang="en-US" b="1" dirty="0">
                <a:effectLst>
                  <a:outerShdw blurRad="38100" dist="38100" dir="2700000" algn="tl">
                    <a:srgbClr val="000000"/>
                  </a:outerShdw>
                </a:effectLst>
                <a:latin typeface="楷体_GB2312" pitchFamily="49" charset="-122"/>
                <a:ea typeface="楷体_GB2312" pitchFamily="49" charset="-122"/>
              </a:rPr>
              <a:t>　　　　　</a:t>
            </a:r>
            <a:r>
              <a:rPr lang="en-US" altLang="zh-CN" b="1" dirty="0" err="1">
                <a:effectLst>
                  <a:outerShdw blurRad="38100" dist="38100" dir="2700000" algn="tl">
                    <a:srgbClr val="000000"/>
                  </a:outerShdw>
                </a:effectLst>
                <a:latin typeface="楷体_GB2312" pitchFamily="49" charset="-122"/>
                <a:ea typeface="楷体_GB2312" pitchFamily="49" charset="-122"/>
              </a:rPr>
              <a:t>int</a:t>
            </a:r>
            <a:r>
              <a:rPr lang="en-US" altLang="zh-CN" b="1" dirty="0">
                <a:effectLst>
                  <a:outerShdw blurRad="38100" dist="38100" dir="2700000" algn="tl">
                    <a:srgbClr val="000000"/>
                  </a:outerShdw>
                </a:effectLst>
                <a:latin typeface="楷体_GB2312" pitchFamily="49" charset="-122"/>
                <a:ea typeface="楷体_GB2312" pitchFamily="49" charset="-122"/>
              </a:rPr>
              <a:t>  number;</a:t>
            </a:r>
          </a:p>
          <a:p>
            <a:pPr marL="0" indent="0" eaLnBrk="1" hangingPunct="1">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char name[20];</a:t>
            </a:r>
          </a:p>
          <a:p>
            <a:pPr marL="0" indent="0" eaLnBrk="1" hangingPunct="1">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a:t>
            </a:r>
            <a:r>
              <a:rPr lang="en-US" altLang="zh-CN" b="1" dirty="0" err="1">
                <a:effectLst>
                  <a:outerShdw blurRad="38100" dist="38100" dir="2700000" algn="tl">
                    <a:srgbClr val="000000"/>
                  </a:outerShdw>
                </a:effectLst>
                <a:latin typeface="楷体_GB2312" pitchFamily="49" charset="-122"/>
                <a:ea typeface="楷体_GB2312" pitchFamily="49" charset="-122"/>
              </a:rPr>
              <a:t>int</a:t>
            </a:r>
            <a:r>
              <a:rPr lang="en-US" altLang="zh-CN" b="1" dirty="0">
                <a:effectLst>
                  <a:outerShdw blurRad="38100" dist="38100" dir="2700000" algn="tl">
                    <a:srgbClr val="000000"/>
                  </a:outerShdw>
                </a:effectLst>
                <a:latin typeface="楷体_GB2312" pitchFamily="49" charset="-122"/>
                <a:ea typeface="楷体_GB2312" pitchFamily="49" charset="-122"/>
              </a:rPr>
              <a:t>   score;</a:t>
            </a:r>
          </a:p>
          <a:p>
            <a:pPr marL="0" indent="0" eaLnBrk="1" hangingPunct="1">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STDTYPE; /* </a:t>
            </a:r>
            <a:r>
              <a:rPr lang="zh-CN" altLang="en-US" b="1" dirty="0">
                <a:effectLst>
                  <a:outerShdw blurRad="38100" dist="38100" dir="2700000" algn="tl">
                    <a:srgbClr val="000000"/>
                  </a:outerShdw>
                </a:effectLst>
                <a:latin typeface="楷体_GB2312" pitchFamily="49" charset="-122"/>
                <a:ea typeface="楷体_GB2312" pitchFamily="49" charset="-122"/>
              </a:rPr>
              <a:t>定义结构类型</a:t>
            </a:r>
            <a:r>
              <a:rPr lang="en-US" altLang="zh-CN" b="1" dirty="0">
                <a:effectLst>
                  <a:outerShdw blurRad="38100" dist="38100" dir="2700000" algn="tl">
                    <a:srgbClr val="000000"/>
                  </a:outerShdw>
                </a:effectLst>
                <a:latin typeface="楷体_GB2312" pitchFamily="49" charset="-122"/>
                <a:ea typeface="楷体_GB2312" pitchFamily="49" charset="-122"/>
              </a:rPr>
              <a:t>STDTYPE */</a:t>
            </a:r>
          </a:p>
          <a:p>
            <a:pPr marL="0" indent="0" eaLnBrk="1" hangingPunct="1">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STDTYPE  std1, std2;  /* </a:t>
            </a:r>
            <a:r>
              <a:rPr lang="zh-CN" altLang="en-US" b="1" dirty="0">
                <a:effectLst>
                  <a:outerShdw blurRad="38100" dist="38100" dir="2700000" algn="tl">
                    <a:srgbClr val="000000"/>
                  </a:outerShdw>
                </a:effectLst>
                <a:latin typeface="楷体_GB2312" pitchFamily="49" charset="-122"/>
                <a:ea typeface="楷体_GB2312" pitchFamily="49" charset="-122"/>
              </a:rPr>
              <a:t>定义类型为</a:t>
            </a:r>
            <a:r>
              <a:rPr lang="en-US" altLang="zh-CN" b="1" dirty="0">
                <a:effectLst>
                  <a:outerShdw blurRad="38100" dist="38100" dir="2700000" algn="tl">
                    <a:srgbClr val="000000"/>
                  </a:outerShdw>
                </a:effectLst>
                <a:latin typeface="楷体_GB2312" pitchFamily="49" charset="-122"/>
                <a:ea typeface="楷体_GB2312" pitchFamily="49" charset="-122"/>
              </a:rPr>
              <a:t>STDTYPE</a:t>
            </a:r>
            <a:r>
              <a:rPr lang="zh-CN" altLang="en-US" b="1" dirty="0">
                <a:effectLst>
                  <a:outerShdw blurRad="38100" dist="38100" dir="2700000" algn="tl">
                    <a:srgbClr val="000000"/>
                  </a:outerShdw>
                </a:effectLst>
                <a:latin typeface="楷体_GB2312" pitchFamily="49" charset="-122"/>
                <a:ea typeface="楷体_GB2312" pitchFamily="49" charset="-122"/>
              </a:rPr>
              <a:t>的两个结构变量 *</a:t>
            </a:r>
            <a:r>
              <a:rPr lang="en-US" altLang="zh-CN" b="1" dirty="0">
                <a:effectLst>
                  <a:outerShdw blurRad="38100" dist="38100" dir="2700000" algn="tl">
                    <a:srgbClr val="000000"/>
                  </a:outerShdw>
                </a:effectLst>
                <a:latin typeface="楷体_GB2312" pitchFamily="49" charset="-122"/>
                <a:ea typeface="楷体_GB2312" pitchFamily="49" charset="-122"/>
              </a:rPr>
              <a:t>/</a:t>
            </a:r>
          </a:p>
          <a:p>
            <a:pPr marL="0" indent="0" eaLnBrk="1" hangingPunct="1">
              <a:buFont typeface="Monotype Sorts" pitchFamily="2" charset="2"/>
              <a:buNone/>
              <a:defRPr/>
            </a:pPr>
            <a:endParaRPr lang="en-US" altLang="zh-CN" b="1" dirty="0">
              <a:effectLst>
                <a:outerShdw blurRad="38100" dist="38100" dir="2700000" algn="tl">
                  <a:srgbClr val="000000"/>
                </a:outerShdw>
              </a:effectLst>
              <a:latin typeface="楷体_GB2312" pitchFamily="49" charset="-122"/>
              <a:ea typeface="楷体_GB2312" pitchFamily="49" charset="-122"/>
            </a:endParaRPr>
          </a:p>
        </p:txBody>
      </p:sp>
      <p:sp>
        <p:nvSpPr>
          <p:cNvPr id="5" name="灯片编号占位符 5"/>
          <p:cNvSpPr>
            <a:spLocks noGrp="1"/>
          </p:cNvSpPr>
          <p:nvPr>
            <p:ph type="sldNum" sz="quarter" idx="12"/>
          </p:nvPr>
        </p:nvSpPr>
        <p:spPr/>
        <p:txBody>
          <a:bodyPr/>
          <a:lstStyle/>
          <a:p>
            <a:pPr>
              <a:defRPr/>
            </a:pPr>
            <a:fld id="{4FECD855-9A0F-478E-A1F5-486D4329D081}" type="slidenum">
              <a:rPr lang="en-US" altLang="zh-CN"/>
              <a:pPr>
                <a:defRPr/>
              </a:pPr>
              <a:t>132</a:t>
            </a:fld>
            <a:endParaRPr lang="en-US" altLang="zh-CN"/>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7" name="Rectangle 3"/>
          <p:cNvSpPr>
            <a:spLocks noGrp="1" noChangeArrowheads="1"/>
          </p:cNvSpPr>
          <p:nvPr>
            <p:ph idx="1"/>
          </p:nvPr>
        </p:nvSpPr>
        <p:spPr>
          <a:xfrm>
            <a:off x="179388" y="836613"/>
            <a:ext cx="8785225" cy="5761037"/>
          </a:xfrm>
        </p:spPr>
        <p:txBody>
          <a:bodyPr/>
          <a:lstStyle/>
          <a:p>
            <a:pPr marL="0" indent="0" eaLnBrk="1" hangingPunct="1">
              <a:buFont typeface="Monotype Sorts" pitchFamily="2" charset="2"/>
              <a:buNone/>
              <a:defRPr/>
            </a:pPr>
            <a:r>
              <a:rPr lang="zh-CN" altLang="en-US" b="1" dirty="0">
                <a:effectLst>
                  <a:outerShdw blurRad="38100" dist="38100" dir="2700000" algn="tl">
                    <a:srgbClr val="000000"/>
                  </a:outerShdw>
                </a:effectLst>
                <a:latin typeface="楷体_GB2312" pitchFamily="49" charset="-122"/>
                <a:ea typeface="楷体_GB2312" pitchFamily="49" charset="-122"/>
              </a:rPr>
              <a:t>例</a:t>
            </a:r>
            <a:r>
              <a:rPr lang="en-US" altLang="zh-CN" b="1" dirty="0">
                <a:effectLst>
                  <a:outerShdw blurRad="38100" dist="38100" dir="2700000" algn="tl">
                    <a:srgbClr val="000000"/>
                  </a:outerShdw>
                </a:effectLst>
                <a:latin typeface="楷体_GB2312" pitchFamily="49" charset="-122"/>
                <a:ea typeface="楷体_GB2312" pitchFamily="49" charset="-122"/>
              </a:rPr>
              <a:t>3</a:t>
            </a:r>
            <a:r>
              <a:rPr lang="zh-CN" altLang="en-US" b="1" dirty="0">
                <a:effectLst>
                  <a:outerShdw blurRad="38100" dist="38100" dir="2700000" algn="tl">
                    <a:srgbClr val="000000"/>
                  </a:outerShdw>
                </a:effectLst>
                <a:latin typeface="楷体_GB2312" pitchFamily="49" charset="-122"/>
                <a:ea typeface="楷体_GB2312" pitchFamily="49" charset="-122"/>
              </a:rPr>
              <a:t>： </a:t>
            </a:r>
            <a:r>
              <a:rPr lang="en-US" altLang="zh-CN" b="1" dirty="0" err="1">
                <a:solidFill>
                  <a:srgbClr val="FF0000"/>
                </a:solidFill>
                <a:effectLst>
                  <a:outerShdw blurRad="38100" dist="38100" dir="2700000" algn="tl">
                    <a:srgbClr val="FFFFFF"/>
                  </a:outerShdw>
                </a:effectLst>
                <a:latin typeface="楷体_GB2312" pitchFamily="49" charset="-122"/>
                <a:ea typeface="楷体_GB2312" pitchFamily="49" charset="-122"/>
              </a:rPr>
              <a:t>typedef</a:t>
            </a:r>
            <a:r>
              <a:rPr lang="en-US" altLang="zh-CN" b="1" dirty="0">
                <a:solidFill>
                  <a:srgbClr val="FF0000"/>
                </a:solidFill>
                <a:effectLst>
                  <a:outerShdw blurRad="38100" dist="38100" dir="2700000" algn="tl">
                    <a:srgbClr val="FFFFFF"/>
                  </a:outerShdw>
                </a:effectLst>
                <a:latin typeface="楷体_GB2312" pitchFamily="49" charset="-122"/>
                <a:ea typeface="楷体_GB2312" pitchFamily="49" charset="-122"/>
              </a:rPr>
              <a:t> </a:t>
            </a:r>
            <a:r>
              <a:rPr lang="en-US" altLang="zh-CN" b="1" dirty="0" err="1">
                <a:solidFill>
                  <a:srgbClr val="FF0000"/>
                </a:solidFill>
                <a:effectLst>
                  <a:outerShdw blurRad="38100" dist="38100" dir="2700000" algn="tl">
                    <a:srgbClr val="FFFFFF"/>
                  </a:outerShdw>
                </a:effectLst>
                <a:latin typeface="楷体_GB2312" pitchFamily="49" charset="-122"/>
                <a:ea typeface="楷体_GB2312" pitchFamily="49" charset="-122"/>
              </a:rPr>
              <a:t>int</a:t>
            </a:r>
            <a:r>
              <a:rPr lang="en-US" altLang="zh-CN" b="1" dirty="0">
                <a:solidFill>
                  <a:srgbClr val="FF0000"/>
                </a:solidFill>
                <a:effectLst>
                  <a:outerShdw blurRad="38100" dist="38100" dir="2700000" algn="tl">
                    <a:srgbClr val="FFFFFF"/>
                  </a:outerShdw>
                </a:effectLst>
                <a:latin typeface="楷体_GB2312" pitchFamily="49" charset="-122"/>
                <a:ea typeface="楷体_GB2312" pitchFamily="49" charset="-122"/>
              </a:rPr>
              <a:t> INTARRAY[20];</a:t>
            </a:r>
          </a:p>
          <a:p>
            <a:pPr marL="0" indent="0" eaLnBrk="1" hangingPunct="1">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a:t>
            </a:r>
            <a:r>
              <a:rPr lang="zh-CN" altLang="en-US" b="1" dirty="0">
                <a:effectLst>
                  <a:outerShdw blurRad="38100" dist="38100" dir="2700000" algn="tl">
                    <a:srgbClr val="000000"/>
                  </a:outerShdw>
                </a:effectLst>
                <a:latin typeface="楷体_GB2312" pitchFamily="49" charset="-122"/>
                <a:ea typeface="楷体_GB2312" pitchFamily="49" charset="-122"/>
              </a:rPr>
              <a:t>含</a:t>
            </a:r>
            <a:r>
              <a:rPr lang="en-US" altLang="zh-CN" b="1" dirty="0">
                <a:effectLst>
                  <a:outerShdw blurRad="38100" dist="38100" dir="2700000" algn="tl">
                    <a:srgbClr val="000000"/>
                  </a:outerShdw>
                </a:effectLst>
                <a:latin typeface="楷体_GB2312" pitchFamily="49" charset="-122"/>
                <a:ea typeface="楷体_GB2312" pitchFamily="49" charset="-122"/>
              </a:rPr>
              <a:t>20</a:t>
            </a:r>
            <a:r>
              <a:rPr lang="zh-CN" altLang="en-US" b="1" dirty="0">
                <a:effectLst>
                  <a:outerShdw blurRad="38100" dist="38100" dir="2700000" algn="tl">
                    <a:srgbClr val="000000"/>
                  </a:outerShdw>
                </a:effectLst>
                <a:latin typeface="楷体_GB2312" pitchFamily="49" charset="-122"/>
                <a:ea typeface="楷体_GB2312" pitchFamily="49" charset="-122"/>
              </a:rPr>
              <a:t>个整数的数组类型</a:t>
            </a:r>
            <a:r>
              <a:rPr lang="en-US" altLang="zh-CN" b="1" dirty="0">
                <a:effectLst>
                  <a:outerShdw blurRad="38100" dist="38100" dir="2700000" algn="tl">
                    <a:srgbClr val="000000"/>
                  </a:outerShdw>
                </a:effectLst>
                <a:latin typeface="楷体_GB2312" pitchFamily="49" charset="-122"/>
                <a:ea typeface="楷体_GB2312" pitchFamily="49" charset="-122"/>
              </a:rPr>
              <a:t>INTARRAY */</a:t>
            </a:r>
          </a:p>
          <a:p>
            <a:pPr marL="0" indent="0" eaLnBrk="1" hangingPunct="1">
              <a:buFont typeface="Monotype Sorts" pitchFamily="2" charset="2"/>
              <a:buNone/>
              <a:defRPr/>
            </a:pPr>
            <a:endParaRPr lang="en-US" altLang="zh-CN" b="1" dirty="0">
              <a:effectLst>
                <a:outerShdw blurRad="38100" dist="38100" dir="2700000" algn="tl">
                  <a:srgbClr val="000000"/>
                </a:outerShdw>
              </a:effectLst>
              <a:latin typeface="楷体_GB2312" pitchFamily="49" charset="-122"/>
              <a:ea typeface="楷体_GB2312" pitchFamily="49" charset="-122"/>
            </a:endParaRPr>
          </a:p>
          <a:p>
            <a:pPr marL="0" indent="0" eaLnBrk="1" hangingPunct="1">
              <a:buFont typeface="Monotype Sorts" pitchFamily="2" charset="2"/>
              <a:buNone/>
              <a:defRPr/>
            </a:pPr>
            <a:r>
              <a:rPr lang="zh-CN" altLang="en-US" b="1" dirty="0">
                <a:effectLst>
                  <a:outerShdw blurRad="38100" dist="38100" dir="2700000" algn="tl">
                    <a:srgbClr val="000000"/>
                  </a:outerShdw>
                </a:effectLst>
                <a:latin typeface="楷体_GB2312" pitchFamily="49" charset="-122"/>
                <a:ea typeface="楷体_GB2312" pitchFamily="49" charset="-122"/>
              </a:rPr>
              <a:t>利用以上类型定义，可定义变量：</a:t>
            </a:r>
          </a:p>
          <a:p>
            <a:pPr marL="0" indent="0" eaLnBrk="1" hangingPunct="1">
              <a:buFont typeface="Monotype Sorts" pitchFamily="2" charset="2"/>
              <a:buNone/>
              <a:defRPr/>
            </a:pPr>
            <a:r>
              <a:rPr lang="en-US" altLang="zh-CN" b="1" dirty="0">
                <a:effectLst>
                  <a:outerShdw blurRad="38100" dist="38100" dir="2700000" algn="tl">
                    <a:srgbClr val="FFFFFF"/>
                  </a:outerShdw>
                </a:effectLst>
                <a:latin typeface="楷体_GB2312" pitchFamily="49" charset="-122"/>
                <a:ea typeface="楷体_GB2312" pitchFamily="49" charset="-122"/>
              </a:rPr>
              <a:t>INTARRAY v1,v2;</a:t>
            </a:r>
            <a:r>
              <a:rPr lang="en-US" altLang="zh-CN" b="1" dirty="0">
                <a:effectLst>
                  <a:outerShdw blurRad="38100" dist="38100" dir="2700000" algn="tl">
                    <a:srgbClr val="000000"/>
                  </a:outerShdw>
                </a:effectLst>
                <a:latin typeface="楷体_GB2312" pitchFamily="49" charset="-122"/>
                <a:ea typeface="楷体_GB2312" pitchFamily="49" charset="-122"/>
              </a:rPr>
              <a:t> /*</a:t>
            </a:r>
            <a:r>
              <a:rPr lang="zh-CN" altLang="en-US" b="1" dirty="0">
                <a:effectLst>
                  <a:outerShdw blurRad="38100" dist="38100" dir="2700000" algn="tl">
                    <a:srgbClr val="000000"/>
                  </a:outerShdw>
                </a:effectLst>
                <a:latin typeface="楷体_GB2312" pitchFamily="49" charset="-122"/>
                <a:ea typeface="楷体_GB2312" pitchFamily="49" charset="-122"/>
              </a:rPr>
              <a:t>定义两个各含</a:t>
            </a:r>
            <a:r>
              <a:rPr lang="en-US" altLang="zh-CN" b="1" dirty="0">
                <a:effectLst>
                  <a:outerShdw blurRad="38100" dist="38100" dir="2700000" algn="tl">
                    <a:srgbClr val="000000"/>
                  </a:outerShdw>
                </a:effectLst>
                <a:latin typeface="楷体_GB2312" pitchFamily="49" charset="-122"/>
                <a:ea typeface="楷体_GB2312" pitchFamily="49" charset="-122"/>
              </a:rPr>
              <a:t>20</a:t>
            </a:r>
            <a:r>
              <a:rPr lang="zh-CN" altLang="en-US" b="1" dirty="0">
                <a:effectLst>
                  <a:outerShdw blurRad="38100" dist="38100" dir="2700000" algn="tl">
                    <a:srgbClr val="000000"/>
                  </a:outerShdw>
                </a:effectLst>
                <a:latin typeface="楷体_GB2312" pitchFamily="49" charset="-122"/>
                <a:ea typeface="楷体_GB2312" pitchFamily="49" charset="-122"/>
              </a:rPr>
              <a:t>个整数的数组*</a:t>
            </a:r>
            <a:r>
              <a:rPr lang="en-US" altLang="zh-CN" b="1" dirty="0">
                <a:effectLst>
                  <a:outerShdw blurRad="38100" dist="38100" dir="2700000" algn="tl">
                    <a:srgbClr val="000000"/>
                  </a:outerShdw>
                </a:effectLst>
                <a:latin typeface="楷体_GB2312" pitchFamily="49" charset="-122"/>
                <a:ea typeface="楷体_GB2312" pitchFamily="49" charset="-122"/>
              </a:rPr>
              <a:t>/</a:t>
            </a:r>
          </a:p>
          <a:p>
            <a:pPr marL="0" indent="0" eaLnBrk="1" hangingPunct="1">
              <a:buFont typeface="Monotype Sorts" pitchFamily="2" charset="2"/>
              <a:buNone/>
              <a:defRPr/>
            </a:pPr>
            <a:r>
              <a:rPr lang="zh-CN" altLang="en-US" b="1" dirty="0">
                <a:effectLst>
                  <a:outerShdw blurRad="38100" dist="38100" dir="2700000" algn="tl">
                    <a:srgbClr val="000000"/>
                  </a:outerShdw>
                </a:effectLst>
                <a:latin typeface="楷体_GB2312" pitchFamily="49" charset="-122"/>
                <a:ea typeface="楷体_GB2312" pitchFamily="49" charset="-122"/>
              </a:rPr>
              <a:t>对于数组类型，当有多个数组类型相同且元素个数也相同时，先用 </a:t>
            </a:r>
            <a:r>
              <a:rPr lang="en-US" altLang="zh-CN" b="1" dirty="0" err="1">
                <a:effectLst>
                  <a:outerShdw blurRad="38100" dist="38100" dir="2700000" algn="tl">
                    <a:srgbClr val="FFFFFF"/>
                  </a:outerShdw>
                </a:effectLst>
                <a:latin typeface="楷体_GB2312" pitchFamily="49" charset="-122"/>
                <a:ea typeface="楷体_GB2312" pitchFamily="49" charset="-122"/>
              </a:rPr>
              <a:t>typedef</a:t>
            </a:r>
            <a:r>
              <a:rPr lang="en-US" altLang="zh-CN" b="1" dirty="0">
                <a:effectLst>
                  <a:outerShdw blurRad="38100" dist="38100" dir="2700000" algn="tl">
                    <a:srgbClr val="FFFFFF"/>
                  </a:outerShdw>
                </a:effectLst>
                <a:latin typeface="楷体_GB2312" pitchFamily="49" charset="-122"/>
                <a:ea typeface="楷体_GB2312" pitchFamily="49" charset="-122"/>
              </a:rPr>
              <a:t> </a:t>
            </a:r>
            <a:r>
              <a:rPr lang="zh-CN" altLang="en-US" b="1" dirty="0">
                <a:effectLst>
                  <a:outerShdw blurRad="38100" dist="38100" dir="2700000" algn="tl">
                    <a:srgbClr val="000000"/>
                  </a:outerShdw>
                </a:effectLst>
                <a:latin typeface="楷体_GB2312" pitchFamily="49" charset="-122"/>
                <a:ea typeface="楷体_GB2312" pitchFamily="49" charset="-122"/>
              </a:rPr>
              <a:t>定义一个数组类型，然后再定义数组变量就比较方便，简洁。</a:t>
            </a:r>
          </a:p>
        </p:txBody>
      </p:sp>
      <p:sp>
        <p:nvSpPr>
          <p:cNvPr id="5" name="灯片编号占位符 5"/>
          <p:cNvSpPr>
            <a:spLocks noGrp="1"/>
          </p:cNvSpPr>
          <p:nvPr>
            <p:ph type="sldNum" sz="quarter" idx="12"/>
          </p:nvPr>
        </p:nvSpPr>
        <p:spPr/>
        <p:txBody>
          <a:bodyPr/>
          <a:lstStyle/>
          <a:p>
            <a:pPr>
              <a:defRPr/>
            </a:pPr>
            <a:fld id="{63AA129E-A4D1-41DA-9306-C430389E6F11}" type="slidenum">
              <a:rPr lang="en-US" altLang="zh-CN"/>
              <a:pPr>
                <a:defRPr/>
              </a:pPr>
              <a:t>133</a:t>
            </a:fld>
            <a:endParaRPr lang="en-US" altLang="zh-CN"/>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826" name="Rectangle 2"/>
          <p:cNvSpPr>
            <a:spLocks noGrp="1" noChangeArrowheads="1"/>
          </p:cNvSpPr>
          <p:nvPr>
            <p:ph idx="1"/>
          </p:nvPr>
        </p:nvSpPr>
        <p:spPr>
          <a:xfrm>
            <a:off x="179388" y="836613"/>
            <a:ext cx="8785225" cy="5761037"/>
          </a:xfrm>
        </p:spPr>
        <p:txBody>
          <a:bodyPr/>
          <a:lstStyle/>
          <a:p>
            <a:pPr marL="0" indent="0" eaLnBrk="1" hangingPunct="1">
              <a:buFont typeface="Monotype Sorts" pitchFamily="2" charset="2"/>
              <a:buNone/>
              <a:defRPr/>
            </a:pPr>
            <a:r>
              <a:rPr lang="zh-CN" altLang="en-US" sz="2400" b="1">
                <a:effectLst>
                  <a:outerShdw blurRad="38100" dist="38100" dir="2700000" algn="tl">
                    <a:srgbClr val="000000"/>
                  </a:outerShdw>
                </a:effectLst>
                <a:latin typeface="楷体_GB2312" pitchFamily="49" charset="-122"/>
                <a:ea typeface="楷体_GB2312" pitchFamily="49" charset="-122"/>
              </a:rPr>
              <a:t>形式化地描述变量定义或变量说明的句法，有以下形式：</a:t>
            </a:r>
          </a:p>
          <a:p>
            <a:pPr marL="0" indent="0" eaLnBrk="1" hangingPunct="1">
              <a:buFont typeface="Monotype Sorts" pitchFamily="2" charset="2"/>
              <a:buNone/>
              <a:defRPr/>
            </a:pPr>
            <a:r>
              <a:rPr lang="zh-CN" altLang="en-US" sz="2400" b="1">
                <a:effectLst>
                  <a:outerShdw blurRad="38100" dist="38100" dir="2700000" algn="tl">
                    <a:srgbClr val="000000"/>
                  </a:outerShdw>
                </a:effectLst>
                <a:latin typeface="楷体_GB2312" pitchFamily="49" charset="-122"/>
                <a:ea typeface="楷体_GB2312" pitchFamily="49" charset="-122"/>
              </a:rPr>
              <a:t>        存储类 类型限定符 类型区分 数据区分</a:t>
            </a:r>
          </a:p>
          <a:p>
            <a:pPr marL="0" indent="0" eaLnBrk="1" hangingPunct="1">
              <a:buFont typeface="Monotype Sorts" pitchFamily="2" charset="2"/>
              <a:buNone/>
              <a:defRPr/>
            </a:pPr>
            <a:r>
              <a:rPr lang="zh-CN" altLang="en-US" sz="2400" b="1">
                <a:effectLst>
                  <a:outerShdw blurRad="38100" dist="38100" dir="2700000" algn="tl">
                    <a:srgbClr val="000000"/>
                  </a:outerShdw>
                </a:effectLst>
                <a:latin typeface="楷体_GB2312" pitchFamily="49" charset="-122"/>
                <a:ea typeface="楷体_GB2312" pitchFamily="49" charset="-122"/>
              </a:rPr>
              <a:t>其中存储类有：</a:t>
            </a:r>
          </a:p>
          <a:p>
            <a:pPr marL="0" indent="0" eaLnBrk="1" hangingPunct="1">
              <a:buFont typeface="Monotype Sorts" pitchFamily="2" charset="2"/>
              <a:buNone/>
              <a:defRPr/>
            </a:pPr>
            <a:r>
              <a:rPr lang="zh-CN" altLang="en-US" sz="2400" b="1">
                <a:effectLst>
                  <a:outerShdw blurRad="38100" dist="38100" dir="2700000" algn="tl">
                    <a:srgbClr val="000000"/>
                  </a:outerShdw>
                </a:effectLst>
                <a:latin typeface="楷体_GB2312" pitchFamily="49" charset="-122"/>
                <a:ea typeface="楷体_GB2312" pitchFamily="49" charset="-122"/>
              </a:rPr>
              <a:t>       </a:t>
            </a:r>
            <a:r>
              <a:rPr lang="en-US" altLang="zh-CN" sz="2400" b="1">
                <a:effectLst>
                  <a:outerShdw blurRad="38100" dist="38100" dir="2700000" algn="tl">
                    <a:srgbClr val="000000"/>
                  </a:outerShdw>
                </a:effectLst>
                <a:latin typeface="楷体_GB2312" pitchFamily="49" charset="-122"/>
                <a:ea typeface="楷体_GB2312" pitchFamily="49" charset="-122"/>
              </a:rPr>
              <a:t>auto</a:t>
            </a:r>
            <a:r>
              <a:rPr lang="zh-CN" altLang="en-US" sz="2400" b="1">
                <a:effectLst>
                  <a:outerShdw blurRad="38100" dist="38100" dir="2700000" algn="tl">
                    <a:srgbClr val="000000"/>
                  </a:outerShdw>
                </a:effectLst>
                <a:latin typeface="楷体_GB2312" pitchFamily="49" charset="-122"/>
                <a:ea typeface="楷体_GB2312" pitchFamily="49" charset="-122"/>
              </a:rPr>
              <a:t>、</a:t>
            </a:r>
            <a:r>
              <a:rPr lang="en-US" altLang="zh-CN" sz="2400" b="1">
                <a:effectLst>
                  <a:outerShdw blurRad="38100" dist="38100" dir="2700000" algn="tl">
                    <a:srgbClr val="000000"/>
                  </a:outerShdw>
                </a:effectLst>
                <a:latin typeface="楷体_GB2312" pitchFamily="49" charset="-122"/>
                <a:ea typeface="楷体_GB2312" pitchFamily="49" charset="-122"/>
              </a:rPr>
              <a:t>register</a:t>
            </a:r>
            <a:r>
              <a:rPr lang="zh-CN" altLang="en-US" sz="2400" b="1">
                <a:effectLst>
                  <a:outerShdw blurRad="38100" dist="38100" dir="2700000" algn="tl">
                    <a:srgbClr val="000000"/>
                  </a:outerShdw>
                </a:effectLst>
                <a:latin typeface="楷体_GB2312" pitchFamily="49" charset="-122"/>
                <a:ea typeface="楷体_GB2312" pitchFamily="49" charset="-122"/>
              </a:rPr>
              <a:t>、</a:t>
            </a:r>
            <a:r>
              <a:rPr lang="en-US" altLang="zh-CN" sz="2400" b="1">
                <a:effectLst>
                  <a:outerShdw blurRad="38100" dist="38100" dir="2700000" algn="tl">
                    <a:srgbClr val="000000"/>
                  </a:outerShdw>
                </a:effectLst>
                <a:latin typeface="楷体_GB2312" pitchFamily="49" charset="-122"/>
                <a:ea typeface="楷体_GB2312" pitchFamily="49" charset="-122"/>
              </a:rPr>
              <a:t>extern</a:t>
            </a:r>
            <a:r>
              <a:rPr lang="zh-CN" altLang="en-US" sz="2400" b="1">
                <a:effectLst>
                  <a:outerShdw blurRad="38100" dist="38100" dir="2700000" algn="tl">
                    <a:srgbClr val="000000"/>
                  </a:outerShdw>
                </a:effectLst>
                <a:latin typeface="楷体_GB2312" pitchFamily="49" charset="-122"/>
                <a:ea typeface="楷体_GB2312" pitchFamily="49" charset="-122"/>
              </a:rPr>
              <a:t>、</a:t>
            </a:r>
            <a:r>
              <a:rPr lang="en-US" altLang="zh-CN" sz="2400" b="1">
                <a:effectLst>
                  <a:outerShdw blurRad="38100" dist="38100" dir="2700000" algn="tl">
                    <a:srgbClr val="000000"/>
                  </a:outerShdw>
                </a:effectLst>
                <a:latin typeface="楷体_GB2312" pitchFamily="49" charset="-122"/>
                <a:ea typeface="楷体_GB2312" pitchFamily="49" charset="-122"/>
              </a:rPr>
              <a:t>static</a:t>
            </a:r>
            <a:r>
              <a:rPr lang="zh-CN" altLang="en-US" sz="2400" b="1">
                <a:effectLst>
                  <a:outerShdw blurRad="38100" dist="38100" dir="2700000" algn="tl">
                    <a:srgbClr val="000000"/>
                  </a:outerShdw>
                </a:effectLst>
                <a:latin typeface="楷体_GB2312" pitchFamily="49" charset="-122"/>
                <a:ea typeface="楷体_GB2312" pitchFamily="49" charset="-122"/>
              </a:rPr>
              <a:t>和缺省</a:t>
            </a:r>
          </a:p>
          <a:p>
            <a:pPr marL="0" indent="0" eaLnBrk="1" hangingPunct="1">
              <a:buFont typeface="Monotype Sorts" pitchFamily="2" charset="2"/>
              <a:buNone/>
              <a:defRPr/>
            </a:pPr>
            <a:r>
              <a:rPr lang="zh-CN" altLang="en-US" sz="2400" b="1">
                <a:effectLst>
                  <a:outerShdw blurRad="38100" dist="38100" dir="2700000" algn="tl">
                    <a:srgbClr val="000000"/>
                  </a:outerShdw>
                </a:effectLst>
                <a:latin typeface="楷体_GB2312" pitchFamily="49" charset="-122"/>
                <a:ea typeface="楷体_GB2312" pitchFamily="49" charset="-122"/>
              </a:rPr>
              <a:t>见</a:t>
            </a:r>
            <a:r>
              <a:rPr lang="en-US" altLang="zh-CN" sz="2400" b="1">
                <a:effectLst>
                  <a:outerShdw blurRad="38100" dist="38100" dir="2700000" algn="tl">
                    <a:srgbClr val="000000"/>
                  </a:outerShdw>
                </a:effectLst>
                <a:latin typeface="楷体_GB2312" pitchFamily="49" charset="-122"/>
                <a:ea typeface="楷体_GB2312" pitchFamily="49" charset="-122"/>
              </a:rPr>
              <a:t>5.8</a:t>
            </a:r>
            <a:r>
              <a:rPr lang="zh-CN" altLang="en-US" sz="2400" b="1">
                <a:effectLst>
                  <a:outerShdw blurRad="38100" dist="38100" dir="2700000" algn="tl">
                    <a:srgbClr val="000000"/>
                  </a:outerShdw>
                </a:effectLst>
                <a:latin typeface="楷体_GB2312" pitchFamily="49" charset="-122"/>
                <a:ea typeface="楷体_GB2312" pitchFamily="49" charset="-122"/>
              </a:rPr>
              <a:t>存储类别和作用域。</a:t>
            </a:r>
          </a:p>
          <a:p>
            <a:pPr marL="0" indent="0" eaLnBrk="1" hangingPunct="1">
              <a:buFont typeface="Monotype Sorts" pitchFamily="2" charset="2"/>
              <a:buNone/>
              <a:defRPr/>
            </a:pPr>
            <a:r>
              <a:rPr lang="zh-CN" altLang="en-US" sz="2400" b="1">
                <a:effectLst>
                  <a:outerShdw blurRad="38100" dist="38100" dir="2700000" algn="tl">
                    <a:srgbClr val="000000"/>
                  </a:outerShdw>
                </a:effectLst>
                <a:latin typeface="楷体_GB2312" pitchFamily="49" charset="-122"/>
                <a:ea typeface="楷体_GB2312" pitchFamily="49" charset="-122"/>
              </a:rPr>
              <a:t>类型限定符有三种形式：</a:t>
            </a:r>
          </a:p>
          <a:p>
            <a:pPr marL="0" indent="0" eaLnBrk="1" hangingPunct="1">
              <a:buFont typeface="Monotype Sorts" pitchFamily="2" charset="2"/>
              <a:buNone/>
              <a:defRPr/>
            </a:pPr>
            <a:r>
              <a:rPr lang="zh-CN" altLang="en-US" sz="2400" b="1">
                <a:effectLst>
                  <a:outerShdw blurRad="38100" dist="38100" dir="2700000" algn="tl">
                    <a:srgbClr val="000000"/>
                  </a:outerShdw>
                </a:effectLst>
                <a:latin typeface="楷体_GB2312" pitchFamily="49" charset="-122"/>
                <a:ea typeface="楷体_GB2312" pitchFamily="49" charset="-122"/>
              </a:rPr>
              <a:t>          类型名、</a:t>
            </a:r>
            <a:r>
              <a:rPr lang="en-US" altLang="zh-CN" sz="2400" b="1">
                <a:effectLst>
                  <a:outerShdw blurRad="38100" dist="38100" dir="2700000" algn="tl">
                    <a:srgbClr val="000000"/>
                  </a:outerShdw>
                </a:effectLst>
                <a:latin typeface="楷体_GB2312" pitchFamily="49" charset="-122"/>
                <a:ea typeface="楷体_GB2312" pitchFamily="49" charset="-122"/>
              </a:rPr>
              <a:t>typedef</a:t>
            </a:r>
            <a:r>
              <a:rPr lang="zh-CN" altLang="en-US" sz="2400" b="1">
                <a:effectLst>
                  <a:outerShdw blurRad="38100" dist="38100" dir="2700000" algn="tl">
                    <a:srgbClr val="000000"/>
                  </a:outerShdw>
                </a:effectLst>
                <a:latin typeface="楷体_GB2312" pitchFamily="49" charset="-122"/>
                <a:ea typeface="楷体_GB2312" pitchFamily="49" charset="-122"/>
              </a:rPr>
              <a:t>和</a:t>
            </a:r>
            <a:r>
              <a:rPr lang="en-US" altLang="zh-CN" sz="2400" b="1">
                <a:effectLst>
                  <a:outerShdw blurRad="38100" dist="38100" dir="2700000" algn="tl">
                    <a:srgbClr val="000000"/>
                  </a:outerShdw>
                </a:effectLst>
                <a:latin typeface="楷体_GB2312" pitchFamily="49" charset="-122"/>
                <a:ea typeface="楷体_GB2312" pitchFamily="49" charset="-122"/>
              </a:rPr>
              <a:t>typedef </a:t>
            </a:r>
            <a:r>
              <a:rPr lang="zh-CN" altLang="en-US" sz="2400" b="1">
                <a:effectLst>
                  <a:outerShdw blurRad="38100" dist="38100" dir="2700000" algn="tl">
                    <a:srgbClr val="000000"/>
                  </a:outerShdw>
                </a:effectLst>
                <a:latin typeface="楷体_GB2312" pitchFamily="49" charset="-122"/>
                <a:ea typeface="楷体_GB2312" pitchFamily="49" charset="-122"/>
              </a:rPr>
              <a:t>类型名。</a:t>
            </a:r>
          </a:p>
          <a:p>
            <a:pPr marL="0" indent="0" eaLnBrk="1" hangingPunct="1">
              <a:buFont typeface="Monotype Sorts" pitchFamily="2" charset="2"/>
              <a:buNone/>
              <a:defRPr/>
            </a:pPr>
            <a:r>
              <a:rPr lang="zh-CN" altLang="en-US" sz="2400" b="1">
                <a:effectLst>
                  <a:outerShdw blurRad="38100" dist="38100" dir="2700000" algn="tl">
                    <a:srgbClr val="000000"/>
                  </a:outerShdw>
                </a:effectLst>
                <a:latin typeface="楷体_GB2312" pitchFamily="49" charset="-122"/>
                <a:ea typeface="楷体_GB2312" pitchFamily="49" charset="-122"/>
              </a:rPr>
              <a:t>类型区分有简单类型和构造类型之分。简单类型有：</a:t>
            </a:r>
          </a:p>
          <a:p>
            <a:pPr marL="0" indent="0" eaLnBrk="1" hangingPunct="1">
              <a:buFont typeface="Monotype Sorts" pitchFamily="2" charset="2"/>
              <a:buNone/>
              <a:defRPr/>
            </a:pPr>
            <a:r>
              <a:rPr lang="zh-CN" altLang="en-US" sz="2400" b="1">
                <a:effectLst>
                  <a:outerShdw blurRad="38100" dist="38100" dir="2700000" algn="tl">
                    <a:srgbClr val="000000"/>
                  </a:outerShdw>
                </a:effectLst>
                <a:latin typeface="楷体_GB2312" pitchFamily="49" charset="-122"/>
                <a:ea typeface="楷体_GB2312" pitchFamily="49" charset="-122"/>
              </a:rPr>
              <a:t>     </a:t>
            </a:r>
            <a:r>
              <a:rPr lang="en-US" altLang="zh-CN" sz="2400" b="1">
                <a:effectLst>
                  <a:outerShdw blurRad="38100" dist="38100" dir="2700000" algn="tl">
                    <a:srgbClr val="000000"/>
                  </a:outerShdw>
                </a:effectLst>
                <a:latin typeface="楷体_GB2312" pitchFamily="49" charset="-122"/>
                <a:ea typeface="楷体_GB2312" pitchFamily="49" charset="-122"/>
              </a:rPr>
              <a:t>char</a:t>
            </a:r>
            <a:r>
              <a:rPr lang="zh-CN" altLang="en-US" sz="2400" b="1">
                <a:effectLst>
                  <a:outerShdw blurRad="38100" dist="38100" dir="2700000" algn="tl">
                    <a:srgbClr val="000000"/>
                  </a:outerShdw>
                </a:effectLst>
                <a:latin typeface="楷体_GB2312" pitchFamily="49" charset="-122"/>
                <a:ea typeface="楷体_GB2312" pitchFamily="49" charset="-122"/>
              </a:rPr>
              <a:t>、 </a:t>
            </a:r>
            <a:r>
              <a:rPr lang="en-US" altLang="zh-CN" sz="2400" b="1">
                <a:effectLst>
                  <a:outerShdw blurRad="38100" dist="38100" dir="2700000" algn="tl">
                    <a:srgbClr val="000000"/>
                  </a:outerShdw>
                </a:effectLst>
                <a:latin typeface="楷体_GB2312" pitchFamily="49" charset="-122"/>
                <a:ea typeface="楷体_GB2312" pitchFamily="49" charset="-122"/>
              </a:rPr>
              <a:t>int</a:t>
            </a:r>
            <a:r>
              <a:rPr lang="zh-CN" altLang="en-US" sz="2400" b="1">
                <a:effectLst>
                  <a:outerShdw blurRad="38100" dist="38100" dir="2700000" algn="tl">
                    <a:srgbClr val="000000"/>
                  </a:outerShdw>
                </a:effectLst>
                <a:latin typeface="楷体_GB2312" pitchFamily="49" charset="-122"/>
                <a:ea typeface="楷体_GB2312" pitchFamily="49" charset="-122"/>
              </a:rPr>
              <a:t>、 </a:t>
            </a:r>
            <a:r>
              <a:rPr lang="en-US" altLang="zh-CN" sz="2400" b="1">
                <a:effectLst>
                  <a:outerShdw blurRad="38100" dist="38100" dir="2700000" algn="tl">
                    <a:srgbClr val="000000"/>
                  </a:outerShdw>
                </a:effectLst>
                <a:latin typeface="楷体_GB2312" pitchFamily="49" charset="-122"/>
                <a:ea typeface="楷体_GB2312" pitchFamily="49" charset="-122"/>
              </a:rPr>
              <a:t>float</a:t>
            </a:r>
            <a:r>
              <a:rPr lang="zh-CN" altLang="en-US" sz="2400" b="1">
                <a:effectLst>
                  <a:outerShdw blurRad="38100" dist="38100" dir="2700000" algn="tl">
                    <a:srgbClr val="000000"/>
                  </a:outerShdw>
                </a:effectLst>
                <a:latin typeface="楷体_GB2312" pitchFamily="49" charset="-122"/>
                <a:ea typeface="楷体_GB2312" pitchFamily="49" charset="-122"/>
              </a:rPr>
              <a:t>、</a:t>
            </a:r>
            <a:r>
              <a:rPr lang="en-US" altLang="zh-CN" sz="2400" b="1">
                <a:effectLst>
                  <a:outerShdw blurRad="38100" dist="38100" dir="2700000" algn="tl">
                    <a:srgbClr val="000000"/>
                  </a:outerShdw>
                </a:effectLst>
                <a:latin typeface="楷体_GB2312" pitchFamily="49" charset="-122"/>
                <a:ea typeface="楷体_GB2312" pitchFamily="49" charset="-122"/>
              </a:rPr>
              <a:t>double</a:t>
            </a:r>
            <a:r>
              <a:rPr lang="zh-CN" altLang="en-US" sz="2400" b="1">
                <a:effectLst>
                  <a:outerShdw blurRad="38100" dist="38100" dir="2700000" algn="tl">
                    <a:srgbClr val="000000"/>
                  </a:outerShdw>
                </a:effectLst>
                <a:latin typeface="楷体_GB2312" pitchFamily="49" charset="-122"/>
                <a:ea typeface="楷体_GB2312" pitchFamily="49" charset="-122"/>
              </a:rPr>
              <a:t>、</a:t>
            </a:r>
            <a:r>
              <a:rPr lang="en-US" altLang="zh-CN" sz="2400" b="1">
                <a:effectLst>
                  <a:outerShdw blurRad="38100" dist="38100" dir="2700000" algn="tl">
                    <a:srgbClr val="000000"/>
                  </a:outerShdw>
                </a:effectLst>
                <a:latin typeface="楷体_GB2312" pitchFamily="49" charset="-122"/>
                <a:ea typeface="楷体_GB2312" pitchFamily="49" charset="-122"/>
              </a:rPr>
              <a:t>short</a:t>
            </a:r>
            <a:r>
              <a:rPr lang="zh-CN" altLang="en-US" sz="2400" b="1">
                <a:effectLst>
                  <a:outerShdw blurRad="38100" dist="38100" dir="2700000" algn="tl">
                    <a:srgbClr val="000000"/>
                  </a:outerShdw>
                </a:effectLst>
                <a:latin typeface="楷体_GB2312" pitchFamily="49" charset="-122"/>
                <a:ea typeface="楷体_GB2312" pitchFamily="49" charset="-122"/>
              </a:rPr>
              <a:t>、</a:t>
            </a:r>
            <a:r>
              <a:rPr lang="en-US" altLang="zh-CN" sz="2400" b="1">
                <a:effectLst>
                  <a:outerShdw blurRad="38100" dist="38100" dir="2700000" algn="tl">
                    <a:srgbClr val="000000"/>
                  </a:outerShdw>
                </a:effectLst>
                <a:latin typeface="楷体_GB2312" pitchFamily="49" charset="-122"/>
                <a:ea typeface="楷体_GB2312" pitchFamily="49" charset="-122"/>
              </a:rPr>
              <a:t>unsigned</a:t>
            </a:r>
            <a:r>
              <a:rPr lang="zh-CN" altLang="en-US" sz="2400" b="1">
                <a:effectLst>
                  <a:outerShdw blurRad="38100" dist="38100" dir="2700000" algn="tl">
                    <a:srgbClr val="000000"/>
                  </a:outerShdw>
                </a:effectLst>
                <a:latin typeface="楷体_GB2312" pitchFamily="49" charset="-122"/>
                <a:ea typeface="楷体_GB2312" pitchFamily="49" charset="-122"/>
              </a:rPr>
              <a:t>、</a:t>
            </a:r>
            <a:r>
              <a:rPr lang="en-US" altLang="zh-CN" sz="2400" b="1">
                <a:effectLst>
                  <a:outerShdw blurRad="38100" dist="38100" dir="2700000" algn="tl">
                    <a:srgbClr val="000000"/>
                  </a:outerShdw>
                </a:effectLst>
                <a:latin typeface="楷体_GB2312" pitchFamily="49" charset="-122"/>
                <a:ea typeface="楷体_GB2312" pitchFamily="49" charset="-122"/>
              </a:rPr>
              <a:t>long</a:t>
            </a:r>
            <a:r>
              <a:rPr lang="zh-CN" altLang="en-US" sz="2400" b="1">
                <a:effectLst>
                  <a:outerShdw blurRad="38100" dist="38100" dir="2700000" algn="tl">
                    <a:srgbClr val="000000"/>
                  </a:outerShdw>
                </a:effectLst>
                <a:latin typeface="楷体_GB2312" pitchFamily="49" charset="-122"/>
                <a:ea typeface="楷体_GB2312" pitchFamily="49" charset="-122"/>
              </a:rPr>
              <a:t>、</a:t>
            </a:r>
            <a:r>
              <a:rPr lang="en-US" altLang="zh-CN" sz="2400" b="1">
                <a:effectLst>
                  <a:outerShdw blurRad="38100" dist="38100" dir="2700000" algn="tl">
                    <a:srgbClr val="000000"/>
                  </a:outerShdw>
                </a:effectLst>
                <a:latin typeface="楷体_GB2312" pitchFamily="49" charset="-122"/>
                <a:ea typeface="楷体_GB2312" pitchFamily="49" charset="-122"/>
              </a:rPr>
              <a:t>void</a:t>
            </a:r>
            <a:r>
              <a:rPr lang="zh-CN" altLang="en-US" sz="2400" b="1">
                <a:effectLst>
                  <a:outerShdw blurRad="38100" dist="38100" dir="2700000" algn="tl">
                    <a:srgbClr val="000000"/>
                  </a:outerShdw>
                </a:effectLst>
                <a:latin typeface="楷体_GB2312" pitchFamily="49" charset="-122"/>
                <a:ea typeface="楷体_GB2312" pitchFamily="49" charset="-122"/>
              </a:rPr>
              <a:t>；或在</a:t>
            </a:r>
            <a:r>
              <a:rPr lang="en-US" altLang="zh-CN" sz="2400" b="1">
                <a:effectLst>
                  <a:outerShdw blurRad="38100" dist="38100" dir="2700000" algn="tl">
                    <a:srgbClr val="000000"/>
                  </a:outerShdw>
                </a:effectLst>
                <a:latin typeface="楷体_GB2312" pitchFamily="49" charset="-122"/>
                <a:ea typeface="楷体_GB2312" pitchFamily="49" charset="-122"/>
              </a:rPr>
              <a:t>int</a:t>
            </a:r>
            <a:r>
              <a:rPr lang="zh-CN" altLang="en-US" sz="2400" b="1">
                <a:effectLst>
                  <a:outerShdw blurRad="38100" dist="38100" dir="2700000" algn="tl">
                    <a:srgbClr val="000000"/>
                  </a:outerShdw>
                </a:effectLst>
                <a:latin typeface="楷体_GB2312" pitchFamily="49" charset="-122"/>
                <a:ea typeface="楷体_GB2312" pitchFamily="49" charset="-122"/>
              </a:rPr>
              <a:t>之前有</a:t>
            </a:r>
            <a:r>
              <a:rPr lang="en-US" altLang="zh-CN" sz="2400" b="1">
                <a:effectLst>
                  <a:outerShdw blurRad="38100" dist="38100" dir="2700000" algn="tl">
                    <a:srgbClr val="000000"/>
                  </a:outerShdw>
                </a:effectLst>
                <a:latin typeface="楷体_GB2312" pitchFamily="49" charset="-122"/>
                <a:ea typeface="楷体_GB2312" pitchFamily="49" charset="-122"/>
              </a:rPr>
              <a:t>short</a:t>
            </a:r>
            <a:r>
              <a:rPr lang="zh-CN" altLang="en-US" sz="2400" b="1">
                <a:effectLst>
                  <a:outerShdw blurRad="38100" dist="38100" dir="2700000" algn="tl">
                    <a:srgbClr val="000000"/>
                  </a:outerShdw>
                </a:effectLst>
                <a:latin typeface="楷体_GB2312" pitchFamily="49" charset="-122"/>
                <a:ea typeface="楷体_GB2312" pitchFamily="49" charset="-122"/>
              </a:rPr>
              <a:t>、</a:t>
            </a:r>
            <a:r>
              <a:rPr lang="en-US" altLang="zh-CN" sz="2400" b="1">
                <a:effectLst>
                  <a:outerShdw blurRad="38100" dist="38100" dir="2700000" algn="tl">
                    <a:srgbClr val="000000"/>
                  </a:outerShdw>
                </a:effectLst>
                <a:latin typeface="楷体_GB2312" pitchFamily="49" charset="-122"/>
                <a:ea typeface="楷体_GB2312" pitchFamily="49" charset="-122"/>
              </a:rPr>
              <a:t>unsigned</a:t>
            </a:r>
            <a:r>
              <a:rPr lang="zh-CN" altLang="en-US" sz="2400" b="1">
                <a:effectLst>
                  <a:outerShdw blurRad="38100" dist="38100" dir="2700000" algn="tl">
                    <a:srgbClr val="000000"/>
                  </a:outerShdw>
                </a:effectLst>
                <a:latin typeface="楷体_GB2312" pitchFamily="49" charset="-122"/>
                <a:ea typeface="楷体_GB2312" pitchFamily="49" charset="-122"/>
              </a:rPr>
              <a:t>或</a:t>
            </a:r>
            <a:r>
              <a:rPr lang="en-US" altLang="zh-CN" sz="2400" b="1">
                <a:effectLst>
                  <a:outerShdw blurRad="38100" dist="38100" dir="2700000" algn="tl">
                    <a:srgbClr val="000000"/>
                  </a:outerShdw>
                </a:effectLst>
                <a:latin typeface="楷体_GB2312" pitchFamily="49" charset="-122"/>
                <a:ea typeface="楷体_GB2312" pitchFamily="49" charset="-122"/>
              </a:rPr>
              <a:t>long</a:t>
            </a:r>
            <a:r>
              <a:rPr lang="zh-CN" altLang="en-US" sz="2400" b="1">
                <a:effectLst>
                  <a:outerShdw blurRad="38100" dist="38100" dir="2700000" algn="tl">
                    <a:srgbClr val="000000"/>
                  </a:outerShdw>
                </a:effectLst>
                <a:latin typeface="楷体_GB2312" pitchFamily="49" charset="-122"/>
                <a:ea typeface="楷体_GB2312" pitchFamily="49" charset="-122"/>
              </a:rPr>
              <a:t>；在</a:t>
            </a:r>
            <a:r>
              <a:rPr lang="en-US" altLang="zh-CN" sz="2400" b="1">
                <a:effectLst>
                  <a:outerShdw blurRad="38100" dist="38100" dir="2700000" algn="tl">
                    <a:srgbClr val="000000"/>
                  </a:outerShdw>
                </a:effectLst>
                <a:latin typeface="楷体_GB2312" pitchFamily="49" charset="-122"/>
                <a:ea typeface="楷体_GB2312" pitchFamily="49" charset="-122"/>
              </a:rPr>
              <a:t>char</a:t>
            </a:r>
            <a:r>
              <a:rPr lang="zh-CN" altLang="en-US" sz="2400" b="1">
                <a:effectLst>
                  <a:outerShdw blurRad="38100" dist="38100" dir="2700000" algn="tl">
                    <a:srgbClr val="000000"/>
                  </a:outerShdw>
                </a:effectLst>
                <a:latin typeface="楷体_GB2312" pitchFamily="49" charset="-122"/>
                <a:ea typeface="楷体_GB2312" pitchFamily="49" charset="-122"/>
              </a:rPr>
              <a:t>之前有</a:t>
            </a:r>
            <a:r>
              <a:rPr lang="en-US" altLang="zh-CN" sz="2400" b="1">
                <a:effectLst>
                  <a:outerShdw blurRad="38100" dist="38100" dir="2700000" algn="tl">
                    <a:srgbClr val="000000"/>
                  </a:outerShdw>
                </a:effectLst>
                <a:latin typeface="楷体_GB2312" pitchFamily="49" charset="-122"/>
                <a:ea typeface="楷体_GB2312" pitchFamily="49" charset="-122"/>
              </a:rPr>
              <a:t>unsigned</a:t>
            </a:r>
            <a:r>
              <a:rPr lang="zh-CN" altLang="en-US" sz="2400" b="1">
                <a:effectLst>
                  <a:outerShdw blurRad="38100" dist="38100" dir="2700000" algn="tl">
                    <a:srgbClr val="000000"/>
                  </a:outerShdw>
                </a:effectLst>
                <a:latin typeface="楷体_GB2312" pitchFamily="49" charset="-122"/>
                <a:ea typeface="楷体_GB2312" pitchFamily="49" charset="-122"/>
              </a:rPr>
              <a:t>；在</a:t>
            </a:r>
            <a:r>
              <a:rPr lang="en-US" altLang="zh-CN" sz="2400" b="1">
                <a:effectLst>
                  <a:outerShdw blurRad="38100" dist="38100" dir="2700000" algn="tl">
                    <a:srgbClr val="000000"/>
                  </a:outerShdw>
                </a:effectLst>
                <a:latin typeface="楷体_GB2312" pitchFamily="49" charset="-122"/>
                <a:ea typeface="楷体_GB2312" pitchFamily="49" charset="-122"/>
              </a:rPr>
              <a:t>double</a:t>
            </a:r>
            <a:r>
              <a:rPr lang="zh-CN" altLang="en-US" sz="2400" b="1">
                <a:effectLst>
                  <a:outerShdw blurRad="38100" dist="38100" dir="2700000" algn="tl">
                    <a:srgbClr val="000000"/>
                  </a:outerShdw>
                </a:effectLst>
                <a:latin typeface="楷体_GB2312" pitchFamily="49" charset="-122"/>
                <a:ea typeface="楷体_GB2312" pitchFamily="49" charset="-122"/>
              </a:rPr>
              <a:t>之前有</a:t>
            </a:r>
            <a:r>
              <a:rPr lang="en-US" altLang="zh-CN" sz="2400" b="1">
                <a:effectLst>
                  <a:outerShdw blurRad="38100" dist="38100" dir="2700000" algn="tl">
                    <a:srgbClr val="000000"/>
                  </a:outerShdw>
                </a:effectLst>
                <a:latin typeface="楷体_GB2312" pitchFamily="49" charset="-122"/>
                <a:ea typeface="楷体_GB2312" pitchFamily="49" charset="-122"/>
              </a:rPr>
              <a:t>long</a:t>
            </a:r>
            <a:r>
              <a:rPr lang="zh-CN" altLang="en-US" sz="2400" b="1">
                <a:effectLst>
                  <a:outerShdw blurRad="38100" dist="38100" dir="2700000" algn="tl">
                    <a:srgbClr val="000000"/>
                  </a:outerShdw>
                </a:effectLst>
                <a:latin typeface="楷体_GB2312" pitchFamily="49" charset="-122"/>
                <a:ea typeface="楷体_GB2312" pitchFamily="49" charset="-122"/>
              </a:rPr>
              <a:t>。以及用</a:t>
            </a:r>
            <a:r>
              <a:rPr lang="en-US" altLang="zh-CN" sz="2400" b="1">
                <a:effectLst>
                  <a:outerShdw blurRad="38100" dist="38100" dir="2700000" algn="tl">
                    <a:srgbClr val="000000"/>
                  </a:outerShdw>
                </a:effectLst>
                <a:latin typeface="楷体_GB2312" pitchFamily="49" charset="-122"/>
                <a:ea typeface="楷体_GB2312" pitchFamily="49" charset="-122"/>
              </a:rPr>
              <a:t>typedef</a:t>
            </a:r>
            <a:r>
              <a:rPr lang="zh-CN" altLang="en-US" sz="2400" b="1">
                <a:effectLst>
                  <a:outerShdw blurRad="38100" dist="38100" dir="2700000" algn="tl">
                    <a:srgbClr val="000000"/>
                  </a:outerShdw>
                </a:effectLst>
                <a:latin typeface="楷体_GB2312" pitchFamily="49" charset="-122"/>
                <a:ea typeface="楷体_GB2312" pitchFamily="49" charset="-122"/>
              </a:rPr>
              <a:t>定义的简单类型名。</a:t>
            </a:r>
          </a:p>
        </p:txBody>
      </p:sp>
      <p:sp>
        <p:nvSpPr>
          <p:cNvPr id="6" name="灯片编号占位符 5"/>
          <p:cNvSpPr>
            <a:spLocks noGrp="1"/>
          </p:cNvSpPr>
          <p:nvPr>
            <p:ph type="sldNum" sz="quarter" idx="12"/>
          </p:nvPr>
        </p:nvSpPr>
        <p:spPr/>
        <p:txBody>
          <a:bodyPr/>
          <a:lstStyle/>
          <a:p>
            <a:pPr>
              <a:defRPr/>
            </a:pPr>
            <a:fld id="{4CCBD4D6-99E1-42B1-8DAD-41672B8EC3E7}" type="slidenum">
              <a:rPr lang="en-US" altLang="zh-CN"/>
              <a:pPr>
                <a:defRPr/>
              </a:pPr>
              <a:t>134</a:t>
            </a:fld>
            <a:endParaRPr lang="en-US" altLang="zh-CN"/>
          </a:p>
        </p:txBody>
      </p:sp>
      <p:sp>
        <p:nvSpPr>
          <p:cNvPr id="717827" name="Text Box 3"/>
          <p:cNvSpPr txBox="1">
            <a:spLocks noChangeArrowheads="1"/>
          </p:cNvSpPr>
          <p:nvPr/>
        </p:nvSpPr>
        <p:spPr bwMode="auto">
          <a:xfrm>
            <a:off x="447675" y="206375"/>
            <a:ext cx="6284913" cy="579438"/>
          </a:xfrm>
          <a:prstGeom prst="rect">
            <a:avLst/>
          </a:prstGeom>
          <a:noFill/>
          <a:ln w="9525">
            <a:noFill/>
            <a:miter lim="800000"/>
            <a:headEnd/>
            <a:tailEnd/>
          </a:ln>
          <a:effectLst/>
        </p:spPr>
        <p:txBody>
          <a:bodyPr>
            <a:spAutoFit/>
          </a:bodyPr>
          <a:lstStyle/>
          <a:p>
            <a:pPr>
              <a:defRPr/>
            </a:pPr>
            <a:r>
              <a:rPr kumimoji="1" lang="en-US" altLang="zh-CN" sz="3200" dirty="0">
                <a:latin typeface="黑体" pitchFamily="2" charset="-122"/>
                <a:ea typeface="黑体" pitchFamily="2" charset="-122"/>
              </a:rPr>
              <a:t>7.9 </a:t>
            </a:r>
            <a:r>
              <a:rPr kumimoji="1" lang="zh-CN" altLang="en-US" sz="3200" dirty="0">
                <a:latin typeface="黑体" pitchFamily="2" charset="-122"/>
                <a:ea typeface="黑体" pitchFamily="2" charset="-122"/>
              </a:rPr>
              <a:t>变量定义</a:t>
            </a:r>
            <a:r>
              <a:rPr lang="zh-CN" altLang="en-US" dirty="0">
                <a:latin typeface="黑体" pitchFamily="2" charset="-122"/>
                <a:ea typeface="黑体" pitchFamily="2" charset="-122"/>
              </a:rPr>
              <a:t> </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8850" name="Rectangle 2"/>
          <p:cNvSpPr>
            <a:spLocks noGrp="1" noChangeArrowheads="1"/>
          </p:cNvSpPr>
          <p:nvPr>
            <p:ph idx="1"/>
          </p:nvPr>
        </p:nvSpPr>
        <p:spPr>
          <a:xfrm>
            <a:off x="179388" y="333375"/>
            <a:ext cx="8785225" cy="6264275"/>
          </a:xfrm>
        </p:spPr>
        <p:txBody>
          <a:bodyPr>
            <a:normAutofit lnSpcReduction="10000"/>
          </a:bodyPr>
          <a:lstStyle/>
          <a:p>
            <a:pPr marL="0" indent="0" eaLnBrk="1" hangingPunct="1">
              <a:lnSpc>
                <a:spcPct val="90000"/>
              </a:lnSpc>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构造类型有：</a:t>
            </a:r>
          </a:p>
          <a:p>
            <a:pPr marL="0" indent="0" eaLnBrk="1" hangingPunct="1">
              <a:lnSpc>
                <a:spcPct val="90000"/>
              </a:lnSpc>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       </a:t>
            </a:r>
            <a:r>
              <a:rPr lang="en-US" altLang="zh-CN" sz="2400" b="1" dirty="0" err="1">
                <a:effectLst>
                  <a:outerShdw blurRad="38100" dist="38100" dir="2700000" algn="tl">
                    <a:srgbClr val="000000"/>
                  </a:outerShdw>
                </a:effectLst>
                <a:latin typeface="楷体_GB2312" pitchFamily="49" charset="-122"/>
                <a:ea typeface="楷体_GB2312" pitchFamily="49" charset="-122"/>
              </a:rPr>
              <a:t>struct</a:t>
            </a:r>
            <a:r>
              <a:rPr lang="en-US" altLang="zh-CN" sz="2400" b="1" dirty="0">
                <a:effectLst>
                  <a:outerShdw blurRad="38100" dist="38100" dir="2700000" algn="tl">
                    <a:srgbClr val="000000"/>
                  </a:outerShdw>
                </a:effectLst>
                <a:latin typeface="楷体_GB2312" pitchFamily="49" charset="-122"/>
                <a:ea typeface="楷体_GB2312" pitchFamily="49" charset="-122"/>
              </a:rPr>
              <a:t>  </a:t>
            </a:r>
            <a:r>
              <a:rPr lang="zh-CN" altLang="en-US" sz="2400" b="1" dirty="0">
                <a:effectLst>
                  <a:outerShdw blurRad="38100" dist="38100" dir="2700000" algn="tl">
                    <a:srgbClr val="000000"/>
                  </a:outerShdw>
                </a:effectLst>
                <a:latin typeface="楷体_GB2312" pitchFamily="49" charset="-122"/>
                <a:ea typeface="楷体_GB2312" pitchFamily="49" charset="-122"/>
              </a:rPr>
              <a:t>结构类型名、结构类型定义</a:t>
            </a:r>
          </a:p>
          <a:p>
            <a:pPr marL="0" indent="0" eaLnBrk="1" hangingPunct="1">
              <a:lnSpc>
                <a:spcPct val="90000"/>
              </a:lnSpc>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       </a:t>
            </a:r>
            <a:r>
              <a:rPr lang="en-US" altLang="zh-CN" sz="2400" b="1" dirty="0">
                <a:effectLst>
                  <a:outerShdw blurRad="38100" dist="38100" dir="2700000" algn="tl">
                    <a:srgbClr val="000000"/>
                  </a:outerShdw>
                </a:effectLst>
                <a:latin typeface="楷体_GB2312" pitchFamily="49" charset="-122"/>
                <a:ea typeface="楷体_GB2312" pitchFamily="49" charset="-122"/>
              </a:rPr>
              <a:t>union  </a:t>
            </a:r>
            <a:r>
              <a:rPr lang="zh-CN" altLang="en-US" sz="2400" b="1" dirty="0">
                <a:effectLst>
                  <a:outerShdw blurRad="38100" dist="38100" dir="2700000" algn="tl">
                    <a:srgbClr val="000000"/>
                  </a:outerShdw>
                </a:effectLst>
                <a:latin typeface="楷体_GB2312" pitchFamily="49" charset="-122"/>
                <a:ea typeface="楷体_GB2312" pitchFamily="49" charset="-122"/>
              </a:rPr>
              <a:t>联合类型名、联合类型定义</a:t>
            </a:r>
          </a:p>
          <a:p>
            <a:pPr marL="0" indent="0" eaLnBrk="1" hangingPunct="1">
              <a:lnSpc>
                <a:spcPct val="90000"/>
              </a:lnSpc>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       </a:t>
            </a:r>
            <a:r>
              <a:rPr lang="en-US" altLang="zh-CN" sz="2400" b="1" dirty="0" err="1">
                <a:effectLst>
                  <a:outerShdw blurRad="38100" dist="38100" dir="2700000" algn="tl">
                    <a:srgbClr val="000000"/>
                  </a:outerShdw>
                </a:effectLst>
                <a:latin typeface="楷体_GB2312" pitchFamily="49" charset="-122"/>
                <a:ea typeface="楷体_GB2312" pitchFamily="49" charset="-122"/>
              </a:rPr>
              <a:t>enum</a:t>
            </a:r>
            <a:r>
              <a:rPr lang="en-US" altLang="zh-CN" sz="2400" b="1" dirty="0">
                <a:effectLst>
                  <a:outerShdw blurRad="38100" dist="38100" dir="2700000" algn="tl">
                    <a:srgbClr val="000000"/>
                  </a:outerShdw>
                </a:effectLst>
                <a:latin typeface="楷体_GB2312" pitchFamily="49" charset="-122"/>
                <a:ea typeface="楷体_GB2312" pitchFamily="49" charset="-122"/>
              </a:rPr>
              <a:t>  </a:t>
            </a:r>
            <a:r>
              <a:rPr lang="zh-CN" altLang="en-US" sz="2400" b="1" dirty="0">
                <a:effectLst>
                  <a:outerShdw blurRad="38100" dist="38100" dir="2700000" algn="tl">
                    <a:srgbClr val="000000"/>
                  </a:outerShdw>
                </a:effectLst>
                <a:latin typeface="楷体_GB2312" pitchFamily="49" charset="-122"/>
                <a:ea typeface="楷体_GB2312" pitchFamily="49" charset="-122"/>
              </a:rPr>
              <a:t>枚举类型名、枚举类型定义</a:t>
            </a:r>
          </a:p>
          <a:p>
            <a:pPr marL="0" indent="0" eaLnBrk="1" hangingPunct="1">
              <a:lnSpc>
                <a:spcPct val="90000"/>
              </a:lnSpc>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       用</a:t>
            </a:r>
            <a:r>
              <a:rPr lang="en-US" altLang="zh-CN" sz="2400" b="1" dirty="0" err="1">
                <a:effectLst>
                  <a:outerShdw blurRad="38100" dist="38100" dir="2700000" algn="tl">
                    <a:srgbClr val="000000"/>
                  </a:outerShdw>
                </a:effectLst>
                <a:latin typeface="楷体_GB2312" pitchFamily="49" charset="-122"/>
                <a:ea typeface="楷体_GB2312" pitchFamily="49" charset="-122"/>
              </a:rPr>
              <a:t>typedef</a:t>
            </a:r>
            <a:r>
              <a:rPr lang="zh-CN" altLang="en-US" sz="2400" b="1" dirty="0">
                <a:effectLst>
                  <a:outerShdw blurRad="38100" dist="38100" dir="2700000" algn="tl">
                    <a:srgbClr val="000000"/>
                  </a:outerShdw>
                </a:effectLst>
                <a:latin typeface="楷体_GB2312" pitchFamily="49" charset="-122"/>
                <a:ea typeface="楷体_GB2312" pitchFamily="49" charset="-122"/>
              </a:rPr>
              <a:t>定义的构造类型名，包括数组类型的类型名。</a:t>
            </a:r>
          </a:p>
          <a:p>
            <a:pPr marL="0" indent="0" eaLnBrk="1" hangingPunct="1">
              <a:lnSpc>
                <a:spcPct val="90000"/>
              </a:lnSpc>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数据区分由一个或多个</a:t>
            </a:r>
            <a:r>
              <a:rPr lang="zh-CN" altLang="en-US" sz="2400" b="1" dirty="0">
                <a:effectLst>
                  <a:outerShdw blurRad="38100" dist="38100" dir="2700000" algn="tl">
                    <a:srgbClr val="000000"/>
                  </a:outerShdw>
                </a:effectLst>
                <a:ea typeface="楷体_GB2312" pitchFamily="49" charset="-122"/>
              </a:rPr>
              <a:t>“</a:t>
            </a:r>
            <a:r>
              <a:rPr lang="zh-CN" altLang="en-US" sz="2400" b="1" dirty="0">
                <a:effectLst>
                  <a:outerShdw blurRad="38100" dist="38100" dir="2700000" algn="tl">
                    <a:srgbClr val="000000"/>
                  </a:outerShdw>
                </a:effectLst>
                <a:latin typeface="楷体_GB2312" pitchFamily="49" charset="-122"/>
                <a:ea typeface="楷体_GB2312" pitchFamily="49" charset="-122"/>
              </a:rPr>
              <a:t>数据说明符 初值符</a:t>
            </a:r>
            <a:r>
              <a:rPr lang="zh-CN" altLang="en-US" sz="2400" b="1" dirty="0">
                <a:effectLst>
                  <a:outerShdw blurRad="38100" dist="38100" dir="2700000" algn="tl">
                    <a:srgbClr val="000000"/>
                  </a:outerShdw>
                </a:effectLst>
                <a:ea typeface="楷体_GB2312" pitchFamily="49" charset="-122"/>
              </a:rPr>
              <a:t>”</a:t>
            </a:r>
            <a:r>
              <a:rPr lang="zh-CN" altLang="en-US" sz="2400" b="1" dirty="0">
                <a:effectLst>
                  <a:outerShdw blurRad="38100" dist="38100" dir="2700000" algn="tl">
                    <a:srgbClr val="000000"/>
                  </a:outerShdw>
                </a:effectLst>
                <a:latin typeface="楷体_GB2312" pitchFamily="49" charset="-122"/>
                <a:ea typeface="楷体_GB2312" pitchFamily="49" charset="-122"/>
              </a:rPr>
              <a:t>对组成，其中初值符可以没有。当有多个</a:t>
            </a:r>
            <a:r>
              <a:rPr lang="zh-CN" altLang="en-US" sz="2400" b="1" dirty="0">
                <a:effectLst>
                  <a:outerShdw blurRad="38100" dist="38100" dir="2700000" algn="tl">
                    <a:srgbClr val="000000"/>
                  </a:outerShdw>
                </a:effectLst>
                <a:ea typeface="楷体_GB2312" pitchFamily="49" charset="-122"/>
              </a:rPr>
              <a:t>“</a:t>
            </a:r>
            <a:r>
              <a:rPr lang="zh-CN" altLang="en-US" sz="2400" b="1" dirty="0">
                <a:effectLst>
                  <a:outerShdw blurRad="38100" dist="38100" dir="2700000" algn="tl">
                    <a:srgbClr val="000000"/>
                  </a:outerShdw>
                </a:effectLst>
                <a:latin typeface="楷体_GB2312" pitchFamily="49" charset="-122"/>
                <a:ea typeface="楷体_GB2312" pitchFamily="49" charset="-122"/>
              </a:rPr>
              <a:t>数据说明符 </a:t>
            </a:r>
            <a:r>
              <a:rPr lang="en-US" altLang="zh-CN" sz="2400" b="1" dirty="0">
                <a:effectLst>
                  <a:outerShdw blurRad="38100" dist="38100" dir="2700000" algn="tl">
                    <a:srgbClr val="000000"/>
                  </a:outerShdw>
                </a:effectLst>
                <a:latin typeface="楷体_GB2312" pitchFamily="49" charset="-122"/>
                <a:ea typeface="楷体_GB2312" pitchFamily="49" charset="-122"/>
              </a:rPr>
              <a:t>= </a:t>
            </a:r>
            <a:r>
              <a:rPr lang="zh-CN" altLang="en-US" sz="2400" b="1" dirty="0">
                <a:effectLst>
                  <a:outerShdw blurRad="38100" dist="38100" dir="2700000" algn="tl">
                    <a:srgbClr val="000000"/>
                  </a:outerShdw>
                </a:effectLst>
                <a:latin typeface="楷体_GB2312" pitchFamily="49" charset="-122"/>
                <a:ea typeface="楷体_GB2312" pitchFamily="49" charset="-122"/>
              </a:rPr>
              <a:t>初值</a:t>
            </a:r>
            <a:r>
              <a:rPr lang="zh-CN" altLang="en-US" sz="2400" b="1" dirty="0">
                <a:effectLst>
                  <a:outerShdw blurRad="38100" dist="38100" dir="2700000" algn="tl">
                    <a:srgbClr val="000000"/>
                  </a:outerShdw>
                </a:effectLst>
                <a:ea typeface="楷体_GB2312" pitchFamily="49" charset="-122"/>
              </a:rPr>
              <a:t>”</a:t>
            </a:r>
            <a:r>
              <a:rPr lang="zh-CN" altLang="en-US" sz="2400" b="1" dirty="0">
                <a:effectLst>
                  <a:outerShdw blurRad="38100" dist="38100" dir="2700000" algn="tl">
                    <a:srgbClr val="000000"/>
                  </a:outerShdw>
                </a:effectLst>
                <a:latin typeface="楷体_GB2312" pitchFamily="49" charset="-122"/>
                <a:ea typeface="楷体_GB2312" pitchFamily="49" charset="-122"/>
              </a:rPr>
              <a:t>时，它们之间用逗号分隔。</a:t>
            </a:r>
          </a:p>
          <a:p>
            <a:pPr marL="0" indent="0" eaLnBrk="1" hangingPunct="1">
              <a:lnSpc>
                <a:spcPct val="90000"/>
              </a:lnSpc>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数据说明符又有多种形式，最简单的是一个标识符；另有多种构造形式，它们是：</a:t>
            </a:r>
          </a:p>
          <a:p>
            <a:pPr marL="0" indent="0" eaLnBrk="1" hangingPunct="1">
              <a:lnSpc>
                <a:spcPct val="90000"/>
              </a:lnSpc>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（数据说明符）、* 数据说明符、数据说明符</a:t>
            </a:r>
            <a:r>
              <a:rPr lang="en-US" altLang="zh-CN" sz="2400" b="1" dirty="0">
                <a:effectLst>
                  <a:outerShdw blurRad="38100" dist="38100" dir="2700000" algn="tl">
                    <a:srgbClr val="000000"/>
                  </a:outerShdw>
                </a:effectLst>
                <a:latin typeface="楷体_GB2312" pitchFamily="49" charset="-122"/>
                <a:ea typeface="楷体_GB2312" pitchFamily="49" charset="-122"/>
              </a:rPr>
              <a:t>()</a:t>
            </a:r>
            <a:r>
              <a:rPr lang="zh-CN" altLang="en-US" sz="2400" b="1" dirty="0">
                <a:effectLst>
                  <a:outerShdw blurRad="38100" dist="38100" dir="2700000" algn="tl">
                    <a:srgbClr val="000000"/>
                  </a:outerShdw>
                </a:effectLst>
                <a:latin typeface="楷体_GB2312" pitchFamily="49" charset="-122"/>
                <a:ea typeface="楷体_GB2312" pitchFamily="49" charset="-122"/>
              </a:rPr>
              <a:t>、数据说明符</a:t>
            </a:r>
            <a:r>
              <a:rPr lang="en-US" altLang="zh-CN" sz="2400" b="1" dirty="0">
                <a:effectLst>
                  <a:outerShdw blurRad="38100" dist="38100" dir="2700000" algn="tl">
                    <a:srgbClr val="000000"/>
                  </a:outerShdw>
                </a:effectLst>
                <a:latin typeface="楷体_GB2312" pitchFamily="49" charset="-122"/>
                <a:ea typeface="楷体_GB2312" pitchFamily="49" charset="-122"/>
              </a:rPr>
              <a:t>[</a:t>
            </a:r>
            <a:r>
              <a:rPr lang="zh-CN" altLang="en-US" sz="2400" b="1" dirty="0">
                <a:effectLst>
                  <a:outerShdw blurRad="38100" dist="38100" dir="2700000" algn="tl">
                    <a:srgbClr val="000000"/>
                  </a:outerShdw>
                </a:effectLst>
                <a:latin typeface="楷体_GB2312" pitchFamily="49" charset="-122"/>
                <a:ea typeface="楷体_GB2312" pitchFamily="49" charset="-122"/>
              </a:rPr>
              <a:t>常量表达式</a:t>
            </a:r>
            <a:r>
              <a:rPr lang="en-US" altLang="zh-CN" sz="2400" b="1" dirty="0">
                <a:effectLst>
                  <a:outerShdw blurRad="38100" dist="38100" dir="2700000" algn="tl">
                    <a:srgbClr val="000000"/>
                  </a:outerShdw>
                </a:effectLst>
                <a:latin typeface="楷体_GB2312" pitchFamily="49" charset="-122"/>
                <a:ea typeface="楷体_GB2312" pitchFamily="49" charset="-122"/>
              </a:rPr>
              <a:t>]</a:t>
            </a:r>
            <a:r>
              <a:rPr lang="zh-CN" altLang="en-US" sz="2400" b="1" dirty="0">
                <a:effectLst>
                  <a:outerShdw blurRad="38100" dist="38100" dir="2700000" algn="tl">
                    <a:srgbClr val="000000"/>
                  </a:outerShdw>
                </a:effectLst>
                <a:latin typeface="楷体_GB2312" pitchFamily="49" charset="-122"/>
                <a:ea typeface="楷体_GB2312" pitchFamily="49" charset="-122"/>
              </a:rPr>
              <a:t>、数据说明符</a:t>
            </a:r>
            <a:r>
              <a:rPr lang="en-US" altLang="zh-CN" sz="2400" b="1" dirty="0">
                <a:effectLst>
                  <a:outerShdw blurRad="38100" dist="38100" dir="2700000" algn="tl">
                    <a:srgbClr val="000000"/>
                  </a:outerShdw>
                </a:effectLst>
                <a:latin typeface="楷体_GB2312" pitchFamily="49" charset="-122"/>
                <a:ea typeface="楷体_GB2312" pitchFamily="49" charset="-122"/>
              </a:rPr>
              <a:t>[]</a:t>
            </a:r>
            <a:r>
              <a:rPr lang="zh-CN" altLang="en-US" sz="2400" b="1" dirty="0">
                <a:effectLst>
                  <a:outerShdw blurRad="38100" dist="38100" dir="2700000" algn="tl">
                    <a:srgbClr val="000000"/>
                  </a:outerShdw>
                </a:effectLst>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假设把类型区分符说明的类型记为</a:t>
            </a:r>
            <a:r>
              <a:rPr lang="en-US" altLang="zh-CN" sz="2400" b="1" dirty="0">
                <a:effectLst>
                  <a:outerShdw blurRad="38100" dist="38100" dir="2700000" algn="tl">
                    <a:srgbClr val="000000"/>
                  </a:outerShdw>
                </a:effectLst>
                <a:latin typeface="楷体_GB2312" pitchFamily="49" charset="-122"/>
                <a:ea typeface="楷体_GB2312" pitchFamily="49" charset="-122"/>
              </a:rPr>
              <a:t>Type</a:t>
            </a:r>
            <a:r>
              <a:rPr lang="zh-CN" altLang="en-US" sz="2400" b="1" dirty="0">
                <a:effectLst>
                  <a:outerShdw blurRad="38100" dist="38100" dir="2700000" algn="tl">
                    <a:srgbClr val="000000"/>
                  </a:outerShdw>
                </a:effectLst>
                <a:latin typeface="楷体_GB2312" pitchFamily="49" charset="-122"/>
                <a:ea typeface="楷体_GB2312" pitchFamily="49" charset="-122"/>
              </a:rPr>
              <a:t>。如果数据说明符是一个未加任何修饰的标识符，则它说明标识符的类型是</a:t>
            </a:r>
            <a:r>
              <a:rPr lang="en-US" altLang="zh-CN" sz="2400" b="1" dirty="0">
                <a:effectLst>
                  <a:outerShdw blurRad="38100" dist="38100" dir="2700000" algn="tl">
                    <a:srgbClr val="000000"/>
                  </a:outerShdw>
                </a:effectLst>
                <a:latin typeface="楷体_GB2312" pitchFamily="49" charset="-122"/>
                <a:ea typeface="楷体_GB2312" pitchFamily="49" charset="-122"/>
              </a:rPr>
              <a:t>Type</a:t>
            </a:r>
            <a:r>
              <a:rPr lang="zh-CN" altLang="en-US" sz="2400" b="1" dirty="0">
                <a:effectLst>
                  <a:outerShdw blurRad="38100" dist="38100" dir="2700000" algn="tl">
                    <a:srgbClr val="000000"/>
                  </a:outerShdw>
                </a:effectLst>
                <a:latin typeface="楷体_GB2312" pitchFamily="49" charset="-122"/>
                <a:ea typeface="楷体_GB2312" pitchFamily="49" charset="-122"/>
              </a:rPr>
              <a:t>的。例如</a:t>
            </a:r>
          </a:p>
          <a:p>
            <a:pPr marL="0" indent="0" eaLnBrk="1" hangingPunct="1">
              <a:lnSpc>
                <a:spcPct val="90000"/>
              </a:lnSpc>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        </a:t>
            </a:r>
            <a:r>
              <a:rPr lang="en-US" altLang="zh-CN" sz="2400" b="1" dirty="0" err="1">
                <a:effectLst>
                  <a:outerShdw blurRad="38100" dist="38100" dir="2700000" algn="tl">
                    <a:srgbClr val="000000"/>
                  </a:outerShdw>
                </a:effectLst>
                <a:latin typeface="楷体_GB2312" pitchFamily="49" charset="-122"/>
                <a:ea typeface="楷体_GB2312" pitchFamily="49" charset="-122"/>
              </a:rPr>
              <a:t>int</a:t>
            </a:r>
            <a:r>
              <a:rPr lang="en-US" altLang="zh-CN" sz="2400" b="1" dirty="0">
                <a:effectLst>
                  <a:outerShdw blurRad="38100" dist="38100" dir="2700000" algn="tl">
                    <a:srgbClr val="000000"/>
                  </a:outerShdw>
                </a:effectLst>
                <a:latin typeface="楷体_GB2312" pitchFamily="49" charset="-122"/>
                <a:ea typeface="楷体_GB2312" pitchFamily="49" charset="-122"/>
              </a:rPr>
              <a:t> j;</a:t>
            </a:r>
          </a:p>
          <a:p>
            <a:pPr marL="0" indent="0" eaLnBrk="1" hangingPunct="1">
              <a:lnSpc>
                <a:spcPct val="90000"/>
              </a:lnSpc>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数据说明符为标识符</a:t>
            </a:r>
            <a:r>
              <a:rPr lang="en-US" altLang="zh-CN" sz="2400" b="1" dirty="0">
                <a:effectLst>
                  <a:outerShdw blurRad="38100" dist="38100" dir="2700000" algn="tl">
                    <a:srgbClr val="000000"/>
                  </a:outerShdw>
                </a:effectLst>
                <a:latin typeface="楷体_GB2312" pitchFamily="49" charset="-122"/>
                <a:ea typeface="楷体_GB2312" pitchFamily="49" charset="-122"/>
              </a:rPr>
              <a:t>j</a:t>
            </a:r>
            <a:r>
              <a:rPr lang="zh-CN" altLang="en-US" sz="2400" b="1" dirty="0">
                <a:effectLst>
                  <a:outerShdw blurRad="38100" dist="38100" dir="2700000" algn="tl">
                    <a:srgbClr val="000000"/>
                  </a:outerShdw>
                </a:effectLst>
                <a:latin typeface="楷体_GB2312" pitchFamily="49" charset="-122"/>
                <a:ea typeface="楷体_GB2312" pitchFamily="49" charset="-122"/>
              </a:rPr>
              <a:t>，它的类型为</a:t>
            </a:r>
            <a:r>
              <a:rPr lang="en-US" altLang="zh-CN" sz="2400" b="1" dirty="0" err="1">
                <a:effectLst>
                  <a:outerShdw blurRad="38100" dist="38100" dir="2700000" algn="tl">
                    <a:srgbClr val="000000"/>
                  </a:outerShdw>
                </a:effectLst>
                <a:latin typeface="楷体_GB2312" pitchFamily="49" charset="-122"/>
                <a:ea typeface="楷体_GB2312" pitchFamily="49" charset="-122"/>
              </a:rPr>
              <a:t>int</a:t>
            </a:r>
            <a:r>
              <a:rPr lang="zh-CN" altLang="en-US" sz="2400" b="1" dirty="0">
                <a:effectLst>
                  <a:outerShdw blurRad="38100" dist="38100" dir="2700000" algn="tl">
                    <a:srgbClr val="000000"/>
                  </a:outerShdw>
                </a:effectLst>
                <a:latin typeface="楷体_GB2312" pitchFamily="49" charset="-122"/>
                <a:ea typeface="楷体_GB2312" pitchFamily="49" charset="-122"/>
              </a:rPr>
              <a:t>型的。</a:t>
            </a:r>
          </a:p>
        </p:txBody>
      </p:sp>
      <p:sp>
        <p:nvSpPr>
          <p:cNvPr id="5" name="灯片编号占位符 5"/>
          <p:cNvSpPr>
            <a:spLocks noGrp="1"/>
          </p:cNvSpPr>
          <p:nvPr>
            <p:ph type="sldNum" sz="quarter" idx="12"/>
          </p:nvPr>
        </p:nvSpPr>
        <p:spPr/>
        <p:txBody>
          <a:bodyPr/>
          <a:lstStyle/>
          <a:p>
            <a:pPr>
              <a:defRPr/>
            </a:pPr>
            <a:fld id="{3DBDAB71-6B67-401D-A6AF-01EA60E24A01}" type="slidenum">
              <a:rPr lang="en-US" altLang="zh-CN"/>
              <a:pPr>
                <a:defRPr/>
              </a:pPr>
              <a:t>135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8850">
                                            <p:txEl>
                                              <p:pRg st="5" end="5"/>
                                            </p:txEl>
                                          </p:spTgt>
                                        </p:tgtEl>
                                        <p:attrNameLst>
                                          <p:attrName>style.visibility</p:attrName>
                                        </p:attrNameLst>
                                      </p:cBhvr>
                                      <p:to>
                                        <p:strVal val="visible"/>
                                      </p:to>
                                    </p:set>
                                    <p:anim calcmode="lin" valueType="num">
                                      <p:cBhvr additive="base">
                                        <p:cTn id="7" dur="500" fill="hold"/>
                                        <p:tgtEl>
                                          <p:spTgt spid="718850">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885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8850">
                                            <p:txEl>
                                              <p:pRg st="6" end="6"/>
                                            </p:txEl>
                                          </p:spTgt>
                                        </p:tgtEl>
                                        <p:attrNameLst>
                                          <p:attrName>style.visibility</p:attrName>
                                        </p:attrNameLst>
                                      </p:cBhvr>
                                      <p:to>
                                        <p:strVal val="visible"/>
                                      </p:to>
                                    </p:set>
                                    <p:anim calcmode="lin" valueType="num">
                                      <p:cBhvr additive="base">
                                        <p:cTn id="13" dur="500" fill="hold"/>
                                        <p:tgtEl>
                                          <p:spTgt spid="718850">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8850">
                                            <p:txEl>
                                              <p:pRg st="6" end="6"/>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18850">
                                            <p:txEl>
                                              <p:pRg st="7" end="7"/>
                                            </p:txEl>
                                          </p:spTgt>
                                        </p:tgtEl>
                                        <p:attrNameLst>
                                          <p:attrName>style.visibility</p:attrName>
                                        </p:attrNameLst>
                                      </p:cBhvr>
                                      <p:to>
                                        <p:strVal val="visible"/>
                                      </p:to>
                                    </p:set>
                                    <p:anim calcmode="lin" valueType="num">
                                      <p:cBhvr additive="base">
                                        <p:cTn id="17" dur="500" fill="hold"/>
                                        <p:tgtEl>
                                          <p:spTgt spid="718850">
                                            <p:txEl>
                                              <p:pRg st="7" end="7"/>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18850">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18850">
                                            <p:txEl>
                                              <p:pRg st="8" end="8"/>
                                            </p:txEl>
                                          </p:spTgt>
                                        </p:tgtEl>
                                        <p:attrNameLst>
                                          <p:attrName>style.visibility</p:attrName>
                                        </p:attrNameLst>
                                      </p:cBhvr>
                                      <p:to>
                                        <p:strVal val="visible"/>
                                      </p:to>
                                    </p:set>
                                    <p:anim calcmode="lin" valueType="num">
                                      <p:cBhvr additive="base">
                                        <p:cTn id="23" dur="500" fill="hold"/>
                                        <p:tgtEl>
                                          <p:spTgt spid="718850">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18850">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718850">
                                            <p:txEl>
                                              <p:pRg st="9" end="9"/>
                                            </p:txEl>
                                          </p:spTgt>
                                        </p:tgtEl>
                                        <p:attrNameLst>
                                          <p:attrName>style.visibility</p:attrName>
                                        </p:attrNameLst>
                                      </p:cBhvr>
                                      <p:to>
                                        <p:strVal val="visible"/>
                                      </p:to>
                                    </p:set>
                                    <p:anim calcmode="lin" valueType="num">
                                      <p:cBhvr additive="base">
                                        <p:cTn id="27" dur="500" fill="hold"/>
                                        <p:tgtEl>
                                          <p:spTgt spid="718850">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18850">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718850">
                                            <p:txEl>
                                              <p:pRg st="10" end="10"/>
                                            </p:txEl>
                                          </p:spTgt>
                                        </p:tgtEl>
                                        <p:attrNameLst>
                                          <p:attrName>style.visibility</p:attrName>
                                        </p:attrNameLst>
                                      </p:cBhvr>
                                      <p:to>
                                        <p:strVal val="visible"/>
                                      </p:to>
                                    </p:set>
                                    <p:anim calcmode="lin" valueType="num">
                                      <p:cBhvr additive="base">
                                        <p:cTn id="31" dur="500" fill="hold"/>
                                        <p:tgtEl>
                                          <p:spTgt spid="718850">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18850">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9874" name="Rectangle 2"/>
          <p:cNvSpPr>
            <a:spLocks noGrp="1" noChangeArrowheads="1"/>
          </p:cNvSpPr>
          <p:nvPr>
            <p:ph idx="1"/>
          </p:nvPr>
        </p:nvSpPr>
        <p:spPr>
          <a:xfrm>
            <a:off x="179388" y="333375"/>
            <a:ext cx="8785225" cy="6264275"/>
          </a:xfrm>
        </p:spPr>
        <p:txBody>
          <a:bodyPr/>
          <a:lstStyle/>
          <a:p>
            <a:pPr marL="0" indent="0" eaLnBrk="1" hangingPunct="1">
              <a:buFont typeface="Monotype Sorts" pitchFamily="2" charset="2"/>
              <a:buNone/>
              <a:defRPr/>
            </a:pPr>
            <a:r>
              <a:rPr lang="zh-CN" altLang="en-US" b="1" dirty="0">
                <a:effectLst>
                  <a:outerShdw blurRad="38100" dist="38100" dir="2700000" algn="tl">
                    <a:srgbClr val="000000"/>
                  </a:outerShdw>
                </a:effectLst>
                <a:latin typeface="楷体_GB2312" pitchFamily="49" charset="-122"/>
                <a:ea typeface="楷体_GB2312" pitchFamily="49" charset="-122"/>
              </a:rPr>
              <a:t>数据说明符</a:t>
            </a:r>
            <a:r>
              <a:rPr lang="zh-CN" altLang="en-US" b="1" dirty="0">
                <a:effectLst>
                  <a:outerShdw blurRad="38100" dist="38100" dir="2700000" algn="tl">
                    <a:srgbClr val="000000"/>
                  </a:outerShdw>
                </a:effectLst>
                <a:ea typeface="楷体_GB2312" pitchFamily="49" charset="-122"/>
              </a:rPr>
              <a:t>“</a:t>
            </a:r>
            <a:r>
              <a:rPr lang="zh-CN" altLang="en-US" b="1" dirty="0">
                <a:effectLst>
                  <a:outerShdw blurRad="38100" dist="38100" dir="2700000" algn="tl">
                    <a:srgbClr val="000000"/>
                  </a:outerShdw>
                </a:effectLst>
                <a:latin typeface="楷体_GB2312" pitchFamily="49" charset="-122"/>
                <a:ea typeface="楷体_GB2312" pitchFamily="49" charset="-122"/>
              </a:rPr>
              <a:t>（数据说明符）</a:t>
            </a:r>
            <a:r>
              <a:rPr lang="zh-CN" altLang="en-US" b="1" dirty="0">
                <a:effectLst>
                  <a:outerShdw blurRad="38100" dist="38100" dir="2700000" algn="tl">
                    <a:srgbClr val="000000"/>
                  </a:outerShdw>
                </a:effectLst>
                <a:ea typeface="楷体_GB2312" pitchFamily="49" charset="-122"/>
              </a:rPr>
              <a:t>”</a:t>
            </a:r>
            <a:r>
              <a:rPr lang="zh-CN" altLang="en-US" b="1" dirty="0">
                <a:effectLst>
                  <a:outerShdw blurRad="38100" dist="38100" dir="2700000" algn="tl">
                    <a:srgbClr val="000000"/>
                  </a:outerShdw>
                </a:effectLst>
                <a:latin typeface="楷体_GB2312" pitchFamily="49" charset="-122"/>
                <a:ea typeface="楷体_GB2312" pitchFamily="49" charset="-122"/>
              </a:rPr>
              <a:t>，相当于未加修饰的数据说明符，使用括号只是用来改变复杂数据说明符中有关内容的结合顺序。</a:t>
            </a:r>
          </a:p>
          <a:p>
            <a:pPr marL="0" indent="0" eaLnBrk="1" hangingPunct="1">
              <a:buFont typeface="Monotype Sorts" pitchFamily="2" charset="2"/>
              <a:buNone/>
              <a:defRPr/>
            </a:pPr>
            <a:r>
              <a:rPr lang="zh-CN" altLang="en-US" b="1" dirty="0">
                <a:effectLst>
                  <a:outerShdw blurRad="38100" dist="38100" dir="2700000" algn="tl">
                    <a:srgbClr val="000000"/>
                  </a:outerShdw>
                </a:effectLst>
                <a:latin typeface="楷体_GB2312" pitchFamily="49" charset="-122"/>
                <a:ea typeface="楷体_GB2312" pitchFamily="49" charset="-122"/>
              </a:rPr>
              <a:t>数据说明符</a:t>
            </a:r>
            <a:r>
              <a:rPr lang="zh-CN" altLang="en-US" b="1" dirty="0">
                <a:effectLst>
                  <a:outerShdw blurRad="38100" dist="38100" dir="2700000" algn="tl">
                    <a:srgbClr val="000000"/>
                  </a:outerShdw>
                </a:effectLst>
                <a:ea typeface="楷体_GB2312" pitchFamily="49" charset="-122"/>
              </a:rPr>
              <a:t>“</a:t>
            </a:r>
            <a:r>
              <a:rPr lang="zh-CN" altLang="en-US" b="1" dirty="0">
                <a:effectLst>
                  <a:outerShdw blurRad="38100" dist="38100" dir="2700000" algn="tl">
                    <a:srgbClr val="000000"/>
                  </a:outerShdw>
                </a:effectLst>
                <a:latin typeface="楷体_GB2312" pitchFamily="49" charset="-122"/>
                <a:ea typeface="楷体_GB2312" pitchFamily="49" charset="-122"/>
              </a:rPr>
              <a:t>* 数据说明符</a:t>
            </a:r>
            <a:r>
              <a:rPr lang="zh-CN" altLang="en-US" b="1" dirty="0">
                <a:effectLst>
                  <a:outerShdw blurRad="38100" dist="38100" dir="2700000" algn="tl">
                    <a:srgbClr val="000000"/>
                  </a:outerShdw>
                </a:effectLst>
                <a:ea typeface="楷体_GB2312" pitchFamily="49" charset="-122"/>
              </a:rPr>
              <a:t>”</a:t>
            </a:r>
            <a:r>
              <a:rPr lang="zh-CN" altLang="en-US" b="1" dirty="0">
                <a:effectLst>
                  <a:outerShdw blurRad="38100" dist="38100" dir="2700000" algn="tl">
                    <a:srgbClr val="000000"/>
                  </a:outerShdw>
                </a:effectLst>
                <a:latin typeface="楷体_GB2312" pitchFamily="49" charset="-122"/>
                <a:ea typeface="楷体_GB2312" pitchFamily="49" charset="-122"/>
              </a:rPr>
              <a:t>，使数据说明符所含标识符的类型是</a:t>
            </a:r>
            <a:r>
              <a:rPr lang="zh-CN" altLang="en-US" b="1" dirty="0">
                <a:effectLst>
                  <a:outerShdw blurRad="38100" dist="38100" dir="2700000" algn="tl">
                    <a:srgbClr val="000000"/>
                  </a:outerShdw>
                </a:effectLst>
                <a:ea typeface="楷体_GB2312" pitchFamily="49" charset="-122"/>
              </a:rPr>
              <a:t>“</a:t>
            </a:r>
            <a:r>
              <a:rPr lang="zh-CN" altLang="en-US" b="1" dirty="0">
                <a:effectLst>
                  <a:outerShdw blurRad="38100" dist="38100" dir="2700000" algn="tl">
                    <a:srgbClr val="000000"/>
                  </a:outerShdw>
                </a:effectLst>
                <a:latin typeface="楷体_GB2312" pitchFamily="49" charset="-122"/>
                <a:ea typeface="楷体_GB2312" pitchFamily="49" charset="-122"/>
              </a:rPr>
              <a:t>指向</a:t>
            </a:r>
            <a:r>
              <a:rPr lang="en-US" altLang="zh-CN" b="1" dirty="0">
                <a:effectLst>
                  <a:outerShdw blurRad="38100" dist="38100" dir="2700000" algn="tl">
                    <a:srgbClr val="000000"/>
                  </a:outerShdw>
                </a:effectLst>
                <a:latin typeface="楷体_GB2312" pitchFamily="49" charset="-122"/>
                <a:ea typeface="楷体_GB2312" pitchFamily="49" charset="-122"/>
              </a:rPr>
              <a:t>Type</a:t>
            </a:r>
            <a:r>
              <a:rPr lang="zh-CN" altLang="en-US" b="1" dirty="0">
                <a:effectLst>
                  <a:outerShdw blurRad="38100" dist="38100" dir="2700000" algn="tl">
                    <a:srgbClr val="000000"/>
                  </a:outerShdw>
                </a:effectLst>
                <a:latin typeface="楷体_GB2312" pitchFamily="49" charset="-122"/>
                <a:ea typeface="楷体_GB2312" pitchFamily="49" charset="-122"/>
              </a:rPr>
              <a:t>类型的指针</a:t>
            </a:r>
            <a:r>
              <a:rPr lang="zh-CN" altLang="en-US" b="1" dirty="0">
                <a:effectLst>
                  <a:outerShdw blurRad="38100" dist="38100" dir="2700000" algn="tl">
                    <a:srgbClr val="000000"/>
                  </a:outerShdw>
                </a:effectLst>
                <a:ea typeface="楷体_GB2312" pitchFamily="49" charset="-122"/>
              </a:rPr>
              <a:t>”</a:t>
            </a:r>
            <a:r>
              <a:rPr lang="zh-CN" altLang="en-US" b="1" dirty="0">
                <a:effectLst>
                  <a:outerShdw blurRad="38100" dist="38100" dir="2700000" algn="tl">
                    <a:srgbClr val="000000"/>
                  </a:outerShdw>
                </a:effectLst>
                <a:latin typeface="楷体_GB2312" pitchFamily="49" charset="-122"/>
                <a:ea typeface="楷体_GB2312" pitchFamily="49" charset="-122"/>
              </a:rPr>
              <a:t>。例如</a:t>
            </a:r>
          </a:p>
          <a:p>
            <a:pPr marL="0" indent="0" eaLnBrk="1" hangingPunct="1">
              <a:buFont typeface="Monotype Sorts" pitchFamily="2" charset="2"/>
              <a:buNone/>
              <a:defRPr/>
            </a:pPr>
            <a:r>
              <a:rPr lang="zh-CN" altLang="en-US" b="1" dirty="0">
                <a:effectLst>
                  <a:outerShdw blurRad="38100" dist="38100" dir="2700000" algn="tl">
                    <a:srgbClr val="000000"/>
                  </a:outerShdw>
                </a:effectLst>
                <a:latin typeface="楷体_GB2312" pitchFamily="49" charset="-122"/>
                <a:ea typeface="楷体_GB2312" pitchFamily="49" charset="-122"/>
              </a:rPr>
              <a:t>         </a:t>
            </a:r>
            <a:r>
              <a:rPr lang="en-US" altLang="zh-CN" b="1" dirty="0" err="1">
                <a:effectLst>
                  <a:outerShdw blurRad="38100" dist="38100" dir="2700000" algn="tl">
                    <a:srgbClr val="000000"/>
                  </a:outerShdw>
                </a:effectLst>
                <a:latin typeface="楷体_GB2312" pitchFamily="49" charset="-122"/>
                <a:ea typeface="楷体_GB2312" pitchFamily="49" charset="-122"/>
              </a:rPr>
              <a:t>int</a:t>
            </a:r>
            <a:r>
              <a:rPr lang="en-US" altLang="zh-CN" b="1" dirty="0">
                <a:effectLst>
                  <a:outerShdw blurRad="38100" dist="38100" dir="2700000" algn="tl">
                    <a:srgbClr val="000000"/>
                  </a:outerShdw>
                </a:effectLst>
                <a:latin typeface="楷体_GB2312" pitchFamily="49" charset="-122"/>
                <a:ea typeface="楷体_GB2312" pitchFamily="49" charset="-122"/>
              </a:rPr>
              <a:t> *</a:t>
            </a:r>
            <a:r>
              <a:rPr lang="en-US" altLang="zh-CN" b="1" dirty="0" err="1">
                <a:effectLst>
                  <a:outerShdw blurRad="38100" dist="38100" dir="2700000" algn="tl">
                    <a:srgbClr val="000000"/>
                  </a:outerShdw>
                </a:effectLst>
                <a:latin typeface="楷体_GB2312" pitchFamily="49" charset="-122"/>
                <a:ea typeface="楷体_GB2312" pitchFamily="49" charset="-122"/>
              </a:rPr>
              <a:t>ip</a:t>
            </a:r>
            <a:endParaRPr lang="en-US" altLang="zh-CN" b="1" dirty="0">
              <a:effectLst>
                <a:outerShdw blurRad="38100" dist="38100" dir="2700000" algn="tl">
                  <a:srgbClr val="000000"/>
                </a:outerShdw>
              </a:effectLst>
              <a:latin typeface="楷体_GB2312" pitchFamily="49" charset="-122"/>
              <a:ea typeface="楷体_GB2312" pitchFamily="49" charset="-122"/>
            </a:endParaRPr>
          </a:p>
          <a:p>
            <a:pPr marL="0" indent="0" eaLnBrk="1" hangingPunct="1">
              <a:buFont typeface="Monotype Sorts" pitchFamily="2" charset="2"/>
              <a:buNone/>
              <a:defRPr/>
            </a:pPr>
            <a:r>
              <a:rPr lang="zh-CN" altLang="en-US" b="1" dirty="0">
                <a:effectLst>
                  <a:outerShdw blurRad="38100" dist="38100" dir="2700000" algn="tl">
                    <a:srgbClr val="000000"/>
                  </a:outerShdw>
                </a:effectLst>
                <a:latin typeface="楷体_GB2312" pitchFamily="49" charset="-122"/>
                <a:ea typeface="楷体_GB2312" pitchFamily="49" charset="-122"/>
              </a:rPr>
              <a:t>使标识符</a:t>
            </a:r>
            <a:r>
              <a:rPr lang="en-US" altLang="zh-CN" b="1" dirty="0" err="1">
                <a:effectLst>
                  <a:outerShdw blurRad="38100" dist="38100" dir="2700000" algn="tl">
                    <a:srgbClr val="000000"/>
                  </a:outerShdw>
                </a:effectLst>
                <a:latin typeface="楷体_GB2312" pitchFamily="49" charset="-122"/>
                <a:ea typeface="楷体_GB2312" pitchFamily="49" charset="-122"/>
              </a:rPr>
              <a:t>ip</a:t>
            </a:r>
            <a:r>
              <a:rPr lang="zh-CN" altLang="en-US" b="1" dirty="0">
                <a:effectLst>
                  <a:outerShdw blurRad="38100" dist="38100" dir="2700000" algn="tl">
                    <a:srgbClr val="000000"/>
                  </a:outerShdw>
                </a:effectLst>
                <a:latin typeface="楷体_GB2312" pitchFamily="49" charset="-122"/>
                <a:ea typeface="楷体_GB2312" pitchFamily="49" charset="-122"/>
              </a:rPr>
              <a:t>的类型是指向</a:t>
            </a:r>
            <a:r>
              <a:rPr lang="en-US" altLang="zh-CN" b="1" dirty="0" err="1">
                <a:effectLst>
                  <a:outerShdw blurRad="38100" dist="38100" dir="2700000" algn="tl">
                    <a:srgbClr val="000000"/>
                  </a:outerShdw>
                </a:effectLst>
                <a:latin typeface="楷体_GB2312" pitchFamily="49" charset="-122"/>
                <a:ea typeface="楷体_GB2312" pitchFamily="49" charset="-122"/>
              </a:rPr>
              <a:t>int</a:t>
            </a:r>
            <a:r>
              <a:rPr lang="zh-CN" altLang="en-US" b="1" dirty="0">
                <a:effectLst>
                  <a:outerShdw blurRad="38100" dist="38100" dir="2700000" algn="tl">
                    <a:srgbClr val="000000"/>
                  </a:outerShdw>
                </a:effectLst>
                <a:latin typeface="楷体_GB2312" pitchFamily="49" charset="-122"/>
                <a:ea typeface="楷体_GB2312" pitchFamily="49" charset="-122"/>
              </a:rPr>
              <a:t>型的指针。</a:t>
            </a:r>
          </a:p>
          <a:p>
            <a:pPr marL="0" indent="0" eaLnBrk="1" hangingPunct="1">
              <a:buFont typeface="Monotype Sorts" pitchFamily="2" charset="2"/>
              <a:buNone/>
              <a:defRPr/>
            </a:pPr>
            <a:r>
              <a:rPr lang="zh-CN" altLang="en-US" b="1" dirty="0">
                <a:effectLst>
                  <a:outerShdw blurRad="38100" dist="38100" dir="2700000" algn="tl">
                    <a:srgbClr val="000000"/>
                  </a:outerShdw>
                </a:effectLst>
                <a:latin typeface="楷体_GB2312" pitchFamily="49" charset="-122"/>
                <a:ea typeface="楷体_GB2312" pitchFamily="49" charset="-122"/>
              </a:rPr>
              <a:t>数据说明符</a:t>
            </a:r>
            <a:r>
              <a:rPr lang="zh-CN" altLang="en-US" b="1" dirty="0">
                <a:effectLst>
                  <a:outerShdw blurRad="38100" dist="38100" dir="2700000" algn="tl">
                    <a:srgbClr val="000000"/>
                  </a:outerShdw>
                </a:effectLst>
                <a:ea typeface="楷体_GB2312" pitchFamily="49" charset="-122"/>
              </a:rPr>
              <a:t>“</a:t>
            </a:r>
            <a:r>
              <a:rPr lang="zh-CN" altLang="en-US" b="1" dirty="0">
                <a:effectLst>
                  <a:outerShdw blurRad="38100" dist="38100" dir="2700000" algn="tl">
                    <a:srgbClr val="000000"/>
                  </a:outerShdw>
                </a:effectLst>
                <a:latin typeface="楷体_GB2312" pitchFamily="49" charset="-122"/>
                <a:ea typeface="楷体_GB2312" pitchFamily="49" charset="-122"/>
              </a:rPr>
              <a:t>数据说明符</a:t>
            </a:r>
            <a:r>
              <a:rPr lang="en-US" altLang="zh-CN" b="1" dirty="0">
                <a:effectLst>
                  <a:outerShdw blurRad="38100" dist="38100" dir="2700000" algn="tl">
                    <a:srgbClr val="000000"/>
                  </a:outerShdw>
                </a:effectLst>
                <a:latin typeface="楷体_GB2312" pitchFamily="49" charset="-122"/>
                <a:ea typeface="楷体_GB2312" pitchFamily="49" charset="-122"/>
              </a:rPr>
              <a:t>()</a:t>
            </a:r>
            <a:r>
              <a:rPr lang="en-US" altLang="zh-CN" b="1" dirty="0">
                <a:effectLst>
                  <a:outerShdw blurRad="38100" dist="38100" dir="2700000" algn="tl">
                    <a:srgbClr val="000000"/>
                  </a:outerShdw>
                </a:effectLst>
                <a:ea typeface="楷体_GB2312" pitchFamily="49" charset="-122"/>
              </a:rPr>
              <a:t>”</a:t>
            </a:r>
            <a:r>
              <a:rPr lang="zh-CN" altLang="en-US" b="1" dirty="0">
                <a:effectLst>
                  <a:outerShdw blurRad="38100" dist="38100" dir="2700000" algn="tl">
                    <a:srgbClr val="000000"/>
                  </a:outerShdw>
                </a:effectLst>
                <a:latin typeface="楷体_GB2312" pitchFamily="49" charset="-122"/>
                <a:ea typeface="楷体_GB2312" pitchFamily="49" charset="-122"/>
              </a:rPr>
              <a:t>，使数据说明符所含标识符具有</a:t>
            </a:r>
            <a:r>
              <a:rPr lang="zh-CN" altLang="en-US" b="1" dirty="0">
                <a:effectLst>
                  <a:outerShdw blurRad="38100" dist="38100" dir="2700000" algn="tl">
                    <a:srgbClr val="000000"/>
                  </a:outerShdw>
                </a:effectLst>
                <a:ea typeface="楷体_GB2312" pitchFamily="49" charset="-122"/>
              </a:rPr>
              <a:t>“</a:t>
            </a:r>
            <a:r>
              <a:rPr lang="zh-CN" altLang="en-US" b="1" dirty="0">
                <a:effectLst>
                  <a:outerShdw blurRad="38100" dist="38100" dir="2700000" algn="tl">
                    <a:srgbClr val="000000"/>
                  </a:outerShdw>
                </a:effectLst>
                <a:latin typeface="楷体_GB2312" pitchFamily="49" charset="-122"/>
                <a:ea typeface="楷体_GB2312" pitchFamily="49" charset="-122"/>
              </a:rPr>
              <a:t>返回</a:t>
            </a:r>
            <a:r>
              <a:rPr lang="en-US" altLang="zh-CN" b="1" dirty="0">
                <a:effectLst>
                  <a:outerShdw blurRad="38100" dist="38100" dir="2700000" algn="tl">
                    <a:srgbClr val="000000"/>
                  </a:outerShdw>
                </a:effectLst>
                <a:latin typeface="楷体_GB2312" pitchFamily="49" charset="-122"/>
                <a:ea typeface="楷体_GB2312" pitchFamily="49" charset="-122"/>
              </a:rPr>
              <a:t>Type </a:t>
            </a:r>
            <a:r>
              <a:rPr lang="zh-CN" altLang="en-US" b="1" dirty="0">
                <a:effectLst>
                  <a:outerShdw blurRad="38100" dist="38100" dir="2700000" algn="tl">
                    <a:srgbClr val="000000"/>
                  </a:outerShdw>
                </a:effectLst>
                <a:latin typeface="楷体_GB2312" pitchFamily="49" charset="-122"/>
                <a:ea typeface="楷体_GB2312" pitchFamily="49" charset="-122"/>
              </a:rPr>
              <a:t>类型值的函数</a:t>
            </a:r>
            <a:r>
              <a:rPr lang="zh-CN" altLang="en-US" b="1" dirty="0">
                <a:effectLst>
                  <a:outerShdw blurRad="38100" dist="38100" dir="2700000" algn="tl">
                    <a:srgbClr val="000000"/>
                  </a:outerShdw>
                </a:effectLst>
                <a:ea typeface="楷体_GB2312" pitchFamily="49" charset="-122"/>
              </a:rPr>
              <a:t>”</a:t>
            </a:r>
            <a:r>
              <a:rPr lang="zh-CN" altLang="en-US" b="1" dirty="0">
                <a:effectLst>
                  <a:outerShdw blurRad="38100" dist="38100" dir="2700000" algn="tl">
                    <a:srgbClr val="000000"/>
                  </a:outerShdw>
                </a:effectLst>
                <a:latin typeface="楷体_GB2312" pitchFamily="49" charset="-122"/>
                <a:ea typeface="楷体_GB2312" pitchFamily="49" charset="-122"/>
              </a:rPr>
              <a:t>的类型。例如</a:t>
            </a:r>
          </a:p>
          <a:p>
            <a:pPr marL="0" indent="0" eaLnBrk="1" hangingPunct="1">
              <a:buFont typeface="Monotype Sorts" pitchFamily="2" charset="2"/>
              <a:buNone/>
              <a:defRPr/>
            </a:pPr>
            <a:r>
              <a:rPr lang="zh-CN" altLang="en-US" b="1" dirty="0">
                <a:effectLst>
                  <a:outerShdw blurRad="38100" dist="38100" dir="2700000" algn="tl">
                    <a:srgbClr val="000000"/>
                  </a:outerShdw>
                </a:effectLst>
                <a:latin typeface="楷体_GB2312" pitchFamily="49" charset="-122"/>
                <a:ea typeface="楷体_GB2312" pitchFamily="49" charset="-122"/>
              </a:rPr>
              <a:t>      </a:t>
            </a:r>
            <a:r>
              <a:rPr lang="en-US" altLang="zh-CN" b="1" dirty="0" err="1">
                <a:effectLst>
                  <a:outerShdw blurRad="38100" dist="38100" dir="2700000" algn="tl">
                    <a:srgbClr val="000000"/>
                  </a:outerShdw>
                </a:effectLst>
                <a:latin typeface="楷体_GB2312" pitchFamily="49" charset="-122"/>
                <a:ea typeface="楷体_GB2312" pitchFamily="49" charset="-122"/>
              </a:rPr>
              <a:t>int</a:t>
            </a:r>
            <a:r>
              <a:rPr lang="en-US" altLang="zh-CN" b="1" dirty="0">
                <a:effectLst>
                  <a:outerShdw blurRad="38100" dist="38100" dir="2700000" algn="tl">
                    <a:srgbClr val="000000"/>
                  </a:outerShdw>
                </a:effectLst>
                <a:latin typeface="楷体_GB2312" pitchFamily="49" charset="-122"/>
                <a:ea typeface="楷体_GB2312" pitchFamily="49" charset="-122"/>
              </a:rPr>
              <a:t> f()</a:t>
            </a:r>
          </a:p>
          <a:p>
            <a:pPr marL="0" indent="0" eaLnBrk="1" hangingPunct="1">
              <a:buFont typeface="Monotype Sorts" pitchFamily="2" charset="2"/>
              <a:buNone/>
              <a:defRPr/>
            </a:pPr>
            <a:r>
              <a:rPr lang="zh-CN" altLang="en-US" b="1" dirty="0">
                <a:effectLst>
                  <a:outerShdw blurRad="38100" dist="38100" dir="2700000" algn="tl">
                    <a:srgbClr val="000000"/>
                  </a:outerShdw>
                </a:effectLst>
                <a:latin typeface="楷体_GB2312" pitchFamily="49" charset="-122"/>
                <a:ea typeface="楷体_GB2312" pitchFamily="49" charset="-122"/>
              </a:rPr>
              <a:t>则标识符</a:t>
            </a:r>
            <a:r>
              <a:rPr lang="en-US" altLang="zh-CN" b="1" dirty="0">
                <a:effectLst>
                  <a:outerShdw blurRad="38100" dist="38100" dir="2700000" algn="tl">
                    <a:srgbClr val="000000"/>
                  </a:outerShdw>
                </a:effectLst>
                <a:latin typeface="楷体_GB2312" pitchFamily="49" charset="-122"/>
                <a:ea typeface="楷体_GB2312" pitchFamily="49" charset="-122"/>
              </a:rPr>
              <a:t>f</a:t>
            </a:r>
            <a:r>
              <a:rPr lang="zh-CN" altLang="en-US" b="1" dirty="0">
                <a:effectLst>
                  <a:outerShdw blurRad="38100" dist="38100" dir="2700000" algn="tl">
                    <a:srgbClr val="000000"/>
                  </a:outerShdw>
                </a:effectLst>
                <a:latin typeface="楷体_GB2312" pitchFamily="49" charset="-122"/>
                <a:ea typeface="楷体_GB2312" pitchFamily="49" charset="-122"/>
              </a:rPr>
              <a:t>具有</a:t>
            </a:r>
            <a:r>
              <a:rPr lang="zh-CN" altLang="en-US" b="1" dirty="0">
                <a:effectLst>
                  <a:outerShdw blurRad="38100" dist="38100" dir="2700000" algn="tl">
                    <a:srgbClr val="000000"/>
                  </a:outerShdw>
                </a:effectLst>
                <a:ea typeface="楷体_GB2312" pitchFamily="49" charset="-122"/>
              </a:rPr>
              <a:t>“</a:t>
            </a:r>
            <a:r>
              <a:rPr lang="zh-CN" altLang="en-US" b="1" dirty="0">
                <a:effectLst>
                  <a:outerShdw blurRad="38100" dist="38100" dir="2700000" algn="tl">
                    <a:srgbClr val="000000"/>
                  </a:outerShdw>
                </a:effectLst>
                <a:latin typeface="楷体_GB2312" pitchFamily="49" charset="-122"/>
                <a:ea typeface="楷体_GB2312" pitchFamily="49" charset="-122"/>
              </a:rPr>
              <a:t>返回 </a:t>
            </a:r>
            <a:r>
              <a:rPr lang="en-US" altLang="zh-CN" b="1" dirty="0" err="1">
                <a:effectLst>
                  <a:outerShdw blurRad="38100" dist="38100" dir="2700000" algn="tl">
                    <a:srgbClr val="000000"/>
                  </a:outerShdw>
                </a:effectLst>
                <a:latin typeface="楷体_GB2312" pitchFamily="49" charset="-122"/>
                <a:ea typeface="楷体_GB2312" pitchFamily="49" charset="-122"/>
              </a:rPr>
              <a:t>int</a:t>
            </a:r>
            <a:r>
              <a:rPr lang="en-US" altLang="zh-CN" b="1" dirty="0">
                <a:effectLst>
                  <a:outerShdw blurRad="38100" dist="38100" dir="2700000" algn="tl">
                    <a:srgbClr val="000000"/>
                  </a:outerShdw>
                </a:effectLst>
                <a:latin typeface="楷体_GB2312" pitchFamily="49" charset="-122"/>
                <a:ea typeface="楷体_GB2312" pitchFamily="49" charset="-122"/>
              </a:rPr>
              <a:t> </a:t>
            </a:r>
            <a:r>
              <a:rPr lang="zh-CN" altLang="en-US" b="1" dirty="0">
                <a:effectLst>
                  <a:outerShdw blurRad="38100" dist="38100" dir="2700000" algn="tl">
                    <a:srgbClr val="000000"/>
                  </a:outerShdw>
                </a:effectLst>
                <a:latin typeface="楷体_GB2312" pitchFamily="49" charset="-122"/>
                <a:ea typeface="楷体_GB2312" pitchFamily="49" charset="-122"/>
              </a:rPr>
              <a:t>型值的函数</a:t>
            </a:r>
            <a:r>
              <a:rPr lang="zh-CN" altLang="en-US" b="1" dirty="0">
                <a:effectLst>
                  <a:outerShdw blurRad="38100" dist="38100" dir="2700000" algn="tl">
                    <a:srgbClr val="000000"/>
                  </a:outerShdw>
                </a:effectLst>
                <a:ea typeface="楷体_GB2312" pitchFamily="49" charset="-122"/>
              </a:rPr>
              <a:t>”</a:t>
            </a:r>
            <a:r>
              <a:rPr lang="zh-CN" altLang="en-US" b="1" dirty="0">
                <a:effectLst>
                  <a:outerShdw blurRad="38100" dist="38100" dir="2700000" algn="tl">
                    <a:srgbClr val="000000"/>
                  </a:outerShdw>
                </a:effectLst>
                <a:latin typeface="楷体_GB2312" pitchFamily="49" charset="-122"/>
                <a:ea typeface="楷体_GB2312" pitchFamily="49" charset="-122"/>
              </a:rPr>
              <a:t>的类型。</a:t>
            </a:r>
          </a:p>
        </p:txBody>
      </p:sp>
      <p:sp>
        <p:nvSpPr>
          <p:cNvPr id="5" name="灯片编号占位符 5"/>
          <p:cNvSpPr>
            <a:spLocks noGrp="1"/>
          </p:cNvSpPr>
          <p:nvPr>
            <p:ph type="sldNum" sz="quarter" idx="12"/>
          </p:nvPr>
        </p:nvSpPr>
        <p:spPr/>
        <p:txBody>
          <a:bodyPr/>
          <a:lstStyle/>
          <a:p>
            <a:pPr>
              <a:defRPr/>
            </a:pPr>
            <a:fld id="{DE1A0E49-E579-49F2-8D79-625E16BCA233}" type="slidenum">
              <a:rPr lang="en-US" altLang="zh-CN"/>
              <a:pPr>
                <a:defRPr/>
              </a:pPr>
              <a:t>136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9874">
                                            <p:txEl>
                                              <p:pRg st="1" end="1"/>
                                            </p:txEl>
                                          </p:spTgt>
                                        </p:tgtEl>
                                        <p:attrNameLst>
                                          <p:attrName>style.visibility</p:attrName>
                                        </p:attrNameLst>
                                      </p:cBhvr>
                                      <p:to>
                                        <p:strVal val="visible"/>
                                      </p:to>
                                    </p:set>
                                    <p:anim calcmode="lin" valueType="num">
                                      <p:cBhvr additive="base">
                                        <p:cTn id="7" dur="500" fill="hold"/>
                                        <p:tgtEl>
                                          <p:spTgt spid="71987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9874">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19874">
                                            <p:txEl>
                                              <p:pRg st="2" end="2"/>
                                            </p:txEl>
                                          </p:spTgt>
                                        </p:tgtEl>
                                        <p:attrNameLst>
                                          <p:attrName>style.visibility</p:attrName>
                                        </p:attrNameLst>
                                      </p:cBhvr>
                                      <p:to>
                                        <p:strVal val="visible"/>
                                      </p:to>
                                    </p:set>
                                    <p:anim calcmode="lin" valueType="num">
                                      <p:cBhvr additive="base">
                                        <p:cTn id="11" dur="500" fill="hold"/>
                                        <p:tgtEl>
                                          <p:spTgt spid="719874">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19874">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19874">
                                            <p:txEl>
                                              <p:pRg st="3" end="3"/>
                                            </p:txEl>
                                          </p:spTgt>
                                        </p:tgtEl>
                                        <p:attrNameLst>
                                          <p:attrName>style.visibility</p:attrName>
                                        </p:attrNameLst>
                                      </p:cBhvr>
                                      <p:to>
                                        <p:strVal val="visible"/>
                                      </p:to>
                                    </p:set>
                                    <p:anim calcmode="lin" valueType="num">
                                      <p:cBhvr additive="base">
                                        <p:cTn id="15" dur="500" fill="hold"/>
                                        <p:tgtEl>
                                          <p:spTgt spid="719874">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1987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719874">
                                            <p:txEl>
                                              <p:pRg st="4" end="4"/>
                                            </p:txEl>
                                          </p:spTgt>
                                        </p:tgtEl>
                                        <p:attrNameLst>
                                          <p:attrName>style.visibility</p:attrName>
                                        </p:attrNameLst>
                                      </p:cBhvr>
                                      <p:to>
                                        <p:strVal val="visible"/>
                                      </p:to>
                                    </p:set>
                                    <p:anim calcmode="lin" valueType="num">
                                      <p:cBhvr additive="base">
                                        <p:cTn id="21" dur="500" fill="hold"/>
                                        <p:tgtEl>
                                          <p:spTgt spid="719874">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719874">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719874">
                                            <p:txEl>
                                              <p:pRg st="5" end="5"/>
                                            </p:txEl>
                                          </p:spTgt>
                                        </p:tgtEl>
                                        <p:attrNameLst>
                                          <p:attrName>style.visibility</p:attrName>
                                        </p:attrNameLst>
                                      </p:cBhvr>
                                      <p:to>
                                        <p:strVal val="visible"/>
                                      </p:to>
                                    </p:set>
                                    <p:anim calcmode="lin" valueType="num">
                                      <p:cBhvr additive="base">
                                        <p:cTn id="25" dur="500" fill="hold"/>
                                        <p:tgtEl>
                                          <p:spTgt spid="719874">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19874">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719874">
                                            <p:txEl>
                                              <p:pRg st="6" end="6"/>
                                            </p:txEl>
                                          </p:spTgt>
                                        </p:tgtEl>
                                        <p:attrNameLst>
                                          <p:attrName>style.visibility</p:attrName>
                                        </p:attrNameLst>
                                      </p:cBhvr>
                                      <p:to>
                                        <p:strVal val="visible"/>
                                      </p:to>
                                    </p:set>
                                    <p:anim calcmode="lin" valueType="num">
                                      <p:cBhvr additive="base">
                                        <p:cTn id="29" dur="500" fill="hold"/>
                                        <p:tgtEl>
                                          <p:spTgt spid="719874">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1987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20898" name="Rectangle 2"/>
          <p:cNvSpPr>
            <a:spLocks noGrp="1" noChangeArrowheads="1"/>
          </p:cNvSpPr>
          <p:nvPr>
            <p:ph idx="1"/>
          </p:nvPr>
        </p:nvSpPr>
        <p:spPr>
          <a:xfrm>
            <a:off x="179388" y="333375"/>
            <a:ext cx="8785225" cy="6264275"/>
          </a:xfrm>
        </p:spPr>
        <p:txBody>
          <a:bodyPr/>
          <a:lstStyle/>
          <a:p>
            <a:pPr marL="0" indent="0" eaLnBrk="1" hangingPunct="1">
              <a:lnSpc>
                <a:spcPct val="90000"/>
              </a:lnSpc>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数据说明符</a:t>
            </a:r>
            <a:r>
              <a:rPr lang="zh-CN" altLang="en-US" sz="2400" b="1" dirty="0">
                <a:effectLst>
                  <a:outerShdw blurRad="38100" dist="38100" dir="2700000" algn="tl">
                    <a:srgbClr val="000000"/>
                  </a:outerShdw>
                </a:effectLst>
                <a:ea typeface="楷体_GB2312" pitchFamily="49" charset="-122"/>
              </a:rPr>
              <a:t>“</a:t>
            </a:r>
            <a:r>
              <a:rPr lang="zh-CN" altLang="en-US" sz="2400" b="1" dirty="0">
                <a:effectLst>
                  <a:outerShdw blurRad="38100" dist="38100" dir="2700000" algn="tl">
                    <a:srgbClr val="000000"/>
                  </a:outerShdw>
                </a:effectLst>
                <a:latin typeface="楷体_GB2312" pitchFamily="49" charset="-122"/>
                <a:ea typeface="楷体_GB2312" pitchFamily="49" charset="-122"/>
              </a:rPr>
              <a:t>数据说明符</a:t>
            </a:r>
            <a:r>
              <a:rPr lang="en-US" altLang="zh-CN" sz="2400" b="1" dirty="0">
                <a:effectLst>
                  <a:outerShdw blurRad="38100" dist="38100" dir="2700000" algn="tl">
                    <a:srgbClr val="000000"/>
                  </a:outerShdw>
                </a:effectLst>
                <a:latin typeface="楷体_GB2312" pitchFamily="49" charset="-122"/>
                <a:ea typeface="楷体_GB2312" pitchFamily="49" charset="-122"/>
              </a:rPr>
              <a:t>[</a:t>
            </a:r>
            <a:r>
              <a:rPr lang="zh-CN" altLang="en-US" sz="2400" b="1" dirty="0">
                <a:effectLst>
                  <a:outerShdw blurRad="38100" dist="38100" dir="2700000" algn="tl">
                    <a:srgbClr val="000000"/>
                  </a:outerShdw>
                </a:effectLst>
                <a:latin typeface="楷体_GB2312" pitchFamily="49" charset="-122"/>
                <a:ea typeface="楷体_GB2312" pitchFamily="49" charset="-122"/>
              </a:rPr>
              <a:t>常量表达式</a:t>
            </a:r>
            <a:r>
              <a:rPr lang="en-US" altLang="zh-CN" sz="2400" b="1" dirty="0">
                <a:effectLst>
                  <a:outerShdw blurRad="38100" dist="38100" dir="2700000" algn="tl">
                    <a:srgbClr val="000000"/>
                  </a:outerShdw>
                </a:effectLst>
                <a:latin typeface="楷体_GB2312" pitchFamily="49" charset="-122"/>
                <a:ea typeface="楷体_GB2312" pitchFamily="49" charset="-122"/>
              </a:rPr>
              <a:t>]</a:t>
            </a:r>
            <a:r>
              <a:rPr lang="en-US" altLang="zh-CN" sz="2400" b="1" dirty="0">
                <a:effectLst>
                  <a:outerShdw blurRad="38100" dist="38100" dir="2700000" algn="tl">
                    <a:srgbClr val="000000"/>
                  </a:outerShdw>
                </a:effectLst>
                <a:ea typeface="楷体_GB2312" pitchFamily="49" charset="-122"/>
              </a:rPr>
              <a:t>”</a:t>
            </a:r>
            <a:r>
              <a:rPr lang="zh-CN" altLang="en-US" sz="2400" b="1" dirty="0">
                <a:effectLst>
                  <a:outerShdw blurRad="38100" dist="38100" dir="2700000" algn="tl">
                    <a:srgbClr val="000000"/>
                  </a:outerShdw>
                </a:effectLst>
                <a:latin typeface="楷体_GB2312" pitchFamily="49" charset="-122"/>
                <a:ea typeface="楷体_GB2312" pitchFamily="49" charset="-122"/>
              </a:rPr>
              <a:t>或</a:t>
            </a:r>
            <a:r>
              <a:rPr lang="zh-CN" altLang="en-US" sz="2400" b="1" dirty="0">
                <a:effectLst>
                  <a:outerShdw blurRad="38100" dist="38100" dir="2700000" algn="tl">
                    <a:srgbClr val="000000"/>
                  </a:outerShdw>
                </a:effectLst>
                <a:ea typeface="楷体_GB2312" pitchFamily="49" charset="-122"/>
              </a:rPr>
              <a:t>“</a:t>
            </a:r>
            <a:r>
              <a:rPr lang="zh-CN" altLang="en-US" sz="2400" b="1" dirty="0">
                <a:effectLst>
                  <a:outerShdw blurRad="38100" dist="38100" dir="2700000" algn="tl">
                    <a:srgbClr val="000000"/>
                  </a:outerShdw>
                </a:effectLst>
                <a:latin typeface="楷体_GB2312" pitchFamily="49" charset="-122"/>
                <a:ea typeface="楷体_GB2312" pitchFamily="49" charset="-122"/>
              </a:rPr>
              <a:t>数据说明符</a:t>
            </a:r>
            <a:r>
              <a:rPr lang="en-US" altLang="zh-CN" sz="2400" b="1" dirty="0">
                <a:effectLst>
                  <a:outerShdw blurRad="38100" dist="38100" dir="2700000" algn="tl">
                    <a:srgbClr val="000000"/>
                  </a:outerShdw>
                </a:effectLst>
                <a:latin typeface="楷体_GB2312" pitchFamily="49" charset="-122"/>
                <a:ea typeface="楷体_GB2312" pitchFamily="49" charset="-122"/>
              </a:rPr>
              <a:t>[]</a:t>
            </a:r>
            <a:r>
              <a:rPr lang="en-US" altLang="zh-CN" sz="2400" b="1" dirty="0">
                <a:effectLst>
                  <a:outerShdw blurRad="38100" dist="38100" dir="2700000" algn="tl">
                    <a:srgbClr val="000000"/>
                  </a:outerShdw>
                </a:effectLst>
                <a:ea typeface="楷体_GB2312" pitchFamily="49" charset="-122"/>
              </a:rPr>
              <a:t>”</a:t>
            </a:r>
            <a:r>
              <a:rPr lang="zh-CN" altLang="en-US" sz="2400" b="1" dirty="0">
                <a:effectLst>
                  <a:outerShdw blurRad="38100" dist="38100" dir="2700000" algn="tl">
                    <a:srgbClr val="000000"/>
                  </a:outerShdw>
                </a:effectLst>
                <a:latin typeface="楷体_GB2312" pitchFamily="49" charset="-122"/>
                <a:ea typeface="楷体_GB2312" pitchFamily="49" charset="-122"/>
              </a:rPr>
              <a:t>，则数据说明符所含的标识符具有</a:t>
            </a:r>
            <a:r>
              <a:rPr lang="zh-CN" altLang="en-US" sz="2400" b="1" dirty="0">
                <a:effectLst>
                  <a:outerShdw blurRad="38100" dist="38100" dir="2700000" algn="tl">
                    <a:srgbClr val="000000"/>
                  </a:outerShdw>
                </a:effectLst>
                <a:ea typeface="楷体_GB2312" pitchFamily="49" charset="-122"/>
              </a:rPr>
              <a:t>“</a:t>
            </a:r>
            <a:r>
              <a:rPr lang="zh-CN" altLang="en-US" sz="2400" b="1" dirty="0">
                <a:effectLst>
                  <a:outerShdw blurRad="38100" dist="38100" dir="2700000" algn="tl">
                    <a:srgbClr val="000000"/>
                  </a:outerShdw>
                </a:effectLst>
                <a:latin typeface="楷体_GB2312" pitchFamily="49" charset="-122"/>
                <a:ea typeface="楷体_GB2312" pitchFamily="49" charset="-122"/>
              </a:rPr>
              <a:t>元素类型为</a:t>
            </a:r>
            <a:r>
              <a:rPr lang="en-US" altLang="zh-CN" sz="2400" b="1" dirty="0">
                <a:effectLst>
                  <a:outerShdw blurRad="38100" dist="38100" dir="2700000" algn="tl">
                    <a:srgbClr val="000000"/>
                  </a:outerShdw>
                </a:effectLst>
                <a:latin typeface="楷体_GB2312" pitchFamily="49" charset="-122"/>
                <a:ea typeface="楷体_GB2312" pitchFamily="49" charset="-122"/>
              </a:rPr>
              <a:t>Type </a:t>
            </a:r>
            <a:r>
              <a:rPr lang="zh-CN" altLang="en-US" sz="2400" b="1" dirty="0">
                <a:effectLst>
                  <a:outerShdw blurRad="38100" dist="38100" dir="2700000" algn="tl">
                    <a:srgbClr val="000000"/>
                  </a:outerShdw>
                </a:effectLst>
                <a:latin typeface="楷体_GB2312" pitchFamily="49" charset="-122"/>
                <a:ea typeface="楷体_GB2312" pitchFamily="49" charset="-122"/>
              </a:rPr>
              <a:t>的数组</a:t>
            </a:r>
            <a:r>
              <a:rPr lang="zh-CN" altLang="en-US" sz="2400" b="1" dirty="0">
                <a:effectLst>
                  <a:outerShdw blurRad="38100" dist="38100" dir="2700000" algn="tl">
                    <a:srgbClr val="000000"/>
                  </a:outerShdw>
                </a:effectLst>
                <a:ea typeface="楷体_GB2312" pitchFamily="49" charset="-122"/>
              </a:rPr>
              <a:t>”</a:t>
            </a:r>
            <a:r>
              <a:rPr lang="zh-CN" altLang="en-US" sz="2400" b="1" dirty="0">
                <a:effectLst>
                  <a:outerShdw blurRad="38100" dist="38100" dir="2700000" algn="tl">
                    <a:srgbClr val="000000"/>
                  </a:outerShdw>
                </a:effectLst>
                <a:latin typeface="楷体_GB2312" pitchFamily="49" charset="-122"/>
                <a:ea typeface="楷体_GB2312" pitchFamily="49" charset="-122"/>
              </a:rPr>
              <a:t>的类型。例如</a:t>
            </a:r>
          </a:p>
          <a:p>
            <a:pPr marL="0" indent="0" eaLnBrk="1" hangingPunct="1">
              <a:lnSpc>
                <a:spcPct val="90000"/>
              </a:lnSpc>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    </a:t>
            </a:r>
            <a:r>
              <a:rPr lang="en-US" altLang="zh-CN" sz="2400" b="1" dirty="0" err="1">
                <a:effectLst>
                  <a:outerShdw blurRad="38100" dist="38100" dir="2700000" algn="tl">
                    <a:srgbClr val="000000"/>
                  </a:outerShdw>
                </a:effectLst>
                <a:latin typeface="楷体_GB2312" pitchFamily="49" charset="-122"/>
                <a:ea typeface="楷体_GB2312" pitchFamily="49" charset="-122"/>
              </a:rPr>
              <a:t>int</a:t>
            </a:r>
            <a:r>
              <a:rPr lang="en-US" altLang="zh-CN" sz="2400" b="1" dirty="0">
                <a:effectLst>
                  <a:outerShdw blurRad="38100" dist="38100" dir="2700000" algn="tl">
                    <a:srgbClr val="000000"/>
                  </a:outerShdw>
                </a:effectLst>
                <a:latin typeface="楷体_GB2312" pitchFamily="49" charset="-122"/>
                <a:ea typeface="楷体_GB2312" pitchFamily="49" charset="-122"/>
              </a:rPr>
              <a:t> a[100]</a:t>
            </a:r>
            <a:r>
              <a:rPr lang="zh-CN" altLang="en-US" sz="2400" b="1" dirty="0">
                <a:effectLst>
                  <a:outerShdw blurRad="38100" dist="38100" dir="2700000" algn="tl">
                    <a:srgbClr val="000000"/>
                  </a:outerShdw>
                </a:effectLst>
                <a:latin typeface="楷体_GB2312" pitchFamily="49" charset="-122"/>
                <a:ea typeface="楷体_GB2312" pitchFamily="49" charset="-122"/>
              </a:rPr>
              <a:t>　　　或        </a:t>
            </a:r>
            <a:r>
              <a:rPr lang="en-US" altLang="zh-CN" sz="2400" b="1" dirty="0" err="1">
                <a:effectLst>
                  <a:outerShdw blurRad="38100" dist="38100" dir="2700000" algn="tl">
                    <a:srgbClr val="000000"/>
                  </a:outerShdw>
                </a:effectLst>
                <a:latin typeface="楷体_GB2312" pitchFamily="49" charset="-122"/>
                <a:ea typeface="楷体_GB2312" pitchFamily="49" charset="-122"/>
              </a:rPr>
              <a:t>int</a:t>
            </a:r>
            <a:r>
              <a:rPr lang="en-US" altLang="zh-CN" sz="2400" b="1" dirty="0">
                <a:effectLst>
                  <a:outerShdw blurRad="38100" dist="38100" dir="2700000" algn="tl">
                    <a:srgbClr val="000000"/>
                  </a:outerShdw>
                </a:effectLst>
                <a:latin typeface="楷体_GB2312" pitchFamily="49" charset="-122"/>
                <a:ea typeface="楷体_GB2312" pitchFamily="49" charset="-122"/>
              </a:rPr>
              <a:t> a[]</a:t>
            </a:r>
          </a:p>
          <a:p>
            <a:pPr marL="0" indent="0" eaLnBrk="1" hangingPunct="1">
              <a:lnSpc>
                <a:spcPct val="90000"/>
              </a:lnSpc>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则标识符</a:t>
            </a:r>
            <a:r>
              <a:rPr lang="en-US" altLang="zh-CN" sz="2400" b="1" dirty="0">
                <a:effectLst>
                  <a:outerShdw blurRad="38100" dist="38100" dir="2700000" algn="tl">
                    <a:srgbClr val="000000"/>
                  </a:outerShdw>
                </a:effectLst>
                <a:latin typeface="楷体_GB2312" pitchFamily="49" charset="-122"/>
                <a:ea typeface="楷体_GB2312" pitchFamily="49" charset="-122"/>
              </a:rPr>
              <a:t>a</a:t>
            </a:r>
            <a:r>
              <a:rPr lang="zh-CN" altLang="en-US" sz="2400" b="1" dirty="0">
                <a:effectLst>
                  <a:outerShdw blurRad="38100" dist="38100" dir="2700000" algn="tl">
                    <a:srgbClr val="000000"/>
                  </a:outerShdw>
                </a:effectLst>
                <a:latin typeface="楷体_GB2312" pitchFamily="49" charset="-122"/>
                <a:ea typeface="楷体_GB2312" pitchFamily="49" charset="-122"/>
              </a:rPr>
              <a:t>就具有</a:t>
            </a:r>
            <a:r>
              <a:rPr lang="zh-CN" altLang="en-US" sz="2400" b="1" dirty="0">
                <a:effectLst>
                  <a:outerShdw blurRad="38100" dist="38100" dir="2700000" algn="tl">
                    <a:srgbClr val="000000"/>
                  </a:outerShdw>
                </a:effectLst>
                <a:ea typeface="楷体_GB2312" pitchFamily="49" charset="-122"/>
              </a:rPr>
              <a:t>“</a:t>
            </a:r>
            <a:r>
              <a:rPr lang="zh-CN" altLang="en-US" sz="2400" b="1" dirty="0">
                <a:effectLst>
                  <a:outerShdw blurRad="38100" dist="38100" dir="2700000" algn="tl">
                    <a:srgbClr val="000000"/>
                  </a:outerShdw>
                </a:effectLst>
                <a:latin typeface="楷体_GB2312" pitchFamily="49" charset="-122"/>
                <a:ea typeface="楷体_GB2312" pitchFamily="49" charset="-122"/>
              </a:rPr>
              <a:t>元素类型为</a:t>
            </a:r>
            <a:r>
              <a:rPr lang="en-US" altLang="zh-CN" sz="2400" b="1" dirty="0" err="1">
                <a:effectLst>
                  <a:outerShdw blurRad="38100" dist="38100" dir="2700000" algn="tl">
                    <a:srgbClr val="000000"/>
                  </a:outerShdw>
                </a:effectLst>
                <a:latin typeface="楷体_GB2312" pitchFamily="49" charset="-122"/>
                <a:ea typeface="楷体_GB2312" pitchFamily="49" charset="-122"/>
              </a:rPr>
              <a:t>int</a:t>
            </a:r>
            <a:r>
              <a:rPr lang="zh-CN" altLang="en-US" sz="2400" b="1" dirty="0">
                <a:effectLst>
                  <a:outerShdw blurRad="38100" dist="38100" dir="2700000" algn="tl">
                    <a:srgbClr val="000000"/>
                  </a:outerShdw>
                </a:effectLst>
                <a:latin typeface="楷体_GB2312" pitchFamily="49" charset="-122"/>
                <a:ea typeface="楷体_GB2312" pitchFamily="49" charset="-122"/>
              </a:rPr>
              <a:t>的数组</a:t>
            </a:r>
            <a:r>
              <a:rPr lang="zh-CN" altLang="en-US" sz="2400" b="1" dirty="0">
                <a:effectLst>
                  <a:outerShdw blurRad="38100" dist="38100" dir="2700000" algn="tl">
                    <a:srgbClr val="000000"/>
                  </a:outerShdw>
                </a:effectLst>
                <a:ea typeface="楷体_GB2312" pitchFamily="49" charset="-122"/>
              </a:rPr>
              <a:t>”</a:t>
            </a:r>
            <a:r>
              <a:rPr lang="zh-CN" altLang="en-US" sz="2400" b="1" dirty="0">
                <a:effectLst>
                  <a:outerShdw blurRad="38100" dist="38100" dir="2700000" algn="tl">
                    <a:srgbClr val="000000"/>
                  </a:outerShdw>
                </a:effectLst>
                <a:latin typeface="楷体_GB2312" pitchFamily="49" charset="-122"/>
                <a:ea typeface="楷体_GB2312" pitchFamily="49" charset="-122"/>
              </a:rPr>
              <a:t>的类型，或简单地说成</a:t>
            </a:r>
            <a:r>
              <a:rPr lang="en-US" altLang="zh-CN" sz="2400" b="1" dirty="0">
                <a:effectLst>
                  <a:outerShdw blurRad="38100" dist="38100" dir="2700000" algn="tl">
                    <a:srgbClr val="000000"/>
                  </a:outerShdw>
                </a:effectLst>
                <a:latin typeface="楷体_GB2312" pitchFamily="49" charset="-122"/>
                <a:ea typeface="楷体_GB2312" pitchFamily="49" charset="-122"/>
              </a:rPr>
              <a:t>a</a:t>
            </a:r>
            <a:r>
              <a:rPr lang="zh-CN" altLang="en-US" sz="2400" b="1" dirty="0">
                <a:effectLst>
                  <a:outerShdw blurRad="38100" dist="38100" dir="2700000" algn="tl">
                    <a:srgbClr val="000000"/>
                  </a:outerShdw>
                </a:effectLst>
                <a:latin typeface="楷体_GB2312" pitchFamily="49" charset="-122"/>
                <a:ea typeface="楷体_GB2312" pitchFamily="49" charset="-122"/>
              </a:rPr>
              <a:t>是</a:t>
            </a:r>
            <a:r>
              <a:rPr lang="en-US" altLang="zh-CN" sz="2400" b="1" dirty="0" err="1">
                <a:effectLst>
                  <a:outerShdw blurRad="38100" dist="38100" dir="2700000" algn="tl">
                    <a:srgbClr val="000000"/>
                  </a:outerShdw>
                </a:effectLst>
                <a:latin typeface="楷体_GB2312" pitchFamily="49" charset="-122"/>
                <a:ea typeface="楷体_GB2312" pitchFamily="49" charset="-122"/>
              </a:rPr>
              <a:t>int</a:t>
            </a:r>
            <a:r>
              <a:rPr lang="zh-CN" altLang="en-US" sz="2400" b="1" dirty="0">
                <a:effectLst>
                  <a:outerShdw blurRad="38100" dist="38100" dir="2700000" algn="tl">
                    <a:srgbClr val="000000"/>
                  </a:outerShdw>
                </a:effectLst>
                <a:latin typeface="楷体_GB2312" pitchFamily="49" charset="-122"/>
                <a:ea typeface="楷体_GB2312" pitchFamily="49" charset="-122"/>
              </a:rPr>
              <a:t>型的数组。</a:t>
            </a:r>
          </a:p>
          <a:p>
            <a:pPr marL="0" indent="0" eaLnBrk="1" hangingPunct="1">
              <a:lnSpc>
                <a:spcPct val="90000"/>
              </a:lnSpc>
              <a:buFont typeface="Monotype Sorts" pitchFamily="2" charset="2"/>
              <a:buNone/>
              <a:defRPr/>
            </a:pPr>
            <a:r>
              <a:rPr lang="zh-CN" altLang="en-US" sz="2400" b="1" dirty="0">
                <a:effectLst>
                  <a:outerShdw blurRad="38100" dist="38100" dir="2700000" algn="tl">
                    <a:srgbClr val="000000"/>
                  </a:outerShdw>
                </a:effectLst>
                <a:ea typeface="楷体_GB2312" pitchFamily="49" charset="-122"/>
              </a:rPr>
              <a:t>“</a:t>
            </a:r>
            <a:r>
              <a:rPr lang="en-US" altLang="zh-CN" sz="2400" b="1" dirty="0">
                <a:effectLst>
                  <a:outerShdw blurRad="38100" dist="38100" dir="2700000" algn="tl">
                    <a:srgbClr val="000000"/>
                  </a:outerShdw>
                </a:effectLst>
                <a:latin typeface="楷体_GB2312" pitchFamily="49" charset="-122"/>
                <a:ea typeface="楷体_GB2312" pitchFamily="49" charset="-122"/>
              </a:rPr>
              <a:t>= </a:t>
            </a:r>
            <a:r>
              <a:rPr lang="zh-CN" altLang="en-US" sz="2400" b="1" dirty="0">
                <a:effectLst>
                  <a:outerShdw blurRad="38100" dist="38100" dir="2700000" algn="tl">
                    <a:srgbClr val="000000"/>
                  </a:outerShdw>
                </a:effectLst>
                <a:latin typeface="楷体_GB2312" pitchFamily="49" charset="-122"/>
                <a:ea typeface="楷体_GB2312" pitchFamily="49" charset="-122"/>
              </a:rPr>
              <a:t>初值</a:t>
            </a:r>
            <a:r>
              <a:rPr lang="zh-CN" altLang="en-US" sz="2400" b="1" dirty="0">
                <a:effectLst>
                  <a:outerShdw blurRad="38100" dist="38100" dir="2700000" algn="tl">
                    <a:srgbClr val="000000"/>
                  </a:outerShdw>
                </a:effectLst>
                <a:ea typeface="楷体_GB2312" pitchFamily="49" charset="-122"/>
              </a:rPr>
              <a:t>”</a:t>
            </a:r>
            <a:r>
              <a:rPr lang="zh-CN" altLang="en-US" sz="2400" b="1" dirty="0">
                <a:effectLst>
                  <a:outerShdw blurRad="38100" dist="38100" dir="2700000" algn="tl">
                    <a:srgbClr val="000000"/>
                  </a:outerShdw>
                </a:effectLst>
                <a:latin typeface="楷体_GB2312" pitchFamily="49" charset="-122"/>
                <a:ea typeface="楷体_GB2312" pitchFamily="49" charset="-122"/>
              </a:rPr>
              <a:t>用于对定义的变量设置初值，可以缺省。对于静态变量或全局变量如果未指定初值，系统自动置二进位全是</a:t>
            </a:r>
            <a:r>
              <a:rPr lang="en-US" altLang="zh-CN" sz="2400" b="1" dirty="0">
                <a:effectLst>
                  <a:outerShdw blurRad="38100" dist="38100" dir="2700000" algn="tl">
                    <a:srgbClr val="000000"/>
                  </a:outerShdw>
                </a:effectLst>
                <a:latin typeface="楷体_GB2312" pitchFamily="49" charset="-122"/>
                <a:ea typeface="楷体_GB2312" pitchFamily="49" charset="-122"/>
              </a:rPr>
              <a:t>0</a:t>
            </a:r>
            <a:r>
              <a:rPr lang="zh-CN" altLang="en-US" sz="2400" b="1" dirty="0">
                <a:effectLst>
                  <a:outerShdw blurRad="38100" dist="38100" dir="2700000" algn="tl">
                    <a:srgbClr val="000000"/>
                  </a:outerShdw>
                </a:effectLst>
                <a:latin typeface="楷体_GB2312" pitchFamily="49" charset="-122"/>
                <a:ea typeface="楷体_GB2312" pitchFamily="49" charset="-122"/>
              </a:rPr>
              <a:t>的值。对于自动的变量或寄存器类的变量，它们的初值可以是一般的可计算表达式。如果没有给定初值，则变量的初始值是不确定的。</a:t>
            </a:r>
          </a:p>
          <a:p>
            <a:pPr marL="0" indent="0" eaLnBrk="1" hangingPunct="1">
              <a:lnSpc>
                <a:spcPct val="90000"/>
              </a:lnSpc>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静态变量或全局变量的初值可以有下面多种形式：</a:t>
            </a:r>
          </a:p>
          <a:p>
            <a:pPr marL="0" indent="0" eaLnBrk="1" hangingPunct="1">
              <a:lnSpc>
                <a:spcPct val="90000"/>
              </a:lnSpc>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常量表达式、字符串常量、</a:t>
            </a:r>
            <a:r>
              <a:rPr lang="en-US" altLang="zh-CN" sz="2400" b="1" dirty="0">
                <a:effectLst>
                  <a:outerShdw blurRad="38100" dist="38100" dir="2700000" algn="tl">
                    <a:srgbClr val="000000"/>
                  </a:outerShdw>
                </a:effectLst>
                <a:latin typeface="楷体_GB2312" pitchFamily="49" charset="-122"/>
                <a:ea typeface="楷体_GB2312" pitchFamily="49" charset="-122"/>
              </a:rPr>
              <a:t>&amp;</a:t>
            </a:r>
            <a:r>
              <a:rPr lang="zh-CN" altLang="en-US" sz="2400" b="1" dirty="0">
                <a:effectLst>
                  <a:outerShdw blurRad="38100" dist="38100" dir="2700000" algn="tl">
                    <a:srgbClr val="000000"/>
                  </a:outerShdw>
                </a:effectLst>
                <a:latin typeface="楷体_GB2312" pitchFamily="49" charset="-122"/>
                <a:ea typeface="楷体_GB2312" pitchFamily="49" charset="-122"/>
              </a:rPr>
              <a:t>变量、</a:t>
            </a:r>
            <a:r>
              <a:rPr lang="en-US" altLang="zh-CN" sz="2400" b="1" dirty="0">
                <a:effectLst>
                  <a:outerShdw blurRad="38100" dist="38100" dir="2700000" algn="tl">
                    <a:srgbClr val="000000"/>
                  </a:outerShdw>
                </a:effectLst>
                <a:latin typeface="楷体_GB2312" pitchFamily="49" charset="-122"/>
                <a:ea typeface="楷体_GB2312" pitchFamily="49" charset="-122"/>
              </a:rPr>
              <a:t>&amp;</a:t>
            </a:r>
            <a:r>
              <a:rPr lang="zh-CN" altLang="en-US" sz="2400" b="1" dirty="0">
                <a:effectLst>
                  <a:outerShdw blurRad="38100" dist="38100" dir="2700000" algn="tl">
                    <a:srgbClr val="000000"/>
                  </a:outerShdw>
                </a:effectLst>
                <a:latin typeface="楷体_GB2312" pitchFamily="49" charset="-122"/>
                <a:ea typeface="楷体_GB2312" pitchFamily="49" charset="-122"/>
              </a:rPr>
              <a:t>变量</a:t>
            </a:r>
            <a:r>
              <a:rPr lang="en-US" altLang="zh-CN" sz="2400" b="1" dirty="0">
                <a:effectLst>
                  <a:outerShdw blurRad="38100" dist="38100" dir="2700000" algn="tl">
                    <a:srgbClr val="000000"/>
                  </a:outerShdw>
                </a:effectLst>
                <a:latin typeface="楷体_GB2312" pitchFamily="49" charset="-122"/>
                <a:ea typeface="楷体_GB2312" pitchFamily="49" charset="-122"/>
              </a:rPr>
              <a:t>+</a:t>
            </a:r>
            <a:r>
              <a:rPr lang="zh-CN" altLang="en-US" sz="2400" b="1" dirty="0">
                <a:effectLst>
                  <a:outerShdw blurRad="38100" dist="38100" dir="2700000" algn="tl">
                    <a:srgbClr val="000000"/>
                  </a:outerShdw>
                </a:effectLst>
                <a:latin typeface="楷体_GB2312" pitchFamily="49" charset="-122"/>
                <a:ea typeface="楷体_GB2312" pitchFamily="49" charset="-122"/>
              </a:rPr>
              <a:t>整常量、</a:t>
            </a:r>
            <a:r>
              <a:rPr lang="en-US" altLang="zh-CN" sz="2400" b="1" dirty="0">
                <a:effectLst>
                  <a:outerShdw blurRad="38100" dist="38100" dir="2700000" algn="tl">
                    <a:srgbClr val="000000"/>
                  </a:outerShdw>
                </a:effectLst>
                <a:latin typeface="楷体_GB2312" pitchFamily="49" charset="-122"/>
                <a:ea typeface="楷体_GB2312" pitchFamily="49" charset="-122"/>
              </a:rPr>
              <a:t>&amp;</a:t>
            </a:r>
            <a:r>
              <a:rPr lang="zh-CN" altLang="en-US" sz="2400" b="1" dirty="0">
                <a:effectLst>
                  <a:outerShdw blurRad="38100" dist="38100" dir="2700000" algn="tl">
                    <a:srgbClr val="000000"/>
                  </a:outerShdw>
                </a:effectLst>
                <a:latin typeface="楷体_GB2312" pitchFamily="49" charset="-122"/>
                <a:ea typeface="楷体_GB2312" pitchFamily="49" charset="-122"/>
              </a:rPr>
              <a:t>变量 </a:t>
            </a:r>
            <a:r>
              <a:rPr lang="en-US" altLang="zh-CN" sz="2400" b="1" dirty="0">
                <a:effectLst>
                  <a:outerShdw blurRad="38100" dist="38100" dir="2700000" algn="tl">
                    <a:srgbClr val="000000"/>
                  </a:outerShdw>
                </a:effectLst>
                <a:latin typeface="楷体_GB2312" pitchFamily="49" charset="-122"/>
                <a:ea typeface="楷体_GB2312" pitchFamily="49" charset="-122"/>
              </a:rPr>
              <a:t>- </a:t>
            </a:r>
            <a:r>
              <a:rPr lang="zh-CN" altLang="en-US" sz="2400" b="1" dirty="0">
                <a:effectLst>
                  <a:outerShdw blurRad="38100" dist="38100" dir="2700000" algn="tl">
                    <a:srgbClr val="000000"/>
                  </a:outerShdw>
                </a:effectLst>
                <a:latin typeface="楷体_GB2312" pitchFamily="49" charset="-122"/>
                <a:ea typeface="楷体_GB2312" pitchFamily="49" charset="-122"/>
              </a:rPr>
              <a:t>整常量、</a:t>
            </a:r>
            <a:r>
              <a:rPr lang="en-US" altLang="zh-CN" sz="2400" b="1" dirty="0">
                <a:effectLst>
                  <a:outerShdw blurRad="38100" dist="38100" dir="2700000" algn="tl">
                    <a:srgbClr val="000000"/>
                  </a:outerShdw>
                </a:effectLst>
                <a:latin typeface="楷体_GB2312" pitchFamily="49" charset="-122"/>
                <a:ea typeface="楷体_GB2312" pitchFamily="49" charset="-122"/>
              </a:rPr>
              <a:t>{</a:t>
            </a:r>
            <a:r>
              <a:rPr lang="zh-CN" altLang="en-US" sz="2400" b="1" dirty="0">
                <a:effectLst>
                  <a:outerShdw blurRad="38100" dist="38100" dir="2700000" algn="tl">
                    <a:srgbClr val="000000"/>
                  </a:outerShdw>
                </a:effectLst>
                <a:latin typeface="楷体_GB2312" pitchFamily="49" charset="-122"/>
                <a:ea typeface="楷体_GB2312" pitchFamily="49" charset="-122"/>
              </a:rPr>
              <a:t>初值表</a:t>
            </a:r>
            <a:r>
              <a:rPr lang="en-US" altLang="zh-CN" sz="2400" b="1" dirty="0">
                <a:effectLst>
                  <a:outerShdw blurRad="38100" dist="38100" dir="2700000" algn="tl">
                    <a:srgbClr val="000000"/>
                  </a:outerShdw>
                </a:effectLst>
                <a:latin typeface="楷体_GB2312" pitchFamily="49" charset="-122"/>
                <a:ea typeface="楷体_GB2312" pitchFamily="49" charset="-122"/>
              </a:rPr>
              <a:t>}</a:t>
            </a:r>
            <a:r>
              <a:rPr lang="zh-CN" altLang="en-US" sz="2400" b="1" dirty="0">
                <a:effectLst>
                  <a:outerShdw blurRad="38100" dist="38100" dir="2700000" algn="tl">
                    <a:srgbClr val="000000"/>
                  </a:outerShdw>
                </a:effectLst>
                <a:latin typeface="楷体_GB2312" pitchFamily="49" charset="-122"/>
                <a:ea typeface="楷体_GB2312" pitchFamily="49" charset="-122"/>
              </a:rPr>
              <a:t>。</a:t>
            </a:r>
          </a:p>
          <a:p>
            <a:pPr marL="0" indent="0" eaLnBrk="1" hangingPunct="1">
              <a:lnSpc>
                <a:spcPct val="90000"/>
              </a:lnSpc>
              <a:buFont typeface="Monotype Sorts" pitchFamily="2" charset="2"/>
              <a:buNone/>
              <a:defRPr/>
            </a:pPr>
            <a:r>
              <a:rPr lang="zh-CN" altLang="en-US" sz="2400" b="1" dirty="0">
                <a:effectLst>
                  <a:outerShdw blurRad="38100" dist="38100" dir="2700000" algn="tl">
                    <a:srgbClr val="000000"/>
                  </a:outerShdw>
                </a:effectLst>
                <a:latin typeface="楷体_GB2312" pitchFamily="49" charset="-122"/>
                <a:ea typeface="楷体_GB2312" pitchFamily="49" charset="-122"/>
              </a:rPr>
              <a:t>其中初值表中的初值之间用逗号分隔，初值表中的表达式必须是常量表达式，或者是前面说明过的变量的地址表达式，或是字符串。</a:t>
            </a:r>
            <a:r>
              <a:rPr lang="zh-CN" altLang="en-US" sz="2400" dirty="0">
                <a:latin typeface="楷体_GB2312" pitchFamily="49" charset="-122"/>
                <a:ea typeface="楷体_GB2312" pitchFamily="49" charset="-122"/>
              </a:rPr>
              <a:t> </a:t>
            </a:r>
          </a:p>
        </p:txBody>
      </p:sp>
      <p:sp>
        <p:nvSpPr>
          <p:cNvPr id="5" name="灯片编号占位符 5"/>
          <p:cNvSpPr>
            <a:spLocks noGrp="1"/>
          </p:cNvSpPr>
          <p:nvPr>
            <p:ph type="sldNum" sz="quarter" idx="12"/>
          </p:nvPr>
        </p:nvSpPr>
        <p:spPr/>
        <p:txBody>
          <a:bodyPr/>
          <a:lstStyle/>
          <a:p>
            <a:pPr>
              <a:defRPr/>
            </a:pPr>
            <a:fld id="{52AD6C20-7C5A-4647-93E5-ABBC46E8236A}" type="slidenum">
              <a:rPr lang="en-US" altLang="zh-CN"/>
              <a:pPr>
                <a:defRPr/>
              </a:pPr>
              <a:t>137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20898">
                                            <p:txEl>
                                              <p:pRg st="3" end="3"/>
                                            </p:txEl>
                                          </p:spTgt>
                                        </p:tgtEl>
                                        <p:attrNameLst>
                                          <p:attrName>style.visibility</p:attrName>
                                        </p:attrNameLst>
                                      </p:cBhvr>
                                      <p:to>
                                        <p:strVal val="visible"/>
                                      </p:to>
                                    </p:set>
                                    <p:anim calcmode="lin" valueType="num">
                                      <p:cBhvr additive="base">
                                        <p:cTn id="7" dur="500" fill="hold"/>
                                        <p:tgtEl>
                                          <p:spTgt spid="720898">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208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20898">
                                            <p:txEl>
                                              <p:pRg st="4" end="4"/>
                                            </p:txEl>
                                          </p:spTgt>
                                        </p:tgtEl>
                                        <p:attrNameLst>
                                          <p:attrName>style.visibility</p:attrName>
                                        </p:attrNameLst>
                                      </p:cBhvr>
                                      <p:to>
                                        <p:strVal val="visible"/>
                                      </p:to>
                                    </p:set>
                                    <p:anim calcmode="lin" valueType="num">
                                      <p:cBhvr additive="base">
                                        <p:cTn id="13" dur="500" fill="hold"/>
                                        <p:tgtEl>
                                          <p:spTgt spid="720898">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20898">
                                            <p:txEl>
                                              <p:pRg st="4" end="4"/>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20898">
                                            <p:txEl>
                                              <p:pRg st="5" end="5"/>
                                            </p:txEl>
                                          </p:spTgt>
                                        </p:tgtEl>
                                        <p:attrNameLst>
                                          <p:attrName>style.visibility</p:attrName>
                                        </p:attrNameLst>
                                      </p:cBhvr>
                                      <p:to>
                                        <p:strVal val="visible"/>
                                      </p:to>
                                    </p:set>
                                    <p:anim calcmode="lin" valueType="num">
                                      <p:cBhvr additive="base">
                                        <p:cTn id="17" dur="500" fill="hold"/>
                                        <p:tgtEl>
                                          <p:spTgt spid="720898">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20898">
                                            <p:txEl>
                                              <p:pRg st="5" end="5"/>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720898">
                                            <p:txEl>
                                              <p:pRg st="6" end="6"/>
                                            </p:txEl>
                                          </p:spTgt>
                                        </p:tgtEl>
                                        <p:attrNameLst>
                                          <p:attrName>style.visibility</p:attrName>
                                        </p:attrNameLst>
                                      </p:cBhvr>
                                      <p:to>
                                        <p:strVal val="visible"/>
                                      </p:to>
                                    </p:set>
                                    <p:anim calcmode="lin" valueType="num">
                                      <p:cBhvr additive="base">
                                        <p:cTn id="21" dur="500" fill="hold"/>
                                        <p:tgtEl>
                                          <p:spTgt spid="720898">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72089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16548</TotalTime>
  <Words>16818</Words>
  <Application>Microsoft Office PowerPoint</Application>
  <PresentationFormat>全屏显示(4:3)</PresentationFormat>
  <Paragraphs>1393</Paragraphs>
  <Slides>137</Slides>
  <Notes>6</Notes>
  <HiddenSlides>7</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137</vt:i4>
      </vt:variant>
    </vt:vector>
  </HeadingPairs>
  <TitlesOfParts>
    <vt:vector size="149" baseType="lpstr">
      <vt:lpstr>Monotype Sorts</vt:lpstr>
      <vt:lpstr>黑体</vt:lpstr>
      <vt:lpstr>楷体_GB2312</vt:lpstr>
      <vt:lpstr>宋体</vt:lpstr>
      <vt:lpstr>Arial</vt:lpstr>
      <vt:lpstr>Calibri</vt:lpstr>
      <vt:lpstr>Constantia</vt:lpstr>
      <vt:lpstr>Times New Roman</vt:lpstr>
      <vt:lpstr>Wingdings</vt:lpstr>
      <vt:lpstr>Wingdings 2</vt:lpstr>
      <vt:lpstr>Flow</vt:lpstr>
      <vt:lpstr>Visio</vt:lpstr>
      <vt:lpstr>第7章 结构与链表 </vt:lpstr>
      <vt:lpstr>7.1  结构类型和结构变量</vt:lpstr>
      <vt:lpstr>PowerPoint 演示文稿</vt:lpstr>
      <vt:lpstr> 结构类型 示例</vt:lpstr>
      <vt:lpstr>PowerPoint 演示文稿</vt:lpstr>
      <vt:lpstr>PowerPoint 演示文稿</vt:lpstr>
      <vt:lpstr>PowerPoint 演示文稿</vt:lpstr>
      <vt:lpstr>结构变量的定义</vt:lpstr>
      <vt:lpstr>PowerPoint 演示文稿</vt:lpstr>
      <vt:lpstr>结构变量的定义</vt:lpstr>
      <vt:lpstr>结构变量初始化</vt:lpstr>
      <vt:lpstr>结构类型和结构变量的说明</vt:lpstr>
      <vt:lpstr>PowerPoint 演示文稿</vt:lpstr>
      <vt:lpstr>结构变量的引用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7.2 结构数组</vt:lpstr>
      <vt:lpstr>PowerPoint 演示文稿</vt:lpstr>
      <vt:lpstr>PowerPoint 演示文稿</vt:lpstr>
      <vt:lpstr>PowerPoint 演示文稿</vt:lpstr>
      <vt:lpstr>结构数组的引用 </vt:lpstr>
      <vt:lpstr>PowerPoint 演示文稿</vt:lpstr>
      <vt:lpstr>PowerPoint 演示文稿</vt:lpstr>
      <vt:lpstr>PowerPoint 演示文稿</vt:lpstr>
      <vt:lpstr>PowerPoint 演示文稿</vt:lpstr>
      <vt:lpstr>7.3  结构和函数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7.4  链表</vt:lpstr>
      <vt:lpstr>PowerPoint 演示文稿</vt:lpstr>
      <vt:lpstr>PowerPoint 演示文稿</vt:lpstr>
      <vt:lpstr>PowerPoint 演示文稿</vt:lpstr>
      <vt:lpstr>PowerPoint 演示文稿</vt:lpstr>
      <vt:lpstr>动态变量支持</vt:lpstr>
      <vt:lpstr>什么是链表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单链表上的基本操作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扩展研究</vt:lpstr>
      <vt:lpstr>链表倒数第k个节点（快慢指针）</vt:lpstr>
      <vt:lpstr>PowerPoint 演示文稿</vt:lpstr>
      <vt:lpstr>PowerPoint 演示文稿</vt:lpstr>
      <vt:lpstr>在首表元之前插入新表元</vt:lpstr>
      <vt:lpstr>PowerPoint 演示文稿</vt:lpstr>
      <vt:lpstr>在指定的表元之后插入新表元 </vt:lpstr>
      <vt:lpstr>PowerPoint 演示文稿</vt:lpstr>
      <vt:lpstr>PowerPoint 演示文稿</vt:lpstr>
      <vt:lpstr>PowerPoint 演示文稿</vt:lpstr>
      <vt:lpstr>在链表末尾插入新表元</vt:lpstr>
      <vt:lpstr>PowerPoint 演示文稿</vt:lpstr>
      <vt:lpstr>PowerPoint 演示文稿</vt:lpstr>
      <vt:lpstr>6. 从链表中删除表元</vt:lpstr>
      <vt:lpstr>删除单链表的首表元 </vt:lpstr>
      <vt:lpstr>PowerPoint 演示文稿</vt:lpstr>
      <vt:lpstr>删除单链表中的某表元</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单链表程序设计实例 </vt:lpstr>
      <vt:lpstr>PowerPoint 演示文稿</vt:lpstr>
      <vt:lpstr>PowerPoint 演示文稿</vt:lpstr>
      <vt:lpstr>PowerPoint 演示文稿</vt:lpstr>
      <vt:lpstr>PowerPoint 演示文稿</vt:lpstr>
      <vt:lpstr>PowerPoint 演示文稿</vt:lpstr>
      <vt:lpstr>PowerPoint 演示文稿</vt:lpstr>
      <vt:lpstr>冒泡排序</vt:lpstr>
      <vt:lpstr>【例7.13】编制一个函数，实现将已知单链表的表元链接顺序颠倒。即使单链表的第1个表元变为最末一个表元，第2个表元变为最后第2个表元，……，最后一个表元变为第1个表元。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7.5 联合</vt:lpstr>
      <vt:lpstr>联合类型与联合变量的定义</vt:lpstr>
      <vt:lpstr>联合变量的引用</vt:lpstr>
      <vt:lpstr>PowerPoint 演示文稿</vt:lpstr>
      <vt:lpstr>7.7 枚举</vt:lpstr>
      <vt:lpstr>PowerPoint 演示文稿</vt:lpstr>
      <vt:lpstr>PowerPoint 演示文稿</vt:lpstr>
      <vt:lpstr>7.8 类型定义</vt:lpstr>
      <vt:lpstr>PowerPoint 演示文稿</vt:lpstr>
      <vt:lpstr>PowerPoint 演示文稿</vt:lpstr>
      <vt:lpstr>PowerPoint 演示文稿</vt:lpstr>
      <vt:lpstr>PowerPoint 演示文稿</vt:lpstr>
      <vt:lpstr>PowerPoint 演示文稿</vt:lpstr>
      <vt:lpstr>PowerPoint 演示文稿</vt:lpstr>
    </vt:vector>
  </TitlesOfParts>
  <Company>fudan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第7章 结构和动态数据结构的基础</dc:title>
  <dc:subject>程序设计</dc:subject>
  <dc:creator/>
  <cp:lastModifiedBy>子敬 谈</cp:lastModifiedBy>
  <cp:revision>323</cp:revision>
  <dcterms:created xsi:type="dcterms:W3CDTF">1999-01-18T11:32:56Z</dcterms:created>
  <dcterms:modified xsi:type="dcterms:W3CDTF">2025-11-28T01:44:02Z</dcterms:modified>
</cp:coreProperties>
</file>