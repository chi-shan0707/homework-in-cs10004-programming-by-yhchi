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audio1.bin" ContentType="audio/unknown"/>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85"/>
  </p:notesMasterIdLst>
  <p:sldIdLst>
    <p:sldId id="256" r:id="rId2"/>
    <p:sldId id="290" r:id="rId3"/>
    <p:sldId id="483" r:id="rId4"/>
    <p:sldId id="484" r:id="rId5"/>
    <p:sldId id="485" r:id="rId6"/>
    <p:sldId id="487" r:id="rId7"/>
    <p:sldId id="488" r:id="rId8"/>
    <p:sldId id="489" r:id="rId9"/>
    <p:sldId id="490" r:id="rId10"/>
    <p:sldId id="294" r:id="rId11"/>
    <p:sldId id="322" r:id="rId12"/>
    <p:sldId id="323" r:id="rId13"/>
    <p:sldId id="295" r:id="rId14"/>
    <p:sldId id="464" r:id="rId15"/>
    <p:sldId id="482" r:id="rId16"/>
    <p:sldId id="481" r:id="rId17"/>
    <p:sldId id="470" r:id="rId18"/>
    <p:sldId id="325" r:id="rId19"/>
    <p:sldId id="465" r:id="rId20"/>
    <p:sldId id="328" r:id="rId21"/>
    <p:sldId id="329" r:id="rId22"/>
    <p:sldId id="330" r:id="rId23"/>
    <p:sldId id="331" r:id="rId24"/>
    <p:sldId id="466" r:id="rId25"/>
    <p:sldId id="257" r:id="rId26"/>
    <p:sldId id="258" r:id="rId27"/>
    <p:sldId id="259" r:id="rId28"/>
    <p:sldId id="468" r:id="rId29"/>
    <p:sldId id="332" r:id="rId30"/>
    <p:sldId id="260" r:id="rId31"/>
    <p:sldId id="333" r:id="rId32"/>
    <p:sldId id="334" r:id="rId33"/>
    <p:sldId id="335" r:id="rId34"/>
    <p:sldId id="336" r:id="rId35"/>
    <p:sldId id="338" r:id="rId36"/>
    <p:sldId id="385" r:id="rId37"/>
    <p:sldId id="386" r:id="rId38"/>
    <p:sldId id="265" r:id="rId39"/>
    <p:sldId id="493" r:id="rId40"/>
    <p:sldId id="494" r:id="rId41"/>
    <p:sldId id="495" r:id="rId42"/>
    <p:sldId id="496" r:id="rId43"/>
    <p:sldId id="497" r:id="rId44"/>
    <p:sldId id="498" r:id="rId45"/>
    <p:sldId id="499" r:id="rId46"/>
    <p:sldId id="500" r:id="rId47"/>
    <p:sldId id="501" r:id="rId48"/>
    <p:sldId id="502" r:id="rId49"/>
    <p:sldId id="394" r:id="rId50"/>
    <p:sldId id="342" r:id="rId51"/>
    <p:sldId id="421" r:id="rId52"/>
    <p:sldId id="422" r:id="rId53"/>
    <p:sldId id="423" r:id="rId54"/>
    <p:sldId id="424" r:id="rId55"/>
    <p:sldId id="426" r:id="rId56"/>
    <p:sldId id="427" r:id="rId57"/>
    <p:sldId id="428" r:id="rId58"/>
    <p:sldId id="430" r:id="rId59"/>
    <p:sldId id="350" r:id="rId60"/>
    <p:sldId id="351" r:id="rId61"/>
    <p:sldId id="431" r:id="rId62"/>
    <p:sldId id="503" r:id="rId63"/>
    <p:sldId id="504" r:id="rId64"/>
    <p:sldId id="505" r:id="rId65"/>
    <p:sldId id="506" r:id="rId66"/>
    <p:sldId id="507" r:id="rId67"/>
    <p:sldId id="508" r:id="rId68"/>
    <p:sldId id="473" r:id="rId69"/>
    <p:sldId id="474" r:id="rId70"/>
    <p:sldId id="475" r:id="rId71"/>
    <p:sldId id="476" r:id="rId72"/>
    <p:sldId id="467" r:id="rId73"/>
    <p:sldId id="401" r:id="rId74"/>
    <p:sldId id="402" r:id="rId75"/>
    <p:sldId id="403" r:id="rId76"/>
    <p:sldId id="404" r:id="rId77"/>
    <p:sldId id="405" r:id="rId78"/>
    <p:sldId id="406" r:id="rId79"/>
    <p:sldId id="364" r:id="rId80"/>
    <p:sldId id="365" r:id="rId81"/>
    <p:sldId id="443" r:id="rId82"/>
    <p:sldId id="509" r:id="rId83"/>
    <p:sldId id="510" r:id="rId8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99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67" autoAdjust="0"/>
    <p:restoredTop sz="64939" autoAdjust="0"/>
  </p:normalViewPr>
  <p:slideViewPr>
    <p:cSldViewPr>
      <p:cViewPr varScale="1">
        <p:scale>
          <a:sx n="43" d="100"/>
          <a:sy n="43" d="100"/>
        </p:scale>
        <p:origin x="1388"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184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269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84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4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184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E1EED916-453B-4C84-8C2E-64310FCCD523}" type="slidenum">
              <a:rPr lang="en-US" altLang="zh-CN"/>
              <a:pPr>
                <a:defRPr/>
              </a:pPr>
              <a:t>‹#›</a:t>
            </a:fld>
            <a:endParaRPr lang="en-US" altLang="zh-CN"/>
          </a:p>
        </p:txBody>
      </p:sp>
    </p:spTree>
    <p:extLst>
      <p:ext uri="{BB962C8B-B14F-4D97-AF65-F5344CB8AC3E}">
        <p14:creationId xmlns:p14="http://schemas.microsoft.com/office/powerpoint/2010/main" val="615531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1143000" y="684213"/>
            <a:ext cx="4573588"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686445" y="4343915"/>
            <a:ext cx="5485111" cy="4115831"/>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noChangeArrowheads="1"/>
          </p:cNvSpPr>
          <p:nvPr>
            <p:ph type="body" idx="1"/>
          </p:nvPr>
        </p:nvSpPr>
        <p:spPr bwMode="auto">
          <a:xfrm>
            <a:off x="686445" y="4343915"/>
            <a:ext cx="5485111" cy="411435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5000"/>
              </a:lnSpc>
            </a:pPr>
            <a:r>
              <a:rPr lang="en-US" altLang="zh-CN" sz="1400" b="1"/>
              <a:t>A </a:t>
            </a:r>
            <a:r>
              <a:rPr lang="en-US" altLang="zh-CN" sz="1400"/>
              <a:t>pointer</a:t>
            </a:r>
            <a:r>
              <a:rPr lang="en-US" altLang="zh-CN" sz="1400" b="1"/>
              <a:t> is a variable whose value is a memory address representing the location of the chunk of memory on either the run-time stack or on the heap.</a:t>
            </a:r>
            <a:endParaRPr lang="zh-CN" altLang="en-US" sz="1400" b="1"/>
          </a:p>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1EED916-453B-4C84-8C2E-64310FCCD523}" type="slidenum">
              <a:rPr lang="en-US" altLang="zh-CN" smtClean="0"/>
              <a:pPr>
                <a:defRPr/>
              </a:pPr>
              <a:t>62</a:t>
            </a:fld>
            <a:endParaRPr lang="en-US" altLang="zh-CN"/>
          </a:p>
        </p:txBody>
      </p:sp>
    </p:spTree>
    <p:extLst>
      <p:ext uri="{BB962C8B-B14F-4D97-AF65-F5344CB8AC3E}">
        <p14:creationId xmlns:p14="http://schemas.microsoft.com/office/powerpoint/2010/main" val="489514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a:t>
            </a:r>
            <a:r>
              <a:rPr lang="en-US" altLang="zh-CN" dirty="0" err="1"/>
              <a:t>stdio.h</a:t>
            </a:r>
            <a:r>
              <a:rPr lang="en-US" altLang="zh-CN" dirty="0"/>
              <a:t>&gt;</a:t>
            </a:r>
          </a:p>
          <a:p>
            <a:endParaRPr lang="en-US" altLang="zh-CN" dirty="0"/>
          </a:p>
          <a:p>
            <a:r>
              <a:rPr lang="en-US" altLang="zh-CN" dirty="0"/>
              <a:t>void </a:t>
            </a:r>
            <a:r>
              <a:rPr lang="en-US" altLang="zh-CN" dirty="0" err="1"/>
              <a:t>removeExcessCharacters</a:t>
            </a:r>
            <a:r>
              <a:rPr lang="en-US" altLang="zh-CN" dirty="0"/>
              <a:t>(char *str) {</a:t>
            </a:r>
          </a:p>
          <a:p>
            <a:r>
              <a:rPr lang="en-US" altLang="zh-CN" dirty="0"/>
              <a:t>    char *</a:t>
            </a:r>
            <a:r>
              <a:rPr lang="en-US" altLang="zh-CN" dirty="0" err="1"/>
              <a:t>slowPtr</a:t>
            </a:r>
            <a:r>
              <a:rPr lang="en-US" altLang="zh-CN" dirty="0"/>
              <a:t> = str;</a:t>
            </a:r>
          </a:p>
          <a:p>
            <a:r>
              <a:rPr lang="en-US" altLang="zh-CN" dirty="0"/>
              <a:t>    char *</a:t>
            </a:r>
            <a:r>
              <a:rPr lang="en-US" altLang="zh-CN" dirty="0" err="1"/>
              <a:t>fastPtr</a:t>
            </a:r>
            <a:r>
              <a:rPr lang="en-US" altLang="zh-CN" dirty="0"/>
              <a:t> = str + 1;</a:t>
            </a:r>
          </a:p>
          <a:p>
            <a:r>
              <a:rPr lang="en-US" altLang="zh-CN" dirty="0"/>
              <a:t>    int count;</a:t>
            </a:r>
          </a:p>
          <a:p>
            <a:endParaRPr lang="en-US" altLang="zh-CN" dirty="0"/>
          </a:p>
          <a:p>
            <a:r>
              <a:rPr lang="en-US" altLang="zh-CN" dirty="0"/>
              <a:t>    while (*</a:t>
            </a:r>
            <a:r>
              <a:rPr lang="en-US" altLang="zh-CN" dirty="0" err="1"/>
              <a:t>slowPtr</a:t>
            </a:r>
            <a:r>
              <a:rPr lang="en-US" altLang="zh-CN" dirty="0"/>
              <a:t> != '\0') {</a:t>
            </a:r>
          </a:p>
          <a:p>
            <a:r>
              <a:rPr lang="en-US" altLang="zh-CN" dirty="0"/>
              <a:t>        count = 1;</a:t>
            </a:r>
          </a:p>
          <a:p>
            <a:r>
              <a:rPr lang="en-US" altLang="zh-CN" dirty="0"/>
              <a:t>        while (*</a:t>
            </a:r>
            <a:r>
              <a:rPr lang="en-US" altLang="zh-CN" dirty="0" err="1"/>
              <a:t>fastPtr</a:t>
            </a:r>
            <a:r>
              <a:rPr lang="en-US" altLang="zh-CN" dirty="0"/>
              <a:t> != '\0') {</a:t>
            </a:r>
          </a:p>
          <a:p>
            <a:r>
              <a:rPr lang="en-US" altLang="zh-CN" dirty="0"/>
              <a:t>            if (*</a:t>
            </a:r>
            <a:r>
              <a:rPr lang="en-US" altLang="zh-CN" dirty="0" err="1"/>
              <a:t>fastPtr</a:t>
            </a:r>
            <a:r>
              <a:rPr lang="en-US" altLang="zh-CN" dirty="0"/>
              <a:t> == *</a:t>
            </a:r>
            <a:r>
              <a:rPr lang="en-US" altLang="zh-CN" dirty="0" err="1"/>
              <a:t>slowPtr</a:t>
            </a:r>
            <a:r>
              <a:rPr lang="en-US" altLang="zh-CN" dirty="0"/>
              <a:t>) {</a:t>
            </a:r>
          </a:p>
          <a:p>
            <a:r>
              <a:rPr lang="en-US" altLang="zh-CN" dirty="0"/>
              <a:t>                count++;</a:t>
            </a:r>
          </a:p>
          <a:p>
            <a:r>
              <a:rPr lang="en-US" altLang="zh-CN" dirty="0"/>
              <a:t>                if (count &gt; 2) {</a:t>
            </a:r>
          </a:p>
          <a:p>
            <a:r>
              <a:rPr lang="en-US" altLang="zh-CN" dirty="0"/>
              <a:t>                    char *</a:t>
            </a:r>
            <a:r>
              <a:rPr lang="en-US" altLang="zh-CN" dirty="0" err="1"/>
              <a:t>tempPtr</a:t>
            </a:r>
            <a:r>
              <a:rPr lang="en-US" altLang="zh-CN" dirty="0"/>
              <a:t> = </a:t>
            </a:r>
            <a:r>
              <a:rPr lang="en-US" altLang="zh-CN" dirty="0" err="1"/>
              <a:t>fastPtr</a:t>
            </a:r>
            <a:r>
              <a:rPr lang="en-US" altLang="zh-CN" dirty="0"/>
              <a:t>;</a:t>
            </a:r>
          </a:p>
          <a:p>
            <a:r>
              <a:rPr lang="en-US" altLang="zh-CN" dirty="0"/>
              <a:t>                    while (*</a:t>
            </a:r>
            <a:r>
              <a:rPr lang="en-US" altLang="zh-CN" dirty="0" err="1"/>
              <a:t>tempPtr</a:t>
            </a:r>
            <a:r>
              <a:rPr lang="en-US" altLang="zh-CN" dirty="0"/>
              <a:t> != '\0') {</a:t>
            </a:r>
          </a:p>
          <a:p>
            <a:r>
              <a:rPr lang="en-US" altLang="zh-CN" dirty="0"/>
              <a:t>                        *</a:t>
            </a:r>
            <a:r>
              <a:rPr lang="en-US" altLang="zh-CN" dirty="0" err="1"/>
              <a:t>tempPtr</a:t>
            </a:r>
            <a:r>
              <a:rPr lang="en-US" altLang="zh-CN" dirty="0"/>
              <a:t> = *(</a:t>
            </a:r>
            <a:r>
              <a:rPr lang="en-US" altLang="zh-CN" dirty="0" err="1"/>
              <a:t>tempPtr</a:t>
            </a:r>
            <a:r>
              <a:rPr lang="en-US" altLang="zh-CN" dirty="0"/>
              <a:t> + 1);</a:t>
            </a:r>
          </a:p>
          <a:p>
            <a:r>
              <a:rPr lang="en-US" altLang="zh-CN" dirty="0"/>
              <a:t>                        </a:t>
            </a:r>
            <a:r>
              <a:rPr lang="en-US" altLang="zh-CN" dirty="0" err="1"/>
              <a:t>tempPtr</a:t>
            </a:r>
            <a:r>
              <a:rPr lang="en-US" altLang="zh-CN" dirty="0"/>
              <a:t>++;</a:t>
            </a:r>
          </a:p>
          <a:p>
            <a:r>
              <a:rPr lang="en-US" altLang="zh-CN" dirty="0"/>
              <a:t>                    }</a:t>
            </a:r>
          </a:p>
          <a:p>
            <a:r>
              <a:rPr lang="en-US" altLang="zh-CN" dirty="0"/>
              <a:t>                    </a:t>
            </a:r>
            <a:r>
              <a:rPr lang="en-US" altLang="zh-CN" dirty="0" err="1"/>
              <a:t>fastPtr</a:t>
            </a:r>
            <a:r>
              <a:rPr lang="en-US" altLang="zh-CN" dirty="0"/>
              <a:t>--;</a:t>
            </a:r>
          </a:p>
          <a:p>
            <a:r>
              <a:rPr lang="en-US" altLang="zh-CN" dirty="0"/>
              <a:t>                }</a:t>
            </a:r>
          </a:p>
          <a:p>
            <a:r>
              <a:rPr lang="en-US" altLang="zh-CN" dirty="0"/>
              <a:t>            }</a:t>
            </a:r>
          </a:p>
          <a:p>
            <a:r>
              <a:rPr lang="en-US" altLang="zh-CN" dirty="0"/>
              <a:t>            </a:t>
            </a:r>
            <a:r>
              <a:rPr lang="en-US" altLang="zh-CN" dirty="0" err="1"/>
              <a:t>fastPtr</a:t>
            </a:r>
            <a:r>
              <a:rPr lang="en-US" altLang="zh-CN" dirty="0"/>
              <a:t>++;</a:t>
            </a:r>
          </a:p>
          <a:p>
            <a:r>
              <a:rPr lang="en-US" altLang="zh-CN" dirty="0"/>
              <a:t>        }</a:t>
            </a:r>
          </a:p>
          <a:p>
            <a:r>
              <a:rPr lang="en-US" altLang="zh-CN" dirty="0"/>
              <a:t>        </a:t>
            </a:r>
            <a:r>
              <a:rPr lang="en-US" altLang="zh-CN" dirty="0" err="1"/>
              <a:t>slowPtr</a:t>
            </a:r>
            <a:r>
              <a:rPr lang="en-US" altLang="zh-CN" dirty="0"/>
              <a:t>++;</a:t>
            </a:r>
          </a:p>
          <a:p>
            <a:r>
              <a:rPr lang="en-US" altLang="zh-CN" dirty="0"/>
              <a:t>        </a:t>
            </a:r>
            <a:r>
              <a:rPr lang="en-US" altLang="zh-CN" dirty="0" err="1"/>
              <a:t>fastPtr</a:t>
            </a:r>
            <a:r>
              <a:rPr lang="en-US" altLang="zh-CN" dirty="0"/>
              <a:t> = </a:t>
            </a:r>
            <a:r>
              <a:rPr lang="en-US" altLang="zh-CN" dirty="0" err="1"/>
              <a:t>slowPtr</a:t>
            </a:r>
            <a:r>
              <a:rPr lang="en-US" altLang="zh-CN" dirty="0"/>
              <a:t> + 1;</a:t>
            </a:r>
          </a:p>
          <a:p>
            <a:r>
              <a:rPr lang="en-US" altLang="zh-CN" dirty="0"/>
              <a:t>    }</a:t>
            </a:r>
          </a:p>
          <a:p>
            <a:r>
              <a:rPr lang="en-US" altLang="zh-CN" dirty="0"/>
              <a:t>}</a:t>
            </a:r>
          </a:p>
          <a:p>
            <a:endParaRPr lang="en-US" altLang="zh-CN" dirty="0"/>
          </a:p>
          <a:p>
            <a:r>
              <a:rPr lang="en-US" altLang="zh-CN" dirty="0"/>
              <a:t>int main() {</a:t>
            </a:r>
          </a:p>
          <a:p>
            <a:r>
              <a:rPr lang="en-US" altLang="zh-CN" dirty="0"/>
              <a:t>    char str[] = "</a:t>
            </a:r>
            <a:r>
              <a:rPr lang="en-US" altLang="zh-CN" dirty="0" err="1"/>
              <a:t>abcabbbaaccdededeff</a:t>
            </a:r>
            <a:r>
              <a:rPr lang="en-US" altLang="zh-CN" dirty="0"/>
              <a:t>";</a:t>
            </a:r>
          </a:p>
          <a:p>
            <a:r>
              <a:rPr lang="en-US" altLang="zh-CN" dirty="0"/>
              <a:t>    </a:t>
            </a:r>
            <a:r>
              <a:rPr lang="en-US" altLang="zh-CN" dirty="0" err="1"/>
              <a:t>printf</a:t>
            </a:r>
            <a:r>
              <a:rPr lang="en-US" altLang="zh-CN" dirty="0"/>
              <a:t>("Original string: %s\n", str);</a:t>
            </a:r>
          </a:p>
          <a:p>
            <a:r>
              <a:rPr lang="en-US" altLang="zh-CN" dirty="0"/>
              <a:t>    </a:t>
            </a:r>
            <a:r>
              <a:rPr lang="en-US" altLang="zh-CN" dirty="0" err="1"/>
              <a:t>removeExcessCharacters</a:t>
            </a:r>
            <a:r>
              <a:rPr lang="en-US" altLang="zh-CN" dirty="0"/>
              <a:t>(str);</a:t>
            </a:r>
          </a:p>
          <a:p>
            <a:r>
              <a:rPr lang="en-US" altLang="zh-CN" dirty="0"/>
              <a:t>    </a:t>
            </a:r>
            <a:r>
              <a:rPr lang="en-US" altLang="zh-CN" dirty="0" err="1"/>
              <a:t>printf</a:t>
            </a:r>
            <a:r>
              <a:rPr lang="en-US" altLang="zh-CN" dirty="0"/>
              <a:t>("Modified string: %s\n", str);</a:t>
            </a:r>
          </a:p>
          <a:p>
            <a:r>
              <a:rPr lang="en-US" altLang="zh-CN" dirty="0"/>
              <a:t>    return 0;</a:t>
            </a:r>
          </a:p>
          <a:p>
            <a:r>
              <a:rPr lang="en-US" altLang="zh-CN" dirty="0"/>
              <a:t>}</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E1EED916-453B-4C84-8C2E-64310FCCD523}" type="slidenum">
              <a:rPr lang="en-US" altLang="zh-CN" smtClean="0"/>
              <a:pPr>
                <a:defRPr/>
              </a:pPr>
              <a:t>63</a:t>
            </a:fld>
            <a:endParaRPr lang="en-US" altLang="zh-CN"/>
          </a:p>
        </p:txBody>
      </p:sp>
    </p:spTree>
    <p:extLst>
      <p:ext uri="{BB962C8B-B14F-4D97-AF65-F5344CB8AC3E}">
        <p14:creationId xmlns:p14="http://schemas.microsoft.com/office/powerpoint/2010/main" val="205370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1EED916-453B-4C84-8C2E-64310FCCD523}" type="slidenum">
              <a:rPr lang="en-US" altLang="zh-CN" smtClean="0"/>
              <a:pPr>
                <a:defRPr/>
              </a:pPr>
              <a:t>68</a:t>
            </a:fld>
            <a:endParaRPr lang="en-US" altLang="zh-CN"/>
          </a:p>
        </p:txBody>
      </p:sp>
    </p:spTree>
    <p:extLst>
      <p:ext uri="{BB962C8B-B14F-4D97-AF65-F5344CB8AC3E}">
        <p14:creationId xmlns:p14="http://schemas.microsoft.com/office/powerpoint/2010/main" val="40883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1EED916-453B-4C84-8C2E-64310FCCD523}" type="slidenum">
              <a:rPr lang="en-US" altLang="zh-CN" smtClean="0"/>
              <a:pPr>
                <a:defRPr/>
              </a:pPr>
              <a:t>70</a:t>
            </a:fld>
            <a:endParaRPr lang="en-US" altLang="zh-CN"/>
          </a:p>
        </p:txBody>
      </p:sp>
    </p:spTree>
    <p:extLst>
      <p:ext uri="{BB962C8B-B14F-4D97-AF65-F5344CB8AC3E}">
        <p14:creationId xmlns:p14="http://schemas.microsoft.com/office/powerpoint/2010/main" val="673375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pt-BR" altLang="zh-CN" dirty="0"/>
              <a:t>#include &lt;stdio.h&gt;</a:t>
            </a:r>
          </a:p>
          <a:p>
            <a:r>
              <a:rPr lang="pt-BR" altLang="zh-CN" dirty="0"/>
              <a:t>int main() {</a:t>
            </a:r>
          </a:p>
          <a:p>
            <a:r>
              <a:rPr lang="pt-BR" altLang="zh-CN" dirty="0"/>
              <a:t>	short a[2][3] = {1,2,3,4,5,6};</a:t>
            </a:r>
          </a:p>
          <a:p>
            <a:r>
              <a:rPr lang="pt-BR" altLang="zh-CN" dirty="0"/>
              <a:t>	printf("a = %p\n",a);</a:t>
            </a:r>
          </a:p>
          <a:p>
            <a:r>
              <a:rPr lang="pt-BR" altLang="zh-CN" dirty="0"/>
              <a:t>	printf("a[0] = %p\n",a[0]);</a:t>
            </a:r>
          </a:p>
          <a:p>
            <a:r>
              <a:rPr lang="pt-BR" altLang="zh-CN" dirty="0"/>
              <a:t>	printf("a+1 = %p\n",a+1);</a:t>
            </a:r>
          </a:p>
          <a:p>
            <a:r>
              <a:rPr lang="pt-BR" altLang="zh-CN" dirty="0"/>
              <a:t>	printf("a[0]+1 = %p\n",a[0]+1);</a:t>
            </a:r>
          </a:p>
          <a:p>
            <a:r>
              <a:rPr lang="pt-BR" altLang="zh-CN" dirty="0"/>
              <a:t>    	printf("a+0 = %p\n",a+0);</a:t>
            </a:r>
          </a:p>
          <a:p>
            <a:r>
              <a:rPr lang="pt-BR" altLang="zh-CN" dirty="0"/>
              <a:t>    	printf("*(a+0) = %p\n",*(a+0));</a:t>
            </a:r>
          </a:p>
          <a:p>
            <a:r>
              <a:rPr lang="pt-BR" altLang="zh-CN" dirty="0"/>
              <a:t>    printf("a[0] = %p\n",a[0]);</a:t>
            </a:r>
          </a:p>
          <a:p>
            <a:r>
              <a:rPr lang="pt-BR" altLang="zh-CN" dirty="0"/>
              <a:t>	printf("a[0]+0 = %p\n",a[0]+0);</a:t>
            </a:r>
          </a:p>
          <a:p>
            <a:r>
              <a:rPr lang="pt-BR" altLang="zh-CN" dirty="0"/>
              <a:t>    printf("*(a[0]+0) = %p\n",*(a[0]+0));</a:t>
            </a:r>
          </a:p>
          <a:p>
            <a:r>
              <a:rPr lang="pt-BR" altLang="zh-CN" dirty="0"/>
              <a:t>    printf("a[0][0] = %p\n",a[0][0]);</a:t>
            </a:r>
          </a:p>
          <a:p>
            <a:endParaRPr lang="pt-BR" altLang="zh-CN" dirty="0"/>
          </a:p>
          <a:p>
            <a:r>
              <a:rPr lang="pt-BR" altLang="zh-CN" dirty="0"/>
              <a:t>	return 0;</a:t>
            </a:r>
          </a:p>
          <a:p>
            <a:r>
              <a:rPr lang="pt-BR" altLang="zh-CN" dirty="0"/>
              <a:t>}</a:t>
            </a:r>
          </a:p>
          <a:p>
            <a:endParaRPr lang="pt-BR" altLang="zh-CN" dirty="0"/>
          </a:p>
          <a:p>
            <a:endParaRPr lang="pt-BR"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E1EED916-453B-4C84-8C2E-64310FCCD523}" type="slidenum">
              <a:rPr lang="en-US" altLang="zh-CN" smtClean="0"/>
              <a:pPr>
                <a:defRPr/>
              </a:pPr>
              <a:t>71</a:t>
            </a:fld>
            <a:endParaRPr lang="en-US" altLang="zh-CN"/>
          </a:p>
        </p:txBody>
      </p:sp>
    </p:spTree>
    <p:extLst>
      <p:ext uri="{BB962C8B-B14F-4D97-AF65-F5344CB8AC3E}">
        <p14:creationId xmlns:p14="http://schemas.microsoft.com/office/powerpoint/2010/main" val="34444284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ltLang="zh-CN"/>
          </a:p>
        </p:txBody>
      </p:sp>
      <p:sp>
        <p:nvSpPr>
          <p:cNvPr id="5" name="Footer Placeholder 18"/>
          <p:cNvSpPr>
            <a:spLocks noGrp="1"/>
          </p:cNvSpPr>
          <p:nvPr>
            <p:ph type="ftr" sz="quarter" idx="11"/>
          </p:nvPr>
        </p:nvSpPr>
        <p:spPr/>
        <p:txBody>
          <a:bodyPr/>
          <a:lstStyle>
            <a:lvl1pPr>
              <a:defRPr/>
            </a:lvl1pPr>
          </a:lstStyle>
          <a:p>
            <a:pPr>
              <a:defRPr/>
            </a:pPr>
            <a:endParaRPr lang="en-US" altLang="zh-CN"/>
          </a:p>
        </p:txBody>
      </p:sp>
      <p:sp>
        <p:nvSpPr>
          <p:cNvPr id="6" name="Slide Number Placeholder 26"/>
          <p:cNvSpPr>
            <a:spLocks noGrp="1"/>
          </p:cNvSpPr>
          <p:nvPr>
            <p:ph type="sldNum" sz="quarter" idx="12"/>
          </p:nvPr>
        </p:nvSpPr>
        <p:spPr/>
        <p:txBody>
          <a:bodyPr/>
          <a:lstStyle>
            <a:lvl1pPr>
              <a:defRPr/>
            </a:lvl1pPr>
          </a:lstStyle>
          <a:p>
            <a:pPr>
              <a:defRPr/>
            </a:pPr>
            <a:fld id="{5AAE3AFA-1158-48A1-9718-59602B57044E}"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4C02CBC6-E8D8-4A37-96BD-A7C68420EB00}"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91DFCCC0-3485-421B-A51E-7E6641E7F686}"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01329833-B609-4F7C-865F-713FD1DDA7C6}"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ltLang="zh-CN"/>
          </a:p>
        </p:txBody>
      </p:sp>
      <p:sp>
        <p:nvSpPr>
          <p:cNvPr id="8" name="Footer Placeholder 21"/>
          <p:cNvSpPr>
            <a:spLocks noGrp="1"/>
          </p:cNvSpPr>
          <p:nvPr>
            <p:ph type="ftr" sz="quarter" idx="11"/>
          </p:nvPr>
        </p:nvSpPr>
        <p:spPr/>
        <p:txBody>
          <a:bodyPr/>
          <a:lstStyle>
            <a:lvl1pPr>
              <a:defRPr/>
            </a:lvl1pPr>
          </a:lstStyle>
          <a:p>
            <a:pPr>
              <a:defRPr/>
            </a:pPr>
            <a:endParaRPr lang="en-US" altLang="zh-CN"/>
          </a:p>
        </p:txBody>
      </p:sp>
      <p:sp>
        <p:nvSpPr>
          <p:cNvPr id="9" name="Slide Number Placeholder 17"/>
          <p:cNvSpPr>
            <a:spLocks noGrp="1"/>
          </p:cNvSpPr>
          <p:nvPr>
            <p:ph type="sldNum" sz="quarter" idx="12"/>
          </p:nvPr>
        </p:nvSpPr>
        <p:spPr/>
        <p:txBody>
          <a:bodyPr/>
          <a:lstStyle>
            <a:lvl1pPr>
              <a:defRPr/>
            </a:lvl1pPr>
          </a:lstStyle>
          <a:p>
            <a:pPr>
              <a:defRPr/>
            </a:pPr>
            <a:fld id="{3E99659E-A15F-4DA2-A9F4-338CC5228741}"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pPr>
              <a:defRPr/>
            </a:pPr>
            <a:fld id="{ECFEB871-393E-46BA-B6DA-618B7417D10D}"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ltLang="zh-CN"/>
          </a:p>
        </p:txBody>
      </p:sp>
      <p:sp>
        <p:nvSpPr>
          <p:cNvPr id="3" name="Footer Placeholder 21"/>
          <p:cNvSpPr>
            <a:spLocks noGrp="1"/>
          </p:cNvSpPr>
          <p:nvPr>
            <p:ph type="ftr" sz="quarter" idx="11"/>
          </p:nvPr>
        </p:nvSpPr>
        <p:spPr/>
        <p:txBody>
          <a:bodyPr/>
          <a:lstStyle>
            <a:lvl1pPr>
              <a:defRPr/>
            </a:lvl1pPr>
          </a:lstStyle>
          <a:p>
            <a:pPr>
              <a:defRPr/>
            </a:pPr>
            <a:endParaRPr lang="en-US" altLang="zh-CN"/>
          </a:p>
        </p:txBody>
      </p:sp>
      <p:sp>
        <p:nvSpPr>
          <p:cNvPr id="4" name="Slide Number Placeholder 17"/>
          <p:cNvSpPr>
            <a:spLocks noGrp="1"/>
          </p:cNvSpPr>
          <p:nvPr>
            <p:ph type="sldNum" sz="quarter" idx="12"/>
          </p:nvPr>
        </p:nvSpPr>
        <p:spPr/>
        <p:txBody>
          <a:bodyPr/>
          <a:lstStyle>
            <a:lvl1pPr>
              <a:defRPr/>
            </a:lvl1pPr>
          </a:lstStyle>
          <a:p>
            <a:pPr>
              <a:defRPr/>
            </a:pPr>
            <a:fld id="{5CD5BF75-626E-4FD0-96C9-A6E26A487931}"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63EFBE6C-08C5-481C-8CCD-F34115AE53A3}"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ight Triangle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Freeform 15"/>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ea typeface="+mn-ea"/>
            </a:endParaRPr>
          </a:p>
        </p:txBody>
      </p:sp>
      <p:sp>
        <p:nvSpPr>
          <p:cNvPr id="8" name="Freeform 16"/>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ltLang="zh-CN"/>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ltLang="zh-CN"/>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ltLang="zh-CN"/>
          </a:p>
        </p:txBody>
      </p:sp>
      <p:sp>
        <p:nvSpPr>
          <p:cNvPr id="10" name="Footer Placeholder 5"/>
          <p:cNvSpPr>
            <a:spLocks noGrp="1"/>
          </p:cNvSpPr>
          <p:nvPr>
            <p:ph type="ftr" sz="quarter" idx="11"/>
          </p:nvPr>
        </p:nvSpPr>
        <p:spPr/>
        <p:txBody>
          <a:bodyPr/>
          <a:lstStyle>
            <a:lvl1pPr>
              <a:defRPr/>
            </a:lvl1pPr>
          </a:lstStyle>
          <a:p>
            <a:pPr>
              <a:defRPr/>
            </a:pPr>
            <a:endParaRPr lang="en-US" altLang="zh-C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18CDE7D7-F053-4AC0-A462-493626B49EDC}"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90759381-7223-4740-897F-3C2F587737E4}"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B72CD3F1-9F19-44EB-92AD-AA140B3DD823}"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A05F96F3-FDD1-4544-B38C-F8A9189F805A}"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ea typeface="+mn-ea"/>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ltLang="zh-CN"/>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41065617-0C6B-4AA5-B69D-80D03446E371}" type="slidenum">
              <a:rPr lang="en-US" altLang="zh-CN"/>
              <a:pPr>
                <a:defRPr/>
              </a:pPr>
              <a:t>‹#›</a:t>
            </a:fld>
            <a:endParaRPr lang="en-US" altLang="zh-CN"/>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792" r:id="rId1"/>
    <p:sldLayoutId id="2147483783" r:id="rId2"/>
    <p:sldLayoutId id="2147483793" r:id="rId3"/>
    <p:sldLayoutId id="2147483784" r:id="rId4"/>
    <p:sldLayoutId id="2147483785" r:id="rId5"/>
    <p:sldLayoutId id="2147483786" r:id="rId6"/>
    <p:sldLayoutId id="2147483787" r:id="rId7"/>
    <p:sldLayoutId id="2147483788" r:id="rId8"/>
    <p:sldLayoutId id="2147483794" r:id="rId9"/>
    <p:sldLayoutId id="2147483789" r:id="rId10"/>
    <p:sldLayoutId id="2147483790" r:id="rId11"/>
    <p:sldLayoutId id="2147483791" r:id="rId12"/>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wmf"/><Relationship Id="rId4" Type="http://schemas.openxmlformats.org/officeDocument/2006/relationships/image" Target="../media/image3.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hyperlink" Target="file:///D:\tc\TC.EX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wmf"/><Relationship Id="rId2" Type="http://schemas.openxmlformats.org/officeDocument/2006/relationships/image" Target="../media/image2.gif"/><Relationship Id="rId1" Type="http://schemas.openxmlformats.org/officeDocument/2006/relationships/slideLayout" Target="../slideLayouts/slideLayout7.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2.gi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normAutofit/>
          </a:bodyPr>
          <a:lstStyle/>
          <a:p>
            <a:pPr eaLnBrk="1" fontAlgn="auto" hangingPunct="1">
              <a:spcAft>
                <a:spcPts val="0"/>
              </a:spcAft>
              <a:defRPr/>
            </a:pPr>
            <a:r>
              <a:rPr lang="zh-CN" altLang="en-US" sz="4000" b="1" dirty="0">
                <a:solidFill>
                  <a:schemeClr val="tx1"/>
                </a:solidFill>
                <a:effectLst>
                  <a:outerShdw blurRad="38100" dist="38100" dir="2700000" algn="tl">
                    <a:srgbClr val="C0C0C0"/>
                  </a:outerShdw>
                </a:effectLst>
                <a:latin typeface="黑体" pitchFamily="2" charset="-122"/>
                <a:ea typeface="黑体" pitchFamily="2" charset="-122"/>
              </a:rPr>
              <a:t>第</a:t>
            </a:r>
            <a:r>
              <a:rPr lang="en-US" altLang="zh-CN" sz="4000" b="1" dirty="0">
                <a:solidFill>
                  <a:schemeClr val="tx1"/>
                </a:solidFill>
                <a:effectLst>
                  <a:outerShdw blurRad="38100" dist="38100" dir="2700000" algn="tl">
                    <a:srgbClr val="C0C0C0"/>
                  </a:outerShdw>
                </a:effectLst>
                <a:latin typeface="黑体" pitchFamily="2" charset="-122"/>
                <a:ea typeface="黑体" pitchFamily="2" charset="-122"/>
              </a:rPr>
              <a:t>6</a:t>
            </a:r>
            <a:r>
              <a:rPr lang="zh-CN" altLang="en-US" sz="4000" b="1" dirty="0">
                <a:solidFill>
                  <a:schemeClr val="tx1"/>
                </a:solidFill>
                <a:effectLst>
                  <a:outerShdw blurRad="38100" dist="38100" dir="2700000" algn="tl">
                    <a:srgbClr val="C0C0C0"/>
                  </a:outerShdw>
                </a:effectLst>
                <a:latin typeface="黑体" pitchFamily="2" charset="-122"/>
                <a:ea typeface="黑体" pitchFamily="2" charset="-122"/>
              </a:rPr>
              <a:t>章 指针</a:t>
            </a:r>
          </a:p>
        </p:txBody>
      </p:sp>
      <p:sp>
        <p:nvSpPr>
          <p:cNvPr id="2051" name="Rectangle 3"/>
          <p:cNvSpPr>
            <a:spLocks noGrp="1" noChangeArrowheads="1"/>
          </p:cNvSpPr>
          <p:nvPr>
            <p:ph idx="1"/>
          </p:nvPr>
        </p:nvSpPr>
        <p:spPr/>
        <p:txBody>
          <a:bodyPr>
            <a:normAutofit/>
          </a:bodyPr>
          <a:lstStyle/>
          <a:p>
            <a:pPr marL="274320" indent="-274320" eaLnBrk="1" fontAlgn="auto" hangingPunct="1">
              <a:lnSpc>
                <a:spcPct val="90000"/>
              </a:lnSpc>
              <a:spcAft>
                <a:spcPts val="0"/>
              </a:spcAft>
              <a:buClr>
                <a:schemeClr val="accent3"/>
              </a:buClr>
              <a:buFont typeface="Wingdings 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本章学习的目标：</a:t>
            </a:r>
          </a:p>
          <a:p>
            <a:pPr marL="274320" indent="-274320" eaLnBrk="1" fontAlgn="auto" hangingPunct="1">
              <a:lnSpc>
                <a:spcPct val="90000"/>
              </a:lnSpc>
              <a:spcAft>
                <a:spcPts val="0"/>
              </a:spcAft>
              <a:buClr>
                <a:schemeClr val="accent3"/>
              </a:buClr>
              <a:buFont typeface="Wingdings 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1</a:t>
            </a:r>
            <a:r>
              <a:rPr lang="zh-CN" altLang="en-US" sz="2400" b="1" dirty="0">
                <a:effectLst>
                  <a:outerShdw blurRad="38100" dist="38100" dir="2700000" algn="tl">
                    <a:srgbClr val="C0C0C0"/>
                  </a:outerShdw>
                </a:effectLst>
                <a:latin typeface="楷体_GB2312" pitchFamily="49" charset="-122"/>
                <a:ea typeface="楷体_GB2312" pitchFamily="49" charset="-122"/>
              </a:rPr>
              <a:t>、掌握指针的基本概念；</a:t>
            </a:r>
          </a:p>
          <a:p>
            <a:pPr marL="274320" indent="-274320" eaLnBrk="1" fontAlgn="auto" hangingPunct="1">
              <a:lnSpc>
                <a:spcPct val="90000"/>
              </a:lnSpc>
              <a:spcAft>
                <a:spcPts val="0"/>
              </a:spcAft>
              <a:buClr>
                <a:schemeClr val="accent3"/>
              </a:buClr>
              <a:buFont typeface="Wingdings 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2</a:t>
            </a:r>
            <a:r>
              <a:rPr lang="zh-CN" altLang="en-US" sz="2400" b="1" dirty="0">
                <a:effectLst>
                  <a:outerShdw blurRad="38100" dist="38100" dir="2700000" algn="tl">
                    <a:srgbClr val="C0C0C0"/>
                  </a:outerShdw>
                </a:effectLst>
                <a:latin typeface="楷体_GB2312" pitchFamily="49" charset="-122"/>
                <a:ea typeface="楷体_GB2312" pitchFamily="49" charset="-122"/>
              </a:rPr>
              <a:t>、掌握指向数组元素指针的用法；</a:t>
            </a:r>
          </a:p>
          <a:p>
            <a:pPr marL="274320" indent="-274320" eaLnBrk="1" fontAlgn="auto" hangingPunct="1">
              <a:lnSpc>
                <a:spcPct val="90000"/>
              </a:lnSpc>
              <a:spcAft>
                <a:spcPts val="0"/>
              </a:spcAft>
              <a:buClr>
                <a:schemeClr val="accent3"/>
              </a:buClr>
              <a:buFont typeface="Wingdings 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3</a:t>
            </a:r>
            <a:r>
              <a:rPr lang="zh-CN" altLang="en-US" sz="2400" b="1" dirty="0">
                <a:effectLst>
                  <a:outerShdw blurRad="38100" dist="38100" dir="2700000" algn="tl">
                    <a:srgbClr val="C0C0C0"/>
                  </a:outerShdw>
                </a:effectLst>
                <a:latin typeface="楷体_GB2312" pitchFamily="49" charset="-122"/>
                <a:ea typeface="楷体_GB2312" pitchFamily="49" charset="-122"/>
              </a:rPr>
              <a:t>、掌握指针形参的作用和用法；</a:t>
            </a:r>
          </a:p>
          <a:p>
            <a:pPr marL="274320" indent="-274320" eaLnBrk="1" fontAlgn="auto" hangingPunct="1">
              <a:lnSpc>
                <a:spcPct val="90000"/>
              </a:lnSpc>
              <a:spcAft>
                <a:spcPts val="0"/>
              </a:spcAft>
              <a:buClr>
                <a:schemeClr val="accent3"/>
              </a:buClr>
              <a:buFont typeface="Wingdings 2"/>
              <a:buNone/>
              <a:defRPr/>
            </a:pPr>
            <a:endParaRPr lang="zh-CN" altLang="en-US" sz="2400" b="1" dirty="0">
              <a:effectLst>
                <a:outerShdw blurRad="38100" dist="38100" dir="2700000" algn="tl">
                  <a:srgbClr val="C0C0C0"/>
                </a:outerShdw>
              </a:effectLst>
              <a:latin typeface="楷体_GB2312" pitchFamily="49" charset="-122"/>
              <a:ea typeface="楷体_GB2312" pitchFamily="49" charset="-122"/>
            </a:endParaRPr>
          </a:p>
        </p:txBody>
      </p:sp>
      <p:sp>
        <p:nvSpPr>
          <p:cNvPr id="4" name="Slide Number Placeholder 3"/>
          <p:cNvSpPr>
            <a:spLocks noGrp="1"/>
          </p:cNvSpPr>
          <p:nvPr>
            <p:ph type="sldNum" sz="quarter" idx="12"/>
          </p:nvPr>
        </p:nvSpPr>
        <p:spPr/>
        <p:txBody>
          <a:bodyPr/>
          <a:lstStyle/>
          <a:p>
            <a:pPr>
              <a:defRPr/>
            </a:pPr>
            <a:fld id="{814F8CC3-B5EB-4E62-BCF8-34A885DB8F39}" type="slidenum">
              <a:rPr lang="en-US" altLang="zh-CN"/>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04800" y="228600"/>
            <a:ext cx="8610600" cy="685800"/>
          </a:xfrm>
        </p:spPr>
        <p:txBody>
          <a:bodyPr>
            <a:normAutofit/>
          </a:bodyPr>
          <a:lstStyle/>
          <a:p>
            <a:pPr eaLnBrk="1" fontAlgn="auto" hangingPunct="1">
              <a:spcAft>
                <a:spcPts val="0"/>
              </a:spcAft>
              <a:defRPr/>
            </a:pPr>
            <a:r>
              <a:rPr lang="en-US" altLang="zh-CN" sz="4000" b="1" dirty="0">
                <a:solidFill>
                  <a:schemeClr val="tx1"/>
                </a:solidFill>
                <a:effectLst>
                  <a:outerShdw blurRad="38100" dist="38100" dir="2700000" algn="tl">
                    <a:srgbClr val="C0C0C0"/>
                  </a:outerShdw>
                </a:effectLst>
                <a:latin typeface="黑体" pitchFamily="2" charset="-122"/>
                <a:ea typeface="黑体" pitchFamily="2" charset="-122"/>
              </a:rPr>
              <a:t>6.1 </a:t>
            </a:r>
            <a:r>
              <a:rPr lang="zh-CN" altLang="en-US" sz="4000" b="1" dirty="0">
                <a:solidFill>
                  <a:schemeClr val="tx1"/>
                </a:solidFill>
                <a:effectLst>
                  <a:outerShdw blurRad="38100" dist="38100" dir="2700000" algn="tl">
                    <a:srgbClr val="C0C0C0"/>
                  </a:outerShdw>
                </a:effectLst>
                <a:latin typeface="黑体" pitchFamily="2" charset="-122"/>
                <a:ea typeface="黑体" pitchFamily="2" charset="-122"/>
              </a:rPr>
              <a:t>指针基本概念</a:t>
            </a:r>
          </a:p>
        </p:txBody>
      </p:sp>
      <p:sp>
        <p:nvSpPr>
          <p:cNvPr id="38915" name="Rectangle 3"/>
          <p:cNvSpPr>
            <a:spLocks noGrp="1" noChangeArrowheads="1"/>
          </p:cNvSpPr>
          <p:nvPr>
            <p:ph idx="1"/>
          </p:nvPr>
        </p:nvSpPr>
        <p:spPr>
          <a:xfrm>
            <a:off x="468313" y="1163638"/>
            <a:ext cx="8280400" cy="5721350"/>
          </a:xfrm>
        </p:spPr>
        <p:txBody>
          <a:bodyPr>
            <a:normAutofit/>
          </a:bodyPr>
          <a:lstStyle/>
          <a:p>
            <a:pPr marL="0" indent="0" algn="just"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指针是系统程序设计语言的一个重要概念。指针在</a:t>
            </a:r>
            <a:r>
              <a:rPr lang="en-US" altLang="zh-CN" sz="2800" b="1" dirty="0">
                <a:effectLst>
                  <a:outerShdw blurRad="38100" dist="38100" dir="2700000" algn="tl">
                    <a:srgbClr val="C0C0C0"/>
                  </a:outerShdw>
                </a:effectLst>
                <a:latin typeface="楷体_GB2312" pitchFamily="49" charset="-122"/>
                <a:ea typeface="楷体_GB2312" pitchFamily="49" charset="-122"/>
              </a:rPr>
              <a:t>C</a:t>
            </a:r>
            <a:r>
              <a:rPr lang="zh-CN" altLang="en-US" sz="2800" b="1" dirty="0">
                <a:effectLst>
                  <a:outerShdw blurRad="38100" dist="38100" dir="2700000" algn="tl">
                    <a:srgbClr val="C0C0C0"/>
                  </a:outerShdw>
                </a:effectLst>
                <a:latin typeface="楷体_GB2312" pitchFamily="49" charset="-122"/>
                <a:ea typeface="楷体_GB2312" pitchFamily="49" charset="-122"/>
              </a:rPr>
              <a:t>程序中有以下多方面的作用：</a:t>
            </a:r>
          </a:p>
          <a:p>
            <a:pPr marL="0" indent="0" algn="just"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利用指针能间接引用它所指的对象。</a:t>
            </a:r>
          </a:p>
          <a:p>
            <a:pPr marL="0" indent="0" algn="just"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(2)</a:t>
            </a:r>
            <a:r>
              <a:rPr lang="zh-CN" altLang="en-US" sz="2800" b="1" dirty="0">
                <a:effectLst>
                  <a:outerShdw blurRad="38100" dist="38100" dir="2700000" algn="tl">
                    <a:srgbClr val="C0C0C0"/>
                  </a:outerShdw>
                </a:effectLst>
                <a:latin typeface="楷体_GB2312" pitchFamily="49" charset="-122"/>
                <a:ea typeface="楷体_GB2312" pitchFamily="49" charset="-122"/>
              </a:rPr>
              <a:t>指针能用来描述数据和数据之间的关系，以便构造复杂的数据结构。</a:t>
            </a:r>
          </a:p>
          <a:p>
            <a:pPr marL="0" indent="0" algn="just"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(3)</a:t>
            </a:r>
            <a:r>
              <a:rPr lang="zh-CN" altLang="en-US" sz="2800" b="1" dirty="0">
                <a:effectLst>
                  <a:outerShdw blurRad="38100" dist="38100" dir="2700000" algn="tl">
                    <a:srgbClr val="C0C0C0"/>
                  </a:outerShdw>
                </a:effectLst>
                <a:latin typeface="楷体_GB2312" pitchFamily="49" charset="-122"/>
                <a:ea typeface="楷体_GB2312" pitchFamily="49" charset="-122"/>
              </a:rPr>
              <a:t>利用指针形参，能使函数直接引用环境中的变量。</a:t>
            </a:r>
          </a:p>
          <a:p>
            <a:pPr marL="0" indent="0" algn="just"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(4)</a:t>
            </a:r>
            <a:r>
              <a:rPr lang="zh-CN" altLang="en-US" sz="2800" b="1" dirty="0">
                <a:effectLst>
                  <a:outerShdw blurRad="38100" dist="38100" dir="2700000" algn="tl">
                    <a:srgbClr val="C0C0C0"/>
                  </a:outerShdw>
                </a:effectLst>
                <a:latin typeface="楷体_GB2312" pitchFamily="49" charset="-122"/>
                <a:ea typeface="楷体_GB2312" pitchFamily="49" charset="-122"/>
              </a:rPr>
              <a:t>指针与数组结合，使引用数组元素的形式更加多样、更加灵活。</a:t>
            </a:r>
          </a:p>
          <a:p>
            <a:pPr marL="0" indent="0" algn="just"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(5)</a:t>
            </a:r>
            <a:r>
              <a:rPr lang="zh-CN" altLang="en-US" sz="2800" b="1" dirty="0">
                <a:effectLst>
                  <a:outerShdw blurRad="38100" dist="38100" dir="2700000" algn="tl">
                    <a:srgbClr val="C0C0C0"/>
                  </a:outerShdw>
                </a:effectLst>
                <a:latin typeface="楷体_GB2312" pitchFamily="49" charset="-122"/>
                <a:ea typeface="楷体_GB2312" pitchFamily="49" charset="-122"/>
              </a:rPr>
              <a:t>正确熟练应用指针可以写出紧凑高效的程序</a:t>
            </a:r>
            <a:r>
              <a:rPr lang="zh-CN" altLang="en-US" sz="2800" dirty="0">
                <a:latin typeface="楷体_GB2312" pitchFamily="49" charset="-122"/>
                <a:ea typeface="楷体_GB2312" pitchFamily="49" charset="-122"/>
              </a:rPr>
              <a:t>。</a:t>
            </a:r>
            <a:endParaRPr lang="zh-CN" altLang="en-US" sz="2800" b="1" dirty="0">
              <a:effectLst>
                <a:outerShdw blurRad="38100" dist="38100" dir="2700000" algn="tl">
                  <a:srgbClr val="C0C0C0"/>
                </a:outerShdw>
              </a:effectLst>
              <a:latin typeface="楷体_GB2312" pitchFamily="49" charset="-122"/>
              <a:ea typeface="楷体_GB2312" pitchFamily="49" charset="-122"/>
            </a:endParaRPr>
          </a:p>
        </p:txBody>
      </p:sp>
      <p:sp>
        <p:nvSpPr>
          <p:cNvPr id="4" name="Slide Number Placeholder 3"/>
          <p:cNvSpPr>
            <a:spLocks noGrp="1"/>
          </p:cNvSpPr>
          <p:nvPr>
            <p:ph type="sldNum" sz="quarter" idx="12"/>
          </p:nvPr>
        </p:nvSpPr>
        <p:spPr/>
        <p:txBody>
          <a:bodyPr/>
          <a:lstStyle/>
          <a:p>
            <a:pPr>
              <a:defRPr/>
            </a:pPr>
            <a:fld id="{EDADCADD-AE15-41E1-AB04-EF28507F4921}" type="slidenum">
              <a:rPr lang="en-US" altLang="zh-CN"/>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a:xfrm>
            <a:off x="539750" y="549275"/>
            <a:ext cx="8355013" cy="719485"/>
          </a:xfrm>
        </p:spPr>
        <p:txBody>
          <a:bodyPr/>
          <a:lstStyle/>
          <a:p>
            <a:pPr>
              <a:defRPr/>
            </a:pPr>
            <a:r>
              <a:rPr lang="zh-CN" altLang="en-US" sz="4000" dirty="0"/>
              <a:t>变量的内存地址</a:t>
            </a:r>
            <a:endParaRPr lang="en-US" altLang="zh-CN" sz="4000" dirty="0"/>
          </a:p>
        </p:txBody>
      </p:sp>
      <p:grpSp>
        <p:nvGrpSpPr>
          <p:cNvPr id="2" name="Group 49"/>
          <p:cNvGrpSpPr>
            <a:grpSpLocks/>
          </p:cNvGrpSpPr>
          <p:nvPr/>
        </p:nvGrpSpPr>
        <p:grpSpPr bwMode="auto">
          <a:xfrm>
            <a:off x="428625" y="2779713"/>
            <a:ext cx="2857500" cy="1079500"/>
            <a:chOff x="542" y="1480"/>
            <a:chExt cx="1800" cy="680"/>
          </a:xfrm>
        </p:grpSpPr>
        <p:sp>
          <p:nvSpPr>
            <p:cNvPr id="616465" name="Line 17"/>
            <p:cNvSpPr>
              <a:spLocks noChangeShapeType="1"/>
            </p:cNvSpPr>
            <p:nvPr/>
          </p:nvSpPr>
          <p:spPr bwMode="auto">
            <a:xfrm flipH="1">
              <a:off x="1066" y="1768"/>
              <a:ext cx="229" cy="392"/>
            </a:xfrm>
            <a:prstGeom prst="line">
              <a:avLst/>
            </a:prstGeom>
            <a:noFill/>
            <a:ln w="57150" cmpd="thinThick">
              <a:solidFill>
                <a:schemeClr val="tx1"/>
              </a:solidFill>
              <a:round/>
              <a:headEnd/>
              <a:tailEnd type="stealth" w="med" len="med"/>
            </a:ln>
            <a:effectLst/>
          </p:spPr>
          <p:txBody>
            <a:bodyPr wrap="none"/>
            <a:lstStyle/>
            <a:p>
              <a:pPr>
                <a:defRPr/>
              </a:pPr>
              <a:endParaRPr lang="zh-CN" altLang="en-US"/>
            </a:p>
          </p:txBody>
        </p:sp>
        <p:sp>
          <p:nvSpPr>
            <p:cNvPr id="9247" name="Rectangle 18"/>
            <p:cNvSpPr>
              <a:spLocks noChangeArrowheads="1"/>
            </p:cNvSpPr>
            <p:nvPr/>
          </p:nvSpPr>
          <p:spPr bwMode="auto">
            <a:xfrm>
              <a:off x="542" y="1480"/>
              <a:ext cx="1800" cy="288"/>
            </a:xfrm>
            <a:prstGeom prst="rect">
              <a:avLst/>
            </a:prstGeom>
            <a:solidFill>
              <a:srgbClr val="FFCC99"/>
            </a:solidFill>
            <a:ln w="9525">
              <a:solidFill>
                <a:srgbClr val="800000"/>
              </a:solidFill>
              <a:miter lim="800000"/>
              <a:headEnd/>
              <a:tailEnd/>
            </a:ln>
          </p:spPr>
          <p:txBody>
            <a:bodyPr wrap="none" anchor="ctr"/>
            <a:lstStyle/>
            <a:p>
              <a:pPr algn="ctr" eaLnBrk="1" hangingPunct="1">
                <a:defRPr/>
              </a:pPr>
              <a:r>
                <a:rPr kumimoji="1" lang="zh-CN" altLang="en-US" b="1" dirty="0">
                  <a:solidFill>
                    <a:srgbClr val="000066"/>
                  </a:solidFill>
                  <a:effectLst/>
                  <a:ea typeface="楷体_GB2312" pitchFamily="49" charset="-122"/>
                </a:rPr>
                <a:t>变量的地址</a:t>
              </a:r>
              <a:r>
                <a:rPr lang="en-US" altLang="zh-CN" dirty="0">
                  <a:solidFill>
                    <a:schemeClr val="accent2">
                      <a:lumMod val="50000"/>
                    </a:schemeClr>
                  </a:solidFill>
                </a:rPr>
                <a:t>(Address)</a:t>
              </a:r>
              <a:endParaRPr kumimoji="1" lang="zh-CN" altLang="en-US" b="1" dirty="0">
                <a:solidFill>
                  <a:schemeClr val="accent2">
                    <a:lumMod val="50000"/>
                  </a:schemeClr>
                </a:solidFill>
                <a:effectLst/>
                <a:ea typeface="楷体_GB2312" pitchFamily="49" charset="-122"/>
              </a:endParaRPr>
            </a:p>
          </p:txBody>
        </p:sp>
      </p:grpSp>
      <p:grpSp>
        <p:nvGrpSpPr>
          <p:cNvPr id="3" name="Group 48"/>
          <p:cNvGrpSpPr>
            <a:grpSpLocks/>
          </p:cNvGrpSpPr>
          <p:nvPr/>
        </p:nvGrpSpPr>
        <p:grpSpPr bwMode="auto">
          <a:xfrm>
            <a:off x="5435600" y="3906838"/>
            <a:ext cx="2736850" cy="601662"/>
            <a:chOff x="3379" y="2387"/>
            <a:chExt cx="1724" cy="379"/>
          </a:xfrm>
        </p:grpSpPr>
        <p:sp>
          <p:nvSpPr>
            <p:cNvPr id="9244" name="Rectangle 20"/>
            <p:cNvSpPr>
              <a:spLocks noChangeArrowheads="1"/>
            </p:cNvSpPr>
            <p:nvPr/>
          </p:nvSpPr>
          <p:spPr bwMode="auto">
            <a:xfrm>
              <a:off x="4195" y="2478"/>
              <a:ext cx="908" cy="288"/>
            </a:xfrm>
            <a:prstGeom prst="rect">
              <a:avLst/>
            </a:prstGeom>
            <a:solidFill>
              <a:srgbClr val="FFCC99"/>
            </a:solidFill>
            <a:ln w="952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zh-CN" altLang="en-US" b="1">
                  <a:solidFill>
                    <a:srgbClr val="000066"/>
                  </a:solidFill>
                  <a:effectLst/>
                  <a:ea typeface="楷体_GB2312" pitchFamily="49" charset="-122"/>
                </a:rPr>
                <a:t>变量名</a:t>
              </a:r>
            </a:p>
          </p:txBody>
        </p:sp>
        <p:sp>
          <p:nvSpPr>
            <p:cNvPr id="616469" name="Freeform 21"/>
            <p:cNvSpPr>
              <a:spLocks/>
            </p:cNvSpPr>
            <p:nvPr/>
          </p:nvSpPr>
          <p:spPr bwMode="auto">
            <a:xfrm flipV="1">
              <a:off x="3379" y="2387"/>
              <a:ext cx="816" cy="181"/>
            </a:xfrm>
            <a:custGeom>
              <a:avLst/>
              <a:gdLst/>
              <a:ahLst/>
              <a:cxnLst>
                <a:cxn ang="0">
                  <a:pos x="381" y="0"/>
                </a:cxn>
                <a:cxn ang="0">
                  <a:pos x="0" y="328"/>
                </a:cxn>
              </a:cxnLst>
              <a:rect l="0" t="0" r="r" b="b"/>
              <a:pathLst>
                <a:path w="381" h="328">
                  <a:moveTo>
                    <a:pt x="381" y="0"/>
                  </a:moveTo>
                  <a:lnTo>
                    <a:pt x="0" y="328"/>
                  </a:lnTo>
                </a:path>
              </a:pathLst>
            </a:custGeom>
            <a:noFill/>
            <a:ln w="57150" cmpd="thinThick">
              <a:solidFill>
                <a:schemeClr val="tx1"/>
              </a:solidFill>
              <a:round/>
              <a:headEnd/>
              <a:tailEnd type="stealth" w="med" len="med"/>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16475" name="Rectangle 27"/>
          <p:cNvSpPr>
            <a:spLocks noChangeArrowheads="1"/>
          </p:cNvSpPr>
          <p:nvPr/>
        </p:nvSpPr>
        <p:spPr bwMode="auto">
          <a:xfrm>
            <a:off x="2555875" y="3571875"/>
            <a:ext cx="3887788" cy="2952750"/>
          </a:xfrm>
          <a:prstGeom prst="rect">
            <a:avLst/>
          </a:prstGeom>
          <a:noFill/>
          <a:ln w="28575">
            <a:solidFill>
              <a:srgbClr val="80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nvGrpSpPr>
          <p:cNvPr id="4" name="Group 52"/>
          <p:cNvGrpSpPr>
            <a:grpSpLocks/>
          </p:cNvGrpSpPr>
          <p:nvPr/>
        </p:nvGrpSpPr>
        <p:grpSpPr bwMode="auto">
          <a:xfrm>
            <a:off x="3635375" y="1628775"/>
            <a:ext cx="5437188" cy="2160588"/>
            <a:chOff x="2290" y="1026"/>
            <a:chExt cx="3425" cy="1361"/>
          </a:xfrm>
        </p:grpSpPr>
        <p:sp>
          <p:nvSpPr>
            <p:cNvPr id="9242" name="Rectangle 29"/>
            <p:cNvSpPr>
              <a:spLocks noChangeArrowheads="1"/>
            </p:cNvSpPr>
            <p:nvPr/>
          </p:nvSpPr>
          <p:spPr bwMode="auto">
            <a:xfrm>
              <a:off x="2290" y="1026"/>
              <a:ext cx="3425" cy="973"/>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zh-CN" altLang="en-US" b="1">
                  <a:solidFill>
                    <a:srgbClr val="000066"/>
                  </a:solidFill>
                  <a:effectLst/>
                  <a:ea typeface="楷体_GB2312" pitchFamily="49" charset="-122"/>
                </a:rPr>
                <a:t>内存：计算机内的存储部件</a:t>
              </a:r>
            </a:p>
            <a:p>
              <a:pPr algn="ctr" eaLnBrk="1" hangingPunct="1"/>
              <a:r>
                <a:rPr lang="zh-CN" altLang="en-US" b="1">
                  <a:solidFill>
                    <a:srgbClr val="000066"/>
                  </a:solidFill>
                  <a:effectLst/>
                  <a:ea typeface="楷体_GB2312" pitchFamily="49" charset="-122"/>
                </a:rPr>
                <a:t>所有指令和数据都保存在内存里</a:t>
              </a:r>
            </a:p>
            <a:p>
              <a:pPr algn="ctr" eaLnBrk="1" hangingPunct="1"/>
              <a:r>
                <a:rPr lang="zh-CN" altLang="en-US" b="1">
                  <a:solidFill>
                    <a:srgbClr val="000066"/>
                  </a:solidFill>
                  <a:effectLst/>
                  <a:ea typeface="楷体_GB2312" pitchFamily="49" charset="-122"/>
                </a:rPr>
                <a:t>速度快，可随机访问，但掉电即失</a:t>
              </a:r>
            </a:p>
            <a:p>
              <a:pPr algn="ctr" eaLnBrk="1" hangingPunct="1"/>
              <a:r>
                <a:rPr kumimoji="1" lang="zh-CN" altLang="zh-CN" b="1">
                  <a:solidFill>
                    <a:srgbClr val="000066"/>
                  </a:solidFill>
                  <a:effectLst/>
                  <a:ea typeface="楷体_GB2312" pitchFamily="49" charset="-122"/>
                </a:rPr>
                <a:t>编译或函数调用时为变量分配内存单元</a:t>
              </a:r>
              <a:endParaRPr kumimoji="1" lang="zh-CN" altLang="en-US" b="1">
                <a:solidFill>
                  <a:srgbClr val="000066"/>
                </a:solidFill>
                <a:effectLst/>
                <a:ea typeface="楷体_GB2312" pitchFamily="49" charset="-122"/>
              </a:endParaRPr>
            </a:p>
          </p:txBody>
        </p:sp>
        <p:sp>
          <p:nvSpPr>
            <p:cNvPr id="616478" name="Freeform 30"/>
            <p:cNvSpPr>
              <a:spLocks/>
            </p:cNvSpPr>
            <p:nvPr/>
          </p:nvSpPr>
          <p:spPr bwMode="auto">
            <a:xfrm>
              <a:off x="3288" y="2015"/>
              <a:ext cx="245" cy="37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16480" name="Rectangle 32"/>
          <p:cNvSpPr>
            <a:spLocks noChangeArrowheads="1"/>
          </p:cNvSpPr>
          <p:nvPr/>
        </p:nvSpPr>
        <p:spPr bwMode="auto">
          <a:xfrm>
            <a:off x="2484438" y="3167063"/>
            <a:ext cx="1843087" cy="461962"/>
          </a:xfrm>
          <a:prstGeom prst="rect">
            <a:avLst/>
          </a:prstGeom>
          <a:noFill/>
          <a:ln w="12700">
            <a:noFill/>
            <a:miter lim="800000"/>
            <a:headEnd type="none" w="sm" len="sm"/>
            <a:tailEnd type="none" w="sm" len="sm"/>
          </a:ln>
          <a:effectLst/>
        </p:spPr>
        <p:txBody>
          <a:bodyPr wrap="none">
            <a:spAutoFit/>
          </a:bodyPr>
          <a:lstStyle/>
          <a:p>
            <a:pPr>
              <a:defRPr/>
            </a:pPr>
            <a:r>
              <a:rPr lang="en-US" altLang="zh-CN" b="1" dirty="0" err="1">
                <a:effectLst>
                  <a:outerShdw blurRad="38100" dist="38100" dir="2700000" algn="tl">
                    <a:srgbClr val="C0C0C0"/>
                  </a:outerShdw>
                </a:effectLst>
                <a:latin typeface="Courier New" pitchFamily="49" charset="0"/>
                <a:ea typeface="宋体" pitchFamily="2" charset="-122"/>
                <a:cs typeface="Courier New" pitchFamily="49" charset="0"/>
              </a:rPr>
              <a:t>int</a:t>
            </a: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  a=0;</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
        <p:nvSpPr>
          <p:cNvPr id="616481" name="Rectangle 33"/>
          <p:cNvSpPr>
            <a:spLocks noChangeArrowheads="1"/>
          </p:cNvSpPr>
          <p:nvPr/>
        </p:nvSpPr>
        <p:spPr bwMode="auto">
          <a:xfrm>
            <a:off x="900113" y="3716338"/>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x0037b000</a:t>
            </a:r>
            <a:endParaRPr lang="zh-CN" altLang="en-US" b="1">
              <a:effectLst>
                <a:outerShdw blurRad="38100" dist="38100" dir="2700000" algn="tl">
                  <a:srgbClr val="C0C0C0"/>
                </a:outerShdw>
              </a:effectLst>
              <a:ea typeface="宋体" pitchFamily="2" charset="-122"/>
            </a:endParaRPr>
          </a:p>
        </p:txBody>
      </p:sp>
      <p:grpSp>
        <p:nvGrpSpPr>
          <p:cNvPr id="9225" name="Group 46"/>
          <p:cNvGrpSpPr>
            <a:grpSpLocks/>
          </p:cNvGrpSpPr>
          <p:nvPr/>
        </p:nvGrpSpPr>
        <p:grpSpPr bwMode="auto">
          <a:xfrm>
            <a:off x="2638425" y="3756025"/>
            <a:ext cx="3733800" cy="2552700"/>
            <a:chOff x="930" y="2049"/>
            <a:chExt cx="2352" cy="1608"/>
          </a:xfrm>
        </p:grpSpPr>
        <p:sp>
          <p:nvSpPr>
            <p:cNvPr id="9231" name="Rectangle 35"/>
            <p:cNvSpPr>
              <a:spLocks noChangeArrowheads="1"/>
            </p:cNvSpPr>
            <p:nvPr/>
          </p:nvSpPr>
          <p:spPr bwMode="auto">
            <a:xfrm>
              <a:off x="930" y="204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p>
          </p:txBody>
        </p:sp>
        <p:sp>
          <p:nvSpPr>
            <p:cNvPr id="9232" name="Rectangle 36"/>
            <p:cNvSpPr>
              <a:spLocks noChangeArrowheads="1"/>
            </p:cNvSpPr>
            <p:nvPr/>
          </p:nvSpPr>
          <p:spPr bwMode="auto">
            <a:xfrm>
              <a:off x="1026" y="2192"/>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9233" name="Rectangle 37"/>
            <p:cNvSpPr>
              <a:spLocks noChangeArrowheads="1"/>
            </p:cNvSpPr>
            <p:nvPr/>
          </p:nvSpPr>
          <p:spPr bwMode="auto">
            <a:xfrm>
              <a:off x="1122" y="2328"/>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9234" name="Rectangle 38"/>
            <p:cNvSpPr>
              <a:spLocks noChangeArrowheads="1"/>
            </p:cNvSpPr>
            <p:nvPr/>
          </p:nvSpPr>
          <p:spPr bwMode="auto">
            <a:xfrm>
              <a:off x="1218" y="2464"/>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9235" name="Rectangle 39"/>
            <p:cNvSpPr>
              <a:spLocks noChangeArrowheads="1"/>
            </p:cNvSpPr>
            <p:nvPr/>
          </p:nvSpPr>
          <p:spPr bwMode="auto">
            <a:xfrm>
              <a:off x="1314" y="2600"/>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9236" name="Rectangle 40"/>
            <p:cNvSpPr>
              <a:spLocks noChangeArrowheads="1"/>
            </p:cNvSpPr>
            <p:nvPr/>
          </p:nvSpPr>
          <p:spPr bwMode="auto">
            <a:xfrm>
              <a:off x="1410" y="2736"/>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9237" name="Rectangle 41"/>
            <p:cNvSpPr>
              <a:spLocks noChangeArrowheads="1"/>
            </p:cNvSpPr>
            <p:nvPr/>
          </p:nvSpPr>
          <p:spPr bwMode="auto">
            <a:xfrm>
              <a:off x="1506" y="2873"/>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9238" name="Rectangle 42"/>
            <p:cNvSpPr>
              <a:spLocks noChangeArrowheads="1"/>
            </p:cNvSpPr>
            <p:nvPr/>
          </p:nvSpPr>
          <p:spPr bwMode="auto">
            <a:xfrm>
              <a:off x="1602" y="300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9239" name="Rectangle 43"/>
            <p:cNvSpPr>
              <a:spLocks noChangeArrowheads="1"/>
            </p:cNvSpPr>
            <p:nvPr/>
          </p:nvSpPr>
          <p:spPr bwMode="auto">
            <a:xfrm>
              <a:off x="1698" y="3145"/>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9240" name="Rectangle 44"/>
            <p:cNvSpPr>
              <a:spLocks noChangeArrowheads="1"/>
            </p:cNvSpPr>
            <p:nvPr/>
          </p:nvSpPr>
          <p:spPr bwMode="auto">
            <a:xfrm>
              <a:off x="1794" y="3281"/>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9241" name="Rectangle 45"/>
            <p:cNvSpPr>
              <a:spLocks noChangeArrowheads="1"/>
            </p:cNvSpPr>
            <p:nvPr/>
          </p:nvSpPr>
          <p:spPr bwMode="auto">
            <a:xfrm>
              <a:off x="1890" y="3417"/>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p>
          </p:txBody>
        </p:sp>
      </p:grpSp>
      <p:grpSp>
        <p:nvGrpSpPr>
          <p:cNvPr id="6" name="Group 23"/>
          <p:cNvGrpSpPr>
            <a:grpSpLocks/>
          </p:cNvGrpSpPr>
          <p:nvPr/>
        </p:nvGrpSpPr>
        <p:grpSpPr bwMode="auto">
          <a:xfrm>
            <a:off x="395288" y="4003675"/>
            <a:ext cx="2379662" cy="838200"/>
            <a:chOff x="1440" y="3264"/>
            <a:chExt cx="1680" cy="528"/>
          </a:xfrm>
        </p:grpSpPr>
        <p:sp>
          <p:nvSpPr>
            <p:cNvPr id="616472" name="Line 24"/>
            <p:cNvSpPr>
              <a:spLocks noChangeShapeType="1"/>
            </p:cNvSpPr>
            <p:nvPr/>
          </p:nvSpPr>
          <p:spPr bwMode="auto">
            <a:xfrm flipV="1">
              <a:off x="2448" y="3264"/>
              <a:ext cx="672" cy="240"/>
            </a:xfrm>
            <a:prstGeom prst="line">
              <a:avLst/>
            </a:prstGeom>
            <a:noFill/>
            <a:ln w="57150" cmpd="thinThick">
              <a:solidFill>
                <a:schemeClr val="tx1"/>
              </a:solidFill>
              <a:round/>
              <a:headEnd/>
              <a:tailEnd type="stealth" w="med" len="med"/>
            </a:ln>
            <a:effectLst/>
          </p:spPr>
          <p:txBody>
            <a:bodyPr wrap="none"/>
            <a:lstStyle/>
            <a:p>
              <a:pPr>
                <a:defRPr/>
              </a:pPr>
              <a:endParaRPr lang="zh-CN" altLang="en-US"/>
            </a:p>
          </p:txBody>
        </p:sp>
        <p:sp>
          <p:nvSpPr>
            <p:cNvPr id="9230" name="Rectangle 25"/>
            <p:cNvSpPr>
              <a:spLocks noChangeArrowheads="1"/>
            </p:cNvSpPr>
            <p:nvPr/>
          </p:nvSpPr>
          <p:spPr bwMode="auto">
            <a:xfrm>
              <a:off x="1440" y="3504"/>
              <a:ext cx="1104" cy="288"/>
            </a:xfrm>
            <a:prstGeom prst="rect">
              <a:avLst/>
            </a:prstGeom>
            <a:solidFill>
              <a:srgbClr val="FFCC99"/>
            </a:solidFill>
            <a:ln w="952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zh-CN" altLang="en-US" b="1">
                  <a:solidFill>
                    <a:srgbClr val="000066"/>
                  </a:solidFill>
                  <a:effectLst/>
                  <a:ea typeface="楷体_GB2312" pitchFamily="49" charset="-122"/>
                </a:rPr>
                <a:t>变量的值</a:t>
              </a:r>
            </a:p>
          </p:txBody>
        </p:sp>
      </p:grpSp>
      <p:sp>
        <p:nvSpPr>
          <p:cNvPr id="616495" name="Rectangle 47"/>
          <p:cNvSpPr>
            <a:spLocks noChangeArrowheads="1"/>
          </p:cNvSpPr>
          <p:nvPr/>
        </p:nvSpPr>
        <p:spPr bwMode="auto">
          <a:xfrm>
            <a:off x="5099050" y="3619500"/>
            <a:ext cx="368300"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
        <p:nvSpPr>
          <p:cNvPr id="9228" name="Rectangle 50"/>
          <p:cNvSpPr>
            <a:spLocks noChangeArrowheads="1"/>
          </p:cNvSpPr>
          <p:nvPr/>
        </p:nvSpPr>
        <p:spPr bwMode="auto">
          <a:xfrm>
            <a:off x="2555875" y="614203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zh-CN" altLang="en-US" sz="1800">
                <a:effectLst/>
                <a:ea typeface="华文楷体" pitchFamily="2" charset="-122"/>
              </a:rPr>
              <a:t>某存储区域</a:t>
            </a:r>
          </a:p>
        </p:txBody>
      </p:sp>
    </p:spTree>
    <p:extLst>
      <p:ext uri="{BB962C8B-B14F-4D97-AF65-F5344CB8AC3E}">
        <p14:creationId xmlns:p14="http://schemas.microsoft.com/office/powerpoint/2010/main" val="2128342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16475"/>
                                        </p:tgtEl>
                                        <p:attrNameLst>
                                          <p:attrName>style.visibility</p:attrName>
                                        </p:attrNameLst>
                                      </p:cBhvr>
                                      <p:to>
                                        <p:strVal val="visible"/>
                                      </p:to>
                                    </p:set>
                                    <p:anim calcmode="lin" valueType="num">
                                      <p:cBhvr>
                                        <p:cTn id="7" dur="500" fill="hold"/>
                                        <p:tgtEl>
                                          <p:spTgt spid="616475"/>
                                        </p:tgtEl>
                                        <p:attrNameLst>
                                          <p:attrName>ppt_w</p:attrName>
                                        </p:attrNameLst>
                                      </p:cBhvr>
                                      <p:tavLst>
                                        <p:tav tm="0">
                                          <p:val>
                                            <p:fltVal val="0"/>
                                          </p:val>
                                        </p:tav>
                                        <p:tav tm="100000">
                                          <p:val>
                                            <p:strVal val="#ppt_w"/>
                                          </p:val>
                                        </p:tav>
                                      </p:tavLst>
                                    </p:anim>
                                    <p:anim calcmode="lin" valueType="num">
                                      <p:cBhvr>
                                        <p:cTn id="8" dur="500" fill="hold"/>
                                        <p:tgtEl>
                                          <p:spTgt spid="616475"/>
                                        </p:tgtEl>
                                        <p:attrNameLst>
                                          <p:attrName>ppt_h</p:attrName>
                                        </p:attrNameLst>
                                      </p:cBhvr>
                                      <p:tavLst>
                                        <p:tav tm="0">
                                          <p:val>
                                            <p:fltVal val="0"/>
                                          </p:val>
                                        </p:tav>
                                        <p:tav tm="100000">
                                          <p:val>
                                            <p:strVal val="#ppt_h"/>
                                          </p:val>
                                        </p:tav>
                                      </p:tavLst>
                                    </p:anim>
                                    <p:animEffect transition="in" filter="fade">
                                      <p:cBhvr>
                                        <p:cTn id="9" dur="500"/>
                                        <p:tgtEl>
                                          <p:spTgt spid="616475"/>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616475"/>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4"/>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fltVal val="0"/>
                                          </p:val>
                                        </p:tav>
                                        <p:tav tm="100000">
                                          <p:val>
                                            <p:strVal val="#ppt_h"/>
                                          </p:val>
                                        </p:tav>
                                      </p:tavLst>
                                    </p:anim>
                                    <p:animEffect transition="in" filter="fade">
                                      <p:cBhvr>
                                        <p:cTn id="35" dur="500"/>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500" fill="hold"/>
                                        <p:tgtEl>
                                          <p:spTgt spid="2"/>
                                        </p:tgtEl>
                                        <p:attrNameLst>
                                          <p:attrName>ppt_w</p:attrName>
                                        </p:attrNameLst>
                                      </p:cBhvr>
                                      <p:tavLst>
                                        <p:tav tm="0">
                                          <p:val>
                                            <p:fltVal val="0"/>
                                          </p:val>
                                        </p:tav>
                                        <p:tav tm="100000">
                                          <p:val>
                                            <p:strVal val="#ppt_w"/>
                                          </p:val>
                                        </p:tav>
                                      </p:tavLst>
                                    </p:anim>
                                    <p:anim calcmode="lin" valueType="num">
                                      <p:cBhvr>
                                        <p:cTn id="41" dur="500" fill="hold"/>
                                        <p:tgtEl>
                                          <p:spTgt spid="2"/>
                                        </p:tgtEl>
                                        <p:attrNameLst>
                                          <p:attrName>ppt_h</p:attrName>
                                        </p:attrNameLst>
                                      </p:cBhvr>
                                      <p:tavLst>
                                        <p:tav tm="0">
                                          <p:val>
                                            <p:fltVal val="0"/>
                                          </p:val>
                                        </p:tav>
                                        <p:tav tm="100000">
                                          <p:val>
                                            <p:strVal val="#ppt_h"/>
                                          </p:val>
                                        </p:tav>
                                      </p:tavLst>
                                    </p:anim>
                                    <p:animEffect transition="in" filter="fade">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75" grpId="0" animBg="1"/>
      <p:bldP spid="616475"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a:xfrm>
            <a:off x="539750" y="549275"/>
            <a:ext cx="8355013" cy="647477"/>
          </a:xfrm>
        </p:spPr>
        <p:txBody>
          <a:bodyPr/>
          <a:lstStyle/>
          <a:p>
            <a:pPr>
              <a:defRPr/>
            </a:pPr>
            <a:r>
              <a:rPr lang="zh-CN" altLang="en-US" sz="4000" dirty="0"/>
              <a:t>变量的内存地址</a:t>
            </a:r>
            <a:endParaRPr lang="en-US" altLang="zh-CN" sz="4000" dirty="0"/>
          </a:p>
        </p:txBody>
      </p:sp>
      <p:grpSp>
        <p:nvGrpSpPr>
          <p:cNvPr id="10243" name="Group 3"/>
          <p:cNvGrpSpPr>
            <a:grpSpLocks/>
          </p:cNvGrpSpPr>
          <p:nvPr/>
        </p:nvGrpSpPr>
        <p:grpSpPr bwMode="auto">
          <a:xfrm>
            <a:off x="755650" y="2779713"/>
            <a:ext cx="1666875" cy="1079500"/>
            <a:chOff x="748" y="1480"/>
            <a:chExt cx="1050" cy="680"/>
          </a:xfrm>
        </p:grpSpPr>
        <p:sp>
          <p:nvSpPr>
            <p:cNvPr id="618500" name="Line 4"/>
            <p:cNvSpPr>
              <a:spLocks noChangeShapeType="1"/>
            </p:cNvSpPr>
            <p:nvPr/>
          </p:nvSpPr>
          <p:spPr bwMode="auto">
            <a:xfrm flipH="1">
              <a:off x="1066" y="1768"/>
              <a:ext cx="229" cy="392"/>
            </a:xfrm>
            <a:prstGeom prst="line">
              <a:avLst/>
            </a:prstGeom>
            <a:noFill/>
            <a:ln w="57150" cmpd="thinThick">
              <a:solidFill>
                <a:schemeClr val="tx1"/>
              </a:solidFill>
              <a:round/>
              <a:headEnd/>
              <a:tailEnd type="stealth" w="med" len="med"/>
            </a:ln>
            <a:effectLst/>
          </p:spPr>
          <p:txBody>
            <a:bodyPr wrap="none"/>
            <a:lstStyle/>
            <a:p>
              <a:pPr>
                <a:defRPr/>
              </a:pPr>
              <a:endParaRPr lang="zh-CN" altLang="en-US"/>
            </a:p>
          </p:txBody>
        </p:sp>
        <p:sp>
          <p:nvSpPr>
            <p:cNvPr id="10273" name="Rectangle 5"/>
            <p:cNvSpPr>
              <a:spLocks noChangeArrowheads="1"/>
            </p:cNvSpPr>
            <p:nvPr/>
          </p:nvSpPr>
          <p:spPr bwMode="auto">
            <a:xfrm>
              <a:off x="748" y="1480"/>
              <a:ext cx="1050" cy="288"/>
            </a:xfrm>
            <a:prstGeom prst="rect">
              <a:avLst/>
            </a:prstGeom>
            <a:solidFill>
              <a:srgbClr val="FFCC99"/>
            </a:solidFill>
            <a:ln w="952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zh-CN" altLang="en-US" b="1">
                  <a:solidFill>
                    <a:srgbClr val="000066"/>
                  </a:solidFill>
                  <a:effectLst/>
                  <a:ea typeface="楷体_GB2312" pitchFamily="49" charset="-122"/>
                </a:rPr>
                <a:t>变量的地址</a:t>
              </a:r>
            </a:p>
          </p:txBody>
        </p:sp>
      </p:grpSp>
      <p:grpSp>
        <p:nvGrpSpPr>
          <p:cNvPr id="3" name="Group 32"/>
          <p:cNvGrpSpPr>
            <a:grpSpLocks/>
          </p:cNvGrpSpPr>
          <p:nvPr/>
        </p:nvGrpSpPr>
        <p:grpSpPr bwMode="auto">
          <a:xfrm>
            <a:off x="2286000" y="1500188"/>
            <a:ext cx="6715125" cy="2214562"/>
            <a:chOff x="1383" y="1026"/>
            <a:chExt cx="4230" cy="1179"/>
          </a:xfrm>
        </p:grpSpPr>
        <p:sp>
          <p:nvSpPr>
            <p:cNvPr id="10270" name="Rectangle 11"/>
            <p:cNvSpPr>
              <a:spLocks noChangeArrowheads="1"/>
            </p:cNvSpPr>
            <p:nvPr/>
          </p:nvSpPr>
          <p:spPr bwMode="auto">
            <a:xfrm>
              <a:off x="1744" y="1026"/>
              <a:ext cx="3869" cy="837"/>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b="1">
                  <a:solidFill>
                    <a:srgbClr val="000066"/>
                  </a:solidFill>
                  <a:effectLst/>
                  <a:ea typeface="楷体_GB2312" pitchFamily="49" charset="-122"/>
                </a:rPr>
                <a:t>内存中的每个字节都有唯一的编号（地址）</a:t>
              </a:r>
            </a:p>
            <a:p>
              <a:pPr algn="ctr"/>
              <a:r>
                <a:rPr lang="zh-CN" altLang="en-US" b="1">
                  <a:solidFill>
                    <a:srgbClr val="000066"/>
                  </a:solidFill>
                  <a:effectLst/>
                  <a:ea typeface="楷体_GB2312" pitchFamily="49" charset="-122"/>
                </a:rPr>
                <a:t>地址是一个十六进制无符号整数</a:t>
              </a:r>
              <a:endParaRPr lang="en-US" altLang="zh-CN" b="1">
                <a:solidFill>
                  <a:srgbClr val="000066"/>
                </a:solidFill>
                <a:effectLst/>
                <a:ea typeface="楷体_GB2312" pitchFamily="49" charset="-122"/>
              </a:endParaRPr>
            </a:p>
            <a:p>
              <a:pPr algn="ctr"/>
              <a:r>
                <a:rPr lang="zh-CN" altLang="en-US" b="1">
                  <a:solidFill>
                    <a:srgbClr val="000066"/>
                  </a:solidFill>
                  <a:effectLst/>
                  <a:ea typeface="楷体_GB2312" pitchFamily="49" charset="-122"/>
                </a:rPr>
                <a:t>其字长一般与主机相同</a:t>
              </a:r>
            </a:p>
            <a:p>
              <a:pPr algn="ctr"/>
              <a:r>
                <a:rPr lang="zh-CN" altLang="en-US" b="1">
                  <a:solidFill>
                    <a:srgbClr val="000066"/>
                  </a:solidFill>
                  <a:effectLst/>
                  <a:ea typeface="楷体_GB2312" pitchFamily="49" charset="-122"/>
                </a:rPr>
                <a:t>地址按字节编号，按类型分配空间</a:t>
              </a:r>
            </a:p>
          </p:txBody>
        </p:sp>
        <p:sp>
          <p:nvSpPr>
            <p:cNvPr id="618508" name="Freeform 12"/>
            <p:cNvSpPr>
              <a:spLocks/>
            </p:cNvSpPr>
            <p:nvPr/>
          </p:nvSpPr>
          <p:spPr bwMode="auto">
            <a:xfrm>
              <a:off x="1383" y="1673"/>
              <a:ext cx="360" cy="53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18510" name="Rectangle 14"/>
          <p:cNvSpPr>
            <a:spLocks noChangeArrowheads="1"/>
          </p:cNvSpPr>
          <p:nvPr/>
        </p:nvSpPr>
        <p:spPr bwMode="auto">
          <a:xfrm>
            <a:off x="900113" y="3716338"/>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x0037b000</a:t>
            </a:r>
            <a:endParaRPr lang="zh-CN" altLang="en-US" b="1">
              <a:effectLst>
                <a:outerShdw blurRad="38100" dist="38100" dir="2700000" algn="tl">
                  <a:srgbClr val="C0C0C0"/>
                </a:outerShdw>
              </a:effectLst>
              <a:ea typeface="宋体" pitchFamily="2" charset="-122"/>
            </a:endParaRPr>
          </a:p>
        </p:txBody>
      </p:sp>
      <p:grpSp>
        <p:nvGrpSpPr>
          <p:cNvPr id="10246" name="Group 15"/>
          <p:cNvGrpSpPr>
            <a:grpSpLocks/>
          </p:cNvGrpSpPr>
          <p:nvPr/>
        </p:nvGrpSpPr>
        <p:grpSpPr bwMode="auto">
          <a:xfrm>
            <a:off x="2638425" y="3756025"/>
            <a:ext cx="3733800" cy="2552700"/>
            <a:chOff x="930" y="2049"/>
            <a:chExt cx="2352" cy="1608"/>
          </a:xfrm>
        </p:grpSpPr>
        <p:sp>
          <p:nvSpPr>
            <p:cNvPr id="10259" name="Rectangle 16"/>
            <p:cNvSpPr>
              <a:spLocks noChangeArrowheads="1"/>
            </p:cNvSpPr>
            <p:nvPr/>
          </p:nvSpPr>
          <p:spPr bwMode="auto">
            <a:xfrm>
              <a:off x="930" y="204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p>
          </p:txBody>
        </p:sp>
        <p:sp>
          <p:nvSpPr>
            <p:cNvPr id="10260" name="Rectangle 17"/>
            <p:cNvSpPr>
              <a:spLocks noChangeArrowheads="1"/>
            </p:cNvSpPr>
            <p:nvPr/>
          </p:nvSpPr>
          <p:spPr bwMode="auto">
            <a:xfrm>
              <a:off x="1026" y="2192"/>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0261" name="Rectangle 18"/>
            <p:cNvSpPr>
              <a:spLocks noChangeArrowheads="1"/>
            </p:cNvSpPr>
            <p:nvPr/>
          </p:nvSpPr>
          <p:spPr bwMode="auto">
            <a:xfrm>
              <a:off x="1122" y="2328"/>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0262" name="Rectangle 19"/>
            <p:cNvSpPr>
              <a:spLocks noChangeArrowheads="1"/>
            </p:cNvSpPr>
            <p:nvPr/>
          </p:nvSpPr>
          <p:spPr bwMode="auto">
            <a:xfrm>
              <a:off x="1218" y="2464"/>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0263" name="Rectangle 20"/>
            <p:cNvSpPr>
              <a:spLocks noChangeArrowheads="1"/>
            </p:cNvSpPr>
            <p:nvPr/>
          </p:nvSpPr>
          <p:spPr bwMode="auto">
            <a:xfrm>
              <a:off x="1314" y="2600"/>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0264" name="Rectangle 21"/>
            <p:cNvSpPr>
              <a:spLocks noChangeArrowheads="1"/>
            </p:cNvSpPr>
            <p:nvPr/>
          </p:nvSpPr>
          <p:spPr bwMode="auto">
            <a:xfrm>
              <a:off x="1410" y="2736"/>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0265" name="Rectangle 22"/>
            <p:cNvSpPr>
              <a:spLocks noChangeArrowheads="1"/>
            </p:cNvSpPr>
            <p:nvPr/>
          </p:nvSpPr>
          <p:spPr bwMode="auto">
            <a:xfrm>
              <a:off x="1506" y="2873"/>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0266" name="Rectangle 23"/>
            <p:cNvSpPr>
              <a:spLocks noChangeArrowheads="1"/>
            </p:cNvSpPr>
            <p:nvPr/>
          </p:nvSpPr>
          <p:spPr bwMode="auto">
            <a:xfrm>
              <a:off x="1602" y="300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0267" name="Rectangle 24"/>
            <p:cNvSpPr>
              <a:spLocks noChangeArrowheads="1"/>
            </p:cNvSpPr>
            <p:nvPr/>
          </p:nvSpPr>
          <p:spPr bwMode="auto">
            <a:xfrm>
              <a:off x="1698" y="3145"/>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0268" name="Rectangle 25"/>
            <p:cNvSpPr>
              <a:spLocks noChangeArrowheads="1"/>
            </p:cNvSpPr>
            <p:nvPr/>
          </p:nvSpPr>
          <p:spPr bwMode="auto">
            <a:xfrm>
              <a:off x="1794" y="3281"/>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0269" name="Rectangle 26"/>
            <p:cNvSpPr>
              <a:spLocks noChangeArrowheads="1"/>
            </p:cNvSpPr>
            <p:nvPr/>
          </p:nvSpPr>
          <p:spPr bwMode="auto">
            <a:xfrm>
              <a:off x="1890" y="3417"/>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p>
          </p:txBody>
        </p:sp>
      </p:grpSp>
      <p:sp>
        <p:nvSpPr>
          <p:cNvPr id="10247" name="Rectangle 31"/>
          <p:cNvSpPr>
            <a:spLocks noChangeArrowheads="1"/>
          </p:cNvSpPr>
          <p:nvPr/>
        </p:nvSpPr>
        <p:spPr bwMode="auto">
          <a:xfrm>
            <a:off x="2555875" y="614203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zh-CN" altLang="en-US" sz="1800">
                <a:effectLst/>
                <a:ea typeface="华文楷体" pitchFamily="2" charset="-122"/>
              </a:rPr>
              <a:t>某存储区域</a:t>
            </a:r>
          </a:p>
        </p:txBody>
      </p:sp>
      <p:sp>
        <p:nvSpPr>
          <p:cNvPr id="618529" name="Rectangle 33"/>
          <p:cNvSpPr>
            <a:spLocks noChangeArrowheads="1"/>
          </p:cNvSpPr>
          <p:nvPr/>
        </p:nvSpPr>
        <p:spPr bwMode="auto">
          <a:xfrm>
            <a:off x="1055688" y="39925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x0037b001</a:t>
            </a:r>
            <a:endParaRPr lang="zh-CN" altLang="en-US" b="1">
              <a:effectLst>
                <a:outerShdw blurRad="38100" dist="38100" dir="2700000" algn="tl">
                  <a:srgbClr val="C0C0C0"/>
                </a:outerShdw>
              </a:effectLst>
              <a:ea typeface="宋体" pitchFamily="2" charset="-122"/>
            </a:endParaRPr>
          </a:p>
        </p:txBody>
      </p:sp>
      <p:sp>
        <p:nvSpPr>
          <p:cNvPr id="618530" name="Rectangle 34"/>
          <p:cNvSpPr>
            <a:spLocks noChangeArrowheads="1"/>
          </p:cNvSpPr>
          <p:nvPr/>
        </p:nvSpPr>
        <p:spPr bwMode="auto">
          <a:xfrm>
            <a:off x="1223963" y="42592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x0037b002</a:t>
            </a:r>
            <a:endParaRPr lang="zh-CN" altLang="en-US" b="1">
              <a:effectLst>
                <a:outerShdw blurRad="38100" dist="38100" dir="2700000" algn="tl">
                  <a:srgbClr val="C0C0C0"/>
                </a:outerShdw>
              </a:effectLst>
              <a:ea typeface="宋体" pitchFamily="2" charset="-122"/>
            </a:endParaRPr>
          </a:p>
        </p:txBody>
      </p:sp>
      <p:sp>
        <p:nvSpPr>
          <p:cNvPr id="618531" name="Rectangle 35"/>
          <p:cNvSpPr>
            <a:spLocks noChangeArrowheads="1"/>
          </p:cNvSpPr>
          <p:nvPr/>
        </p:nvSpPr>
        <p:spPr bwMode="auto">
          <a:xfrm>
            <a:off x="1377950" y="4484688"/>
            <a:ext cx="1725613"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x0037b003</a:t>
            </a:r>
            <a:endParaRPr lang="zh-CN" altLang="en-US" b="1">
              <a:effectLst>
                <a:outerShdw blurRad="38100" dist="38100" dir="2700000" algn="tl">
                  <a:srgbClr val="C0C0C0"/>
                </a:outerShdw>
              </a:effectLst>
              <a:ea typeface="宋体" pitchFamily="2" charset="-122"/>
            </a:endParaRPr>
          </a:p>
        </p:txBody>
      </p:sp>
      <p:sp>
        <p:nvSpPr>
          <p:cNvPr id="618532" name="Rectangle 36"/>
          <p:cNvSpPr>
            <a:spLocks noChangeArrowheads="1"/>
          </p:cNvSpPr>
          <p:nvPr/>
        </p:nvSpPr>
        <p:spPr bwMode="auto">
          <a:xfrm>
            <a:off x="323850" y="3692525"/>
            <a:ext cx="573088"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i="1">
                <a:effectLst>
                  <a:outerShdw blurRad="38100" dist="38100" dir="2700000" algn="tl">
                    <a:srgbClr val="C0C0C0"/>
                  </a:outerShdw>
                </a:effectLst>
                <a:ea typeface="宋体" pitchFamily="2" charset="-122"/>
              </a:rPr>
              <a:t>&amp;a</a:t>
            </a:r>
            <a:endParaRPr lang="zh-CN" altLang="en-US" b="1" i="1">
              <a:effectLst>
                <a:outerShdw blurRad="38100" dist="38100" dir="2700000" algn="tl">
                  <a:srgbClr val="C0C0C0"/>
                </a:outerShdw>
              </a:effectLst>
              <a:ea typeface="宋体" pitchFamily="2" charset="-122"/>
            </a:endParaRPr>
          </a:p>
        </p:txBody>
      </p:sp>
      <p:grpSp>
        <p:nvGrpSpPr>
          <p:cNvPr id="5" name="Group 40"/>
          <p:cNvGrpSpPr>
            <a:grpSpLocks/>
          </p:cNvGrpSpPr>
          <p:nvPr/>
        </p:nvGrpSpPr>
        <p:grpSpPr bwMode="auto">
          <a:xfrm>
            <a:off x="611188" y="4437063"/>
            <a:ext cx="2532062" cy="1655762"/>
            <a:chOff x="385" y="2795"/>
            <a:chExt cx="1595" cy="1043"/>
          </a:xfrm>
        </p:grpSpPr>
        <p:sp>
          <p:nvSpPr>
            <p:cNvPr id="618534" name="Line 38"/>
            <p:cNvSpPr>
              <a:spLocks noChangeShapeType="1"/>
            </p:cNvSpPr>
            <p:nvPr/>
          </p:nvSpPr>
          <p:spPr bwMode="auto">
            <a:xfrm flipH="1" flipV="1">
              <a:off x="386" y="2795"/>
              <a:ext cx="317" cy="726"/>
            </a:xfrm>
            <a:prstGeom prst="line">
              <a:avLst/>
            </a:prstGeom>
            <a:noFill/>
            <a:ln w="57150" cmpd="thinThick">
              <a:solidFill>
                <a:schemeClr val="tx1"/>
              </a:solidFill>
              <a:round/>
              <a:headEnd/>
              <a:tailEnd type="stealth" w="med" len="med"/>
            </a:ln>
            <a:effectLst/>
          </p:spPr>
          <p:txBody>
            <a:bodyPr wrap="none"/>
            <a:lstStyle/>
            <a:p>
              <a:pPr>
                <a:defRPr/>
              </a:pPr>
              <a:endParaRPr lang="zh-CN" altLang="en-US"/>
            </a:p>
          </p:txBody>
        </p:sp>
        <p:sp>
          <p:nvSpPr>
            <p:cNvPr id="10258" name="Rectangle 39"/>
            <p:cNvSpPr>
              <a:spLocks noChangeArrowheads="1"/>
            </p:cNvSpPr>
            <p:nvPr/>
          </p:nvSpPr>
          <p:spPr bwMode="auto">
            <a:xfrm>
              <a:off x="385" y="3521"/>
              <a:ext cx="1595" cy="317"/>
            </a:xfrm>
            <a:prstGeom prst="rect">
              <a:avLst/>
            </a:prstGeom>
            <a:solidFill>
              <a:srgbClr val="FFCC99"/>
            </a:solidFill>
            <a:ln w="952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zh-CN" b="1" i="1">
                  <a:effectLst/>
                  <a:ea typeface="宋体" pitchFamily="2" charset="-122"/>
                </a:rPr>
                <a:t>Address Operator</a:t>
              </a:r>
              <a:endParaRPr lang="zh-CN" altLang="en-US" b="1" i="1">
                <a:effectLst/>
                <a:ea typeface="宋体" pitchFamily="2" charset="-122"/>
              </a:endParaRPr>
            </a:p>
          </p:txBody>
        </p:sp>
      </p:grpSp>
      <p:sp>
        <p:nvSpPr>
          <p:cNvPr id="618537" name="Rectangle 41"/>
          <p:cNvSpPr>
            <a:spLocks noChangeArrowheads="1"/>
          </p:cNvSpPr>
          <p:nvPr/>
        </p:nvSpPr>
        <p:spPr bwMode="auto">
          <a:xfrm>
            <a:off x="323528" y="3717032"/>
            <a:ext cx="287337" cy="360362"/>
          </a:xfrm>
          <a:prstGeom prst="rect">
            <a:avLst/>
          </a:prstGeom>
          <a:noFill/>
          <a:ln w="3810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18538" name="Rectangle 42"/>
          <p:cNvSpPr>
            <a:spLocks noChangeArrowheads="1"/>
          </p:cNvSpPr>
          <p:nvPr/>
        </p:nvSpPr>
        <p:spPr bwMode="auto">
          <a:xfrm>
            <a:off x="971550" y="3716710"/>
            <a:ext cx="1584325" cy="360362"/>
          </a:xfrm>
          <a:prstGeom prst="rect">
            <a:avLst/>
          </a:prstGeom>
          <a:noFill/>
          <a:ln w="3810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34" name="Rectangle 32"/>
          <p:cNvSpPr>
            <a:spLocks noChangeArrowheads="1"/>
          </p:cNvSpPr>
          <p:nvPr/>
        </p:nvSpPr>
        <p:spPr bwMode="auto">
          <a:xfrm>
            <a:off x="2484438" y="3167063"/>
            <a:ext cx="1843087" cy="461962"/>
          </a:xfrm>
          <a:prstGeom prst="rect">
            <a:avLst/>
          </a:prstGeom>
          <a:noFill/>
          <a:ln w="12700">
            <a:noFill/>
            <a:miter lim="800000"/>
            <a:headEnd type="none" w="sm" len="sm"/>
            <a:tailEnd type="none" w="sm" len="sm"/>
          </a:ln>
          <a:effectLst/>
        </p:spPr>
        <p:txBody>
          <a:bodyPr wrap="none">
            <a:spAutoFit/>
          </a:bodyPr>
          <a:lstStyle/>
          <a:p>
            <a:pPr>
              <a:defRPr/>
            </a:pPr>
            <a:r>
              <a:rPr lang="en-US" altLang="zh-CN" b="1" dirty="0" err="1">
                <a:effectLst>
                  <a:outerShdw blurRad="38100" dist="38100" dir="2700000" algn="tl">
                    <a:srgbClr val="C0C0C0"/>
                  </a:outerShdw>
                </a:effectLst>
                <a:latin typeface="Courier New" pitchFamily="49" charset="0"/>
                <a:ea typeface="宋体" pitchFamily="2" charset="-122"/>
                <a:cs typeface="Courier New" pitchFamily="49" charset="0"/>
              </a:rPr>
              <a:t>int</a:t>
            </a: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  a=0;</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
        <p:nvSpPr>
          <p:cNvPr id="35" name="Rectangle 47"/>
          <p:cNvSpPr>
            <a:spLocks noChangeArrowheads="1"/>
          </p:cNvSpPr>
          <p:nvPr/>
        </p:nvSpPr>
        <p:spPr bwMode="auto">
          <a:xfrm>
            <a:off x="5099050" y="3619500"/>
            <a:ext cx="368300"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Tree>
    <p:extLst>
      <p:ext uri="{BB962C8B-B14F-4D97-AF65-F5344CB8AC3E}">
        <p14:creationId xmlns:p14="http://schemas.microsoft.com/office/powerpoint/2010/main" val="2033249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18538"/>
                                        </p:tgtEl>
                                        <p:attrNameLst>
                                          <p:attrName>style.visibility</p:attrName>
                                        </p:attrNameLst>
                                      </p:cBhvr>
                                      <p:to>
                                        <p:strVal val="visible"/>
                                      </p:to>
                                    </p:set>
                                    <p:anim calcmode="lin" valueType="num">
                                      <p:cBhvr>
                                        <p:cTn id="7" dur="500" fill="hold"/>
                                        <p:tgtEl>
                                          <p:spTgt spid="618538"/>
                                        </p:tgtEl>
                                        <p:attrNameLst>
                                          <p:attrName>ppt_w</p:attrName>
                                        </p:attrNameLst>
                                      </p:cBhvr>
                                      <p:tavLst>
                                        <p:tav tm="0">
                                          <p:val>
                                            <p:fltVal val="0"/>
                                          </p:val>
                                        </p:tav>
                                        <p:tav tm="100000">
                                          <p:val>
                                            <p:strVal val="#ppt_w"/>
                                          </p:val>
                                        </p:tav>
                                      </p:tavLst>
                                    </p:anim>
                                    <p:anim calcmode="lin" valueType="num">
                                      <p:cBhvr>
                                        <p:cTn id="8" dur="500" fill="hold"/>
                                        <p:tgtEl>
                                          <p:spTgt spid="618538"/>
                                        </p:tgtEl>
                                        <p:attrNameLst>
                                          <p:attrName>ppt_h</p:attrName>
                                        </p:attrNameLst>
                                      </p:cBhvr>
                                      <p:tavLst>
                                        <p:tav tm="0">
                                          <p:val>
                                            <p:fltVal val="0"/>
                                          </p:val>
                                        </p:tav>
                                        <p:tav tm="100000">
                                          <p:val>
                                            <p:strVal val="#ppt_h"/>
                                          </p:val>
                                        </p:tav>
                                      </p:tavLst>
                                    </p:anim>
                                    <p:animEffect transition="in" filter="fade">
                                      <p:cBhvr>
                                        <p:cTn id="9" dur="500"/>
                                        <p:tgtEl>
                                          <p:spTgt spid="618538"/>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grpId="0" nodeType="clickEffect">
                                  <p:stCondLst>
                                    <p:cond delay="0"/>
                                  </p:stCondLst>
                                  <p:childTnLst>
                                    <p:set>
                                      <p:cBhvr>
                                        <p:cTn id="19" dur="1" fill="hold">
                                          <p:stCondLst>
                                            <p:cond delay="0"/>
                                          </p:stCondLst>
                                        </p:cTn>
                                        <p:tgtEl>
                                          <p:spTgt spid="618532"/>
                                        </p:tgtEl>
                                        <p:attrNameLst>
                                          <p:attrName>style.visibility</p:attrName>
                                        </p:attrNameLst>
                                      </p:cBhvr>
                                      <p:to>
                                        <p:strVal val="visible"/>
                                      </p:to>
                                    </p:set>
                                    <p:anim calcmode="lin" valueType="num">
                                      <p:cBhvr>
                                        <p:cTn id="20" dur="500" fill="hold"/>
                                        <p:tgtEl>
                                          <p:spTgt spid="618532"/>
                                        </p:tgtEl>
                                        <p:attrNameLst>
                                          <p:attrName>ppt_w</p:attrName>
                                        </p:attrNameLst>
                                      </p:cBhvr>
                                      <p:tavLst>
                                        <p:tav tm="0">
                                          <p:val>
                                            <p:fltVal val="0"/>
                                          </p:val>
                                        </p:tav>
                                        <p:tav tm="100000">
                                          <p:val>
                                            <p:strVal val="#ppt_w"/>
                                          </p:val>
                                        </p:tav>
                                      </p:tavLst>
                                    </p:anim>
                                    <p:anim calcmode="lin" valueType="num">
                                      <p:cBhvr>
                                        <p:cTn id="21" dur="500" fill="hold"/>
                                        <p:tgtEl>
                                          <p:spTgt spid="618532"/>
                                        </p:tgtEl>
                                        <p:attrNameLst>
                                          <p:attrName>ppt_h</p:attrName>
                                        </p:attrNameLst>
                                      </p:cBhvr>
                                      <p:tavLst>
                                        <p:tav tm="0">
                                          <p:val>
                                            <p:fltVal val="0"/>
                                          </p:val>
                                        </p:tav>
                                        <p:tav tm="100000">
                                          <p:val>
                                            <p:strVal val="#ppt_h"/>
                                          </p:val>
                                        </p:tav>
                                      </p:tavLst>
                                    </p:anim>
                                    <p:animEffect transition="in" filter="fade">
                                      <p:cBhvr>
                                        <p:cTn id="22" dur="500"/>
                                        <p:tgtEl>
                                          <p:spTgt spid="6185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grpId="0" nodeType="clickEffect">
                                  <p:stCondLst>
                                    <p:cond delay="0"/>
                                  </p:stCondLst>
                                  <p:childTnLst>
                                    <p:set>
                                      <p:cBhvr>
                                        <p:cTn id="26" dur="1" fill="hold">
                                          <p:stCondLst>
                                            <p:cond delay="0"/>
                                          </p:stCondLst>
                                        </p:cTn>
                                        <p:tgtEl>
                                          <p:spTgt spid="618537"/>
                                        </p:tgtEl>
                                        <p:attrNameLst>
                                          <p:attrName>style.visibility</p:attrName>
                                        </p:attrNameLst>
                                      </p:cBhvr>
                                      <p:to>
                                        <p:strVal val="visible"/>
                                      </p:to>
                                    </p:set>
                                    <p:anim calcmode="lin" valueType="num">
                                      <p:cBhvr>
                                        <p:cTn id="27" dur="500" fill="hold"/>
                                        <p:tgtEl>
                                          <p:spTgt spid="618537"/>
                                        </p:tgtEl>
                                        <p:attrNameLst>
                                          <p:attrName>ppt_w</p:attrName>
                                        </p:attrNameLst>
                                      </p:cBhvr>
                                      <p:tavLst>
                                        <p:tav tm="0">
                                          <p:val>
                                            <p:fltVal val="0"/>
                                          </p:val>
                                        </p:tav>
                                        <p:tav tm="100000">
                                          <p:val>
                                            <p:strVal val="#ppt_w"/>
                                          </p:val>
                                        </p:tav>
                                      </p:tavLst>
                                    </p:anim>
                                    <p:anim calcmode="lin" valueType="num">
                                      <p:cBhvr>
                                        <p:cTn id="28" dur="500" fill="hold"/>
                                        <p:tgtEl>
                                          <p:spTgt spid="618537"/>
                                        </p:tgtEl>
                                        <p:attrNameLst>
                                          <p:attrName>ppt_h</p:attrName>
                                        </p:attrNameLst>
                                      </p:cBhvr>
                                      <p:tavLst>
                                        <p:tav tm="0">
                                          <p:val>
                                            <p:fltVal val="0"/>
                                          </p:val>
                                        </p:tav>
                                        <p:tav tm="100000">
                                          <p:val>
                                            <p:strVal val="#ppt_h"/>
                                          </p:val>
                                        </p:tav>
                                      </p:tavLst>
                                    </p:anim>
                                    <p:animEffect transition="in" filter="fade">
                                      <p:cBhvr>
                                        <p:cTn id="29" dur="500"/>
                                        <p:tgtEl>
                                          <p:spTgt spid="61853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up)">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532" grpId="0"/>
      <p:bldP spid="618537" grpId="0" animBg="1"/>
      <p:bldP spid="61853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a:xfrm>
            <a:off x="457200" y="704850"/>
            <a:ext cx="8229600" cy="779934"/>
          </a:xfrm>
        </p:spPr>
        <p:txBody>
          <a:bodyPr/>
          <a:lstStyle/>
          <a:p>
            <a:pPr>
              <a:defRPr/>
            </a:pPr>
            <a:r>
              <a:rPr lang="zh-CN" altLang="en-US" sz="4000" dirty="0"/>
              <a:t>变量的内存地址</a:t>
            </a:r>
            <a:endParaRPr lang="en-US" altLang="zh-CN" sz="4000" dirty="0"/>
          </a:p>
        </p:txBody>
      </p:sp>
      <p:grpSp>
        <p:nvGrpSpPr>
          <p:cNvPr id="2" name="Group 7"/>
          <p:cNvGrpSpPr>
            <a:grpSpLocks/>
          </p:cNvGrpSpPr>
          <p:nvPr/>
        </p:nvGrpSpPr>
        <p:grpSpPr bwMode="auto">
          <a:xfrm>
            <a:off x="4356100" y="2708275"/>
            <a:ext cx="4319588" cy="1008063"/>
            <a:chOff x="1383" y="1026"/>
            <a:chExt cx="4309" cy="1179"/>
          </a:xfrm>
        </p:grpSpPr>
        <p:sp>
          <p:nvSpPr>
            <p:cNvPr id="11296" name="Rectangle 8"/>
            <p:cNvSpPr>
              <a:spLocks noChangeArrowheads="1"/>
            </p:cNvSpPr>
            <p:nvPr/>
          </p:nvSpPr>
          <p:spPr bwMode="auto">
            <a:xfrm>
              <a:off x="1519" y="1026"/>
              <a:ext cx="4173" cy="717"/>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sz="2800" b="1">
                  <a:solidFill>
                    <a:srgbClr val="000066"/>
                  </a:solidFill>
                  <a:effectLst/>
                  <a:ea typeface="楷体_GB2312" pitchFamily="49" charset="-122"/>
                </a:rPr>
                <a:t>如何读写内存中的数据？</a:t>
              </a:r>
            </a:p>
          </p:txBody>
        </p:sp>
        <p:sp>
          <p:nvSpPr>
            <p:cNvPr id="619529" name="Freeform 9"/>
            <p:cNvSpPr>
              <a:spLocks/>
            </p:cNvSpPr>
            <p:nvPr/>
          </p:nvSpPr>
          <p:spPr bwMode="auto">
            <a:xfrm>
              <a:off x="1383" y="1763"/>
              <a:ext cx="415" cy="44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19531" name="Rectangle 11"/>
          <p:cNvSpPr>
            <a:spLocks noChangeArrowheads="1"/>
          </p:cNvSpPr>
          <p:nvPr/>
        </p:nvSpPr>
        <p:spPr bwMode="auto">
          <a:xfrm>
            <a:off x="900113" y="3716338"/>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x0037b000</a:t>
            </a:r>
            <a:endParaRPr lang="zh-CN" altLang="en-US" b="1">
              <a:effectLst>
                <a:outerShdw blurRad="38100" dist="38100" dir="2700000" algn="tl">
                  <a:srgbClr val="C0C0C0"/>
                </a:outerShdw>
              </a:effectLst>
              <a:ea typeface="宋体" pitchFamily="2" charset="-122"/>
            </a:endParaRPr>
          </a:p>
        </p:txBody>
      </p:sp>
      <p:grpSp>
        <p:nvGrpSpPr>
          <p:cNvPr id="11269" name="Group 12"/>
          <p:cNvGrpSpPr>
            <a:grpSpLocks/>
          </p:cNvGrpSpPr>
          <p:nvPr/>
        </p:nvGrpSpPr>
        <p:grpSpPr bwMode="auto">
          <a:xfrm>
            <a:off x="2638425" y="3756025"/>
            <a:ext cx="3733800" cy="2552700"/>
            <a:chOff x="930" y="2049"/>
            <a:chExt cx="2352" cy="1608"/>
          </a:xfrm>
        </p:grpSpPr>
        <p:sp>
          <p:nvSpPr>
            <p:cNvPr id="11285" name="Rectangle 13"/>
            <p:cNvSpPr>
              <a:spLocks noChangeArrowheads="1"/>
            </p:cNvSpPr>
            <p:nvPr/>
          </p:nvSpPr>
          <p:spPr bwMode="auto">
            <a:xfrm>
              <a:off x="930" y="204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p>
          </p:txBody>
        </p:sp>
        <p:sp>
          <p:nvSpPr>
            <p:cNvPr id="11286" name="Rectangle 14"/>
            <p:cNvSpPr>
              <a:spLocks noChangeArrowheads="1"/>
            </p:cNvSpPr>
            <p:nvPr/>
          </p:nvSpPr>
          <p:spPr bwMode="auto">
            <a:xfrm>
              <a:off x="1026" y="2192"/>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1287" name="Rectangle 15"/>
            <p:cNvSpPr>
              <a:spLocks noChangeArrowheads="1"/>
            </p:cNvSpPr>
            <p:nvPr/>
          </p:nvSpPr>
          <p:spPr bwMode="auto">
            <a:xfrm>
              <a:off x="1122" y="2328"/>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1288" name="Rectangle 16"/>
            <p:cNvSpPr>
              <a:spLocks noChangeArrowheads="1"/>
            </p:cNvSpPr>
            <p:nvPr/>
          </p:nvSpPr>
          <p:spPr bwMode="auto">
            <a:xfrm>
              <a:off x="1218" y="2464"/>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1289" name="Rectangle 17"/>
            <p:cNvSpPr>
              <a:spLocks noChangeArrowheads="1"/>
            </p:cNvSpPr>
            <p:nvPr/>
          </p:nvSpPr>
          <p:spPr bwMode="auto">
            <a:xfrm>
              <a:off x="1314" y="2600"/>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1290" name="Rectangle 18"/>
            <p:cNvSpPr>
              <a:spLocks noChangeArrowheads="1"/>
            </p:cNvSpPr>
            <p:nvPr/>
          </p:nvSpPr>
          <p:spPr bwMode="auto">
            <a:xfrm>
              <a:off x="1410" y="2736"/>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1291" name="Rectangle 19"/>
            <p:cNvSpPr>
              <a:spLocks noChangeArrowheads="1"/>
            </p:cNvSpPr>
            <p:nvPr/>
          </p:nvSpPr>
          <p:spPr bwMode="auto">
            <a:xfrm>
              <a:off x="1506" y="2873"/>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1292" name="Rectangle 20"/>
            <p:cNvSpPr>
              <a:spLocks noChangeArrowheads="1"/>
            </p:cNvSpPr>
            <p:nvPr/>
          </p:nvSpPr>
          <p:spPr bwMode="auto">
            <a:xfrm>
              <a:off x="1602" y="300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1293" name="Rectangle 21"/>
            <p:cNvSpPr>
              <a:spLocks noChangeArrowheads="1"/>
            </p:cNvSpPr>
            <p:nvPr/>
          </p:nvSpPr>
          <p:spPr bwMode="auto">
            <a:xfrm>
              <a:off x="1698" y="3145"/>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1294" name="Rectangle 22"/>
            <p:cNvSpPr>
              <a:spLocks noChangeArrowheads="1"/>
            </p:cNvSpPr>
            <p:nvPr/>
          </p:nvSpPr>
          <p:spPr bwMode="auto">
            <a:xfrm>
              <a:off x="1794" y="3281"/>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1295" name="Rectangle 23"/>
            <p:cNvSpPr>
              <a:spLocks noChangeArrowheads="1"/>
            </p:cNvSpPr>
            <p:nvPr/>
          </p:nvSpPr>
          <p:spPr bwMode="auto">
            <a:xfrm>
              <a:off x="1890" y="3417"/>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p>
          </p:txBody>
        </p:sp>
      </p:grpSp>
      <p:sp>
        <p:nvSpPr>
          <p:cNvPr id="11270" name="Rectangle 25"/>
          <p:cNvSpPr>
            <a:spLocks noChangeArrowheads="1"/>
          </p:cNvSpPr>
          <p:nvPr/>
        </p:nvSpPr>
        <p:spPr bwMode="auto">
          <a:xfrm>
            <a:off x="2555875" y="614203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zh-CN" altLang="en-US" sz="1800">
                <a:effectLst/>
                <a:ea typeface="华文楷体" pitchFamily="2" charset="-122"/>
              </a:rPr>
              <a:t>某存储区域</a:t>
            </a:r>
          </a:p>
        </p:txBody>
      </p:sp>
      <p:sp>
        <p:nvSpPr>
          <p:cNvPr id="619546" name="Rectangle 26"/>
          <p:cNvSpPr>
            <a:spLocks noChangeArrowheads="1"/>
          </p:cNvSpPr>
          <p:nvPr/>
        </p:nvSpPr>
        <p:spPr bwMode="auto">
          <a:xfrm>
            <a:off x="1055688" y="39925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x0037b001</a:t>
            </a:r>
            <a:endParaRPr lang="zh-CN" altLang="en-US" b="1">
              <a:effectLst>
                <a:outerShdw blurRad="38100" dist="38100" dir="2700000" algn="tl">
                  <a:srgbClr val="C0C0C0"/>
                </a:outerShdw>
              </a:effectLst>
              <a:ea typeface="宋体" pitchFamily="2" charset="-122"/>
            </a:endParaRPr>
          </a:p>
        </p:txBody>
      </p:sp>
      <p:sp>
        <p:nvSpPr>
          <p:cNvPr id="619547" name="Rectangle 27"/>
          <p:cNvSpPr>
            <a:spLocks noChangeArrowheads="1"/>
          </p:cNvSpPr>
          <p:nvPr/>
        </p:nvSpPr>
        <p:spPr bwMode="auto">
          <a:xfrm>
            <a:off x="1223963" y="42592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x0037b002</a:t>
            </a:r>
            <a:endParaRPr lang="zh-CN" altLang="en-US" b="1">
              <a:effectLst>
                <a:outerShdw blurRad="38100" dist="38100" dir="2700000" algn="tl">
                  <a:srgbClr val="C0C0C0"/>
                </a:outerShdw>
              </a:effectLst>
              <a:ea typeface="宋体" pitchFamily="2" charset="-122"/>
            </a:endParaRPr>
          </a:p>
        </p:txBody>
      </p:sp>
      <p:sp>
        <p:nvSpPr>
          <p:cNvPr id="619548" name="Rectangle 28"/>
          <p:cNvSpPr>
            <a:spLocks noChangeArrowheads="1"/>
          </p:cNvSpPr>
          <p:nvPr/>
        </p:nvSpPr>
        <p:spPr bwMode="auto">
          <a:xfrm>
            <a:off x="1377950" y="4484688"/>
            <a:ext cx="1725613"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x0037b003</a:t>
            </a:r>
            <a:endParaRPr lang="zh-CN" altLang="en-US" b="1">
              <a:effectLst>
                <a:outerShdw blurRad="38100" dist="38100" dir="2700000" algn="tl">
                  <a:srgbClr val="C0C0C0"/>
                </a:outerShdw>
              </a:effectLst>
              <a:ea typeface="宋体" pitchFamily="2" charset="-122"/>
            </a:endParaRPr>
          </a:p>
        </p:txBody>
      </p:sp>
      <p:pic>
        <p:nvPicPr>
          <p:cNvPr id="11274" name="Picture 29" descr="J0234687"/>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7019925" y="5300663"/>
            <a:ext cx="1655763" cy="974725"/>
          </a:xfrm>
          <a:noFill/>
          <a:extLst>
            <a:ext uri="{909E8E84-426E-40DD-AFC4-6F175D3DCCD1}">
              <a14:hiddenFill xmlns:a14="http://schemas.microsoft.com/office/drawing/2010/main">
                <a:solidFill>
                  <a:srgbClr val="FFFFFF"/>
                </a:solidFill>
              </a14:hiddenFill>
            </a:ext>
          </a:extLst>
        </p:spPr>
      </p:pic>
      <p:grpSp>
        <p:nvGrpSpPr>
          <p:cNvPr id="4" name="Group 37"/>
          <p:cNvGrpSpPr>
            <a:grpSpLocks/>
          </p:cNvGrpSpPr>
          <p:nvPr/>
        </p:nvGrpSpPr>
        <p:grpSpPr bwMode="auto">
          <a:xfrm>
            <a:off x="539750" y="1725613"/>
            <a:ext cx="5761038" cy="1990725"/>
            <a:chOff x="340" y="1087"/>
            <a:chExt cx="3629" cy="1254"/>
          </a:xfrm>
        </p:grpSpPr>
        <p:sp>
          <p:nvSpPr>
            <p:cNvPr id="11283" name="Rectangle 32"/>
            <p:cNvSpPr>
              <a:spLocks noChangeArrowheads="1"/>
            </p:cNvSpPr>
            <p:nvPr/>
          </p:nvSpPr>
          <p:spPr bwMode="auto">
            <a:xfrm>
              <a:off x="340" y="1087"/>
              <a:ext cx="3629" cy="522"/>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b="1">
                  <a:solidFill>
                    <a:srgbClr val="000066"/>
                  </a:solidFill>
                  <a:effectLst/>
                  <a:ea typeface="楷体_GB2312" pitchFamily="49" charset="-122"/>
                </a:rPr>
                <a:t>只要指明要访问的变量的内存单元地址</a:t>
              </a:r>
            </a:p>
            <a:p>
              <a:pPr algn="ctr"/>
              <a:r>
                <a:rPr lang="zh-CN" altLang="en-US" b="1">
                  <a:solidFill>
                    <a:srgbClr val="000066"/>
                  </a:solidFill>
                  <a:effectLst/>
                  <a:ea typeface="楷体_GB2312" pitchFamily="49" charset="-122"/>
                </a:rPr>
                <a:t>就可以立即访问到变量所在的存储单元</a:t>
              </a:r>
            </a:p>
          </p:txBody>
        </p:sp>
        <p:sp>
          <p:nvSpPr>
            <p:cNvPr id="619553" name="Freeform 33"/>
            <p:cNvSpPr>
              <a:spLocks/>
            </p:cNvSpPr>
            <p:nvPr/>
          </p:nvSpPr>
          <p:spPr bwMode="auto">
            <a:xfrm flipH="1">
              <a:off x="340" y="1616"/>
              <a:ext cx="1" cy="725"/>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19555" name="Rectangle 35"/>
          <p:cNvSpPr>
            <a:spLocks noChangeArrowheads="1"/>
          </p:cNvSpPr>
          <p:nvPr/>
        </p:nvSpPr>
        <p:spPr bwMode="auto">
          <a:xfrm>
            <a:off x="323850" y="3692525"/>
            <a:ext cx="573088"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i="1">
                <a:effectLst>
                  <a:outerShdw blurRad="38100" dist="38100" dir="2700000" algn="tl">
                    <a:srgbClr val="C0C0C0"/>
                  </a:outerShdw>
                </a:effectLst>
                <a:ea typeface="宋体" pitchFamily="2" charset="-122"/>
              </a:rPr>
              <a:t>&amp;a</a:t>
            </a:r>
            <a:endParaRPr lang="zh-CN" altLang="en-US" b="1" i="1">
              <a:effectLst>
                <a:outerShdw blurRad="38100" dist="38100" dir="2700000" algn="tl">
                  <a:srgbClr val="C0C0C0"/>
                </a:outerShdw>
              </a:effectLst>
              <a:ea typeface="宋体" pitchFamily="2" charset="-122"/>
            </a:endParaRPr>
          </a:p>
        </p:txBody>
      </p:sp>
      <p:sp>
        <p:nvSpPr>
          <p:cNvPr id="619556" name="Rectangle 36"/>
          <p:cNvSpPr>
            <a:spLocks noChangeArrowheads="1"/>
          </p:cNvSpPr>
          <p:nvPr/>
        </p:nvSpPr>
        <p:spPr bwMode="auto">
          <a:xfrm>
            <a:off x="376238" y="3763963"/>
            <a:ext cx="523875" cy="360362"/>
          </a:xfrm>
          <a:prstGeom prst="rect">
            <a:avLst/>
          </a:prstGeom>
          <a:noFill/>
          <a:ln w="3810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nvGrpSpPr>
          <p:cNvPr id="5" name="Group 41"/>
          <p:cNvGrpSpPr>
            <a:grpSpLocks/>
          </p:cNvGrpSpPr>
          <p:nvPr/>
        </p:nvGrpSpPr>
        <p:grpSpPr bwMode="auto">
          <a:xfrm>
            <a:off x="44450" y="4652963"/>
            <a:ext cx="3590925" cy="1462087"/>
            <a:chOff x="28" y="2931"/>
            <a:chExt cx="2262" cy="921"/>
          </a:xfrm>
        </p:grpSpPr>
        <p:sp>
          <p:nvSpPr>
            <p:cNvPr id="11281" name="Rectangle 39"/>
            <p:cNvSpPr>
              <a:spLocks noChangeArrowheads="1"/>
            </p:cNvSpPr>
            <p:nvPr/>
          </p:nvSpPr>
          <p:spPr bwMode="auto">
            <a:xfrm>
              <a:off x="28" y="3521"/>
              <a:ext cx="2262" cy="331"/>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2800" b="1">
                  <a:solidFill>
                    <a:srgbClr val="000066"/>
                  </a:solidFill>
                  <a:effectLst/>
                  <a:latin typeface="Courier New" pitchFamily="49" charset="0"/>
                  <a:ea typeface="楷体_GB2312" pitchFamily="49" charset="-122"/>
                </a:rPr>
                <a:t>scanf("%d", &amp;a);</a:t>
              </a:r>
            </a:p>
          </p:txBody>
        </p:sp>
        <p:sp>
          <p:nvSpPr>
            <p:cNvPr id="619560" name="Freeform 40"/>
            <p:cNvSpPr>
              <a:spLocks/>
            </p:cNvSpPr>
            <p:nvPr/>
          </p:nvSpPr>
          <p:spPr bwMode="auto">
            <a:xfrm flipV="1">
              <a:off x="521" y="2931"/>
              <a:ext cx="1361" cy="590"/>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34" name="Rectangle 32"/>
          <p:cNvSpPr>
            <a:spLocks noChangeArrowheads="1"/>
          </p:cNvSpPr>
          <p:nvPr/>
        </p:nvSpPr>
        <p:spPr bwMode="auto">
          <a:xfrm>
            <a:off x="2484438" y="3167063"/>
            <a:ext cx="1843087" cy="461962"/>
          </a:xfrm>
          <a:prstGeom prst="rect">
            <a:avLst/>
          </a:prstGeom>
          <a:noFill/>
          <a:ln w="12700">
            <a:noFill/>
            <a:miter lim="800000"/>
            <a:headEnd type="none" w="sm" len="sm"/>
            <a:tailEnd type="none" w="sm" len="sm"/>
          </a:ln>
          <a:effectLst/>
        </p:spPr>
        <p:txBody>
          <a:bodyPr wrap="none">
            <a:spAutoFit/>
          </a:bodyPr>
          <a:lstStyle/>
          <a:p>
            <a:pPr>
              <a:defRPr/>
            </a:pPr>
            <a:r>
              <a:rPr lang="en-US" altLang="zh-CN" b="1" dirty="0" err="1">
                <a:effectLst>
                  <a:outerShdw blurRad="38100" dist="38100" dir="2700000" algn="tl">
                    <a:srgbClr val="C0C0C0"/>
                  </a:outerShdw>
                </a:effectLst>
                <a:latin typeface="Courier New" pitchFamily="49" charset="0"/>
                <a:ea typeface="宋体" pitchFamily="2" charset="-122"/>
                <a:cs typeface="Courier New" pitchFamily="49" charset="0"/>
              </a:rPr>
              <a:t>int</a:t>
            </a: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  a=0;</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
        <p:nvSpPr>
          <p:cNvPr id="35" name="Rectangle 47"/>
          <p:cNvSpPr>
            <a:spLocks noChangeArrowheads="1"/>
          </p:cNvSpPr>
          <p:nvPr/>
        </p:nvSpPr>
        <p:spPr bwMode="auto">
          <a:xfrm>
            <a:off x="5099050" y="3619500"/>
            <a:ext cx="368300"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Tree>
    <p:extLst>
      <p:ext uri="{BB962C8B-B14F-4D97-AF65-F5344CB8AC3E}">
        <p14:creationId xmlns:p14="http://schemas.microsoft.com/office/powerpoint/2010/main" val="18718244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19556"/>
                                        </p:tgtEl>
                                        <p:attrNameLst>
                                          <p:attrName>style.visibility</p:attrName>
                                        </p:attrNameLst>
                                      </p:cBhvr>
                                      <p:to>
                                        <p:strVal val="visible"/>
                                      </p:to>
                                    </p:set>
                                    <p:anim calcmode="lin" valueType="num">
                                      <p:cBhvr>
                                        <p:cTn id="14" dur="500" fill="hold"/>
                                        <p:tgtEl>
                                          <p:spTgt spid="619556"/>
                                        </p:tgtEl>
                                        <p:attrNameLst>
                                          <p:attrName>ppt_w</p:attrName>
                                        </p:attrNameLst>
                                      </p:cBhvr>
                                      <p:tavLst>
                                        <p:tav tm="0">
                                          <p:val>
                                            <p:fltVal val="0"/>
                                          </p:val>
                                        </p:tav>
                                        <p:tav tm="100000">
                                          <p:val>
                                            <p:strVal val="#ppt_w"/>
                                          </p:val>
                                        </p:tav>
                                      </p:tavLst>
                                    </p:anim>
                                    <p:anim calcmode="lin" valueType="num">
                                      <p:cBhvr>
                                        <p:cTn id="15" dur="500" fill="hold"/>
                                        <p:tgtEl>
                                          <p:spTgt spid="619556"/>
                                        </p:tgtEl>
                                        <p:attrNameLst>
                                          <p:attrName>ppt_h</p:attrName>
                                        </p:attrNameLst>
                                      </p:cBhvr>
                                      <p:tavLst>
                                        <p:tav tm="0">
                                          <p:val>
                                            <p:fltVal val="0"/>
                                          </p:val>
                                        </p:tav>
                                        <p:tav tm="100000">
                                          <p:val>
                                            <p:strVal val="#ppt_h"/>
                                          </p:val>
                                        </p:tav>
                                      </p:tavLst>
                                    </p:anim>
                                    <p:animEffect transition="in" filter="fade">
                                      <p:cBhvr>
                                        <p:cTn id="16" dur="500"/>
                                        <p:tgtEl>
                                          <p:spTgt spid="619556"/>
                                        </p:tgtEl>
                                      </p:cBhvr>
                                    </p:animEffect>
                                  </p:childTnLst>
                                </p:cTn>
                              </p:par>
                            </p:childTnLst>
                          </p:cTn>
                        </p:par>
                        <p:par>
                          <p:cTn id="17" fill="hold" nodeType="afterGroup">
                            <p:stCondLst>
                              <p:cond delay="500"/>
                            </p:stCondLst>
                            <p:childTnLst>
                              <p:par>
                                <p:cTn id="18" presetID="22" presetClass="entr" presetSubtype="4"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5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a:xfrm>
            <a:off x="457200" y="704850"/>
            <a:ext cx="8229600" cy="707926"/>
          </a:xfrm>
        </p:spPr>
        <p:txBody>
          <a:bodyPr/>
          <a:lstStyle/>
          <a:p>
            <a:pPr>
              <a:defRPr/>
            </a:pPr>
            <a:r>
              <a:rPr lang="zh-CN" altLang="en-US" sz="4000" dirty="0"/>
              <a:t>变量的内存地址</a:t>
            </a:r>
            <a:endParaRPr lang="en-US" altLang="zh-CN" sz="4000" dirty="0"/>
          </a:p>
        </p:txBody>
      </p:sp>
      <p:grpSp>
        <p:nvGrpSpPr>
          <p:cNvPr id="13315" name="Group 3"/>
          <p:cNvGrpSpPr>
            <a:grpSpLocks/>
          </p:cNvGrpSpPr>
          <p:nvPr/>
        </p:nvGrpSpPr>
        <p:grpSpPr bwMode="auto">
          <a:xfrm>
            <a:off x="4356100" y="2708275"/>
            <a:ext cx="4319588" cy="1008063"/>
            <a:chOff x="1383" y="1026"/>
            <a:chExt cx="4309" cy="1179"/>
          </a:xfrm>
        </p:grpSpPr>
        <p:sp>
          <p:nvSpPr>
            <p:cNvPr id="13344" name="Rectangle 4"/>
            <p:cNvSpPr>
              <a:spLocks noChangeArrowheads="1"/>
            </p:cNvSpPr>
            <p:nvPr/>
          </p:nvSpPr>
          <p:spPr bwMode="auto">
            <a:xfrm>
              <a:off x="1519" y="1026"/>
              <a:ext cx="4173" cy="717"/>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sz="2800" b="1">
                  <a:solidFill>
                    <a:srgbClr val="000066"/>
                  </a:solidFill>
                  <a:effectLst/>
                  <a:ea typeface="楷体_GB2312" pitchFamily="49" charset="-122"/>
                </a:rPr>
                <a:t>如何读写内存中的数据？</a:t>
              </a:r>
            </a:p>
          </p:txBody>
        </p:sp>
        <p:sp>
          <p:nvSpPr>
            <p:cNvPr id="622597" name="Freeform 5"/>
            <p:cNvSpPr>
              <a:spLocks/>
            </p:cNvSpPr>
            <p:nvPr/>
          </p:nvSpPr>
          <p:spPr bwMode="auto">
            <a:xfrm>
              <a:off x="1383" y="1763"/>
              <a:ext cx="415" cy="44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22599" name="Rectangle 7"/>
          <p:cNvSpPr>
            <a:spLocks noChangeArrowheads="1"/>
          </p:cNvSpPr>
          <p:nvPr/>
        </p:nvSpPr>
        <p:spPr bwMode="auto">
          <a:xfrm>
            <a:off x="900113" y="3716338"/>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x0037b000</a:t>
            </a:r>
            <a:endParaRPr lang="zh-CN" altLang="en-US" b="1">
              <a:effectLst>
                <a:outerShdw blurRad="38100" dist="38100" dir="2700000" algn="tl">
                  <a:srgbClr val="C0C0C0"/>
                </a:outerShdw>
              </a:effectLst>
              <a:ea typeface="宋体" pitchFamily="2" charset="-122"/>
            </a:endParaRPr>
          </a:p>
        </p:txBody>
      </p:sp>
      <p:grpSp>
        <p:nvGrpSpPr>
          <p:cNvPr id="13317" name="Group 8"/>
          <p:cNvGrpSpPr>
            <a:grpSpLocks/>
          </p:cNvGrpSpPr>
          <p:nvPr/>
        </p:nvGrpSpPr>
        <p:grpSpPr bwMode="auto">
          <a:xfrm>
            <a:off x="2638425" y="3756025"/>
            <a:ext cx="3733800" cy="2552700"/>
            <a:chOff x="930" y="2049"/>
            <a:chExt cx="2352" cy="1608"/>
          </a:xfrm>
        </p:grpSpPr>
        <p:sp>
          <p:nvSpPr>
            <p:cNvPr id="13333" name="Rectangle 9"/>
            <p:cNvSpPr>
              <a:spLocks noChangeArrowheads="1"/>
            </p:cNvSpPr>
            <p:nvPr/>
          </p:nvSpPr>
          <p:spPr bwMode="auto">
            <a:xfrm>
              <a:off x="930" y="204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p>
          </p:txBody>
        </p:sp>
        <p:sp>
          <p:nvSpPr>
            <p:cNvPr id="13334" name="Rectangle 10"/>
            <p:cNvSpPr>
              <a:spLocks noChangeArrowheads="1"/>
            </p:cNvSpPr>
            <p:nvPr/>
          </p:nvSpPr>
          <p:spPr bwMode="auto">
            <a:xfrm>
              <a:off x="1026" y="2192"/>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3335" name="Rectangle 11"/>
            <p:cNvSpPr>
              <a:spLocks noChangeArrowheads="1"/>
            </p:cNvSpPr>
            <p:nvPr/>
          </p:nvSpPr>
          <p:spPr bwMode="auto">
            <a:xfrm>
              <a:off x="1122" y="2328"/>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3336" name="Rectangle 12"/>
            <p:cNvSpPr>
              <a:spLocks noChangeArrowheads="1"/>
            </p:cNvSpPr>
            <p:nvPr/>
          </p:nvSpPr>
          <p:spPr bwMode="auto">
            <a:xfrm>
              <a:off x="1218" y="2464"/>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3337" name="Rectangle 13"/>
            <p:cNvSpPr>
              <a:spLocks noChangeArrowheads="1"/>
            </p:cNvSpPr>
            <p:nvPr/>
          </p:nvSpPr>
          <p:spPr bwMode="auto">
            <a:xfrm>
              <a:off x="1314" y="2600"/>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3338" name="Rectangle 14"/>
            <p:cNvSpPr>
              <a:spLocks noChangeArrowheads="1"/>
            </p:cNvSpPr>
            <p:nvPr/>
          </p:nvSpPr>
          <p:spPr bwMode="auto">
            <a:xfrm>
              <a:off x="1410" y="2736"/>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3339" name="Rectangle 15"/>
            <p:cNvSpPr>
              <a:spLocks noChangeArrowheads="1"/>
            </p:cNvSpPr>
            <p:nvPr/>
          </p:nvSpPr>
          <p:spPr bwMode="auto">
            <a:xfrm>
              <a:off x="1506" y="2873"/>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3340" name="Rectangle 16"/>
            <p:cNvSpPr>
              <a:spLocks noChangeArrowheads="1"/>
            </p:cNvSpPr>
            <p:nvPr/>
          </p:nvSpPr>
          <p:spPr bwMode="auto">
            <a:xfrm>
              <a:off x="1602" y="300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3341" name="Rectangle 17"/>
            <p:cNvSpPr>
              <a:spLocks noChangeArrowheads="1"/>
            </p:cNvSpPr>
            <p:nvPr/>
          </p:nvSpPr>
          <p:spPr bwMode="auto">
            <a:xfrm>
              <a:off x="1698" y="3145"/>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3342" name="Rectangle 18"/>
            <p:cNvSpPr>
              <a:spLocks noChangeArrowheads="1"/>
            </p:cNvSpPr>
            <p:nvPr/>
          </p:nvSpPr>
          <p:spPr bwMode="auto">
            <a:xfrm>
              <a:off x="1794" y="3281"/>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3343" name="Rectangle 19"/>
            <p:cNvSpPr>
              <a:spLocks noChangeArrowheads="1"/>
            </p:cNvSpPr>
            <p:nvPr/>
          </p:nvSpPr>
          <p:spPr bwMode="auto">
            <a:xfrm>
              <a:off x="1890" y="3417"/>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p>
          </p:txBody>
        </p:sp>
      </p:grpSp>
      <p:sp>
        <p:nvSpPr>
          <p:cNvPr id="13318" name="Rectangle 21"/>
          <p:cNvSpPr>
            <a:spLocks noChangeArrowheads="1"/>
          </p:cNvSpPr>
          <p:nvPr/>
        </p:nvSpPr>
        <p:spPr bwMode="auto">
          <a:xfrm>
            <a:off x="2555875" y="614203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zh-CN" altLang="en-US" sz="1800">
                <a:effectLst/>
                <a:ea typeface="华文楷体" pitchFamily="2" charset="-122"/>
              </a:rPr>
              <a:t>某存储区域</a:t>
            </a:r>
          </a:p>
        </p:txBody>
      </p:sp>
      <p:sp>
        <p:nvSpPr>
          <p:cNvPr id="622614" name="Rectangle 22"/>
          <p:cNvSpPr>
            <a:spLocks noChangeArrowheads="1"/>
          </p:cNvSpPr>
          <p:nvPr/>
        </p:nvSpPr>
        <p:spPr bwMode="auto">
          <a:xfrm>
            <a:off x="1055688" y="39925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x0037b001</a:t>
            </a:r>
            <a:endParaRPr lang="zh-CN" altLang="en-US" b="1">
              <a:effectLst>
                <a:outerShdw blurRad="38100" dist="38100" dir="2700000" algn="tl">
                  <a:srgbClr val="C0C0C0"/>
                </a:outerShdw>
              </a:effectLst>
              <a:ea typeface="宋体" pitchFamily="2" charset="-122"/>
            </a:endParaRPr>
          </a:p>
        </p:txBody>
      </p:sp>
      <p:sp>
        <p:nvSpPr>
          <p:cNvPr id="622615" name="Rectangle 23"/>
          <p:cNvSpPr>
            <a:spLocks noChangeArrowheads="1"/>
          </p:cNvSpPr>
          <p:nvPr/>
        </p:nvSpPr>
        <p:spPr bwMode="auto">
          <a:xfrm>
            <a:off x="1223963" y="42592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x0037b002</a:t>
            </a:r>
            <a:endParaRPr lang="zh-CN" altLang="en-US" b="1">
              <a:effectLst>
                <a:outerShdw blurRad="38100" dist="38100" dir="2700000" algn="tl">
                  <a:srgbClr val="C0C0C0"/>
                </a:outerShdw>
              </a:effectLst>
              <a:ea typeface="宋体" pitchFamily="2" charset="-122"/>
            </a:endParaRPr>
          </a:p>
        </p:txBody>
      </p:sp>
      <p:sp>
        <p:nvSpPr>
          <p:cNvPr id="622616" name="Rectangle 24"/>
          <p:cNvSpPr>
            <a:spLocks noChangeArrowheads="1"/>
          </p:cNvSpPr>
          <p:nvPr/>
        </p:nvSpPr>
        <p:spPr bwMode="auto">
          <a:xfrm>
            <a:off x="1377950" y="4484688"/>
            <a:ext cx="1725613"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x0037b003</a:t>
            </a:r>
            <a:endParaRPr lang="zh-CN" altLang="en-US" b="1">
              <a:effectLst>
                <a:outerShdw blurRad="38100" dist="38100" dir="2700000" algn="tl">
                  <a:srgbClr val="C0C0C0"/>
                </a:outerShdw>
              </a:effectLst>
              <a:ea typeface="宋体" pitchFamily="2" charset="-122"/>
            </a:endParaRPr>
          </a:p>
        </p:txBody>
      </p:sp>
      <p:grpSp>
        <p:nvGrpSpPr>
          <p:cNvPr id="13322" name="Group 36"/>
          <p:cNvGrpSpPr>
            <a:grpSpLocks/>
          </p:cNvGrpSpPr>
          <p:nvPr/>
        </p:nvGrpSpPr>
        <p:grpSpPr bwMode="auto">
          <a:xfrm>
            <a:off x="539750" y="1725613"/>
            <a:ext cx="5761038" cy="1990725"/>
            <a:chOff x="340" y="1087"/>
            <a:chExt cx="3629" cy="1254"/>
          </a:xfrm>
        </p:grpSpPr>
        <p:sp>
          <p:nvSpPr>
            <p:cNvPr id="13331" name="Rectangle 27"/>
            <p:cNvSpPr>
              <a:spLocks noChangeArrowheads="1"/>
            </p:cNvSpPr>
            <p:nvPr/>
          </p:nvSpPr>
          <p:spPr bwMode="auto">
            <a:xfrm>
              <a:off x="340" y="1087"/>
              <a:ext cx="3629" cy="522"/>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sz="2800" b="1">
                  <a:solidFill>
                    <a:srgbClr val="000066"/>
                  </a:solidFill>
                  <a:effectLst/>
                  <a:ea typeface="楷体_GB2312" pitchFamily="49" charset="-122"/>
                </a:rPr>
                <a:t>直接寻址：按变量地址存取变量值</a:t>
              </a:r>
            </a:p>
          </p:txBody>
        </p:sp>
        <p:sp>
          <p:nvSpPr>
            <p:cNvPr id="622620" name="Freeform 28"/>
            <p:cNvSpPr>
              <a:spLocks/>
            </p:cNvSpPr>
            <p:nvPr/>
          </p:nvSpPr>
          <p:spPr bwMode="auto">
            <a:xfrm flipH="1">
              <a:off x="340" y="1616"/>
              <a:ext cx="1" cy="725"/>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22621" name="Rectangle 29"/>
          <p:cNvSpPr>
            <a:spLocks noChangeArrowheads="1"/>
          </p:cNvSpPr>
          <p:nvPr/>
        </p:nvSpPr>
        <p:spPr bwMode="auto">
          <a:xfrm>
            <a:off x="323850" y="3692525"/>
            <a:ext cx="554038"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&amp;a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pic>
        <p:nvPicPr>
          <p:cNvPr id="13324" name="Picture 31" descr="J0234687"/>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7019925" y="5300663"/>
            <a:ext cx="1655763" cy="974725"/>
          </a:xfrm>
          <a:noFill/>
          <a:extLst>
            <a:ext uri="{909E8E84-426E-40DD-AFC4-6F175D3DCCD1}">
              <a14:hiddenFill xmlns:a14="http://schemas.microsoft.com/office/drawing/2010/main">
                <a:solidFill>
                  <a:srgbClr val="FFFFFF"/>
                </a:solidFill>
              </a14:hiddenFill>
            </a:ext>
          </a:extLst>
        </p:spPr>
      </p:pic>
      <p:grpSp>
        <p:nvGrpSpPr>
          <p:cNvPr id="13325" name="Group 32"/>
          <p:cNvGrpSpPr>
            <a:grpSpLocks/>
          </p:cNvGrpSpPr>
          <p:nvPr/>
        </p:nvGrpSpPr>
        <p:grpSpPr bwMode="auto">
          <a:xfrm>
            <a:off x="44450" y="4652963"/>
            <a:ext cx="3590925" cy="1462087"/>
            <a:chOff x="28" y="2931"/>
            <a:chExt cx="2262" cy="921"/>
          </a:xfrm>
        </p:grpSpPr>
        <p:sp>
          <p:nvSpPr>
            <p:cNvPr id="13329" name="Rectangle 33"/>
            <p:cNvSpPr>
              <a:spLocks noChangeArrowheads="1"/>
            </p:cNvSpPr>
            <p:nvPr/>
          </p:nvSpPr>
          <p:spPr bwMode="auto">
            <a:xfrm>
              <a:off x="28" y="3521"/>
              <a:ext cx="2262" cy="331"/>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2800" b="1">
                  <a:solidFill>
                    <a:srgbClr val="000066"/>
                  </a:solidFill>
                  <a:effectLst/>
                  <a:latin typeface="Courier New" pitchFamily="49" charset="0"/>
                  <a:ea typeface="楷体_GB2312" pitchFamily="49" charset="-122"/>
                </a:rPr>
                <a:t>scanf("%d", &amp;a);</a:t>
              </a:r>
            </a:p>
          </p:txBody>
        </p:sp>
        <p:sp>
          <p:nvSpPr>
            <p:cNvPr id="622626" name="Freeform 34"/>
            <p:cNvSpPr>
              <a:spLocks/>
            </p:cNvSpPr>
            <p:nvPr/>
          </p:nvSpPr>
          <p:spPr bwMode="auto">
            <a:xfrm flipV="1">
              <a:off x="521" y="2931"/>
              <a:ext cx="1361" cy="590"/>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22627" name="Rectangle 35"/>
          <p:cNvSpPr>
            <a:spLocks noChangeArrowheads="1"/>
          </p:cNvSpPr>
          <p:nvPr/>
        </p:nvSpPr>
        <p:spPr bwMode="auto">
          <a:xfrm>
            <a:off x="376238" y="3763963"/>
            <a:ext cx="523875" cy="360362"/>
          </a:xfrm>
          <a:prstGeom prst="rect">
            <a:avLst/>
          </a:prstGeom>
          <a:noFill/>
          <a:ln w="3810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34" name="Rectangle 47"/>
          <p:cNvSpPr>
            <a:spLocks noChangeArrowheads="1"/>
          </p:cNvSpPr>
          <p:nvPr/>
        </p:nvSpPr>
        <p:spPr bwMode="auto">
          <a:xfrm>
            <a:off x="5099050" y="3619500"/>
            <a:ext cx="368300"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
        <p:nvSpPr>
          <p:cNvPr id="35" name="Rectangle 32"/>
          <p:cNvSpPr>
            <a:spLocks noChangeArrowheads="1"/>
          </p:cNvSpPr>
          <p:nvPr/>
        </p:nvSpPr>
        <p:spPr bwMode="auto">
          <a:xfrm>
            <a:off x="2484438" y="3167063"/>
            <a:ext cx="1843087" cy="461962"/>
          </a:xfrm>
          <a:prstGeom prst="rect">
            <a:avLst/>
          </a:prstGeom>
          <a:noFill/>
          <a:ln w="12700">
            <a:noFill/>
            <a:miter lim="800000"/>
            <a:headEnd type="none" w="sm" len="sm"/>
            <a:tailEnd type="none" w="sm" len="sm"/>
          </a:ln>
          <a:effectLst/>
        </p:spPr>
        <p:txBody>
          <a:bodyPr wrap="none">
            <a:spAutoFit/>
          </a:bodyPr>
          <a:lstStyle/>
          <a:p>
            <a:pPr>
              <a:defRPr/>
            </a:pPr>
            <a:r>
              <a:rPr lang="en-US" altLang="zh-CN" b="1" dirty="0" err="1">
                <a:effectLst>
                  <a:outerShdw blurRad="38100" dist="38100" dir="2700000" algn="tl">
                    <a:srgbClr val="C0C0C0"/>
                  </a:outerShdw>
                </a:effectLst>
                <a:latin typeface="Courier New" pitchFamily="49" charset="0"/>
                <a:ea typeface="宋体" pitchFamily="2" charset="-122"/>
                <a:cs typeface="Courier New" pitchFamily="49" charset="0"/>
              </a:rPr>
              <a:t>int</a:t>
            </a: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  a=0;</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Tree>
    <p:extLst>
      <p:ext uri="{BB962C8B-B14F-4D97-AF65-F5344CB8AC3E}">
        <p14:creationId xmlns:p14="http://schemas.microsoft.com/office/powerpoint/2010/main" val="139414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a:xfrm>
            <a:off x="457200" y="704850"/>
            <a:ext cx="8229600" cy="707926"/>
          </a:xfrm>
        </p:spPr>
        <p:txBody>
          <a:bodyPr/>
          <a:lstStyle/>
          <a:p>
            <a:pPr>
              <a:defRPr/>
            </a:pPr>
            <a:r>
              <a:rPr lang="zh-CN" altLang="en-US" sz="4000" dirty="0"/>
              <a:t>变量的内存地址</a:t>
            </a:r>
            <a:endParaRPr lang="en-US" altLang="zh-CN" sz="4000" dirty="0"/>
          </a:p>
        </p:txBody>
      </p:sp>
      <p:grpSp>
        <p:nvGrpSpPr>
          <p:cNvPr id="14339" name="Group 3"/>
          <p:cNvGrpSpPr>
            <a:grpSpLocks/>
          </p:cNvGrpSpPr>
          <p:nvPr/>
        </p:nvGrpSpPr>
        <p:grpSpPr bwMode="auto">
          <a:xfrm>
            <a:off x="4356100" y="2708275"/>
            <a:ext cx="4319588" cy="1008063"/>
            <a:chOff x="1383" y="1026"/>
            <a:chExt cx="4309" cy="1179"/>
          </a:xfrm>
        </p:grpSpPr>
        <p:sp>
          <p:nvSpPr>
            <p:cNvPr id="14366" name="Rectangle 4"/>
            <p:cNvSpPr>
              <a:spLocks noChangeArrowheads="1"/>
            </p:cNvSpPr>
            <p:nvPr/>
          </p:nvSpPr>
          <p:spPr bwMode="auto">
            <a:xfrm>
              <a:off x="1519" y="1026"/>
              <a:ext cx="4173" cy="717"/>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sz="2800" b="1">
                  <a:solidFill>
                    <a:srgbClr val="000066"/>
                  </a:solidFill>
                  <a:effectLst/>
                  <a:ea typeface="楷体_GB2312" pitchFamily="49" charset="-122"/>
                </a:rPr>
                <a:t>如何读写内存中的数据？</a:t>
              </a:r>
            </a:p>
          </p:txBody>
        </p:sp>
        <p:sp>
          <p:nvSpPr>
            <p:cNvPr id="623621" name="Freeform 5"/>
            <p:cNvSpPr>
              <a:spLocks/>
            </p:cNvSpPr>
            <p:nvPr/>
          </p:nvSpPr>
          <p:spPr bwMode="auto">
            <a:xfrm>
              <a:off x="1383" y="1763"/>
              <a:ext cx="415" cy="442"/>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623623" name="Rectangle 7"/>
          <p:cNvSpPr>
            <a:spLocks noChangeArrowheads="1"/>
          </p:cNvSpPr>
          <p:nvPr/>
        </p:nvSpPr>
        <p:spPr bwMode="auto">
          <a:xfrm>
            <a:off x="900113" y="3716338"/>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x0037b000</a:t>
            </a:r>
            <a:endParaRPr lang="zh-CN" altLang="en-US" b="1">
              <a:effectLst>
                <a:outerShdw blurRad="38100" dist="38100" dir="2700000" algn="tl">
                  <a:srgbClr val="C0C0C0"/>
                </a:outerShdw>
              </a:effectLst>
              <a:ea typeface="宋体" pitchFamily="2" charset="-122"/>
            </a:endParaRPr>
          </a:p>
        </p:txBody>
      </p:sp>
      <p:grpSp>
        <p:nvGrpSpPr>
          <p:cNvPr id="14341" name="Group 8"/>
          <p:cNvGrpSpPr>
            <a:grpSpLocks/>
          </p:cNvGrpSpPr>
          <p:nvPr/>
        </p:nvGrpSpPr>
        <p:grpSpPr bwMode="auto">
          <a:xfrm>
            <a:off x="2638425" y="3756025"/>
            <a:ext cx="3733800" cy="2552700"/>
            <a:chOff x="930" y="2049"/>
            <a:chExt cx="2352" cy="1608"/>
          </a:xfrm>
        </p:grpSpPr>
        <p:sp>
          <p:nvSpPr>
            <p:cNvPr id="14355" name="Rectangle 9"/>
            <p:cNvSpPr>
              <a:spLocks noChangeArrowheads="1"/>
            </p:cNvSpPr>
            <p:nvPr/>
          </p:nvSpPr>
          <p:spPr bwMode="auto">
            <a:xfrm>
              <a:off x="930" y="204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p>
          </p:txBody>
        </p:sp>
        <p:sp>
          <p:nvSpPr>
            <p:cNvPr id="14356" name="Rectangle 10"/>
            <p:cNvSpPr>
              <a:spLocks noChangeArrowheads="1"/>
            </p:cNvSpPr>
            <p:nvPr/>
          </p:nvSpPr>
          <p:spPr bwMode="auto">
            <a:xfrm>
              <a:off x="1026" y="2192"/>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4357" name="Rectangle 11"/>
            <p:cNvSpPr>
              <a:spLocks noChangeArrowheads="1"/>
            </p:cNvSpPr>
            <p:nvPr/>
          </p:nvSpPr>
          <p:spPr bwMode="auto">
            <a:xfrm>
              <a:off x="1122" y="2328"/>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4358" name="Rectangle 12"/>
            <p:cNvSpPr>
              <a:spLocks noChangeArrowheads="1"/>
            </p:cNvSpPr>
            <p:nvPr/>
          </p:nvSpPr>
          <p:spPr bwMode="auto">
            <a:xfrm>
              <a:off x="1218" y="2464"/>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0</a:t>
              </a:r>
              <a:endParaRPr kumimoji="1" lang="zh-CN" altLang="en-US">
                <a:effectLst/>
                <a:ea typeface="宋体" pitchFamily="2" charset="-122"/>
              </a:endParaRPr>
            </a:p>
          </p:txBody>
        </p:sp>
        <p:sp>
          <p:nvSpPr>
            <p:cNvPr id="14359" name="Rectangle 13"/>
            <p:cNvSpPr>
              <a:spLocks noChangeArrowheads="1"/>
            </p:cNvSpPr>
            <p:nvPr/>
          </p:nvSpPr>
          <p:spPr bwMode="auto">
            <a:xfrm>
              <a:off x="1314" y="2600"/>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4360" name="Rectangle 14"/>
            <p:cNvSpPr>
              <a:spLocks noChangeArrowheads="1"/>
            </p:cNvSpPr>
            <p:nvPr/>
          </p:nvSpPr>
          <p:spPr bwMode="auto">
            <a:xfrm>
              <a:off x="1410" y="2736"/>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4361" name="Rectangle 15"/>
            <p:cNvSpPr>
              <a:spLocks noChangeArrowheads="1"/>
            </p:cNvSpPr>
            <p:nvPr/>
          </p:nvSpPr>
          <p:spPr bwMode="auto">
            <a:xfrm>
              <a:off x="1506" y="2873"/>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4362" name="Rectangle 16"/>
            <p:cNvSpPr>
              <a:spLocks noChangeArrowheads="1"/>
            </p:cNvSpPr>
            <p:nvPr/>
          </p:nvSpPr>
          <p:spPr bwMode="auto">
            <a:xfrm>
              <a:off x="1602" y="3009"/>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4363" name="Rectangle 17"/>
            <p:cNvSpPr>
              <a:spLocks noChangeArrowheads="1"/>
            </p:cNvSpPr>
            <p:nvPr/>
          </p:nvSpPr>
          <p:spPr bwMode="auto">
            <a:xfrm>
              <a:off x="1698" y="3145"/>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4364" name="Rectangle 18"/>
            <p:cNvSpPr>
              <a:spLocks noChangeArrowheads="1"/>
            </p:cNvSpPr>
            <p:nvPr/>
          </p:nvSpPr>
          <p:spPr bwMode="auto">
            <a:xfrm>
              <a:off x="1794" y="3281"/>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a:effectLst/>
                  <a:ea typeface="宋体" pitchFamily="2" charset="-122"/>
                </a:rPr>
                <a:t>Contents</a:t>
              </a:r>
              <a:endParaRPr kumimoji="1" lang="zh-CN" altLang="en-US">
                <a:effectLst/>
                <a:ea typeface="宋体" pitchFamily="2" charset="-122"/>
              </a:endParaRPr>
            </a:p>
          </p:txBody>
        </p:sp>
        <p:sp>
          <p:nvSpPr>
            <p:cNvPr id="14365" name="Rectangle 19"/>
            <p:cNvSpPr>
              <a:spLocks noChangeArrowheads="1"/>
            </p:cNvSpPr>
            <p:nvPr/>
          </p:nvSpPr>
          <p:spPr bwMode="auto">
            <a:xfrm>
              <a:off x="1890" y="3417"/>
              <a:ext cx="139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zh-CN" altLang="en-US" b="1">
                  <a:solidFill>
                    <a:srgbClr val="880000"/>
                  </a:solidFill>
                  <a:effectLst/>
                  <a:ea typeface="宋体" pitchFamily="2" charset="-122"/>
                </a:rPr>
                <a:t>0</a:t>
              </a:r>
              <a:r>
                <a:rPr lang="en-US" altLang="zh-CN" b="1">
                  <a:solidFill>
                    <a:srgbClr val="880000"/>
                  </a:solidFill>
                  <a:effectLst/>
                  <a:ea typeface="宋体" pitchFamily="2" charset="-122"/>
                </a:rPr>
                <a:t>x0037b000</a:t>
              </a:r>
            </a:p>
          </p:txBody>
        </p:sp>
      </p:grpSp>
      <p:sp>
        <p:nvSpPr>
          <p:cNvPr id="14342" name="Rectangle 21"/>
          <p:cNvSpPr>
            <a:spLocks noChangeArrowheads="1"/>
          </p:cNvSpPr>
          <p:nvPr/>
        </p:nvSpPr>
        <p:spPr bwMode="auto">
          <a:xfrm>
            <a:off x="2555875" y="6142038"/>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zh-CN" altLang="en-US" sz="1800">
                <a:effectLst/>
                <a:ea typeface="华文楷体" pitchFamily="2" charset="-122"/>
              </a:rPr>
              <a:t>某存储区域</a:t>
            </a:r>
          </a:p>
        </p:txBody>
      </p:sp>
      <p:sp>
        <p:nvSpPr>
          <p:cNvPr id="623638" name="Rectangle 22"/>
          <p:cNvSpPr>
            <a:spLocks noChangeArrowheads="1"/>
          </p:cNvSpPr>
          <p:nvPr/>
        </p:nvSpPr>
        <p:spPr bwMode="auto">
          <a:xfrm>
            <a:off x="1055688" y="39925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x0037b001</a:t>
            </a:r>
            <a:endParaRPr lang="zh-CN" altLang="en-US" b="1">
              <a:effectLst>
                <a:outerShdw blurRad="38100" dist="38100" dir="2700000" algn="tl">
                  <a:srgbClr val="C0C0C0"/>
                </a:outerShdw>
              </a:effectLst>
              <a:ea typeface="宋体" pitchFamily="2" charset="-122"/>
            </a:endParaRPr>
          </a:p>
        </p:txBody>
      </p:sp>
      <p:sp>
        <p:nvSpPr>
          <p:cNvPr id="623639" name="Rectangle 23"/>
          <p:cNvSpPr>
            <a:spLocks noChangeArrowheads="1"/>
          </p:cNvSpPr>
          <p:nvPr/>
        </p:nvSpPr>
        <p:spPr bwMode="auto">
          <a:xfrm>
            <a:off x="1223963" y="4259263"/>
            <a:ext cx="1725612"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x0037b002</a:t>
            </a:r>
            <a:endParaRPr lang="zh-CN" altLang="en-US" b="1">
              <a:effectLst>
                <a:outerShdw blurRad="38100" dist="38100" dir="2700000" algn="tl">
                  <a:srgbClr val="C0C0C0"/>
                </a:outerShdw>
              </a:effectLst>
              <a:ea typeface="宋体" pitchFamily="2" charset="-122"/>
            </a:endParaRPr>
          </a:p>
        </p:txBody>
      </p:sp>
      <p:sp>
        <p:nvSpPr>
          <p:cNvPr id="623640" name="Rectangle 24"/>
          <p:cNvSpPr>
            <a:spLocks noChangeArrowheads="1"/>
          </p:cNvSpPr>
          <p:nvPr/>
        </p:nvSpPr>
        <p:spPr bwMode="auto">
          <a:xfrm>
            <a:off x="1377950" y="4484688"/>
            <a:ext cx="1725613" cy="457200"/>
          </a:xfrm>
          <a:prstGeom prst="rect">
            <a:avLst/>
          </a:prstGeom>
          <a:noFill/>
          <a:ln w="12700">
            <a:noFill/>
            <a:miter lim="800000"/>
            <a:headEnd type="none" w="sm" len="sm"/>
            <a:tailEnd type="none" w="sm" len="sm"/>
          </a:ln>
          <a:effectLst/>
        </p:spPr>
        <p:txBody>
          <a:bodyPr wrap="none">
            <a:spAutoFit/>
          </a:bodyPr>
          <a:lstStyle/>
          <a:p>
            <a:pPr>
              <a:defRPr/>
            </a:pPr>
            <a:r>
              <a:rPr lang="zh-CN" altLang="en-US" b="1">
                <a:effectLst>
                  <a:outerShdw blurRad="38100" dist="38100" dir="2700000" algn="tl">
                    <a:srgbClr val="C0C0C0"/>
                  </a:outerShdw>
                </a:effectLst>
                <a:ea typeface="宋体" pitchFamily="2" charset="-122"/>
              </a:rPr>
              <a:t>0</a:t>
            </a:r>
            <a:r>
              <a:rPr lang="en-US" altLang="zh-CN" b="1">
                <a:effectLst>
                  <a:outerShdw blurRad="38100" dist="38100" dir="2700000" algn="tl">
                    <a:srgbClr val="C0C0C0"/>
                  </a:outerShdw>
                </a:effectLst>
                <a:ea typeface="宋体" pitchFamily="2" charset="-122"/>
              </a:rPr>
              <a:t>x0037b003</a:t>
            </a:r>
            <a:endParaRPr lang="zh-CN" altLang="en-US" b="1">
              <a:effectLst>
                <a:outerShdw blurRad="38100" dist="38100" dir="2700000" algn="tl">
                  <a:srgbClr val="C0C0C0"/>
                </a:outerShdw>
              </a:effectLst>
              <a:ea typeface="宋体" pitchFamily="2" charset="-122"/>
            </a:endParaRPr>
          </a:p>
        </p:txBody>
      </p:sp>
      <p:sp>
        <p:nvSpPr>
          <p:cNvPr id="623642" name="Rectangle 26"/>
          <p:cNvSpPr>
            <a:spLocks noChangeArrowheads="1"/>
          </p:cNvSpPr>
          <p:nvPr/>
        </p:nvSpPr>
        <p:spPr bwMode="auto">
          <a:xfrm>
            <a:off x="539750" y="1700213"/>
            <a:ext cx="7848600" cy="839787"/>
          </a:xfrm>
          <a:prstGeom prst="rect">
            <a:avLst/>
          </a:prstGeom>
          <a:solidFill>
            <a:srgbClr val="FFCC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sz="2800" b="1" dirty="0">
                <a:solidFill>
                  <a:srgbClr val="000066"/>
                </a:solidFill>
                <a:effectLst/>
                <a:ea typeface="楷体_GB2312" pitchFamily="49" charset="-122"/>
              </a:rPr>
              <a:t>间接寻址：通过存放</a:t>
            </a:r>
            <a:r>
              <a:rPr lang="zh-CN" altLang="en-US" sz="2800" b="1" dirty="0">
                <a:solidFill>
                  <a:srgbClr val="FF0000"/>
                </a:solidFill>
                <a:effectLst/>
                <a:ea typeface="楷体_GB2312" pitchFamily="49" charset="-122"/>
              </a:rPr>
              <a:t>变量</a:t>
            </a:r>
            <a:r>
              <a:rPr lang="zh-CN" altLang="en-US" sz="2800" b="1" dirty="0">
                <a:solidFill>
                  <a:srgbClr val="000066"/>
                </a:solidFill>
                <a:effectLst/>
                <a:ea typeface="楷体_GB2312" pitchFamily="49" charset="-122"/>
              </a:rPr>
              <a:t>地址的变量去访问</a:t>
            </a:r>
            <a:r>
              <a:rPr lang="zh-CN" altLang="en-US" sz="2800" b="1" dirty="0">
                <a:solidFill>
                  <a:srgbClr val="FF0000"/>
                </a:solidFill>
                <a:effectLst/>
                <a:ea typeface="楷体_GB2312" pitchFamily="49" charset="-122"/>
              </a:rPr>
              <a:t>变量</a:t>
            </a:r>
          </a:p>
        </p:txBody>
      </p:sp>
      <p:sp>
        <p:nvSpPr>
          <p:cNvPr id="623644" name="Rectangle 28"/>
          <p:cNvSpPr>
            <a:spLocks noChangeArrowheads="1"/>
          </p:cNvSpPr>
          <p:nvPr/>
        </p:nvSpPr>
        <p:spPr bwMode="auto">
          <a:xfrm>
            <a:off x="323850" y="3692525"/>
            <a:ext cx="554038"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&amp;a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pic>
        <p:nvPicPr>
          <p:cNvPr id="14348" name="Picture 29" descr="J0234687"/>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7019925" y="5300663"/>
            <a:ext cx="1655763" cy="974725"/>
          </a:xfrm>
          <a:noFill/>
          <a:extLst>
            <a:ext uri="{909E8E84-426E-40DD-AFC4-6F175D3DCCD1}">
              <a14:hiddenFill xmlns:a14="http://schemas.microsoft.com/office/drawing/2010/main">
                <a:solidFill>
                  <a:srgbClr val="FFFFFF"/>
                </a:solidFill>
              </a14:hiddenFill>
            </a:ext>
          </a:extLst>
        </p:spPr>
      </p:pic>
      <p:grpSp>
        <p:nvGrpSpPr>
          <p:cNvPr id="4" name="Group 33"/>
          <p:cNvGrpSpPr>
            <a:grpSpLocks/>
          </p:cNvGrpSpPr>
          <p:nvPr/>
        </p:nvGrpSpPr>
        <p:grpSpPr bwMode="auto">
          <a:xfrm>
            <a:off x="5580063" y="3860800"/>
            <a:ext cx="1296987" cy="2232025"/>
            <a:chOff x="3515" y="2432"/>
            <a:chExt cx="817" cy="1406"/>
          </a:xfrm>
        </p:grpSpPr>
        <p:sp>
          <p:nvSpPr>
            <p:cNvPr id="623646" name="Line 30"/>
            <p:cNvSpPr>
              <a:spLocks noChangeShapeType="1"/>
            </p:cNvSpPr>
            <p:nvPr/>
          </p:nvSpPr>
          <p:spPr bwMode="auto">
            <a:xfrm>
              <a:off x="4014" y="3838"/>
              <a:ext cx="318" cy="0"/>
            </a:xfrm>
            <a:prstGeom prst="line">
              <a:avLst/>
            </a:prstGeom>
            <a:noFill/>
            <a:ln w="38100">
              <a:solidFill>
                <a:srgbClr val="800000"/>
              </a:solidFill>
              <a:round/>
              <a:headEnd type="none" w="sm" len="sm"/>
              <a:tailEnd type="none" w="sm" len="sm"/>
            </a:ln>
            <a:effectLst/>
          </p:spPr>
          <p:txBody>
            <a:bodyPr/>
            <a:lstStyle/>
            <a:p>
              <a:pPr>
                <a:defRPr/>
              </a:pPr>
              <a:endParaRPr lang="zh-CN" altLang="en-US"/>
            </a:p>
          </p:txBody>
        </p:sp>
        <p:sp>
          <p:nvSpPr>
            <p:cNvPr id="623647" name="Line 31"/>
            <p:cNvSpPr>
              <a:spLocks noChangeShapeType="1"/>
            </p:cNvSpPr>
            <p:nvPr/>
          </p:nvSpPr>
          <p:spPr bwMode="auto">
            <a:xfrm flipV="1">
              <a:off x="4332" y="2432"/>
              <a:ext cx="0" cy="1406"/>
            </a:xfrm>
            <a:prstGeom prst="line">
              <a:avLst/>
            </a:prstGeom>
            <a:noFill/>
            <a:ln w="38100">
              <a:solidFill>
                <a:srgbClr val="800000"/>
              </a:solidFill>
              <a:round/>
              <a:headEnd type="none" w="sm" len="sm"/>
              <a:tailEnd type="none" w="sm" len="sm"/>
            </a:ln>
            <a:effectLst/>
          </p:spPr>
          <p:txBody>
            <a:bodyPr/>
            <a:lstStyle/>
            <a:p>
              <a:pPr>
                <a:defRPr/>
              </a:pPr>
              <a:endParaRPr lang="zh-CN" altLang="en-US"/>
            </a:p>
          </p:txBody>
        </p:sp>
        <p:sp>
          <p:nvSpPr>
            <p:cNvPr id="623648" name="Line 32"/>
            <p:cNvSpPr>
              <a:spLocks noChangeShapeType="1"/>
            </p:cNvSpPr>
            <p:nvPr/>
          </p:nvSpPr>
          <p:spPr bwMode="auto">
            <a:xfrm flipH="1">
              <a:off x="3515" y="2432"/>
              <a:ext cx="817" cy="0"/>
            </a:xfrm>
            <a:prstGeom prst="line">
              <a:avLst/>
            </a:prstGeom>
            <a:noFill/>
            <a:ln w="38100">
              <a:solidFill>
                <a:srgbClr val="800000"/>
              </a:solidFill>
              <a:round/>
              <a:headEnd type="none" w="sm" len="sm"/>
              <a:tailEnd type="triangle" w="med" len="lg"/>
            </a:ln>
            <a:effectLst/>
          </p:spPr>
          <p:txBody>
            <a:bodyPr/>
            <a:lstStyle/>
            <a:p>
              <a:pPr>
                <a:defRPr/>
              </a:pPr>
              <a:endParaRPr lang="zh-CN" altLang="en-US"/>
            </a:p>
          </p:txBody>
        </p:sp>
      </p:grpSp>
      <p:sp>
        <p:nvSpPr>
          <p:cNvPr id="32" name="Rectangle 47"/>
          <p:cNvSpPr>
            <a:spLocks noChangeArrowheads="1"/>
          </p:cNvSpPr>
          <p:nvPr/>
        </p:nvSpPr>
        <p:spPr bwMode="auto">
          <a:xfrm>
            <a:off x="5099050" y="3619500"/>
            <a:ext cx="368300" cy="461963"/>
          </a:xfrm>
          <a:prstGeom prst="rect">
            <a:avLst/>
          </a:prstGeom>
          <a:noFill/>
          <a:ln w="12700">
            <a:noFill/>
            <a:miter lim="800000"/>
            <a:headEnd type="none" w="sm" len="sm"/>
            <a:tailEnd type="none" w="sm" len="sm"/>
          </a:ln>
          <a:effectLst/>
        </p:spPr>
        <p:txBody>
          <a:bodyPr wrap="none">
            <a:spAutoFit/>
          </a:bodyPr>
          <a:lstStyle/>
          <a:p>
            <a:pPr>
              <a:defRPr/>
            </a:pP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a</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
        <p:nvSpPr>
          <p:cNvPr id="33" name="Rectangle 32"/>
          <p:cNvSpPr>
            <a:spLocks noChangeArrowheads="1"/>
          </p:cNvSpPr>
          <p:nvPr/>
        </p:nvSpPr>
        <p:spPr bwMode="auto">
          <a:xfrm>
            <a:off x="2484438" y="3167063"/>
            <a:ext cx="1843087" cy="461962"/>
          </a:xfrm>
          <a:prstGeom prst="rect">
            <a:avLst/>
          </a:prstGeom>
          <a:noFill/>
          <a:ln w="12700">
            <a:noFill/>
            <a:miter lim="800000"/>
            <a:headEnd type="none" w="sm" len="sm"/>
            <a:tailEnd type="none" w="sm" len="sm"/>
          </a:ln>
          <a:effectLst/>
        </p:spPr>
        <p:txBody>
          <a:bodyPr wrap="none">
            <a:spAutoFit/>
          </a:bodyPr>
          <a:lstStyle/>
          <a:p>
            <a:pPr>
              <a:defRPr/>
            </a:pPr>
            <a:r>
              <a:rPr lang="en-US" altLang="zh-CN" b="1" dirty="0" err="1">
                <a:effectLst>
                  <a:outerShdw blurRad="38100" dist="38100" dir="2700000" algn="tl">
                    <a:srgbClr val="C0C0C0"/>
                  </a:outerShdw>
                </a:effectLst>
                <a:latin typeface="Courier New" pitchFamily="49" charset="0"/>
                <a:ea typeface="宋体" pitchFamily="2" charset="-122"/>
                <a:cs typeface="Courier New" pitchFamily="49" charset="0"/>
              </a:rPr>
              <a:t>int</a:t>
            </a:r>
            <a:r>
              <a:rPr lang="en-US" altLang="zh-CN" b="1" dirty="0">
                <a:effectLst>
                  <a:outerShdw blurRad="38100" dist="38100" dir="2700000" algn="tl">
                    <a:srgbClr val="C0C0C0"/>
                  </a:outerShdw>
                </a:effectLst>
                <a:latin typeface="Courier New" pitchFamily="49" charset="0"/>
                <a:ea typeface="宋体" pitchFamily="2" charset="-122"/>
                <a:cs typeface="Courier New" pitchFamily="49" charset="0"/>
              </a:rPr>
              <a:t>  a=0;</a:t>
            </a:r>
            <a:endParaRPr lang="zh-CN" altLang="en-US" b="1" dirty="0">
              <a:effectLst>
                <a:outerShdw blurRad="38100" dist="38100" dir="2700000" algn="tl">
                  <a:srgbClr val="C0C0C0"/>
                </a:outerShdw>
              </a:effectLst>
              <a:latin typeface="Courier New" pitchFamily="49" charset="0"/>
              <a:ea typeface="宋体" pitchFamily="2" charset="-122"/>
              <a:cs typeface="Courier New" pitchFamily="49" charset="0"/>
            </a:endParaRPr>
          </a:p>
        </p:txBody>
      </p:sp>
    </p:spTree>
    <p:extLst>
      <p:ext uri="{BB962C8B-B14F-4D97-AF65-F5344CB8AC3E}">
        <p14:creationId xmlns:p14="http://schemas.microsoft.com/office/powerpoint/2010/main" val="776816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623642"/>
                                        </p:tgtEl>
                                        <p:attrNameLst>
                                          <p:attrName>style.visibility</p:attrName>
                                        </p:attrNameLst>
                                      </p:cBhvr>
                                      <p:to>
                                        <p:strVal val="visible"/>
                                      </p:to>
                                    </p:set>
                                    <p:anim calcmode="lin" valueType="num">
                                      <p:cBhvr>
                                        <p:cTn id="12" dur="500" fill="hold"/>
                                        <p:tgtEl>
                                          <p:spTgt spid="623642"/>
                                        </p:tgtEl>
                                        <p:attrNameLst>
                                          <p:attrName>ppt_w</p:attrName>
                                        </p:attrNameLst>
                                      </p:cBhvr>
                                      <p:tavLst>
                                        <p:tav tm="0">
                                          <p:val>
                                            <p:fltVal val="0"/>
                                          </p:val>
                                        </p:tav>
                                        <p:tav tm="100000">
                                          <p:val>
                                            <p:strVal val="#ppt_w"/>
                                          </p:val>
                                        </p:tav>
                                      </p:tavLst>
                                    </p:anim>
                                    <p:anim calcmode="lin" valueType="num">
                                      <p:cBhvr>
                                        <p:cTn id="13" dur="500" fill="hold"/>
                                        <p:tgtEl>
                                          <p:spTgt spid="623642"/>
                                        </p:tgtEl>
                                        <p:attrNameLst>
                                          <p:attrName>ppt_h</p:attrName>
                                        </p:attrNameLst>
                                      </p:cBhvr>
                                      <p:tavLst>
                                        <p:tav tm="0">
                                          <p:val>
                                            <p:fltVal val="0"/>
                                          </p:val>
                                        </p:tav>
                                        <p:tav tm="100000">
                                          <p:val>
                                            <p:strVal val="#ppt_h"/>
                                          </p:val>
                                        </p:tav>
                                      </p:tavLst>
                                    </p:anim>
                                    <p:animEffect transition="in" filter="fade">
                                      <p:cBhvr>
                                        <p:cTn id="14" dur="500"/>
                                        <p:tgtEl>
                                          <p:spTgt spid="623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42"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7" name="Rectangle 3"/>
          <p:cNvSpPr>
            <a:spLocks noGrp="1" noChangeArrowheads="1"/>
          </p:cNvSpPr>
          <p:nvPr>
            <p:ph type="body" idx="4294967295"/>
          </p:nvPr>
        </p:nvSpPr>
        <p:spPr>
          <a:xfrm>
            <a:off x="539750" y="1912938"/>
            <a:ext cx="4533900" cy="3373437"/>
          </a:xfrm>
        </p:spPr>
        <p:txBody>
          <a:bodyPr lIns="91440" tIns="45720" rIns="91440" bIns="45720"/>
          <a:lstStyle/>
          <a:p>
            <a:pPr eaLnBrk="1">
              <a:defRPr/>
            </a:pPr>
            <a:r>
              <a:rPr lang="en-US" altLang="zh-CN" dirty="0" err="1">
                <a:solidFill>
                  <a:srgbClr val="0000FF"/>
                </a:solidFill>
                <a:latin typeface="Courier New" pitchFamily="49" charset="0"/>
                <a:ea typeface="宋体" pitchFamily="2" charset="-122"/>
              </a:rPr>
              <a:t>int</a:t>
            </a:r>
            <a:r>
              <a:rPr lang="en-US" altLang="zh-CN" dirty="0">
                <a:solidFill>
                  <a:srgbClr val="000000"/>
                </a:solidFill>
                <a:latin typeface="Courier New" pitchFamily="49" charset="0"/>
                <a:ea typeface="宋体" pitchFamily="2" charset="-122"/>
              </a:rPr>
              <a:t> </a:t>
            </a:r>
            <a:r>
              <a:rPr lang="en-US" altLang="zh-CN" dirty="0" err="1">
                <a:solidFill>
                  <a:srgbClr val="000000"/>
                </a:solidFill>
                <a:latin typeface="Courier New" pitchFamily="49" charset="0"/>
                <a:ea typeface="宋体" pitchFamily="2" charset="-122"/>
              </a:rPr>
              <a:t>i</a:t>
            </a:r>
            <a:r>
              <a:rPr lang="en-US" altLang="zh-CN" dirty="0">
                <a:solidFill>
                  <a:srgbClr val="000000"/>
                </a:solidFill>
                <a:latin typeface="Courier New" pitchFamily="49" charset="0"/>
                <a:ea typeface="宋体" pitchFamily="2" charset="-122"/>
              </a:rPr>
              <a:t>;</a:t>
            </a:r>
            <a:br>
              <a:rPr lang="en-US" altLang="zh-CN" dirty="0">
                <a:solidFill>
                  <a:srgbClr val="000000"/>
                </a:solidFill>
                <a:latin typeface="Courier New" pitchFamily="49" charset="0"/>
                <a:ea typeface="宋体" pitchFamily="2" charset="-122"/>
              </a:rPr>
            </a:br>
            <a:r>
              <a:rPr lang="en-US" altLang="zh-CN" dirty="0" err="1">
                <a:solidFill>
                  <a:srgbClr val="000000"/>
                </a:solidFill>
                <a:latin typeface="Courier New" pitchFamily="49" charset="0"/>
                <a:ea typeface="宋体" pitchFamily="2" charset="-122"/>
              </a:rPr>
              <a:t>scanf</a:t>
            </a:r>
            <a:r>
              <a:rPr lang="en-US" altLang="zh-CN" dirty="0">
                <a:solidFill>
                  <a:srgbClr val="000000"/>
                </a:solidFill>
                <a:latin typeface="Courier New" pitchFamily="49" charset="0"/>
                <a:ea typeface="宋体" pitchFamily="2" charset="-122"/>
              </a:rPr>
              <a:t>("%d", </a:t>
            </a:r>
            <a:r>
              <a:rPr lang="en-US" altLang="zh-CN" dirty="0" err="1">
                <a:solidFill>
                  <a:srgbClr val="000000"/>
                </a:solidFill>
                <a:latin typeface="Courier New" pitchFamily="49" charset="0"/>
                <a:ea typeface="宋体" pitchFamily="2" charset="-122"/>
              </a:rPr>
              <a:t>i</a:t>
            </a:r>
            <a:r>
              <a:rPr lang="en-US" altLang="zh-CN" dirty="0">
                <a:solidFill>
                  <a:srgbClr val="000000"/>
                </a:solidFill>
                <a:latin typeface="Courier New" pitchFamily="49" charset="0"/>
                <a:ea typeface="宋体" pitchFamily="2" charset="-122"/>
              </a:rPr>
              <a:t>); </a:t>
            </a:r>
            <a:br>
              <a:rPr lang="en-US" altLang="zh-CN" dirty="0">
                <a:solidFill>
                  <a:srgbClr val="000000"/>
                </a:solidFill>
                <a:latin typeface="Courier New" pitchFamily="49" charset="0"/>
                <a:ea typeface="宋体" pitchFamily="2" charset="-122"/>
              </a:rPr>
            </a:br>
            <a:r>
              <a:rPr lang="en-US" altLang="zh-CN" dirty="0">
                <a:solidFill>
                  <a:srgbClr val="008800"/>
                </a:solidFill>
                <a:latin typeface="仿宋_GB2312" pitchFamily="49" charset="-122"/>
                <a:ea typeface="仿宋_GB2312" pitchFamily="49" charset="-122"/>
              </a:rPr>
              <a:t>/* </a:t>
            </a:r>
            <a:r>
              <a:rPr lang="zh-CN" altLang="en-US" dirty="0">
                <a:solidFill>
                  <a:srgbClr val="008800"/>
                </a:solidFill>
                <a:latin typeface="仿宋_GB2312" pitchFamily="49" charset="-122"/>
                <a:ea typeface="仿宋_GB2312" pitchFamily="49" charset="-122"/>
              </a:rPr>
              <a:t>这样会如何？*</a:t>
            </a:r>
            <a:r>
              <a:rPr lang="en-US" altLang="zh-CN" dirty="0">
                <a:solidFill>
                  <a:srgbClr val="008800"/>
                </a:solidFill>
                <a:latin typeface="仿宋_GB2312" pitchFamily="49" charset="-122"/>
                <a:ea typeface="仿宋_GB2312" pitchFamily="49" charset="-122"/>
              </a:rPr>
              <a:t>/</a:t>
            </a:r>
          </a:p>
          <a:p>
            <a:pPr eaLnBrk="1">
              <a:defRPr/>
            </a:pPr>
            <a:endParaRPr lang="en-US" altLang="zh-CN" dirty="0">
              <a:solidFill>
                <a:srgbClr val="008800"/>
              </a:solidFill>
              <a:latin typeface="Courier New" pitchFamily="49" charset="0"/>
              <a:ea typeface="宋体" pitchFamily="2" charset="-122"/>
            </a:endParaRPr>
          </a:p>
          <a:p>
            <a:pPr eaLnBrk="1">
              <a:defRPr/>
            </a:pPr>
            <a:r>
              <a:rPr lang="en-US" altLang="zh-CN" dirty="0">
                <a:solidFill>
                  <a:srgbClr val="0000FF"/>
                </a:solidFill>
                <a:latin typeface="Courier New" pitchFamily="49" charset="0"/>
                <a:ea typeface="宋体" pitchFamily="2" charset="-122"/>
              </a:rPr>
              <a:t>char</a:t>
            </a:r>
            <a:r>
              <a:rPr lang="en-US" altLang="zh-CN" dirty="0">
                <a:solidFill>
                  <a:srgbClr val="000000"/>
                </a:solidFill>
                <a:latin typeface="Courier New" pitchFamily="49" charset="0"/>
                <a:ea typeface="宋体" pitchFamily="2" charset="-122"/>
              </a:rPr>
              <a:t> c;</a:t>
            </a:r>
            <a:br>
              <a:rPr lang="en-US" altLang="zh-CN" dirty="0">
                <a:solidFill>
                  <a:srgbClr val="000000"/>
                </a:solidFill>
                <a:latin typeface="Courier New" pitchFamily="49" charset="0"/>
                <a:ea typeface="宋体" pitchFamily="2" charset="-122"/>
              </a:rPr>
            </a:br>
            <a:r>
              <a:rPr lang="en-US" altLang="zh-CN" dirty="0" err="1">
                <a:solidFill>
                  <a:srgbClr val="000000"/>
                </a:solidFill>
                <a:latin typeface="Courier New" pitchFamily="49" charset="0"/>
                <a:ea typeface="宋体" pitchFamily="2" charset="-122"/>
              </a:rPr>
              <a:t>scanf</a:t>
            </a:r>
            <a:r>
              <a:rPr lang="en-US" altLang="zh-CN" dirty="0">
                <a:solidFill>
                  <a:srgbClr val="000000"/>
                </a:solidFill>
                <a:latin typeface="Courier New" pitchFamily="49" charset="0"/>
                <a:ea typeface="宋体" pitchFamily="2" charset="-122"/>
              </a:rPr>
              <a:t>("%d", &amp;c); </a:t>
            </a:r>
            <a:br>
              <a:rPr lang="en-US" altLang="zh-CN" dirty="0">
                <a:solidFill>
                  <a:srgbClr val="000000"/>
                </a:solidFill>
                <a:latin typeface="Courier New" pitchFamily="49" charset="0"/>
                <a:ea typeface="宋体" pitchFamily="2" charset="-122"/>
              </a:rPr>
            </a:br>
            <a:r>
              <a:rPr lang="en-US" altLang="zh-CN" dirty="0">
                <a:solidFill>
                  <a:srgbClr val="008800"/>
                </a:solidFill>
                <a:latin typeface="仿宋_GB2312" pitchFamily="49" charset="-122"/>
                <a:ea typeface="仿宋_GB2312" pitchFamily="49" charset="-122"/>
              </a:rPr>
              <a:t>/* </a:t>
            </a:r>
            <a:r>
              <a:rPr lang="zh-CN" altLang="en-US" dirty="0">
                <a:solidFill>
                  <a:srgbClr val="008800"/>
                </a:solidFill>
                <a:latin typeface="仿宋_GB2312" pitchFamily="49" charset="-122"/>
                <a:ea typeface="仿宋_GB2312" pitchFamily="49" charset="-122"/>
              </a:rPr>
              <a:t>这样呢？*</a:t>
            </a:r>
            <a:r>
              <a:rPr lang="en-US" altLang="zh-CN" dirty="0">
                <a:solidFill>
                  <a:srgbClr val="008800"/>
                </a:solidFill>
                <a:latin typeface="仿宋_GB2312" pitchFamily="49" charset="-122"/>
                <a:ea typeface="仿宋_GB2312" pitchFamily="49" charset="-122"/>
              </a:rPr>
              <a:t>/</a:t>
            </a:r>
          </a:p>
        </p:txBody>
      </p:sp>
      <p:sp>
        <p:nvSpPr>
          <p:cNvPr id="195588" name="AutoShape 4"/>
          <p:cNvSpPr>
            <a:spLocks noChangeArrowheads="1"/>
          </p:cNvSpPr>
          <p:nvPr/>
        </p:nvSpPr>
        <p:spPr bwMode="auto">
          <a:xfrm>
            <a:off x="4932363" y="2559050"/>
            <a:ext cx="3997325" cy="1085850"/>
          </a:xfrm>
          <a:prstGeom prst="wedgeRoundRectCallout">
            <a:avLst>
              <a:gd name="adj1" fmla="val -62829"/>
              <a:gd name="adj2" fmla="val -49560"/>
              <a:gd name="adj3" fmla="val 16667"/>
            </a:avLst>
          </a:prstGeom>
          <a:solidFill>
            <a:srgbClr val="FFFF99"/>
          </a:solidFill>
          <a:ln w="12700">
            <a:solidFill>
              <a:schemeClr val="tx1"/>
            </a:solidFill>
            <a:miter lim="800000"/>
            <a:headEnd type="none" w="sm" len="sm"/>
            <a:tailEnd type="none" w="sm" len="sm"/>
          </a:ln>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zh-CN" sz="2000" b="1">
                <a:solidFill>
                  <a:srgbClr val="000066"/>
                </a:solidFill>
                <a:effectLst/>
                <a:latin typeface="Courier New" pitchFamily="49" charset="0"/>
                <a:ea typeface="宋体" pitchFamily="2" charset="-122"/>
                <a:cs typeface="Courier New" pitchFamily="49" charset="0"/>
              </a:rPr>
              <a:t>i</a:t>
            </a:r>
            <a:r>
              <a:rPr lang="zh-CN" altLang="en-US" sz="2000" b="1">
                <a:solidFill>
                  <a:srgbClr val="000066"/>
                </a:solidFill>
                <a:effectLst/>
                <a:latin typeface="Courier New" pitchFamily="49" charset="0"/>
                <a:ea typeface="宋体" pitchFamily="2" charset="-122"/>
                <a:cs typeface="Courier New" pitchFamily="49" charset="0"/>
              </a:rPr>
              <a:t>的值被当作地址。如</a:t>
            </a:r>
            <a:r>
              <a:rPr lang="en-US" altLang="zh-CN" sz="2000" b="1">
                <a:solidFill>
                  <a:srgbClr val="000066"/>
                </a:solidFill>
                <a:effectLst/>
                <a:latin typeface="Courier New" pitchFamily="49" charset="0"/>
                <a:ea typeface="宋体" pitchFamily="2" charset="-122"/>
                <a:cs typeface="Courier New" pitchFamily="49" charset="0"/>
              </a:rPr>
              <a:t>i==100</a:t>
            </a:r>
            <a:r>
              <a:rPr lang="zh-CN" altLang="en-US" sz="2000" b="1">
                <a:solidFill>
                  <a:srgbClr val="000066"/>
                </a:solidFill>
                <a:effectLst/>
                <a:latin typeface="Courier New" pitchFamily="49" charset="0"/>
                <a:ea typeface="宋体" pitchFamily="2" charset="-122"/>
                <a:cs typeface="Courier New" pitchFamily="49" charset="0"/>
              </a:rPr>
              <a:t>，则输入的整数就会从地址</a:t>
            </a:r>
            <a:r>
              <a:rPr lang="en-US" altLang="zh-CN" sz="2000" b="1">
                <a:solidFill>
                  <a:srgbClr val="000066"/>
                </a:solidFill>
                <a:effectLst/>
                <a:latin typeface="Courier New" pitchFamily="49" charset="0"/>
                <a:ea typeface="宋体" pitchFamily="2" charset="-122"/>
                <a:cs typeface="Courier New" pitchFamily="49" charset="0"/>
              </a:rPr>
              <a:t>100</a:t>
            </a:r>
            <a:r>
              <a:rPr lang="zh-CN" altLang="en-US" sz="2000" b="1">
                <a:solidFill>
                  <a:srgbClr val="000066"/>
                </a:solidFill>
                <a:effectLst/>
                <a:latin typeface="Courier New" pitchFamily="49" charset="0"/>
                <a:ea typeface="宋体" pitchFamily="2" charset="-122"/>
                <a:cs typeface="Courier New" pitchFamily="49" charset="0"/>
              </a:rPr>
              <a:t>开始写入内存</a:t>
            </a:r>
          </a:p>
        </p:txBody>
      </p:sp>
      <p:sp>
        <p:nvSpPr>
          <p:cNvPr id="195591" name="AutoShape 7"/>
          <p:cNvSpPr>
            <a:spLocks noChangeArrowheads="1"/>
          </p:cNvSpPr>
          <p:nvPr/>
        </p:nvSpPr>
        <p:spPr bwMode="auto">
          <a:xfrm>
            <a:off x="4859338" y="4500563"/>
            <a:ext cx="4105275" cy="1376362"/>
          </a:xfrm>
          <a:prstGeom prst="wedgeRoundRectCallout">
            <a:avLst>
              <a:gd name="adj1" fmla="val -60519"/>
              <a:gd name="adj2" fmla="val -50690"/>
              <a:gd name="adj3" fmla="val 16667"/>
            </a:avLst>
          </a:prstGeom>
          <a:solidFill>
            <a:srgbClr val="FFFF99"/>
          </a:solidFill>
          <a:ln w="12700">
            <a:solidFill>
              <a:schemeClr val="tx1"/>
            </a:solidFill>
            <a:miter lim="800000"/>
            <a:headEnd type="none" w="sm" len="sm"/>
            <a:tailEnd type="none" w="sm" len="sm"/>
          </a:ln>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zh-CN" altLang="en-US" sz="2000" b="1">
                <a:solidFill>
                  <a:srgbClr val="000066"/>
                </a:solidFill>
                <a:effectLst/>
                <a:latin typeface="Courier New" pitchFamily="49" charset="0"/>
                <a:ea typeface="宋体" pitchFamily="2" charset="-122"/>
              </a:rPr>
              <a:t>输入以</a:t>
            </a:r>
            <a:r>
              <a:rPr lang="en-US" altLang="zh-CN" sz="2000" b="1">
                <a:solidFill>
                  <a:srgbClr val="000066"/>
                </a:solidFill>
                <a:effectLst/>
                <a:latin typeface="Courier New" pitchFamily="49" charset="0"/>
                <a:ea typeface="宋体" pitchFamily="2" charset="-122"/>
              </a:rPr>
              <a:t>int</a:t>
            </a:r>
            <a:r>
              <a:rPr lang="zh-CN" altLang="en-US" sz="2000" b="1">
                <a:solidFill>
                  <a:srgbClr val="000066"/>
                </a:solidFill>
                <a:effectLst/>
                <a:latin typeface="Courier New" pitchFamily="49" charset="0"/>
                <a:ea typeface="宋体" pitchFamily="2" charset="-122"/>
              </a:rPr>
              <a:t>的二进制形式写到</a:t>
            </a:r>
            <a:r>
              <a:rPr lang="en-US" altLang="zh-CN" sz="2000" b="1">
                <a:solidFill>
                  <a:srgbClr val="000066"/>
                </a:solidFill>
                <a:effectLst/>
                <a:latin typeface="Courier New" pitchFamily="49" charset="0"/>
                <a:ea typeface="宋体" pitchFamily="2" charset="-122"/>
              </a:rPr>
              <a:t>c</a:t>
            </a:r>
            <a:r>
              <a:rPr lang="zh-CN" altLang="en-US" sz="2000" b="1">
                <a:solidFill>
                  <a:srgbClr val="000066"/>
                </a:solidFill>
                <a:effectLst/>
                <a:latin typeface="Courier New" pitchFamily="49" charset="0"/>
                <a:ea typeface="宋体" pitchFamily="2" charset="-122"/>
              </a:rPr>
              <a:t>所在的内存空间。</a:t>
            </a:r>
          </a:p>
          <a:p>
            <a:pPr eaLnBrk="1" hangingPunct="1"/>
            <a:r>
              <a:rPr lang="en-US" altLang="zh-CN" sz="2000" b="1">
                <a:solidFill>
                  <a:srgbClr val="000066"/>
                </a:solidFill>
                <a:effectLst/>
                <a:latin typeface="Courier New" pitchFamily="49" charset="0"/>
                <a:ea typeface="宋体" pitchFamily="2" charset="-122"/>
              </a:rPr>
              <a:t>c</a:t>
            </a:r>
            <a:r>
              <a:rPr lang="zh-CN" altLang="en-US" sz="2000" b="1">
                <a:solidFill>
                  <a:srgbClr val="000066"/>
                </a:solidFill>
                <a:effectLst/>
                <a:latin typeface="Courier New" pitchFamily="49" charset="0"/>
                <a:ea typeface="宋体" pitchFamily="2" charset="-122"/>
              </a:rPr>
              <a:t>所占内存不足以放下一个</a:t>
            </a:r>
            <a:r>
              <a:rPr lang="en-US" altLang="zh-CN" sz="2000" b="1">
                <a:solidFill>
                  <a:srgbClr val="000066"/>
                </a:solidFill>
                <a:effectLst/>
                <a:latin typeface="Courier New" pitchFamily="49" charset="0"/>
                <a:ea typeface="宋体" pitchFamily="2" charset="-122"/>
              </a:rPr>
              <a:t>int</a:t>
            </a:r>
            <a:r>
              <a:rPr lang="zh-CN" altLang="en-US" sz="2000" b="1">
                <a:solidFill>
                  <a:srgbClr val="000066"/>
                </a:solidFill>
                <a:effectLst/>
                <a:latin typeface="Courier New" pitchFamily="49" charset="0"/>
                <a:ea typeface="宋体" pitchFamily="2" charset="-122"/>
              </a:rPr>
              <a:t>，其后的空间也被覆盖</a:t>
            </a:r>
            <a:endParaRPr lang="en-US" altLang="zh-CN" sz="2000" b="1">
              <a:solidFill>
                <a:srgbClr val="000066"/>
              </a:solidFill>
              <a:effectLst/>
              <a:latin typeface="Courier New" pitchFamily="49" charset="0"/>
              <a:ea typeface="宋体" pitchFamily="2" charset="-122"/>
            </a:endParaRPr>
          </a:p>
          <a:p>
            <a:pPr eaLnBrk="1" hangingPunct="1"/>
            <a:endParaRPr lang="zh-CN" altLang="en-US" sz="2000" b="1">
              <a:solidFill>
                <a:srgbClr val="000066"/>
              </a:solidFill>
              <a:effectLst/>
              <a:latin typeface="Arial" charset="0"/>
              <a:ea typeface="宋体" pitchFamily="2" charset="-122"/>
            </a:endParaRPr>
          </a:p>
        </p:txBody>
      </p:sp>
      <p:graphicFrame>
        <p:nvGraphicFramePr>
          <p:cNvPr id="1026" name="Object 2"/>
          <p:cNvGraphicFramePr>
            <a:graphicFrameLocks/>
          </p:cNvGraphicFramePr>
          <p:nvPr/>
        </p:nvGraphicFramePr>
        <p:xfrm>
          <a:off x="8212138" y="854075"/>
          <a:ext cx="766762" cy="1279525"/>
        </p:xfrm>
        <a:graphic>
          <a:graphicData uri="http://schemas.openxmlformats.org/presentationml/2006/ole">
            <mc:AlternateContent xmlns:mc="http://schemas.openxmlformats.org/markup-compatibility/2006">
              <mc:Choice xmlns:v="urn:schemas-microsoft-com:vml" Requires="v">
                <p:oleObj name="Clip" r:id="rId3" imgW="2193938" imgH="3658765" progId="MS_ClipArt_Gallery.2">
                  <p:embed/>
                </p:oleObj>
              </mc:Choice>
              <mc:Fallback>
                <p:oleObj name="Clip" r:id="rId3" imgW="2193938" imgH="3658765"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2138" y="854075"/>
                        <a:ext cx="766762"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30" name="Picture 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3575" y="849313"/>
            <a:ext cx="2713038"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2" descr="想问题的3D小人图片素材"/>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950" y="5346700"/>
            <a:ext cx="13684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21937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wipe(left)">
                                      <p:cBhvr>
                                        <p:cTn id="7" dur="500"/>
                                        <p:tgtEl>
                                          <p:spTgt spid="195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587">
                                            <p:txEl>
                                              <p:pRg st="2" end="2"/>
                                            </p:txEl>
                                          </p:spTgt>
                                        </p:tgtEl>
                                        <p:attrNameLst>
                                          <p:attrName>style.visibility</p:attrName>
                                        </p:attrNameLst>
                                      </p:cBhvr>
                                      <p:to>
                                        <p:strVal val="visible"/>
                                      </p:to>
                                    </p:set>
                                    <p:animEffect transition="in" filter="wipe(left)">
                                      <p:cBhvr>
                                        <p:cTn id="12" dur="500"/>
                                        <p:tgtEl>
                                          <p:spTgt spid="1955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195588"/>
                                        </p:tgtEl>
                                        <p:attrNameLst>
                                          <p:attrName>style.visibility</p:attrName>
                                        </p:attrNameLst>
                                      </p:cBhvr>
                                      <p:to>
                                        <p:strVal val="visible"/>
                                      </p:to>
                                    </p:set>
                                    <p:animEffect transition="in" filter="slide(fromRight)">
                                      <p:cBhvr>
                                        <p:cTn id="17" dur="500"/>
                                        <p:tgtEl>
                                          <p:spTgt spid="1955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195591"/>
                                        </p:tgtEl>
                                        <p:attrNameLst>
                                          <p:attrName>style.visibility</p:attrName>
                                        </p:attrNameLst>
                                      </p:cBhvr>
                                      <p:to>
                                        <p:strVal val="visible"/>
                                      </p:to>
                                    </p:set>
                                    <p:animEffect transition="in" filter="slide(fromRight)">
                                      <p:cBhvr>
                                        <p:cTn id="22" dur="500"/>
                                        <p:tgtEl>
                                          <p:spTgt spid="195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P spid="195588" grpId="0" animBg="1" autoUpdateAnimBg="0"/>
      <p:bldP spid="195591"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a:xfrm>
            <a:off x="514350" y="700088"/>
            <a:ext cx="8177213" cy="839787"/>
          </a:xfrm>
        </p:spPr>
        <p:txBody>
          <a:bodyPr/>
          <a:lstStyle/>
          <a:p>
            <a:pPr>
              <a:defRPr/>
            </a:pPr>
            <a:r>
              <a:rPr lang="zh-CN" altLang="en-US" sz="4000" dirty="0">
                <a:solidFill>
                  <a:schemeClr val="accent2">
                    <a:lumMod val="50000"/>
                  </a:schemeClr>
                </a:solidFill>
              </a:rPr>
              <a:t>指针变量的定义和初始化</a:t>
            </a:r>
          </a:p>
        </p:txBody>
      </p:sp>
      <p:sp>
        <p:nvSpPr>
          <p:cNvPr id="595971" name="Rectangle 3"/>
          <p:cNvSpPr>
            <a:spLocks noGrp="1" noChangeArrowheads="1"/>
          </p:cNvSpPr>
          <p:nvPr>
            <p:ph type="body" sz="half" idx="1"/>
          </p:nvPr>
        </p:nvSpPr>
        <p:spPr>
          <a:xfrm>
            <a:off x="468313" y="1625600"/>
            <a:ext cx="8675687" cy="2308225"/>
          </a:xfrm>
        </p:spPr>
        <p:txBody>
          <a:bodyPr/>
          <a:lstStyle/>
          <a:p>
            <a:pPr eaLnBrk="1">
              <a:lnSpc>
                <a:spcPct val="105000"/>
              </a:lnSpc>
              <a:defRPr/>
            </a:pPr>
            <a:r>
              <a:rPr lang="zh-CN" altLang="en-US">
                <a:ea typeface="仿宋_GB2312" pitchFamily="49" charset="-122"/>
              </a:rPr>
              <a:t>存放变量的地址需要一种特殊类型的变量</a:t>
            </a:r>
          </a:p>
          <a:p>
            <a:pPr eaLnBrk="1">
              <a:lnSpc>
                <a:spcPct val="105000"/>
              </a:lnSpc>
              <a:defRPr/>
            </a:pPr>
            <a:r>
              <a:rPr lang="zh-CN" altLang="en-US">
                <a:latin typeface="楷体_GB2312" pitchFamily="49" charset="-122"/>
                <a:ea typeface="仿宋_GB2312" pitchFamily="49" charset="-122"/>
              </a:rPr>
              <a:t>指针</a:t>
            </a:r>
            <a:r>
              <a:rPr lang="zh-CN" altLang="en-US">
                <a:ea typeface="宋体" pitchFamily="2" charset="-122"/>
              </a:rPr>
              <a:t>（</a:t>
            </a:r>
            <a:r>
              <a:rPr lang="en-US" altLang="zh-CN">
                <a:ea typeface="宋体" pitchFamily="2" charset="-122"/>
              </a:rPr>
              <a:t>Pointer</a:t>
            </a:r>
            <a:r>
              <a:rPr lang="zh-CN" altLang="en-US">
                <a:ea typeface="宋体" pitchFamily="2" charset="-122"/>
              </a:rPr>
              <a:t>）</a:t>
            </a:r>
            <a:r>
              <a:rPr lang="zh-CN" altLang="en-US">
                <a:latin typeface="楷体_GB2312" pitchFamily="49" charset="-122"/>
                <a:ea typeface="仿宋_GB2312" pitchFamily="49" charset="-122"/>
              </a:rPr>
              <a:t>类型</a:t>
            </a:r>
          </a:p>
          <a:p>
            <a:pPr eaLnBrk="1">
              <a:lnSpc>
                <a:spcPct val="105000"/>
              </a:lnSpc>
              <a:defRPr/>
            </a:pPr>
            <a:r>
              <a:rPr lang="zh-CN" altLang="en-US">
                <a:latin typeface="楷体_GB2312" pitchFamily="49" charset="-122"/>
                <a:ea typeface="仿宋_GB2312" pitchFamily="49" charset="-122"/>
              </a:rPr>
              <a:t>指针变量</a:t>
            </a:r>
            <a:r>
              <a:rPr lang="en-US" altLang="zh-CN">
                <a:latin typeface="楷体_GB2312" pitchFamily="49" charset="-122"/>
                <a:ea typeface="仿宋_GB2312" pitchFamily="49" charset="-122"/>
              </a:rPr>
              <a:t>——</a:t>
            </a:r>
            <a:r>
              <a:rPr lang="zh-CN" altLang="en-US">
                <a:latin typeface="楷体_GB2312" pitchFamily="49" charset="-122"/>
                <a:ea typeface="仿宋_GB2312" pitchFamily="49" charset="-122"/>
              </a:rPr>
              <a:t>具有指针类型的变量</a:t>
            </a:r>
          </a:p>
          <a:p>
            <a:pPr eaLnBrk="1">
              <a:lnSpc>
                <a:spcPct val="105000"/>
              </a:lnSpc>
              <a:defRPr/>
            </a:pPr>
            <a:r>
              <a:rPr lang="zh-CN" altLang="en-US">
                <a:latin typeface="楷体_GB2312" pitchFamily="49" charset="-122"/>
                <a:ea typeface="仿宋_GB2312" pitchFamily="49" charset="-122"/>
              </a:rPr>
              <a:t>变量的指针</a:t>
            </a:r>
            <a:r>
              <a:rPr lang="en-US" altLang="zh-CN">
                <a:latin typeface="楷体_GB2312" pitchFamily="49" charset="-122"/>
                <a:ea typeface="仿宋_GB2312" pitchFamily="49" charset="-122"/>
              </a:rPr>
              <a:t>←→</a:t>
            </a:r>
            <a:r>
              <a:rPr lang="zh-CN" altLang="en-US">
                <a:latin typeface="楷体_GB2312" pitchFamily="49" charset="-122"/>
                <a:ea typeface="仿宋_GB2312" pitchFamily="49" charset="-122"/>
              </a:rPr>
              <a:t>变量的地址</a:t>
            </a:r>
          </a:p>
        </p:txBody>
      </p:sp>
      <p:grpSp>
        <p:nvGrpSpPr>
          <p:cNvPr id="2" name="组合 13"/>
          <p:cNvGrpSpPr>
            <a:grpSpLocks/>
          </p:cNvGrpSpPr>
          <p:nvPr/>
        </p:nvGrpSpPr>
        <p:grpSpPr bwMode="auto">
          <a:xfrm>
            <a:off x="1143000" y="3861048"/>
            <a:ext cx="7162800" cy="2670175"/>
            <a:chOff x="1143000" y="3929066"/>
            <a:chExt cx="7162800" cy="2670175"/>
          </a:xfrm>
        </p:grpSpPr>
        <p:grpSp>
          <p:nvGrpSpPr>
            <p:cNvPr id="15365" name="Group 4"/>
            <p:cNvGrpSpPr>
              <a:grpSpLocks/>
            </p:cNvGrpSpPr>
            <p:nvPr/>
          </p:nvGrpSpPr>
          <p:grpSpPr bwMode="auto">
            <a:xfrm>
              <a:off x="1143000" y="3929066"/>
              <a:ext cx="7162800" cy="2670175"/>
              <a:chOff x="720" y="2302"/>
              <a:chExt cx="4512" cy="1682"/>
            </a:xfrm>
          </p:grpSpPr>
          <p:sp>
            <p:nvSpPr>
              <p:cNvPr id="595973" name="Rectangle 5"/>
              <p:cNvSpPr>
                <a:spLocks noChangeArrowheads="1"/>
              </p:cNvSpPr>
              <p:nvPr/>
            </p:nvSpPr>
            <p:spPr bwMode="auto">
              <a:xfrm>
                <a:off x="720" y="2302"/>
                <a:ext cx="4512" cy="1682"/>
              </a:xfrm>
              <a:prstGeom prst="rect">
                <a:avLst/>
              </a:prstGeom>
              <a:solidFill>
                <a:schemeClr val="accent1">
                  <a:lumMod val="40000"/>
                  <a:lumOff val="60000"/>
                </a:schemeClr>
              </a:solidFill>
              <a:ln w="9525">
                <a:solidFill>
                  <a:schemeClr val="tx1"/>
                </a:solidFill>
                <a:miter lim="800000"/>
                <a:headEnd/>
                <a:tailEnd/>
              </a:ln>
              <a:effectLst/>
            </p:spPr>
            <p:txBody>
              <a:bodyPr wrap="none"/>
              <a:lstStyle/>
              <a:p>
                <a:pPr eaLnBrk="1" hangingPunct="1">
                  <a:defRPr/>
                </a:pPr>
                <a:endParaRPr kumimoji="1" lang="zh-CN" altLang="en-US" dirty="0">
                  <a:effectLst/>
                  <a:ea typeface="宋体" pitchFamily="2" charset="-122"/>
                </a:endParaRPr>
              </a:p>
              <a:p>
                <a:pPr eaLnBrk="1" hangingPunct="1">
                  <a:defRPr/>
                </a:pPr>
                <a:r>
                  <a:rPr kumimoji="1" lang="zh-CN" altLang="en-US" b="1" dirty="0">
                    <a:solidFill>
                      <a:srgbClr val="000066"/>
                    </a:solidFill>
                    <a:effectLst/>
                    <a:latin typeface="宋体" pitchFamily="2" charset="-122"/>
                    <a:ea typeface="宋体" pitchFamily="2" charset="-122"/>
                  </a:rPr>
                  <a:t>     </a:t>
                </a:r>
                <a:r>
                  <a:rPr kumimoji="1" lang="zh-CN" altLang="en-US" b="1" dirty="0">
                    <a:solidFill>
                      <a:srgbClr val="000066"/>
                    </a:solidFill>
                    <a:effectLst/>
                    <a:latin typeface="楷体_GB2312" pitchFamily="49" charset="-122"/>
                    <a:ea typeface="楷体_GB2312" pitchFamily="49" charset="-122"/>
                  </a:rPr>
                  <a:t>指针变量</a:t>
                </a:r>
              </a:p>
              <a:p>
                <a:pPr eaLnBrk="1" hangingPunct="1">
                  <a:defRPr/>
                </a:pPr>
                <a:endParaRPr kumimoji="1" lang="en-US" altLang="zh-CN" dirty="0">
                  <a:effectLst/>
                  <a:latin typeface="楷体_GB2312" pitchFamily="49" charset="-122"/>
                  <a:ea typeface="楷体_GB2312" pitchFamily="49" charset="-122"/>
                </a:endParaRPr>
              </a:p>
              <a:p>
                <a:pPr eaLnBrk="1" hangingPunct="1">
                  <a:defRPr/>
                </a:pPr>
                <a:r>
                  <a:rPr kumimoji="1" lang="zh-CN" altLang="en-US" dirty="0">
                    <a:effectLst/>
                    <a:latin typeface="楷体_GB2312" pitchFamily="49" charset="-122"/>
                    <a:ea typeface="楷体_GB2312" pitchFamily="49" charset="-122"/>
                  </a:rPr>
                  <a:t>                 </a:t>
                </a:r>
                <a:endParaRPr kumimoji="1" lang="en-US" altLang="zh-CN" dirty="0">
                  <a:effectLst/>
                  <a:latin typeface="楷体_GB2312" pitchFamily="49" charset="-122"/>
                  <a:ea typeface="楷体_GB2312" pitchFamily="49" charset="-122"/>
                </a:endParaRPr>
              </a:p>
              <a:p>
                <a:pPr eaLnBrk="1" hangingPunct="1">
                  <a:defRPr/>
                </a:pPr>
                <a:r>
                  <a:rPr kumimoji="1" lang="en-US" altLang="zh-CN" b="1" dirty="0">
                    <a:solidFill>
                      <a:srgbClr val="880000"/>
                    </a:solidFill>
                    <a:latin typeface="楷体_GB2312" pitchFamily="49" charset="-122"/>
                    <a:ea typeface="楷体_GB2312" pitchFamily="49" charset="-122"/>
                  </a:rPr>
                  <a:t>                     </a:t>
                </a:r>
                <a:r>
                  <a:rPr kumimoji="1" lang="zh-CN" altLang="en-US" b="1" dirty="0">
                    <a:solidFill>
                      <a:srgbClr val="880000"/>
                    </a:solidFill>
                    <a:effectLst/>
                    <a:latin typeface="楷体_GB2312" pitchFamily="49" charset="-122"/>
                    <a:ea typeface="楷体_GB2312" pitchFamily="49" charset="-122"/>
                  </a:rPr>
                  <a:t>指向</a:t>
                </a:r>
                <a:endParaRPr kumimoji="1" lang="en-US" altLang="zh-CN" b="1" dirty="0">
                  <a:solidFill>
                    <a:srgbClr val="000066"/>
                  </a:solidFill>
                  <a:effectLst/>
                  <a:latin typeface="楷体_GB2312" pitchFamily="49" charset="-122"/>
                  <a:ea typeface="楷体_GB2312" pitchFamily="49" charset="-122"/>
                </a:endParaRPr>
              </a:p>
              <a:p>
                <a:pPr eaLnBrk="1" hangingPunct="1">
                  <a:defRPr/>
                </a:pPr>
                <a:r>
                  <a:rPr kumimoji="1" lang="zh-CN" altLang="en-US" dirty="0">
                    <a:effectLst/>
                    <a:latin typeface="楷体_GB2312" pitchFamily="49" charset="-122"/>
                    <a:ea typeface="楷体_GB2312" pitchFamily="49" charset="-122"/>
                  </a:rPr>
                  <a:t>            </a:t>
                </a:r>
              </a:p>
              <a:p>
                <a:pPr eaLnBrk="1" hangingPunct="1">
                  <a:defRPr/>
                </a:pPr>
                <a:r>
                  <a:rPr kumimoji="1" lang="zh-CN" altLang="en-US" dirty="0">
                    <a:effectLst/>
                    <a:latin typeface="楷体_GB2312" pitchFamily="49" charset="-122"/>
                    <a:ea typeface="楷体_GB2312" pitchFamily="49" charset="-122"/>
                  </a:rPr>
                  <a:t>           </a:t>
                </a:r>
                <a:endParaRPr kumimoji="1" lang="en-US" altLang="zh-CN" dirty="0">
                  <a:effectLst/>
                  <a:latin typeface="楷体_GB2312" pitchFamily="49" charset="-122"/>
                  <a:ea typeface="楷体_GB2312" pitchFamily="49" charset="-122"/>
                </a:endParaRPr>
              </a:p>
              <a:p>
                <a:pPr eaLnBrk="1" hangingPunct="1">
                  <a:defRPr/>
                </a:pPr>
                <a:r>
                  <a:rPr kumimoji="1" lang="en-US" altLang="zh-CN" b="1" dirty="0">
                    <a:solidFill>
                      <a:srgbClr val="000066"/>
                    </a:solidFill>
                    <a:latin typeface="楷体_GB2312" pitchFamily="49" charset="-122"/>
                    <a:ea typeface="楷体_GB2312" pitchFamily="49" charset="-122"/>
                  </a:rPr>
                  <a:t>               </a:t>
                </a:r>
                <a:r>
                  <a:rPr kumimoji="1" lang="zh-CN" altLang="en-US" b="1" dirty="0">
                    <a:solidFill>
                      <a:srgbClr val="000066"/>
                    </a:solidFill>
                    <a:effectLst/>
                    <a:latin typeface="楷体_GB2312" pitchFamily="49" charset="-122"/>
                    <a:ea typeface="楷体_GB2312" pitchFamily="49" charset="-122"/>
                  </a:rPr>
                  <a:t>变量</a:t>
                </a:r>
              </a:p>
            </p:txBody>
          </p:sp>
          <p:sp>
            <p:nvSpPr>
              <p:cNvPr id="595974" name="Rectangle 6"/>
              <p:cNvSpPr>
                <a:spLocks noChangeArrowheads="1"/>
              </p:cNvSpPr>
              <p:nvPr/>
            </p:nvSpPr>
            <p:spPr bwMode="auto">
              <a:xfrm>
                <a:off x="1872" y="2347"/>
                <a:ext cx="1968" cy="432"/>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eaLnBrk="1" hangingPunct="1">
                  <a:defRPr/>
                </a:pPr>
                <a:r>
                  <a:rPr kumimoji="1" lang="zh-CN" altLang="en-US" b="1">
                    <a:solidFill>
                      <a:srgbClr val="000066"/>
                    </a:solidFill>
                    <a:effectLst/>
                    <a:ea typeface="楷体_GB2312" pitchFamily="49" charset="-122"/>
                  </a:rPr>
                  <a:t>变量的地址（指针）</a:t>
                </a:r>
                <a:endParaRPr kumimoji="1" lang="en-US" altLang="zh-CN" b="1">
                  <a:solidFill>
                    <a:srgbClr val="000066"/>
                  </a:solidFill>
                  <a:effectLst/>
                  <a:ea typeface="楷体_GB2312" pitchFamily="49" charset="-122"/>
                </a:endParaRPr>
              </a:p>
            </p:txBody>
          </p:sp>
          <p:sp>
            <p:nvSpPr>
              <p:cNvPr id="595975" name="Rectangle 7"/>
              <p:cNvSpPr>
                <a:spLocks noChangeArrowheads="1"/>
              </p:cNvSpPr>
              <p:nvPr/>
            </p:nvSpPr>
            <p:spPr bwMode="auto">
              <a:xfrm>
                <a:off x="2400" y="3427"/>
                <a:ext cx="1008" cy="384"/>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eaLnBrk="1" hangingPunct="1">
                  <a:defRPr/>
                </a:pPr>
                <a:r>
                  <a:rPr kumimoji="1" lang="zh-CN" altLang="en-US" b="1">
                    <a:solidFill>
                      <a:srgbClr val="000066"/>
                    </a:solidFill>
                    <a:effectLst/>
                    <a:ea typeface="楷体_GB2312" pitchFamily="49" charset="-122"/>
                  </a:rPr>
                  <a:t>变量值</a:t>
                </a:r>
              </a:p>
            </p:txBody>
          </p:sp>
          <p:sp>
            <p:nvSpPr>
              <p:cNvPr id="595976" name="Line 8"/>
              <p:cNvSpPr>
                <a:spLocks noChangeShapeType="1"/>
              </p:cNvSpPr>
              <p:nvPr/>
            </p:nvSpPr>
            <p:spPr bwMode="auto">
              <a:xfrm>
                <a:off x="2880" y="2950"/>
                <a:ext cx="0" cy="432"/>
              </a:xfrm>
              <a:prstGeom prst="line">
                <a:avLst/>
              </a:prstGeom>
              <a:noFill/>
              <a:ln w="57150" cmpd="thinThick">
                <a:solidFill>
                  <a:srgbClr val="FF0000"/>
                </a:solidFill>
                <a:round/>
                <a:headEnd/>
                <a:tailEnd type="stealth" w="med" len="med"/>
              </a:ln>
              <a:effectLst/>
            </p:spPr>
            <p:txBody>
              <a:bodyPr wrap="none"/>
              <a:lstStyle/>
              <a:p>
                <a:pPr>
                  <a:defRPr/>
                </a:pPr>
                <a:endParaRPr lang="zh-CN" altLang="en-US"/>
              </a:p>
            </p:txBody>
          </p:sp>
        </p:grpSp>
        <p:grpSp>
          <p:nvGrpSpPr>
            <p:cNvPr id="15366" name="Group 13"/>
            <p:cNvGrpSpPr>
              <a:grpSpLocks/>
            </p:cNvGrpSpPr>
            <p:nvPr/>
          </p:nvGrpSpPr>
          <p:grpSpPr bwMode="auto">
            <a:xfrm>
              <a:off x="5410200" y="4572009"/>
              <a:ext cx="2797175" cy="1500197"/>
              <a:chOff x="3408" y="3086"/>
              <a:chExt cx="1762" cy="888"/>
            </a:xfrm>
          </p:grpSpPr>
          <p:sp>
            <p:nvSpPr>
              <p:cNvPr id="595977" name="Freeform 9"/>
              <p:cNvSpPr>
                <a:spLocks/>
              </p:cNvSpPr>
              <p:nvPr/>
            </p:nvSpPr>
            <p:spPr bwMode="auto">
              <a:xfrm>
                <a:off x="3408" y="3086"/>
                <a:ext cx="515" cy="888"/>
              </a:xfrm>
              <a:custGeom>
                <a:avLst/>
                <a:gdLst/>
                <a:ahLst/>
                <a:cxnLst>
                  <a:cxn ang="0">
                    <a:pos x="0" y="880"/>
                  </a:cxn>
                  <a:cxn ang="0">
                    <a:pos x="240" y="880"/>
                  </a:cxn>
                  <a:cxn ang="0">
                    <a:pos x="480" y="832"/>
                  </a:cxn>
                  <a:cxn ang="0">
                    <a:pos x="624" y="688"/>
                  </a:cxn>
                  <a:cxn ang="0">
                    <a:pos x="720" y="496"/>
                  </a:cxn>
                  <a:cxn ang="0">
                    <a:pos x="720" y="304"/>
                  </a:cxn>
                  <a:cxn ang="0">
                    <a:pos x="672" y="112"/>
                  </a:cxn>
                  <a:cxn ang="0">
                    <a:pos x="576" y="16"/>
                  </a:cxn>
                  <a:cxn ang="0">
                    <a:pos x="480" y="16"/>
                  </a:cxn>
                  <a:cxn ang="0">
                    <a:pos x="336" y="64"/>
                  </a:cxn>
                </a:cxnLst>
                <a:rect l="0" t="0" r="r" b="b"/>
                <a:pathLst>
                  <a:path w="736" h="888">
                    <a:moveTo>
                      <a:pt x="0" y="880"/>
                    </a:moveTo>
                    <a:cubicBezTo>
                      <a:pt x="80" y="884"/>
                      <a:pt x="160" y="888"/>
                      <a:pt x="240" y="880"/>
                    </a:cubicBezTo>
                    <a:cubicBezTo>
                      <a:pt x="320" y="872"/>
                      <a:pt x="416" y="864"/>
                      <a:pt x="480" y="832"/>
                    </a:cubicBezTo>
                    <a:cubicBezTo>
                      <a:pt x="544" y="800"/>
                      <a:pt x="584" y="744"/>
                      <a:pt x="624" y="688"/>
                    </a:cubicBezTo>
                    <a:cubicBezTo>
                      <a:pt x="664" y="632"/>
                      <a:pt x="704" y="560"/>
                      <a:pt x="720" y="496"/>
                    </a:cubicBezTo>
                    <a:cubicBezTo>
                      <a:pt x="736" y="432"/>
                      <a:pt x="728" y="368"/>
                      <a:pt x="720" y="304"/>
                    </a:cubicBezTo>
                    <a:cubicBezTo>
                      <a:pt x="712" y="240"/>
                      <a:pt x="696" y="160"/>
                      <a:pt x="672" y="112"/>
                    </a:cubicBezTo>
                    <a:cubicBezTo>
                      <a:pt x="648" y="64"/>
                      <a:pt x="608" y="32"/>
                      <a:pt x="576" y="16"/>
                    </a:cubicBezTo>
                    <a:cubicBezTo>
                      <a:pt x="544" y="0"/>
                      <a:pt x="520" y="8"/>
                      <a:pt x="480" y="16"/>
                    </a:cubicBezTo>
                    <a:cubicBezTo>
                      <a:pt x="440" y="24"/>
                      <a:pt x="360" y="56"/>
                      <a:pt x="336" y="64"/>
                    </a:cubicBezTo>
                  </a:path>
                </a:pathLst>
              </a:custGeom>
              <a:noFill/>
              <a:ln w="28575">
                <a:solidFill>
                  <a:srgbClr val="FF0000"/>
                </a:solidFill>
                <a:round/>
                <a:headEnd/>
                <a:tailEnd type="arrow" w="med" len="med"/>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sp>
            <p:nvSpPr>
              <p:cNvPr id="15368" name="Rectangle 12"/>
              <p:cNvSpPr>
                <a:spLocks noChangeArrowheads="1"/>
              </p:cNvSpPr>
              <p:nvPr/>
            </p:nvSpPr>
            <p:spPr bwMode="auto">
              <a:xfrm>
                <a:off x="3833" y="3339"/>
                <a:ext cx="133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kumimoji="1" lang="zh-CN" altLang="en-US" b="1">
                    <a:solidFill>
                      <a:srgbClr val="000066"/>
                    </a:solidFill>
                    <a:effectLst/>
                    <a:latin typeface="楷体_GB2312" pitchFamily="49" charset="-122"/>
                    <a:ea typeface="楷体_GB2312" pitchFamily="49" charset="-122"/>
                  </a:rPr>
                  <a:t>变量地址存入</a:t>
                </a:r>
              </a:p>
              <a:p>
                <a:pPr algn="ctr"/>
                <a:r>
                  <a:rPr kumimoji="1" lang="zh-CN" altLang="en-US" b="1">
                    <a:solidFill>
                      <a:srgbClr val="000066"/>
                    </a:solidFill>
                    <a:effectLst/>
                    <a:latin typeface="楷体_GB2312" pitchFamily="49" charset="-122"/>
                    <a:ea typeface="楷体_GB2312" pitchFamily="49" charset="-122"/>
                  </a:rPr>
                  <a:t>指针变量</a:t>
                </a:r>
              </a:p>
            </p:txBody>
          </p:sp>
        </p:grpSp>
      </p:grpSp>
    </p:spTree>
    <p:extLst>
      <p:ext uri="{BB962C8B-B14F-4D97-AF65-F5344CB8AC3E}">
        <p14:creationId xmlns:p14="http://schemas.microsoft.com/office/powerpoint/2010/main" val="207183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595971">
                                            <p:txEl>
                                              <p:pRg st="1" end="1"/>
                                            </p:txEl>
                                          </p:spTgt>
                                        </p:tgtEl>
                                        <p:attrNameLst>
                                          <p:attrName>style.visibility</p:attrName>
                                        </p:attrNameLst>
                                      </p:cBhvr>
                                      <p:to>
                                        <p:strVal val="visible"/>
                                      </p:to>
                                    </p:set>
                                    <p:anim calcmode="lin" valueType="num">
                                      <p:cBhvr>
                                        <p:cTn id="7" dur="500" fill="hold"/>
                                        <p:tgtEl>
                                          <p:spTgt spid="59597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9597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59597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595971">
                                            <p:txEl>
                                              <p:pRg st="2" end="2"/>
                                            </p:txEl>
                                          </p:spTgt>
                                        </p:tgtEl>
                                        <p:attrNameLst>
                                          <p:attrName>style.visibility</p:attrName>
                                        </p:attrNameLst>
                                      </p:cBhvr>
                                      <p:to>
                                        <p:strVal val="visible"/>
                                      </p:to>
                                    </p:set>
                                    <p:anim calcmode="lin" valueType="num">
                                      <p:cBhvr>
                                        <p:cTn id="14" dur="500" fill="hold"/>
                                        <p:tgtEl>
                                          <p:spTgt spid="595971">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595971">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595971">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595971">
                                            <p:txEl>
                                              <p:pRg st="3" end="3"/>
                                            </p:txEl>
                                          </p:spTgt>
                                        </p:tgtEl>
                                        <p:attrNameLst>
                                          <p:attrName>style.visibility</p:attrName>
                                        </p:attrNameLst>
                                      </p:cBhvr>
                                      <p:to>
                                        <p:strVal val="visible"/>
                                      </p:to>
                                    </p:set>
                                    <p:anim calcmode="lin" valueType="num">
                                      <p:cBhvr>
                                        <p:cTn id="21" dur="500" fill="hold"/>
                                        <p:tgtEl>
                                          <p:spTgt spid="595971">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595971">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595971">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idx="1"/>
          </p:nvPr>
        </p:nvSpPr>
        <p:spPr>
          <a:xfrm>
            <a:off x="304800" y="476250"/>
            <a:ext cx="8610600" cy="5715000"/>
          </a:xfrm>
        </p:spPr>
        <p:txBody>
          <a:bodyPr>
            <a:normAutofit/>
          </a:bodyPr>
          <a:lstStyle/>
          <a:p>
            <a:pPr marL="0" indent="0" eaLnBrk="1" fontAlgn="auto" hangingPunct="1">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变量地址类型是一种指针类型，变量类型不同，变量地址类型</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指针类型</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也不同。</a:t>
            </a:r>
          </a:p>
          <a:p>
            <a:pPr marL="0" indent="0" eaLnBrk="1" fontAlgn="auto" hangingPunct="1">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存储变量地址的变量称为</a:t>
            </a:r>
            <a:r>
              <a:rPr lang="zh-CN" altLang="en-US" b="1" dirty="0">
                <a:solidFill>
                  <a:srgbClr val="FF0000"/>
                </a:solidFill>
                <a:effectLst>
                  <a:outerShdw blurRad="38100" dist="38100" dir="2700000" algn="tl">
                    <a:srgbClr val="C0C0C0"/>
                  </a:outerShdw>
                </a:effectLst>
                <a:latin typeface="楷体_GB2312" pitchFamily="49" charset="-122"/>
                <a:ea typeface="楷体_GB2312" pitchFamily="49" charset="-122"/>
              </a:rPr>
              <a:t>指针变量</a:t>
            </a:r>
            <a:r>
              <a:rPr lang="zh-CN" altLang="en-US" b="1" dirty="0">
                <a:effectLst>
                  <a:outerShdw blurRad="38100" dist="38100" dir="2700000" algn="tl">
                    <a:srgbClr val="C0C0C0"/>
                  </a:outerShdw>
                </a:effectLst>
                <a:latin typeface="楷体_GB2312" pitchFamily="49" charset="-122"/>
                <a:ea typeface="楷体_GB2312" pitchFamily="49" charset="-122"/>
              </a:rPr>
              <a:t>，指针变量类型由它能存储的程序对象地址类型来区分。</a:t>
            </a:r>
          </a:p>
          <a:p>
            <a:pPr marL="0" indent="0" eaLnBrk="1" fontAlgn="auto" hangingPunct="1">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如果指针变量</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存储着程序对象</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的地址，则称指针变量</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指向程序对象</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b="1" dirty="0">
                <a:solidFill>
                  <a:schemeClr val="accent2"/>
                </a:solidFill>
                <a:effectLst>
                  <a:outerShdw blurRad="38100" dist="38100" dir="2700000" algn="tl">
                    <a:srgbClr val="C0C0C0"/>
                  </a:outerShdw>
                </a:effectLst>
                <a:latin typeface="楷体_GB2312" pitchFamily="49" charset="-122"/>
                <a:ea typeface="楷体_GB2312" pitchFamily="49" charset="-122"/>
              </a:rPr>
              <a:t>定义指针变量的一般形式为：</a:t>
            </a:r>
          </a:p>
          <a:p>
            <a:pPr marL="0" indent="0" eaLnBrk="1" fontAlgn="auto" hangingPunct="1">
              <a:spcAft>
                <a:spcPts val="0"/>
              </a:spcAft>
              <a:buClr>
                <a:schemeClr val="accent3"/>
              </a:buClr>
              <a:buFontTx/>
              <a:buNone/>
              <a:defRPr/>
            </a:pPr>
            <a:r>
              <a:rPr lang="zh-CN" altLang="en-US" b="1" dirty="0">
                <a:solidFill>
                  <a:srgbClr val="FF0000"/>
                </a:solidFill>
                <a:effectLst>
                  <a:outerShdw blurRad="38100" dist="38100" dir="2700000" algn="tl">
                    <a:srgbClr val="C0C0C0"/>
                  </a:outerShdw>
                </a:effectLst>
                <a:latin typeface="楷体_GB2312" pitchFamily="49" charset="-122"/>
                <a:ea typeface="楷体_GB2312" pitchFamily="49" charset="-122"/>
              </a:rPr>
              <a:t>      类型    *  标识符</a:t>
            </a:r>
            <a:r>
              <a:rPr lang="en-US" altLang="zh-CN" b="1" dirty="0">
                <a:solidFill>
                  <a:srgbClr val="FF0000"/>
                </a:solidFill>
                <a:effectLst>
                  <a:outerShdw blurRad="38100" dist="38100" dir="2700000" algn="tl">
                    <a:srgbClr val="C0C0C0"/>
                  </a:outerShdw>
                </a:effectLst>
                <a:latin typeface="楷体_GB2312" pitchFamily="49" charset="-122"/>
                <a:ea typeface="楷体_GB2312" pitchFamily="49" charset="-122"/>
              </a:rPr>
              <a:t>;</a:t>
            </a:r>
          </a:p>
        </p:txBody>
      </p:sp>
      <p:sp>
        <p:nvSpPr>
          <p:cNvPr id="43011" name="AutoShape 3"/>
          <p:cNvSpPr>
            <a:spLocks noChangeArrowheads="1"/>
          </p:cNvSpPr>
          <p:nvPr/>
        </p:nvSpPr>
        <p:spPr bwMode="auto">
          <a:xfrm>
            <a:off x="5149057" y="3861048"/>
            <a:ext cx="1655762" cy="503237"/>
          </a:xfrm>
          <a:prstGeom prst="wedgeRoundRectCallout">
            <a:avLst>
              <a:gd name="adj1" fmla="val -152886"/>
              <a:gd name="adj2" fmla="val -53215"/>
              <a:gd name="adj3" fmla="val 16667"/>
            </a:avLst>
          </a:prstGeom>
          <a:solidFill>
            <a:schemeClr val="accent4">
              <a:lumMod val="20000"/>
              <a:lumOff val="80000"/>
            </a:schemeClr>
          </a:solidFill>
          <a:ln w="9525">
            <a:solidFill>
              <a:schemeClr val="tx1"/>
            </a:solidFill>
            <a:miter lim="800000"/>
            <a:headEnd/>
            <a:tailEnd/>
          </a:ln>
        </p:spPr>
        <p:txBody>
          <a:bodyPr/>
          <a:lstStyle/>
          <a:p>
            <a:pPr algn="ctr">
              <a:defRPr/>
            </a:pPr>
            <a:r>
              <a:rPr lang="zh-CN" altLang="en-US" b="1" dirty="0"/>
              <a:t>指针变量名</a:t>
            </a:r>
          </a:p>
        </p:txBody>
      </p:sp>
      <p:sp>
        <p:nvSpPr>
          <p:cNvPr id="43012" name="AutoShape 4"/>
          <p:cNvSpPr>
            <a:spLocks noChangeArrowheads="1"/>
          </p:cNvSpPr>
          <p:nvPr/>
        </p:nvSpPr>
        <p:spPr bwMode="auto">
          <a:xfrm>
            <a:off x="4896644" y="4869160"/>
            <a:ext cx="2160588" cy="503237"/>
          </a:xfrm>
          <a:prstGeom prst="wedgeRoundRectCallout">
            <a:avLst>
              <a:gd name="adj1" fmla="val -182867"/>
              <a:gd name="adj2" fmla="val -248669"/>
              <a:gd name="adj3" fmla="val 16667"/>
            </a:avLst>
          </a:prstGeom>
          <a:solidFill>
            <a:schemeClr val="accent4">
              <a:lumMod val="20000"/>
              <a:lumOff val="80000"/>
            </a:schemeClr>
          </a:solidFill>
          <a:ln w="9525">
            <a:solidFill>
              <a:schemeClr val="tx1"/>
            </a:solidFill>
            <a:miter lim="800000"/>
            <a:headEnd/>
            <a:tailEnd/>
          </a:ln>
          <a:effectLst/>
        </p:spPr>
        <p:txBody>
          <a:bodyPr/>
          <a:lstStyle/>
          <a:p>
            <a:pPr algn="ctr">
              <a:defRPr/>
            </a:pPr>
            <a:r>
              <a:rPr lang="zh-CN" altLang="en-US" b="1" dirty="0">
                <a:effectLst>
                  <a:outerShdw blurRad="38100" dist="38100" dir="2700000" algn="tl">
                    <a:srgbClr val="FFFFFF"/>
                  </a:outerShdw>
                </a:effectLst>
                <a:ea typeface="宋体" pitchFamily="2" charset="-122"/>
              </a:rPr>
              <a:t>是一种指针类型</a:t>
            </a:r>
          </a:p>
        </p:txBody>
      </p:sp>
      <p:sp>
        <p:nvSpPr>
          <p:cNvPr id="43014" name="AutoShape 6"/>
          <p:cNvSpPr>
            <a:spLocks noChangeArrowheads="1"/>
          </p:cNvSpPr>
          <p:nvPr/>
        </p:nvSpPr>
        <p:spPr bwMode="auto">
          <a:xfrm>
            <a:off x="3132138" y="5589588"/>
            <a:ext cx="4968875" cy="503237"/>
          </a:xfrm>
          <a:prstGeom prst="wedgeRoundRectCallout">
            <a:avLst>
              <a:gd name="adj1" fmla="val -79314"/>
              <a:gd name="adj2" fmla="val -353530"/>
              <a:gd name="adj3" fmla="val 16667"/>
            </a:avLst>
          </a:prstGeom>
          <a:solidFill>
            <a:schemeClr val="accent4">
              <a:lumMod val="20000"/>
              <a:lumOff val="80000"/>
            </a:schemeClr>
          </a:solidFill>
          <a:ln w="9525">
            <a:solidFill>
              <a:schemeClr val="tx1"/>
            </a:solidFill>
            <a:miter lim="800000"/>
            <a:headEnd/>
            <a:tailEnd/>
          </a:ln>
          <a:effectLst/>
        </p:spPr>
        <p:txBody>
          <a:bodyPr/>
          <a:lstStyle/>
          <a:p>
            <a:pPr algn="ctr">
              <a:defRPr/>
            </a:pPr>
            <a:r>
              <a:rPr lang="zh-CN" altLang="en-US" b="1" dirty="0">
                <a:effectLst>
                  <a:outerShdw blurRad="38100" dist="38100" dir="2700000" algn="tl">
                    <a:srgbClr val="FFFFFF"/>
                  </a:outerShdw>
                </a:effectLst>
                <a:ea typeface="宋体" pitchFamily="2" charset="-122"/>
              </a:rPr>
              <a:t>指针变量能取这种类型的程序对象的地址</a:t>
            </a:r>
          </a:p>
        </p:txBody>
      </p:sp>
      <p:sp>
        <p:nvSpPr>
          <p:cNvPr id="6" name="Slide Number Placeholder 5"/>
          <p:cNvSpPr>
            <a:spLocks noGrp="1"/>
          </p:cNvSpPr>
          <p:nvPr>
            <p:ph type="sldNum" sz="quarter" idx="12"/>
          </p:nvPr>
        </p:nvSpPr>
        <p:spPr/>
        <p:txBody>
          <a:bodyPr/>
          <a:lstStyle/>
          <a:p>
            <a:pPr>
              <a:defRPr/>
            </a:pPr>
            <a:fld id="{6901297F-EFD8-490F-965E-0390EF0CF619}" type="slidenum">
              <a:rPr lang="en-US" altLang="zh-CN"/>
              <a:pPr>
                <a:defRPr/>
              </a:pPr>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0">
                                            <p:txEl>
                                              <p:pRg st="2" end="2"/>
                                            </p:txEl>
                                          </p:spTgt>
                                        </p:tgtEl>
                                        <p:attrNameLst>
                                          <p:attrName>style.visibility</p:attrName>
                                        </p:attrNameLst>
                                      </p:cBhvr>
                                      <p:to>
                                        <p:strVal val="visible"/>
                                      </p:to>
                                    </p:set>
                                    <p:anim calcmode="lin" valueType="num">
                                      <p:cBhvr additive="base">
                                        <p:cTn id="7" dur="500" fill="hold"/>
                                        <p:tgtEl>
                                          <p:spTgt spid="4301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010">
                                            <p:txEl>
                                              <p:pRg st="3" end="3"/>
                                            </p:txEl>
                                          </p:spTgt>
                                        </p:tgtEl>
                                        <p:attrNameLst>
                                          <p:attrName>style.visibility</p:attrName>
                                        </p:attrNameLst>
                                      </p:cBhvr>
                                      <p:to>
                                        <p:strVal val="visible"/>
                                      </p:to>
                                    </p:set>
                                    <p:anim calcmode="lin" valueType="num">
                                      <p:cBhvr additive="base">
                                        <p:cTn id="11" dur="500" fill="hold"/>
                                        <p:tgtEl>
                                          <p:spTgt spid="4301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3010">
                                            <p:txEl>
                                              <p:pRg st="4" end="4"/>
                                            </p:txEl>
                                          </p:spTgt>
                                        </p:tgtEl>
                                        <p:attrNameLst>
                                          <p:attrName>style.visibility</p:attrName>
                                        </p:attrNameLst>
                                      </p:cBhvr>
                                      <p:to>
                                        <p:strVal val="visible"/>
                                      </p:to>
                                    </p:set>
                                    <p:anim calcmode="lin" valueType="num">
                                      <p:cBhvr additive="base">
                                        <p:cTn id="17" dur="500" fill="hold"/>
                                        <p:tgtEl>
                                          <p:spTgt spid="43010">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0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3011"/>
                                        </p:tgtEl>
                                        <p:attrNameLst>
                                          <p:attrName>style.visibility</p:attrName>
                                        </p:attrNameLst>
                                      </p:cBhvr>
                                      <p:to>
                                        <p:strVal val="visible"/>
                                      </p:to>
                                    </p:set>
                                    <p:anim calcmode="lin" valueType="num">
                                      <p:cBhvr additive="base">
                                        <p:cTn id="23" dur="500" fill="hold"/>
                                        <p:tgtEl>
                                          <p:spTgt spid="43011"/>
                                        </p:tgtEl>
                                        <p:attrNameLst>
                                          <p:attrName>ppt_x</p:attrName>
                                        </p:attrNameLst>
                                      </p:cBhvr>
                                      <p:tavLst>
                                        <p:tav tm="0">
                                          <p:val>
                                            <p:strVal val="#ppt_x"/>
                                          </p:val>
                                        </p:tav>
                                        <p:tav tm="100000">
                                          <p:val>
                                            <p:strVal val="#ppt_x"/>
                                          </p:val>
                                        </p:tav>
                                      </p:tavLst>
                                    </p:anim>
                                    <p:anim calcmode="lin" valueType="num">
                                      <p:cBhvr additive="base">
                                        <p:cTn id="24" dur="500" fill="hold"/>
                                        <p:tgtEl>
                                          <p:spTgt spid="430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3012"/>
                                        </p:tgtEl>
                                        <p:attrNameLst>
                                          <p:attrName>style.visibility</p:attrName>
                                        </p:attrNameLst>
                                      </p:cBhvr>
                                      <p:to>
                                        <p:strVal val="visible"/>
                                      </p:to>
                                    </p:set>
                                    <p:anim calcmode="lin" valueType="num">
                                      <p:cBhvr additive="base">
                                        <p:cTn id="27" dur="500" fill="hold"/>
                                        <p:tgtEl>
                                          <p:spTgt spid="43012"/>
                                        </p:tgtEl>
                                        <p:attrNameLst>
                                          <p:attrName>ppt_x</p:attrName>
                                        </p:attrNameLst>
                                      </p:cBhvr>
                                      <p:tavLst>
                                        <p:tav tm="0">
                                          <p:val>
                                            <p:strVal val="#ppt_x"/>
                                          </p:val>
                                        </p:tav>
                                        <p:tav tm="100000">
                                          <p:val>
                                            <p:strVal val="#ppt_x"/>
                                          </p:val>
                                        </p:tav>
                                      </p:tavLst>
                                    </p:anim>
                                    <p:anim calcmode="lin" valueType="num">
                                      <p:cBhvr additive="base">
                                        <p:cTn id="28" dur="500" fill="hold"/>
                                        <p:tgtEl>
                                          <p:spTgt spid="430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3014"/>
                                        </p:tgtEl>
                                        <p:attrNameLst>
                                          <p:attrName>style.visibility</p:attrName>
                                        </p:attrNameLst>
                                      </p:cBhvr>
                                      <p:to>
                                        <p:strVal val="visible"/>
                                      </p:to>
                                    </p:set>
                                    <p:anim calcmode="lin" valueType="num">
                                      <p:cBhvr additive="base">
                                        <p:cTn id="31" dur="500" fill="hold"/>
                                        <p:tgtEl>
                                          <p:spTgt spid="43014"/>
                                        </p:tgtEl>
                                        <p:attrNameLst>
                                          <p:attrName>ppt_x</p:attrName>
                                        </p:attrNameLst>
                                      </p:cBhvr>
                                      <p:tavLst>
                                        <p:tav tm="0">
                                          <p:val>
                                            <p:strVal val="#ppt_x"/>
                                          </p:val>
                                        </p:tav>
                                        <p:tav tm="100000">
                                          <p:val>
                                            <p:strVal val="#ppt_x"/>
                                          </p:val>
                                        </p:tav>
                                      </p:tavLst>
                                    </p:anim>
                                    <p:anim calcmode="lin" valueType="num">
                                      <p:cBhvr additive="base">
                                        <p:cTn id="32"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nimBg="1"/>
      <p:bldP spid="43012" grpId="0" animBg="1"/>
      <p:bldP spid="4301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idx="1"/>
          </p:nvPr>
        </p:nvSpPr>
        <p:spPr>
          <a:xfrm>
            <a:off x="304800" y="476250"/>
            <a:ext cx="8610600" cy="5715000"/>
          </a:xfrm>
        </p:spPr>
        <p:txBody>
          <a:bodyPr>
            <a:normAutofit/>
          </a:bodyPr>
          <a:lstStyle/>
          <a:p>
            <a:pPr marL="0" indent="0" eaLnBrk="1" fontAlgn="auto" hangingPunct="1">
              <a:spcAft>
                <a:spcPts val="0"/>
              </a:spcAft>
              <a:buClr>
                <a:schemeClr val="accent3"/>
              </a:buClr>
              <a:buFontTx/>
              <a:buNone/>
              <a:defRPr/>
            </a:pPr>
            <a:endParaRPr lang="en-US" altLang="zh-CN" sz="2800" b="1">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例如：</a:t>
            </a: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en-US" altLang="zh-CN" sz="2800" b="1">
                <a:effectLst>
                  <a:outerShdw blurRad="38100" dist="38100" dir="2700000" algn="tl">
                    <a:srgbClr val="C0C0C0"/>
                  </a:outerShdw>
                </a:effectLst>
                <a:latin typeface="楷体_GB2312" pitchFamily="49" charset="-122"/>
                <a:ea typeface="楷体_GB2312" pitchFamily="49" charset="-122"/>
              </a:rPr>
              <a:t>int   *ip;//</a:t>
            </a:r>
            <a:r>
              <a:rPr lang="zh-CN" altLang="en-US" sz="2800" b="1">
                <a:effectLst>
                  <a:outerShdw blurRad="38100" dist="38100" dir="2700000" algn="tl">
                    <a:srgbClr val="C0C0C0"/>
                  </a:outerShdw>
                </a:effectLst>
                <a:latin typeface="楷体_GB2312" pitchFamily="49" charset="-122"/>
                <a:ea typeface="楷体_GB2312" pitchFamily="49" charset="-122"/>
              </a:rPr>
              <a:t>指针变量</a:t>
            </a:r>
            <a:r>
              <a:rPr lang="en-US" altLang="zh-CN" sz="2800" b="1">
                <a:effectLst>
                  <a:outerShdw blurRad="38100" dist="38100" dir="2700000" algn="tl">
                    <a:srgbClr val="C0C0C0"/>
                  </a:outerShdw>
                </a:effectLst>
                <a:latin typeface="楷体_GB2312" pitchFamily="49" charset="-122"/>
                <a:ea typeface="楷体_GB2312" pitchFamily="49" charset="-122"/>
              </a:rPr>
              <a:t>ip</a:t>
            </a:r>
            <a:r>
              <a:rPr lang="zh-CN" altLang="en-US" sz="2800" b="1">
                <a:effectLst>
                  <a:outerShdw blurRad="38100" dist="38100" dir="2700000" algn="tl">
                    <a:srgbClr val="C0C0C0"/>
                  </a:outerShdw>
                </a:effectLst>
                <a:latin typeface="楷体_GB2312" pitchFamily="49" charset="-122"/>
                <a:ea typeface="楷体_GB2312" pitchFamily="49" charset="-122"/>
              </a:rPr>
              <a:t>能取</a:t>
            </a:r>
            <a:r>
              <a:rPr lang="en-US" altLang="zh-CN" sz="2800" b="1">
                <a:effectLst>
                  <a:outerShdw blurRad="38100" dist="38100" dir="2700000" algn="tl">
                    <a:srgbClr val="C0C0C0"/>
                  </a:outerShdw>
                </a:effectLst>
                <a:latin typeface="楷体_GB2312" pitchFamily="49" charset="-122"/>
                <a:ea typeface="楷体_GB2312" pitchFamily="49" charset="-122"/>
              </a:rPr>
              <a:t>int</a:t>
            </a:r>
            <a:r>
              <a:rPr lang="zh-CN" altLang="en-US" sz="2800" b="1">
                <a:effectLst>
                  <a:outerShdw blurRad="38100" dist="38100" dir="2700000" algn="tl">
                    <a:srgbClr val="C0C0C0"/>
                  </a:outerShdw>
                </a:effectLst>
                <a:latin typeface="楷体_GB2312" pitchFamily="49" charset="-122"/>
                <a:ea typeface="楷体_GB2312" pitchFamily="49" charset="-122"/>
              </a:rPr>
              <a:t>类型变量的地址</a:t>
            </a: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en-US" altLang="zh-CN" sz="2800" b="1">
                <a:effectLst>
                  <a:outerShdw blurRad="38100" dist="38100" dir="2700000" algn="tl">
                    <a:srgbClr val="C0C0C0"/>
                  </a:outerShdw>
                </a:effectLst>
                <a:latin typeface="楷体_GB2312" pitchFamily="49" charset="-122"/>
                <a:ea typeface="楷体_GB2312" pitchFamily="49" charset="-122"/>
              </a:rPr>
              <a:t>float *fp;//</a:t>
            </a:r>
            <a:r>
              <a:rPr lang="zh-CN" altLang="en-US" sz="2800" b="1">
                <a:effectLst>
                  <a:outerShdw blurRad="38100" dist="38100" dir="2700000" algn="tl">
                    <a:srgbClr val="C0C0C0"/>
                  </a:outerShdw>
                </a:effectLst>
                <a:latin typeface="楷体_GB2312" pitchFamily="49" charset="-122"/>
                <a:ea typeface="楷体_GB2312" pitchFamily="49" charset="-122"/>
              </a:rPr>
              <a:t>指针变量</a:t>
            </a:r>
            <a:r>
              <a:rPr lang="en-US" altLang="zh-CN" sz="2800" b="1">
                <a:effectLst>
                  <a:outerShdw blurRad="38100" dist="38100" dir="2700000" algn="tl">
                    <a:srgbClr val="C0C0C0"/>
                  </a:outerShdw>
                </a:effectLst>
                <a:latin typeface="楷体_GB2312" pitchFamily="49" charset="-122"/>
                <a:ea typeface="楷体_GB2312" pitchFamily="49" charset="-122"/>
              </a:rPr>
              <a:t>fp</a:t>
            </a:r>
            <a:r>
              <a:rPr lang="zh-CN" altLang="en-US" sz="2800" b="1">
                <a:effectLst>
                  <a:outerShdw blurRad="38100" dist="38100" dir="2700000" algn="tl">
                    <a:srgbClr val="C0C0C0"/>
                  </a:outerShdw>
                </a:effectLst>
                <a:latin typeface="楷体_GB2312" pitchFamily="49" charset="-122"/>
                <a:ea typeface="楷体_GB2312" pitchFamily="49" charset="-122"/>
              </a:rPr>
              <a:t>能取</a:t>
            </a:r>
            <a:r>
              <a:rPr lang="en-US" altLang="zh-CN" sz="2800" b="1">
                <a:effectLst>
                  <a:outerShdw blurRad="38100" dist="38100" dir="2700000" algn="tl">
                    <a:srgbClr val="C0C0C0"/>
                  </a:outerShdw>
                </a:effectLst>
                <a:latin typeface="楷体_GB2312" pitchFamily="49" charset="-122"/>
                <a:ea typeface="楷体_GB2312" pitchFamily="49" charset="-122"/>
              </a:rPr>
              <a:t>float</a:t>
            </a:r>
            <a:r>
              <a:rPr lang="zh-CN" altLang="en-US" sz="2800" b="1">
                <a:effectLst>
                  <a:outerShdw blurRad="38100" dist="38100" dir="2700000" algn="tl">
                    <a:srgbClr val="C0C0C0"/>
                  </a:outerShdw>
                </a:effectLst>
                <a:latin typeface="楷体_GB2312" pitchFamily="49" charset="-122"/>
                <a:ea typeface="楷体_GB2312" pitchFamily="49" charset="-122"/>
              </a:rPr>
              <a:t>类型变量的地址</a:t>
            </a:r>
          </a:p>
          <a:p>
            <a:pPr marL="0" indent="0" eaLnBrk="1" fontAlgn="auto" hangingPunct="1">
              <a:spcAft>
                <a:spcPts val="0"/>
              </a:spcAft>
              <a:buClr>
                <a:schemeClr val="accent3"/>
              </a:buClr>
              <a:buFontTx/>
              <a:buNone/>
              <a:defRPr/>
            </a:pPr>
            <a:endParaRPr lang="zh-CN" altLang="en-US" sz="2800" b="1">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      指针变量</a:t>
            </a:r>
            <a:r>
              <a:rPr lang="en-US" altLang="zh-CN" sz="2800" b="1">
                <a:solidFill>
                  <a:srgbClr val="990000"/>
                </a:solidFill>
                <a:effectLst>
                  <a:outerShdw blurRad="38100" dist="38100" dir="2700000" algn="tl">
                    <a:srgbClr val="C0C0C0"/>
                  </a:outerShdw>
                </a:effectLst>
                <a:latin typeface="楷体_GB2312" pitchFamily="49" charset="-122"/>
                <a:ea typeface="楷体_GB2312" pitchFamily="49" charset="-122"/>
              </a:rPr>
              <a:t>ip</a:t>
            </a:r>
            <a:r>
              <a:rPr lang="zh-CN" altLang="en-US" sz="2800" b="1">
                <a:solidFill>
                  <a:srgbClr val="990000"/>
                </a:solidFill>
                <a:effectLst>
                  <a:outerShdw blurRad="38100" dist="38100" dir="2700000" algn="tl">
                    <a:srgbClr val="C0C0C0"/>
                  </a:outerShdw>
                </a:effectLst>
                <a:latin typeface="楷体_GB2312" pitchFamily="49" charset="-122"/>
                <a:ea typeface="楷体_GB2312" pitchFamily="49" charset="-122"/>
              </a:rPr>
              <a:t>的类型是</a:t>
            </a:r>
            <a:r>
              <a:rPr lang="en-US" altLang="zh-CN" sz="2800" b="1">
                <a:solidFill>
                  <a:srgbClr val="990000"/>
                </a:solidFill>
                <a:effectLst>
                  <a:outerShdw blurRad="38100" dist="38100" dir="2700000" algn="tl">
                    <a:srgbClr val="C0C0C0"/>
                  </a:outerShdw>
                </a:effectLst>
                <a:latin typeface="楷体_GB2312" pitchFamily="49" charset="-122"/>
                <a:ea typeface="楷体_GB2312" pitchFamily="49" charset="-122"/>
              </a:rPr>
              <a:t>int*</a:t>
            </a:r>
            <a:r>
              <a:rPr lang="zh-CN" altLang="en-US" sz="2800" b="1">
                <a:solidFill>
                  <a:srgbClr val="990000"/>
                </a:solidFill>
                <a:effectLst>
                  <a:outerShdw blurRad="38100" dist="38100" dir="2700000" algn="tl">
                    <a:srgbClr val="C0C0C0"/>
                  </a:outerShdw>
                </a:effectLst>
                <a:latin typeface="楷体_GB2312" pitchFamily="49" charset="-122"/>
                <a:ea typeface="楷体_GB2312" pitchFamily="49" charset="-122"/>
              </a:rPr>
              <a:t>的</a:t>
            </a:r>
            <a:r>
              <a:rPr lang="zh-CN" altLang="en-US" sz="2800" b="1">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      指针变量</a:t>
            </a:r>
            <a:r>
              <a:rPr lang="en-US" altLang="zh-CN" sz="2800" b="1">
                <a:solidFill>
                  <a:srgbClr val="990000"/>
                </a:solidFill>
                <a:effectLst>
                  <a:outerShdw blurRad="38100" dist="38100" dir="2700000" algn="tl">
                    <a:srgbClr val="C0C0C0"/>
                  </a:outerShdw>
                </a:effectLst>
                <a:latin typeface="楷体_GB2312" pitchFamily="49" charset="-122"/>
                <a:ea typeface="楷体_GB2312" pitchFamily="49" charset="-122"/>
              </a:rPr>
              <a:t>fp</a:t>
            </a:r>
            <a:r>
              <a:rPr lang="zh-CN" altLang="en-US" sz="2800" b="1">
                <a:solidFill>
                  <a:srgbClr val="990000"/>
                </a:solidFill>
                <a:effectLst>
                  <a:outerShdw blurRad="38100" dist="38100" dir="2700000" algn="tl">
                    <a:srgbClr val="C0C0C0"/>
                  </a:outerShdw>
                </a:effectLst>
                <a:latin typeface="楷体_GB2312" pitchFamily="49" charset="-122"/>
                <a:ea typeface="楷体_GB2312" pitchFamily="49" charset="-122"/>
              </a:rPr>
              <a:t>的类型是</a:t>
            </a:r>
            <a:r>
              <a:rPr lang="en-US" altLang="zh-CN" sz="2800" b="1">
                <a:solidFill>
                  <a:srgbClr val="990000"/>
                </a:solidFill>
                <a:effectLst>
                  <a:outerShdw blurRad="38100" dist="38100" dir="2700000" algn="tl">
                    <a:srgbClr val="C0C0C0"/>
                  </a:outerShdw>
                </a:effectLst>
                <a:latin typeface="楷体_GB2312" pitchFamily="49" charset="-122"/>
                <a:ea typeface="楷体_GB2312" pitchFamily="49" charset="-122"/>
              </a:rPr>
              <a:t>float*</a:t>
            </a:r>
            <a:r>
              <a:rPr lang="zh-CN" altLang="en-US" sz="2800" b="1">
                <a:solidFill>
                  <a:srgbClr val="990000"/>
                </a:solidFill>
                <a:effectLst>
                  <a:outerShdw blurRad="38100" dist="38100" dir="2700000" algn="tl">
                    <a:srgbClr val="C0C0C0"/>
                  </a:outerShdw>
                </a:effectLst>
                <a:latin typeface="楷体_GB2312" pitchFamily="49" charset="-122"/>
                <a:ea typeface="楷体_GB2312" pitchFamily="49" charset="-122"/>
              </a:rPr>
              <a:t>的</a:t>
            </a:r>
            <a:r>
              <a:rPr lang="zh-CN" altLang="en-US" sz="2800" b="1">
                <a:effectLst>
                  <a:outerShdw blurRad="38100" dist="38100" dir="2700000" algn="tl">
                    <a:srgbClr val="C0C0C0"/>
                  </a:outerShdw>
                </a:effectLst>
                <a:latin typeface="楷体_GB2312" pitchFamily="49" charset="-122"/>
                <a:ea typeface="楷体_GB2312" pitchFamily="49" charset="-122"/>
              </a:rPr>
              <a:t>。</a:t>
            </a:r>
            <a:r>
              <a:rPr lang="zh-CN" altLang="en-US" sz="2800">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901A9EB2-F716-4D5D-BFA5-A50583394A0D}" type="slidenum">
              <a:rPr lang="en-US" altLang="zh-CN"/>
              <a:pPr>
                <a:defRPr/>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idx="1"/>
          </p:nvPr>
        </p:nvSpPr>
        <p:spPr>
          <a:xfrm>
            <a:off x="323850" y="476250"/>
            <a:ext cx="8610600" cy="5715000"/>
          </a:xfrm>
        </p:spPr>
        <p:txBody>
          <a:bodyPr>
            <a:normAutofit/>
          </a:bodyPr>
          <a:lstStyle/>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例如，以下代码将整型变量</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zh-CN" altLang="en-US" sz="2800" b="1" dirty="0">
                <a:effectLst>
                  <a:outerShdw blurRad="38100" dist="38100" dir="2700000" algn="tl">
                    <a:srgbClr val="C0C0C0"/>
                  </a:outerShdw>
                </a:effectLst>
                <a:latin typeface="楷体_GB2312" pitchFamily="49" charset="-122"/>
                <a:ea typeface="楷体_GB2312" pitchFamily="49" charset="-122"/>
              </a:rPr>
              <a:t>的地址</a:t>
            </a:r>
            <a:r>
              <a:rPr lang="zh-CN" altLang="en-US" sz="2800" b="1" dirty="0">
                <a:solidFill>
                  <a:srgbClr val="FF3300"/>
                </a:solidFill>
              </a:rPr>
              <a:t>（而非内容）</a:t>
            </a:r>
            <a:r>
              <a:rPr lang="zh-CN" altLang="en-US" sz="2800" b="1" dirty="0">
                <a:effectLst>
                  <a:outerShdw blurRad="38100" dist="38100" dir="2700000" algn="tl">
                    <a:srgbClr val="C0C0C0"/>
                  </a:outerShdw>
                </a:effectLst>
                <a:latin typeface="楷体_GB2312" pitchFamily="49" charset="-122"/>
                <a:ea typeface="楷体_GB2312" pitchFamily="49" charset="-122"/>
              </a:rPr>
              <a:t>赋值给指针变量</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0000"/>
              </a:lnSpc>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 = 2;</a:t>
            </a:r>
          </a:p>
          <a:p>
            <a:pPr marL="0" indent="0" eaLnBrk="1" fontAlgn="auto" hangingPunct="1">
              <a:lnSpc>
                <a:spcPct val="80000"/>
              </a:lnSpc>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 = &amp;</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这样的赋值使</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与</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zh-CN" altLang="en-US" sz="2800" b="1" dirty="0">
                <a:effectLst>
                  <a:outerShdw blurRad="38100" dist="38100" dir="2700000" algn="tl">
                    <a:srgbClr val="C0C0C0"/>
                  </a:outerShdw>
                </a:effectLst>
                <a:latin typeface="楷体_GB2312" pitchFamily="49" charset="-122"/>
                <a:ea typeface="楷体_GB2312" pitchFamily="49" charset="-122"/>
              </a:rPr>
              <a:t>之间建立如图</a:t>
            </a:r>
            <a:r>
              <a:rPr lang="en-US" altLang="zh-CN" sz="2800" b="1" dirty="0">
                <a:effectLst>
                  <a:outerShdw blurRad="38100" dist="38100" dir="2700000" algn="tl">
                    <a:srgbClr val="C0C0C0"/>
                  </a:outerShdw>
                </a:effectLst>
                <a:latin typeface="楷体_GB2312" pitchFamily="49" charset="-122"/>
                <a:ea typeface="楷体_GB2312" pitchFamily="49" charset="-122"/>
              </a:rPr>
              <a:t>6.1</a:t>
            </a:r>
            <a:r>
              <a:rPr lang="zh-CN" altLang="en-US" sz="2800" b="1" dirty="0">
                <a:effectLst>
                  <a:outerShdw blurRad="38100" dist="38100" dir="2700000" algn="tl">
                    <a:srgbClr val="C0C0C0"/>
                  </a:outerShdw>
                </a:effectLst>
                <a:latin typeface="楷体_GB2312" pitchFamily="49" charset="-122"/>
                <a:ea typeface="楷体_GB2312" pitchFamily="49" charset="-122"/>
              </a:rPr>
              <a:t>所示的逻辑关系（</a:t>
            </a: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假设变量 </a:t>
            </a:r>
            <a:r>
              <a:rPr lang="en-US" altLang="zh-CN" sz="2800" b="1" dirty="0" err="1">
                <a:solidFill>
                  <a:srgbClr val="006600"/>
                </a:solidFill>
                <a:effectLst>
                  <a:outerShdw blurRad="38100" dist="38100" dir="2700000" algn="tl">
                    <a:srgbClr val="C0C0C0"/>
                  </a:outerShdw>
                </a:effectLst>
                <a:latin typeface="楷体_GB2312" pitchFamily="49" charset="-122"/>
                <a:ea typeface="楷体_GB2312" pitchFamily="49" charset="-122"/>
              </a:rPr>
              <a:t>i</a:t>
            </a:r>
            <a:r>
              <a:rPr lang="en-US" altLang="zh-CN" sz="2800" b="1" dirty="0">
                <a:solidFill>
                  <a:srgbClr val="006600"/>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的内存地址为</a:t>
            </a:r>
            <a:r>
              <a:rPr lang="en-US" altLang="zh-CN" sz="2800" b="1" dirty="0">
                <a:solidFill>
                  <a:srgbClr val="006600"/>
                </a:solidFill>
                <a:effectLst>
                  <a:outerShdw blurRad="38100" dist="38100" dir="2700000" algn="tl">
                    <a:srgbClr val="C0C0C0"/>
                  </a:outerShdw>
                </a:effectLst>
                <a:latin typeface="楷体_GB2312" pitchFamily="49" charset="-122"/>
                <a:ea typeface="楷体_GB2312" pitchFamily="49" charset="-122"/>
              </a:rPr>
              <a:t>1000</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0000"/>
              </a:lnSpc>
              <a:spcAft>
                <a:spcPts val="0"/>
              </a:spcAft>
              <a:buClr>
                <a:schemeClr val="accent3"/>
              </a:buClr>
              <a:buFontTx/>
              <a:buNone/>
              <a:defRPr/>
            </a:pPr>
            <a:endParaRPr lang="zh-CN" altLang="en-US"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80000"/>
              </a:lnSpc>
              <a:spcAft>
                <a:spcPts val="0"/>
              </a:spcAft>
              <a:buClr>
                <a:schemeClr val="accent3"/>
              </a:buClr>
              <a:buFontTx/>
              <a:buNone/>
              <a:defRPr/>
            </a:pPr>
            <a:endParaRPr lang="zh-CN" altLang="en-US" sz="2800" b="1" dirty="0">
              <a:effectLst>
                <a:outerShdw blurRad="38100" dist="38100" dir="2700000" algn="tl">
                  <a:srgbClr val="C0C0C0"/>
                </a:outerShdw>
              </a:effectLst>
            </a:endParaRPr>
          </a:p>
          <a:p>
            <a:pPr marL="0" indent="0" eaLnBrk="1" fontAlgn="auto" hangingPunct="1">
              <a:lnSpc>
                <a:spcPct val="80000"/>
              </a:lnSpc>
              <a:spcAft>
                <a:spcPts val="0"/>
              </a:spcAft>
              <a:buClr>
                <a:schemeClr val="accent3"/>
              </a:buClr>
              <a:buFontTx/>
              <a:buNone/>
              <a:defRPr/>
            </a:pPr>
            <a:endParaRPr lang="zh-CN" altLang="en-US" sz="2800" b="1" dirty="0">
              <a:effectLst>
                <a:outerShdw blurRad="38100" dist="38100" dir="2700000" algn="tl">
                  <a:srgbClr val="C0C0C0"/>
                </a:outerShdw>
              </a:effectLst>
            </a:endParaRPr>
          </a:p>
          <a:p>
            <a:pPr marL="0" indent="0" eaLnBrk="1" fontAlgn="auto" hangingPunct="1">
              <a:lnSpc>
                <a:spcPct val="80000"/>
              </a:lnSpc>
              <a:spcAft>
                <a:spcPts val="0"/>
              </a:spcAft>
              <a:buClr>
                <a:schemeClr val="accent3"/>
              </a:buClr>
              <a:buFontTx/>
              <a:buNone/>
              <a:defRPr/>
            </a:pPr>
            <a:endParaRPr lang="zh-CN" altLang="en-US" sz="2800" b="1" dirty="0">
              <a:effectLst>
                <a:outerShdw blurRad="38100" dist="38100" dir="2700000" algn="tl">
                  <a:srgbClr val="C0C0C0"/>
                </a:outerShdw>
              </a:effectLst>
            </a:endParaRP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rPr>
              <a:t>        </a:t>
            </a:r>
            <a:r>
              <a:rPr lang="zh-CN" altLang="en-US" sz="2400" b="1" dirty="0">
                <a:effectLst>
                  <a:outerShdw blurRad="38100" dist="38100" dir="2700000" algn="tl">
                    <a:srgbClr val="C0C0C0"/>
                  </a:outerShdw>
                </a:effectLst>
                <a:latin typeface="楷体_GB2312" pitchFamily="49" charset="-122"/>
                <a:ea typeface="楷体_GB2312" pitchFamily="49" charset="-122"/>
              </a:rPr>
              <a:t>图</a:t>
            </a:r>
            <a:r>
              <a:rPr lang="en-US" altLang="zh-CN" sz="2400" b="1" dirty="0">
                <a:effectLst>
                  <a:outerShdw blurRad="38100" dist="38100" dir="2700000" algn="tl">
                    <a:srgbClr val="C0C0C0"/>
                  </a:outerShdw>
                </a:effectLst>
                <a:latin typeface="楷体_GB2312" pitchFamily="49" charset="-122"/>
                <a:ea typeface="楷体_GB2312" pitchFamily="49" charset="-122"/>
              </a:rPr>
              <a:t>6.1 </a:t>
            </a:r>
            <a:r>
              <a:rPr lang="zh-CN" altLang="en-US" sz="2400" b="1" dirty="0">
                <a:effectLst>
                  <a:outerShdw blurRad="38100" dist="38100" dir="2700000" algn="tl">
                    <a:srgbClr val="C0C0C0"/>
                  </a:outerShdw>
                </a:effectLst>
                <a:latin typeface="楷体_GB2312" pitchFamily="49" charset="-122"/>
                <a:ea typeface="楷体_GB2312" pitchFamily="49" charset="-122"/>
              </a:rPr>
              <a:t>指针变量与它所指变量关系图</a:t>
            </a:r>
          </a:p>
          <a:p>
            <a:pPr marL="0" indent="0" eaLnBrk="1" fontAlgn="auto" hangingPunct="1">
              <a:lnSpc>
                <a:spcPct val="80000"/>
              </a:lnSpc>
              <a:spcAft>
                <a:spcPts val="0"/>
              </a:spcAft>
              <a:buClr>
                <a:schemeClr val="accent3"/>
              </a:buClr>
              <a:buFontTx/>
              <a:buNone/>
              <a:defRPr/>
            </a:pP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当指针变量</a:t>
            </a:r>
            <a:r>
              <a:rPr lang="en-US" altLang="zh-CN" sz="2800" b="1" dirty="0" err="1">
                <a:solidFill>
                  <a:srgbClr val="006600"/>
                </a:solidFill>
                <a:effectLst>
                  <a:outerShdw blurRad="38100" dist="38100" dir="2700000" algn="tl">
                    <a:srgbClr val="C0C0C0"/>
                  </a:outerShdw>
                </a:effectLst>
                <a:latin typeface="楷体_GB2312" pitchFamily="49" charset="-122"/>
                <a:ea typeface="楷体_GB2312" pitchFamily="49" charset="-122"/>
              </a:rPr>
              <a:t>ip</a:t>
            </a: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的值为变量</a:t>
            </a:r>
            <a:r>
              <a:rPr lang="en-US" altLang="zh-CN" sz="2800" b="1" dirty="0" err="1">
                <a:solidFill>
                  <a:srgbClr val="006600"/>
                </a:solidFill>
                <a:effectLst>
                  <a:outerShdw blurRad="38100" dist="38100" dir="2700000" algn="tl">
                    <a:srgbClr val="C0C0C0"/>
                  </a:outerShdw>
                </a:effectLst>
                <a:latin typeface="楷体_GB2312" pitchFamily="49" charset="-122"/>
                <a:ea typeface="楷体_GB2312" pitchFamily="49" charset="-122"/>
              </a:rPr>
              <a:t>i</a:t>
            </a: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的地址时，就说指针变量</a:t>
            </a:r>
            <a:r>
              <a:rPr lang="en-US" altLang="zh-CN" sz="2800" b="1" dirty="0" err="1">
                <a:solidFill>
                  <a:srgbClr val="006600"/>
                </a:solidFill>
                <a:effectLst>
                  <a:outerShdw blurRad="38100" dist="38100" dir="2700000" algn="tl">
                    <a:srgbClr val="C0C0C0"/>
                  </a:outerShdw>
                </a:effectLst>
                <a:latin typeface="楷体_GB2312" pitchFamily="49" charset="-122"/>
                <a:ea typeface="楷体_GB2312" pitchFamily="49" charset="-122"/>
              </a:rPr>
              <a:t>ip</a:t>
            </a: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指向变量</a:t>
            </a:r>
            <a:r>
              <a:rPr lang="en-US" altLang="zh-CN" sz="2800" b="1" dirty="0" err="1">
                <a:solidFill>
                  <a:srgbClr val="006600"/>
                </a:solidFill>
                <a:effectLst>
                  <a:outerShdw blurRad="38100" dist="38100" dir="2700000" algn="tl">
                    <a:srgbClr val="C0C0C0"/>
                  </a:outerShdw>
                </a:effectLst>
                <a:latin typeface="楷体_GB2312" pitchFamily="49" charset="-122"/>
                <a:ea typeface="楷体_GB2312" pitchFamily="49" charset="-122"/>
              </a:rPr>
              <a:t>i</a:t>
            </a:r>
            <a:r>
              <a:rPr lang="zh-CN" altLang="en-US" sz="2800" b="1" dirty="0">
                <a:solidFill>
                  <a:srgbClr val="006600"/>
                </a:solidFill>
                <a:effectLst>
                  <a:outerShdw blurRad="38100" dist="38100" dir="2700000" algn="tl">
                    <a:srgbClr val="C0C0C0"/>
                  </a:outerShdw>
                </a:effectLst>
              </a:rPr>
              <a:t>。</a:t>
            </a:r>
          </a:p>
          <a:p>
            <a:pPr marL="0" indent="0" eaLnBrk="1" fontAlgn="auto" hangingPunct="1">
              <a:lnSpc>
                <a:spcPct val="80000"/>
              </a:lnSpc>
              <a:spcAft>
                <a:spcPts val="0"/>
              </a:spcAft>
              <a:buClr>
                <a:schemeClr val="accent3"/>
              </a:buClr>
              <a:buFontTx/>
              <a:buNone/>
              <a:defRPr/>
            </a:pPr>
            <a:endParaRPr lang="en-US" altLang="zh-CN" sz="2400" b="1" dirty="0">
              <a:solidFill>
                <a:srgbClr val="006600"/>
              </a:solidFill>
              <a:effectLst>
                <a:outerShdw blurRad="38100" dist="38100" dir="2700000" algn="tl">
                  <a:srgbClr val="C0C0C0"/>
                </a:outerShdw>
              </a:effectLst>
              <a:latin typeface="楷体_GB2312" pitchFamily="49" charset="-122"/>
              <a:ea typeface="楷体_GB2312" pitchFamily="49" charset="-122"/>
            </a:endParaRPr>
          </a:p>
        </p:txBody>
      </p:sp>
      <p:sp>
        <p:nvSpPr>
          <p:cNvPr id="1229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pSp>
        <p:nvGrpSpPr>
          <p:cNvPr id="12292" name="Group 5"/>
          <p:cNvGrpSpPr>
            <a:grpSpLocks/>
          </p:cNvGrpSpPr>
          <p:nvPr/>
        </p:nvGrpSpPr>
        <p:grpSpPr bwMode="auto">
          <a:xfrm>
            <a:off x="1763713" y="3141663"/>
            <a:ext cx="4419600" cy="1295400"/>
            <a:chOff x="1440" y="2952"/>
            <a:chExt cx="2784" cy="816"/>
          </a:xfrm>
        </p:grpSpPr>
        <p:sp>
          <p:nvSpPr>
            <p:cNvPr id="72710" name="Rectangle 6"/>
            <p:cNvSpPr>
              <a:spLocks noChangeArrowheads="1"/>
            </p:cNvSpPr>
            <p:nvPr/>
          </p:nvSpPr>
          <p:spPr bwMode="auto">
            <a:xfrm>
              <a:off x="1584" y="2952"/>
              <a:ext cx="2640" cy="327"/>
            </a:xfrm>
            <a:prstGeom prst="rect">
              <a:avLst/>
            </a:prstGeom>
            <a:noFill/>
            <a:ln w="9525">
              <a:noFill/>
              <a:miter lim="800000"/>
              <a:headEnd/>
              <a:tailEnd/>
            </a:ln>
            <a:effectLst/>
          </p:spPr>
          <p:txBody>
            <a:bodyPr>
              <a:spAutoFit/>
            </a:bodyPr>
            <a:lstStyle/>
            <a:p>
              <a:pPr>
                <a:spcBef>
                  <a:spcPct val="20000"/>
                </a:spcBef>
                <a:buClr>
                  <a:schemeClr val="hlink"/>
                </a:buClr>
                <a:buSzPct val="50000"/>
                <a:buFont typeface="Monotype Sorts" pitchFamily="2" charset="2"/>
                <a:buNone/>
                <a:defRPr/>
              </a:pPr>
              <a:r>
                <a:rPr kumimoji="1" lang="en-US" altLang="zh-CN" sz="2800" b="1">
                  <a:solidFill>
                    <a:srgbClr val="FF3300"/>
                  </a:solidFill>
                  <a:effectLst>
                    <a:outerShdw blurRad="38100" dist="38100" dir="2700000" algn="tl">
                      <a:srgbClr val="C0C0C0"/>
                    </a:outerShdw>
                  </a:effectLst>
                  <a:latin typeface="Times New Roman" charset="0"/>
                  <a:ea typeface="宋体" pitchFamily="2" charset="-122"/>
                </a:rPr>
                <a:t>  </a:t>
              </a:r>
              <a:r>
                <a:rPr kumimoji="1" lang="en-US" altLang="zh-CN" sz="2800" b="1">
                  <a:solidFill>
                    <a:srgbClr val="FF3300"/>
                  </a:solidFill>
                  <a:latin typeface="Times New Roman" charset="0"/>
                  <a:ea typeface="宋体" pitchFamily="2" charset="-122"/>
                </a:rPr>
                <a:t>ip</a:t>
              </a:r>
              <a:r>
                <a:rPr kumimoji="1" lang="en-US" altLang="zh-CN" sz="2800" b="1">
                  <a:solidFill>
                    <a:srgbClr val="FF3300"/>
                  </a:solidFill>
                  <a:effectLst>
                    <a:outerShdw blurRad="38100" dist="38100" dir="2700000" algn="tl">
                      <a:srgbClr val="C0C0C0"/>
                    </a:outerShdw>
                  </a:effectLst>
                  <a:latin typeface="Times New Roman" charset="0"/>
                  <a:ea typeface="宋体" pitchFamily="2" charset="-122"/>
                </a:rPr>
                <a:t> </a:t>
              </a:r>
              <a:r>
                <a:rPr kumimoji="1" lang="en-US" altLang="zh-CN" sz="2800" b="1">
                  <a:effectLst>
                    <a:outerShdw blurRad="38100" dist="38100" dir="2700000" algn="tl">
                      <a:srgbClr val="C0C0C0"/>
                    </a:outerShdw>
                  </a:effectLst>
                  <a:latin typeface="Times New Roman" charset="0"/>
                  <a:ea typeface="宋体" pitchFamily="2" charset="-122"/>
                </a:rPr>
                <a:t>                               </a:t>
              </a:r>
              <a:r>
                <a:rPr kumimoji="1" lang="en-US" altLang="zh-CN" sz="2800" b="1">
                  <a:solidFill>
                    <a:srgbClr val="0000FF"/>
                  </a:solidFill>
                  <a:latin typeface="Times New Roman" charset="0"/>
                  <a:ea typeface="宋体" pitchFamily="2" charset="-122"/>
                </a:rPr>
                <a:t>i</a:t>
              </a:r>
            </a:p>
          </p:txBody>
        </p:sp>
        <p:grpSp>
          <p:nvGrpSpPr>
            <p:cNvPr id="12296" name="Group 7"/>
            <p:cNvGrpSpPr>
              <a:grpSpLocks/>
            </p:cNvGrpSpPr>
            <p:nvPr/>
          </p:nvGrpSpPr>
          <p:grpSpPr bwMode="auto">
            <a:xfrm>
              <a:off x="3312" y="3384"/>
              <a:ext cx="906" cy="384"/>
              <a:chOff x="3504" y="3384"/>
              <a:chExt cx="906" cy="384"/>
            </a:xfrm>
          </p:grpSpPr>
          <p:grpSp>
            <p:nvGrpSpPr>
              <p:cNvPr id="12305" name="Group 8"/>
              <p:cNvGrpSpPr>
                <a:grpSpLocks/>
              </p:cNvGrpSpPr>
              <p:nvPr/>
            </p:nvGrpSpPr>
            <p:grpSpPr bwMode="auto">
              <a:xfrm>
                <a:off x="3504" y="3384"/>
                <a:ext cx="906" cy="384"/>
                <a:chOff x="2928" y="1008"/>
                <a:chExt cx="1152" cy="528"/>
              </a:xfrm>
            </p:grpSpPr>
            <p:sp>
              <p:nvSpPr>
                <p:cNvPr id="12307" name="Line 9"/>
                <p:cNvSpPr>
                  <a:spLocks noChangeShapeType="1"/>
                </p:cNvSpPr>
                <p:nvPr/>
              </p:nvSpPr>
              <p:spPr bwMode="auto">
                <a:xfrm>
                  <a:off x="2928" y="1008"/>
                  <a:ext cx="1152" cy="0"/>
                </a:xfrm>
                <a:prstGeom prst="line">
                  <a:avLst/>
                </a:prstGeom>
                <a:noFill/>
                <a:ln w="28575">
                  <a:solidFill>
                    <a:schemeClr val="tx1"/>
                  </a:solidFill>
                  <a:round/>
                  <a:headEnd/>
                  <a:tailEnd/>
                </a:ln>
              </p:spPr>
              <p:txBody>
                <a:bodyPr wrap="none" anchor="ctr"/>
                <a:lstStyle/>
                <a:p>
                  <a:endParaRPr lang="zh-CN" altLang="en-US"/>
                </a:p>
              </p:txBody>
            </p:sp>
            <p:sp>
              <p:nvSpPr>
                <p:cNvPr id="12308" name="Line 10"/>
                <p:cNvSpPr>
                  <a:spLocks noChangeShapeType="1"/>
                </p:cNvSpPr>
                <p:nvPr/>
              </p:nvSpPr>
              <p:spPr bwMode="auto">
                <a:xfrm>
                  <a:off x="4080" y="1008"/>
                  <a:ext cx="0" cy="528"/>
                </a:xfrm>
                <a:prstGeom prst="line">
                  <a:avLst/>
                </a:prstGeom>
                <a:noFill/>
                <a:ln w="28575">
                  <a:solidFill>
                    <a:schemeClr val="tx1"/>
                  </a:solidFill>
                  <a:round/>
                  <a:headEnd/>
                  <a:tailEnd/>
                </a:ln>
              </p:spPr>
              <p:txBody>
                <a:bodyPr wrap="none" anchor="ctr"/>
                <a:lstStyle/>
                <a:p>
                  <a:endParaRPr lang="zh-CN" altLang="en-US"/>
                </a:p>
              </p:txBody>
            </p:sp>
            <p:sp>
              <p:nvSpPr>
                <p:cNvPr id="12309" name="Line 11"/>
                <p:cNvSpPr>
                  <a:spLocks noChangeShapeType="1"/>
                </p:cNvSpPr>
                <p:nvPr/>
              </p:nvSpPr>
              <p:spPr bwMode="auto">
                <a:xfrm flipH="1">
                  <a:off x="2928" y="1536"/>
                  <a:ext cx="1152" cy="0"/>
                </a:xfrm>
                <a:prstGeom prst="line">
                  <a:avLst/>
                </a:prstGeom>
                <a:noFill/>
                <a:ln w="28575">
                  <a:solidFill>
                    <a:schemeClr val="tx1"/>
                  </a:solidFill>
                  <a:round/>
                  <a:headEnd/>
                  <a:tailEnd/>
                </a:ln>
              </p:spPr>
              <p:txBody>
                <a:bodyPr wrap="none" anchor="ctr"/>
                <a:lstStyle/>
                <a:p>
                  <a:endParaRPr lang="zh-CN" altLang="en-US"/>
                </a:p>
              </p:txBody>
            </p:sp>
            <p:sp>
              <p:nvSpPr>
                <p:cNvPr id="12310" name="Line 12"/>
                <p:cNvSpPr>
                  <a:spLocks noChangeShapeType="1"/>
                </p:cNvSpPr>
                <p:nvPr/>
              </p:nvSpPr>
              <p:spPr bwMode="auto">
                <a:xfrm flipV="1">
                  <a:off x="2928" y="1008"/>
                  <a:ext cx="0" cy="528"/>
                </a:xfrm>
                <a:prstGeom prst="line">
                  <a:avLst/>
                </a:prstGeom>
                <a:noFill/>
                <a:ln w="28575">
                  <a:solidFill>
                    <a:schemeClr val="tx1"/>
                  </a:solidFill>
                  <a:round/>
                  <a:headEnd/>
                  <a:tailEnd/>
                </a:ln>
              </p:spPr>
              <p:txBody>
                <a:bodyPr wrap="none" anchor="ctr"/>
                <a:lstStyle/>
                <a:p>
                  <a:endParaRPr lang="zh-CN" altLang="en-US"/>
                </a:p>
              </p:txBody>
            </p:sp>
          </p:grpSp>
          <p:sp>
            <p:nvSpPr>
              <p:cNvPr id="12306" name="Text Box 13"/>
              <p:cNvSpPr txBox="1">
                <a:spLocks noChangeArrowheads="1"/>
              </p:cNvSpPr>
              <p:nvPr/>
            </p:nvSpPr>
            <p:spPr bwMode="auto">
              <a:xfrm>
                <a:off x="3852" y="3384"/>
                <a:ext cx="228" cy="327"/>
              </a:xfrm>
              <a:prstGeom prst="rect">
                <a:avLst/>
              </a:prstGeom>
              <a:noFill/>
              <a:ln w="9525">
                <a:noFill/>
                <a:miter lim="800000"/>
                <a:headEnd/>
                <a:tailEnd/>
              </a:ln>
            </p:spPr>
            <p:txBody>
              <a:bodyPr wrap="none">
                <a:spAutoFit/>
              </a:bodyPr>
              <a:lstStyle/>
              <a:p>
                <a:pPr eaLnBrk="0" hangingPunct="0"/>
                <a:r>
                  <a:rPr kumimoji="1" lang="en-US" altLang="zh-CN" sz="2800" b="1">
                    <a:latin typeface="Times New Roman" charset="0"/>
                  </a:rPr>
                  <a:t>2</a:t>
                </a:r>
              </a:p>
            </p:txBody>
          </p:sp>
        </p:grpSp>
        <p:grpSp>
          <p:nvGrpSpPr>
            <p:cNvPr id="12297" name="Group 14"/>
            <p:cNvGrpSpPr>
              <a:grpSpLocks/>
            </p:cNvGrpSpPr>
            <p:nvPr/>
          </p:nvGrpSpPr>
          <p:grpSpPr bwMode="auto">
            <a:xfrm>
              <a:off x="1440" y="3384"/>
              <a:ext cx="1056" cy="384"/>
              <a:chOff x="1440" y="3384"/>
              <a:chExt cx="1056" cy="384"/>
            </a:xfrm>
          </p:grpSpPr>
          <p:grpSp>
            <p:nvGrpSpPr>
              <p:cNvPr id="12299" name="Group 15"/>
              <p:cNvGrpSpPr>
                <a:grpSpLocks/>
              </p:cNvGrpSpPr>
              <p:nvPr/>
            </p:nvGrpSpPr>
            <p:grpSpPr bwMode="auto">
              <a:xfrm>
                <a:off x="1440" y="3384"/>
                <a:ext cx="1056" cy="384"/>
                <a:chOff x="431" y="1026"/>
                <a:chExt cx="1153" cy="528"/>
              </a:xfrm>
            </p:grpSpPr>
            <p:sp>
              <p:nvSpPr>
                <p:cNvPr id="12301" name="Line 16"/>
                <p:cNvSpPr>
                  <a:spLocks noChangeShapeType="1"/>
                </p:cNvSpPr>
                <p:nvPr/>
              </p:nvSpPr>
              <p:spPr bwMode="auto">
                <a:xfrm>
                  <a:off x="431" y="1026"/>
                  <a:ext cx="1152" cy="0"/>
                </a:xfrm>
                <a:prstGeom prst="line">
                  <a:avLst/>
                </a:prstGeom>
                <a:noFill/>
                <a:ln w="28575">
                  <a:solidFill>
                    <a:schemeClr val="tx1"/>
                  </a:solidFill>
                  <a:round/>
                  <a:headEnd/>
                  <a:tailEnd/>
                </a:ln>
              </p:spPr>
              <p:txBody>
                <a:bodyPr wrap="none" anchor="ctr"/>
                <a:lstStyle/>
                <a:p>
                  <a:endParaRPr lang="zh-CN" altLang="en-US"/>
                </a:p>
              </p:txBody>
            </p:sp>
            <p:sp>
              <p:nvSpPr>
                <p:cNvPr id="12302" name="Line 17"/>
                <p:cNvSpPr>
                  <a:spLocks noChangeShapeType="1"/>
                </p:cNvSpPr>
                <p:nvPr/>
              </p:nvSpPr>
              <p:spPr bwMode="auto">
                <a:xfrm>
                  <a:off x="1584" y="1026"/>
                  <a:ext cx="0" cy="528"/>
                </a:xfrm>
                <a:prstGeom prst="line">
                  <a:avLst/>
                </a:prstGeom>
                <a:noFill/>
                <a:ln w="28575">
                  <a:solidFill>
                    <a:schemeClr val="tx1"/>
                  </a:solidFill>
                  <a:round/>
                  <a:headEnd/>
                  <a:tailEnd/>
                </a:ln>
              </p:spPr>
              <p:txBody>
                <a:bodyPr wrap="none" anchor="ctr"/>
                <a:lstStyle/>
                <a:p>
                  <a:endParaRPr lang="zh-CN" altLang="en-US"/>
                </a:p>
              </p:txBody>
            </p:sp>
            <p:sp>
              <p:nvSpPr>
                <p:cNvPr id="12303" name="Line 18"/>
                <p:cNvSpPr>
                  <a:spLocks noChangeShapeType="1"/>
                </p:cNvSpPr>
                <p:nvPr/>
              </p:nvSpPr>
              <p:spPr bwMode="auto">
                <a:xfrm flipH="1">
                  <a:off x="432" y="1554"/>
                  <a:ext cx="1152" cy="0"/>
                </a:xfrm>
                <a:prstGeom prst="line">
                  <a:avLst/>
                </a:prstGeom>
                <a:noFill/>
                <a:ln w="28575">
                  <a:solidFill>
                    <a:schemeClr val="tx1"/>
                  </a:solidFill>
                  <a:round/>
                  <a:headEnd/>
                  <a:tailEnd/>
                </a:ln>
              </p:spPr>
              <p:txBody>
                <a:bodyPr wrap="none" anchor="ctr"/>
                <a:lstStyle/>
                <a:p>
                  <a:endParaRPr lang="zh-CN" altLang="en-US"/>
                </a:p>
              </p:txBody>
            </p:sp>
            <p:sp>
              <p:nvSpPr>
                <p:cNvPr id="12304" name="Line 19"/>
                <p:cNvSpPr>
                  <a:spLocks noChangeShapeType="1"/>
                </p:cNvSpPr>
                <p:nvPr/>
              </p:nvSpPr>
              <p:spPr bwMode="auto">
                <a:xfrm flipV="1">
                  <a:off x="432" y="1026"/>
                  <a:ext cx="0" cy="528"/>
                </a:xfrm>
                <a:prstGeom prst="line">
                  <a:avLst/>
                </a:prstGeom>
                <a:noFill/>
                <a:ln w="28575">
                  <a:solidFill>
                    <a:schemeClr val="tx1"/>
                  </a:solidFill>
                  <a:round/>
                  <a:headEnd/>
                  <a:tailEnd/>
                </a:ln>
              </p:spPr>
              <p:txBody>
                <a:bodyPr wrap="none" anchor="ctr"/>
                <a:lstStyle/>
                <a:p>
                  <a:endParaRPr lang="zh-CN" altLang="en-US"/>
                </a:p>
              </p:txBody>
            </p:sp>
          </p:grpSp>
          <p:sp>
            <p:nvSpPr>
              <p:cNvPr id="12300" name="Text Box 20"/>
              <p:cNvSpPr txBox="1">
                <a:spLocks noChangeArrowheads="1"/>
              </p:cNvSpPr>
              <p:nvPr/>
            </p:nvSpPr>
            <p:spPr bwMode="auto">
              <a:xfrm>
                <a:off x="1642" y="3412"/>
                <a:ext cx="564" cy="327"/>
              </a:xfrm>
              <a:prstGeom prst="rect">
                <a:avLst/>
              </a:prstGeom>
              <a:noFill/>
              <a:ln w="9525">
                <a:noFill/>
                <a:miter lim="800000"/>
                <a:headEnd/>
                <a:tailEnd/>
              </a:ln>
            </p:spPr>
            <p:txBody>
              <a:bodyPr wrap="none">
                <a:spAutoFit/>
              </a:bodyPr>
              <a:lstStyle/>
              <a:p>
                <a:pPr eaLnBrk="0" hangingPunct="0"/>
                <a:r>
                  <a:rPr kumimoji="1" lang="en-US" altLang="zh-CN" sz="2800" b="1">
                    <a:latin typeface="Times New Roman" charset="0"/>
                  </a:rPr>
                  <a:t>1000</a:t>
                </a:r>
              </a:p>
            </p:txBody>
          </p:sp>
        </p:grpSp>
        <p:sp>
          <p:nvSpPr>
            <p:cNvPr id="12298" name="Line 21"/>
            <p:cNvSpPr>
              <a:spLocks noChangeShapeType="1"/>
            </p:cNvSpPr>
            <p:nvPr/>
          </p:nvSpPr>
          <p:spPr bwMode="auto">
            <a:xfrm>
              <a:off x="2352" y="3600"/>
              <a:ext cx="816" cy="0"/>
            </a:xfrm>
            <a:prstGeom prst="line">
              <a:avLst/>
            </a:prstGeom>
            <a:noFill/>
            <a:ln w="38100">
              <a:solidFill>
                <a:srgbClr val="FF3300"/>
              </a:solidFill>
              <a:prstDash val="sysDash"/>
              <a:round/>
              <a:headEnd/>
              <a:tailEnd type="triangle" w="med" len="med"/>
            </a:ln>
          </p:spPr>
          <p:txBody>
            <a:bodyPr/>
            <a:lstStyle/>
            <a:p>
              <a:endParaRPr lang="zh-CN" altLang="en-US"/>
            </a:p>
          </p:txBody>
        </p:sp>
      </p:grpSp>
      <p:sp>
        <p:nvSpPr>
          <p:cNvPr id="12293" name="TextBox 22"/>
          <p:cNvSpPr txBox="1">
            <a:spLocks noChangeArrowheads="1"/>
          </p:cNvSpPr>
          <p:nvPr/>
        </p:nvSpPr>
        <p:spPr bwMode="auto">
          <a:xfrm>
            <a:off x="7000875" y="3929063"/>
            <a:ext cx="1017588" cy="369887"/>
          </a:xfrm>
          <a:prstGeom prst="rect">
            <a:avLst/>
          </a:prstGeom>
          <a:noFill/>
          <a:ln w="9525">
            <a:noFill/>
            <a:miter lim="800000"/>
            <a:headEnd/>
            <a:tailEnd/>
          </a:ln>
        </p:spPr>
        <p:txBody>
          <a:bodyPr wrap="none">
            <a:spAutoFit/>
          </a:bodyPr>
          <a:lstStyle/>
          <a:p>
            <a:r>
              <a:rPr lang="en-US" altLang="zh-CN"/>
              <a:t>1000:  </a:t>
            </a:r>
            <a:r>
              <a:rPr lang="en-US" altLang="zh-CN">
                <a:latin typeface="Baskerville Old Face" pitchFamily="18" charset="0"/>
              </a:rPr>
              <a:t>i</a:t>
            </a:r>
            <a:r>
              <a:rPr lang="en-US" altLang="zh-CN"/>
              <a:t> </a:t>
            </a:r>
            <a:endParaRPr lang="zh-CN" altLang="en-US"/>
          </a:p>
        </p:txBody>
      </p:sp>
      <p:sp>
        <p:nvSpPr>
          <p:cNvPr id="22" name="Slide Number Placeholder 21"/>
          <p:cNvSpPr>
            <a:spLocks noGrp="1"/>
          </p:cNvSpPr>
          <p:nvPr>
            <p:ph type="sldNum" sz="quarter" idx="12"/>
          </p:nvPr>
        </p:nvSpPr>
        <p:spPr/>
        <p:txBody>
          <a:bodyPr/>
          <a:lstStyle/>
          <a:p>
            <a:pPr>
              <a:defRPr/>
            </a:pPr>
            <a:fld id="{FDACD453-27F9-46C4-BC2E-3459D100757E}" type="slidenum">
              <a:rPr lang="en-US" altLang="zh-CN"/>
              <a:pPr>
                <a:defRPr/>
              </a:pPr>
              <a:t>12</a:t>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idx="1"/>
          </p:nvPr>
        </p:nvSpPr>
        <p:spPr>
          <a:xfrm>
            <a:off x="304800" y="404813"/>
            <a:ext cx="8610600" cy="6224587"/>
          </a:xfrm>
        </p:spPr>
        <p:txBody>
          <a:bodyPr>
            <a:normAutofit/>
          </a:bodyPr>
          <a:lstStyle/>
          <a:p>
            <a:pPr marL="0" indent="0" eaLnBrk="1" fontAlgn="auto" hangingPunct="1">
              <a:spcAft>
                <a:spcPts val="0"/>
              </a:spcAft>
              <a:buClr>
                <a:schemeClr val="accent3"/>
              </a:buClr>
              <a:buFontTx/>
              <a:buNone/>
              <a:defRPr/>
            </a:pPr>
            <a:endParaRPr lang="en-US" altLang="zh-CN" sz="2800" b="1">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指针变量定义时也可指定初值。例如</a:t>
            </a: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en-US" altLang="zh-CN" sz="2800" b="1">
                <a:effectLst>
                  <a:outerShdw blurRad="38100" dist="38100" dir="2700000" algn="tl">
                    <a:srgbClr val="C0C0C0"/>
                  </a:outerShdw>
                </a:effectLst>
                <a:latin typeface="楷体_GB2312" pitchFamily="49" charset="-122"/>
                <a:ea typeface="楷体_GB2312" pitchFamily="49" charset="-122"/>
              </a:rPr>
              <a:t>int j;</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int *intpt = &amp;j</a:t>
            </a:r>
            <a:r>
              <a:rPr lang="zh-CN" altLang="en-US" sz="2800" b="1">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在定义</a:t>
            </a:r>
            <a:r>
              <a:rPr lang="en-US" altLang="zh-CN" sz="2800" b="1">
                <a:effectLst>
                  <a:outerShdw blurRad="38100" dist="38100" dir="2700000" algn="tl">
                    <a:srgbClr val="C0C0C0"/>
                  </a:outerShdw>
                </a:effectLst>
                <a:latin typeface="楷体_GB2312" pitchFamily="49" charset="-122"/>
                <a:ea typeface="楷体_GB2312" pitchFamily="49" charset="-122"/>
              </a:rPr>
              <a:t>int*</a:t>
            </a:r>
            <a:r>
              <a:rPr lang="zh-CN" altLang="en-US" sz="2800" b="1">
                <a:effectLst>
                  <a:outerShdw blurRad="38100" dist="38100" dir="2700000" algn="tl">
                    <a:srgbClr val="C0C0C0"/>
                  </a:outerShdw>
                </a:effectLst>
                <a:latin typeface="楷体_GB2312" pitchFamily="49" charset="-122"/>
                <a:ea typeface="楷体_GB2312" pitchFamily="49" charset="-122"/>
              </a:rPr>
              <a:t>类型指针变量</a:t>
            </a:r>
            <a:r>
              <a:rPr lang="en-US" altLang="zh-CN" sz="2800" b="1">
                <a:effectLst>
                  <a:outerShdw blurRad="38100" dist="38100" dir="2700000" algn="tl">
                    <a:srgbClr val="C0C0C0"/>
                  </a:outerShdw>
                </a:effectLst>
                <a:latin typeface="楷体_GB2312" pitchFamily="49" charset="-122"/>
                <a:ea typeface="楷体_GB2312" pitchFamily="49" charset="-122"/>
              </a:rPr>
              <a:t>intpt</a:t>
            </a:r>
            <a:r>
              <a:rPr lang="zh-CN" altLang="en-US" sz="2800" b="1">
                <a:effectLst>
                  <a:outerShdw blurRad="38100" dist="38100" dir="2700000" algn="tl">
                    <a:srgbClr val="C0C0C0"/>
                  </a:outerShdw>
                </a:effectLst>
                <a:latin typeface="楷体_GB2312" pitchFamily="49" charset="-122"/>
                <a:ea typeface="楷体_GB2312" pitchFamily="49" charset="-122"/>
              </a:rPr>
              <a:t>时，给它初始化为</a:t>
            </a:r>
            <a:r>
              <a:rPr lang="en-US" altLang="zh-CN" sz="2800" b="1">
                <a:effectLst>
                  <a:outerShdw blurRad="38100" dist="38100" dir="2700000" algn="tl">
                    <a:srgbClr val="C0C0C0"/>
                  </a:outerShdw>
                </a:effectLst>
                <a:latin typeface="楷体_GB2312" pitchFamily="49" charset="-122"/>
                <a:ea typeface="楷体_GB2312" pitchFamily="49" charset="-122"/>
              </a:rPr>
              <a:t>int</a:t>
            </a:r>
            <a:r>
              <a:rPr lang="zh-CN" altLang="en-US" sz="2800" b="1">
                <a:effectLst>
                  <a:outerShdw blurRad="38100" dist="38100" dir="2700000" algn="tl">
                    <a:srgbClr val="C0C0C0"/>
                  </a:outerShdw>
                </a:effectLst>
                <a:latin typeface="楷体_GB2312" pitchFamily="49" charset="-122"/>
                <a:ea typeface="楷体_GB2312" pitchFamily="49" charset="-122"/>
              </a:rPr>
              <a:t>类型变量</a:t>
            </a:r>
            <a:r>
              <a:rPr lang="en-US" altLang="zh-CN" sz="2800" b="1">
                <a:effectLst>
                  <a:outerShdw blurRad="38100" dist="38100" dir="2700000" algn="tl">
                    <a:srgbClr val="C0C0C0"/>
                  </a:outerShdw>
                </a:effectLst>
                <a:latin typeface="楷体_GB2312" pitchFamily="49" charset="-122"/>
                <a:ea typeface="楷体_GB2312" pitchFamily="49" charset="-122"/>
              </a:rPr>
              <a:t>j</a:t>
            </a:r>
            <a:r>
              <a:rPr lang="zh-CN" altLang="en-US" sz="2800" b="1">
                <a:effectLst>
                  <a:outerShdw blurRad="38100" dist="38100" dir="2700000" algn="tl">
                    <a:srgbClr val="C0C0C0"/>
                  </a:outerShdw>
                </a:effectLst>
                <a:latin typeface="楷体_GB2312" pitchFamily="49" charset="-122"/>
                <a:ea typeface="楷体_GB2312" pitchFamily="49" charset="-122"/>
              </a:rPr>
              <a:t>的地址，使它指向</a:t>
            </a:r>
            <a:r>
              <a:rPr lang="en-US" altLang="zh-CN" sz="2800" b="1">
                <a:effectLst>
                  <a:outerShdw blurRad="38100" dist="38100" dir="2700000" algn="tl">
                    <a:srgbClr val="C0C0C0"/>
                  </a:outerShdw>
                </a:effectLst>
                <a:latin typeface="楷体_GB2312" pitchFamily="49" charset="-122"/>
                <a:ea typeface="楷体_GB2312" pitchFamily="49" charset="-122"/>
              </a:rPr>
              <a:t>j</a:t>
            </a:r>
            <a:r>
              <a:rPr lang="zh-CN" altLang="en-US" sz="2800" b="1">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endParaRPr lang="en-US" altLang="zh-CN" sz="2800" b="1">
              <a:effectLst>
                <a:outerShdw blurRad="38100" dist="38100" dir="2700000" algn="tl">
                  <a:srgbClr val="C0C0C0"/>
                </a:outerShdw>
              </a:effectLst>
              <a:latin typeface="楷体_GB2312" pitchFamily="49" charset="-122"/>
              <a:ea typeface="楷体_GB2312" pitchFamily="49" charset="-122"/>
            </a:endParaRPr>
          </a:p>
        </p:txBody>
      </p:sp>
      <p:sp>
        <p:nvSpPr>
          <p:cNvPr id="3" name="Slide Number Placeholder 2"/>
          <p:cNvSpPr>
            <a:spLocks noGrp="1"/>
          </p:cNvSpPr>
          <p:nvPr>
            <p:ph type="sldNum" sz="quarter" idx="12"/>
          </p:nvPr>
        </p:nvSpPr>
        <p:spPr/>
        <p:txBody>
          <a:bodyPr/>
          <a:lstStyle/>
          <a:p>
            <a:pPr>
              <a:defRPr/>
            </a:pPr>
            <a:fld id="{FBA6401B-E5F1-4753-8548-971E1D3FF03C}" type="slidenum">
              <a:rPr lang="en-US" altLang="zh-CN"/>
              <a:pPr>
                <a:defRPr/>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4" name="Rectangle 4"/>
          <p:cNvSpPr>
            <a:spLocks noGrp="1" noChangeArrowheads="1"/>
          </p:cNvSpPr>
          <p:nvPr>
            <p:ph idx="1"/>
          </p:nvPr>
        </p:nvSpPr>
        <p:spPr>
          <a:xfrm>
            <a:off x="393700" y="500063"/>
            <a:ext cx="8382000" cy="5986462"/>
          </a:xfrm>
        </p:spPr>
        <p:txBody>
          <a:bodyPr>
            <a:normAutofit lnSpcReduction="10000"/>
          </a:bodyPr>
          <a:lstStyle/>
          <a:p>
            <a:pPr marL="0" indent="0" eaLnBrk="1" fontAlgn="auto" hangingPunct="1">
              <a:lnSpc>
                <a:spcPct val="90000"/>
              </a:lnSpc>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(1) </a:t>
            </a:r>
            <a:r>
              <a:rPr lang="zh-CN" altLang="en-US" sz="2400" b="1" dirty="0">
                <a:effectLst>
                  <a:outerShdw blurRad="38100" dist="38100" dir="2700000" algn="tl">
                    <a:srgbClr val="C0C0C0"/>
                  </a:outerShdw>
                </a:effectLst>
                <a:latin typeface="楷体_GB2312" pitchFamily="49" charset="-122"/>
                <a:ea typeface="楷体_GB2312" pitchFamily="49" charset="-122"/>
              </a:rPr>
              <a:t>当定义局部指针变量时，如果未给它指定初值，则它的值是不确定的。程序在使用它们时，应首先给它们赋值，让指针变量确实指向某个变量。误用值不确定的指针变量可能引起</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严重</a:t>
            </a:r>
            <a:r>
              <a:rPr lang="zh-CN" altLang="en-US" sz="2400" b="1" dirty="0">
                <a:effectLst>
                  <a:outerShdw blurRad="38100" dist="38100" dir="2700000" algn="tl">
                    <a:srgbClr val="C0C0C0"/>
                  </a:outerShdw>
                </a:effectLst>
                <a:latin typeface="楷体_GB2312" pitchFamily="49" charset="-122"/>
                <a:ea typeface="楷体_GB2312" pitchFamily="49" charset="-122"/>
              </a:rPr>
              <a:t>的错误。</a:t>
            </a:r>
          </a:p>
          <a:p>
            <a:pPr marL="0" indent="0" eaLnBrk="1" fontAlgn="auto" hangingPunct="1">
              <a:lnSpc>
                <a:spcPct val="90000"/>
              </a:lnSpc>
              <a:spcAft>
                <a:spcPts val="0"/>
              </a:spcAft>
              <a:buClr>
                <a:schemeClr val="accent3"/>
              </a:buClr>
              <a:buFontTx/>
              <a:buNone/>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(2) C</a:t>
            </a:r>
            <a:r>
              <a:rPr lang="zh-CN" altLang="en-US" sz="2400" b="1" dirty="0">
                <a:effectLst>
                  <a:outerShdw blurRad="38100" dist="38100" dir="2700000" algn="tl">
                    <a:srgbClr val="C0C0C0"/>
                  </a:outerShdw>
                </a:effectLst>
                <a:latin typeface="楷体_GB2312" pitchFamily="49" charset="-122"/>
                <a:ea typeface="楷体_GB2312" pitchFamily="49" charset="-122"/>
              </a:rPr>
              <a:t>语言规定 </a:t>
            </a:r>
            <a:r>
              <a:rPr lang="en-US" altLang="zh-CN" sz="2400" b="1" dirty="0">
                <a:effectLst>
                  <a:outerShdw blurRad="38100" dist="38100" dir="2700000" algn="tl">
                    <a:srgbClr val="C0C0C0"/>
                  </a:outerShdw>
                </a:effectLst>
                <a:latin typeface="楷体_GB2312" pitchFamily="49" charset="-122"/>
                <a:ea typeface="楷体_GB2312" pitchFamily="49" charset="-122"/>
              </a:rPr>
              <a:t>0 </a:t>
            </a:r>
            <a:r>
              <a:rPr lang="zh-CN" altLang="en-US" sz="2400" b="1" dirty="0">
                <a:effectLst>
                  <a:outerShdw blurRad="38100" dist="38100" dir="2700000" algn="tl">
                    <a:srgbClr val="C0C0C0"/>
                  </a:outerShdw>
                </a:effectLst>
                <a:latin typeface="楷体_GB2312" pitchFamily="49" charset="-122"/>
                <a:ea typeface="楷体_GB2312" pitchFamily="49" charset="-122"/>
              </a:rPr>
              <a:t>地址记为 </a:t>
            </a:r>
            <a:r>
              <a:rPr lang="en-US" altLang="zh-CN" sz="2400" b="1" dirty="0">
                <a:effectLst>
                  <a:outerShdw blurRad="38100" dist="38100" dir="2700000" algn="tl">
                    <a:srgbClr val="C0C0C0"/>
                  </a:outerShdw>
                </a:effectLst>
                <a:latin typeface="楷体_GB2312" pitchFamily="49" charset="-122"/>
                <a:ea typeface="楷体_GB2312" pitchFamily="49" charset="-122"/>
              </a:rPr>
              <a:t>NULL(</a:t>
            </a:r>
            <a:r>
              <a:rPr lang="en-US" altLang="zh-CN" sz="2400" b="1" dirty="0" err="1">
                <a:effectLst>
                  <a:outerShdw blurRad="38100" dist="38100" dir="2700000" algn="tl">
                    <a:srgbClr val="C0C0C0"/>
                  </a:outerShdw>
                </a:effectLst>
                <a:latin typeface="楷体_GB2312" pitchFamily="49" charset="-122"/>
                <a:ea typeface="楷体_GB2312" pitchFamily="49" charset="-122"/>
              </a:rPr>
              <a:t>stdio.h</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，即表示空地址。</a:t>
            </a:r>
          </a:p>
          <a:p>
            <a:pPr marL="0" indent="0" eaLnBrk="1" fontAlgn="auto" hangingPunct="1">
              <a:lnSpc>
                <a:spcPct val="9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例如： </a:t>
            </a:r>
            <a:r>
              <a:rPr lang="en-US" altLang="zh-CN" sz="2400" b="1" dirty="0" err="1">
                <a:effectLst>
                  <a:outerShdw blurRad="38100" dist="38100" dir="2700000" algn="tl">
                    <a:srgbClr val="C0C0C0"/>
                  </a:outerShdw>
                </a:effectLst>
                <a:latin typeface="楷体_GB2312" pitchFamily="49" charset="-122"/>
                <a:ea typeface="楷体_GB2312" pitchFamily="49" charset="-122"/>
              </a:rPr>
              <a:t>ip</a:t>
            </a:r>
            <a:r>
              <a:rPr lang="en-US" altLang="zh-CN" sz="2400" b="1" dirty="0">
                <a:effectLst>
                  <a:outerShdw blurRad="38100" dist="38100" dir="2700000" algn="tl">
                    <a:srgbClr val="C0C0C0"/>
                  </a:outerShdw>
                </a:effectLst>
                <a:latin typeface="楷体_GB2312" pitchFamily="49" charset="-122"/>
                <a:ea typeface="楷体_GB2312" pitchFamily="49" charset="-122"/>
              </a:rPr>
              <a:t> = NULL;</a:t>
            </a:r>
          </a:p>
          <a:p>
            <a:pPr marL="0" indent="0" eaLnBrk="1" fontAlgn="auto" hangingPunct="1">
              <a:lnSpc>
                <a:spcPct val="9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表示：指针变量 </a:t>
            </a:r>
            <a:r>
              <a:rPr lang="en-US" altLang="zh-CN" sz="2400" b="1" dirty="0" err="1">
                <a:effectLst>
                  <a:outerShdw blurRad="38100" dist="38100" dir="2700000" algn="tl">
                    <a:srgbClr val="C0C0C0"/>
                  </a:outerShdw>
                </a:effectLst>
                <a:latin typeface="楷体_GB2312" pitchFamily="49" charset="-122"/>
                <a:ea typeface="楷体_GB2312" pitchFamily="49" charset="-122"/>
              </a:rPr>
              <a:t>ip</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zh-CN" altLang="en-US" sz="2400" b="1" dirty="0">
                <a:effectLst>
                  <a:outerShdw blurRad="38100" dist="38100" dir="2700000" algn="tl">
                    <a:srgbClr val="C0C0C0"/>
                  </a:outerShdw>
                </a:effectLst>
                <a:latin typeface="楷体_GB2312" pitchFamily="49" charset="-122"/>
                <a:ea typeface="楷体_GB2312" pitchFamily="49" charset="-122"/>
              </a:rPr>
              <a:t>为空指针，暂不指向任何变量。</a:t>
            </a:r>
          </a:p>
          <a:p>
            <a:pPr marL="0" indent="0" eaLnBrk="1" fontAlgn="auto" hangingPunct="1">
              <a:lnSpc>
                <a:spcPct val="9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对于静态的指针变量，如果在定义时</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未给它指定初值，系统自动给它指定初值为</a:t>
            </a:r>
            <a:r>
              <a:rPr lang="en-US" altLang="zh-CN" sz="2400" b="1" dirty="0">
                <a:solidFill>
                  <a:srgbClr val="006600"/>
                </a:solidFill>
                <a:effectLst>
                  <a:outerShdw blurRad="38100" dist="38100" dir="2700000" algn="tl">
                    <a:srgbClr val="C0C0C0"/>
                  </a:outerShdw>
                </a:effectLst>
                <a:latin typeface="楷体_GB2312" pitchFamily="49" charset="-122"/>
                <a:ea typeface="楷体_GB2312" pitchFamily="49" charset="-122"/>
              </a:rPr>
              <a:t>0</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，让它暂时是一个空指针。</a:t>
            </a:r>
            <a:endParaRPr lang="zh-CN" altLang="en-US"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(3) </a:t>
            </a:r>
            <a:r>
              <a:rPr lang="zh-CN" altLang="en-US" sz="2400" b="1" dirty="0">
                <a:effectLst>
                  <a:outerShdw blurRad="38100" dist="38100" dir="2700000" algn="tl">
                    <a:srgbClr val="C0C0C0"/>
                  </a:outerShdw>
                </a:effectLst>
                <a:latin typeface="楷体_GB2312" pitchFamily="49" charset="-122"/>
                <a:ea typeface="楷体_GB2312" pitchFamily="49" charset="-122"/>
              </a:rPr>
              <a:t>指针变量只能取程序对象的地址值，不能将任何其他非地址值赋给指针变量。</a:t>
            </a:r>
          </a:p>
          <a:p>
            <a:pPr marL="0" indent="0" eaLnBrk="1" fontAlgn="auto" hangingPunct="1">
              <a:lnSpc>
                <a:spcPct val="90000"/>
              </a:lnSpc>
              <a:spcAft>
                <a:spcPts val="0"/>
              </a:spcAft>
              <a:buClr>
                <a:schemeClr val="accent3"/>
              </a:buClr>
              <a:buFontTx/>
              <a:buNone/>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(4) </a:t>
            </a:r>
            <a:r>
              <a:rPr lang="zh-CN" altLang="en-US" sz="2400" b="1" dirty="0">
                <a:effectLst>
                  <a:outerShdw blurRad="38100" dist="38100" dir="2700000" algn="tl">
                    <a:srgbClr val="C0C0C0"/>
                  </a:outerShdw>
                </a:effectLst>
                <a:latin typeface="楷体_GB2312" pitchFamily="49" charset="-122"/>
                <a:ea typeface="楷体_GB2312" pitchFamily="49" charset="-122"/>
              </a:rPr>
              <a:t>一个指针变量只能指向同一个类型的变量，不能一会儿指向整型变量，一会儿指向实型变量。</a:t>
            </a:r>
          </a:p>
        </p:txBody>
      </p:sp>
      <p:sp>
        <p:nvSpPr>
          <p:cNvPr id="3" name="Slide Number Placeholder 2"/>
          <p:cNvSpPr>
            <a:spLocks noGrp="1"/>
          </p:cNvSpPr>
          <p:nvPr>
            <p:ph type="sldNum" sz="quarter" idx="12"/>
          </p:nvPr>
        </p:nvSpPr>
        <p:spPr/>
        <p:txBody>
          <a:bodyPr/>
          <a:lstStyle/>
          <a:p>
            <a:pPr>
              <a:defRPr/>
            </a:pPr>
            <a:fld id="{A5A5F10C-52C8-4034-ABAE-258C53BA74EE}" type="slidenum">
              <a:rPr lang="en-US" altLang="zh-CN"/>
              <a:pPr>
                <a:defRPr/>
              </a:pPr>
              <a:t>14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0164">
                                            <p:txEl>
                                              <p:pRg st="2" end="2"/>
                                            </p:txEl>
                                          </p:spTgt>
                                        </p:tgtEl>
                                        <p:attrNameLst>
                                          <p:attrName>style.visibility</p:attrName>
                                        </p:attrNameLst>
                                      </p:cBhvr>
                                      <p:to>
                                        <p:strVal val="visible"/>
                                      </p:to>
                                    </p:set>
                                    <p:anim calcmode="lin" valueType="num">
                                      <p:cBhvr additive="base">
                                        <p:cTn id="7" dur="500" fill="hold"/>
                                        <p:tgtEl>
                                          <p:spTgt spid="22016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016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0164">
                                            <p:txEl>
                                              <p:pRg st="3" end="3"/>
                                            </p:txEl>
                                          </p:spTgt>
                                        </p:tgtEl>
                                        <p:attrNameLst>
                                          <p:attrName>style.visibility</p:attrName>
                                        </p:attrNameLst>
                                      </p:cBhvr>
                                      <p:to>
                                        <p:strVal val="visible"/>
                                      </p:to>
                                    </p:set>
                                    <p:anim calcmode="lin" valueType="num">
                                      <p:cBhvr additive="base">
                                        <p:cTn id="11" dur="500" fill="hold"/>
                                        <p:tgtEl>
                                          <p:spTgt spid="22016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20164">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0164">
                                            <p:txEl>
                                              <p:pRg st="4" end="4"/>
                                            </p:txEl>
                                          </p:spTgt>
                                        </p:tgtEl>
                                        <p:attrNameLst>
                                          <p:attrName>style.visibility</p:attrName>
                                        </p:attrNameLst>
                                      </p:cBhvr>
                                      <p:to>
                                        <p:strVal val="visible"/>
                                      </p:to>
                                    </p:set>
                                    <p:anim calcmode="lin" valueType="num">
                                      <p:cBhvr additive="base">
                                        <p:cTn id="15" dur="500" fill="hold"/>
                                        <p:tgtEl>
                                          <p:spTgt spid="22016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2016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20164">
                                            <p:txEl>
                                              <p:pRg st="5" end="5"/>
                                            </p:txEl>
                                          </p:spTgt>
                                        </p:tgtEl>
                                        <p:attrNameLst>
                                          <p:attrName>style.visibility</p:attrName>
                                        </p:attrNameLst>
                                      </p:cBhvr>
                                      <p:to>
                                        <p:strVal val="visible"/>
                                      </p:to>
                                    </p:set>
                                    <p:anim calcmode="lin" valueType="num">
                                      <p:cBhvr additive="base">
                                        <p:cTn id="19" dur="500" fill="hold"/>
                                        <p:tgtEl>
                                          <p:spTgt spid="22016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016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0164">
                                            <p:txEl>
                                              <p:pRg st="7" end="7"/>
                                            </p:txEl>
                                          </p:spTgt>
                                        </p:tgtEl>
                                        <p:attrNameLst>
                                          <p:attrName>style.visibility</p:attrName>
                                        </p:attrNameLst>
                                      </p:cBhvr>
                                      <p:to>
                                        <p:strVal val="visible"/>
                                      </p:to>
                                    </p:set>
                                    <p:anim calcmode="lin" valueType="num">
                                      <p:cBhvr additive="base">
                                        <p:cTn id="25" dur="500" fill="hold"/>
                                        <p:tgtEl>
                                          <p:spTgt spid="22016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016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0164">
                                            <p:txEl>
                                              <p:pRg st="9" end="9"/>
                                            </p:txEl>
                                          </p:spTgt>
                                        </p:tgtEl>
                                        <p:attrNameLst>
                                          <p:attrName>style.visibility</p:attrName>
                                        </p:attrNameLst>
                                      </p:cBhvr>
                                      <p:to>
                                        <p:strVal val="visible"/>
                                      </p:to>
                                    </p:set>
                                    <p:anim calcmode="lin" valueType="num">
                                      <p:cBhvr additive="base">
                                        <p:cTn id="31" dur="500" fill="hold"/>
                                        <p:tgtEl>
                                          <p:spTgt spid="220164">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016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指针类型的存储空间</a:t>
            </a:r>
          </a:p>
        </p:txBody>
      </p:sp>
      <p:sp>
        <p:nvSpPr>
          <p:cNvPr id="3" name="内容占位符 2"/>
          <p:cNvSpPr>
            <a:spLocks noGrp="1"/>
          </p:cNvSpPr>
          <p:nvPr>
            <p:ph idx="1"/>
          </p:nvPr>
        </p:nvSpPr>
        <p:spPr/>
        <p:txBody>
          <a:bodyPr/>
          <a:lstStyle/>
          <a:p>
            <a:r>
              <a:rPr lang="en-US" altLang="zh-CN" dirty="0" err="1"/>
              <a:t>sizeof</a:t>
            </a:r>
            <a:r>
              <a:rPr lang="en-US" altLang="zh-CN" dirty="0"/>
              <a:t>(</a:t>
            </a:r>
            <a:r>
              <a:rPr lang="en-US" altLang="zh-CN" dirty="0" err="1"/>
              <a:t>int</a:t>
            </a:r>
            <a:r>
              <a:rPr lang="en-US" altLang="zh-CN" dirty="0"/>
              <a:t>)</a:t>
            </a:r>
            <a:r>
              <a:rPr lang="zh-CN" altLang="en-US" dirty="0"/>
              <a:t>，</a:t>
            </a:r>
            <a:r>
              <a:rPr lang="en-US" altLang="zh-CN" dirty="0" err="1"/>
              <a:t>sizeof</a:t>
            </a:r>
            <a:r>
              <a:rPr lang="en-US" altLang="zh-CN" dirty="0"/>
              <a:t>(char)</a:t>
            </a:r>
            <a:r>
              <a:rPr lang="zh-CN" altLang="en-US" dirty="0"/>
              <a:t>，</a:t>
            </a:r>
            <a:r>
              <a:rPr lang="en-US" altLang="zh-CN" dirty="0" err="1"/>
              <a:t>sizeof</a:t>
            </a:r>
            <a:r>
              <a:rPr lang="en-US" altLang="zh-CN" dirty="0"/>
              <a:t>(long double)</a:t>
            </a:r>
            <a:r>
              <a:rPr lang="zh-CN" altLang="en-US" dirty="0"/>
              <a:t>是不同的</a:t>
            </a:r>
            <a:endParaRPr lang="en-US" altLang="zh-CN" dirty="0"/>
          </a:p>
          <a:p>
            <a:endParaRPr lang="en-US" altLang="zh-CN" dirty="0"/>
          </a:p>
          <a:p>
            <a:r>
              <a:rPr lang="en-US" altLang="zh-CN" dirty="0" err="1"/>
              <a:t>sizeof</a:t>
            </a:r>
            <a:r>
              <a:rPr lang="en-US" altLang="zh-CN" dirty="0"/>
              <a:t>(</a:t>
            </a:r>
            <a:r>
              <a:rPr lang="en-US" altLang="zh-CN" dirty="0" err="1"/>
              <a:t>int</a:t>
            </a:r>
            <a:r>
              <a:rPr lang="en-US" altLang="zh-CN" dirty="0"/>
              <a:t> *)</a:t>
            </a:r>
            <a:r>
              <a:rPr lang="zh-CN" altLang="en-US" dirty="0"/>
              <a:t>，</a:t>
            </a:r>
            <a:r>
              <a:rPr lang="en-US" altLang="zh-CN" dirty="0" err="1"/>
              <a:t>sizeof</a:t>
            </a:r>
            <a:r>
              <a:rPr lang="en-US" altLang="zh-CN" dirty="0"/>
              <a:t>(char *)</a:t>
            </a:r>
            <a:r>
              <a:rPr lang="zh-CN" altLang="en-US" dirty="0"/>
              <a:t>，</a:t>
            </a:r>
            <a:r>
              <a:rPr lang="en-US" altLang="zh-CN" dirty="0"/>
              <a:t> </a:t>
            </a:r>
            <a:r>
              <a:rPr lang="en-US" altLang="zh-CN" dirty="0" err="1"/>
              <a:t>sizeof</a:t>
            </a:r>
            <a:r>
              <a:rPr lang="en-US" altLang="zh-CN" dirty="0"/>
              <a:t>(long double *)</a:t>
            </a:r>
            <a:r>
              <a:rPr lang="zh-CN" altLang="en-US" dirty="0"/>
              <a:t>是怎么样的呢？</a:t>
            </a:r>
            <a:endParaRPr lang="en-US" altLang="zh-CN" dirty="0"/>
          </a:p>
          <a:p>
            <a:endParaRPr lang="en-US" altLang="zh-CN" dirty="0"/>
          </a:p>
          <a:p>
            <a:r>
              <a:rPr lang="zh-CN" altLang="en-US" dirty="0">
                <a:solidFill>
                  <a:srgbClr val="FF0000"/>
                </a:solidFill>
              </a:rPr>
              <a:t>如果所有指针的存储空间都一样，那为什么还要区分指针的类型？</a:t>
            </a:r>
            <a:endParaRPr lang="en-US" altLang="zh-CN" dirty="0">
              <a:solidFill>
                <a:srgbClr val="FF0000"/>
              </a:solidFill>
            </a:endParaRPr>
          </a:p>
          <a:p>
            <a:endParaRPr lang="zh-CN" altLang="en-US" dirty="0"/>
          </a:p>
        </p:txBody>
      </p:sp>
      <p:sp>
        <p:nvSpPr>
          <p:cNvPr id="4" name="灯片编号占位符 3"/>
          <p:cNvSpPr>
            <a:spLocks noGrp="1"/>
          </p:cNvSpPr>
          <p:nvPr>
            <p:ph type="sldNum" sz="quarter" idx="12"/>
          </p:nvPr>
        </p:nvSpPr>
        <p:spPr/>
        <p:txBody>
          <a:bodyPr/>
          <a:lstStyle/>
          <a:p>
            <a:pPr>
              <a:defRPr/>
            </a:pPr>
            <a:fld id="{4C02CBC6-E8D8-4A37-96BD-A7C68420EB00}" type="slidenum">
              <a:rPr lang="en-US" altLang="zh-CN" smtClean="0"/>
              <a:pPr>
                <a:defRPr/>
              </a:pPr>
              <a:t>15</a:t>
            </a:fld>
            <a:endParaRPr lang="en-US" altLang="zh-CN"/>
          </a:p>
        </p:txBody>
      </p:sp>
    </p:spTree>
    <p:extLst>
      <p:ext uri="{BB962C8B-B14F-4D97-AF65-F5344CB8AC3E}">
        <p14:creationId xmlns:p14="http://schemas.microsoft.com/office/powerpoint/2010/main" val="421144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引用指针变量所指的变量</a:t>
            </a:r>
          </a:p>
        </p:txBody>
      </p:sp>
      <p:sp>
        <p:nvSpPr>
          <p:cNvPr id="3" name="内容占位符 2"/>
          <p:cNvSpPr>
            <a:spLocks noGrp="1"/>
          </p:cNvSpPr>
          <p:nvPr>
            <p:ph idx="1"/>
          </p:nvPr>
        </p:nvSpPr>
        <p:spPr/>
        <p:txBody>
          <a:bodyPr/>
          <a:lstStyle/>
          <a:p>
            <a:r>
              <a:rPr lang="zh-CN" altLang="en-US" dirty="0"/>
              <a:t>如果指针变量</a:t>
            </a:r>
            <a:r>
              <a:rPr lang="en-US" altLang="zh-CN" dirty="0"/>
              <a:t>B</a:t>
            </a:r>
            <a:r>
              <a:rPr lang="zh-CN" altLang="en-US" dirty="0"/>
              <a:t>存储着变量</a:t>
            </a:r>
            <a:r>
              <a:rPr lang="en-US" altLang="zh-CN" dirty="0"/>
              <a:t>A</a:t>
            </a:r>
            <a:r>
              <a:rPr lang="zh-CN" altLang="en-US" dirty="0"/>
              <a:t>的地址，则借助于</a:t>
            </a:r>
            <a:r>
              <a:rPr lang="en-US" altLang="zh-CN" dirty="0"/>
              <a:t>B</a:t>
            </a:r>
            <a:r>
              <a:rPr lang="zh-CN" altLang="en-US" dirty="0"/>
              <a:t>引用</a:t>
            </a:r>
            <a:r>
              <a:rPr lang="en-US" altLang="zh-CN" dirty="0"/>
              <a:t>A</a:t>
            </a:r>
            <a:r>
              <a:rPr lang="zh-CN" altLang="en-US" dirty="0"/>
              <a:t>称为对</a:t>
            </a:r>
            <a:r>
              <a:rPr lang="en-US" altLang="zh-CN" dirty="0"/>
              <a:t>A</a:t>
            </a:r>
            <a:r>
              <a:rPr lang="zh-CN" altLang="en-US" dirty="0"/>
              <a:t>的间接引用；*</a:t>
            </a:r>
            <a:r>
              <a:rPr lang="en-US" altLang="zh-CN" dirty="0"/>
              <a:t>B</a:t>
            </a:r>
            <a:r>
              <a:rPr lang="zh-CN" altLang="en-US" dirty="0"/>
              <a:t>表示间接引用</a:t>
            </a:r>
            <a:r>
              <a:rPr lang="en-US" altLang="zh-CN" dirty="0"/>
              <a:t>B</a:t>
            </a:r>
            <a:r>
              <a:rPr lang="zh-CN" altLang="en-US" dirty="0"/>
              <a:t>所指变量</a:t>
            </a:r>
            <a:r>
              <a:rPr lang="en-US" altLang="zh-CN" dirty="0"/>
              <a:t>A</a:t>
            </a:r>
          </a:p>
          <a:p>
            <a:pPr>
              <a:buNone/>
            </a:pPr>
            <a:r>
              <a:rPr lang="en-US" altLang="zh-CN" dirty="0"/>
              <a:t> </a:t>
            </a:r>
            <a:r>
              <a:rPr lang="en-US" altLang="zh-CN" dirty="0" err="1"/>
              <a:t>int</a:t>
            </a:r>
            <a:r>
              <a:rPr lang="en-US" altLang="zh-CN" dirty="0"/>
              <a:t> </a:t>
            </a:r>
            <a:r>
              <a:rPr lang="en-US" altLang="zh-CN" dirty="0" err="1"/>
              <a:t>i</a:t>
            </a:r>
            <a:r>
              <a:rPr lang="en-US" altLang="zh-CN" dirty="0"/>
              <a:t> =0;</a:t>
            </a:r>
          </a:p>
          <a:p>
            <a:pPr>
              <a:buNone/>
            </a:pPr>
            <a:r>
              <a:rPr lang="en-US" altLang="zh-CN" dirty="0"/>
              <a:t> </a:t>
            </a:r>
            <a:r>
              <a:rPr lang="en-US" altLang="zh-CN" dirty="0" err="1"/>
              <a:t>int</a:t>
            </a:r>
            <a:r>
              <a:rPr lang="en-US" altLang="zh-CN" dirty="0"/>
              <a:t> *</a:t>
            </a:r>
            <a:r>
              <a:rPr lang="en-US" altLang="zh-CN" dirty="0" err="1"/>
              <a:t>ip</a:t>
            </a:r>
            <a:r>
              <a:rPr lang="en-US" altLang="zh-CN" dirty="0"/>
              <a:t> = &amp;</a:t>
            </a:r>
            <a:r>
              <a:rPr lang="en-US" altLang="zh-CN" dirty="0" err="1"/>
              <a:t>i</a:t>
            </a:r>
            <a:r>
              <a:rPr lang="en-US" altLang="zh-CN" dirty="0"/>
              <a:t>;</a:t>
            </a:r>
          </a:p>
          <a:p>
            <a:pPr>
              <a:buNone/>
            </a:pPr>
            <a:endParaRPr lang="en-US" altLang="zh-CN" dirty="0"/>
          </a:p>
          <a:p>
            <a:pPr>
              <a:buNone/>
            </a:pPr>
            <a:r>
              <a:rPr lang="zh-CN" altLang="en-US" dirty="0"/>
              <a:t>则 *</a:t>
            </a:r>
            <a:r>
              <a:rPr lang="en-US" altLang="zh-CN" dirty="0" err="1"/>
              <a:t>ip</a:t>
            </a:r>
            <a:r>
              <a:rPr lang="en-US" altLang="zh-CN" dirty="0"/>
              <a:t> += 5</a:t>
            </a:r>
            <a:r>
              <a:rPr lang="zh-CN" altLang="en-US" dirty="0"/>
              <a:t>；</a:t>
            </a:r>
            <a:endParaRPr lang="en-US" altLang="zh-CN" dirty="0"/>
          </a:p>
          <a:p>
            <a:pPr>
              <a:buNone/>
            </a:pPr>
            <a:r>
              <a:rPr lang="zh-CN" altLang="en-US" dirty="0"/>
              <a:t>和  </a:t>
            </a:r>
            <a:r>
              <a:rPr lang="en-US" altLang="zh-CN" dirty="0" err="1"/>
              <a:t>i</a:t>
            </a:r>
            <a:r>
              <a:rPr lang="en-US" altLang="zh-CN" dirty="0"/>
              <a:t> += 5;</a:t>
            </a:r>
          </a:p>
          <a:p>
            <a:pPr>
              <a:buNone/>
            </a:pPr>
            <a:r>
              <a:rPr lang="zh-CN" altLang="en-US" dirty="0"/>
              <a:t>效果上是等价的</a:t>
            </a:r>
          </a:p>
        </p:txBody>
      </p:sp>
      <p:sp>
        <p:nvSpPr>
          <p:cNvPr id="4" name="灯片编号占位符 3"/>
          <p:cNvSpPr>
            <a:spLocks noGrp="1"/>
          </p:cNvSpPr>
          <p:nvPr>
            <p:ph type="sldNum" sz="quarter" idx="12"/>
          </p:nvPr>
        </p:nvSpPr>
        <p:spPr/>
        <p:txBody>
          <a:bodyPr/>
          <a:lstStyle/>
          <a:p>
            <a:pPr>
              <a:defRPr/>
            </a:pPr>
            <a:fld id="{4C02CBC6-E8D8-4A37-96BD-A7C68420EB00}" type="slidenum">
              <a:rPr lang="en-US" altLang="zh-CN" smtClean="0"/>
              <a:pPr>
                <a:defRPr/>
              </a:pPr>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457200" y="357188"/>
            <a:ext cx="8229600" cy="5967412"/>
          </a:xfrm>
        </p:spPr>
        <p:txBody>
          <a:bodyPr/>
          <a:lstStyle/>
          <a:p>
            <a:pPr eaLnBrk="1" hangingPunct="1">
              <a:buFont typeface="Wingdings 2" pitchFamily="18" charset="2"/>
              <a:buNone/>
            </a:pPr>
            <a:r>
              <a:rPr lang="en-US" altLang="zh-CN" dirty="0"/>
              <a:t>#include &lt;</a:t>
            </a:r>
            <a:r>
              <a:rPr lang="en-US" altLang="zh-CN" dirty="0" err="1"/>
              <a:t>stdio.h</a:t>
            </a:r>
            <a:r>
              <a:rPr lang="en-US" altLang="zh-CN" dirty="0"/>
              <a:t>&gt;</a:t>
            </a:r>
          </a:p>
          <a:p>
            <a:pPr eaLnBrk="1" hangingPunct="1">
              <a:buFont typeface="Wingdings 2" pitchFamily="18" charset="2"/>
              <a:buNone/>
            </a:pPr>
            <a:r>
              <a:rPr lang="en-US" altLang="zh-CN" dirty="0" err="1"/>
              <a:t>int</a:t>
            </a:r>
            <a:r>
              <a:rPr lang="en-US" altLang="zh-CN" dirty="0"/>
              <a:t> main()</a:t>
            </a:r>
          </a:p>
          <a:p>
            <a:pPr eaLnBrk="1" hangingPunct="1">
              <a:buFont typeface="Wingdings 2" pitchFamily="18" charset="2"/>
              <a:buNone/>
            </a:pPr>
            <a:r>
              <a:rPr lang="en-US" altLang="zh-CN" dirty="0"/>
              <a:t>{</a:t>
            </a:r>
          </a:p>
          <a:p>
            <a:pPr lvl="1" eaLnBrk="1" hangingPunct="1">
              <a:buFont typeface="Wingdings 2" pitchFamily="18" charset="2"/>
              <a:buNone/>
            </a:pPr>
            <a:r>
              <a:rPr lang="en-US" altLang="zh-CN" dirty="0" err="1"/>
              <a:t>int</a:t>
            </a:r>
            <a:r>
              <a:rPr lang="en-US" altLang="zh-CN" dirty="0"/>
              <a:t> k;</a:t>
            </a:r>
          </a:p>
          <a:p>
            <a:pPr lvl="1" eaLnBrk="1" hangingPunct="1">
              <a:buFont typeface="Wingdings 2" pitchFamily="18" charset="2"/>
              <a:buNone/>
            </a:pPr>
            <a:r>
              <a:rPr lang="en-US" altLang="zh-CN" dirty="0" err="1"/>
              <a:t>int</a:t>
            </a:r>
            <a:r>
              <a:rPr lang="en-US" altLang="zh-CN" dirty="0"/>
              <a:t> *</a:t>
            </a:r>
            <a:r>
              <a:rPr lang="en-US" altLang="zh-CN" dirty="0" err="1"/>
              <a:t>kPtr</a:t>
            </a:r>
            <a:r>
              <a:rPr lang="en-US" altLang="zh-CN" dirty="0"/>
              <a:t>;</a:t>
            </a:r>
          </a:p>
          <a:p>
            <a:pPr lvl="1" eaLnBrk="1" hangingPunct="1">
              <a:buFont typeface="Wingdings 2" pitchFamily="18" charset="2"/>
              <a:buNone/>
            </a:pPr>
            <a:r>
              <a:rPr lang="en-US" altLang="zh-CN" dirty="0"/>
              <a:t>k = 7;</a:t>
            </a:r>
          </a:p>
          <a:p>
            <a:pPr lvl="1" eaLnBrk="1" hangingPunct="1">
              <a:buFont typeface="Wingdings 2" pitchFamily="18" charset="2"/>
              <a:buNone/>
            </a:pPr>
            <a:r>
              <a:rPr lang="en-US" altLang="zh-CN" dirty="0" err="1">
                <a:solidFill>
                  <a:srgbClr val="FF0000"/>
                </a:solidFill>
              </a:rPr>
              <a:t>kPtr</a:t>
            </a:r>
            <a:r>
              <a:rPr lang="en-US" altLang="zh-CN" dirty="0">
                <a:solidFill>
                  <a:srgbClr val="FF0000"/>
                </a:solidFill>
              </a:rPr>
              <a:t> = &amp;k;</a:t>
            </a:r>
          </a:p>
          <a:p>
            <a:pPr lvl="1" eaLnBrk="1" hangingPunct="1">
              <a:buFont typeface="Wingdings 2" pitchFamily="18" charset="2"/>
              <a:buNone/>
            </a:pPr>
            <a:endParaRPr lang="en-US" altLang="zh-CN" dirty="0"/>
          </a:p>
          <a:p>
            <a:pPr lvl="1" eaLnBrk="1" hangingPunct="1">
              <a:buFont typeface="Wingdings 2" pitchFamily="18" charset="2"/>
              <a:buNone/>
            </a:pPr>
            <a:r>
              <a:rPr lang="en-US" altLang="zh-CN" dirty="0" err="1"/>
              <a:t>printf</a:t>
            </a:r>
            <a:r>
              <a:rPr lang="en-US" altLang="zh-CN" dirty="0"/>
              <a:t>(“k </a:t>
            </a:r>
            <a:r>
              <a:rPr lang="zh-CN" altLang="en-US" dirty="0"/>
              <a:t>的地址是</a:t>
            </a:r>
            <a:r>
              <a:rPr lang="en-US" altLang="zh-CN" dirty="0"/>
              <a:t>%x\n </a:t>
            </a:r>
            <a:r>
              <a:rPr lang="en-US" altLang="zh-CN" dirty="0" err="1"/>
              <a:t>kPtr</a:t>
            </a:r>
            <a:r>
              <a:rPr lang="zh-CN" altLang="en-US" dirty="0"/>
              <a:t>的值是</a:t>
            </a:r>
            <a:r>
              <a:rPr lang="en-US" altLang="zh-CN" dirty="0"/>
              <a:t>%</a:t>
            </a:r>
            <a:r>
              <a:rPr lang="en-US" altLang="zh-CN" dirty="0" err="1"/>
              <a:t>x</a:t>
            </a:r>
            <a:r>
              <a:rPr lang="en-US" altLang="zh-CN" dirty="0" err="1">
                <a:solidFill>
                  <a:srgbClr val="FF0000"/>
                </a:solidFill>
              </a:rPr>
              <a:t>”,&amp;k</a:t>
            </a:r>
            <a:r>
              <a:rPr lang="en-US" altLang="zh-CN" dirty="0">
                <a:solidFill>
                  <a:srgbClr val="FF0000"/>
                </a:solidFill>
              </a:rPr>
              <a:t>, </a:t>
            </a:r>
            <a:r>
              <a:rPr lang="en-US" altLang="zh-CN" dirty="0" err="1">
                <a:solidFill>
                  <a:srgbClr val="FF0000"/>
                </a:solidFill>
              </a:rPr>
              <a:t>kPtr</a:t>
            </a:r>
            <a:r>
              <a:rPr lang="en-US" altLang="zh-CN" dirty="0"/>
              <a:t>);</a:t>
            </a:r>
          </a:p>
          <a:p>
            <a:pPr lvl="1" eaLnBrk="1" hangingPunct="1">
              <a:buFont typeface="Wingdings 2" pitchFamily="18" charset="2"/>
              <a:buNone/>
            </a:pPr>
            <a:r>
              <a:rPr lang="en-US" altLang="zh-CN" dirty="0" err="1"/>
              <a:t>printf</a:t>
            </a:r>
            <a:r>
              <a:rPr lang="en-US" altLang="zh-CN" dirty="0"/>
              <a:t>(“\</a:t>
            </a:r>
            <a:r>
              <a:rPr lang="en-US" altLang="zh-CN" dirty="0" err="1"/>
              <a:t>nk</a:t>
            </a:r>
            <a:r>
              <a:rPr lang="en-US" altLang="zh-CN" dirty="0"/>
              <a:t> </a:t>
            </a:r>
            <a:r>
              <a:rPr lang="zh-CN" altLang="en-US" dirty="0"/>
              <a:t>的值是</a:t>
            </a:r>
            <a:r>
              <a:rPr lang="en-US" altLang="zh-CN" dirty="0"/>
              <a:t>%d\n *</a:t>
            </a:r>
            <a:r>
              <a:rPr lang="en-US" altLang="zh-CN" dirty="0" err="1"/>
              <a:t>kPtr</a:t>
            </a:r>
            <a:r>
              <a:rPr lang="zh-CN" altLang="en-US" dirty="0"/>
              <a:t>的值是</a:t>
            </a:r>
            <a:r>
              <a:rPr lang="en-US" altLang="zh-CN" dirty="0"/>
              <a:t>%</a:t>
            </a:r>
            <a:r>
              <a:rPr lang="en-US" altLang="zh-CN" dirty="0" err="1"/>
              <a:t>d”,</a:t>
            </a:r>
            <a:r>
              <a:rPr lang="en-US" altLang="zh-CN" dirty="0" err="1">
                <a:solidFill>
                  <a:srgbClr val="FF0000"/>
                </a:solidFill>
              </a:rPr>
              <a:t>k</a:t>
            </a:r>
            <a:r>
              <a:rPr lang="en-US" altLang="zh-CN" dirty="0">
                <a:solidFill>
                  <a:srgbClr val="FF0000"/>
                </a:solidFill>
              </a:rPr>
              <a:t>, *</a:t>
            </a:r>
            <a:r>
              <a:rPr lang="en-US" altLang="zh-CN" dirty="0" err="1">
                <a:solidFill>
                  <a:srgbClr val="FF0000"/>
                </a:solidFill>
              </a:rPr>
              <a:t>kPtr</a:t>
            </a:r>
            <a:r>
              <a:rPr lang="en-US" altLang="zh-CN" dirty="0"/>
              <a:t>);</a:t>
            </a:r>
          </a:p>
          <a:p>
            <a:pPr lvl="1" eaLnBrk="1" hangingPunct="1">
              <a:buFont typeface="Wingdings 2" pitchFamily="18" charset="2"/>
              <a:buNone/>
            </a:pPr>
            <a:r>
              <a:rPr lang="en-US" altLang="zh-CN" dirty="0" err="1"/>
              <a:t>printf</a:t>
            </a:r>
            <a:r>
              <a:rPr lang="en-US" altLang="zh-CN" dirty="0"/>
              <a:t>(“\n</a:t>
            </a:r>
            <a:r>
              <a:rPr lang="zh-CN" altLang="en-US" dirty="0"/>
              <a:t>运算符*和</a:t>
            </a:r>
            <a:r>
              <a:rPr lang="en-US" altLang="zh-CN" dirty="0"/>
              <a:t>&amp;</a:t>
            </a:r>
            <a:r>
              <a:rPr lang="zh-CN" altLang="en-US" dirty="0"/>
              <a:t>是互逆的</a:t>
            </a:r>
            <a:r>
              <a:rPr lang="en-US" altLang="zh-CN" dirty="0"/>
              <a:t>:\n&amp;*</a:t>
            </a:r>
            <a:r>
              <a:rPr lang="en-US" altLang="zh-CN" dirty="0" err="1"/>
              <a:t>kPtr</a:t>
            </a:r>
            <a:r>
              <a:rPr lang="en-US" altLang="zh-CN" dirty="0"/>
              <a:t>=%x\n *&amp;</a:t>
            </a:r>
            <a:r>
              <a:rPr lang="en-US" altLang="zh-CN" dirty="0" err="1"/>
              <a:t>kPtr</a:t>
            </a:r>
            <a:r>
              <a:rPr lang="en-US" altLang="zh-CN" dirty="0"/>
              <a:t> =%x\n”, </a:t>
            </a:r>
            <a:r>
              <a:rPr lang="en-US" altLang="zh-CN" dirty="0">
                <a:solidFill>
                  <a:srgbClr val="FF0000"/>
                </a:solidFill>
              </a:rPr>
              <a:t>&amp;*</a:t>
            </a:r>
            <a:r>
              <a:rPr lang="en-US" altLang="zh-CN" dirty="0" err="1">
                <a:solidFill>
                  <a:srgbClr val="FF0000"/>
                </a:solidFill>
              </a:rPr>
              <a:t>kPtr</a:t>
            </a:r>
            <a:r>
              <a:rPr lang="en-US" altLang="zh-CN" dirty="0">
                <a:solidFill>
                  <a:srgbClr val="FF0000"/>
                </a:solidFill>
              </a:rPr>
              <a:t>, *&amp;</a:t>
            </a:r>
            <a:r>
              <a:rPr lang="en-US" altLang="zh-CN" dirty="0" err="1">
                <a:solidFill>
                  <a:srgbClr val="FF0000"/>
                </a:solidFill>
              </a:rPr>
              <a:t>kPtr</a:t>
            </a:r>
            <a:r>
              <a:rPr lang="en-US" altLang="zh-CN" dirty="0"/>
              <a:t>);</a:t>
            </a:r>
          </a:p>
          <a:p>
            <a:pPr lvl="1" eaLnBrk="1" hangingPunct="1">
              <a:buFont typeface="Wingdings 2" pitchFamily="18" charset="2"/>
              <a:buNone/>
            </a:pPr>
            <a:r>
              <a:rPr lang="en-US" altLang="zh-CN" dirty="0"/>
              <a:t>return 0;</a:t>
            </a:r>
          </a:p>
          <a:p>
            <a:pPr eaLnBrk="1" hangingPunct="1">
              <a:buFont typeface="Wingdings 2" pitchFamily="18" charset="2"/>
              <a:buNone/>
            </a:pPr>
            <a:r>
              <a:rPr lang="en-US" altLang="zh-CN" dirty="0"/>
              <a:t>}</a:t>
            </a:r>
            <a:endParaRPr lang="zh-CN" altLang="en-US" dirty="0"/>
          </a:p>
        </p:txBody>
      </p:sp>
      <p:sp>
        <p:nvSpPr>
          <p:cNvPr id="4" name="Slide Number Placeholder 3"/>
          <p:cNvSpPr>
            <a:spLocks noGrp="1"/>
          </p:cNvSpPr>
          <p:nvPr>
            <p:ph type="sldNum" sz="quarter" idx="12"/>
          </p:nvPr>
        </p:nvSpPr>
        <p:spPr/>
        <p:txBody>
          <a:bodyPr/>
          <a:lstStyle/>
          <a:p>
            <a:pPr>
              <a:defRPr/>
            </a:pPr>
            <a:fld id="{B3E49578-FFFB-4D7F-8581-DF63A5C97E5D}" type="slidenum">
              <a:rPr lang="en-US" altLang="zh-CN"/>
              <a:pPr>
                <a:defRPr/>
              </a:pPr>
              <a:t>17</a:t>
            </a:fld>
            <a:endParaRPr lang="en-US" altLang="zh-CN"/>
          </a:p>
        </p:txBody>
      </p:sp>
      <p:sp>
        <p:nvSpPr>
          <p:cNvPr id="5" name="矩形 4"/>
          <p:cNvSpPr/>
          <p:nvPr/>
        </p:nvSpPr>
        <p:spPr>
          <a:xfrm>
            <a:off x="3071802" y="142852"/>
            <a:ext cx="5857916" cy="3637919"/>
          </a:xfrm>
          <a:prstGeom prst="rect">
            <a:avLst/>
          </a:prstGeom>
        </p:spPr>
        <p:txBody>
          <a:bodyPr wrap="square">
            <a:spAutoFit/>
          </a:bodyPr>
          <a:lstStyle/>
          <a:p>
            <a:pPr marL="0" indent="0" eaLnBrk="1" fontAlgn="auto" hangingPunct="1">
              <a:lnSpc>
                <a:spcPct val="80000"/>
              </a:lnSpc>
              <a:spcAft>
                <a:spcPts val="0"/>
              </a:spcAft>
              <a:buClr>
                <a:schemeClr val="accent3"/>
              </a:buClr>
              <a:buFontTx/>
              <a:buNone/>
              <a:defRPr/>
            </a:pP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指向变量</a:t>
            </a:r>
            <a:r>
              <a:rPr lang="en-US" altLang="zh-CN" sz="2400" b="1" dirty="0">
                <a:effectLst>
                  <a:outerShdw blurRad="38100" dist="38100" dir="2700000" algn="tl">
                    <a:srgbClr val="C0C0C0"/>
                  </a:outerShdw>
                </a:effectLst>
                <a:latin typeface="楷体_GB2312" pitchFamily="49" charset="-122"/>
                <a:ea typeface="楷体_GB2312" pitchFamily="49" charset="-122"/>
              </a:rPr>
              <a:t>k</a:t>
            </a:r>
            <a:r>
              <a:rPr lang="zh-CN" altLang="en-US" sz="2400" b="1" dirty="0">
                <a:effectLst>
                  <a:outerShdw blurRad="38100" dist="38100" dir="2700000" algn="tl">
                    <a:srgbClr val="C0C0C0"/>
                  </a:outerShdw>
                </a:effectLst>
                <a:latin typeface="楷体_GB2312" pitchFamily="49" charset="-122"/>
                <a:ea typeface="楷体_GB2312" pitchFamily="49" charset="-122"/>
              </a:rPr>
              <a:t>。第一个输出代码输出变量</a:t>
            </a:r>
            <a:r>
              <a:rPr lang="en-US" altLang="zh-CN" sz="2400" b="1" dirty="0">
                <a:effectLst>
                  <a:outerShdw blurRad="38100" dist="38100" dir="2700000" algn="tl">
                    <a:srgbClr val="C0C0C0"/>
                  </a:outerShdw>
                </a:effectLst>
                <a:latin typeface="楷体_GB2312" pitchFamily="49" charset="-122"/>
                <a:ea typeface="楷体_GB2312" pitchFamily="49" charset="-122"/>
              </a:rPr>
              <a:t>k</a:t>
            </a:r>
            <a:r>
              <a:rPr lang="zh-CN" altLang="en-US" sz="2400" b="1" dirty="0">
                <a:effectLst>
                  <a:outerShdw blurRad="38100" dist="38100" dir="2700000" algn="tl">
                    <a:srgbClr val="C0C0C0"/>
                  </a:outerShdw>
                </a:effectLst>
                <a:latin typeface="楷体_GB2312" pitchFamily="49" charset="-122"/>
                <a:ea typeface="楷体_GB2312" pitchFamily="49" charset="-122"/>
              </a:rPr>
              <a:t>的地址和指针变量</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的值。</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80000"/>
              </a:lnSpc>
              <a:spcAft>
                <a:spcPts val="0"/>
              </a:spcAft>
              <a:buClr>
                <a:schemeClr val="accent3"/>
              </a:buClr>
              <a:buFontTx/>
              <a:buNone/>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8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第二个输出代码输出变量</a:t>
            </a:r>
            <a:r>
              <a:rPr lang="en-US" altLang="zh-CN" sz="2400" b="1" dirty="0">
                <a:effectLst>
                  <a:outerShdw blurRad="38100" dist="38100" dir="2700000" algn="tl">
                    <a:srgbClr val="C0C0C0"/>
                  </a:outerShdw>
                </a:effectLst>
                <a:latin typeface="楷体_GB2312" pitchFamily="49" charset="-122"/>
                <a:ea typeface="楷体_GB2312" pitchFamily="49" charset="-122"/>
              </a:rPr>
              <a:t>k</a:t>
            </a:r>
            <a:r>
              <a:rPr lang="zh-CN" altLang="en-US" sz="2400" b="1" dirty="0">
                <a:effectLst>
                  <a:outerShdw blurRad="38100" dist="38100" dir="2700000" algn="tl">
                    <a:srgbClr val="C0C0C0"/>
                  </a:outerShdw>
                </a:effectLst>
                <a:latin typeface="楷体_GB2312" pitchFamily="49" charset="-122"/>
                <a:ea typeface="楷体_GB2312" pitchFamily="49" charset="-122"/>
              </a:rPr>
              <a:t>的值和指针变量</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所指变量的值。由于</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所指的正是变量</a:t>
            </a:r>
            <a:r>
              <a:rPr lang="en-US" altLang="zh-CN" sz="2400" b="1" dirty="0">
                <a:effectLst>
                  <a:outerShdw blurRad="38100" dist="38100" dir="2700000" algn="tl">
                    <a:srgbClr val="C0C0C0"/>
                  </a:outerShdw>
                </a:effectLst>
                <a:latin typeface="楷体_GB2312" pitchFamily="49" charset="-122"/>
                <a:ea typeface="楷体_GB2312" pitchFamily="49" charset="-122"/>
              </a:rPr>
              <a:t>k</a:t>
            </a:r>
            <a:r>
              <a:rPr lang="zh-CN" altLang="en-US" sz="2400" b="1" dirty="0">
                <a:effectLst>
                  <a:outerShdw blurRad="38100" dist="38100" dir="2700000" algn="tl">
                    <a:srgbClr val="C0C0C0"/>
                  </a:outerShdw>
                </a:effectLst>
                <a:latin typeface="楷体_GB2312" pitchFamily="49" charset="-122"/>
                <a:ea typeface="楷体_GB2312" pitchFamily="49" charset="-122"/>
              </a:rPr>
              <a:t>，所以</a:t>
            </a:r>
            <a:r>
              <a:rPr lang="en-US" altLang="zh-CN" sz="2400" b="1" dirty="0">
                <a:effectLst>
                  <a:outerShdw blurRad="38100" dist="38100" dir="2700000" algn="tl">
                    <a:srgbClr val="C0C0C0"/>
                  </a:outerShdw>
                </a:effectLst>
                <a:latin typeface="楷体_GB2312" pitchFamily="49" charset="-122"/>
                <a:ea typeface="楷体_GB2312" pitchFamily="49" charset="-122"/>
              </a:rPr>
              <a:t>k</a:t>
            </a:r>
            <a:r>
              <a:rPr lang="zh-CN" altLang="en-US" sz="2400" b="1" dirty="0">
                <a:effectLst>
                  <a:outerShdw blurRad="38100" dist="38100" dir="2700000" algn="tl">
                    <a:srgbClr val="C0C0C0"/>
                  </a:outerShdw>
                </a:effectLst>
                <a:latin typeface="楷体_GB2312" pitchFamily="49" charset="-122"/>
                <a:ea typeface="楷体_GB2312" pitchFamily="49" charset="-122"/>
              </a:rPr>
              <a:t>的地址值与</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的内容相同，</a:t>
            </a:r>
            <a:r>
              <a:rPr lang="en-US" altLang="zh-CN" sz="2400" b="1" dirty="0">
                <a:effectLst>
                  <a:outerShdw blurRad="38100" dist="38100" dir="2700000" algn="tl">
                    <a:srgbClr val="C0C0C0"/>
                  </a:outerShdw>
                </a:effectLst>
                <a:latin typeface="楷体_GB2312" pitchFamily="49" charset="-122"/>
                <a:ea typeface="楷体_GB2312" pitchFamily="49" charset="-122"/>
              </a:rPr>
              <a:t>k</a:t>
            </a:r>
            <a:r>
              <a:rPr lang="zh-CN" altLang="en-US" sz="2400" b="1" dirty="0">
                <a:effectLst>
                  <a:outerShdw blurRad="38100" dist="38100" dir="2700000" algn="tl">
                    <a:srgbClr val="C0C0C0"/>
                  </a:outerShdw>
                </a:effectLst>
                <a:latin typeface="楷体_GB2312" pitchFamily="49" charset="-122"/>
                <a:ea typeface="楷体_GB2312" pitchFamily="49" charset="-122"/>
              </a:rPr>
              <a:t>的值就是</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所指变量的值。</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80000"/>
              </a:lnSpc>
              <a:spcAft>
                <a:spcPts val="0"/>
              </a:spcAft>
              <a:buClr>
                <a:schemeClr val="accent3"/>
              </a:buClr>
              <a:buFontTx/>
              <a:buNone/>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8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第三个的输出代码表示</a:t>
            </a:r>
            <a:r>
              <a:rPr lang="en-US" altLang="zh-CN" sz="2400" b="1" dirty="0">
                <a:effectLst>
                  <a:outerShdw blurRad="38100" dist="38100" dir="2700000" algn="tl">
                    <a:srgbClr val="C0C0C0"/>
                  </a:outerShdw>
                </a:effectLst>
                <a:latin typeface="楷体_GB2312" pitchFamily="49" charset="-122"/>
                <a:ea typeface="楷体_GB2312" pitchFamily="49" charset="-122"/>
              </a:rPr>
              <a:t>&amp;*</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与*</a:t>
            </a:r>
            <a:r>
              <a:rPr lang="en-US" altLang="zh-CN" sz="2400" b="1" dirty="0">
                <a:effectLst>
                  <a:outerShdw blurRad="38100" dist="38100" dir="2700000" algn="tl">
                    <a:srgbClr val="C0C0C0"/>
                  </a:outerShdw>
                </a:effectLst>
                <a:latin typeface="楷体_GB2312" pitchFamily="49" charset="-122"/>
                <a:ea typeface="楷体_GB2312" pitchFamily="49" charset="-122"/>
              </a:rPr>
              <a:t>&amp;</a:t>
            </a:r>
            <a:r>
              <a:rPr lang="en-US" altLang="zh-CN" sz="2400" b="1" dirty="0" err="1">
                <a:effectLst>
                  <a:outerShdw blurRad="38100" dist="38100" dir="2700000" algn="tl">
                    <a:srgbClr val="C0C0C0"/>
                  </a:outerShdw>
                </a:effectLst>
                <a:latin typeface="楷体_GB2312" pitchFamily="49" charset="-122"/>
                <a:ea typeface="楷体_GB2312" pitchFamily="49" charset="-122"/>
              </a:rPr>
              <a:t>kPtr</a:t>
            </a:r>
            <a:r>
              <a:rPr lang="zh-CN" altLang="en-US" sz="2400" b="1" dirty="0">
                <a:effectLst>
                  <a:outerShdw blurRad="38100" dist="38100" dir="2700000" algn="tl">
                    <a:srgbClr val="C0C0C0"/>
                  </a:outerShdw>
                </a:effectLst>
                <a:latin typeface="楷体_GB2312" pitchFamily="49" charset="-122"/>
                <a:ea typeface="楷体_GB2312" pitchFamily="49" charset="-122"/>
              </a:rPr>
              <a:t>是一样的。运算符</a:t>
            </a:r>
            <a:r>
              <a:rPr lang="en-US" altLang="zh-CN" sz="2400" b="1" dirty="0">
                <a:effectLst>
                  <a:outerShdw blurRad="38100" dist="38100" dir="2700000" algn="tl">
                    <a:srgbClr val="C0C0C0"/>
                  </a:outerShdw>
                </a:effectLst>
                <a:latin typeface="楷体_GB2312" pitchFamily="49" charset="-122"/>
                <a:ea typeface="楷体_GB2312" pitchFamily="49" charset="-122"/>
              </a:rPr>
              <a:t>&amp;</a:t>
            </a:r>
            <a:r>
              <a:rPr lang="zh-CN" altLang="en-US" sz="2400" b="1" dirty="0">
                <a:effectLst>
                  <a:outerShdw blurRad="38100" dist="38100" dir="2700000" algn="tl">
                    <a:srgbClr val="C0C0C0"/>
                  </a:outerShdw>
                </a:effectLst>
                <a:latin typeface="楷体_GB2312" pitchFamily="49" charset="-122"/>
                <a:ea typeface="楷体_GB2312" pitchFamily="49" charset="-122"/>
              </a:rPr>
              <a:t>和*是互为相反的。当它们以不同的次序作用于</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指针变量</a:t>
            </a:r>
            <a:r>
              <a:rPr lang="zh-CN" altLang="en-US" sz="2400" b="1" dirty="0">
                <a:effectLst>
                  <a:outerShdw blurRad="38100" dist="38100" dir="2700000" algn="tl">
                    <a:srgbClr val="C0C0C0"/>
                  </a:outerShdw>
                </a:effectLst>
                <a:latin typeface="楷体_GB2312" pitchFamily="49" charset="-122"/>
                <a:ea typeface="楷体_GB2312" pitchFamily="49" charset="-122"/>
              </a:rPr>
              <a:t>时，得到相同的结果。</a:t>
            </a:r>
            <a:endParaRPr lang="zh-CN" altLang="en-US" sz="2400"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2">
                                            <p:txEl>
                                              <p:pRg st="8" end="8"/>
                                            </p:txEl>
                                          </p:spTgt>
                                        </p:tgtEl>
                                        <p:attrNameLst>
                                          <p:attrName>style.visibility</p:attrName>
                                        </p:attrNameLst>
                                      </p:cBhvr>
                                      <p:to>
                                        <p:strVal val="visible"/>
                                      </p:to>
                                    </p:set>
                                    <p:anim calcmode="lin" valueType="num">
                                      <p:cBhvr additive="base">
                                        <p:cTn id="7" dur="500" fill="hold"/>
                                        <p:tgtEl>
                                          <p:spTgt spid="15362">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362">
                                            <p:txEl>
                                              <p:pRg st="9" end="9"/>
                                            </p:txEl>
                                          </p:spTgt>
                                        </p:tgtEl>
                                        <p:attrNameLst>
                                          <p:attrName>style.visibility</p:attrName>
                                        </p:attrNameLst>
                                      </p:cBhvr>
                                      <p:to>
                                        <p:strVal val="visible"/>
                                      </p:to>
                                    </p:set>
                                    <p:anim calcmode="lin" valueType="num">
                                      <p:cBhvr additive="base">
                                        <p:cTn id="19" dur="500" fill="hold"/>
                                        <p:tgtEl>
                                          <p:spTgt spid="15362">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362">
                                            <p:txEl>
                                              <p:pRg st="10" end="10"/>
                                            </p:txEl>
                                          </p:spTgt>
                                        </p:tgtEl>
                                        <p:attrNameLst>
                                          <p:attrName>style.visibility</p:attrName>
                                        </p:attrNameLst>
                                      </p:cBhvr>
                                      <p:to>
                                        <p:strVal val="visible"/>
                                      </p:to>
                                    </p:set>
                                    <p:anim calcmode="lin" valueType="num">
                                      <p:cBhvr additive="base">
                                        <p:cTn id="31" dur="500" fill="hold"/>
                                        <p:tgtEl>
                                          <p:spTgt spid="15362">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 calcmode="lin" valueType="num">
                                      <p:cBhvr additive="base">
                                        <p:cTn id="3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idx="1"/>
          </p:nvPr>
        </p:nvSpPr>
        <p:spPr>
          <a:xfrm>
            <a:off x="304800" y="914400"/>
            <a:ext cx="8610600" cy="5715000"/>
          </a:xfrm>
        </p:spPr>
        <p:txBody>
          <a:bodyPr>
            <a:normAutofit/>
          </a:bodyPr>
          <a:lstStyle/>
          <a:p>
            <a:pPr marL="0" indent="0" eaLnBrk="1" fontAlgn="auto" hangingPunct="1">
              <a:spcAft>
                <a:spcPts val="0"/>
              </a:spcAft>
              <a:buClr>
                <a:schemeClr val="accent3"/>
              </a:buClr>
              <a:buFontTx/>
              <a:buNone/>
              <a:defRPr/>
            </a:pPr>
            <a:r>
              <a:rPr lang="zh-CN" altLang="en-US" sz="2800" b="1">
                <a:effectLst>
                  <a:outerShdw blurRad="38100" dist="38100" dir="2700000" algn="tl">
                    <a:srgbClr val="C0C0C0"/>
                  </a:outerShdw>
                </a:effectLst>
                <a:latin typeface="楷体_GB2312" pitchFamily="49" charset="-122"/>
                <a:ea typeface="楷体_GB2312" pitchFamily="49" charset="-122"/>
              </a:rPr>
              <a:t>要特别注意指针变量之间的赋值，指针变量所指向的变量之间的赋值，这两种赋值在表示方法上的区别。</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如代码    </a:t>
            </a:r>
            <a:r>
              <a:rPr lang="en-US" altLang="zh-CN" sz="2800" b="1">
                <a:solidFill>
                  <a:srgbClr val="0000FF"/>
                </a:solidFill>
                <a:effectLst>
                  <a:outerShdw blurRad="38100" dist="38100" dir="2700000" algn="tl">
                    <a:srgbClr val="C0C0C0"/>
                  </a:outerShdw>
                </a:effectLst>
                <a:latin typeface="楷体_GB2312" pitchFamily="49" charset="-122"/>
                <a:ea typeface="楷体_GB2312" pitchFamily="49" charset="-122"/>
              </a:rPr>
              <a:t>intpt = ip;</a:t>
            </a:r>
          </a:p>
          <a:p>
            <a:pPr marL="0" indent="0" eaLnBrk="1" fontAlgn="auto" hangingPunct="1">
              <a:spcAft>
                <a:spcPts val="0"/>
              </a:spcAft>
              <a:buClr>
                <a:schemeClr val="accent3"/>
              </a:buClr>
              <a:buFontTx/>
              <a:buNone/>
              <a:defRPr/>
            </a:pP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使两个指针变量</a:t>
            </a:r>
            <a:r>
              <a:rPr lang="en-US" altLang="zh-CN" sz="2800" b="1">
                <a:solidFill>
                  <a:srgbClr val="0000FF"/>
                </a:solidFill>
                <a:effectLst>
                  <a:outerShdw blurRad="38100" dist="38100" dir="2700000" algn="tl">
                    <a:srgbClr val="C0C0C0"/>
                  </a:outerShdw>
                </a:effectLst>
                <a:latin typeface="楷体_GB2312" pitchFamily="49" charset="-122"/>
                <a:ea typeface="楷体_GB2312" pitchFamily="49" charset="-122"/>
              </a:rPr>
              <a:t>intpt</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与</a:t>
            </a:r>
            <a:r>
              <a:rPr lang="en-US" altLang="zh-CN" sz="2800" b="1">
                <a:solidFill>
                  <a:srgbClr val="0000FF"/>
                </a:solidFill>
                <a:effectLst>
                  <a:outerShdw blurRad="38100" dist="38100" dir="2700000" algn="tl">
                    <a:srgbClr val="C0C0C0"/>
                  </a:outerShdw>
                </a:effectLst>
                <a:latin typeface="楷体_GB2312" pitchFamily="49" charset="-122"/>
                <a:ea typeface="楷体_GB2312" pitchFamily="49" charset="-122"/>
              </a:rPr>
              <a:t>ip</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指向同一个对象，或都不指向任何对象</a:t>
            </a:r>
            <a:r>
              <a:rPr lang="en-US" altLang="zh-CN" sz="2800" b="1">
                <a:solidFill>
                  <a:srgbClr val="0000FF"/>
                </a:solidFill>
                <a:effectLst>
                  <a:outerShdw blurRad="38100" dist="38100" dir="2700000" algn="tl">
                    <a:srgbClr val="C0C0C0"/>
                  </a:outerShdw>
                </a:effectLst>
                <a:latin typeface="楷体_GB2312" pitchFamily="49" charset="-122"/>
                <a:ea typeface="楷体_GB2312" pitchFamily="49" charset="-122"/>
              </a:rPr>
              <a:t>(</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如果</a:t>
            </a:r>
            <a:r>
              <a:rPr lang="en-US" altLang="zh-CN" sz="2800" b="1">
                <a:solidFill>
                  <a:srgbClr val="0000FF"/>
                </a:solidFill>
                <a:effectLst>
                  <a:outerShdw blurRad="38100" dist="38100" dir="2700000" algn="tl">
                    <a:srgbClr val="C0C0C0"/>
                  </a:outerShdw>
                </a:effectLst>
                <a:latin typeface="楷体_GB2312" pitchFamily="49" charset="-122"/>
                <a:ea typeface="楷体_GB2312" pitchFamily="49" charset="-122"/>
              </a:rPr>
              <a:t>ip</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的值为</a:t>
            </a:r>
            <a:r>
              <a:rPr lang="en-US" altLang="zh-CN" sz="2800" b="1">
                <a:solidFill>
                  <a:srgbClr val="0000FF"/>
                </a:solidFill>
                <a:effectLst>
                  <a:outerShdw blurRad="38100" dist="38100" dir="2700000" algn="tl">
                    <a:srgbClr val="C0C0C0"/>
                  </a:outerShdw>
                </a:effectLst>
                <a:latin typeface="楷体_GB2312" pitchFamily="49" charset="-122"/>
                <a:ea typeface="楷体_GB2312" pitchFamily="49" charset="-122"/>
              </a:rPr>
              <a:t>NULL)</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a:t>
            </a:r>
          </a:p>
        </p:txBody>
      </p:sp>
      <p:sp>
        <p:nvSpPr>
          <p:cNvPr id="3" name="Slide Number Placeholder 2"/>
          <p:cNvSpPr>
            <a:spLocks noGrp="1"/>
          </p:cNvSpPr>
          <p:nvPr>
            <p:ph type="sldNum" sz="quarter" idx="12"/>
          </p:nvPr>
        </p:nvSpPr>
        <p:spPr/>
        <p:txBody>
          <a:bodyPr/>
          <a:lstStyle/>
          <a:p>
            <a:pPr>
              <a:defRPr/>
            </a:pPr>
            <a:fld id="{1A677CE6-33DD-4279-AA49-CC2A8703C31F}" type="slidenum">
              <a:rPr lang="en-US" altLang="zh-CN"/>
              <a:pPr>
                <a:defRPr/>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4"/>
          <p:cNvSpPr>
            <a:spLocks noGrp="1" noChangeArrowheads="1"/>
          </p:cNvSpPr>
          <p:nvPr>
            <p:ph idx="1"/>
          </p:nvPr>
        </p:nvSpPr>
        <p:spPr>
          <a:xfrm>
            <a:off x="838200" y="1600200"/>
            <a:ext cx="7696200" cy="914400"/>
          </a:xfrm>
        </p:spPr>
        <p:txBody>
          <a:bodyPr>
            <a:normAutofit fontScale="92500" lnSpcReduction="10000"/>
          </a:bodyPr>
          <a:lstStyle/>
          <a:p>
            <a:pPr marL="274320" indent="-274320" eaLnBrk="1" fontAlgn="auto" hangingPunct="1">
              <a:spcAft>
                <a:spcPts val="0"/>
              </a:spcAft>
              <a:buClr>
                <a:schemeClr val="accent3"/>
              </a:buClr>
              <a:buFontTx/>
              <a:buNone/>
              <a:defRPr/>
            </a:pPr>
            <a:r>
              <a:rPr lang="zh-CN" altLang="en-US" sz="2800" b="1" dirty="0"/>
              <a:t>已知：</a:t>
            </a:r>
            <a:r>
              <a:rPr lang="en-US" altLang="zh-CN" sz="2800" b="1" dirty="0" err="1"/>
              <a:t>int</a:t>
            </a:r>
            <a:r>
              <a:rPr lang="en-US" altLang="zh-CN" sz="2800" b="1" dirty="0"/>
              <a:t> </a:t>
            </a:r>
            <a:r>
              <a:rPr lang="en-US" altLang="zh-CN" sz="2800" b="1" dirty="0" err="1"/>
              <a:t>i</a:t>
            </a:r>
            <a:r>
              <a:rPr lang="en-US" altLang="zh-CN" sz="2800" b="1" dirty="0"/>
              <a:t>=100, j=200, *</a:t>
            </a:r>
            <a:r>
              <a:rPr lang="en-US" altLang="zh-CN" sz="2800" b="1" dirty="0" err="1"/>
              <a:t>ip</a:t>
            </a:r>
            <a:r>
              <a:rPr lang="en-US" altLang="zh-CN" sz="2800" b="1" dirty="0"/>
              <a:t>=&amp;</a:t>
            </a:r>
            <a:r>
              <a:rPr lang="en-US" altLang="zh-CN" sz="2800" b="1" dirty="0" err="1"/>
              <a:t>i</a:t>
            </a:r>
            <a:r>
              <a:rPr lang="en-US" altLang="zh-CN" sz="2800" b="1" dirty="0"/>
              <a:t>; *</a:t>
            </a:r>
            <a:r>
              <a:rPr lang="en-US" altLang="zh-CN" sz="2800" b="1" dirty="0" err="1"/>
              <a:t>intpt</a:t>
            </a:r>
            <a:r>
              <a:rPr lang="en-US" altLang="zh-CN" sz="2800" b="1" dirty="0"/>
              <a:t>=&amp;j;</a:t>
            </a:r>
          </a:p>
          <a:p>
            <a:pPr marL="274320" indent="-274320" eaLnBrk="1" fontAlgn="auto" hangingPunct="1">
              <a:spcAft>
                <a:spcPts val="0"/>
              </a:spcAft>
              <a:buClr>
                <a:schemeClr val="accent3"/>
              </a:buClr>
              <a:buFontTx/>
              <a:buNone/>
              <a:defRPr/>
            </a:pPr>
            <a:r>
              <a:rPr lang="zh-CN" altLang="en-US" sz="2800" b="1" dirty="0"/>
              <a:t>语句    </a:t>
            </a:r>
            <a:r>
              <a:rPr lang="en-US" altLang="zh-CN" sz="2800" b="1" dirty="0" err="1"/>
              <a:t>intpt</a:t>
            </a:r>
            <a:r>
              <a:rPr lang="en-US" altLang="zh-CN" sz="2800" b="1" dirty="0"/>
              <a:t> = </a:t>
            </a:r>
            <a:r>
              <a:rPr lang="en-US" altLang="zh-CN" sz="2800" b="1" dirty="0" err="1"/>
              <a:t>ip</a:t>
            </a:r>
            <a:r>
              <a:rPr lang="en-US" altLang="zh-CN" sz="2800" b="1" dirty="0"/>
              <a:t>; </a:t>
            </a:r>
            <a:r>
              <a:rPr lang="zh-CN" altLang="en-US" sz="2800" b="1" dirty="0"/>
              <a:t>的作用如下图所示</a:t>
            </a:r>
          </a:p>
        </p:txBody>
      </p:sp>
      <p:grpSp>
        <p:nvGrpSpPr>
          <p:cNvPr id="18435" name="Group 5"/>
          <p:cNvGrpSpPr>
            <a:grpSpLocks/>
          </p:cNvGrpSpPr>
          <p:nvPr/>
        </p:nvGrpSpPr>
        <p:grpSpPr bwMode="auto">
          <a:xfrm>
            <a:off x="914400" y="2590800"/>
            <a:ext cx="6502400" cy="3990975"/>
            <a:chOff x="576" y="1632"/>
            <a:chExt cx="4096" cy="2514"/>
          </a:xfrm>
        </p:grpSpPr>
        <p:grpSp>
          <p:nvGrpSpPr>
            <p:cNvPr id="18438" name="Group 6"/>
            <p:cNvGrpSpPr>
              <a:grpSpLocks/>
            </p:cNvGrpSpPr>
            <p:nvPr/>
          </p:nvGrpSpPr>
          <p:grpSpPr bwMode="auto">
            <a:xfrm>
              <a:off x="576" y="1632"/>
              <a:ext cx="3984" cy="1776"/>
              <a:chOff x="432" y="1584"/>
              <a:chExt cx="3984" cy="1776"/>
            </a:xfrm>
          </p:grpSpPr>
          <p:sp>
            <p:nvSpPr>
              <p:cNvPr id="18440" name="Line 7"/>
              <p:cNvSpPr>
                <a:spLocks noChangeShapeType="1"/>
              </p:cNvSpPr>
              <p:nvPr/>
            </p:nvSpPr>
            <p:spPr bwMode="auto">
              <a:xfrm>
                <a:off x="2400" y="1680"/>
                <a:ext cx="0" cy="1680"/>
              </a:xfrm>
              <a:prstGeom prst="line">
                <a:avLst/>
              </a:prstGeom>
              <a:noFill/>
              <a:ln w="38100">
                <a:solidFill>
                  <a:srgbClr val="0000FF"/>
                </a:solidFill>
                <a:round/>
                <a:headEnd/>
                <a:tailEnd/>
              </a:ln>
            </p:spPr>
            <p:txBody>
              <a:bodyPr wrap="none" anchor="ctr"/>
              <a:lstStyle/>
              <a:p>
                <a:endParaRPr lang="zh-CN" altLang="en-US"/>
              </a:p>
            </p:txBody>
          </p:sp>
          <p:grpSp>
            <p:nvGrpSpPr>
              <p:cNvPr id="18441" name="Group 8"/>
              <p:cNvGrpSpPr>
                <a:grpSpLocks/>
              </p:cNvGrpSpPr>
              <p:nvPr/>
            </p:nvGrpSpPr>
            <p:grpSpPr bwMode="auto">
              <a:xfrm>
                <a:off x="432" y="1609"/>
                <a:ext cx="1728" cy="1582"/>
                <a:chOff x="432" y="1609"/>
                <a:chExt cx="1728" cy="1582"/>
              </a:xfrm>
            </p:grpSpPr>
            <p:grpSp>
              <p:nvGrpSpPr>
                <p:cNvPr id="18476" name="Group 9"/>
                <p:cNvGrpSpPr>
                  <a:grpSpLocks/>
                </p:cNvGrpSpPr>
                <p:nvPr/>
              </p:nvGrpSpPr>
              <p:grpSpPr bwMode="auto">
                <a:xfrm>
                  <a:off x="432" y="1609"/>
                  <a:ext cx="1728" cy="599"/>
                  <a:chOff x="432" y="1609"/>
                  <a:chExt cx="1728" cy="599"/>
                </a:xfrm>
              </p:grpSpPr>
              <p:grpSp>
                <p:nvGrpSpPr>
                  <p:cNvPr id="18492" name="Group 10"/>
                  <p:cNvGrpSpPr>
                    <a:grpSpLocks/>
                  </p:cNvGrpSpPr>
                  <p:nvPr/>
                </p:nvGrpSpPr>
                <p:grpSpPr bwMode="auto">
                  <a:xfrm>
                    <a:off x="432" y="1920"/>
                    <a:ext cx="1728" cy="288"/>
                    <a:chOff x="432" y="1440"/>
                    <a:chExt cx="1728" cy="288"/>
                  </a:xfrm>
                </p:grpSpPr>
                <p:grpSp>
                  <p:nvGrpSpPr>
                    <p:cNvPr id="18495" name="Group 11"/>
                    <p:cNvGrpSpPr>
                      <a:grpSpLocks/>
                    </p:cNvGrpSpPr>
                    <p:nvPr/>
                  </p:nvGrpSpPr>
                  <p:grpSpPr bwMode="auto">
                    <a:xfrm>
                      <a:off x="432" y="1440"/>
                      <a:ext cx="1728" cy="288"/>
                      <a:chOff x="336" y="1440"/>
                      <a:chExt cx="1824" cy="384"/>
                    </a:xfrm>
                  </p:grpSpPr>
                  <p:sp>
                    <p:nvSpPr>
                      <p:cNvPr id="18497" name="Line 12"/>
                      <p:cNvSpPr>
                        <a:spLocks noChangeShapeType="1"/>
                      </p:cNvSpPr>
                      <p:nvPr/>
                    </p:nvSpPr>
                    <p:spPr bwMode="auto">
                      <a:xfrm>
                        <a:off x="336" y="1440"/>
                        <a:ext cx="720" cy="0"/>
                      </a:xfrm>
                      <a:prstGeom prst="line">
                        <a:avLst/>
                      </a:prstGeom>
                      <a:noFill/>
                      <a:ln w="9525">
                        <a:solidFill>
                          <a:schemeClr val="tx1"/>
                        </a:solidFill>
                        <a:round/>
                        <a:headEnd/>
                        <a:tailEnd/>
                      </a:ln>
                    </p:spPr>
                    <p:txBody>
                      <a:bodyPr wrap="none" anchor="ctr"/>
                      <a:lstStyle/>
                      <a:p>
                        <a:endParaRPr lang="zh-CN" altLang="en-US"/>
                      </a:p>
                    </p:txBody>
                  </p:sp>
                  <p:sp>
                    <p:nvSpPr>
                      <p:cNvPr id="18498" name="Line 13"/>
                      <p:cNvSpPr>
                        <a:spLocks noChangeShapeType="1"/>
                      </p:cNvSpPr>
                      <p:nvPr/>
                    </p:nvSpPr>
                    <p:spPr bwMode="auto">
                      <a:xfrm>
                        <a:off x="1056" y="1440"/>
                        <a:ext cx="0" cy="336"/>
                      </a:xfrm>
                      <a:prstGeom prst="line">
                        <a:avLst/>
                      </a:prstGeom>
                      <a:noFill/>
                      <a:ln w="9525">
                        <a:solidFill>
                          <a:schemeClr val="tx1"/>
                        </a:solidFill>
                        <a:round/>
                        <a:headEnd/>
                        <a:tailEnd/>
                      </a:ln>
                    </p:spPr>
                    <p:txBody>
                      <a:bodyPr wrap="none" anchor="ctr"/>
                      <a:lstStyle/>
                      <a:p>
                        <a:endParaRPr lang="zh-CN" altLang="en-US"/>
                      </a:p>
                    </p:txBody>
                  </p:sp>
                  <p:sp>
                    <p:nvSpPr>
                      <p:cNvPr id="18499" name="Line 14"/>
                      <p:cNvSpPr>
                        <a:spLocks noChangeShapeType="1"/>
                      </p:cNvSpPr>
                      <p:nvPr/>
                    </p:nvSpPr>
                    <p:spPr bwMode="auto">
                      <a:xfrm flipH="1">
                        <a:off x="336" y="1776"/>
                        <a:ext cx="720" cy="0"/>
                      </a:xfrm>
                      <a:prstGeom prst="line">
                        <a:avLst/>
                      </a:prstGeom>
                      <a:noFill/>
                      <a:ln w="9525">
                        <a:solidFill>
                          <a:schemeClr val="tx1"/>
                        </a:solidFill>
                        <a:round/>
                        <a:headEnd/>
                        <a:tailEnd/>
                      </a:ln>
                    </p:spPr>
                    <p:txBody>
                      <a:bodyPr wrap="none" anchor="ctr"/>
                      <a:lstStyle/>
                      <a:p>
                        <a:endParaRPr lang="zh-CN" altLang="en-US"/>
                      </a:p>
                    </p:txBody>
                  </p:sp>
                  <p:sp>
                    <p:nvSpPr>
                      <p:cNvPr id="18500" name="Line 15"/>
                      <p:cNvSpPr>
                        <a:spLocks noChangeShapeType="1"/>
                      </p:cNvSpPr>
                      <p:nvPr/>
                    </p:nvSpPr>
                    <p:spPr bwMode="auto">
                      <a:xfrm flipV="1">
                        <a:off x="336" y="1440"/>
                        <a:ext cx="0" cy="336"/>
                      </a:xfrm>
                      <a:prstGeom prst="line">
                        <a:avLst/>
                      </a:prstGeom>
                      <a:noFill/>
                      <a:ln w="9525">
                        <a:solidFill>
                          <a:schemeClr val="tx1"/>
                        </a:solidFill>
                        <a:round/>
                        <a:headEnd/>
                        <a:tailEnd/>
                      </a:ln>
                    </p:spPr>
                    <p:txBody>
                      <a:bodyPr wrap="none" anchor="ctr"/>
                      <a:lstStyle/>
                      <a:p>
                        <a:endParaRPr lang="zh-CN" altLang="en-US"/>
                      </a:p>
                    </p:txBody>
                  </p:sp>
                  <p:sp>
                    <p:nvSpPr>
                      <p:cNvPr id="18501" name="Line 16"/>
                      <p:cNvSpPr>
                        <a:spLocks noChangeShapeType="1"/>
                      </p:cNvSpPr>
                      <p:nvPr/>
                    </p:nvSpPr>
                    <p:spPr bwMode="auto">
                      <a:xfrm>
                        <a:off x="720" y="1632"/>
                        <a:ext cx="624" cy="0"/>
                      </a:xfrm>
                      <a:prstGeom prst="line">
                        <a:avLst/>
                      </a:prstGeom>
                      <a:noFill/>
                      <a:ln w="28575">
                        <a:solidFill>
                          <a:srgbClr val="FF3300"/>
                        </a:solidFill>
                        <a:round/>
                        <a:headEnd/>
                        <a:tailEnd type="triangle" w="med" len="med"/>
                      </a:ln>
                    </p:spPr>
                    <p:txBody>
                      <a:bodyPr wrap="none" anchor="ctr"/>
                      <a:lstStyle/>
                      <a:p>
                        <a:endParaRPr lang="zh-CN" altLang="en-US"/>
                      </a:p>
                    </p:txBody>
                  </p:sp>
                  <p:sp>
                    <p:nvSpPr>
                      <p:cNvPr id="18502" name="Line 17"/>
                      <p:cNvSpPr>
                        <a:spLocks noChangeShapeType="1"/>
                      </p:cNvSpPr>
                      <p:nvPr/>
                    </p:nvSpPr>
                    <p:spPr bwMode="auto">
                      <a:xfrm>
                        <a:off x="1488" y="1440"/>
                        <a:ext cx="672" cy="0"/>
                      </a:xfrm>
                      <a:prstGeom prst="line">
                        <a:avLst/>
                      </a:prstGeom>
                      <a:noFill/>
                      <a:ln w="9525">
                        <a:solidFill>
                          <a:schemeClr val="tx1"/>
                        </a:solidFill>
                        <a:round/>
                        <a:headEnd/>
                        <a:tailEnd/>
                      </a:ln>
                    </p:spPr>
                    <p:txBody>
                      <a:bodyPr wrap="none" anchor="ctr"/>
                      <a:lstStyle/>
                      <a:p>
                        <a:endParaRPr lang="zh-CN" altLang="en-US"/>
                      </a:p>
                    </p:txBody>
                  </p:sp>
                  <p:sp>
                    <p:nvSpPr>
                      <p:cNvPr id="18503" name="Line 18"/>
                      <p:cNvSpPr>
                        <a:spLocks noChangeShapeType="1"/>
                      </p:cNvSpPr>
                      <p:nvPr/>
                    </p:nvSpPr>
                    <p:spPr bwMode="auto">
                      <a:xfrm>
                        <a:off x="2160" y="1440"/>
                        <a:ext cx="0" cy="384"/>
                      </a:xfrm>
                      <a:prstGeom prst="line">
                        <a:avLst/>
                      </a:prstGeom>
                      <a:noFill/>
                      <a:ln w="9525">
                        <a:solidFill>
                          <a:schemeClr val="tx1"/>
                        </a:solidFill>
                        <a:round/>
                        <a:headEnd/>
                        <a:tailEnd/>
                      </a:ln>
                    </p:spPr>
                    <p:txBody>
                      <a:bodyPr wrap="none" anchor="ctr"/>
                      <a:lstStyle/>
                      <a:p>
                        <a:endParaRPr lang="zh-CN" altLang="en-US"/>
                      </a:p>
                    </p:txBody>
                  </p:sp>
                  <p:sp>
                    <p:nvSpPr>
                      <p:cNvPr id="18504" name="Line 19"/>
                      <p:cNvSpPr>
                        <a:spLocks noChangeShapeType="1"/>
                      </p:cNvSpPr>
                      <p:nvPr/>
                    </p:nvSpPr>
                    <p:spPr bwMode="auto">
                      <a:xfrm flipH="1">
                        <a:off x="1488" y="1824"/>
                        <a:ext cx="672" cy="0"/>
                      </a:xfrm>
                      <a:prstGeom prst="line">
                        <a:avLst/>
                      </a:prstGeom>
                      <a:noFill/>
                      <a:ln w="9525">
                        <a:solidFill>
                          <a:schemeClr val="tx1"/>
                        </a:solidFill>
                        <a:round/>
                        <a:headEnd/>
                        <a:tailEnd/>
                      </a:ln>
                    </p:spPr>
                    <p:txBody>
                      <a:bodyPr wrap="none" anchor="ctr"/>
                      <a:lstStyle/>
                      <a:p>
                        <a:endParaRPr lang="zh-CN" altLang="en-US"/>
                      </a:p>
                    </p:txBody>
                  </p:sp>
                  <p:sp>
                    <p:nvSpPr>
                      <p:cNvPr id="18505" name="Line 20"/>
                      <p:cNvSpPr>
                        <a:spLocks noChangeShapeType="1"/>
                      </p:cNvSpPr>
                      <p:nvPr/>
                    </p:nvSpPr>
                    <p:spPr bwMode="auto">
                      <a:xfrm flipV="1">
                        <a:off x="1488" y="1440"/>
                        <a:ext cx="0" cy="384"/>
                      </a:xfrm>
                      <a:prstGeom prst="line">
                        <a:avLst/>
                      </a:prstGeom>
                      <a:noFill/>
                      <a:ln w="9525">
                        <a:solidFill>
                          <a:schemeClr val="tx1"/>
                        </a:solidFill>
                        <a:round/>
                        <a:headEnd/>
                        <a:tailEnd/>
                      </a:ln>
                    </p:spPr>
                    <p:txBody>
                      <a:bodyPr wrap="none" anchor="ctr"/>
                      <a:lstStyle/>
                      <a:p>
                        <a:endParaRPr lang="zh-CN" altLang="en-US"/>
                      </a:p>
                    </p:txBody>
                  </p:sp>
                </p:grpSp>
                <p:sp>
                  <p:nvSpPr>
                    <p:cNvPr id="18496" name="Text Box 21"/>
                    <p:cNvSpPr txBox="1">
                      <a:spLocks noChangeArrowheads="1"/>
                    </p:cNvSpPr>
                    <p:nvPr/>
                  </p:nvSpPr>
                  <p:spPr bwMode="auto">
                    <a:xfrm>
                      <a:off x="1622" y="1463"/>
                      <a:ext cx="396" cy="231"/>
                    </a:xfrm>
                    <a:prstGeom prst="rect">
                      <a:avLst/>
                    </a:prstGeom>
                    <a:noFill/>
                    <a:ln w="9525">
                      <a:noFill/>
                      <a:miter lim="800000"/>
                      <a:headEnd/>
                      <a:tailEnd/>
                    </a:ln>
                  </p:spPr>
                  <p:txBody>
                    <a:bodyPr wrap="none">
                      <a:spAutoFit/>
                    </a:bodyPr>
                    <a:lstStyle/>
                    <a:p>
                      <a:r>
                        <a:rPr lang="en-US" altLang="zh-CN" b="1"/>
                        <a:t> 100</a:t>
                      </a:r>
                    </a:p>
                  </p:txBody>
                </p:sp>
              </p:grpSp>
              <p:sp>
                <p:nvSpPr>
                  <p:cNvPr id="18493" name="Text Box 22"/>
                  <p:cNvSpPr txBox="1">
                    <a:spLocks noChangeArrowheads="1"/>
                  </p:cNvSpPr>
                  <p:nvPr/>
                </p:nvSpPr>
                <p:spPr bwMode="auto">
                  <a:xfrm>
                    <a:off x="614" y="1609"/>
                    <a:ext cx="346" cy="288"/>
                  </a:xfrm>
                  <a:prstGeom prst="rect">
                    <a:avLst/>
                  </a:prstGeom>
                  <a:noFill/>
                  <a:ln w="9525">
                    <a:noFill/>
                    <a:miter lim="800000"/>
                    <a:headEnd/>
                    <a:tailEnd/>
                  </a:ln>
                </p:spPr>
                <p:txBody>
                  <a:bodyPr>
                    <a:spAutoFit/>
                  </a:bodyPr>
                  <a:lstStyle/>
                  <a:p>
                    <a:r>
                      <a:rPr lang="en-US" altLang="zh-CN" sz="2400" b="1"/>
                      <a:t>ip</a:t>
                    </a:r>
                  </a:p>
                </p:txBody>
              </p:sp>
              <p:sp>
                <p:nvSpPr>
                  <p:cNvPr id="18494" name="Text Box 23"/>
                  <p:cNvSpPr txBox="1">
                    <a:spLocks noChangeArrowheads="1"/>
                  </p:cNvSpPr>
                  <p:nvPr/>
                </p:nvSpPr>
                <p:spPr bwMode="auto">
                  <a:xfrm>
                    <a:off x="1670" y="1632"/>
                    <a:ext cx="346" cy="288"/>
                  </a:xfrm>
                  <a:prstGeom prst="rect">
                    <a:avLst/>
                  </a:prstGeom>
                  <a:noFill/>
                  <a:ln w="9525">
                    <a:noFill/>
                    <a:miter lim="800000"/>
                    <a:headEnd/>
                    <a:tailEnd/>
                  </a:ln>
                </p:spPr>
                <p:txBody>
                  <a:bodyPr>
                    <a:spAutoFit/>
                  </a:bodyPr>
                  <a:lstStyle/>
                  <a:p>
                    <a:pPr algn="ctr"/>
                    <a:r>
                      <a:rPr lang="en-US" altLang="zh-CN" sz="2400" b="1"/>
                      <a:t>i</a:t>
                    </a:r>
                  </a:p>
                </p:txBody>
              </p:sp>
            </p:grpSp>
            <p:grpSp>
              <p:nvGrpSpPr>
                <p:cNvPr id="18477" name="Group 24"/>
                <p:cNvGrpSpPr>
                  <a:grpSpLocks/>
                </p:cNvGrpSpPr>
                <p:nvPr/>
              </p:nvGrpSpPr>
              <p:grpSpPr bwMode="auto">
                <a:xfrm>
                  <a:off x="432" y="2592"/>
                  <a:ext cx="1728" cy="599"/>
                  <a:chOff x="432" y="3385"/>
                  <a:chExt cx="1728" cy="599"/>
                </a:xfrm>
              </p:grpSpPr>
              <p:grpSp>
                <p:nvGrpSpPr>
                  <p:cNvPr id="18478" name="Group 25"/>
                  <p:cNvGrpSpPr>
                    <a:grpSpLocks/>
                  </p:cNvGrpSpPr>
                  <p:nvPr/>
                </p:nvGrpSpPr>
                <p:grpSpPr bwMode="auto">
                  <a:xfrm>
                    <a:off x="432" y="3696"/>
                    <a:ext cx="1728" cy="288"/>
                    <a:chOff x="432" y="1440"/>
                    <a:chExt cx="1728" cy="288"/>
                  </a:xfrm>
                </p:grpSpPr>
                <p:grpSp>
                  <p:nvGrpSpPr>
                    <p:cNvPr id="18481" name="Group 26"/>
                    <p:cNvGrpSpPr>
                      <a:grpSpLocks/>
                    </p:cNvGrpSpPr>
                    <p:nvPr/>
                  </p:nvGrpSpPr>
                  <p:grpSpPr bwMode="auto">
                    <a:xfrm>
                      <a:off x="432" y="1440"/>
                      <a:ext cx="1728" cy="288"/>
                      <a:chOff x="336" y="1440"/>
                      <a:chExt cx="1824" cy="384"/>
                    </a:xfrm>
                  </p:grpSpPr>
                  <p:sp>
                    <p:nvSpPr>
                      <p:cNvPr id="18483" name="Line 27"/>
                      <p:cNvSpPr>
                        <a:spLocks noChangeShapeType="1"/>
                      </p:cNvSpPr>
                      <p:nvPr/>
                    </p:nvSpPr>
                    <p:spPr bwMode="auto">
                      <a:xfrm>
                        <a:off x="336" y="1440"/>
                        <a:ext cx="720" cy="0"/>
                      </a:xfrm>
                      <a:prstGeom prst="line">
                        <a:avLst/>
                      </a:prstGeom>
                      <a:noFill/>
                      <a:ln w="9525">
                        <a:solidFill>
                          <a:schemeClr val="tx1"/>
                        </a:solidFill>
                        <a:round/>
                        <a:headEnd/>
                        <a:tailEnd/>
                      </a:ln>
                    </p:spPr>
                    <p:txBody>
                      <a:bodyPr wrap="none" anchor="ctr"/>
                      <a:lstStyle/>
                      <a:p>
                        <a:endParaRPr lang="zh-CN" altLang="en-US"/>
                      </a:p>
                    </p:txBody>
                  </p:sp>
                  <p:sp>
                    <p:nvSpPr>
                      <p:cNvPr id="18484" name="Line 28"/>
                      <p:cNvSpPr>
                        <a:spLocks noChangeShapeType="1"/>
                      </p:cNvSpPr>
                      <p:nvPr/>
                    </p:nvSpPr>
                    <p:spPr bwMode="auto">
                      <a:xfrm>
                        <a:off x="1056" y="1440"/>
                        <a:ext cx="0" cy="336"/>
                      </a:xfrm>
                      <a:prstGeom prst="line">
                        <a:avLst/>
                      </a:prstGeom>
                      <a:noFill/>
                      <a:ln w="9525">
                        <a:solidFill>
                          <a:schemeClr val="tx1"/>
                        </a:solidFill>
                        <a:round/>
                        <a:headEnd/>
                        <a:tailEnd/>
                      </a:ln>
                    </p:spPr>
                    <p:txBody>
                      <a:bodyPr wrap="none" anchor="ctr"/>
                      <a:lstStyle/>
                      <a:p>
                        <a:endParaRPr lang="zh-CN" altLang="en-US"/>
                      </a:p>
                    </p:txBody>
                  </p:sp>
                  <p:sp>
                    <p:nvSpPr>
                      <p:cNvPr id="18485" name="Line 29"/>
                      <p:cNvSpPr>
                        <a:spLocks noChangeShapeType="1"/>
                      </p:cNvSpPr>
                      <p:nvPr/>
                    </p:nvSpPr>
                    <p:spPr bwMode="auto">
                      <a:xfrm flipH="1">
                        <a:off x="336" y="1776"/>
                        <a:ext cx="720" cy="0"/>
                      </a:xfrm>
                      <a:prstGeom prst="line">
                        <a:avLst/>
                      </a:prstGeom>
                      <a:noFill/>
                      <a:ln w="9525">
                        <a:solidFill>
                          <a:schemeClr val="tx1"/>
                        </a:solidFill>
                        <a:round/>
                        <a:headEnd/>
                        <a:tailEnd/>
                      </a:ln>
                    </p:spPr>
                    <p:txBody>
                      <a:bodyPr wrap="none" anchor="ctr"/>
                      <a:lstStyle/>
                      <a:p>
                        <a:endParaRPr lang="zh-CN" altLang="en-US"/>
                      </a:p>
                    </p:txBody>
                  </p:sp>
                  <p:sp>
                    <p:nvSpPr>
                      <p:cNvPr id="18486" name="Line 30"/>
                      <p:cNvSpPr>
                        <a:spLocks noChangeShapeType="1"/>
                      </p:cNvSpPr>
                      <p:nvPr/>
                    </p:nvSpPr>
                    <p:spPr bwMode="auto">
                      <a:xfrm flipV="1">
                        <a:off x="336" y="1440"/>
                        <a:ext cx="0" cy="336"/>
                      </a:xfrm>
                      <a:prstGeom prst="line">
                        <a:avLst/>
                      </a:prstGeom>
                      <a:noFill/>
                      <a:ln w="9525">
                        <a:solidFill>
                          <a:schemeClr val="tx1"/>
                        </a:solidFill>
                        <a:round/>
                        <a:headEnd/>
                        <a:tailEnd/>
                      </a:ln>
                    </p:spPr>
                    <p:txBody>
                      <a:bodyPr wrap="none" anchor="ctr"/>
                      <a:lstStyle/>
                      <a:p>
                        <a:endParaRPr lang="zh-CN" altLang="en-US"/>
                      </a:p>
                    </p:txBody>
                  </p:sp>
                  <p:sp>
                    <p:nvSpPr>
                      <p:cNvPr id="18487" name="Line 31"/>
                      <p:cNvSpPr>
                        <a:spLocks noChangeShapeType="1"/>
                      </p:cNvSpPr>
                      <p:nvPr/>
                    </p:nvSpPr>
                    <p:spPr bwMode="auto">
                      <a:xfrm>
                        <a:off x="720" y="1632"/>
                        <a:ext cx="624" cy="0"/>
                      </a:xfrm>
                      <a:prstGeom prst="line">
                        <a:avLst/>
                      </a:prstGeom>
                      <a:noFill/>
                      <a:ln w="28575">
                        <a:solidFill>
                          <a:srgbClr val="FF3300"/>
                        </a:solidFill>
                        <a:round/>
                        <a:headEnd/>
                        <a:tailEnd type="triangle" w="med" len="med"/>
                      </a:ln>
                    </p:spPr>
                    <p:txBody>
                      <a:bodyPr wrap="none" anchor="ctr"/>
                      <a:lstStyle/>
                      <a:p>
                        <a:endParaRPr lang="zh-CN" altLang="en-US"/>
                      </a:p>
                    </p:txBody>
                  </p:sp>
                  <p:sp>
                    <p:nvSpPr>
                      <p:cNvPr id="18488" name="Line 32"/>
                      <p:cNvSpPr>
                        <a:spLocks noChangeShapeType="1"/>
                      </p:cNvSpPr>
                      <p:nvPr/>
                    </p:nvSpPr>
                    <p:spPr bwMode="auto">
                      <a:xfrm>
                        <a:off x="1488" y="1440"/>
                        <a:ext cx="672" cy="0"/>
                      </a:xfrm>
                      <a:prstGeom prst="line">
                        <a:avLst/>
                      </a:prstGeom>
                      <a:noFill/>
                      <a:ln w="9525">
                        <a:solidFill>
                          <a:schemeClr val="tx1"/>
                        </a:solidFill>
                        <a:round/>
                        <a:headEnd/>
                        <a:tailEnd/>
                      </a:ln>
                    </p:spPr>
                    <p:txBody>
                      <a:bodyPr wrap="none" anchor="ctr"/>
                      <a:lstStyle/>
                      <a:p>
                        <a:endParaRPr lang="zh-CN" altLang="en-US"/>
                      </a:p>
                    </p:txBody>
                  </p:sp>
                  <p:sp>
                    <p:nvSpPr>
                      <p:cNvPr id="18489" name="Line 33"/>
                      <p:cNvSpPr>
                        <a:spLocks noChangeShapeType="1"/>
                      </p:cNvSpPr>
                      <p:nvPr/>
                    </p:nvSpPr>
                    <p:spPr bwMode="auto">
                      <a:xfrm>
                        <a:off x="2160" y="1440"/>
                        <a:ext cx="0" cy="384"/>
                      </a:xfrm>
                      <a:prstGeom prst="line">
                        <a:avLst/>
                      </a:prstGeom>
                      <a:noFill/>
                      <a:ln w="9525">
                        <a:solidFill>
                          <a:schemeClr val="tx1"/>
                        </a:solidFill>
                        <a:round/>
                        <a:headEnd/>
                        <a:tailEnd/>
                      </a:ln>
                    </p:spPr>
                    <p:txBody>
                      <a:bodyPr wrap="none" anchor="ctr"/>
                      <a:lstStyle/>
                      <a:p>
                        <a:endParaRPr lang="zh-CN" altLang="en-US"/>
                      </a:p>
                    </p:txBody>
                  </p:sp>
                  <p:sp>
                    <p:nvSpPr>
                      <p:cNvPr id="18490" name="Line 34"/>
                      <p:cNvSpPr>
                        <a:spLocks noChangeShapeType="1"/>
                      </p:cNvSpPr>
                      <p:nvPr/>
                    </p:nvSpPr>
                    <p:spPr bwMode="auto">
                      <a:xfrm flipH="1">
                        <a:off x="1488" y="1824"/>
                        <a:ext cx="672" cy="0"/>
                      </a:xfrm>
                      <a:prstGeom prst="line">
                        <a:avLst/>
                      </a:prstGeom>
                      <a:noFill/>
                      <a:ln w="9525">
                        <a:solidFill>
                          <a:schemeClr val="tx1"/>
                        </a:solidFill>
                        <a:round/>
                        <a:headEnd/>
                        <a:tailEnd/>
                      </a:ln>
                    </p:spPr>
                    <p:txBody>
                      <a:bodyPr wrap="none" anchor="ctr"/>
                      <a:lstStyle/>
                      <a:p>
                        <a:endParaRPr lang="zh-CN" altLang="en-US"/>
                      </a:p>
                    </p:txBody>
                  </p:sp>
                  <p:sp>
                    <p:nvSpPr>
                      <p:cNvPr id="18491" name="Line 35"/>
                      <p:cNvSpPr>
                        <a:spLocks noChangeShapeType="1"/>
                      </p:cNvSpPr>
                      <p:nvPr/>
                    </p:nvSpPr>
                    <p:spPr bwMode="auto">
                      <a:xfrm flipV="1">
                        <a:off x="1488" y="1440"/>
                        <a:ext cx="0" cy="384"/>
                      </a:xfrm>
                      <a:prstGeom prst="line">
                        <a:avLst/>
                      </a:prstGeom>
                      <a:noFill/>
                      <a:ln w="9525">
                        <a:solidFill>
                          <a:schemeClr val="tx1"/>
                        </a:solidFill>
                        <a:round/>
                        <a:headEnd/>
                        <a:tailEnd/>
                      </a:ln>
                    </p:spPr>
                    <p:txBody>
                      <a:bodyPr wrap="none" anchor="ctr"/>
                      <a:lstStyle/>
                      <a:p>
                        <a:endParaRPr lang="zh-CN" altLang="en-US"/>
                      </a:p>
                    </p:txBody>
                  </p:sp>
                </p:grpSp>
                <p:sp>
                  <p:nvSpPr>
                    <p:cNvPr id="18482" name="Text Box 36"/>
                    <p:cNvSpPr txBox="1">
                      <a:spLocks noChangeArrowheads="1"/>
                    </p:cNvSpPr>
                    <p:nvPr/>
                  </p:nvSpPr>
                  <p:spPr bwMode="auto">
                    <a:xfrm>
                      <a:off x="1622" y="1463"/>
                      <a:ext cx="396" cy="231"/>
                    </a:xfrm>
                    <a:prstGeom prst="rect">
                      <a:avLst/>
                    </a:prstGeom>
                    <a:noFill/>
                    <a:ln w="9525">
                      <a:noFill/>
                      <a:miter lim="800000"/>
                      <a:headEnd/>
                      <a:tailEnd/>
                    </a:ln>
                  </p:spPr>
                  <p:txBody>
                    <a:bodyPr wrap="none">
                      <a:spAutoFit/>
                    </a:bodyPr>
                    <a:lstStyle/>
                    <a:p>
                      <a:r>
                        <a:rPr lang="en-US" altLang="zh-CN" b="1"/>
                        <a:t> 200</a:t>
                      </a:r>
                    </a:p>
                  </p:txBody>
                </p:sp>
              </p:grpSp>
              <p:sp>
                <p:nvSpPr>
                  <p:cNvPr id="18479" name="Text Box 37"/>
                  <p:cNvSpPr txBox="1">
                    <a:spLocks noChangeArrowheads="1"/>
                  </p:cNvSpPr>
                  <p:nvPr/>
                </p:nvSpPr>
                <p:spPr bwMode="auto">
                  <a:xfrm>
                    <a:off x="480" y="3385"/>
                    <a:ext cx="576" cy="288"/>
                  </a:xfrm>
                  <a:prstGeom prst="rect">
                    <a:avLst/>
                  </a:prstGeom>
                  <a:noFill/>
                  <a:ln w="9525">
                    <a:noFill/>
                    <a:miter lim="800000"/>
                    <a:headEnd/>
                    <a:tailEnd/>
                  </a:ln>
                </p:spPr>
                <p:txBody>
                  <a:bodyPr>
                    <a:spAutoFit/>
                  </a:bodyPr>
                  <a:lstStyle/>
                  <a:p>
                    <a:r>
                      <a:rPr lang="en-US" altLang="zh-CN" sz="2400" b="1"/>
                      <a:t>intpt</a:t>
                    </a:r>
                  </a:p>
                </p:txBody>
              </p:sp>
              <p:sp>
                <p:nvSpPr>
                  <p:cNvPr id="18480" name="Text Box 38"/>
                  <p:cNvSpPr txBox="1">
                    <a:spLocks noChangeArrowheads="1"/>
                  </p:cNvSpPr>
                  <p:nvPr/>
                </p:nvSpPr>
                <p:spPr bwMode="auto">
                  <a:xfrm>
                    <a:off x="1670" y="3408"/>
                    <a:ext cx="346" cy="288"/>
                  </a:xfrm>
                  <a:prstGeom prst="rect">
                    <a:avLst/>
                  </a:prstGeom>
                  <a:noFill/>
                  <a:ln w="9525">
                    <a:noFill/>
                    <a:miter lim="800000"/>
                    <a:headEnd/>
                    <a:tailEnd/>
                  </a:ln>
                </p:spPr>
                <p:txBody>
                  <a:bodyPr>
                    <a:spAutoFit/>
                  </a:bodyPr>
                  <a:lstStyle/>
                  <a:p>
                    <a:pPr algn="ctr"/>
                    <a:r>
                      <a:rPr lang="en-US" altLang="zh-CN" sz="2400" b="1"/>
                      <a:t>j</a:t>
                    </a:r>
                  </a:p>
                </p:txBody>
              </p:sp>
            </p:grpSp>
          </p:grpSp>
          <p:grpSp>
            <p:nvGrpSpPr>
              <p:cNvPr id="18442" name="Group 39"/>
              <p:cNvGrpSpPr>
                <a:grpSpLocks/>
              </p:cNvGrpSpPr>
              <p:nvPr/>
            </p:nvGrpSpPr>
            <p:grpSpPr bwMode="auto">
              <a:xfrm>
                <a:off x="2688" y="1584"/>
                <a:ext cx="1728" cy="1584"/>
                <a:chOff x="2688" y="1584"/>
                <a:chExt cx="1728" cy="1584"/>
              </a:xfrm>
            </p:grpSpPr>
            <p:grpSp>
              <p:nvGrpSpPr>
                <p:cNvPr id="18443" name="Group 40"/>
                <p:cNvGrpSpPr>
                  <a:grpSpLocks/>
                </p:cNvGrpSpPr>
                <p:nvPr/>
              </p:nvGrpSpPr>
              <p:grpSpPr bwMode="auto">
                <a:xfrm>
                  <a:off x="2688" y="1584"/>
                  <a:ext cx="1728" cy="599"/>
                  <a:chOff x="432" y="1609"/>
                  <a:chExt cx="1728" cy="599"/>
                </a:xfrm>
              </p:grpSpPr>
              <p:grpSp>
                <p:nvGrpSpPr>
                  <p:cNvPr id="18462" name="Group 41"/>
                  <p:cNvGrpSpPr>
                    <a:grpSpLocks/>
                  </p:cNvGrpSpPr>
                  <p:nvPr/>
                </p:nvGrpSpPr>
                <p:grpSpPr bwMode="auto">
                  <a:xfrm>
                    <a:off x="432" y="1920"/>
                    <a:ext cx="1728" cy="288"/>
                    <a:chOff x="432" y="1440"/>
                    <a:chExt cx="1728" cy="288"/>
                  </a:xfrm>
                </p:grpSpPr>
                <p:grpSp>
                  <p:nvGrpSpPr>
                    <p:cNvPr id="18465" name="Group 42"/>
                    <p:cNvGrpSpPr>
                      <a:grpSpLocks/>
                    </p:cNvGrpSpPr>
                    <p:nvPr/>
                  </p:nvGrpSpPr>
                  <p:grpSpPr bwMode="auto">
                    <a:xfrm>
                      <a:off x="432" y="1440"/>
                      <a:ext cx="1728" cy="288"/>
                      <a:chOff x="336" y="1440"/>
                      <a:chExt cx="1824" cy="384"/>
                    </a:xfrm>
                  </p:grpSpPr>
                  <p:sp>
                    <p:nvSpPr>
                      <p:cNvPr id="18467" name="Line 43"/>
                      <p:cNvSpPr>
                        <a:spLocks noChangeShapeType="1"/>
                      </p:cNvSpPr>
                      <p:nvPr/>
                    </p:nvSpPr>
                    <p:spPr bwMode="auto">
                      <a:xfrm>
                        <a:off x="336" y="1440"/>
                        <a:ext cx="720" cy="0"/>
                      </a:xfrm>
                      <a:prstGeom prst="line">
                        <a:avLst/>
                      </a:prstGeom>
                      <a:noFill/>
                      <a:ln w="9525">
                        <a:solidFill>
                          <a:schemeClr val="tx1"/>
                        </a:solidFill>
                        <a:round/>
                        <a:headEnd/>
                        <a:tailEnd/>
                      </a:ln>
                    </p:spPr>
                    <p:txBody>
                      <a:bodyPr wrap="none" anchor="ctr"/>
                      <a:lstStyle/>
                      <a:p>
                        <a:endParaRPr lang="zh-CN" altLang="en-US"/>
                      </a:p>
                    </p:txBody>
                  </p:sp>
                  <p:sp>
                    <p:nvSpPr>
                      <p:cNvPr id="18468" name="Line 44"/>
                      <p:cNvSpPr>
                        <a:spLocks noChangeShapeType="1"/>
                      </p:cNvSpPr>
                      <p:nvPr/>
                    </p:nvSpPr>
                    <p:spPr bwMode="auto">
                      <a:xfrm>
                        <a:off x="1056" y="1440"/>
                        <a:ext cx="0" cy="336"/>
                      </a:xfrm>
                      <a:prstGeom prst="line">
                        <a:avLst/>
                      </a:prstGeom>
                      <a:noFill/>
                      <a:ln w="9525">
                        <a:solidFill>
                          <a:schemeClr val="tx1"/>
                        </a:solidFill>
                        <a:round/>
                        <a:headEnd/>
                        <a:tailEnd/>
                      </a:ln>
                    </p:spPr>
                    <p:txBody>
                      <a:bodyPr wrap="none" anchor="ctr"/>
                      <a:lstStyle/>
                      <a:p>
                        <a:endParaRPr lang="zh-CN" altLang="en-US"/>
                      </a:p>
                    </p:txBody>
                  </p:sp>
                  <p:sp>
                    <p:nvSpPr>
                      <p:cNvPr id="18469" name="Line 45"/>
                      <p:cNvSpPr>
                        <a:spLocks noChangeShapeType="1"/>
                      </p:cNvSpPr>
                      <p:nvPr/>
                    </p:nvSpPr>
                    <p:spPr bwMode="auto">
                      <a:xfrm flipH="1">
                        <a:off x="336" y="1776"/>
                        <a:ext cx="720" cy="0"/>
                      </a:xfrm>
                      <a:prstGeom prst="line">
                        <a:avLst/>
                      </a:prstGeom>
                      <a:noFill/>
                      <a:ln w="9525">
                        <a:solidFill>
                          <a:schemeClr val="tx1"/>
                        </a:solidFill>
                        <a:round/>
                        <a:headEnd/>
                        <a:tailEnd/>
                      </a:ln>
                    </p:spPr>
                    <p:txBody>
                      <a:bodyPr wrap="none" anchor="ctr"/>
                      <a:lstStyle/>
                      <a:p>
                        <a:endParaRPr lang="zh-CN" altLang="en-US"/>
                      </a:p>
                    </p:txBody>
                  </p:sp>
                  <p:sp>
                    <p:nvSpPr>
                      <p:cNvPr id="18470" name="Line 46"/>
                      <p:cNvSpPr>
                        <a:spLocks noChangeShapeType="1"/>
                      </p:cNvSpPr>
                      <p:nvPr/>
                    </p:nvSpPr>
                    <p:spPr bwMode="auto">
                      <a:xfrm flipV="1">
                        <a:off x="336" y="1440"/>
                        <a:ext cx="0" cy="336"/>
                      </a:xfrm>
                      <a:prstGeom prst="line">
                        <a:avLst/>
                      </a:prstGeom>
                      <a:noFill/>
                      <a:ln w="9525">
                        <a:solidFill>
                          <a:schemeClr val="tx1"/>
                        </a:solidFill>
                        <a:round/>
                        <a:headEnd/>
                        <a:tailEnd/>
                      </a:ln>
                    </p:spPr>
                    <p:txBody>
                      <a:bodyPr wrap="none" anchor="ctr"/>
                      <a:lstStyle/>
                      <a:p>
                        <a:endParaRPr lang="zh-CN" altLang="en-US"/>
                      </a:p>
                    </p:txBody>
                  </p:sp>
                  <p:sp>
                    <p:nvSpPr>
                      <p:cNvPr id="18471" name="Line 47"/>
                      <p:cNvSpPr>
                        <a:spLocks noChangeShapeType="1"/>
                      </p:cNvSpPr>
                      <p:nvPr/>
                    </p:nvSpPr>
                    <p:spPr bwMode="auto">
                      <a:xfrm>
                        <a:off x="720" y="1632"/>
                        <a:ext cx="624" cy="0"/>
                      </a:xfrm>
                      <a:prstGeom prst="line">
                        <a:avLst/>
                      </a:prstGeom>
                      <a:noFill/>
                      <a:ln w="28575">
                        <a:solidFill>
                          <a:srgbClr val="FF3300"/>
                        </a:solidFill>
                        <a:round/>
                        <a:headEnd/>
                        <a:tailEnd type="triangle" w="med" len="med"/>
                      </a:ln>
                    </p:spPr>
                    <p:txBody>
                      <a:bodyPr wrap="none" anchor="ctr"/>
                      <a:lstStyle/>
                      <a:p>
                        <a:endParaRPr lang="zh-CN" altLang="en-US"/>
                      </a:p>
                    </p:txBody>
                  </p:sp>
                  <p:sp>
                    <p:nvSpPr>
                      <p:cNvPr id="18472" name="Line 48"/>
                      <p:cNvSpPr>
                        <a:spLocks noChangeShapeType="1"/>
                      </p:cNvSpPr>
                      <p:nvPr/>
                    </p:nvSpPr>
                    <p:spPr bwMode="auto">
                      <a:xfrm>
                        <a:off x="1488" y="1440"/>
                        <a:ext cx="672" cy="0"/>
                      </a:xfrm>
                      <a:prstGeom prst="line">
                        <a:avLst/>
                      </a:prstGeom>
                      <a:noFill/>
                      <a:ln w="9525">
                        <a:solidFill>
                          <a:schemeClr val="tx1"/>
                        </a:solidFill>
                        <a:round/>
                        <a:headEnd/>
                        <a:tailEnd/>
                      </a:ln>
                    </p:spPr>
                    <p:txBody>
                      <a:bodyPr wrap="none" anchor="ctr"/>
                      <a:lstStyle/>
                      <a:p>
                        <a:endParaRPr lang="zh-CN" altLang="en-US"/>
                      </a:p>
                    </p:txBody>
                  </p:sp>
                  <p:sp>
                    <p:nvSpPr>
                      <p:cNvPr id="18473" name="Line 49"/>
                      <p:cNvSpPr>
                        <a:spLocks noChangeShapeType="1"/>
                      </p:cNvSpPr>
                      <p:nvPr/>
                    </p:nvSpPr>
                    <p:spPr bwMode="auto">
                      <a:xfrm>
                        <a:off x="2160" y="1440"/>
                        <a:ext cx="0" cy="384"/>
                      </a:xfrm>
                      <a:prstGeom prst="line">
                        <a:avLst/>
                      </a:prstGeom>
                      <a:noFill/>
                      <a:ln w="9525">
                        <a:solidFill>
                          <a:schemeClr val="tx1"/>
                        </a:solidFill>
                        <a:round/>
                        <a:headEnd/>
                        <a:tailEnd/>
                      </a:ln>
                    </p:spPr>
                    <p:txBody>
                      <a:bodyPr wrap="none" anchor="ctr"/>
                      <a:lstStyle/>
                      <a:p>
                        <a:endParaRPr lang="zh-CN" altLang="en-US"/>
                      </a:p>
                    </p:txBody>
                  </p:sp>
                  <p:sp>
                    <p:nvSpPr>
                      <p:cNvPr id="18474" name="Line 50"/>
                      <p:cNvSpPr>
                        <a:spLocks noChangeShapeType="1"/>
                      </p:cNvSpPr>
                      <p:nvPr/>
                    </p:nvSpPr>
                    <p:spPr bwMode="auto">
                      <a:xfrm flipH="1">
                        <a:off x="1488" y="1824"/>
                        <a:ext cx="672" cy="0"/>
                      </a:xfrm>
                      <a:prstGeom prst="line">
                        <a:avLst/>
                      </a:prstGeom>
                      <a:noFill/>
                      <a:ln w="9525">
                        <a:solidFill>
                          <a:schemeClr val="tx1"/>
                        </a:solidFill>
                        <a:round/>
                        <a:headEnd/>
                        <a:tailEnd/>
                      </a:ln>
                    </p:spPr>
                    <p:txBody>
                      <a:bodyPr wrap="none" anchor="ctr"/>
                      <a:lstStyle/>
                      <a:p>
                        <a:endParaRPr lang="zh-CN" altLang="en-US"/>
                      </a:p>
                    </p:txBody>
                  </p:sp>
                  <p:sp>
                    <p:nvSpPr>
                      <p:cNvPr id="18475" name="Line 51"/>
                      <p:cNvSpPr>
                        <a:spLocks noChangeShapeType="1"/>
                      </p:cNvSpPr>
                      <p:nvPr/>
                    </p:nvSpPr>
                    <p:spPr bwMode="auto">
                      <a:xfrm flipV="1">
                        <a:off x="1488" y="1440"/>
                        <a:ext cx="0" cy="384"/>
                      </a:xfrm>
                      <a:prstGeom prst="line">
                        <a:avLst/>
                      </a:prstGeom>
                      <a:noFill/>
                      <a:ln w="9525">
                        <a:solidFill>
                          <a:schemeClr val="tx1"/>
                        </a:solidFill>
                        <a:round/>
                        <a:headEnd/>
                        <a:tailEnd/>
                      </a:ln>
                    </p:spPr>
                    <p:txBody>
                      <a:bodyPr wrap="none" anchor="ctr"/>
                      <a:lstStyle/>
                      <a:p>
                        <a:endParaRPr lang="zh-CN" altLang="en-US"/>
                      </a:p>
                    </p:txBody>
                  </p:sp>
                </p:grpSp>
                <p:sp>
                  <p:nvSpPr>
                    <p:cNvPr id="18466" name="Text Box 52"/>
                    <p:cNvSpPr txBox="1">
                      <a:spLocks noChangeArrowheads="1"/>
                    </p:cNvSpPr>
                    <p:nvPr/>
                  </p:nvSpPr>
                  <p:spPr bwMode="auto">
                    <a:xfrm>
                      <a:off x="1622" y="1463"/>
                      <a:ext cx="396" cy="231"/>
                    </a:xfrm>
                    <a:prstGeom prst="rect">
                      <a:avLst/>
                    </a:prstGeom>
                    <a:noFill/>
                    <a:ln w="9525">
                      <a:noFill/>
                      <a:miter lim="800000"/>
                      <a:headEnd/>
                      <a:tailEnd/>
                    </a:ln>
                  </p:spPr>
                  <p:txBody>
                    <a:bodyPr wrap="none">
                      <a:spAutoFit/>
                    </a:bodyPr>
                    <a:lstStyle/>
                    <a:p>
                      <a:r>
                        <a:rPr lang="en-US" altLang="zh-CN" b="1"/>
                        <a:t> 100</a:t>
                      </a:r>
                    </a:p>
                  </p:txBody>
                </p:sp>
              </p:grpSp>
              <p:sp>
                <p:nvSpPr>
                  <p:cNvPr id="18463" name="Text Box 53"/>
                  <p:cNvSpPr txBox="1">
                    <a:spLocks noChangeArrowheads="1"/>
                  </p:cNvSpPr>
                  <p:nvPr/>
                </p:nvSpPr>
                <p:spPr bwMode="auto">
                  <a:xfrm>
                    <a:off x="614" y="1609"/>
                    <a:ext cx="346" cy="288"/>
                  </a:xfrm>
                  <a:prstGeom prst="rect">
                    <a:avLst/>
                  </a:prstGeom>
                  <a:noFill/>
                  <a:ln w="9525">
                    <a:noFill/>
                    <a:miter lim="800000"/>
                    <a:headEnd/>
                    <a:tailEnd/>
                  </a:ln>
                </p:spPr>
                <p:txBody>
                  <a:bodyPr>
                    <a:spAutoFit/>
                  </a:bodyPr>
                  <a:lstStyle/>
                  <a:p>
                    <a:r>
                      <a:rPr lang="en-US" altLang="zh-CN" sz="2400" b="1"/>
                      <a:t>ip</a:t>
                    </a:r>
                  </a:p>
                </p:txBody>
              </p:sp>
              <p:sp>
                <p:nvSpPr>
                  <p:cNvPr id="18464" name="Text Box 54"/>
                  <p:cNvSpPr txBox="1">
                    <a:spLocks noChangeArrowheads="1"/>
                  </p:cNvSpPr>
                  <p:nvPr/>
                </p:nvSpPr>
                <p:spPr bwMode="auto">
                  <a:xfrm>
                    <a:off x="1670" y="1632"/>
                    <a:ext cx="346" cy="288"/>
                  </a:xfrm>
                  <a:prstGeom prst="rect">
                    <a:avLst/>
                  </a:prstGeom>
                  <a:noFill/>
                  <a:ln w="9525">
                    <a:noFill/>
                    <a:miter lim="800000"/>
                    <a:headEnd/>
                    <a:tailEnd/>
                  </a:ln>
                </p:spPr>
                <p:txBody>
                  <a:bodyPr>
                    <a:spAutoFit/>
                  </a:bodyPr>
                  <a:lstStyle/>
                  <a:p>
                    <a:pPr algn="ctr"/>
                    <a:r>
                      <a:rPr lang="en-US" altLang="zh-CN" sz="2400" b="1"/>
                      <a:t>i</a:t>
                    </a:r>
                  </a:p>
                </p:txBody>
              </p:sp>
            </p:grpSp>
            <p:grpSp>
              <p:nvGrpSpPr>
                <p:cNvPr id="18444" name="Group 55"/>
                <p:cNvGrpSpPr>
                  <a:grpSpLocks/>
                </p:cNvGrpSpPr>
                <p:nvPr/>
              </p:nvGrpSpPr>
              <p:grpSpPr bwMode="auto">
                <a:xfrm>
                  <a:off x="2688" y="2208"/>
                  <a:ext cx="1728" cy="960"/>
                  <a:chOff x="2688" y="2208"/>
                  <a:chExt cx="1728" cy="960"/>
                </a:xfrm>
              </p:grpSpPr>
              <p:grpSp>
                <p:nvGrpSpPr>
                  <p:cNvPr id="18445" name="Group 56"/>
                  <p:cNvGrpSpPr>
                    <a:grpSpLocks/>
                  </p:cNvGrpSpPr>
                  <p:nvPr/>
                </p:nvGrpSpPr>
                <p:grpSpPr bwMode="auto">
                  <a:xfrm>
                    <a:off x="3009" y="2208"/>
                    <a:ext cx="735" cy="816"/>
                    <a:chOff x="3009" y="2208"/>
                    <a:chExt cx="735" cy="816"/>
                  </a:xfrm>
                </p:grpSpPr>
                <p:sp>
                  <p:nvSpPr>
                    <p:cNvPr id="18460" name="Line 57"/>
                    <p:cNvSpPr>
                      <a:spLocks noChangeShapeType="1"/>
                    </p:cNvSpPr>
                    <p:nvPr/>
                  </p:nvSpPr>
                  <p:spPr bwMode="auto">
                    <a:xfrm flipV="1">
                      <a:off x="3600" y="2208"/>
                      <a:ext cx="144" cy="816"/>
                    </a:xfrm>
                    <a:prstGeom prst="line">
                      <a:avLst/>
                    </a:prstGeom>
                    <a:noFill/>
                    <a:ln w="28575">
                      <a:solidFill>
                        <a:srgbClr val="FF3300"/>
                      </a:solidFill>
                      <a:round/>
                      <a:headEnd/>
                      <a:tailEnd type="arrow" w="med" len="med"/>
                    </a:ln>
                  </p:spPr>
                  <p:txBody>
                    <a:bodyPr wrap="none" anchor="ctr"/>
                    <a:lstStyle/>
                    <a:p>
                      <a:endParaRPr lang="zh-CN" altLang="en-US"/>
                    </a:p>
                  </p:txBody>
                </p:sp>
                <p:sp>
                  <p:nvSpPr>
                    <p:cNvPr id="18461" name="Line 58"/>
                    <p:cNvSpPr>
                      <a:spLocks noChangeShapeType="1"/>
                    </p:cNvSpPr>
                    <p:nvPr/>
                  </p:nvSpPr>
                  <p:spPr bwMode="auto">
                    <a:xfrm>
                      <a:off x="3009" y="3022"/>
                      <a:ext cx="591" cy="0"/>
                    </a:xfrm>
                    <a:prstGeom prst="line">
                      <a:avLst/>
                    </a:prstGeom>
                    <a:noFill/>
                    <a:ln w="28575">
                      <a:solidFill>
                        <a:srgbClr val="FF3300"/>
                      </a:solidFill>
                      <a:round/>
                      <a:headEnd/>
                      <a:tailEnd/>
                    </a:ln>
                  </p:spPr>
                  <p:txBody>
                    <a:bodyPr wrap="none" anchor="ctr"/>
                    <a:lstStyle/>
                    <a:p>
                      <a:endParaRPr lang="zh-CN" altLang="en-US"/>
                    </a:p>
                  </p:txBody>
                </p:sp>
              </p:grpSp>
              <p:grpSp>
                <p:nvGrpSpPr>
                  <p:cNvPr id="18446" name="Group 59"/>
                  <p:cNvGrpSpPr>
                    <a:grpSpLocks/>
                  </p:cNvGrpSpPr>
                  <p:nvPr/>
                </p:nvGrpSpPr>
                <p:grpSpPr bwMode="auto">
                  <a:xfrm>
                    <a:off x="2688" y="2567"/>
                    <a:ext cx="1728" cy="601"/>
                    <a:chOff x="2688" y="2567"/>
                    <a:chExt cx="1728" cy="601"/>
                  </a:xfrm>
                </p:grpSpPr>
                <p:grpSp>
                  <p:nvGrpSpPr>
                    <p:cNvPr id="18447" name="Group 60"/>
                    <p:cNvGrpSpPr>
                      <a:grpSpLocks/>
                    </p:cNvGrpSpPr>
                    <p:nvPr/>
                  </p:nvGrpSpPr>
                  <p:grpSpPr bwMode="auto">
                    <a:xfrm>
                      <a:off x="2688" y="2880"/>
                      <a:ext cx="682" cy="252"/>
                      <a:chOff x="2688" y="2878"/>
                      <a:chExt cx="682" cy="252"/>
                    </a:xfrm>
                  </p:grpSpPr>
                  <p:sp>
                    <p:nvSpPr>
                      <p:cNvPr id="18456" name="Line 61"/>
                      <p:cNvSpPr>
                        <a:spLocks noChangeShapeType="1"/>
                      </p:cNvSpPr>
                      <p:nvPr/>
                    </p:nvSpPr>
                    <p:spPr bwMode="auto">
                      <a:xfrm>
                        <a:off x="2688" y="2878"/>
                        <a:ext cx="682" cy="0"/>
                      </a:xfrm>
                      <a:prstGeom prst="line">
                        <a:avLst/>
                      </a:prstGeom>
                      <a:noFill/>
                      <a:ln w="9525">
                        <a:solidFill>
                          <a:schemeClr val="tx1"/>
                        </a:solidFill>
                        <a:round/>
                        <a:headEnd/>
                        <a:tailEnd/>
                      </a:ln>
                    </p:spPr>
                    <p:txBody>
                      <a:bodyPr wrap="none" anchor="ctr"/>
                      <a:lstStyle/>
                      <a:p>
                        <a:endParaRPr lang="zh-CN" altLang="en-US"/>
                      </a:p>
                    </p:txBody>
                  </p:sp>
                  <p:sp>
                    <p:nvSpPr>
                      <p:cNvPr id="18457" name="Line 62"/>
                      <p:cNvSpPr>
                        <a:spLocks noChangeShapeType="1"/>
                      </p:cNvSpPr>
                      <p:nvPr/>
                    </p:nvSpPr>
                    <p:spPr bwMode="auto">
                      <a:xfrm>
                        <a:off x="3370" y="2878"/>
                        <a:ext cx="0" cy="252"/>
                      </a:xfrm>
                      <a:prstGeom prst="line">
                        <a:avLst/>
                      </a:prstGeom>
                      <a:noFill/>
                      <a:ln w="9525">
                        <a:solidFill>
                          <a:schemeClr val="tx1"/>
                        </a:solidFill>
                        <a:round/>
                        <a:headEnd/>
                        <a:tailEnd/>
                      </a:ln>
                    </p:spPr>
                    <p:txBody>
                      <a:bodyPr wrap="none" anchor="ctr"/>
                      <a:lstStyle/>
                      <a:p>
                        <a:endParaRPr lang="zh-CN" altLang="en-US"/>
                      </a:p>
                    </p:txBody>
                  </p:sp>
                  <p:sp>
                    <p:nvSpPr>
                      <p:cNvPr id="18458" name="Line 63"/>
                      <p:cNvSpPr>
                        <a:spLocks noChangeShapeType="1"/>
                      </p:cNvSpPr>
                      <p:nvPr/>
                    </p:nvSpPr>
                    <p:spPr bwMode="auto">
                      <a:xfrm flipH="1">
                        <a:off x="2688" y="3130"/>
                        <a:ext cx="682" cy="0"/>
                      </a:xfrm>
                      <a:prstGeom prst="line">
                        <a:avLst/>
                      </a:prstGeom>
                      <a:noFill/>
                      <a:ln w="9525">
                        <a:solidFill>
                          <a:schemeClr val="tx1"/>
                        </a:solidFill>
                        <a:round/>
                        <a:headEnd/>
                        <a:tailEnd/>
                      </a:ln>
                    </p:spPr>
                    <p:txBody>
                      <a:bodyPr wrap="none" anchor="ctr"/>
                      <a:lstStyle/>
                      <a:p>
                        <a:endParaRPr lang="zh-CN" altLang="en-US"/>
                      </a:p>
                    </p:txBody>
                  </p:sp>
                  <p:sp>
                    <p:nvSpPr>
                      <p:cNvPr id="18459" name="Line 64"/>
                      <p:cNvSpPr>
                        <a:spLocks noChangeShapeType="1"/>
                      </p:cNvSpPr>
                      <p:nvPr/>
                    </p:nvSpPr>
                    <p:spPr bwMode="auto">
                      <a:xfrm flipV="1">
                        <a:off x="2688" y="2878"/>
                        <a:ext cx="0" cy="252"/>
                      </a:xfrm>
                      <a:prstGeom prst="line">
                        <a:avLst/>
                      </a:prstGeom>
                      <a:noFill/>
                      <a:ln w="9525">
                        <a:solidFill>
                          <a:schemeClr val="tx1"/>
                        </a:solidFill>
                        <a:round/>
                        <a:headEnd/>
                        <a:tailEnd/>
                      </a:ln>
                    </p:spPr>
                    <p:txBody>
                      <a:bodyPr wrap="none" anchor="ctr"/>
                      <a:lstStyle/>
                      <a:p>
                        <a:endParaRPr lang="zh-CN" altLang="en-US"/>
                      </a:p>
                    </p:txBody>
                  </p:sp>
                </p:grpSp>
                <p:grpSp>
                  <p:nvGrpSpPr>
                    <p:cNvPr id="18448" name="Group 65"/>
                    <p:cNvGrpSpPr>
                      <a:grpSpLocks/>
                    </p:cNvGrpSpPr>
                    <p:nvPr/>
                  </p:nvGrpSpPr>
                  <p:grpSpPr bwMode="auto">
                    <a:xfrm>
                      <a:off x="3779" y="2880"/>
                      <a:ext cx="637" cy="288"/>
                      <a:chOff x="3779" y="2878"/>
                      <a:chExt cx="637" cy="288"/>
                    </a:xfrm>
                  </p:grpSpPr>
                  <p:sp>
                    <p:nvSpPr>
                      <p:cNvPr id="18451" name="Line 66"/>
                      <p:cNvSpPr>
                        <a:spLocks noChangeShapeType="1"/>
                      </p:cNvSpPr>
                      <p:nvPr/>
                    </p:nvSpPr>
                    <p:spPr bwMode="auto">
                      <a:xfrm>
                        <a:off x="3779" y="2878"/>
                        <a:ext cx="637" cy="0"/>
                      </a:xfrm>
                      <a:prstGeom prst="line">
                        <a:avLst/>
                      </a:prstGeom>
                      <a:noFill/>
                      <a:ln w="9525">
                        <a:solidFill>
                          <a:schemeClr val="tx1"/>
                        </a:solidFill>
                        <a:round/>
                        <a:headEnd/>
                        <a:tailEnd/>
                      </a:ln>
                    </p:spPr>
                    <p:txBody>
                      <a:bodyPr wrap="none" anchor="ctr"/>
                      <a:lstStyle/>
                      <a:p>
                        <a:endParaRPr lang="zh-CN" altLang="en-US"/>
                      </a:p>
                    </p:txBody>
                  </p:sp>
                  <p:sp>
                    <p:nvSpPr>
                      <p:cNvPr id="18452" name="Line 67"/>
                      <p:cNvSpPr>
                        <a:spLocks noChangeShapeType="1"/>
                      </p:cNvSpPr>
                      <p:nvPr/>
                    </p:nvSpPr>
                    <p:spPr bwMode="auto">
                      <a:xfrm>
                        <a:off x="4416" y="2878"/>
                        <a:ext cx="0" cy="288"/>
                      </a:xfrm>
                      <a:prstGeom prst="line">
                        <a:avLst/>
                      </a:prstGeom>
                      <a:noFill/>
                      <a:ln w="9525">
                        <a:solidFill>
                          <a:schemeClr val="tx1"/>
                        </a:solidFill>
                        <a:round/>
                        <a:headEnd/>
                        <a:tailEnd/>
                      </a:ln>
                    </p:spPr>
                    <p:txBody>
                      <a:bodyPr wrap="none" anchor="ctr"/>
                      <a:lstStyle/>
                      <a:p>
                        <a:endParaRPr lang="zh-CN" altLang="en-US"/>
                      </a:p>
                    </p:txBody>
                  </p:sp>
                  <p:sp>
                    <p:nvSpPr>
                      <p:cNvPr id="18453" name="Line 68"/>
                      <p:cNvSpPr>
                        <a:spLocks noChangeShapeType="1"/>
                      </p:cNvSpPr>
                      <p:nvPr/>
                    </p:nvSpPr>
                    <p:spPr bwMode="auto">
                      <a:xfrm flipH="1">
                        <a:off x="3779" y="3166"/>
                        <a:ext cx="637" cy="0"/>
                      </a:xfrm>
                      <a:prstGeom prst="line">
                        <a:avLst/>
                      </a:prstGeom>
                      <a:noFill/>
                      <a:ln w="9525">
                        <a:solidFill>
                          <a:schemeClr val="tx1"/>
                        </a:solidFill>
                        <a:round/>
                        <a:headEnd/>
                        <a:tailEnd/>
                      </a:ln>
                    </p:spPr>
                    <p:txBody>
                      <a:bodyPr wrap="none" anchor="ctr"/>
                      <a:lstStyle/>
                      <a:p>
                        <a:endParaRPr lang="zh-CN" altLang="en-US"/>
                      </a:p>
                    </p:txBody>
                  </p:sp>
                  <p:sp>
                    <p:nvSpPr>
                      <p:cNvPr id="18454" name="Line 69"/>
                      <p:cNvSpPr>
                        <a:spLocks noChangeShapeType="1"/>
                      </p:cNvSpPr>
                      <p:nvPr/>
                    </p:nvSpPr>
                    <p:spPr bwMode="auto">
                      <a:xfrm flipV="1">
                        <a:off x="3779" y="2878"/>
                        <a:ext cx="0" cy="288"/>
                      </a:xfrm>
                      <a:prstGeom prst="line">
                        <a:avLst/>
                      </a:prstGeom>
                      <a:noFill/>
                      <a:ln w="9525">
                        <a:solidFill>
                          <a:schemeClr val="tx1"/>
                        </a:solidFill>
                        <a:round/>
                        <a:headEnd/>
                        <a:tailEnd/>
                      </a:ln>
                    </p:spPr>
                    <p:txBody>
                      <a:bodyPr wrap="none" anchor="ctr"/>
                      <a:lstStyle/>
                      <a:p>
                        <a:endParaRPr lang="zh-CN" altLang="en-US"/>
                      </a:p>
                    </p:txBody>
                  </p:sp>
                  <p:sp>
                    <p:nvSpPr>
                      <p:cNvPr id="18455" name="Text Box 70"/>
                      <p:cNvSpPr txBox="1">
                        <a:spLocks noChangeArrowheads="1"/>
                      </p:cNvSpPr>
                      <p:nvPr/>
                    </p:nvSpPr>
                    <p:spPr bwMode="auto">
                      <a:xfrm>
                        <a:off x="3878" y="2901"/>
                        <a:ext cx="396" cy="231"/>
                      </a:xfrm>
                      <a:prstGeom prst="rect">
                        <a:avLst/>
                      </a:prstGeom>
                      <a:noFill/>
                      <a:ln w="9525">
                        <a:noFill/>
                        <a:miter lim="800000"/>
                        <a:headEnd/>
                        <a:tailEnd/>
                      </a:ln>
                    </p:spPr>
                    <p:txBody>
                      <a:bodyPr wrap="none">
                        <a:spAutoFit/>
                      </a:bodyPr>
                      <a:lstStyle/>
                      <a:p>
                        <a:r>
                          <a:rPr lang="en-US" altLang="zh-CN" b="1"/>
                          <a:t> 200</a:t>
                        </a:r>
                      </a:p>
                    </p:txBody>
                  </p:sp>
                </p:grpSp>
                <p:sp>
                  <p:nvSpPr>
                    <p:cNvPr id="18449" name="Text Box 71"/>
                    <p:cNvSpPr txBox="1">
                      <a:spLocks noChangeArrowheads="1"/>
                    </p:cNvSpPr>
                    <p:nvPr/>
                  </p:nvSpPr>
                  <p:spPr bwMode="auto">
                    <a:xfrm>
                      <a:off x="2736" y="2567"/>
                      <a:ext cx="576" cy="288"/>
                    </a:xfrm>
                    <a:prstGeom prst="rect">
                      <a:avLst/>
                    </a:prstGeom>
                    <a:noFill/>
                    <a:ln w="9525">
                      <a:noFill/>
                      <a:miter lim="800000"/>
                      <a:headEnd/>
                      <a:tailEnd/>
                    </a:ln>
                  </p:spPr>
                  <p:txBody>
                    <a:bodyPr>
                      <a:spAutoFit/>
                    </a:bodyPr>
                    <a:lstStyle/>
                    <a:p>
                      <a:r>
                        <a:rPr lang="en-US" altLang="zh-CN" sz="2400" b="1"/>
                        <a:t>intpt</a:t>
                      </a:r>
                    </a:p>
                  </p:txBody>
                </p:sp>
                <p:sp>
                  <p:nvSpPr>
                    <p:cNvPr id="18450" name="Text Box 72"/>
                    <p:cNvSpPr txBox="1">
                      <a:spLocks noChangeArrowheads="1"/>
                    </p:cNvSpPr>
                    <p:nvPr/>
                  </p:nvSpPr>
                  <p:spPr bwMode="auto">
                    <a:xfrm>
                      <a:off x="3926" y="2590"/>
                      <a:ext cx="346" cy="288"/>
                    </a:xfrm>
                    <a:prstGeom prst="rect">
                      <a:avLst/>
                    </a:prstGeom>
                    <a:noFill/>
                    <a:ln w="9525">
                      <a:noFill/>
                      <a:miter lim="800000"/>
                      <a:headEnd/>
                      <a:tailEnd/>
                    </a:ln>
                  </p:spPr>
                  <p:txBody>
                    <a:bodyPr>
                      <a:spAutoFit/>
                    </a:bodyPr>
                    <a:lstStyle/>
                    <a:p>
                      <a:pPr algn="ctr"/>
                      <a:r>
                        <a:rPr lang="en-US" altLang="zh-CN" sz="2400" b="1"/>
                        <a:t>j</a:t>
                      </a:r>
                    </a:p>
                  </p:txBody>
                </p:sp>
              </p:grpSp>
            </p:grpSp>
          </p:grpSp>
        </p:grpSp>
        <p:sp>
          <p:nvSpPr>
            <p:cNvPr id="18439" name="Rectangle 73"/>
            <p:cNvSpPr>
              <a:spLocks noChangeArrowheads="1"/>
            </p:cNvSpPr>
            <p:nvPr/>
          </p:nvSpPr>
          <p:spPr bwMode="auto">
            <a:xfrm>
              <a:off x="816" y="3504"/>
              <a:ext cx="3856" cy="642"/>
            </a:xfrm>
            <a:prstGeom prst="rect">
              <a:avLst/>
            </a:prstGeom>
            <a:noFill/>
            <a:ln w="9525">
              <a:noFill/>
              <a:miter lim="800000"/>
              <a:headEnd/>
              <a:tailEnd/>
            </a:ln>
          </p:spPr>
          <p:txBody>
            <a:bodyPr>
              <a:spAutoFit/>
            </a:bodyPr>
            <a:lstStyle/>
            <a:p>
              <a:pPr>
                <a:lnSpc>
                  <a:spcPct val="90000"/>
                </a:lnSpc>
                <a:spcBef>
                  <a:spcPct val="50000"/>
                </a:spcBef>
                <a:buClr>
                  <a:schemeClr val="hlink"/>
                </a:buClr>
                <a:buSzPct val="50000"/>
                <a:buFont typeface="Monotype Sorts" pitchFamily="2" charset="2"/>
                <a:buNone/>
              </a:pPr>
              <a:r>
                <a:rPr kumimoji="1" lang="en-US" altLang="zh-CN" sz="2400" b="1">
                  <a:latin typeface="Times New Roman" charset="0"/>
                </a:rPr>
                <a:t>(a) </a:t>
              </a:r>
              <a:r>
                <a:rPr kumimoji="1" lang="zh-CN" altLang="en-US" sz="2400" b="1">
                  <a:latin typeface="Times New Roman" charset="0"/>
                </a:rPr>
                <a:t>赋值前                 		</a:t>
              </a:r>
              <a:r>
                <a:rPr kumimoji="1" lang="en-US" altLang="zh-CN" sz="2400" b="1">
                  <a:latin typeface="Times New Roman" charset="0"/>
                </a:rPr>
                <a:t>(b) </a:t>
              </a:r>
              <a:r>
                <a:rPr kumimoji="1" lang="zh-CN" altLang="en-US" sz="2400" b="1">
                  <a:latin typeface="Times New Roman" charset="0"/>
                </a:rPr>
                <a:t>赋值后  </a:t>
              </a:r>
            </a:p>
            <a:p>
              <a:pPr>
                <a:lnSpc>
                  <a:spcPct val="90000"/>
                </a:lnSpc>
                <a:spcBef>
                  <a:spcPct val="50000"/>
                </a:spcBef>
                <a:buClr>
                  <a:schemeClr val="hlink"/>
                </a:buClr>
                <a:buSzPct val="50000"/>
                <a:buFont typeface="Monotype Sorts" pitchFamily="2" charset="2"/>
                <a:buNone/>
              </a:pPr>
              <a:r>
                <a:rPr kumimoji="1" lang="zh-CN" altLang="en-US" sz="2800" b="1">
                  <a:solidFill>
                    <a:srgbClr val="0000CC"/>
                  </a:solidFill>
                  <a:latin typeface="宋体" charset="-122"/>
                </a:rPr>
                <a:t>      指针变量之间赋值</a:t>
              </a:r>
            </a:p>
          </p:txBody>
        </p:sp>
      </p:grpSp>
      <p:sp>
        <p:nvSpPr>
          <p:cNvPr id="18436" name="TextBox 75"/>
          <p:cNvSpPr txBox="1">
            <a:spLocks noChangeArrowheads="1"/>
          </p:cNvSpPr>
          <p:nvPr/>
        </p:nvSpPr>
        <p:spPr bwMode="auto">
          <a:xfrm>
            <a:off x="928688" y="714375"/>
            <a:ext cx="4133850" cy="523875"/>
          </a:xfrm>
          <a:prstGeom prst="rect">
            <a:avLst/>
          </a:prstGeom>
          <a:noFill/>
          <a:ln w="9525">
            <a:noFill/>
            <a:miter lim="800000"/>
            <a:headEnd/>
            <a:tailEnd/>
          </a:ln>
        </p:spPr>
        <p:txBody>
          <a:bodyPr wrap="none">
            <a:spAutoFit/>
          </a:bodyPr>
          <a:lstStyle/>
          <a:p>
            <a:r>
              <a:rPr lang="zh-CN" altLang="en-US" sz="2800">
                <a:latin typeface="黑体" pitchFamily="2" charset="-122"/>
                <a:ea typeface="黑体" pitchFamily="2" charset="-122"/>
              </a:rPr>
              <a:t>指针变量之间赋值的示意</a:t>
            </a:r>
          </a:p>
        </p:txBody>
      </p:sp>
      <p:sp>
        <p:nvSpPr>
          <p:cNvPr id="73" name="Slide Number Placeholder 72"/>
          <p:cNvSpPr>
            <a:spLocks noGrp="1"/>
          </p:cNvSpPr>
          <p:nvPr>
            <p:ph type="sldNum" sz="quarter" idx="12"/>
          </p:nvPr>
        </p:nvSpPr>
        <p:spPr/>
        <p:txBody>
          <a:bodyPr/>
          <a:lstStyle/>
          <a:p>
            <a:pPr>
              <a:defRPr/>
            </a:pPr>
            <a:fld id="{5C2055E3-17CE-4E01-A75C-7E77D7EC7B1F}" type="slidenum">
              <a:rPr lang="en-US" altLang="zh-CN"/>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4"/>
          <p:cNvSpPr>
            <a:spLocks noGrp="1" noChangeArrowheads="1"/>
          </p:cNvSpPr>
          <p:nvPr>
            <p:ph idx="1"/>
          </p:nvPr>
        </p:nvSpPr>
        <p:spPr>
          <a:xfrm>
            <a:off x="838200" y="1600200"/>
            <a:ext cx="7696200" cy="914400"/>
          </a:xfrm>
        </p:spPr>
        <p:txBody>
          <a:bodyPr>
            <a:normAutofit fontScale="92500" lnSpcReduction="10000"/>
          </a:bodyPr>
          <a:lstStyle/>
          <a:p>
            <a:pPr marL="274320" indent="-274320" eaLnBrk="1" fontAlgn="auto" hangingPunct="1">
              <a:spcAft>
                <a:spcPts val="0"/>
              </a:spcAft>
              <a:buClr>
                <a:schemeClr val="accent3"/>
              </a:buClr>
              <a:buFontTx/>
              <a:buNone/>
              <a:defRPr/>
            </a:pPr>
            <a:r>
              <a:rPr lang="zh-CN" altLang="en-US" sz="2800" b="1"/>
              <a:t>已知：</a:t>
            </a:r>
            <a:r>
              <a:rPr lang="en-US" altLang="zh-CN" sz="2800" b="1"/>
              <a:t>int i=100, j=200, *ip=&amp;i; *intpt=&amp;j;</a:t>
            </a:r>
          </a:p>
          <a:p>
            <a:pPr marL="274320" indent="-274320" eaLnBrk="1" fontAlgn="auto" hangingPunct="1">
              <a:spcAft>
                <a:spcPts val="0"/>
              </a:spcAft>
              <a:buClr>
                <a:schemeClr val="accent3"/>
              </a:buClr>
              <a:buFontTx/>
              <a:buNone/>
              <a:defRPr/>
            </a:pPr>
            <a:r>
              <a:rPr lang="zh-CN" altLang="en-US" sz="2800" b="1"/>
              <a:t>语句    *</a:t>
            </a:r>
            <a:r>
              <a:rPr lang="en-US" altLang="zh-CN" sz="2800" b="1"/>
              <a:t>intpt = *ip;        /* </a:t>
            </a:r>
            <a:r>
              <a:rPr lang="zh-CN" altLang="en-US" sz="2800" b="1"/>
              <a:t>等价 </a:t>
            </a:r>
            <a:r>
              <a:rPr lang="en-US" altLang="zh-CN" sz="2800" b="1"/>
              <a:t>j = i; */</a:t>
            </a:r>
          </a:p>
        </p:txBody>
      </p:sp>
      <p:grpSp>
        <p:nvGrpSpPr>
          <p:cNvPr id="19459" name="Group 5"/>
          <p:cNvGrpSpPr>
            <a:grpSpLocks/>
          </p:cNvGrpSpPr>
          <p:nvPr/>
        </p:nvGrpSpPr>
        <p:grpSpPr bwMode="auto">
          <a:xfrm>
            <a:off x="914400" y="2590800"/>
            <a:ext cx="6502400" cy="3990975"/>
            <a:chOff x="576" y="1632"/>
            <a:chExt cx="4096" cy="2514"/>
          </a:xfrm>
        </p:grpSpPr>
        <p:grpSp>
          <p:nvGrpSpPr>
            <p:cNvPr id="19462" name="Group 6"/>
            <p:cNvGrpSpPr>
              <a:grpSpLocks/>
            </p:cNvGrpSpPr>
            <p:nvPr/>
          </p:nvGrpSpPr>
          <p:grpSpPr bwMode="auto">
            <a:xfrm>
              <a:off x="576" y="1632"/>
              <a:ext cx="3984" cy="1776"/>
              <a:chOff x="576" y="1632"/>
              <a:chExt cx="3984" cy="1776"/>
            </a:xfrm>
          </p:grpSpPr>
          <p:sp>
            <p:nvSpPr>
              <p:cNvPr id="19464" name="Line 7"/>
              <p:cNvSpPr>
                <a:spLocks noChangeShapeType="1"/>
              </p:cNvSpPr>
              <p:nvPr/>
            </p:nvSpPr>
            <p:spPr bwMode="auto">
              <a:xfrm>
                <a:off x="2544" y="1728"/>
                <a:ext cx="0" cy="1680"/>
              </a:xfrm>
              <a:prstGeom prst="line">
                <a:avLst/>
              </a:prstGeom>
              <a:noFill/>
              <a:ln w="38100">
                <a:solidFill>
                  <a:srgbClr val="0000FF"/>
                </a:solidFill>
                <a:round/>
                <a:headEnd/>
                <a:tailEnd/>
              </a:ln>
            </p:spPr>
            <p:txBody>
              <a:bodyPr wrap="none" anchor="ctr"/>
              <a:lstStyle/>
              <a:p>
                <a:endParaRPr lang="zh-CN" altLang="en-US"/>
              </a:p>
            </p:txBody>
          </p:sp>
          <p:grpSp>
            <p:nvGrpSpPr>
              <p:cNvPr id="19465" name="Group 8"/>
              <p:cNvGrpSpPr>
                <a:grpSpLocks/>
              </p:cNvGrpSpPr>
              <p:nvPr/>
            </p:nvGrpSpPr>
            <p:grpSpPr bwMode="auto">
              <a:xfrm>
                <a:off x="576" y="1657"/>
                <a:ext cx="1728" cy="1582"/>
                <a:chOff x="432" y="1609"/>
                <a:chExt cx="1728" cy="1582"/>
              </a:xfrm>
            </p:grpSpPr>
            <p:grpSp>
              <p:nvGrpSpPr>
                <p:cNvPr id="19498" name="Group 9"/>
                <p:cNvGrpSpPr>
                  <a:grpSpLocks/>
                </p:cNvGrpSpPr>
                <p:nvPr/>
              </p:nvGrpSpPr>
              <p:grpSpPr bwMode="auto">
                <a:xfrm>
                  <a:off x="432" y="1609"/>
                  <a:ext cx="1728" cy="599"/>
                  <a:chOff x="432" y="1609"/>
                  <a:chExt cx="1728" cy="599"/>
                </a:xfrm>
              </p:grpSpPr>
              <p:grpSp>
                <p:nvGrpSpPr>
                  <p:cNvPr id="19514" name="Group 10"/>
                  <p:cNvGrpSpPr>
                    <a:grpSpLocks/>
                  </p:cNvGrpSpPr>
                  <p:nvPr/>
                </p:nvGrpSpPr>
                <p:grpSpPr bwMode="auto">
                  <a:xfrm>
                    <a:off x="432" y="1920"/>
                    <a:ext cx="1728" cy="288"/>
                    <a:chOff x="432" y="1440"/>
                    <a:chExt cx="1728" cy="288"/>
                  </a:xfrm>
                </p:grpSpPr>
                <p:grpSp>
                  <p:nvGrpSpPr>
                    <p:cNvPr id="19517" name="Group 11"/>
                    <p:cNvGrpSpPr>
                      <a:grpSpLocks/>
                    </p:cNvGrpSpPr>
                    <p:nvPr/>
                  </p:nvGrpSpPr>
                  <p:grpSpPr bwMode="auto">
                    <a:xfrm>
                      <a:off x="432" y="1440"/>
                      <a:ext cx="1728" cy="288"/>
                      <a:chOff x="336" y="1440"/>
                      <a:chExt cx="1824" cy="384"/>
                    </a:xfrm>
                  </p:grpSpPr>
                  <p:sp>
                    <p:nvSpPr>
                      <p:cNvPr id="19519" name="Line 12"/>
                      <p:cNvSpPr>
                        <a:spLocks noChangeShapeType="1"/>
                      </p:cNvSpPr>
                      <p:nvPr/>
                    </p:nvSpPr>
                    <p:spPr bwMode="auto">
                      <a:xfrm>
                        <a:off x="336" y="1440"/>
                        <a:ext cx="720" cy="0"/>
                      </a:xfrm>
                      <a:prstGeom prst="line">
                        <a:avLst/>
                      </a:prstGeom>
                      <a:noFill/>
                      <a:ln w="9525">
                        <a:solidFill>
                          <a:schemeClr val="tx1"/>
                        </a:solidFill>
                        <a:round/>
                        <a:headEnd/>
                        <a:tailEnd/>
                      </a:ln>
                    </p:spPr>
                    <p:txBody>
                      <a:bodyPr wrap="none" anchor="ctr"/>
                      <a:lstStyle/>
                      <a:p>
                        <a:endParaRPr lang="zh-CN" altLang="en-US"/>
                      </a:p>
                    </p:txBody>
                  </p:sp>
                  <p:sp>
                    <p:nvSpPr>
                      <p:cNvPr id="19520" name="Line 13"/>
                      <p:cNvSpPr>
                        <a:spLocks noChangeShapeType="1"/>
                      </p:cNvSpPr>
                      <p:nvPr/>
                    </p:nvSpPr>
                    <p:spPr bwMode="auto">
                      <a:xfrm>
                        <a:off x="1056" y="1440"/>
                        <a:ext cx="0" cy="336"/>
                      </a:xfrm>
                      <a:prstGeom prst="line">
                        <a:avLst/>
                      </a:prstGeom>
                      <a:noFill/>
                      <a:ln w="9525">
                        <a:solidFill>
                          <a:schemeClr val="tx1"/>
                        </a:solidFill>
                        <a:round/>
                        <a:headEnd/>
                        <a:tailEnd/>
                      </a:ln>
                    </p:spPr>
                    <p:txBody>
                      <a:bodyPr wrap="none" anchor="ctr"/>
                      <a:lstStyle/>
                      <a:p>
                        <a:endParaRPr lang="zh-CN" altLang="en-US"/>
                      </a:p>
                    </p:txBody>
                  </p:sp>
                  <p:sp>
                    <p:nvSpPr>
                      <p:cNvPr id="19521" name="Line 14"/>
                      <p:cNvSpPr>
                        <a:spLocks noChangeShapeType="1"/>
                      </p:cNvSpPr>
                      <p:nvPr/>
                    </p:nvSpPr>
                    <p:spPr bwMode="auto">
                      <a:xfrm flipH="1">
                        <a:off x="336" y="1776"/>
                        <a:ext cx="720" cy="0"/>
                      </a:xfrm>
                      <a:prstGeom prst="line">
                        <a:avLst/>
                      </a:prstGeom>
                      <a:noFill/>
                      <a:ln w="9525">
                        <a:solidFill>
                          <a:schemeClr val="tx1"/>
                        </a:solidFill>
                        <a:round/>
                        <a:headEnd/>
                        <a:tailEnd/>
                      </a:ln>
                    </p:spPr>
                    <p:txBody>
                      <a:bodyPr wrap="none" anchor="ctr"/>
                      <a:lstStyle/>
                      <a:p>
                        <a:endParaRPr lang="zh-CN" altLang="en-US"/>
                      </a:p>
                    </p:txBody>
                  </p:sp>
                  <p:sp>
                    <p:nvSpPr>
                      <p:cNvPr id="19522" name="Line 15"/>
                      <p:cNvSpPr>
                        <a:spLocks noChangeShapeType="1"/>
                      </p:cNvSpPr>
                      <p:nvPr/>
                    </p:nvSpPr>
                    <p:spPr bwMode="auto">
                      <a:xfrm flipV="1">
                        <a:off x="336" y="1440"/>
                        <a:ext cx="0" cy="336"/>
                      </a:xfrm>
                      <a:prstGeom prst="line">
                        <a:avLst/>
                      </a:prstGeom>
                      <a:noFill/>
                      <a:ln w="9525">
                        <a:solidFill>
                          <a:schemeClr val="tx1"/>
                        </a:solidFill>
                        <a:round/>
                        <a:headEnd/>
                        <a:tailEnd/>
                      </a:ln>
                    </p:spPr>
                    <p:txBody>
                      <a:bodyPr wrap="none" anchor="ctr"/>
                      <a:lstStyle/>
                      <a:p>
                        <a:endParaRPr lang="zh-CN" altLang="en-US"/>
                      </a:p>
                    </p:txBody>
                  </p:sp>
                  <p:sp>
                    <p:nvSpPr>
                      <p:cNvPr id="19523" name="Line 16"/>
                      <p:cNvSpPr>
                        <a:spLocks noChangeShapeType="1"/>
                      </p:cNvSpPr>
                      <p:nvPr/>
                    </p:nvSpPr>
                    <p:spPr bwMode="auto">
                      <a:xfrm>
                        <a:off x="720" y="1632"/>
                        <a:ext cx="624" cy="0"/>
                      </a:xfrm>
                      <a:prstGeom prst="line">
                        <a:avLst/>
                      </a:prstGeom>
                      <a:noFill/>
                      <a:ln w="28575">
                        <a:solidFill>
                          <a:srgbClr val="FF3300"/>
                        </a:solidFill>
                        <a:round/>
                        <a:headEnd/>
                        <a:tailEnd type="triangle" w="med" len="med"/>
                      </a:ln>
                    </p:spPr>
                    <p:txBody>
                      <a:bodyPr wrap="none" anchor="ctr"/>
                      <a:lstStyle/>
                      <a:p>
                        <a:endParaRPr lang="zh-CN" altLang="en-US"/>
                      </a:p>
                    </p:txBody>
                  </p:sp>
                  <p:sp>
                    <p:nvSpPr>
                      <p:cNvPr id="19524" name="Line 17"/>
                      <p:cNvSpPr>
                        <a:spLocks noChangeShapeType="1"/>
                      </p:cNvSpPr>
                      <p:nvPr/>
                    </p:nvSpPr>
                    <p:spPr bwMode="auto">
                      <a:xfrm>
                        <a:off x="1488" y="1440"/>
                        <a:ext cx="672" cy="0"/>
                      </a:xfrm>
                      <a:prstGeom prst="line">
                        <a:avLst/>
                      </a:prstGeom>
                      <a:noFill/>
                      <a:ln w="9525">
                        <a:solidFill>
                          <a:schemeClr val="tx1"/>
                        </a:solidFill>
                        <a:round/>
                        <a:headEnd/>
                        <a:tailEnd/>
                      </a:ln>
                    </p:spPr>
                    <p:txBody>
                      <a:bodyPr wrap="none" anchor="ctr"/>
                      <a:lstStyle/>
                      <a:p>
                        <a:endParaRPr lang="zh-CN" altLang="en-US"/>
                      </a:p>
                    </p:txBody>
                  </p:sp>
                  <p:sp>
                    <p:nvSpPr>
                      <p:cNvPr id="19525" name="Line 18"/>
                      <p:cNvSpPr>
                        <a:spLocks noChangeShapeType="1"/>
                      </p:cNvSpPr>
                      <p:nvPr/>
                    </p:nvSpPr>
                    <p:spPr bwMode="auto">
                      <a:xfrm>
                        <a:off x="2160" y="1440"/>
                        <a:ext cx="0" cy="384"/>
                      </a:xfrm>
                      <a:prstGeom prst="line">
                        <a:avLst/>
                      </a:prstGeom>
                      <a:noFill/>
                      <a:ln w="9525">
                        <a:solidFill>
                          <a:schemeClr val="tx1"/>
                        </a:solidFill>
                        <a:round/>
                        <a:headEnd/>
                        <a:tailEnd/>
                      </a:ln>
                    </p:spPr>
                    <p:txBody>
                      <a:bodyPr wrap="none" anchor="ctr"/>
                      <a:lstStyle/>
                      <a:p>
                        <a:endParaRPr lang="zh-CN" altLang="en-US"/>
                      </a:p>
                    </p:txBody>
                  </p:sp>
                  <p:sp>
                    <p:nvSpPr>
                      <p:cNvPr id="19526" name="Line 19"/>
                      <p:cNvSpPr>
                        <a:spLocks noChangeShapeType="1"/>
                      </p:cNvSpPr>
                      <p:nvPr/>
                    </p:nvSpPr>
                    <p:spPr bwMode="auto">
                      <a:xfrm flipH="1">
                        <a:off x="1488" y="1824"/>
                        <a:ext cx="672" cy="0"/>
                      </a:xfrm>
                      <a:prstGeom prst="line">
                        <a:avLst/>
                      </a:prstGeom>
                      <a:noFill/>
                      <a:ln w="9525">
                        <a:solidFill>
                          <a:schemeClr val="tx1"/>
                        </a:solidFill>
                        <a:round/>
                        <a:headEnd/>
                        <a:tailEnd/>
                      </a:ln>
                    </p:spPr>
                    <p:txBody>
                      <a:bodyPr wrap="none" anchor="ctr"/>
                      <a:lstStyle/>
                      <a:p>
                        <a:endParaRPr lang="zh-CN" altLang="en-US"/>
                      </a:p>
                    </p:txBody>
                  </p:sp>
                  <p:sp>
                    <p:nvSpPr>
                      <p:cNvPr id="19527" name="Line 20"/>
                      <p:cNvSpPr>
                        <a:spLocks noChangeShapeType="1"/>
                      </p:cNvSpPr>
                      <p:nvPr/>
                    </p:nvSpPr>
                    <p:spPr bwMode="auto">
                      <a:xfrm flipV="1">
                        <a:off x="1488" y="1440"/>
                        <a:ext cx="0" cy="384"/>
                      </a:xfrm>
                      <a:prstGeom prst="line">
                        <a:avLst/>
                      </a:prstGeom>
                      <a:noFill/>
                      <a:ln w="9525">
                        <a:solidFill>
                          <a:schemeClr val="tx1"/>
                        </a:solidFill>
                        <a:round/>
                        <a:headEnd/>
                        <a:tailEnd/>
                      </a:ln>
                    </p:spPr>
                    <p:txBody>
                      <a:bodyPr wrap="none" anchor="ctr"/>
                      <a:lstStyle/>
                      <a:p>
                        <a:endParaRPr lang="zh-CN" altLang="en-US"/>
                      </a:p>
                    </p:txBody>
                  </p:sp>
                </p:grpSp>
                <p:sp>
                  <p:nvSpPr>
                    <p:cNvPr id="19518" name="Text Box 21"/>
                    <p:cNvSpPr txBox="1">
                      <a:spLocks noChangeArrowheads="1"/>
                    </p:cNvSpPr>
                    <p:nvPr/>
                  </p:nvSpPr>
                  <p:spPr bwMode="auto">
                    <a:xfrm>
                      <a:off x="1622" y="1463"/>
                      <a:ext cx="396" cy="231"/>
                    </a:xfrm>
                    <a:prstGeom prst="rect">
                      <a:avLst/>
                    </a:prstGeom>
                    <a:noFill/>
                    <a:ln w="9525">
                      <a:noFill/>
                      <a:miter lim="800000"/>
                      <a:headEnd/>
                      <a:tailEnd/>
                    </a:ln>
                  </p:spPr>
                  <p:txBody>
                    <a:bodyPr wrap="none">
                      <a:spAutoFit/>
                    </a:bodyPr>
                    <a:lstStyle/>
                    <a:p>
                      <a:r>
                        <a:rPr lang="en-US" altLang="zh-CN" b="1"/>
                        <a:t> 100</a:t>
                      </a:r>
                    </a:p>
                  </p:txBody>
                </p:sp>
              </p:grpSp>
              <p:sp>
                <p:nvSpPr>
                  <p:cNvPr id="19515" name="Text Box 22"/>
                  <p:cNvSpPr txBox="1">
                    <a:spLocks noChangeArrowheads="1"/>
                  </p:cNvSpPr>
                  <p:nvPr/>
                </p:nvSpPr>
                <p:spPr bwMode="auto">
                  <a:xfrm>
                    <a:off x="614" y="1609"/>
                    <a:ext cx="346" cy="288"/>
                  </a:xfrm>
                  <a:prstGeom prst="rect">
                    <a:avLst/>
                  </a:prstGeom>
                  <a:noFill/>
                  <a:ln w="9525">
                    <a:noFill/>
                    <a:miter lim="800000"/>
                    <a:headEnd/>
                    <a:tailEnd/>
                  </a:ln>
                </p:spPr>
                <p:txBody>
                  <a:bodyPr>
                    <a:spAutoFit/>
                  </a:bodyPr>
                  <a:lstStyle/>
                  <a:p>
                    <a:r>
                      <a:rPr lang="en-US" altLang="zh-CN" sz="2400" b="1"/>
                      <a:t>ip</a:t>
                    </a:r>
                  </a:p>
                </p:txBody>
              </p:sp>
              <p:sp>
                <p:nvSpPr>
                  <p:cNvPr id="19516" name="Text Box 23"/>
                  <p:cNvSpPr txBox="1">
                    <a:spLocks noChangeArrowheads="1"/>
                  </p:cNvSpPr>
                  <p:nvPr/>
                </p:nvSpPr>
                <p:spPr bwMode="auto">
                  <a:xfrm>
                    <a:off x="1670" y="1632"/>
                    <a:ext cx="346" cy="288"/>
                  </a:xfrm>
                  <a:prstGeom prst="rect">
                    <a:avLst/>
                  </a:prstGeom>
                  <a:noFill/>
                  <a:ln w="9525">
                    <a:noFill/>
                    <a:miter lim="800000"/>
                    <a:headEnd/>
                    <a:tailEnd/>
                  </a:ln>
                </p:spPr>
                <p:txBody>
                  <a:bodyPr>
                    <a:spAutoFit/>
                  </a:bodyPr>
                  <a:lstStyle/>
                  <a:p>
                    <a:pPr algn="ctr"/>
                    <a:r>
                      <a:rPr lang="en-US" altLang="zh-CN" sz="2400" b="1"/>
                      <a:t>i</a:t>
                    </a:r>
                  </a:p>
                </p:txBody>
              </p:sp>
            </p:grpSp>
            <p:grpSp>
              <p:nvGrpSpPr>
                <p:cNvPr id="19499" name="Group 24"/>
                <p:cNvGrpSpPr>
                  <a:grpSpLocks/>
                </p:cNvGrpSpPr>
                <p:nvPr/>
              </p:nvGrpSpPr>
              <p:grpSpPr bwMode="auto">
                <a:xfrm>
                  <a:off x="432" y="2592"/>
                  <a:ext cx="1728" cy="599"/>
                  <a:chOff x="432" y="3385"/>
                  <a:chExt cx="1728" cy="599"/>
                </a:xfrm>
              </p:grpSpPr>
              <p:grpSp>
                <p:nvGrpSpPr>
                  <p:cNvPr id="19500" name="Group 25"/>
                  <p:cNvGrpSpPr>
                    <a:grpSpLocks/>
                  </p:cNvGrpSpPr>
                  <p:nvPr/>
                </p:nvGrpSpPr>
                <p:grpSpPr bwMode="auto">
                  <a:xfrm>
                    <a:off x="432" y="3696"/>
                    <a:ext cx="1728" cy="288"/>
                    <a:chOff x="432" y="1440"/>
                    <a:chExt cx="1728" cy="288"/>
                  </a:xfrm>
                </p:grpSpPr>
                <p:grpSp>
                  <p:nvGrpSpPr>
                    <p:cNvPr id="19503" name="Group 26"/>
                    <p:cNvGrpSpPr>
                      <a:grpSpLocks/>
                    </p:cNvGrpSpPr>
                    <p:nvPr/>
                  </p:nvGrpSpPr>
                  <p:grpSpPr bwMode="auto">
                    <a:xfrm>
                      <a:off x="432" y="1440"/>
                      <a:ext cx="1728" cy="288"/>
                      <a:chOff x="336" y="1440"/>
                      <a:chExt cx="1824" cy="384"/>
                    </a:xfrm>
                  </p:grpSpPr>
                  <p:sp>
                    <p:nvSpPr>
                      <p:cNvPr id="19505" name="Line 27"/>
                      <p:cNvSpPr>
                        <a:spLocks noChangeShapeType="1"/>
                      </p:cNvSpPr>
                      <p:nvPr/>
                    </p:nvSpPr>
                    <p:spPr bwMode="auto">
                      <a:xfrm>
                        <a:off x="336" y="1440"/>
                        <a:ext cx="720" cy="0"/>
                      </a:xfrm>
                      <a:prstGeom prst="line">
                        <a:avLst/>
                      </a:prstGeom>
                      <a:noFill/>
                      <a:ln w="9525">
                        <a:solidFill>
                          <a:schemeClr val="tx1"/>
                        </a:solidFill>
                        <a:round/>
                        <a:headEnd/>
                        <a:tailEnd/>
                      </a:ln>
                    </p:spPr>
                    <p:txBody>
                      <a:bodyPr wrap="none" anchor="ctr"/>
                      <a:lstStyle/>
                      <a:p>
                        <a:endParaRPr lang="zh-CN" altLang="en-US"/>
                      </a:p>
                    </p:txBody>
                  </p:sp>
                  <p:sp>
                    <p:nvSpPr>
                      <p:cNvPr id="19506" name="Line 28"/>
                      <p:cNvSpPr>
                        <a:spLocks noChangeShapeType="1"/>
                      </p:cNvSpPr>
                      <p:nvPr/>
                    </p:nvSpPr>
                    <p:spPr bwMode="auto">
                      <a:xfrm>
                        <a:off x="1056" y="1440"/>
                        <a:ext cx="0" cy="336"/>
                      </a:xfrm>
                      <a:prstGeom prst="line">
                        <a:avLst/>
                      </a:prstGeom>
                      <a:noFill/>
                      <a:ln w="9525">
                        <a:solidFill>
                          <a:schemeClr val="tx1"/>
                        </a:solidFill>
                        <a:round/>
                        <a:headEnd/>
                        <a:tailEnd/>
                      </a:ln>
                    </p:spPr>
                    <p:txBody>
                      <a:bodyPr wrap="none" anchor="ctr"/>
                      <a:lstStyle/>
                      <a:p>
                        <a:endParaRPr lang="zh-CN" altLang="en-US"/>
                      </a:p>
                    </p:txBody>
                  </p:sp>
                  <p:sp>
                    <p:nvSpPr>
                      <p:cNvPr id="19507" name="Line 29"/>
                      <p:cNvSpPr>
                        <a:spLocks noChangeShapeType="1"/>
                      </p:cNvSpPr>
                      <p:nvPr/>
                    </p:nvSpPr>
                    <p:spPr bwMode="auto">
                      <a:xfrm flipH="1">
                        <a:off x="336" y="1776"/>
                        <a:ext cx="720" cy="0"/>
                      </a:xfrm>
                      <a:prstGeom prst="line">
                        <a:avLst/>
                      </a:prstGeom>
                      <a:noFill/>
                      <a:ln w="9525">
                        <a:solidFill>
                          <a:schemeClr val="tx1"/>
                        </a:solidFill>
                        <a:round/>
                        <a:headEnd/>
                        <a:tailEnd/>
                      </a:ln>
                    </p:spPr>
                    <p:txBody>
                      <a:bodyPr wrap="none" anchor="ctr"/>
                      <a:lstStyle/>
                      <a:p>
                        <a:endParaRPr lang="zh-CN" altLang="en-US"/>
                      </a:p>
                    </p:txBody>
                  </p:sp>
                  <p:sp>
                    <p:nvSpPr>
                      <p:cNvPr id="19508" name="Line 30"/>
                      <p:cNvSpPr>
                        <a:spLocks noChangeShapeType="1"/>
                      </p:cNvSpPr>
                      <p:nvPr/>
                    </p:nvSpPr>
                    <p:spPr bwMode="auto">
                      <a:xfrm flipV="1">
                        <a:off x="336" y="1440"/>
                        <a:ext cx="0" cy="336"/>
                      </a:xfrm>
                      <a:prstGeom prst="line">
                        <a:avLst/>
                      </a:prstGeom>
                      <a:noFill/>
                      <a:ln w="9525">
                        <a:solidFill>
                          <a:schemeClr val="tx1"/>
                        </a:solidFill>
                        <a:round/>
                        <a:headEnd/>
                        <a:tailEnd/>
                      </a:ln>
                    </p:spPr>
                    <p:txBody>
                      <a:bodyPr wrap="none" anchor="ctr"/>
                      <a:lstStyle/>
                      <a:p>
                        <a:endParaRPr lang="zh-CN" altLang="en-US"/>
                      </a:p>
                    </p:txBody>
                  </p:sp>
                  <p:sp>
                    <p:nvSpPr>
                      <p:cNvPr id="19509" name="Line 31"/>
                      <p:cNvSpPr>
                        <a:spLocks noChangeShapeType="1"/>
                      </p:cNvSpPr>
                      <p:nvPr/>
                    </p:nvSpPr>
                    <p:spPr bwMode="auto">
                      <a:xfrm>
                        <a:off x="720" y="1632"/>
                        <a:ext cx="624" cy="0"/>
                      </a:xfrm>
                      <a:prstGeom prst="line">
                        <a:avLst/>
                      </a:prstGeom>
                      <a:noFill/>
                      <a:ln w="28575">
                        <a:solidFill>
                          <a:srgbClr val="FF3300"/>
                        </a:solidFill>
                        <a:round/>
                        <a:headEnd/>
                        <a:tailEnd type="triangle" w="med" len="med"/>
                      </a:ln>
                    </p:spPr>
                    <p:txBody>
                      <a:bodyPr wrap="none" anchor="ctr"/>
                      <a:lstStyle/>
                      <a:p>
                        <a:endParaRPr lang="zh-CN" altLang="en-US"/>
                      </a:p>
                    </p:txBody>
                  </p:sp>
                  <p:sp>
                    <p:nvSpPr>
                      <p:cNvPr id="19510" name="Line 32"/>
                      <p:cNvSpPr>
                        <a:spLocks noChangeShapeType="1"/>
                      </p:cNvSpPr>
                      <p:nvPr/>
                    </p:nvSpPr>
                    <p:spPr bwMode="auto">
                      <a:xfrm>
                        <a:off x="1488" y="1440"/>
                        <a:ext cx="672" cy="0"/>
                      </a:xfrm>
                      <a:prstGeom prst="line">
                        <a:avLst/>
                      </a:prstGeom>
                      <a:noFill/>
                      <a:ln w="9525">
                        <a:solidFill>
                          <a:schemeClr val="tx1"/>
                        </a:solidFill>
                        <a:round/>
                        <a:headEnd/>
                        <a:tailEnd/>
                      </a:ln>
                    </p:spPr>
                    <p:txBody>
                      <a:bodyPr wrap="none" anchor="ctr"/>
                      <a:lstStyle/>
                      <a:p>
                        <a:endParaRPr lang="zh-CN" altLang="en-US"/>
                      </a:p>
                    </p:txBody>
                  </p:sp>
                  <p:sp>
                    <p:nvSpPr>
                      <p:cNvPr id="19511" name="Line 33"/>
                      <p:cNvSpPr>
                        <a:spLocks noChangeShapeType="1"/>
                      </p:cNvSpPr>
                      <p:nvPr/>
                    </p:nvSpPr>
                    <p:spPr bwMode="auto">
                      <a:xfrm>
                        <a:off x="2160" y="1440"/>
                        <a:ext cx="0" cy="384"/>
                      </a:xfrm>
                      <a:prstGeom prst="line">
                        <a:avLst/>
                      </a:prstGeom>
                      <a:noFill/>
                      <a:ln w="9525">
                        <a:solidFill>
                          <a:schemeClr val="tx1"/>
                        </a:solidFill>
                        <a:round/>
                        <a:headEnd/>
                        <a:tailEnd/>
                      </a:ln>
                    </p:spPr>
                    <p:txBody>
                      <a:bodyPr wrap="none" anchor="ctr"/>
                      <a:lstStyle/>
                      <a:p>
                        <a:endParaRPr lang="zh-CN" altLang="en-US"/>
                      </a:p>
                    </p:txBody>
                  </p:sp>
                  <p:sp>
                    <p:nvSpPr>
                      <p:cNvPr id="19512" name="Line 34"/>
                      <p:cNvSpPr>
                        <a:spLocks noChangeShapeType="1"/>
                      </p:cNvSpPr>
                      <p:nvPr/>
                    </p:nvSpPr>
                    <p:spPr bwMode="auto">
                      <a:xfrm flipH="1">
                        <a:off x="1488" y="1824"/>
                        <a:ext cx="672" cy="0"/>
                      </a:xfrm>
                      <a:prstGeom prst="line">
                        <a:avLst/>
                      </a:prstGeom>
                      <a:noFill/>
                      <a:ln w="9525">
                        <a:solidFill>
                          <a:schemeClr val="tx1"/>
                        </a:solidFill>
                        <a:round/>
                        <a:headEnd/>
                        <a:tailEnd/>
                      </a:ln>
                    </p:spPr>
                    <p:txBody>
                      <a:bodyPr wrap="none" anchor="ctr"/>
                      <a:lstStyle/>
                      <a:p>
                        <a:endParaRPr lang="zh-CN" altLang="en-US"/>
                      </a:p>
                    </p:txBody>
                  </p:sp>
                  <p:sp>
                    <p:nvSpPr>
                      <p:cNvPr id="19513" name="Line 35"/>
                      <p:cNvSpPr>
                        <a:spLocks noChangeShapeType="1"/>
                      </p:cNvSpPr>
                      <p:nvPr/>
                    </p:nvSpPr>
                    <p:spPr bwMode="auto">
                      <a:xfrm flipV="1">
                        <a:off x="1488" y="1440"/>
                        <a:ext cx="0" cy="384"/>
                      </a:xfrm>
                      <a:prstGeom prst="line">
                        <a:avLst/>
                      </a:prstGeom>
                      <a:noFill/>
                      <a:ln w="9525">
                        <a:solidFill>
                          <a:schemeClr val="tx1"/>
                        </a:solidFill>
                        <a:round/>
                        <a:headEnd/>
                        <a:tailEnd/>
                      </a:ln>
                    </p:spPr>
                    <p:txBody>
                      <a:bodyPr wrap="none" anchor="ctr"/>
                      <a:lstStyle/>
                      <a:p>
                        <a:endParaRPr lang="zh-CN" altLang="en-US"/>
                      </a:p>
                    </p:txBody>
                  </p:sp>
                </p:grpSp>
                <p:sp>
                  <p:nvSpPr>
                    <p:cNvPr id="19504" name="Text Box 36"/>
                    <p:cNvSpPr txBox="1">
                      <a:spLocks noChangeArrowheads="1"/>
                    </p:cNvSpPr>
                    <p:nvPr/>
                  </p:nvSpPr>
                  <p:spPr bwMode="auto">
                    <a:xfrm>
                      <a:off x="1622" y="1463"/>
                      <a:ext cx="396" cy="231"/>
                    </a:xfrm>
                    <a:prstGeom prst="rect">
                      <a:avLst/>
                    </a:prstGeom>
                    <a:noFill/>
                    <a:ln w="9525">
                      <a:noFill/>
                      <a:miter lim="800000"/>
                      <a:headEnd/>
                      <a:tailEnd/>
                    </a:ln>
                  </p:spPr>
                  <p:txBody>
                    <a:bodyPr wrap="none">
                      <a:spAutoFit/>
                    </a:bodyPr>
                    <a:lstStyle/>
                    <a:p>
                      <a:r>
                        <a:rPr lang="en-US" altLang="zh-CN" b="1"/>
                        <a:t> 200</a:t>
                      </a:r>
                    </a:p>
                  </p:txBody>
                </p:sp>
              </p:grpSp>
              <p:sp>
                <p:nvSpPr>
                  <p:cNvPr id="19501" name="Text Box 37"/>
                  <p:cNvSpPr txBox="1">
                    <a:spLocks noChangeArrowheads="1"/>
                  </p:cNvSpPr>
                  <p:nvPr/>
                </p:nvSpPr>
                <p:spPr bwMode="auto">
                  <a:xfrm>
                    <a:off x="480" y="3385"/>
                    <a:ext cx="576" cy="288"/>
                  </a:xfrm>
                  <a:prstGeom prst="rect">
                    <a:avLst/>
                  </a:prstGeom>
                  <a:noFill/>
                  <a:ln w="9525">
                    <a:noFill/>
                    <a:miter lim="800000"/>
                    <a:headEnd/>
                    <a:tailEnd/>
                  </a:ln>
                </p:spPr>
                <p:txBody>
                  <a:bodyPr>
                    <a:spAutoFit/>
                  </a:bodyPr>
                  <a:lstStyle/>
                  <a:p>
                    <a:r>
                      <a:rPr lang="en-US" altLang="zh-CN" sz="2400" b="1"/>
                      <a:t>intpt</a:t>
                    </a:r>
                  </a:p>
                </p:txBody>
              </p:sp>
              <p:sp>
                <p:nvSpPr>
                  <p:cNvPr id="19502" name="Text Box 38"/>
                  <p:cNvSpPr txBox="1">
                    <a:spLocks noChangeArrowheads="1"/>
                  </p:cNvSpPr>
                  <p:nvPr/>
                </p:nvSpPr>
                <p:spPr bwMode="auto">
                  <a:xfrm>
                    <a:off x="1670" y="3408"/>
                    <a:ext cx="346" cy="288"/>
                  </a:xfrm>
                  <a:prstGeom prst="rect">
                    <a:avLst/>
                  </a:prstGeom>
                  <a:noFill/>
                  <a:ln w="9525">
                    <a:noFill/>
                    <a:miter lim="800000"/>
                    <a:headEnd/>
                    <a:tailEnd/>
                  </a:ln>
                </p:spPr>
                <p:txBody>
                  <a:bodyPr>
                    <a:spAutoFit/>
                  </a:bodyPr>
                  <a:lstStyle/>
                  <a:p>
                    <a:pPr algn="ctr"/>
                    <a:r>
                      <a:rPr lang="en-US" altLang="zh-CN" sz="2400" b="1"/>
                      <a:t>j</a:t>
                    </a:r>
                  </a:p>
                </p:txBody>
              </p:sp>
            </p:grpSp>
          </p:grpSp>
          <p:grpSp>
            <p:nvGrpSpPr>
              <p:cNvPr id="19466" name="Group 39"/>
              <p:cNvGrpSpPr>
                <a:grpSpLocks/>
              </p:cNvGrpSpPr>
              <p:nvPr/>
            </p:nvGrpSpPr>
            <p:grpSpPr bwMode="auto">
              <a:xfrm>
                <a:off x="2832" y="1632"/>
                <a:ext cx="1728" cy="1584"/>
                <a:chOff x="2832" y="1632"/>
                <a:chExt cx="1728" cy="1584"/>
              </a:xfrm>
            </p:grpSpPr>
            <p:grpSp>
              <p:nvGrpSpPr>
                <p:cNvPr id="19467" name="Group 40"/>
                <p:cNvGrpSpPr>
                  <a:grpSpLocks/>
                </p:cNvGrpSpPr>
                <p:nvPr/>
              </p:nvGrpSpPr>
              <p:grpSpPr bwMode="auto">
                <a:xfrm>
                  <a:off x="2832" y="1632"/>
                  <a:ext cx="1728" cy="599"/>
                  <a:chOff x="432" y="1609"/>
                  <a:chExt cx="1728" cy="599"/>
                </a:xfrm>
              </p:grpSpPr>
              <p:grpSp>
                <p:nvGrpSpPr>
                  <p:cNvPr id="19484" name="Group 41"/>
                  <p:cNvGrpSpPr>
                    <a:grpSpLocks/>
                  </p:cNvGrpSpPr>
                  <p:nvPr/>
                </p:nvGrpSpPr>
                <p:grpSpPr bwMode="auto">
                  <a:xfrm>
                    <a:off x="432" y="1920"/>
                    <a:ext cx="1728" cy="288"/>
                    <a:chOff x="432" y="1440"/>
                    <a:chExt cx="1728" cy="288"/>
                  </a:xfrm>
                </p:grpSpPr>
                <p:grpSp>
                  <p:nvGrpSpPr>
                    <p:cNvPr id="19487" name="Group 42"/>
                    <p:cNvGrpSpPr>
                      <a:grpSpLocks/>
                    </p:cNvGrpSpPr>
                    <p:nvPr/>
                  </p:nvGrpSpPr>
                  <p:grpSpPr bwMode="auto">
                    <a:xfrm>
                      <a:off x="432" y="1440"/>
                      <a:ext cx="1728" cy="288"/>
                      <a:chOff x="336" y="1440"/>
                      <a:chExt cx="1824" cy="384"/>
                    </a:xfrm>
                  </p:grpSpPr>
                  <p:sp>
                    <p:nvSpPr>
                      <p:cNvPr id="19489" name="Line 43"/>
                      <p:cNvSpPr>
                        <a:spLocks noChangeShapeType="1"/>
                      </p:cNvSpPr>
                      <p:nvPr/>
                    </p:nvSpPr>
                    <p:spPr bwMode="auto">
                      <a:xfrm>
                        <a:off x="336" y="1440"/>
                        <a:ext cx="720" cy="0"/>
                      </a:xfrm>
                      <a:prstGeom prst="line">
                        <a:avLst/>
                      </a:prstGeom>
                      <a:noFill/>
                      <a:ln w="9525">
                        <a:solidFill>
                          <a:schemeClr val="tx1"/>
                        </a:solidFill>
                        <a:round/>
                        <a:headEnd/>
                        <a:tailEnd/>
                      </a:ln>
                    </p:spPr>
                    <p:txBody>
                      <a:bodyPr wrap="none" anchor="ctr"/>
                      <a:lstStyle/>
                      <a:p>
                        <a:endParaRPr lang="zh-CN" altLang="en-US"/>
                      </a:p>
                    </p:txBody>
                  </p:sp>
                  <p:sp>
                    <p:nvSpPr>
                      <p:cNvPr id="19490" name="Line 44"/>
                      <p:cNvSpPr>
                        <a:spLocks noChangeShapeType="1"/>
                      </p:cNvSpPr>
                      <p:nvPr/>
                    </p:nvSpPr>
                    <p:spPr bwMode="auto">
                      <a:xfrm>
                        <a:off x="1056" y="1440"/>
                        <a:ext cx="0" cy="336"/>
                      </a:xfrm>
                      <a:prstGeom prst="line">
                        <a:avLst/>
                      </a:prstGeom>
                      <a:noFill/>
                      <a:ln w="9525">
                        <a:solidFill>
                          <a:schemeClr val="tx1"/>
                        </a:solidFill>
                        <a:round/>
                        <a:headEnd/>
                        <a:tailEnd/>
                      </a:ln>
                    </p:spPr>
                    <p:txBody>
                      <a:bodyPr wrap="none" anchor="ctr"/>
                      <a:lstStyle/>
                      <a:p>
                        <a:endParaRPr lang="zh-CN" altLang="en-US"/>
                      </a:p>
                    </p:txBody>
                  </p:sp>
                  <p:sp>
                    <p:nvSpPr>
                      <p:cNvPr id="19491" name="Line 45"/>
                      <p:cNvSpPr>
                        <a:spLocks noChangeShapeType="1"/>
                      </p:cNvSpPr>
                      <p:nvPr/>
                    </p:nvSpPr>
                    <p:spPr bwMode="auto">
                      <a:xfrm flipH="1">
                        <a:off x="336" y="1776"/>
                        <a:ext cx="720" cy="0"/>
                      </a:xfrm>
                      <a:prstGeom prst="line">
                        <a:avLst/>
                      </a:prstGeom>
                      <a:noFill/>
                      <a:ln w="9525">
                        <a:solidFill>
                          <a:schemeClr val="tx1"/>
                        </a:solidFill>
                        <a:round/>
                        <a:headEnd/>
                        <a:tailEnd/>
                      </a:ln>
                    </p:spPr>
                    <p:txBody>
                      <a:bodyPr wrap="none" anchor="ctr"/>
                      <a:lstStyle/>
                      <a:p>
                        <a:endParaRPr lang="zh-CN" altLang="en-US"/>
                      </a:p>
                    </p:txBody>
                  </p:sp>
                  <p:sp>
                    <p:nvSpPr>
                      <p:cNvPr id="19492" name="Line 46"/>
                      <p:cNvSpPr>
                        <a:spLocks noChangeShapeType="1"/>
                      </p:cNvSpPr>
                      <p:nvPr/>
                    </p:nvSpPr>
                    <p:spPr bwMode="auto">
                      <a:xfrm flipV="1">
                        <a:off x="336" y="1440"/>
                        <a:ext cx="0" cy="336"/>
                      </a:xfrm>
                      <a:prstGeom prst="line">
                        <a:avLst/>
                      </a:prstGeom>
                      <a:noFill/>
                      <a:ln w="9525">
                        <a:solidFill>
                          <a:schemeClr val="tx1"/>
                        </a:solidFill>
                        <a:round/>
                        <a:headEnd/>
                        <a:tailEnd/>
                      </a:ln>
                    </p:spPr>
                    <p:txBody>
                      <a:bodyPr wrap="none" anchor="ctr"/>
                      <a:lstStyle/>
                      <a:p>
                        <a:endParaRPr lang="zh-CN" altLang="en-US"/>
                      </a:p>
                    </p:txBody>
                  </p:sp>
                  <p:sp>
                    <p:nvSpPr>
                      <p:cNvPr id="19493" name="Line 47"/>
                      <p:cNvSpPr>
                        <a:spLocks noChangeShapeType="1"/>
                      </p:cNvSpPr>
                      <p:nvPr/>
                    </p:nvSpPr>
                    <p:spPr bwMode="auto">
                      <a:xfrm>
                        <a:off x="720" y="1632"/>
                        <a:ext cx="624" cy="0"/>
                      </a:xfrm>
                      <a:prstGeom prst="line">
                        <a:avLst/>
                      </a:prstGeom>
                      <a:noFill/>
                      <a:ln w="28575">
                        <a:solidFill>
                          <a:srgbClr val="FF3300"/>
                        </a:solidFill>
                        <a:round/>
                        <a:headEnd/>
                        <a:tailEnd type="triangle" w="med" len="med"/>
                      </a:ln>
                    </p:spPr>
                    <p:txBody>
                      <a:bodyPr wrap="none" anchor="ctr"/>
                      <a:lstStyle/>
                      <a:p>
                        <a:endParaRPr lang="zh-CN" altLang="en-US"/>
                      </a:p>
                    </p:txBody>
                  </p:sp>
                  <p:sp>
                    <p:nvSpPr>
                      <p:cNvPr id="19494" name="Line 48"/>
                      <p:cNvSpPr>
                        <a:spLocks noChangeShapeType="1"/>
                      </p:cNvSpPr>
                      <p:nvPr/>
                    </p:nvSpPr>
                    <p:spPr bwMode="auto">
                      <a:xfrm>
                        <a:off x="1488" y="1440"/>
                        <a:ext cx="672" cy="0"/>
                      </a:xfrm>
                      <a:prstGeom prst="line">
                        <a:avLst/>
                      </a:prstGeom>
                      <a:noFill/>
                      <a:ln w="9525">
                        <a:solidFill>
                          <a:schemeClr val="tx1"/>
                        </a:solidFill>
                        <a:round/>
                        <a:headEnd/>
                        <a:tailEnd/>
                      </a:ln>
                    </p:spPr>
                    <p:txBody>
                      <a:bodyPr wrap="none" anchor="ctr"/>
                      <a:lstStyle/>
                      <a:p>
                        <a:endParaRPr lang="zh-CN" altLang="en-US"/>
                      </a:p>
                    </p:txBody>
                  </p:sp>
                  <p:sp>
                    <p:nvSpPr>
                      <p:cNvPr id="19495" name="Line 49"/>
                      <p:cNvSpPr>
                        <a:spLocks noChangeShapeType="1"/>
                      </p:cNvSpPr>
                      <p:nvPr/>
                    </p:nvSpPr>
                    <p:spPr bwMode="auto">
                      <a:xfrm>
                        <a:off x="2160" y="1440"/>
                        <a:ext cx="0" cy="384"/>
                      </a:xfrm>
                      <a:prstGeom prst="line">
                        <a:avLst/>
                      </a:prstGeom>
                      <a:noFill/>
                      <a:ln w="9525">
                        <a:solidFill>
                          <a:schemeClr val="tx1"/>
                        </a:solidFill>
                        <a:round/>
                        <a:headEnd/>
                        <a:tailEnd/>
                      </a:ln>
                    </p:spPr>
                    <p:txBody>
                      <a:bodyPr wrap="none" anchor="ctr"/>
                      <a:lstStyle/>
                      <a:p>
                        <a:endParaRPr lang="zh-CN" altLang="en-US"/>
                      </a:p>
                    </p:txBody>
                  </p:sp>
                  <p:sp>
                    <p:nvSpPr>
                      <p:cNvPr id="19496" name="Line 50"/>
                      <p:cNvSpPr>
                        <a:spLocks noChangeShapeType="1"/>
                      </p:cNvSpPr>
                      <p:nvPr/>
                    </p:nvSpPr>
                    <p:spPr bwMode="auto">
                      <a:xfrm flipH="1">
                        <a:off x="1488" y="1824"/>
                        <a:ext cx="672" cy="0"/>
                      </a:xfrm>
                      <a:prstGeom prst="line">
                        <a:avLst/>
                      </a:prstGeom>
                      <a:noFill/>
                      <a:ln w="9525">
                        <a:solidFill>
                          <a:schemeClr val="tx1"/>
                        </a:solidFill>
                        <a:round/>
                        <a:headEnd/>
                        <a:tailEnd/>
                      </a:ln>
                    </p:spPr>
                    <p:txBody>
                      <a:bodyPr wrap="none" anchor="ctr"/>
                      <a:lstStyle/>
                      <a:p>
                        <a:endParaRPr lang="zh-CN" altLang="en-US"/>
                      </a:p>
                    </p:txBody>
                  </p:sp>
                  <p:sp>
                    <p:nvSpPr>
                      <p:cNvPr id="19497" name="Line 51"/>
                      <p:cNvSpPr>
                        <a:spLocks noChangeShapeType="1"/>
                      </p:cNvSpPr>
                      <p:nvPr/>
                    </p:nvSpPr>
                    <p:spPr bwMode="auto">
                      <a:xfrm flipV="1">
                        <a:off x="1488" y="1440"/>
                        <a:ext cx="0" cy="384"/>
                      </a:xfrm>
                      <a:prstGeom prst="line">
                        <a:avLst/>
                      </a:prstGeom>
                      <a:noFill/>
                      <a:ln w="9525">
                        <a:solidFill>
                          <a:schemeClr val="tx1"/>
                        </a:solidFill>
                        <a:round/>
                        <a:headEnd/>
                        <a:tailEnd/>
                      </a:ln>
                    </p:spPr>
                    <p:txBody>
                      <a:bodyPr wrap="none" anchor="ctr"/>
                      <a:lstStyle/>
                      <a:p>
                        <a:endParaRPr lang="zh-CN" altLang="en-US"/>
                      </a:p>
                    </p:txBody>
                  </p:sp>
                </p:grpSp>
                <p:sp>
                  <p:nvSpPr>
                    <p:cNvPr id="19488" name="Text Box 52"/>
                    <p:cNvSpPr txBox="1">
                      <a:spLocks noChangeArrowheads="1"/>
                    </p:cNvSpPr>
                    <p:nvPr/>
                  </p:nvSpPr>
                  <p:spPr bwMode="auto">
                    <a:xfrm>
                      <a:off x="1622" y="1463"/>
                      <a:ext cx="396" cy="231"/>
                    </a:xfrm>
                    <a:prstGeom prst="rect">
                      <a:avLst/>
                    </a:prstGeom>
                    <a:noFill/>
                    <a:ln w="9525">
                      <a:noFill/>
                      <a:miter lim="800000"/>
                      <a:headEnd/>
                      <a:tailEnd/>
                    </a:ln>
                  </p:spPr>
                  <p:txBody>
                    <a:bodyPr wrap="none">
                      <a:spAutoFit/>
                    </a:bodyPr>
                    <a:lstStyle/>
                    <a:p>
                      <a:r>
                        <a:rPr lang="en-US" altLang="zh-CN" b="1"/>
                        <a:t> 100</a:t>
                      </a:r>
                    </a:p>
                  </p:txBody>
                </p:sp>
              </p:grpSp>
              <p:sp>
                <p:nvSpPr>
                  <p:cNvPr id="19485" name="Text Box 53"/>
                  <p:cNvSpPr txBox="1">
                    <a:spLocks noChangeArrowheads="1"/>
                  </p:cNvSpPr>
                  <p:nvPr/>
                </p:nvSpPr>
                <p:spPr bwMode="auto">
                  <a:xfrm>
                    <a:off x="614" y="1609"/>
                    <a:ext cx="346" cy="288"/>
                  </a:xfrm>
                  <a:prstGeom prst="rect">
                    <a:avLst/>
                  </a:prstGeom>
                  <a:noFill/>
                  <a:ln w="9525">
                    <a:noFill/>
                    <a:miter lim="800000"/>
                    <a:headEnd/>
                    <a:tailEnd/>
                  </a:ln>
                </p:spPr>
                <p:txBody>
                  <a:bodyPr>
                    <a:spAutoFit/>
                  </a:bodyPr>
                  <a:lstStyle/>
                  <a:p>
                    <a:r>
                      <a:rPr lang="en-US" altLang="zh-CN" sz="2400" b="1"/>
                      <a:t>ip</a:t>
                    </a:r>
                  </a:p>
                </p:txBody>
              </p:sp>
              <p:sp>
                <p:nvSpPr>
                  <p:cNvPr id="19486" name="Text Box 54"/>
                  <p:cNvSpPr txBox="1">
                    <a:spLocks noChangeArrowheads="1"/>
                  </p:cNvSpPr>
                  <p:nvPr/>
                </p:nvSpPr>
                <p:spPr bwMode="auto">
                  <a:xfrm>
                    <a:off x="1670" y="1632"/>
                    <a:ext cx="346" cy="288"/>
                  </a:xfrm>
                  <a:prstGeom prst="rect">
                    <a:avLst/>
                  </a:prstGeom>
                  <a:noFill/>
                  <a:ln w="9525">
                    <a:noFill/>
                    <a:miter lim="800000"/>
                    <a:headEnd/>
                    <a:tailEnd/>
                  </a:ln>
                </p:spPr>
                <p:txBody>
                  <a:bodyPr>
                    <a:spAutoFit/>
                  </a:bodyPr>
                  <a:lstStyle/>
                  <a:p>
                    <a:pPr algn="ctr"/>
                    <a:r>
                      <a:rPr lang="en-US" altLang="zh-CN" sz="2400" b="1"/>
                      <a:t>i</a:t>
                    </a:r>
                  </a:p>
                </p:txBody>
              </p:sp>
            </p:grpSp>
            <p:grpSp>
              <p:nvGrpSpPr>
                <p:cNvPr id="19468" name="Group 55"/>
                <p:cNvGrpSpPr>
                  <a:grpSpLocks/>
                </p:cNvGrpSpPr>
                <p:nvPr/>
              </p:nvGrpSpPr>
              <p:grpSpPr bwMode="auto">
                <a:xfrm>
                  <a:off x="2832" y="2615"/>
                  <a:ext cx="1728" cy="601"/>
                  <a:chOff x="2832" y="2615"/>
                  <a:chExt cx="1728" cy="601"/>
                </a:xfrm>
              </p:grpSpPr>
              <p:sp>
                <p:nvSpPr>
                  <p:cNvPr id="19469" name="Line 56"/>
                  <p:cNvSpPr>
                    <a:spLocks noChangeShapeType="1"/>
                  </p:cNvSpPr>
                  <p:nvPr/>
                </p:nvSpPr>
                <p:spPr bwMode="auto">
                  <a:xfrm>
                    <a:off x="3120" y="3070"/>
                    <a:ext cx="672" cy="0"/>
                  </a:xfrm>
                  <a:prstGeom prst="line">
                    <a:avLst/>
                  </a:prstGeom>
                  <a:noFill/>
                  <a:ln w="28575">
                    <a:solidFill>
                      <a:srgbClr val="FF3300"/>
                    </a:solidFill>
                    <a:round/>
                    <a:headEnd/>
                    <a:tailEnd type="triangle" w="med" len="med"/>
                  </a:ln>
                </p:spPr>
                <p:txBody>
                  <a:bodyPr wrap="none" anchor="ctr"/>
                  <a:lstStyle/>
                  <a:p>
                    <a:endParaRPr lang="zh-CN" altLang="en-US"/>
                  </a:p>
                </p:txBody>
              </p:sp>
              <p:grpSp>
                <p:nvGrpSpPr>
                  <p:cNvPr id="19470" name="Group 57"/>
                  <p:cNvGrpSpPr>
                    <a:grpSpLocks/>
                  </p:cNvGrpSpPr>
                  <p:nvPr/>
                </p:nvGrpSpPr>
                <p:grpSpPr bwMode="auto">
                  <a:xfrm>
                    <a:off x="2832" y="2615"/>
                    <a:ext cx="1728" cy="601"/>
                    <a:chOff x="2688" y="2567"/>
                    <a:chExt cx="1728" cy="601"/>
                  </a:xfrm>
                </p:grpSpPr>
                <p:grpSp>
                  <p:nvGrpSpPr>
                    <p:cNvPr id="19471" name="Group 58"/>
                    <p:cNvGrpSpPr>
                      <a:grpSpLocks/>
                    </p:cNvGrpSpPr>
                    <p:nvPr/>
                  </p:nvGrpSpPr>
                  <p:grpSpPr bwMode="auto">
                    <a:xfrm>
                      <a:off x="2688" y="2880"/>
                      <a:ext cx="682" cy="252"/>
                      <a:chOff x="2688" y="2878"/>
                      <a:chExt cx="682" cy="252"/>
                    </a:xfrm>
                  </p:grpSpPr>
                  <p:sp>
                    <p:nvSpPr>
                      <p:cNvPr id="19480" name="Line 59"/>
                      <p:cNvSpPr>
                        <a:spLocks noChangeShapeType="1"/>
                      </p:cNvSpPr>
                      <p:nvPr/>
                    </p:nvSpPr>
                    <p:spPr bwMode="auto">
                      <a:xfrm>
                        <a:off x="2688" y="2878"/>
                        <a:ext cx="682" cy="0"/>
                      </a:xfrm>
                      <a:prstGeom prst="line">
                        <a:avLst/>
                      </a:prstGeom>
                      <a:noFill/>
                      <a:ln w="9525">
                        <a:solidFill>
                          <a:schemeClr val="tx1"/>
                        </a:solidFill>
                        <a:round/>
                        <a:headEnd/>
                        <a:tailEnd/>
                      </a:ln>
                    </p:spPr>
                    <p:txBody>
                      <a:bodyPr wrap="none" anchor="ctr"/>
                      <a:lstStyle/>
                      <a:p>
                        <a:endParaRPr lang="zh-CN" altLang="en-US"/>
                      </a:p>
                    </p:txBody>
                  </p:sp>
                  <p:sp>
                    <p:nvSpPr>
                      <p:cNvPr id="19481" name="Line 60"/>
                      <p:cNvSpPr>
                        <a:spLocks noChangeShapeType="1"/>
                      </p:cNvSpPr>
                      <p:nvPr/>
                    </p:nvSpPr>
                    <p:spPr bwMode="auto">
                      <a:xfrm>
                        <a:off x="3370" y="2878"/>
                        <a:ext cx="0" cy="252"/>
                      </a:xfrm>
                      <a:prstGeom prst="line">
                        <a:avLst/>
                      </a:prstGeom>
                      <a:noFill/>
                      <a:ln w="9525">
                        <a:solidFill>
                          <a:schemeClr val="tx1"/>
                        </a:solidFill>
                        <a:round/>
                        <a:headEnd/>
                        <a:tailEnd/>
                      </a:ln>
                    </p:spPr>
                    <p:txBody>
                      <a:bodyPr wrap="none" anchor="ctr"/>
                      <a:lstStyle/>
                      <a:p>
                        <a:endParaRPr lang="zh-CN" altLang="en-US"/>
                      </a:p>
                    </p:txBody>
                  </p:sp>
                  <p:sp>
                    <p:nvSpPr>
                      <p:cNvPr id="19482" name="Line 61"/>
                      <p:cNvSpPr>
                        <a:spLocks noChangeShapeType="1"/>
                      </p:cNvSpPr>
                      <p:nvPr/>
                    </p:nvSpPr>
                    <p:spPr bwMode="auto">
                      <a:xfrm flipH="1">
                        <a:off x="2688" y="3130"/>
                        <a:ext cx="682" cy="0"/>
                      </a:xfrm>
                      <a:prstGeom prst="line">
                        <a:avLst/>
                      </a:prstGeom>
                      <a:noFill/>
                      <a:ln w="9525">
                        <a:solidFill>
                          <a:schemeClr val="tx1"/>
                        </a:solidFill>
                        <a:round/>
                        <a:headEnd/>
                        <a:tailEnd/>
                      </a:ln>
                    </p:spPr>
                    <p:txBody>
                      <a:bodyPr wrap="none" anchor="ctr"/>
                      <a:lstStyle/>
                      <a:p>
                        <a:endParaRPr lang="zh-CN" altLang="en-US"/>
                      </a:p>
                    </p:txBody>
                  </p:sp>
                  <p:sp>
                    <p:nvSpPr>
                      <p:cNvPr id="19483" name="Line 62"/>
                      <p:cNvSpPr>
                        <a:spLocks noChangeShapeType="1"/>
                      </p:cNvSpPr>
                      <p:nvPr/>
                    </p:nvSpPr>
                    <p:spPr bwMode="auto">
                      <a:xfrm flipV="1">
                        <a:off x="2688" y="2878"/>
                        <a:ext cx="0" cy="252"/>
                      </a:xfrm>
                      <a:prstGeom prst="line">
                        <a:avLst/>
                      </a:prstGeom>
                      <a:noFill/>
                      <a:ln w="9525">
                        <a:solidFill>
                          <a:schemeClr val="tx1"/>
                        </a:solidFill>
                        <a:round/>
                        <a:headEnd/>
                        <a:tailEnd/>
                      </a:ln>
                    </p:spPr>
                    <p:txBody>
                      <a:bodyPr wrap="none" anchor="ctr"/>
                      <a:lstStyle/>
                      <a:p>
                        <a:endParaRPr lang="zh-CN" altLang="en-US"/>
                      </a:p>
                    </p:txBody>
                  </p:sp>
                </p:grpSp>
                <p:grpSp>
                  <p:nvGrpSpPr>
                    <p:cNvPr id="19472" name="Group 63"/>
                    <p:cNvGrpSpPr>
                      <a:grpSpLocks/>
                    </p:cNvGrpSpPr>
                    <p:nvPr/>
                  </p:nvGrpSpPr>
                  <p:grpSpPr bwMode="auto">
                    <a:xfrm>
                      <a:off x="3779" y="2880"/>
                      <a:ext cx="637" cy="288"/>
                      <a:chOff x="3779" y="2878"/>
                      <a:chExt cx="637" cy="288"/>
                    </a:xfrm>
                  </p:grpSpPr>
                  <p:sp>
                    <p:nvSpPr>
                      <p:cNvPr id="19475" name="Line 64"/>
                      <p:cNvSpPr>
                        <a:spLocks noChangeShapeType="1"/>
                      </p:cNvSpPr>
                      <p:nvPr/>
                    </p:nvSpPr>
                    <p:spPr bwMode="auto">
                      <a:xfrm>
                        <a:off x="3779" y="2878"/>
                        <a:ext cx="637" cy="0"/>
                      </a:xfrm>
                      <a:prstGeom prst="line">
                        <a:avLst/>
                      </a:prstGeom>
                      <a:noFill/>
                      <a:ln w="9525">
                        <a:solidFill>
                          <a:schemeClr val="tx1"/>
                        </a:solidFill>
                        <a:round/>
                        <a:headEnd/>
                        <a:tailEnd/>
                      </a:ln>
                    </p:spPr>
                    <p:txBody>
                      <a:bodyPr wrap="none" anchor="ctr"/>
                      <a:lstStyle/>
                      <a:p>
                        <a:endParaRPr lang="zh-CN" altLang="en-US"/>
                      </a:p>
                    </p:txBody>
                  </p:sp>
                  <p:sp>
                    <p:nvSpPr>
                      <p:cNvPr id="19476" name="Line 65"/>
                      <p:cNvSpPr>
                        <a:spLocks noChangeShapeType="1"/>
                      </p:cNvSpPr>
                      <p:nvPr/>
                    </p:nvSpPr>
                    <p:spPr bwMode="auto">
                      <a:xfrm>
                        <a:off x="4416" y="2878"/>
                        <a:ext cx="0" cy="288"/>
                      </a:xfrm>
                      <a:prstGeom prst="line">
                        <a:avLst/>
                      </a:prstGeom>
                      <a:noFill/>
                      <a:ln w="9525">
                        <a:solidFill>
                          <a:schemeClr val="tx1"/>
                        </a:solidFill>
                        <a:round/>
                        <a:headEnd/>
                        <a:tailEnd/>
                      </a:ln>
                    </p:spPr>
                    <p:txBody>
                      <a:bodyPr wrap="none" anchor="ctr"/>
                      <a:lstStyle/>
                      <a:p>
                        <a:endParaRPr lang="zh-CN" altLang="en-US"/>
                      </a:p>
                    </p:txBody>
                  </p:sp>
                  <p:sp>
                    <p:nvSpPr>
                      <p:cNvPr id="19477" name="Line 66"/>
                      <p:cNvSpPr>
                        <a:spLocks noChangeShapeType="1"/>
                      </p:cNvSpPr>
                      <p:nvPr/>
                    </p:nvSpPr>
                    <p:spPr bwMode="auto">
                      <a:xfrm flipH="1">
                        <a:off x="3779" y="3166"/>
                        <a:ext cx="637" cy="0"/>
                      </a:xfrm>
                      <a:prstGeom prst="line">
                        <a:avLst/>
                      </a:prstGeom>
                      <a:noFill/>
                      <a:ln w="9525">
                        <a:solidFill>
                          <a:schemeClr val="tx1"/>
                        </a:solidFill>
                        <a:round/>
                        <a:headEnd/>
                        <a:tailEnd/>
                      </a:ln>
                    </p:spPr>
                    <p:txBody>
                      <a:bodyPr wrap="none" anchor="ctr"/>
                      <a:lstStyle/>
                      <a:p>
                        <a:endParaRPr lang="zh-CN" altLang="en-US"/>
                      </a:p>
                    </p:txBody>
                  </p:sp>
                  <p:sp>
                    <p:nvSpPr>
                      <p:cNvPr id="19478" name="Line 67"/>
                      <p:cNvSpPr>
                        <a:spLocks noChangeShapeType="1"/>
                      </p:cNvSpPr>
                      <p:nvPr/>
                    </p:nvSpPr>
                    <p:spPr bwMode="auto">
                      <a:xfrm flipV="1">
                        <a:off x="3779" y="2878"/>
                        <a:ext cx="0" cy="288"/>
                      </a:xfrm>
                      <a:prstGeom prst="line">
                        <a:avLst/>
                      </a:prstGeom>
                      <a:noFill/>
                      <a:ln w="9525">
                        <a:solidFill>
                          <a:schemeClr val="tx1"/>
                        </a:solidFill>
                        <a:round/>
                        <a:headEnd/>
                        <a:tailEnd/>
                      </a:ln>
                    </p:spPr>
                    <p:txBody>
                      <a:bodyPr wrap="none" anchor="ctr"/>
                      <a:lstStyle/>
                      <a:p>
                        <a:endParaRPr lang="zh-CN" altLang="en-US"/>
                      </a:p>
                    </p:txBody>
                  </p:sp>
                  <p:sp>
                    <p:nvSpPr>
                      <p:cNvPr id="19479" name="Text Box 68"/>
                      <p:cNvSpPr txBox="1">
                        <a:spLocks noChangeArrowheads="1"/>
                      </p:cNvSpPr>
                      <p:nvPr/>
                    </p:nvSpPr>
                    <p:spPr bwMode="auto">
                      <a:xfrm>
                        <a:off x="3878" y="2901"/>
                        <a:ext cx="396" cy="231"/>
                      </a:xfrm>
                      <a:prstGeom prst="rect">
                        <a:avLst/>
                      </a:prstGeom>
                      <a:noFill/>
                      <a:ln w="9525">
                        <a:noFill/>
                        <a:miter lim="800000"/>
                        <a:headEnd/>
                        <a:tailEnd/>
                      </a:ln>
                    </p:spPr>
                    <p:txBody>
                      <a:bodyPr wrap="none">
                        <a:spAutoFit/>
                      </a:bodyPr>
                      <a:lstStyle/>
                      <a:p>
                        <a:r>
                          <a:rPr lang="en-US" altLang="zh-CN" b="1"/>
                          <a:t> 100</a:t>
                        </a:r>
                      </a:p>
                    </p:txBody>
                  </p:sp>
                </p:grpSp>
                <p:sp>
                  <p:nvSpPr>
                    <p:cNvPr id="19473" name="Text Box 69"/>
                    <p:cNvSpPr txBox="1">
                      <a:spLocks noChangeArrowheads="1"/>
                    </p:cNvSpPr>
                    <p:nvPr/>
                  </p:nvSpPr>
                  <p:spPr bwMode="auto">
                    <a:xfrm>
                      <a:off x="2736" y="2567"/>
                      <a:ext cx="576" cy="288"/>
                    </a:xfrm>
                    <a:prstGeom prst="rect">
                      <a:avLst/>
                    </a:prstGeom>
                    <a:noFill/>
                    <a:ln w="9525">
                      <a:noFill/>
                      <a:miter lim="800000"/>
                      <a:headEnd/>
                      <a:tailEnd/>
                    </a:ln>
                  </p:spPr>
                  <p:txBody>
                    <a:bodyPr>
                      <a:spAutoFit/>
                    </a:bodyPr>
                    <a:lstStyle/>
                    <a:p>
                      <a:r>
                        <a:rPr lang="en-US" altLang="zh-CN" sz="2400" b="1"/>
                        <a:t>intpt</a:t>
                      </a:r>
                    </a:p>
                  </p:txBody>
                </p:sp>
                <p:sp>
                  <p:nvSpPr>
                    <p:cNvPr id="19474" name="Text Box 70"/>
                    <p:cNvSpPr txBox="1">
                      <a:spLocks noChangeArrowheads="1"/>
                    </p:cNvSpPr>
                    <p:nvPr/>
                  </p:nvSpPr>
                  <p:spPr bwMode="auto">
                    <a:xfrm>
                      <a:off x="3926" y="2590"/>
                      <a:ext cx="346" cy="288"/>
                    </a:xfrm>
                    <a:prstGeom prst="rect">
                      <a:avLst/>
                    </a:prstGeom>
                    <a:noFill/>
                    <a:ln w="9525">
                      <a:noFill/>
                      <a:miter lim="800000"/>
                      <a:headEnd/>
                      <a:tailEnd/>
                    </a:ln>
                  </p:spPr>
                  <p:txBody>
                    <a:bodyPr>
                      <a:spAutoFit/>
                    </a:bodyPr>
                    <a:lstStyle/>
                    <a:p>
                      <a:pPr algn="ctr"/>
                      <a:r>
                        <a:rPr lang="en-US" altLang="zh-CN" sz="2400" b="1"/>
                        <a:t>j</a:t>
                      </a:r>
                    </a:p>
                  </p:txBody>
                </p:sp>
              </p:grpSp>
            </p:grpSp>
          </p:grpSp>
        </p:grpSp>
        <p:sp>
          <p:nvSpPr>
            <p:cNvPr id="77895" name="Rectangle 71"/>
            <p:cNvSpPr>
              <a:spLocks noChangeArrowheads="1"/>
            </p:cNvSpPr>
            <p:nvPr/>
          </p:nvSpPr>
          <p:spPr bwMode="auto">
            <a:xfrm>
              <a:off x="816" y="3504"/>
              <a:ext cx="3856" cy="642"/>
            </a:xfrm>
            <a:prstGeom prst="rect">
              <a:avLst/>
            </a:prstGeom>
            <a:noFill/>
            <a:ln w="9525">
              <a:noFill/>
              <a:miter lim="800000"/>
              <a:headEnd/>
              <a:tailEnd/>
            </a:ln>
            <a:effectLst/>
          </p:spPr>
          <p:txBody>
            <a:bodyPr>
              <a:spAutoFit/>
            </a:bodyPr>
            <a:lstStyle/>
            <a:p>
              <a:pPr>
                <a:lnSpc>
                  <a:spcPct val="90000"/>
                </a:lnSpc>
                <a:spcBef>
                  <a:spcPct val="50000"/>
                </a:spcBef>
                <a:buClr>
                  <a:schemeClr val="hlink"/>
                </a:buClr>
                <a:buSzPct val="50000"/>
                <a:buFont typeface="Monotype Sorts" pitchFamily="2" charset="2"/>
                <a:buNone/>
                <a:defRPr/>
              </a:pPr>
              <a:r>
                <a:rPr kumimoji="1" lang="en-US" altLang="zh-CN" sz="2400" b="1">
                  <a:latin typeface="Times New Roman" charset="0"/>
                  <a:ea typeface="宋体" pitchFamily="2" charset="-122"/>
                </a:rPr>
                <a:t>(a) </a:t>
              </a:r>
              <a:r>
                <a:rPr kumimoji="1" lang="zh-CN" altLang="en-US" sz="2400" b="1">
                  <a:latin typeface="Times New Roman" charset="0"/>
                  <a:ea typeface="宋体" pitchFamily="2" charset="-122"/>
                </a:rPr>
                <a:t>赋值前                 		</a:t>
              </a:r>
              <a:r>
                <a:rPr kumimoji="1" lang="en-US" altLang="zh-CN" sz="2400" b="1">
                  <a:latin typeface="Times New Roman" charset="0"/>
                  <a:ea typeface="宋体" pitchFamily="2" charset="-122"/>
                </a:rPr>
                <a:t>(b) </a:t>
              </a:r>
              <a:r>
                <a:rPr kumimoji="1" lang="zh-CN" altLang="en-US" sz="2400" b="1">
                  <a:latin typeface="Times New Roman" charset="0"/>
                  <a:ea typeface="宋体" pitchFamily="2" charset="-122"/>
                </a:rPr>
                <a:t>赋值后</a:t>
              </a:r>
            </a:p>
            <a:p>
              <a:pPr>
                <a:lnSpc>
                  <a:spcPct val="90000"/>
                </a:lnSpc>
                <a:spcBef>
                  <a:spcPct val="50000"/>
                </a:spcBef>
                <a:buClr>
                  <a:schemeClr val="hlink"/>
                </a:buClr>
                <a:buSzPct val="50000"/>
                <a:buFont typeface="Monotype Sorts" pitchFamily="2" charset="2"/>
                <a:buNone/>
                <a:defRPr/>
              </a:pPr>
              <a:r>
                <a:rPr kumimoji="1" lang="zh-CN" altLang="en-US" sz="2800" b="1">
                  <a:solidFill>
                    <a:schemeClr val="bg2"/>
                  </a:solidFill>
                  <a:effectLst>
                    <a:outerShdw blurRad="38100" dist="38100" dir="2700000" algn="tl">
                      <a:srgbClr val="C0C0C0"/>
                    </a:outerShdw>
                  </a:effectLst>
                  <a:latin typeface="宋体" pitchFamily="2" charset="-122"/>
                  <a:ea typeface="宋体" pitchFamily="2" charset="-122"/>
                </a:rPr>
                <a:t>   </a:t>
              </a:r>
              <a:r>
                <a:rPr kumimoji="1" lang="zh-CN" altLang="en-US" sz="2800" b="1">
                  <a:solidFill>
                    <a:srgbClr val="0000CC"/>
                  </a:solidFill>
                  <a:latin typeface="宋体" pitchFamily="2" charset="-122"/>
                  <a:ea typeface="宋体" pitchFamily="2" charset="-122"/>
                </a:rPr>
                <a:t>指针变量所指变量之间赋值</a:t>
              </a:r>
            </a:p>
          </p:txBody>
        </p:sp>
      </p:grpSp>
      <p:sp>
        <p:nvSpPr>
          <p:cNvPr id="19460" name="TextBox 73"/>
          <p:cNvSpPr txBox="1">
            <a:spLocks noChangeArrowheads="1"/>
          </p:cNvSpPr>
          <p:nvPr/>
        </p:nvSpPr>
        <p:spPr bwMode="auto">
          <a:xfrm>
            <a:off x="1285875" y="714375"/>
            <a:ext cx="5570538" cy="523875"/>
          </a:xfrm>
          <a:prstGeom prst="rect">
            <a:avLst/>
          </a:prstGeom>
          <a:noFill/>
          <a:ln w="9525">
            <a:noFill/>
            <a:miter lim="800000"/>
            <a:headEnd/>
            <a:tailEnd/>
          </a:ln>
        </p:spPr>
        <p:txBody>
          <a:bodyPr wrap="none">
            <a:spAutoFit/>
          </a:bodyPr>
          <a:lstStyle/>
          <a:p>
            <a:r>
              <a:rPr lang="zh-CN" altLang="en-US" sz="2800">
                <a:latin typeface="黑体" pitchFamily="2" charset="-122"/>
                <a:ea typeface="黑体" pitchFamily="2" charset="-122"/>
              </a:rPr>
              <a:t>指针变量所指变量之间赋值的示意</a:t>
            </a:r>
            <a:endParaRPr lang="zh-CN" altLang="en-US" sz="2800">
              <a:solidFill>
                <a:srgbClr val="FF0000"/>
              </a:solidFill>
              <a:latin typeface="楷体_GB2312" pitchFamily="49" charset="-122"/>
              <a:ea typeface="楷体_GB2312" pitchFamily="49" charset="-122"/>
            </a:endParaRPr>
          </a:p>
        </p:txBody>
      </p:sp>
      <p:sp>
        <p:nvSpPr>
          <p:cNvPr id="71" name="Slide Number Placeholder 70"/>
          <p:cNvSpPr>
            <a:spLocks noGrp="1"/>
          </p:cNvSpPr>
          <p:nvPr>
            <p:ph type="sldNum" sz="quarter" idx="12"/>
          </p:nvPr>
        </p:nvSpPr>
        <p:spPr/>
        <p:txBody>
          <a:bodyPr/>
          <a:lstStyle/>
          <a:p>
            <a:pPr>
              <a:defRPr/>
            </a:pPr>
            <a:fld id="{7FDF51FD-C105-4F34-B232-4D64AA291E90}" type="slidenum">
              <a:rPr lang="en-US" altLang="zh-CN"/>
              <a:pPr>
                <a:defRPr/>
              </a:pPr>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idx="1"/>
          </p:nvPr>
        </p:nvSpPr>
        <p:spPr>
          <a:xfrm>
            <a:off x="304800" y="404813"/>
            <a:ext cx="8610600" cy="6224587"/>
          </a:xfrm>
        </p:spPr>
        <p:txBody>
          <a:bodyPr>
            <a:normAutofit/>
          </a:bodyPr>
          <a:lstStyle/>
          <a:p>
            <a:pPr marL="0" indent="0" eaLnBrk="1" fontAlgn="auto" hangingPunct="1">
              <a:lnSpc>
                <a:spcPct val="9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a:effectLst>
                  <a:outerShdw blurRad="38100" dist="38100" dir="2700000" algn="tl">
                    <a:srgbClr val="C0C0C0"/>
                  </a:outerShdw>
                </a:effectLst>
                <a:latin typeface="楷体_GB2312" pitchFamily="49" charset="-122"/>
                <a:ea typeface="楷体_GB2312" pitchFamily="49" charset="-122"/>
              </a:rPr>
              <a:t>1</a:t>
            </a:r>
            <a:r>
              <a:rPr lang="zh-CN" altLang="en-US"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指针变量的</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定义</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与</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间接引用</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指针变量所指对象采用了相似的标记形式</a:t>
            </a:r>
            <a:r>
              <a:rPr lang="en-US" altLang="zh-CN" sz="2400" b="1" dirty="0">
                <a:solidFill>
                  <a:srgbClr val="006600"/>
                </a:solidFill>
                <a:effectLst>
                  <a:outerShdw blurRad="38100" dist="38100" dir="2700000" algn="tl">
                    <a:srgbClr val="C0C0C0"/>
                  </a:outerShdw>
                </a:effectLst>
                <a:latin typeface="楷体_GB2312" pitchFamily="49" charset="-122"/>
                <a:ea typeface="楷体_GB2312" pitchFamily="49" charset="-122"/>
              </a:rPr>
              <a:t>(* </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指针变量名</a:t>
            </a:r>
            <a:r>
              <a:rPr lang="en-US" altLang="zh-CN" sz="2400" b="1" dirty="0">
                <a:solidFill>
                  <a:srgbClr val="006600"/>
                </a:solidFill>
                <a:effectLst>
                  <a:outerShdw blurRad="38100" dist="38100" dir="2700000" algn="tl">
                    <a:srgbClr val="C0C0C0"/>
                  </a:outerShdw>
                </a:effectLst>
                <a:latin typeface="楷体_GB2312" pitchFamily="49" charset="-122"/>
                <a:ea typeface="楷体_GB2312" pitchFamily="49" charset="-122"/>
              </a:rPr>
              <a:t>)</a:t>
            </a:r>
            <a:r>
              <a:rPr lang="zh-CN" altLang="en-US" sz="2400" b="1" dirty="0">
                <a:solidFill>
                  <a:srgbClr val="006600"/>
                </a:solidFill>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但它们的</a:t>
            </a:r>
            <a:r>
              <a:rPr lang="zh-CN" altLang="en-US" sz="2400" b="1" dirty="0">
                <a:solidFill>
                  <a:srgbClr val="990000"/>
                </a:solidFill>
                <a:effectLst>
                  <a:outerShdw blurRad="38100" dist="38100" dir="2700000" algn="tl">
                    <a:srgbClr val="C0C0C0"/>
                  </a:outerShdw>
                </a:effectLst>
                <a:latin typeface="楷体_GB2312" pitchFamily="49" charset="-122"/>
                <a:ea typeface="楷体_GB2312" pitchFamily="49" charset="-122"/>
              </a:rPr>
              <a:t>作用与意义是完全不同</a:t>
            </a:r>
            <a:r>
              <a:rPr lang="zh-CN" altLang="en-US" sz="2400" b="1" dirty="0">
                <a:effectLst>
                  <a:outerShdw blurRad="38100" dist="38100" dir="2700000" algn="tl">
                    <a:srgbClr val="C0C0C0"/>
                  </a:outerShdw>
                </a:effectLst>
                <a:latin typeface="楷体_GB2312" pitchFamily="49" charset="-122"/>
                <a:ea typeface="楷体_GB2312" pitchFamily="49" charset="-122"/>
              </a:rPr>
              <a:t>的。在指针变量定义中</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例如，</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ip</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，指针变量名之前的符号</a:t>
            </a:r>
            <a:r>
              <a:rPr lang="zh-CN" altLang="en-US" sz="2400" b="1" dirty="0">
                <a:effectLst>
                  <a:outerShdw blurRad="38100" dist="38100" dir="2700000" algn="tl">
                    <a:srgbClr val="C0C0C0"/>
                  </a:outerShdw>
                </a:effectLst>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说明其随后的标识符是指针变量名。如果指针变量定义时带有初始化表达式，例如</a:t>
            </a:r>
          </a:p>
          <a:p>
            <a:pPr marL="0" indent="0" eaLnBrk="1" fontAlgn="auto" hangingPunct="1">
              <a:lnSpc>
                <a:spcPct val="90000"/>
              </a:lnSpc>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zh-CN" altLang="en-US"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err="1">
                <a:effectLst>
                  <a:outerShdw blurRad="38100" dist="38100" dir="2700000" algn="tl">
                    <a:srgbClr val="C0C0C0"/>
                  </a:outerShdw>
                </a:effectLst>
                <a:latin typeface="楷体_GB2312" pitchFamily="49" charset="-122"/>
                <a:ea typeface="楷体_GB2312" pitchFamily="49" charset="-122"/>
              </a:rPr>
              <a:t>ip</a:t>
            </a:r>
            <a:r>
              <a:rPr lang="en-US" altLang="zh-CN" sz="2400" b="1" dirty="0">
                <a:effectLst>
                  <a:outerShdw blurRad="38100" dist="38100" dir="2700000" algn="tl">
                    <a:srgbClr val="C0C0C0"/>
                  </a:outerShdw>
                </a:effectLst>
                <a:latin typeface="楷体_GB2312" pitchFamily="49" charset="-122"/>
                <a:ea typeface="楷体_GB2312" pitchFamily="49" charset="-122"/>
              </a:rPr>
              <a:t> = &amp;</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0000"/>
              </a:lnSpc>
              <a:spcAft>
                <a:spcPts val="0"/>
              </a:spcAft>
              <a:buClr>
                <a:schemeClr val="accent3"/>
              </a:buClr>
              <a:buFontTx/>
              <a:buNone/>
              <a:defRPr/>
            </a:pP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初始化表达式的地址是赋值给指针变量本身，而不是指针变量所指对象。</a:t>
            </a:r>
            <a:endPar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endParaRPr lang="zh-CN" altLang="en-US"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(2)</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通过某个指向变量</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的指针变量</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ip</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间接引用变量</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与直接按变量名</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引用变量</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，效果是相同的，</a:t>
            </a:r>
            <a:r>
              <a:rPr lang="zh-CN" altLang="en-US" sz="2400" b="1" dirty="0">
                <a:effectLst>
                  <a:outerShdw blurRad="38100" dist="38100" dir="2700000" algn="tl">
                    <a:srgbClr val="C0C0C0"/>
                  </a:outerShdw>
                </a:effectLst>
                <a:latin typeface="楷体_GB2312" pitchFamily="49" charset="-122"/>
                <a:ea typeface="楷体_GB2312" pitchFamily="49" charset="-122"/>
              </a:rPr>
              <a:t>凡能直接按变量名引用变量的地方，也可以用指向它的某个指针变量间接引用它。例如，有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ip</a:t>
            </a:r>
            <a:r>
              <a:rPr lang="en-US" altLang="zh-CN" sz="2400" b="1" dirty="0">
                <a:effectLst>
                  <a:outerShdw blurRad="38100" dist="38100" dir="2700000" algn="tl">
                    <a:srgbClr val="C0C0C0"/>
                  </a:outerShdw>
                </a:effectLst>
                <a:latin typeface="楷体_GB2312" pitchFamily="49" charset="-122"/>
                <a:ea typeface="楷体_GB2312" pitchFamily="49" charset="-122"/>
              </a:rPr>
              <a:t> = &amp;</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0000"/>
              </a:lnSpc>
              <a:spcAft>
                <a:spcPts val="0"/>
              </a:spcAft>
              <a:buClr>
                <a:schemeClr val="accent3"/>
              </a:buClr>
              <a:buFontTx/>
              <a:buNone/>
              <a:defRPr/>
            </a:pP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则凡变量</a:t>
            </a:r>
            <a:r>
              <a:rPr lang="en-US" altLang="zh-CN" sz="3200" b="1" dirty="0" err="1">
                <a:solidFill>
                  <a:srgbClr val="C00000"/>
                </a:solidFill>
                <a:effectLst>
                  <a:outerShdw blurRad="38100" dist="38100" dir="2700000" algn="tl">
                    <a:srgbClr val="C0C0C0"/>
                  </a:outerShdw>
                </a:effectLst>
                <a:latin typeface="楷体_GB2312" pitchFamily="49" charset="-122"/>
                <a:ea typeface="楷体_GB2312" pitchFamily="49" charset="-122"/>
              </a:rPr>
              <a:t>i</a:t>
            </a: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能使用的地方，*</a:t>
            </a:r>
            <a:r>
              <a:rPr lang="en-US" altLang="zh-CN" sz="3200" b="1" dirty="0" err="1">
                <a:solidFill>
                  <a:srgbClr val="C00000"/>
                </a:solidFill>
                <a:effectLst>
                  <a:outerShdw blurRad="38100" dist="38100" dir="2700000" algn="tl">
                    <a:srgbClr val="C0C0C0"/>
                  </a:outerShdw>
                </a:effectLst>
                <a:latin typeface="楷体_GB2312" pitchFamily="49" charset="-122"/>
                <a:ea typeface="楷体_GB2312" pitchFamily="49" charset="-122"/>
              </a:rPr>
              <a:t>ip</a:t>
            </a:r>
            <a:r>
              <a:rPr lang="zh-CN" altLang="en-US" sz="3200" b="1" dirty="0">
                <a:solidFill>
                  <a:srgbClr val="C00000"/>
                </a:solidFill>
                <a:effectLst>
                  <a:outerShdw blurRad="38100" dist="38100" dir="2700000" algn="tl">
                    <a:srgbClr val="C0C0C0"/>
                  </a:outerShdw>
                </a:effectLst>
                <a:latin typeface="楷体_GB2312" pitchFamily="49" charset="-122"/>
                <a:ea typeface="楷体_GB2312" pitchFamily="49" charset="-122"/>
              </a:rPr>
              <a:t>一样能用</a:t>
            </a:r>
            <a:r>
              <a:rPr lang="zh-CN" altLang="en-US" sz="2400" b="1" dirty="0">
                <a:effectLst>
                  <a:outerShdw blurRad="38100" dist="38100" dir="2700000" algn="tl">
                    <a:srgbClr val="C0C0C0"/>
                  </a:outerShdw>
                </a:effectLst>
                <a:latin typeface="楷体_GB2312" pitchFamily="49" charset="-122"/>
                <a:ea typeface="楷体_GB2312" pitchFamily="49" charset="-122"/>
              </a:rPr>
              <a:t>。</a:t>
            </a:r>
          </a:p>
        </p:txBody>
      </p:sp>
      <p:sp>
        <p:nvSpPr>
          <p:cNvPr id="3" name="Slide Number Placeholder 2"/>
          <p:cNvSpPr>
            <a:spLocks noGrp="1"/>
          </p:cNvSpPr>
          <p:nvPr>
            <p:ph type="sldNum" sz="quarter" idx="12"/>
          </p:nvPr>
        </p:nvSpPr>
        <p:spPr/>
        <p:txBody>
          <a:bodyPr/>
          <a:lstStyle/>
          <a:p>
            <a:pPr>
              <a:defRPr/>
            </a:pPr>
            <a:fld id="{777E4DC5-25EB-498E-9844-A7B36987E9DD}" type="slidenum">
              <a:rPr lang="en-US" altLang="zh-CN"/>
              <a:pPr>
                <a:defRPr/>
              </a:pPr>
              <a:t>21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0">
                                            <p:txEl>
                                              <p:pRg st="4" end="4"/>
                                            </p:txEl>
                                          </p:spTgt>
                                        </p:tgtEl>
                                        <p:attrNameLst>
                                          <p:attrName>style.visibility</p:attrName>
                                        </p:attrNameLst>
                                      </p:cBhvr>
                                      <p:to>
                                        <p:strVal val="visible"/>
                                      </p:to>
                                    </p:set>
                                    <p:anim calcmode="lin" valueType="num">
                                      <p:cBhvr additive="base">
                                        <p:cTn id="7" dur="500" fill="hold"/>
                                        <p:tgtEl>
                                          <p:spTgt spid="7885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0">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8850">
                                            <p:txEl>
                                              <p:pRg st="5" end="5"/>
                                            </p:txEl>
                                          </p:spTgt>
                                        </p:tgtEl>
                                        <p:attrNameLst>
                                          <p:attrName>style.visibility</p:attrName>
                                        </p:attrNameLst>
                                      </p:cBhvr>
                                      <p:to>
                                        <p:strVal val="visible"/>
                                      </p:to>
                                    </p:set>
                                    <p:anim calcmode="lin" valueType="num">
                                      <p:cBhvr additive="base">
                                        <p:cTn id="11" dur="500" fill="hold"/>
                                        <p:tgtEl>
                                          <p:spTgt spid="78850">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885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idx="1"/>
          </p:nvPr>
        </p:nvSpPr>
        <p:spPr>
          <a:xfrm>
            <a:off x="304800" y="404813"/>
            <a:ext cx="8610600" cy="6224587"/>
          </a:xfrm>
        </p:spPr>
        <p:txBody>
          <a:bodyPr>
            <a:normAutofit/>
          </a:bodyPr>
          <a:lstStyle/>
          <a:p>
            <a:pPr marL="0" indent="0" eaLnBrk="1" fontAlgn="auto" hangingPunct="1">
              <a:lnSpc>
                <a:spcPct val="90000"/>
              </a:lnSpc>
              <a:spcAft>
                <a:spcPts val="0"/>
              </a:spcAft>
              <a:buClr>
                <a:schemeClr val="accent3"/>
              </a:buClr>
              <a:buFontTx/>
              <a:buNone/>
              <a:defRPr/>
            </a:pPr>
            <a:r>
              <a:rPr lang="en-US" altLang="zh-CN" b="1" dirty="0">
                <a:effectLst>
                  <a:outerShdw blurRad="38100" dist="38100" dir="2700000" algn="tl">
                    <a:srgbClr val="C0C0C0"/>
                  </a:outerShdw>
                </a:effectLst>
                <a:latin typeface="楷体_GB2312" pitchFamily="49" charset="-122"/>
                <a:ea typeface="楷体_GB2312" pitchFamily="49" charset="-122"/>
              </a:rPr>
              <a:t>(3)</a:t>
            </a:r>
            <a:r>
              <a:rPr lang="zh-CN" altLang="en-US" b="1" dirty="0">
                <a:effectLst>
                  <a:outerShdw blurRad="38100" dist="38100" dir="2700000" algn="tl">
                    <a:srgbClr val="C0C0C0"/>
                  </a:outerShdw>
                </a:effectLst>
                <a:latin typeface="楷体_GB2312" pitchFamily="49" charset="-122"/>
                <a:ea typeface="楷体_GB2312" pitchFamily="49" charset="-122"/>
              </a:rPr>
              <a:t>单目运算符*、</a:t>
            </a:r>
            <a:r>
              <a:rPr lang="en-US" altLang="zh-CN" b="1" dirty="0">
                <a:effectLst>
                  <a:outerShdw blurRad="38100" dist="38100" dir="2700000" algn="tl">
                    <a:srgbClr val="C0C0C0"/>
                  </a:outerShdw>
                </a:effectLst>
                <a:latin typeface="楷体_GB2312" pitchFamily="49" charset="-122"/>
                <a:ea typeface="楷体_GB2312" pitchFamily="49" charset="-122"/>
              </a:rPr>
              <a:t>&amp;</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和</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是从右向左结合的。所以要注意分清相关的表达式中的运算对象是指针变量、还是指针变量所指对象。</a:t>
            </a:r>
          </a:p>
          <a:p>
            <a:pPr marL="0" indent="0" eaLnBrk="1" fontAlgn="auto" hangingPunct="1">
              <a:lnSpc>
                <a:spcPct val="90000"/>
              </a:lnSpc>
              <a:spcAft>
                <a:spcPts val="0"/>
              </a:spcAft>
              <a:buClr>
                <a:schemeClr val="accent3"/>
              </a:buClr>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例如，有变量定义</a:t>
            </a:r>
          </a:p>
          <a:p>
            <a:pPr marL="0" indent="0" eaLnBrk="1" fontAlgn="auto" hangingPunct="1">
              <a:lnSpc>
                <a:spcPct val="90000"/>
              </a:lnSpc>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i</a:t>
            </a:r>
            <a:r>
              <a:rPr lang="en-US" altLang="zh-CN" b="1" dirty="0">
                <a:effectLst>
                  <a:outerShdw blurRad="38100" dist="38100" dir="2700000" algn="tl">
                    <a:srgbClr val="C0C0C0"/>
                  </a:outerShdw>
                </a:effectLst>
                <a:latin typeface="楷体_GB2312" pitchFamily="49" charset="-122"/>
                <a:ea typeface="楷体_GB2312" pitchFamily="49" charset="-122"/>
              </a:rPr>
              <a:t>, j, *</a:t>
            </a:r>
            <a:r>
              <a:rPr lang="en-US" altLang="zh-CN" b="1" dirty="0" err="1">
                <a:effectLst>
                  <a:outerShdw blurRad="38100" dist="38100" dir="2700000" algn="tl">
                    <a:srgbClr val="C0C0C0"/>
                  </a:outerShdw>
                </a:effectLst>
                <a:latin typeface="楷体_GB2312" pitchFamily="49" charset="-122"/>
                <a:ea typeface="楷体_GB2312" pitchFamily="49" charset="-122"/>
              </a:rPr>
              <a:t>ip</a:t>
            </a:r>
            <a:r>
              <a:rPr lang="en-US" altLang="zh-CN" b="1" dirty="0">
                <a:effectLst>
                  <a:outerShdw blurRad="38100" dist="38100" dir="2700000" algn="tl">
                    <a:srgbClr val="C0C0C0"/>
                  </a:outerShdw>
                </a:effectLst>
                <a:latin typeface="楷体_GB2312" pitchFamily="49" charset="-122"/>
                <a:ea typeface="楷体_GB2312" pitchFamily="49" charset="-122"/>
              </a:rPr>
              <a:t> = &amp;</a:t>
            </a:r>
            <a:r>
              <a:rPr lang="en-US" altLang="zh-CN" b="1" dirty="0" err="1">
                <a:effectLst>
                  <a:outerShdw blurRad="38100" dist="38100" dir="2700000" algn="tl">
                    <a:srgbClr val="C0C0C0"/>
                  </a:outerShdw>
                </a:effectLst>
                <a:latin typeface="楷体_GB2312" pitchFamily="49" charset="-122"/>
                <a:ea typeface="楷体_GB2312" pitchFamily="49" charset="-122"/>
              </a:rPr>
              <a:t>i</a:t>
            </a:r>
            <a:r>
              <a:rPr lang="en-US" altLang="zh-CN"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lnSpc>
                <a:spcPct val="90000"/>
              </a:lnSpc>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代码</a:t>
            </a:r>
          </a:p>
          <a:p>
            <a:pPr marL="0" indent="0" eaLnBrk="1" fontAlgn="auto" hangingPunct="1">
              <a:lnSpc>
                <a:spcPct val="90000"/>
              </a:lnSpc>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a:effectLst>
                  <a:outerShdw blurRad="38100" dist="38100" dir="2700000" algn="tl">
                    <a:srgbClr val="C0C0C0"/>
                  </a:outerShdw>
                </a:effectLst>
                <a:latin typeface="楷体_GB2312" pitchFamily="49" charset="-122"/>
                <a:ea typeface="楷体_GB2312" pitchFamily="49" charset="-122"/>
              </a:rPr>
              <a:t>j = ++*</a:t>
            </a:r>
            <a:r>
              <a:rPr lang="en-US" altLang="zh-CN" b="1" dirty="0" err="1">
                <a:effectLst>
                  <a:outerShdw blurRad="38100" dist="38100" dir="2700000" algn="tl">
                    <a:srgbClr val="C0C0C0"/>
                  </a:outerShdw>
                </a:effectLst>
                <a:latin typeface="楷体_GB2312" pitchFamily="49" charset="-122"/>
                <a:ea typeface="楷体_GB2312" pitchFamily="49" charset="-122"/>
              </a:rPr>
              <a:t>ip</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0000"/>
              </a:lnSpc>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先是*</a:t>
            </a:r>
            <a:r>
              <a:rPr lang="en-US" altLang="zh-CN" b="1" dirty="0" err="1">
                <a:effectLst>
                  <a:outerShdw blurRad="38100" dist="38100" dir="2700000" algn="tl">
                    <a:srgbClr val="C0C0C0"/>
                  </a:outerShdw>
                </a:effectLst>
                <a:latin typeface="楷体_GB2312" pitchFamily="49" charset="-122"/>
                <a:ea typeface="楷体_GB2312" pitchFamily="49" charset="-122"/>
              </a:rPr>
              <a:t>ip</a:t>
            </a:r>
            <a:r>
              <a:rPr lang="zh-CN" altLang="en-US" b="1" dirty="0">
                <a:effectLst>
                  <a:outerShdw blurRad="38100" dist="38100" dir="2700000" algn="tl">
                    <a:srgbClr val="C0C0C0"/>
                  </a:outerShdw>
                </a:effectLst>
                <a:latin typeface="楷体_GB2312" pitchFamily="49" charset="-122"/>
                <a:ea typeface="楷体_GB2312" pitchFamily="49" charset="-122"/>
              </a:rPr>
              <a:t>，间接引用</a:t>
            </a:r>
            <a:r>
              <a:rPr lang="en-US" altLang="zh-CN" b="1" dirty="0" err="1">
                <a:effectLst>
                  <a:outerShdw blurRad="38100" dist="38100" dir="2700000" algn="tl">
                    <a:srgbClr val="C0C0C0"/>
                  </a:outerShdw>
                </a:effectLst>
                <a:latin typeface="楷体_GB2312" pitchFamily="49" charset="-122"/>
                <a:ea typeface="楷体_GB2312" pitchFamily="49" charset="-122"/>
              </a:rPr>
              <a:t>ip</a:t>
            </a:r>
            <a:r>
              <a:rPr lang="zh-CN" altLang="en-US" b="1" dirty="0">
                <a:effectLst>
                  <a:outerShdw blurRad="38100" dist="38100" dir="2700000" algn="tl">
                    <a:srgbClr val="C0C0C0"/>
                  </a:outerShdw>
                </a:effectLst>
                <a:latin typeface="楷体_GB2312" pitchFamily="49" charset="-122"/>
                <a:ea typeface="楷体_GB2312" pitchFamily="49" charset="-122"/>
              </a:rPr>
              <a:t>所指向的变量</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变量</a:t>
            </a:r>
            <a:r>
              <a:rPr lang="en-US" altLang="zh-CN" b="1" dirty="0" err="1">
                <a:effectLst>
                  <a:outerShdw blurRad="38100" dist="38100" dir="2700000" algn="tl">
                    <a:srgbClr val="C0C0C0"/>
                  </a:outerShdw>
                </a:effectLst>
                <a:latin typeface="楷体_GB2312" pitchFamily="49" charset="-122"/>
                <a:ea typeface="楷体_GB2312" pitchFamily="49" charset="-122"/>
              </a:rPr>
              <a:t>i</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，然后对变量</a:t>
            </a:r>
            <a:r>
              <a:rPr lang="en-US" altLang="zh-CN" b="1" dirty="0" err="1">
                <a:effectLst>
                  <a:outerShdw blurRad="38100" dist="38100" dir="2700000" algn="tl">
                    <a:srgbClr val="C0C0C0"/>
                  </a:outerShdw>
                </a:effectLst>
                <a:latin typeface="楷体_GB2312" pitchFamily="49" charset="-122"/>
                <a:ea typeface="楷体_GB2312" pitchFamily="49" charset="-122"/>
              </a:rPr>
              <a:t>i</a:t>
            </a:r>
            <a:r>
              <a:rPr lang="zh-CN" altLang="en-US" b="1" dirty="0">
                <a:effectLst>
                  <a:outerShdw blurRad="38100" dist="38100" dir="2700000" algn="tl">
                    <a:srgbClr val="C0C0C0"/>
                  </a:outerShdw>
                </a:effectLst>
                <a:latin typeface="楷体_GB2312" pitchFamily="49" charset="-122"/>
                <a:ea typeface="楷体_GB2312" pitchFamily="49" charset="-122"/>
              </a:rPr>
              <a:t>进行自增运算，并将运算结果赋值给变量</a:t>
            </a:r>
            <a:r>
              <a:rPr lang="en-US" altLang="zh-CN" b="1" dirty="0">
                <a:effectLst>
                  <a:outerShdw blurRad="38100" dist="38100" dir="2700000" algn="tl">
                    <a:srgbClr val="C0C0C0"/>
                  </a:outerShdw>
                </a:effectLst>
                <a:latin typeface="楷体_GB2312" pitchFamily="49" charset="-122"/>
                <a:ea typeface="楷体_GB2312" pitchFamily="49" charset="-122"/>
              </a:rPr>
              <a:t>j</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0000"/>
              </a:lnSpc>
              <a:spcAft>
                <a:spcPts val="0"/>
              </a:spcAft>
              <a:buClr>
                <a:schemeClr val="accent3"/>
              </a:buClr>
              <a:buFontTx/>
              <a:buNone/>
              <a:defRPr/>
            </a:pPr>
            <a:r>
              <a:rPr lang="en-US" altLang="zh-CN" b="1" dirty="0">
                <a:effectLst>
                  <a:outerShdw blurRad="38100" dist="38100" dir="2700000" algn="tl">
                    <a:srgbClr val="C0C0C0"/>
                  </a:outerShdw>
                </a:effectLst>
                <a:latin typeface="楷体_GB2312" pitchFamily="49" charset="-122"/>
                <a:ea typeface="楷体_GB2312" pitchFamily="49" charset="-122"/>
              </a:rPr>
              <a:t>++*</a:t>
            </a:r>
            <a:r>
              <a:rPr lang="en-US" altLang="zh-CN" b="1" dirty="0" err="1">
                <a:effectLst>
                  <a:outerShdw blurRad="38100" dist="38100" dir="2700000" algn="tl">
                    <a:srgbClr val="C0C0C0"/>
                  </a:outerShdw>
                </a:effectLst>
                <a:latin typeface="楷体_GB2312" pitchFamily="49" charset="-122"/>
                <a:ea typeface="楷体_GB2312" pitchFamily="49" charset="-122"/>
              </a:rPr>
              <a:t>ip</a:t>
            </a:r>
            <a:r>
              <a:rPr lang="zh-CN" altLang="en-US" b="1" dirty="0">
                <a:effectLst>
                  <a:outerShdw blurRad="38100" dist="38100" dir="2700000" algn="tl">
                    <a:srgbClr val="C0C0C0"/>
                  </a:outerShdw>
                </a:effectLst>
                <a:latin typeface="楷体_GB2312" pitchFamily="49" charset="-122"/>
                <a:ea typeface="楷体_GB2312" pitchFamily="49" charset="-122"/>
              </a:rPr>
              <a:t>相当于</a:t>
            </a:r>
            <a:r>
              <a:rPr lang="en-US" altLang="zh-CN" b="1" dirty="0">
                <a:effectLst>
                  <a:outerShdw blurRad="38100" dist="38100" dir="2700000" algn="tl">
                    <a:srgbClr val="C0C0C0"/>
                  </a:outerShdw>
                </a:effectLst>
                <a:latin typeface="楷体_GB2312" pitchFamily="49" charset="-122"/>
                <a:ea typeface="楷体_GB2312" pitchFamily="49" charset="-122"/>
              </a:rPr>
              <a:t>++(*</a:t>
            </a:r>
            <a:r>
              <a:rPr lang="en-US" altLang="zh-CN" b="1" dirty="0" err="1">
                <a:effectLst>
                  <a:outerShdw blurRad="38100" dist="38100" dir="2700000" algn="tl">
                    <a:srgbClr val="C0C0C0"/>
                  </a:outerShdw>
                </a:effectLst>
                <a:latin typeface="楷体_GB2312" pitchFamily="49" charset="-122"/>
                <a:ea typeface="楷体_GB2312" pitchFamily="49" charset="-122"/>
              </a:rPr>
              <a:t>ip</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a:t>
            </a:r>
          </a:p>
        </p:txBody>
      </p:sp>
      <p:sp>
        <p:nvSpPr>
          <p:cNvPr id="3" name="Slide Number Placeholder 2"/>
          <p:cNvSpPr>
            <a:spLocks noGrp="1"/>
          </p:cNvSpPr>
          <p:nvPr>
            <p:ph type="sldNum" sz="quarter" idx="12"/>
          </p:nvPr>
        </p:nvSpPr>
        <p:spPr/>
        <p:txBody>
          <a:bodyPr/>
          <a:lstStyle/>
          <a:p>
            <a:pPr>
              <a:defRPr/>
            </a:pPr>
            <a:fld id="{7950FDAE-EF86-4AE1-AF7A-BA0E44AD651C}" type="slidenum">
              <a:rPr lang="en-US" altLang="zh-CN"/>
              <a:pPr>
                <a:defRPr/>
              </a:pPr>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idx="1"/>
          </p:nvPr>
        </p:nvSpPr>
        <p:spPr>
          <a:xfrm>
            <a:off x="304800" y="404813"/>
            <a:ext cx="8610600" cy="6224587"/>
          </a:xfrm>
        </p:spPr>
        <p:txBody>
          <a:bodyPr>
            <a:normAutofit/>
          </a:bodyPr>
          <a:lstStyle/>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代码</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j = </a:t>
            </a: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err="1">
                <a:solidFill>
                  <a:srgbClr val="FF0000"/>
                </a:solidFill>
                <a:effectLst>
                  <a:outerShdw blurRad="38100" dist="38100" dir="2700000" algn="tl">
                    <a:srgbClr val="C0C0C0"/>
                  </a:outerShdw>
                </a:effectLst>
                <a:latin typeface="楷体_GB2312" pitchFamily="49" charset="-122"/>
                <a:ea typeface="楷体_GB2312" pitchFamily="49" charset="-122"/>
              </a:rPr>
              <a:t>ip</a:t>
            </a: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是先求子表达式</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的值为原来</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的值，然后是</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自增。</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表达式*</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的值与*</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相同，并在求出表达式值的同时，</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增加了</a:t>
            </a: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个单位。相当于代码</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j = *</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经上述表达式计算后，</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不再指向变量</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0000"/>
              </a:lnSpc>
              <a:spcAft>
                <a:spcPts val="0"/>
              </a:spcAft>
              <a:buClr>
                <a:schemeClr val="accent3"/>
              </a:buClr>
              <a:buFontTx/>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这种情况常用在指针指向数组元素的情况，在引用数组某元素之后，自动指向数组的下一个元素。</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代码</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j = (*</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en-US" altLang="zh-CN" sz="28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lnSpc>
                <a:spcPct val="8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则是先间接引用</a:t>
            </a:r>
            <a:r>
              <a:rPr lang="en-US" altLang="zh-CN" sz="2800" b="1" dirty="0" err="1">
                <a:effectLst>
                  <a:outerShdw blurRad="38100" dist="38100" dir="2700000" algn="tl">
                    <a:srgbClr val="C0C0C0"/>
                  </a:outerShdw>
                </a:effectLst>
                <a:latin typeface="楷体_GB2312" pitchFamily="49" charset="-122"/>
                <a:ea typeface="楷体_GB2312" pitchFamily="49" charset="-122"/>
              </a:rPr>
              <a:t>ip</a:t>
            </a:r>
            <a:r>
              <a:rPr lang="zh-CN" altLang="en-US" sz="2800" b="1" dirty="0">
                <a:effectLst>
                  <a:outerShdw blurRad="38100" dist="38100" dir="2700000" algn="tl">
                    <a:srgbClr val="C0C0C0"/>
                  </a:outerShdw>
                </a:effectLst>
                <a:latin typeface="楷体_GB2312" pitchFamily="49" charset="-122"/>
                <a:ea typeface="楷体_GB2312" pitchFamily="49" charset="-122"/>
              </a:rPr>
              <a:t>所指向的变量，取这个变量的值赋值给</a:t>
            </a:r>
            <a:r>
              <a:rPr lang="en-US" altLang="zh-CN" sz="2800" b="1" dirty="0">
                <a:effectLst>
                  <a:outerShdw blurRad="38100" dist="38100" dir="2700000" algn="tl">
                    <a:srgbClr val="C0C0C0"/>
                  </a:outerShdw>
                </a:effectLst>
                <a:latin typeface="楷体_GB2312" pitchFamily="49" charset="-122"/>
                <a:ea typeface="楷体_GB2312" pitchFamily="49" charset="-122"/>
              </a:rPr>
              <a:t>j</a:t>
            </a:r>
            <a:r>
              <a:rPr lang="zh-CN" altLang="en-US" sz="2800" b="1" dirty="0">
                <a:effectLst>
                  <a:outerShdw blurRad="38100" dist="38100" dir="2700000" algn="tl">
                    <a:srgbClr val="C0C0C0"/>
                  </a:outerShdw>
                </a:effectLst>
                <a:latin typeface="楷体_GB2312" pitchFamily="49" charset="-122"/>
                <a:ea typeface="楷体_GB2312" pitchFamily="49" charset="-122"/>
              </a:rPr>
              <a:t>，并让该变量自增。</a:t>
            </a:r>
          </a:p>
        </p:txBody>
      </p:sp>
      <p:sp>
        <p:nvSpPr>
          <p:cNvPr id="4" name="Slide Number Placeholder 3"/>
          <p:cNvSpPr>
            <a:spLocks noGrp="1"/>
          </p:cNvSpPr>
          <p:nvPr>
            <p:ph type="sldNum" sz="quarter" idx="12"/>
          </p:nvPr>
        </p:nvSpPr>
        <p:spPr/>
        <p:txBody>
          <a:bodyPr/>
          <a:lstStyle/>
          <a:p>
            <a:pPr>
              <a:defRPr/>
            </a:pPr>
            <a:fld id="{4CDC8F44-F847-48FE-9386-7F852A1AF177}" type="slidenum">
              <a:rPr lang="en-US" altLang="zh-CN"/>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898">
                                            <p:txEl>
                                              <p:pRg st="7" end="7"/>
                                            </p:txEl>
                                          </p:spTgt>
                                        </p:tgtEl>
                                        <p:attrNameLst>
                                          <p:attrName>style.visibility</p:attrName>
                                        </p:attrNameLst>
                                      </p:cBhvr>
                                      <p:to>
                                        <p:strVal val="visible"/>
                                      </p:to>
                                    </p:set>
                                    <p:anim calcmode="lin" valueType="num">
                                      <p:cBhvr additive="base">
                                        <p:cTn id="7" dur="500" fill="hold"/>
                                        <p:tgtEl>
                                          <p:spTgt spid="80898">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8">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0898">
                                            <p:txEl>
                                              <p:pRg st="8" end="8"/>
                                            </p:txEl>
                                          </p:spTgt>
                                        </p:tgtEl>
                                        <p:attrNameLst>
                                          <p:attrName>style.visibility</p:attrName>
                                        </p:attrNameLst>
                                      </p:cBhvr>
                                      <p:to>
                                        <p:strVal val="visible"/>
                                      </p:to>
                                    </p:set>
                                    <p:anim calcmode="lin" valueType="num">
                                      <p:cBhvr additive="base">
                                        <p:cTn id="11" dur="500" fill="hold"/>
                                        <p:tgtEl>
                                          <p:spTgt spid="80898">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0898">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0898">
                                            <p:txEl>
                                              <p:pRg st="9" end="9"/>
                                            </p:txEl>
                                          </p:spTgt>
                                        </p:tgtEl>
                                        <p:attrNameLst>
                                          <p:attrName>style.visibility</p:attrName>
                                        </p:attrNameLst>
                                      </p:cBhvr>
                                      <p:to>
                                        <p:strVal val="visible"/>
                                      </p:to>
                                    </p:set>
                                    <p:anim calcmode="lin" valueType="num">
                                      <p:cBhvr additive="base">
                                        <p:cTn id="15" dur="500" fill="hold"/>
                                        <p:tgtEl>
                                          <p:spTgt spid="80898">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089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idx="1"/>
          </p:nvPr>
        </p:nvSpPr>
        <p:spPr>
          <a:xfrm>
            <a:off x="304800" y="404813"/>
            <a:ext cx="8610600" cy="6224587"/>
          </a:xfrm>
        </p:spPr>
        <p:txBody>
          <a:bodyPr>
            <a:normAutofit/>
          </a:bodyPr>
          <a:lstStyle/>
          <a:p>
            <a:pPr marL="0" indent="0" eaLnBrk="1" fontAlgn="auto" hangingPunct="1">
              <a:spcAft>
                <a:spcPts val="0"/>
              </a:spcAft>
              <a:buClr>
                <a:schemeClr val="accent3"/>
              </a:buClr>
              <a:buFontTx/>
              <a:buNone/>
              <a:defRPr/>
            </a:pPr>
            <a:r>
              <a:rPr lang="zh-CN" altLang="en-US" sz="3200" b="1" dirty="0">
                <a:effectLst>
                  <a:outerShdw blurRad="38100" dist="38100" dir="2700000" algn="tl">
                    <a:srgbClr val="C0C0C0"/>
                  </a:outerShdw>
                </a:effectLst>
                <a:ea typeface="楷体_GB2312" pitchFamily="49" charset="-122"/>
              </a:rPr>
              <a:t>通过指针变量间接引用，实际引用的是哪一个变量，取决于指针变量的值。改变指针变量的值，就是改变指针变量的指向，从而能实现用同样的间接引用代码，引用不同的变量。</a:t>
            </a:r>
          </a:p>
          <a:p>
            <a:pPr marL="0" indent="0" eaLnBrk="1" fontAlgn="auto" hangingPunct="1">
              <a:spcAft>
                <a:spcPts val="0"/>
              </a:spcAft>
              <a:buClr>
                <a:schemeClr val="accent3"/>
              </a:buClr>
              <a:buFontTx/>
              <a:buNone/>
              <a:defRPr/>
            </a:pPr>
            <a:endParaRPr lang="zh-CN" altLang="en-US" b="1" dirty="0">
              <a:effectLst>
                <a:outerShdw blurRad="38100" dist="38100" dir="2700000" algn="tl">
                  <a:srgbClr val="C0C0C0"/>
                </a:outerShdw>
              </a:effectLst>
              <a:ea typeface="楷体_GB2312" pitchFamily="49" charset="-122"/>
            </a:endParaRPr>
          </a:p>
          <a:p>
            <a:pPr marL="0" indent="0" eaLnBrk="1" fontAlgn="auto" hangingPunct="1">
              <a:spcAft>
                <a:spcPts val="0"/>
              </a:spcAft>
              <a:buClr>
                <a:schemeClr val="accent3"/>
              </a:buClr>
              <a:buFontTx/>
              <a:buNone/>
              <a:defRPr/>
            </a:pPr>
            <a:r>
              <a:rPr lang="zh-CN" altLang="en-US" sz="3200" b="1" dirty="0">
                <a:effectLst>
                  <a:outerShdw blurRad="38100" dist="38100" dir="2700000" algn="tl">
                    <a:srgbClr val="C0C0C0"/>
                  </a:outerShdw>
                </a:effectLst>
                <a:ea typeface="楷体_GB2312" pitchFamily="49" charset="-122"/>
              </a:rPr>
              <a:t>指针变量最主要的应用有两个方面，一是让</a:t>
            </a:r>
            <a:r>
              <a:rPr lang="zh-CN" altLang="en-US" sz="3200" b="1" dirty="0">
                <a:solidFill>
                  <a:srgbClr val="FF0000"/>
                </a:solidFill>
                <a:effectLst>
                  <a:outerShdw blurRad="38100" dist="38100" dir="2700000" algn="tl">
                    <a:srgbClr val="C0C0C0"/>
                  </a:outerShdw>
                </a:effectLst>
                <a:ea typeface="楷体_GB2312" pitchFamily="49" charset="-122"/>
              </a:rPr>
              <a:t>指针变量指向数组的元素</a:t>
            </a:r>
            <a:r>
              <a:rPr lang="zh-CN" altLang="en-US" sz="3200" b="1" dirty="0">
                <a:effectLst>
                  <a:outerShdw blurRad="38100" dist="38100" dir="2700000" algn="tl">
                    <a:srgbClr val="C0C0C0"/>
                  </a:outerShdw>
                </a:effectLst>
                <a:ea typeface="楷体_GB2312" pitchFamily="49" charset="-122"/>
              </a:rPr>
              <a:t>，以便逐一改变指针变量的指向，遍历数组的全部元素。二是让</a:t>
            </a:r>
            <a:r>
              <a:rPr lang="zh-CN" altLang="en-US" sz="3200" b="1" dirty="0">
                <a:solidFill>
                  <a:srgbClr val="FF0000"/>
                </a:solidFill>
                <a:effectLst>
                  <a:outerShdw blurRad="38100" dist="38100" dir="2700000" algn="tl">
                    <a:srgbClr val="C0C0C0"/>
                  </a:outerShdw>
                </a:effectLst>
                <a:ea typeface="楷体_GB2312" pitchFamily="49" charset="-122"/>
              </a:rPr>
              <a:t>函数设置指针形参</a:t>
            </a:r>
            <a:r>
              <a:rPr lang="zh-CN" altLang="en-US" sz="3200" b="1" dirty="0">
                <a:effectLst>
                  <a:outerShdw blurRad="38100" dist="38100" dir="2700000" algn="tl">
                    <a:srgbClr val="C0C0C0"/>
                  </a:outerShdw>
                </a:effectLst>
                <a:ea typeface="楷体_GB2312" pitchFamily="49" charset="-122"/>
              </a:rPr>
              <a:t>，让函数体中的代码通过指针形参间接引用调用环境中的变量，或引用变量的值，或改变变量的值。</a:t>
            </a:r>
          </a:p>
        </p:txBody>
      </p:sp>
      <p:sp>
        <p:nvSpPr>
          <p:cNvPr id="3" name="Slide Number Placeholder 2"/>
          <p:cNvSpPr>
            <a:spLocks noGrp="1"/>
          </p:cNvSpPr>
          <p:nvPr>
            <p:ph type="sldNum" sz="quarter" idx="12"/>
          </p:nvPr>
        </p:nvSpPr>
        <p:spPr/>
        <p:txBody>
          <a:bodyPr/>
          <a:lstStyle/>
          <a:p>
            <a:pPr>
              <a:defRPr/>
            </a:pPr>
            <a:fld id="{312403C7-87A5-4E48-8BCA-24A7D6740604}" type="slidenum">
              <a:rPr lang="en-US" altLang="zh-CN"/>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2210">
                                            <p:txEl>
                                              <p:pRg st="2" end="2"/>
                                            </p:txEl>
                                          </p:spTgt>
                                        </p:tgtEl>
                                        <p:attrNameLst>
                                          <p:attrName>style.visibility</p:attrName>
                                        </p:attrNameLst>
                                      </p:cBhvr>
                                      <p:to>
                                        <p:strVal val="visible"/>
                                      </p:to>
                                    </p:set>
                                    <p:anim calcmode="lin" valueType="num">
                                      <p:cBhvr additive="base">
                                        <p:cTn id="7" dur="500" fill="hold"/>
                                        <p:tgtEl>
                                          <p:spTgt spid="22221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22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title"/>
          </p:nvPr>
        </p:nvSpPr>
        <p:spPr>
          <a:xfrm>
            <a:off x="323850" y="333375"/>
            <a:ext cx="8496300" cy="720725"/>
          </a:xfrm>
        </p:spPr>
        <p:txBody>
          <a:bodyPr lIns="92075" tIns="46038" rIns="92075" bIns="46038">
            <a:normAutofit/>
          </a:bodyPr>
          <a:lstStyle/>
          <a:p>
            <a:pPr marL="1800225" indent="-1800225" eaLnBrk="1" fontAlgn="auto" hangingPunct="1">
              <a:spcAft>
                <a:spcPts val="0"/>
              </a:spcAft>
              <a:defRPr/>
            </a:pPr>
            <a:r>
              <a:rPr lang="en-US" altLang="zh-CN" sz="3200" b="1" dirty="0">
                <a:solidFill>
                  <a:schemeClr val="tx1"/>
                </a:solidFill>
                <a:effectLst>
                  <a:outerShdw blurRad="38100" dist="38100" dir="2700000" algn="tl">
                    <a:srgbClr val="C0C0C0"/>
                  </a:outerShdw>
                </a:effectLst>
                <a:latin typeface="黑体" pitchFamily="2" charset="-122"/>
                <a:ea typeface="黑体" pitchFamily="2" charset="-122"/>
              </a:rPr>
              <a:t>6.2</a:t>
            </a:r>
            <a:r>
              <a:rPr lang="zh-CN" altLang="en-US" sz="3200" b="1" dirty="0">
                <a:solidFill>
                  <a:schemeClr val="tx1"/>
                </a:solidFill>
                <a:effectLst>
                  <a:outerShdw blurRad="38100" dist="38100" dir="2700000" algn="tl">
                    <a:srgbClr val="C0C0C0"/>
                  </a:outerShdw>
                </a:effectLst>
                <a:latin typeface="黑体" pitchFamily="2" charset="-122"/>
                <a:ea typeface="黑体" pitchFamily="2" charset="-122"/>
              </a:rPr>
              <a:t>指向数组元素的指针</a:t>
            </a:r>
          </a:p>
        </p:txBody>
      </p:sp>
      <p:sp>
        <p:nvSpPr>
          <p:cNvPr id="3074" name="Rectangle 2"/>
          <p:cNvSpPr>
            <a:spLocks noGrp="1" noChangeArrowheads="1"/>
          </p:cNvSpPr>
          <p:nvPr>
            <p:ph idx="1"/>
          </p:nvPr>
        </p:nvSpPr>
        <p:spPr>
          <a:xfrm>
            <a:off x="323850" y="1052513"/>
            <a:ext cx="8534400" cy="5351462"/>
          </a:xfrm>
        </p:spPr>
        <p:txBody>
          <a:bodyPr>
            <a:normAutofit/>
          </a:bodyPr>
          <a:lstStyle/>
          <a:p>
            <a:pPr marL="0" indent="0" eaLnBrk="1" fontAlgn="auto" hangingPunct="1">
              <a:lnSpc>
                <a:spcPct val="90000"/>
              </a:lnSpc>
              <a:spcAft>
                <a:spcPts val="0"/>
              </a:spcAft>
              <a:buClr>
                <a:schemeClr val="accent3"/>
              </a:buClr>
              <a:buFontTx/>
              <a:buNone/>
              <a:defRPr/>
            </a:pPr>
            <a:endParaRPr lang="en-US" altLang="zh-CN" sz="2800" b="1" dirty="0">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zh-CN" altLang="en-US" sz="2800" b="1" dirty="0">
                <a:latin typeface="楷体_GB2312" pitchFamily="49" charset="-122"/>
                <a:ea typeface="楷体_GB2312" pitchFamily="49" charset="-122"/>
              </a:rPr>
              <a:t>将数组元素的地址赋值给指针变量，就能使指针指向数组元素。</a:t>
            </a:r>
            <a:r>
              <a:rPr lang="zh-CN" altLang="en-US" sz="2800" dirty="0">
                <a:latin typeface="楷体_GB2312" pitchFamily="49" charset="-122"/>
                <a:ea typeface="楷体_GB2312" pitchFamily="49" charset="-122"/>
              </a:rPr>
              <a:t> </a:t>
            </a:r>
            <a:endParaRPr lang="zh-CN" altLang="en-US" sz="2800" b="1" dirty="0">
              <a:solidFill>
                <a:schemeClr val="bg2"/>
              </a:solidFill>
              <a:latin typeface="楷体_GB2312" pitchFamily="49" charset="-122"/>
              <a:ea typeface="楷体_GB2312" pitchFamily="49" charset="-122"/>
            </a:endParaRP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a[100], *p;</a:t>
            </a:r>
          </a:p>
          <a:p>
            <a:pPr marL="0" indent="0" algn="just" eaLnBrk="1" fontAlgn="auto" hangingPunct="1">
              <a:lnSpc>
                <a:spcPct val="90000"/>
              </a:lnSpc>
              <a:spcAft>
                <a:spcPts val="0"/>
              </a:spcAft>
              <a:buClr>
                <a:schemeClr val="accent3"/>
              </a:buClr>
              <a:buFontTx/>
              <a:buNone/>
              <a:defRPr/>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p = &amp;a[0]   /* </a:t>
            </a:r>
            <a:r>
              <a:rPr lang="zh-CN" altLang="en-US" sz="2800" b="1" dirty="0">
                <a:latin typeface="楷体_GB2312" pitchFamily="49" charset="-122"/>
                <a:ea typeface="楷体_GB2312" pitchFamily="49" charset="-122"/>
              </a:rPr>
              <a:t>或写成 </a:t>
            </a:r>
            <a:r>
              <a:rPr lang="en-US" altLang="zh-CN" sz="2800" b="1" dirty="0">
                <a:latin typeface="楷体_GB2312" pitchFamily="49" charset="-122"/>
                <a:ea typeface="楷体_GB2312" pitchFamily="49" charset="-122"/>
              </a:rPr>
              <a:t>p = a; */</a:t>
            </a:r>
          </a:p>
          <a:p>
            <a:pPr marL="0" indent="0"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表示：</a:t>
            </a:r>
            <a:r>
              <a:rPr lang="zh-CN" altLang="en-US" sz="2800" b="1" dirty="0">
                <a:latin typeface="楷体_GB2312" pitchFamily="49" charset="-122"/>
                <a:ea typeface="楷体_GB2312" pitchFamily="49" charset="-122"/>
              </a:rPr>
              <a:t>把</a:t>
            </a:r>
            <a:r>
              <a:rPr lang="en-US" altLang="zh-CN" sz="2800" b="1" dirty="0">
                <a:latin typeface="楷体_GB2312" pitchFamily="49" charset="-122"/>
                <a:ea typeface="楷体_GB2312" pitchFamily="49" charset="-122"/>
              </a:rPr>
              <a:t>a[0]</a:t>
            </a:r>
            <a:r>
              <a:rPr lang="zh-CN" altLang="en-US" sz="2800" b="1" dirty="0">
                <a:latin typeface="楷体_GB2312" pitchFamily="49" charset="-122"/>
                <a:ea typeface="楷体_GB2312" pitchFamily="49" charset="-122"/>
              </a:rPr>
              <a:t>元素的地址赋给指针变量 </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，即 </a:t>
            </a:r>
            <a:r>
              <a:rPr lang="en-US" altLang="zh-CN" sz="2800" b="1" dirty="0">
                <a:latin typeface="楷体_GB2312" pitchFamily="49" charset="-122"/>
                <a:ea typeface="楷体_GB2312" pitchFamily="49" charset="-122"/>
              </a:rPr>
              <a:t>p </a:t>
            </a:r>
            <a:r>
              <a:rPr lang="zh-CN" altLang="en-US" sz="2800" b="1" dirty="0">
                <a:latin typeface="楷体_GB2312" pitchFamily="49" charset="-122"/>
                <a:ea typeface="楷体_GB2312" pitchFamily="49" charset="-122"/>
              </a:rPr>
              <a:t>指向数组</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的下标为</a:t>
            </a:r>
            <a:r>
              <a:rPr lang="en-US" altLang="zh-CN" sz="2800" b="1" dirty="0">
                <a:latin typeface="楷体_GB2312" pitchFamily="49" charset="-122"/>
                <a:ea typeface="楷体_GB2312" pitchFamily="49" charset="-122"/>
              </a:rPr>
              <a:t>0</a:t>
            </a:r>
            <a:r>
              <a:rPr lang="zh-CN" altLang="en-US" sz="2800" b="1" dirty="0">
                <a:latin typeface="楷体_GB2312" pitchFamily="49" charset="-122"/>
                <a:ea typeface="楷体_GB2312" pitchFamily="49" charset="-122"/>
              </a:rPr>
              <a:t>的元素。</a:t>
            </a: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好处：</a:t>
            </a:r>
          </a:p>
          <a:p>
            <a:pPr marL="0" indent="0" algn="just" eaLnBrk="1" fontAlgn="auto" hangingPunct="1">
              <a:lnSpc>
                <a:spcPct val="90000"/>
              </a:lnSpc>
              <a:spcAft>
                <a:spcPts val="0"/>
              </a:spcAft>
              <a:buClr>
                <a:schemeClr val="accent3"/>
              </a:buClr>
              <a:buFontTx/>
              <a:buNone/>
              <a:defRPr/>
            </a:pPr>
            <a:r>
              <a:rPr lang="zh-CN" altLang="en-US" sz="2800" b="1" dirty="0">
                <a:latin typeface="楷体_GB2312" pitchFamily="49" charset="-122"/>
                <a:ea typeface="楷体_GB2312" pitchFamily="49" charset="-122"/>
              </a:rPr>
              <a:t>为引用数组元素提供了一种新的途径。用下标引用数组元素更灵活和简洁，另外指针具有一定的运算能力。</a:t>
            </a:r>
          </a:p>
        </p:txBody>
      </p:sp>
      <p:sp>
        <p:nvSpPr>
          <p:cNvPr id="24580"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5" name="Slide Number Placeholder 4"/>
          <p:cNvSpPr>
            <a:spLocks noGrp="1"/>
          </p:cNvSpPr>
          <p:nvPr>
            <p:ph type="sldNum" sz="quarter" idx="12"/>
          </p:nvPr>
        </p:nvSpPr>
        <p:spPr/>
        <p:txBody>
          <a:bodyPr/>
          <a:lstStyle/>
          <a:p>
            <a:pPr>
              <a:defRPr/>
            </a:pPr>
            <a:fld id="{2D86942D-F194-4FCC-A6BD-853F54E308C9}" type="slidenum">
              <a:rPr lang="en-US" altLang="zh-CN"/>
              <a:pPr>
                <a:defRPr/>
              </a:pPr>
              <a:t>25</a:t>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idx="1"/>
          </p:nvPr>
        </p:nvSpPr>
        <p:spPr>
          <a:xfrm>
            <a:off x="539750" y="765175"/>
            <a:ext cx="8223250" cy="5424488"/>
          </a:xfrm>
        </p:spPr>
        <p:txBody>
          <a:bodyPr>
            <a:normAutofit/>
          </a:bodyPr>
          <a:lstStyle/>
          <a:p>
            <a:pPr marL="0" indent="0" eaLnBrk="1" fontAlgn="auto" hangingPunct="1">
              <a:lnSpc>
                <a:spcPct val="90000"/>
              </a:lnSpc>
              <a:spcAft>
                <a:spcPts val="0"/>
              </a:spcAft>
              <a:buClr>
                <a:schemeClr val="accent3"/>
              </a:buClr>
              <a:buFontTx/>
              <a:buNone/>
              <a:tabLst>
                <a:tab pos="1262063" algn="l"/>
              </a:tabLst>
              <a:defRPr/>
            </a:pPr>
            <a:r>
              <a:rPr lang="zh-CN" altLang="en-US" sz="2800" b="1" dirty="0">
                <a:effectLst>
                  <a:outerShdw blurRad="38100" dist="38100" dir="2700000" algn="tl">
                    <a:srgbClr val="C0C0C0"/>
                  </a:outerShdw>
                </a:effectLst>
                <a:latin typeface="楷体_GB2312" pitchFamily="49" charset="-122"/>
                <a:ea typeface="楷体_GB2312" pitchFamily="49" charset="-122"/>
              </a:rPr>
              <a:t>对指向数组元素的指针允许作有限的运算：</a:t>
            </a:r>
          </a:p>
          <a:p>
            <a:pPr marL="0" indent="0" algn="just" eaLnBrk="1" fontAlgn="auto" hangingPunct="1">
              <a:spcAft>
                <a:spcPts val="0"/>
              </a:spcAft>
              <a:buClr>
                <a:schemeClr val="accent3"/>
              </a:buClr>
              <a:buFontTx/>
              <a:buNone/>
              <a:tabLst>
                <a:tab pos="1262063" algn="l"/>
              </a:tabLst>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 </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*p, *q, a[100]; </a:t>
            </a:r>
          </a:p>
          <a:p>
            <a:pPr marL="0" indent="0" algn="just" eaLnBrk="1" fontAlgn="auto" hangingPunct="1">
              <a:spcAft>
                <a:spcPts val="0"/>
              </a:spcAft>
              <a:buClr>
                <a:schemeClr val="accent3"/>
              </a:buClr>
              <a:buFontTx/>
              <a:buNone/>
              <a:tabLst>
                <a:tab pos="1262063" algn="l"/>
              </a:tabLst>
              <a:defRPr/>
            </a:pPr>
            <a:r>
              <a:rPr lang="en-US" altLang="zh-CN" sz="2800" b="1" dirty="0">
                <a:solidFill>
                  <a:schemeClr val="bg2"/>
                </a:solidFill>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p = &amp;a[10]; </a:t>
            </a:r>
          </a:p>
          <a:p>
            <a:pPr marL="0" indent="0" algn="just" eaLnBrk="1" fontAlgn="auto" hangingPunct="1">
              <a:spcAft>
                <a:spcPts val="0"/>
              </a:spcAft>
              <a:buClr>
                <a:schemeClr val="accent3"/>
              </a:buClr>
              <a:buFontTx/>
              <a:buNone/>
              <a:tabLst>
                <a:tab pos="1262063" algn="l"/>
              </a:tabLst>
              <a:defRPr/>
            </a:pPr>
            <a:r>
              <a:rPr lang="en-US" altLang="zh-CN" sz="2800" b="1" dirty="0">
                <a:effectLst>
                  <a:outerShdw blurRad="38100" dist="38100" dir="2700000" algn="tl">
                    <a:srgbClr val="C0C0C0"/>
                  </a:outerShdw>
                </a:effectLst>
                <a:latin typeface="楷体_GB2312" pitchFamily="49" charset="-122"/>
                <a:ea typeface="楷体_GB2312" pitchFamily="49" charset="-122"/>
              </a:rPr>
              <a:t> 	q = &amp;a[50];</a:t>
            </a:r>
          </a:p>
          <a:p>
            <a:pPr marL="0" indent="0" algn="just" eaLnBrk="1" fontAlgn="auto" hangingPunct="1">
              <a:spcAft>
                <a:spcPts val="0"/>
              </a:spcAft>
              <a:buClr>
                <a:schemeClr val="accent3"/>
              </a:buClr>
              <a:buFontTx/>
              <a:buNone/>
              <a:tabLst>
                <a:tab pos="1262063" algn="l"/>
              </a:tabLst>
              <a:defRPr/>
            </a:pP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当两个指针指向同一个数组的元素时，这两个指针可以作关系比较</a:t>
            </a:r>
            <a:r>
              <a:rPr lang="en-US" altLang="zh-CN" sz="2800" b="1" dirty="0">
                <a:effectLst>
                  <a:outerShdw blurRad="38100" dist="38100" dir="2700000" algn="tl">
                    <a:srgbClr val="C0C0C0"/>
                  </a:outerShdw>
                </a:effectLst>
                <a:latin typeface="楷体_GB2312" pitchFamily="49" charset="-122"/>
                <a:ea typeface="楷体_GB2312" pitchFamily="49" charset="-122"/>
              </a:rPr>
              <a:t>(&lt; </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&lt;=</a:t>
            </a: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&gt;</a:t>
            </a: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&gt;=</a:t>
            </a: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algn="just" eaLnBrk="1" fontAlgn="auto" hangingPunct="1">
              <a:spcAft>
                <a:spcPts val="0"/>
              </a:spcAft>
              <a:buClr>
                <a:schemeClr val="accent3"/>
              </a:buClr>
              <a:buFontTx/>
              <a:buNone/>
              <a:tabLst>
                <a:tab pos="1262063" algn="l"/>
              </a:tabLst>
              <a:defRPr/>
            </a:pPr>
            <a:r>
              <a:rPr lang="zh-CN" altLang="en-US" sz="2800" b="1" dirty="0">
                <a:effectLst>
                  <a:outerShdw blurRad="38100" dist="38100" dir="2700000" algn="tl">
                    <a:srgbClr val="C0C0C0"/>
                  </a:outerShdw>
                </a:effectLst>
                <a:latin typeface="楷体_GB2312" pitchFamily="49" charset="-122"/>
                <a:ea typeface="楷体_GB2312" pitchFamily="49" charset="-122"/>
              </a:rPr>
              <a:t>若 </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p==q</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表示</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q</a:t>
            </a:r>
            <a:r>
              <a:rPr lang="zh-CN" altLang="en-US" sz="2800" b="1" dirty="0">
                <a:effectLst>
                  <a:outerShdw blurRad="38100" dist="38100" dir="2700000" algn="tl">
                    <a:srgbClr val="C0C0C0"/>
                  </a:outerShdw>
                </a:effectLst>
                <a:latin typeface="楷体_GB2312" pitchFamily="49" charset="-122"/>
                <a:ea typeface="楷体_GB2312" pitchFamily="49" charset="-122"/>
              </a:rPr>
              <a:t>指向数组的同一个元素；</a:t>
            </a:r>
          </a:p>
          <a:p>
            <a:pPr marL="0" indent="0" algn="just" eaLnBrk="1" fontAlgn="auto" hangingPunct="1">
              <a:spcAft>
                <a:spcPts val="0"/>
              </a:spcAft>
              <a:buClr>
                <a:schemeClr val="accent3"/>
              </a:buClr>
              <a:buFontTx/>
              <a:buNone/>
              <a:tabLst>
                <a:tab pos="1262063" algn="l"/>
              </a:tabLst>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p&lt;q</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表示</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zh-CN" altLang="en-US" sz="2800" b="1" dirty="0">
                <a:effectLst>
                  <a:outerShdw blurRad="38100" dist="38100" dir="2700000" algn="tl">
                    <a:srgbClr val="C0C0C0"/>
                  </a:outerShdw>
                </a:effectLst>
                <a:latin typeface="楷体_GB2312" pitchFamily="49" charset="-122"/>
                <a:ea typeface="楷体_GB2312" pitchFamily="49" charset="-122"/>
              </a:rPr>
              <a:t>所指向的数组元素的下标小于</a:t>
            </a:r>
            <a:r>
              <a:rPr lang="en-US" altLang="zh-CN" sz="2800" b="1" dirty="0">
                <a:effectLst>
                  <a:outerShdw blurRad="38100" dist="38100" dir="2700000" algn="tl">
                    <a:srgbClr val="C0C0C0"/>
                  </a:outerShdw>
                </a:effectLst>
                <a:latin typeface="楷体_GB2312" pitchFamily="49" charset="-122"/>
                <a:ea typeface="楷体_GB2312" pitchFamily="49" charset="-122"/>
              </a:rPr>
              <a:t>q</a:t>
            </a:r>
            <a:r>
              <a:rPr lang="zh-CN" altLang="en-US" sz="2800" b="1" dirty="0">
                <a:effectLst>
                  <a:outerShdw blurRad="38100" dist="38100" dir="2700000" algn="tl">
                    <a:srgbClr val="C0C0C0"/>
                  </a:outerShdw>
                </a:effectLst>
                <a:latin typeface="楷体_GB2312" pitchFamily="49" charset="-122"/>
                <a:ea typeface="楷体_GB2312" pitchFamily="49" charset="-122"/>
              </a:rPr>
              <a:t>所指向的数组元素的下标。</a:t>
            </a:r>
          </a:p>
          <a:p>
            <a:pPr marL="0" indent="0" algn="just" eaLnBrk="1" fontAlgn="auto" hangingPunct="1">
              <a:spcAft>
                <a:spcPts val="0"/>
              </a:spcAft>
              <a:buClr>
                <a:schemeClr val="accent3"/>
              </a:buClr>
              <a:buFontTx/>
              <a:buNone/>
              <a:tabLst>
                <a:tab pos="1262063" algn="l"/>
              </a:tabLst>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p&gt;q</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表示</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zh-CN" altLang="en-US" sz="2800" b="1" dirty="0">
                <a:effectLst>
                  <a:outerShdw blurRad="38100" dist="38100" dir="2700000" algn="tl">
                    <a:srgbClr val="C0C0C0"/>
                  </a:outerShdw>
                </a:effectLst>
                <a:latin typeface="楷体_GB2312" pitchFamily="49" charset="-122"/>
                <a:ea typeface="楷体_GB2312" pitchFamily="49" charset="-122"/>
              </a:rPr>
              <a:t>所指向的数组元素的下标大于</a:t>
            </a:r>
            <a:r>
              <a:rPr lang="en-US" altLang="zh-CN" sz="2800" b="1" dirty="0">
                <a:effectLst>
                  <a:outerShdw blurRad="38100" dist="38100" dir="2700000" algn="tl">
                    <a:srgbClr val="C0C0C0"/>
                  </a:outerShdw>
                </a:effectLst>
                <a:latin typeface="楷体_GB2312" pitchFamily="49" charset="-122"/>
                <a:ea typeface="楷体_GB2312" pitchFamily="49" charset="-122"/>
              </a:rPr>
              <a:t>q</a:t>
            </a:r>
            <a:r>
              <a:rPr lang="zh-CN" altLang="en-US" sz="2800" b="1" dirty="0">
                <a:effectLst>
                  <a:outerShdw blurRad="38100" dist="38100" dir="2700000" algn="tl">
                    <a:srgbClr val="C0C0C0"/>
                  </a:outerShdw>
                </a:effectLst>
                <a:latin typeface="楷体_GB2312" pitchFamily="49" charset="-122"/>
                <a:ea typeface="楷体_GB2312" pitchFamily="49" charset="-122"/>
              </a:rPr>
              <a:t>所指向的数组元素的下标。</a:t>
            </a:r>
          </a:p>
        </p:txBody>
      </p:sp>
      <p:sp>
        <p:nvSpPr>
          <p:cNvPr id="25603"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C0642740-9CCC-4FBE-8CA8-22038E698CC0}" type="slidenum">
              <a:rPr lang="en-US" altLang="zh-CN"/>
              <a:pPr>
                <a:defRPr/>
              </a:pPr>
              <a:t>26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xEl>
                                              <p:pRg st="4" end="4"/>
                                            </p:txEl>
                                          </p:spTgt>
                                        </p:tgtEl>
                                        <p:attrNameLst>
                                          <p:attrName>style.visibility</p:attrName>
                                        </p:attrNameLst>
                                      </p:cBhvr>
                                      <p:to>
                                        <p:strVal val="visible"/>
                                      </p:to>
                                    </p:set>
                                    <p:anim calcmode="lin" valueType="num">
                                      <p:cBhvr additive="base">
                                        <p:cTn id="7" dur="500" fill="hold"/>
                                        <p:tgtEl>
                                          <p:spTgt spid="409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8">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098">
                                            <p:txEl>
                                              <p:pRg st="5" end="5"/>
                                            </p:txEl>
                                          </p:spTgt>
                                        </p:tgtEl>
                                        <p:attrNameLst>
                                          <p:attrName>style.visibility</p:attrName>
                                        </p:attrNameLst>
                                      </p:cBhvr>
                                      <p:to>
                                        <p:strVal val="visible"/>
                                      </p:to>
                                    </p:set>
                                    <p:anim calcmode="lin" valueType="num">
                                      <p:cBhvr additive="base">
                                        <p:cTn id="11" dur="500" fill="hold"/>
                                        <p:tgtEl>
                                          <p:spTgt spid="4098">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98">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098">
                                            <p:txEl>
                                              <p:pRg st="6" end="6"/>
                                            </p:txEl>
                                          </p:spTgt>
                                        </p:tgtEl>
                                        <p:attrNameLst>
                                          <p:attrName>style.visibility</p:attrName>
                                        </p:attrNameLst>
                                      </p:cBhvr>
                                      <p:to>
                                        <p:strVal val="visible"/>
                                      </p:to>
                                    </p:set>
                                    <p:anim calcmode="lin" valueType="num">
                                      <p:cBhvr additive="base">
                                        <p:cTn id="15" dur="500" fill="hold"/>
                                        <p:tgtEl>
                                          <p:spTgt spid="4098">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098">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098">
                                            <p:txEl>
                                              <p:pRg st="7" end="7"/>
                                            </p:txEl>
                                          </p:spTgt>
                                        </p:tgtEl>
                                        <p:attrNameLst>
                                          <p:attrName>style.visibility</p:attrName>
                                        </p:attrNameLst>
                                      </p:cBhvr>
                                      <p:to>
                                        <p:strVal val="visible"/>
                                      </p:to>
                                    </p:set>
                                    <p:anim calcmode="lin" valueType="num">
                                      <p:cBhvr additive="base">
                                        <p:cTn id="19" dur="500" fill="hold"/>
                                        <p:tgtEl>
                                          <p:spTgt spid="4098">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228600" y="428625"/>
            <a:ext cx="8534400" cy="5495925"/>
          </a:xfrm>
        </p:spPr>
        <p:txBody>
          <a:bodyPr>
            <a:normAutofit/>
          </a:bodyPr>
          <a:lstStyle/>
          <a:p>
            <a:pPr marL="0" indent="0" eaLnBrk="1" fontAlgn="auto" hangingPunct="1">
              <a:lnSpc>
                <a:spcPct val="110000"/>
              </a:lnSpc>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(2) </a:t>
            </a:r>
            <a:r>
              <a:rPr lang="zh-CN" altLang="en-US" sz="2800" b="1" dirty="0">
                <a:effectLst>
                  <a:outerShdw blurRad="38100" dist="38100" dir="2700000" algn="tl">
                    <a:srgbClr val="C0C0C0"/>
                  </a:outerShdw>
                </a:effectLst>
                <a:latin typeface="楷体_GB2312" pitchFamily="49" charset="-122"/>
                <a:ea typeface="楷体_GB2312" pitchFamily="49" charset="-122"/>
              </a:rPr>
              <a:t>指向数组元素的指针可与整数进行加减运算。</a:t>
            </a:r>
          </a:p>
          <a:p>
            <a:pPr marL="0" indent="0" eaLnBrk="1" fontAlgn="auto" hangingPunct="1">
              <a:lnSpc>
                <a:spcPct val="11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由于数组元素在内存中顺序连续存放，因此表达式</a:t>
            </a:r>
            <a:r>
              <a:rPr lang="en-US" altLang="zh-CN" sz="2800" b="1" dirty="0">
                <a:effectLst>
                  <a:outerShdw blurRad="38100" dist="38100" dir="2700000" algn="tl">
                    <a:srgbClr val="C0C0C0"/>
                  </a:outerShdw>
                </a:effectLst>
                <a:latin typeface="楷体_GB2312" pitchFamily="49" charset="-122"/>
                <a:ea typeface="楷体_GB2312" pitchFamily="49" charset="-122"/>
              </a:rPr>
              <a:t>a+1</a:t>
            </a:r>
            <a:r>
              <a:rPr lang="zh-CN" altLang="en-US" sz="2800" b="1" dirty="0">
                <a:effectLst>
                  <a:outerShdw blurRad="38100" dist="38100" dir="2700000" algn="tl">
                    <a:srgbClr val="C0C0C0"/>
                  </a:outerShdw>
                </a:effectLst>
                <a:latin typeface="楷体_GB2312" pitchFamily="49" charset="-122"/>
                <a:ea typeface="楷体_GB2312" pitchFamily="49" charset="-122"/>
              </a:rPr>
              <a:t>为</a:t>
            </a:r>
            <a:r>
              <a:rPr lang="en-US" altLang="zh-CN" sz="2800" b="1" dirty="0">
                <a:effectLst>
                  <a:outerShdw blurRad="38100" dist="38100" dir="2700000" algn="tl">
                    <a:srgbClr val="C0C0C0"/>
                  </a:outerShdw>
                </a:effectLst>
                <a:latin typeface="楷体_GB2312" pitchFamily="49" charset="-122"/>
                <a:ea typeface="楷体_GB2312" pitchFamily="49" charset="-122"/>
              </a:rPr>
              <a:t>a[1]</a:t>
            </a:r>
            <a:r>
              <a:rPr lang="zh-CN" altLang="en-US" sz="2800" b="1" dirty="0">
                <a:effectLst>
                  <a:outerShdw blurRad="38100" dist="38100" dir="2700000" algn="tl">
                    <a:srgbClr val="C0C0C0"/>
                  </a:outerShdw>
                </a:effectLst>
                <a:latin typeface="楷体_GB2312" pitchFamily="49" charset="-122"/>
                <a:ea typeface="楷体_GB2312" pitchFamily="49" charset="-122"/>
              </a:rPr>
              <a:t>的地址，</a:t>
            </a:r>
            <a:r>
              <a:rPr lang="en-US" altLang="zh-CN" sz="2800" b="1" dirty="0">
                <a:effectLst>
                  <a:outerShdw blurRad="38100" dist="38100" dir="2700000" algn="tl">
                    <a:srgbClr val="C0C0C0"/>
                  </a:outerShdw>
                </a:effectLst>
                <a:latin typeface="楷体_GB2312" pitchFamily="49" charset="-122"/>
                <a:ea typeface="楷体_GB2312" pitchFamily="49" charset="-122"/>
              </a:rPr>
              <a:t>a+2</a:t>
            </a:r>
            <a:r>
              <a:rPr lang="zh-CN" altLang="en-US" sz="2800" b="1" dirty="0">
                <a:effectLst>
                  <a:outerShdw blurRad="38100" dist="38100" dir="2700000" algn="tl">
                    <a:srgbClr val="C0C0C0"/>
                  </a:outerShdw>
                </a:effectLst>
                <a:latin typeface="楷体_GB2312" pitchFamily="49" charset="-122"/>
                <a:ea typeface="楷体_GB2312" pitchFamily="49" charset="-122"/>
              </a:rPr>
              <a:t>为</a:t>
            </a:r>
            <a:r>
              <a:rPr lang="en-US" altLang="zh-CN" sz="2800" b="1" dirty="0">
                <a:effectLst>
                  <a:outerShdw blurRad="38100" dist="38100" dir="2700000" algn="tl">
                    <a:srgbClr val="C0C0C0"/>
                  </a:outerShdw>
                </a:effectLst>
                <a:latin typeface="楷体_GB2312" pitchFamily="49" charset="-122"/>
                <a:ea typeface="楷体_GB2312" pitchFamily="49" charset="-122"/>
              </a:rPr>
              <a:t>a[2]</a:t>
            </a:r>
            <a:r>
              <a:rPr lang="zh-CN" altLang="en-US" sz="2800" b="1" dirty="0">
                <a:effectLst>
                  <a:outerShdw blurRad="38100" dist="38100" dir="2700000" algn="tl">
                    <a:srgbClr val="C0C0C0"/>
                  </a:outerShdw>
                </a:effectLst>
                <a:latin typeface="楷体_GB2312" pitchFamily="49" charset="-122"/>
                <a:ea typeface="楷体_GB2312" pitchFamily="49" charset="-122"/>
              </a:rPr>
              <a:t>的地址。</a:t>
            </a:r>
          </a:p>
          <a:p>
            <a:pPr marL="0" indent="0" eaLnBrk="1" fontAlgn="auto" hangingPunct="1">
              <a:lnSpc>
                <a:spcPct val="11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若指针 </a:t>
            </a:r>
            <a:r>
              <a:rPr lang="en-US" altLang="zh-CN" sz="2800" b="1" dirty="0">
                <a:effectLst>
                  <a:outerShdw blurRad="38100" dist="38100" dir="2700000" algn="tl">
                    <a:srgbClr val="C0C0C0"/>
                  </a:outerShdw>
                </a:effectLst>
                <a:latin typeface="楷体_GB2312" pitchFamily="49" charset="-122"/>
                <a:ea typeface="楷体_GB2312" pitchFamily="49" charset="-122"/>
              </a:rPr>
              <a:t>p = &amp;a[0]; </a:t>
            </a:r>
            <a:r>
              <a:rPr lang="zh-CN" altLang="en-US" sz="2800" b="1" dirty="0">
                <a:effectLst>
                  <a:outerShdw blurRad="38100" dist="38100" dir="2700000" algn="tl">
                    <a:srgbClr val="C0C0C0"/>
                  </a:outerShdw>
                </a:effectLst>
                <a:latin typeface="楷体_GB2312" pitchFamily="49" charset="-122"/>
                <a:ea typeface="楷体_GB2312" pitchFamily="49" charset="-122"/>
              </a:rPr>
              <a:t>则表达式 </a:t>
            </a:r>
            <a:r>
              <a:rPr lang="en-US" altLang="zh-CN" sz="2800" b="1" dirty="0" err="1">
                <a:effectLst>
                  <a:outerShdw blurRad="38100" dist="38100" dir="2700000" algn="tl">
                    <a:srgbClr val="C0C0C0"/>
                  </a:outerShdw>
                </a:effectLst>
                <a:latin typeface="楷体_GB2312" pitchFamily="49" charset="-122"/>
                <a:ea typeface="楷体_GB2312" pitchFamily="49" charset="-122"/>
              </a:rPr>
              <a:t>p+i</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的值为 </a:t>
            </a:r>
            <a:r>
              <a:rPr lang="en-US" altLang="zh-CN" sz="2800" b="1" dirty="0">
                <a:effectLst>
                  <a:outerShdw blurRad="38100" dist="38100" dir="2700000" algn="tl">
                    <a:srgbClr val="C0C0C0"/>
                  </a:outerShdw>
                </a:effectLst>
                <a:latin typeface="楷体_GB2312" pitchFamily="49" charset="-122"/>
                <a:ea typeface="楷体_GB2312" pitchFamily="49" charset="-122"/>
              </a:rPr>
              <a:t>a[</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的地址。或者说，</a:t>
            </a:r>
            <a:r>
              <a:rPr lang="en-US" altLang="zh-CN" sz="2800" b="1" dirty="0" err="1">
                <a:effectLst>
                  <a:outerShdw blurRad="38100" dist="38100" dir="2700000" algn="tl">
                    <a:srgbClr val="C0C0C0"/>
                  </a:outerShdw>
                </a:effectLst>
                <a:latin typeface="楷体_GB2312" pitchFamily="49" charset="-122"/>
                <a:ea typeface="楷体_GB2312" pitchFamily="49" charset="-122"/>
              </a:rPr>
              <a:t>p+i</a:t>
            </a:r>
            <a:r>
              <a:rPr lang="zh-CN" altLang="en-US" sz="2800" b="1" dirty="0">
                <a:effectLst>
                  <a:outerShdw blurRad="38100" dist="38100" dir="2700000" algn="tl">
                    <a:srgbClr val="C0C0C0"/>
                  </a:outerShdw>
                </a:effectLst>
                <a:latin typeface="楷体_GB2312" pitchFamily="49" charset="-122"/>
                <a:ea typeface="楷体_GB2312" pitchFamily="49" charset="-122"/>
              </a:rPr>
              <a:t>的值为指向</a:t>
            </a:r>
            <a:r>
              <a:rPr lang="en-US" altLang="zh-CN" sz="2800" b="1" dirty="0">
                <a:effectLst>
                  <a:outerShdw blurRad="38100" dist="38100" dir="2700000" algn="tl">
                    <a:srgbClr val="C0C0C0"/>
                  </a:outerShdw>
                </a:effectLst>
                <a:latin typeface="楷体_GB2312" pitchFamily="49" charset="-122"/>
                <a:ea typeface="楷体_GB2312" pitchFamily="49" charset="-122"/>
              </a:rPr>
              <a:t>a[</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的指针值。</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110000"/>
              </a:lnSpc>
              <a:spcAft>
                <a:spcPts val="0"/>
              </a:spcAft>
              <a:buClr>
                <a:schemeClr val="accent3"/>
              </a:buClr>
              <a:buFontTx/>
              <a:buNone/>
              <a:defRPr/>
            </a:pPr>
            <a:endParaRPr lang="zh-CN" altLang="en-US"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110000"/>
              </a:lnSpc>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(3)</a:t>
            </a:r>
            <a:r>
              <a:rPr lang="zh-CN" altLang="zh-CN" sz="2800" b="1" dirty="0">
                <a:effectLst>
                  <a:outerShdw blurRad="38100" dist="38100" dir="2700000" algn="tl">
                    <a:srgbClr val="C0C0C0"/>
                  </a:outerShdw>
                </a:effectLst>
                <a:latin typeface="楷体_GB2312" pitchFamily="49" charset="-122"/>
                <a:ea typeface="楷体_GB2312" pitchFamily="49" charset="-122"/>
              </a:rPr>
              <a:t>当两个指针指向同一个数组的某两个元素时，允许两个指针作减法运算。</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zh-CN" sz="2800" b="1" dirty="0">
                <a:effectLst>
                  <a:outerShdw blurRad="38100" dist="38100" dir="2700000" algn="tl">
                    <a:srgbClr val="C0C0C0"/>
                  </a:outerShdw>
                </a:effectLst>
                <a:latin typeface="楷体_GB2312" pitchFamily="49" charset="-122"/>
                <a:ea typeface="楷体_GB2312" pitchFamily="49" charset="-122"/>
              </a:rPr>
              <a:t>两个指针作减法运算的绝对值等于两个指针所指数组元素之间相差的元素个数。</a:t>
            </a:r>
          </a:p>
        </p:txBody>
      </p:sp>
      <p:sp>
        <p:nvSpPr>
          <p:cNvPr id="26627"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742396DA-6FA8-4899-A84E-4B122336DD9C}" type="slidenum">
              <a:rPr lang="en-US" altLang="zh-CN"/>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xEl>
                                              <p:pRg st="4" end="4"/>
                                            </p:txEl>
                                          </p:spTgt>
                                        </p:tgtEl>
                                        <p:attrNameLst>
                                          <p:attrName>style.visibility</p:attrName>
                                        </p:attrNameLst>
                                      </p:cBhvr>
                                      <p:to>
                                        <p:strVal val="visible"/>
                                      </p:to>
                                    </p:set>
                                    <p:anim calcmode="lin" valueType="num">
                                      <p:cBhvr additive="base">
                                        <p:cTn id="7" dur="500" fill="hold"/>
                                        <p:tgtEl>
                                          <p:spTgt spid="512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2">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2">
                                            <p:txEl>
                                              <p:pRg st="5" end="5"/>
                                            </p:txEl>
                                          </p:spTgt>
                                        </p:tgtEl>
                                        <p:attrNameLst>
                                          <p:attrName>style.visibility</p:attrName>
                                        </p:attrNameLst>
                                      </p:cBhvr>
                                      <p:to>
                                        <p:strVal val="visible"/>
                                      </p:to>
                                    </p:set>
                                    <p:anim calcmode="lin" valueType="num">
                                      <p:cBhvr additive="base">
                                        <p:cTn id="11" dur="500" fill="hold"/>
                                        <p:tgtEl>
                                          <p:spTgt spid="5122">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285750" y="428625"/>
            <a:ext cx="8534400" cy="5786438"/>
          </a:xfrm>
        </p:spPr>
        <p:txBody>
          <a:bodyPr>
            <a:normAutofit/>
          </a:bodyPr>
          <a:lstStyle/>
          <a:p>
            <a:pPr marL="0" indent="0" eaLnBrk="1" fontAlgn="auto" hangingPunct="1">
              <a:spcAft>
                <a:spcPts val="0"/>
              </a:spcAft>
              <a:buClr>
                <a:schemeClr val="accent3"/>
              </a:buClr>
              <a:buFontTx/>
              <a:buNone/>
              <a:defRPr/>
            </a:pPr>
            <a:r>
              <a:rPr lang="zh-CN" altLang="en-US" sz="3000" b="1" dirty="0">
                <a:effectLst>
                  <a:outerShdw blurRad="38100" dist="38100" dir="2700000" algn="tl">
                    <a:srgbClr val="C0C0C0"/>
                  </a:outerShdw>
                </a:effectLst>
                <a:latin typeface="楷体_GB2312" pitchFamily="49" charset="-122"/>
                <a:ea typeface="楷体_GB2312" pitchFamily="49" charset="-122"/>
              </a:rPr>
              <a:t>利用数组名能代表数组首元素指针的规定，</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en-US" altLang="en-US" sz="3000" b="1" dirty="0" err="1">
                <a:effectLst>
                  <a:outerShdw blurRad="38100" dist="38100" dir="2700000" algn="tl">
                    <a:srgbClr val="C0C0C0"/>
                  </a:outerShdw>
                </a:effectLst>
                <a:latin typeface="楷体_GB2312" pitchFamily="49" charset="-122"/>
                <a:ea typeface="楷体_GB2312" pitchFamily="49" charset="-122"/>
              </a:rPr>
              <a:t>a+i</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zh-CN" altLang="en-US" sz="3000" b="1" dirty="0">
                <a:effectLst>
                  <a:outerShdw blurRad="38100" dist="38100" dir="2700000" algn="tl">
                    <a:srgbClr val="C0C0C0"/>
                  </a:outerShdw>
                </a:effectLst>
                <a:latin typeface="楷体_GB2312" pitchFamily="49" charset="-122"/>
                <a:ea typeface="楷体_GB2312" pitchFamily="49" charset="-122"/>
              </a:rPr>
              <a:t>表示引用</a:t>
            </a:r>
            <a:r>
              <a:rPr lang="en-US" altLang="en-US" sz="3000" b="1" dirty="0" err="1">
                <a:effectLst>
                  <a:outerShdw blurRad="38100" dist="38100" dir="2700000" algn="tl">
                    <a:srgbClr val="C0C0C0"/>
                  </a:outerShdw>
                </a:effectLst>
                <a:latin typeface="楷体_GB2312" pitchFamily="49" charset="-122"/>
                <a:ea typeface="楷体_GB2312" pitchFamily="49" charset="-122"/>
              </a:rPr>
              <a:t>a+i</a:t>
            </a:r>
            <a:r>
              <a:rPr lang="zh-CN" altLang="en-US" sz="3000" b="1" dirty="0">
                <a:effectLst>
                  <a:outerShdw blurRad="38100" dist="38100" dir="2700000" algn="tl">
                    <a:srgbClr val="C0C0C0"/>
                  </a:outerShdw>
                </a:effectLst>
                <a:latin typeface="楷体_GB2312" pitchFamily="49" charset="-122"/>
                <a:ea typeface="楷体_GB2312" pitchFamily="49" charset="-122"/>
              </a:rPr>
              <a:t>所指向的数组元素</a:t>
            </a:r>
            <a:r>
              <a:rPr lang="en-US" altLang="en-US" sz="3000" b="1" dirty="0">
                <a:effectLst>
                  <a:outerShdw blurRad="38100" dist="38100" dir="2700000" algn="tl">
                    <a:srgbClr val="C0C0C0"/>
                  </a:outerShdw>
                </a:effectLst>
                <a:latin typeface="楷体_GB2312" pitchFamily="49" charset="-122"/>
                <a:ea typeface="楷体_GB2312" pitchFamily="49" charset="-122"/>
              </a:rPr>
              <a:t>a[</a:t>
            </a:r>
            <a:r>
              <a:rPr lang="en-US" altLang="en-US" sz="3000" b="1" dirty="0" err="1">
                <a:effectLst>
                  <a:outerShdw blurRad="38100" dist="38100" dir="2700000" algn="tl">
                    <a:srgbClr val="C0C0C0"/>
                  </a:outerShdw>
                </a:effectLst>
                <a:latin typeface="楷体_GB2312" pitchFamily="49" charset="-122"/>
                <a:ea typeface="楷体_GB2312" pitchFamily="49" charset="-122"/>
              </a:rPr>
              <a:t>i</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zh-CN" altLang="en-US" sz="3000" b="1" dirty="0">
                <a:effectLst>
                  <a:outerShdw blurRad="38100" dist="38100" dir="2700000" algn="tl">
                    <a:srgbClr val="C0C0C0"/>
                  </a:outerShdw>
                </a:effectLst>
                <a:latin typeface="楷体_GB2312" pitchFamily="49" charset="-122"/>
                <a:ea typeface="楷体_GB2312" pitchFamily="49" charset="-122"/>
              </a:rPr>
              <a:t>。这样</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en-US" altLang="en-US" sz="3000" b="1" dirty="0" err="1">
                <a:effectLst>
                  <a:outerShdw blurRad="38100" dist="38100" dir="2700000" algn="tl">
                    <a:srgbClr val="C0C0C0"/>
                  </a:outerShdw>
                </a:effectLst>
                <a:latin typeface="楷体_GB2312" pitchFamily="49" charset="-122"/>
                <a:ea typeface="楷体_GB2312" pitchFamily="49" charset="-122"/>
              </a:rPr>
              <a:t>a+i</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zh-CN" altLang="en-US" sz="3000" b="1" dirty="0">
                <a:effectLst>
                  <a:outerShdw blurRad="38100" dist="38100" dir="2700000" algn="tl">
                    <a:srgbClr val="C0C0C0"/>
                  </a:outerShdw>
                </a:effectLst>
                <a:latin typeface="楷体_GB2312" pitchFamily="49" charset="-122"/>
                <a:ea typeface="楷体_GB2312" pitchFamily="49" charset="-122"/>
              </a:rPr>
              <a:t>就是</a:t>
            </a:r>
            <a:r>
              <a:rPr lang="en-US" altLang="en-US" sz="3000" b="1" dirty="0">
                <a:effectLst>
                  <a:outerShdw blurRad="38100" dist="38100" dir="2700000" algn="tl">
                    <a:srgbClr val="C0C0C0"/>
                  </a:outerShdw>
                </a:effectLst>
                <a:latin typeface="楷体_GB2312" pitchFamily="49" charset="-122"/>
                <a:ea typeface="楷体_GB2312" pitchFamily="49" charset="-122"/>
              </a:rPr>
              <a:t>a[</a:t>
            </a:r>
            <a:r>
              <a:rPr lang="en-US" altLang="en-US" sz="3000" b="1" dirty="0" err="1">
                <a:effectLst>
                  <a:outerShdw blurRad="38100" dist="38100" dir="2700000" algn="tl">
                    <a:srgbClr val="C0C0C0"/>
                  </a:outerShdw>
                </a:effectLst>
                <a:latin typeface="楷体_GB2312" pitchFamily="49" charset="-122"/>
                <a:ea typeface="楷体_GB2312" pitchFamily="49" charset="-122"/>
              </a:rPr>
              <a:t>i</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zh-CN" altLang="en-US" sz="3000" b="1" dirty="0">
                <a:effectLst>
                  <a:outerShdw blurRad="38100" dist="38100" dir="2700000" algn="tl">
                    <a:srgbClr val="C0C0C0"/>
                  </a:outerShdw>
                </a:effectLst>
                <a:latin typeface="楷体_GB2312" pitchFamily="49" charset="-122"/>
                <a:ea typeface="楷体_GB2312" pitchFamily="49" charset="-122"/>
              </a:rPr>
              <a:t>。对于指向数组元素的指针变量</a:t>
            </a:r>
            <a:r>
              <a:rPr lang="en-US" altLang="en-US" sz="3000" b="1" dirty="0">
                <a:effectLst>
                  <a:outerShdw blurRad="38100" dist="38100" dir="2700000" algn="tl">
                    <a:srgbClr val="C0C0C0"/>
                  </a:outerShdw>
                </a:effectLst>
                <a:latin typeface="楷体_GB2312" pitchFamily="49" charset="-122"/>
                <a:ea typeface="楷体_GB2312" pitchFamily="49" charset="-122"/>
              </a:rPr>
              <a:t>p</a:t>
            </a:r>
            <a:r>
              <a:rPr lang="zh-CN" altLang="en-US" sz="3000" b="1" dirty="0">
                <a:effectLst>
                  <a:outerShdw blurRad="38100" dist="38100" dir="2700000" algn="tl">
                    <a:srgbClr val="C0C0C0"/>
                  </a:outerShdw>
                </a:effectLst>
                <a:latin typeface="楷体_GB2312" pitchFamily="49" charset="-122"/>
                <a:ea typeface="楷体_GB2312" pitchFamily="49" charset="-122"/>
              </a:rPr>
              <a:t>，若</a:t>
            </a:r>
            <a:r>
              <a:rPr lang="en-US" altLang="en-US" sz="3000" b="1" dirty="0">
                <a:effectLst>
                  <a:outerShdw blurRad="38100" dist="38100" dir="2700000" algn="tl">
                    <a:srgbClr val="C0C0C0"/>
                  </a:outerShdw>
                </a:effectLst>
                <a:latin typeface="楷体_GB2312" pitchFamily="49" charset="-122"/>
                <a:ea typeface="楷体_GB2312" pitchFamily="49" charset="-122"/>
              </a:rPr>
              <a:t>p</a:t>
            </a:r>
            <a:r>
              <a:rPr lang="zh-CN" altLang="en-US" sz="3000" b="1" dirty="0">
                <a:effectLst>
                  <a:outerShdw blurRad="38100" dist="38100" dir="2700000" algn="tl">
                    <a:srgbClr val="C0C0C0"/>
                  </a:outerShdw>
                </a:effectLst>
                <a:latin typeface="楷体_GB2312" pitchFamily="49" charset="-122"/>
                <a:ea typeface="楷体_GB2312" pitchFamily="49" charset="-122"/>
              </a:rPr>
              <a:t>指向</a:t>
            </a:r>
            <a:r>
              <a:rPr lang="en-US" altLang="en-US" sz="3000" b="1" dirty="0">
                <a:effectLst>
                  <a:outerShdw blurRad="38100" dist="38100" dir="2700000" algn="tl">
                    <a:srgbClr val="C0C0C0"/>
                  </a:outerShdw>
                </a:effectLst>
                <a:latin typeface="楷体_GB2312" pitchFamily="49" charset="-122"/>
                <a:ea typeface="楷体_GB2312" pitchFamily="49" charset="-122"/>
              </a:rPr>
              <a:t>a[10]</a:t>
            </a:r>
            <a:r>
              <a:rPr lang="zh-CN" altLang="en-US" sz="3000" b="1" dirty="0">
                <a:effectLst>
                  <a:outerShdw blurRad="38100" dist="38100" dir="2700000" algn="tl">
                    <a:srgbClr val="C0C0C0"/>
                  </a:outerShdw>
                </a:effectLst>
                <a:latin typeface="楷体_GB2312" pitchFamily="49" charset="-122"/>
                <a:ea typeface="楷体_GB2312" pitchFamily="49" charset="-122"/>
              </a:rPr>
              <a:t>，</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en-US" altLang="en-US" sz="3000" b="1" dirty="0" err="1">
                <a:effectLst>
                  <a:outerShdw blurRad="38100" dist="38100" dir="2700000" algn="tl">
                    <a:srgbClr val="C0C0C0"/>
                  </a:outerShdw>
                </a:effectLst>
                <a:latin typeface="楷体_GB2312" pitchFamily="49" charset="-122"/>
                <a:ea typeface="楷体_GB2312" pitchFamily="49" charset="-122"/>
              </a:rPr>
              <a:t>p+i</a:t>
            </a:r>
            <a:r>
              <a:rPr lang="en-US" altLang="en-US" sz="3000" b="1" dirty="0">
                <a:effectLst>
                  <a:outerShdw blurRad="38100" dist="38100" dir="2700000" algn="tl">
                    <a:srgbClr val="C0C0C0"/>
                  </a:outerShdw>
                </a:effectLst>
                <a:latin typeface="楷体_GB2312" pitchFamily="49" charset="-122"/>
                <a:ea typeface="楷体_GB2312" pitchFamily="49" charset="-122"/>
              </a:rPr>
              <a:t>)</a:t>
            </a:r>
            <a:r>
              <a:rPr lang="zh-CN" altLang="en-US" sz="3000" b="1" dirty="0">
                <a:effectLst>
                  <a:outerShdw blurRad="38100" dist="38100" dir="2700000" algn="tl">
                    <a:srgbClr val="C0C0C0"/>
                  </a:outerShdw>
                </a:effectLst>
                <a:latin typeface="楷体_GB2312" pitchFamily="49" charset="-122"/>
                <a:ea typeface="楷体_GB2312" pitchFamily="49" charset="-122"/>
              </a:rPr>
              <a:t>表示引用</a:t>
            </a:r>
            <a:r>
              <a:rPr lang="en-US" altLang="en-US" sz="3000" b="1" dirty="0" err="1">
                <a:effectLst>
                  <a:outerShdw blurRad="38100" dist="38100" dir="2700000" algn="tl">
                    <a:srgbClr val="C0C0C0"/>
                  </a:outerShdw>
                </a:effectLst>
                <a:latin typeface="楷体_GB2312" pitchFamily="49" charset="-122"/>
                <a:ea typeface="楷体_GB2312" pitchFamily="49" charset="-122"/>
              </a:rPr>
              <a:t>p+i</a:t>
            </a:r>
            <a:r>
              <a:rPr lang="zh-CN" altLang="en-US" sz="3000" b="1" dirty="0">
                <a:effectLst>
                  <a:outerShdw blurRad="38100" dist="38100" dir="2700000" algn="tl">
                    <a:srgbClr val="C0C0C0"/>
                  </a:outerShdw>
                </a:effectLst>
                <a:latin typeface="楷体_GB2312" pitchFamily="49" charset="-122"/>
                <a:ea typeface="楷体_GB2312" pitchFamily="49" charset="-122"/>
              </a:rPr>
              <a:t>所指向的数组元素</a:t>
            </a:r>
            <a:r>
              <a:rPr lang="en-US" altLang="en-US" sz="3000" b="1" dirty="0">
                <a:effectLst>
                  <a:outerShdw blurRad="38100" dist="38100" dir="2700000" algn="tl">
                    <a:srgbClr val="C0C0C0"/>
                  </a:outerShdw>
                </a:effectLst>
                <a:latin typeface="楷体_GB2312" pitchFamily="49" charset="-122"/>
                <a:ea typeface="楷体_GB2312" pitchFamily="49" charset="-122"/>
              </a:rPr>
              <a:t>a[10+i]</a:t>
            </a:r>
            <a:r>
              <a:rPr lang="zh-CN" altLang="en-US" sz="30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110000"/>
              </a:lnSpc>
              <a:spcAft>
                <a:spcPts val="0"/>
              </a:spcAft>
              <a:buClr>
                <a:schemeClr val="accent3"/>
              </a:buClr>
              <a:buFontTx/>
              <a:buNone/>
              <a:defRPr/>
            </a:pPr>
            <a:r>
              <a:rPr lang="zh-CN" altLang="en-US" sz="3200" b="1" dirty="0">
                <a:effectLst>
                  <a:outerShdw blurRad="38100" dist="38100" dir="2700000" algn="tl">
                    <a:srgbClr val="C0C0C0"/>
                  </a:outerShdw>
                </a:effectLst>
                <a:latin typeface="楷体_GB2312" pitchFamily="49" charset="-122"/>
                <a:ea typeface="楷体_GB2312" pitchFamily="49" charset="-122"/>
              </a:rPr>
              <a:t>引用数组元素的方法</a:t>
            </a:r>
          </a:p>
          <a:p>
            <a:pPr marL="0" indent="0" eaLnBrk="1" fontAlgn="auto" hangingPunct="1">
              <a:lnSpc>
                <a:spcPct val="110000"/>
              </a:lnSpc>
              <a:spcAft>
                <a:spcPts val="0"/>
              </a:spcAft>
              <a:buClr>
                <a:schemeClr val="accent3"/>
              </a:buClr>
              <a:buFont typeface="Monotype Sorts" pitchFamily="2" charset="2"/>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用数组元素的下标法，如</a:t>
            </a:r>
            <a:r>
              <a:rPr lang="en-US" altLang="zh-CN" sz="2800" b="1" dirty="0">
                <a:effectLst>
                  <a:outerShdw blurRad="38100" dist="38100" dir="2700000" algn="tl">
                    <a:srgbClr val="C0C0C0"/>
                  </a:outerShdw>
                </a:effectLst>
                <a:latin typeface="楷体_GB2312" pitchFamily="49" charset="-122"/>
                <a:ea typeface="楷体_GB2312" pitchFamily="49" charset="-122"/>
              </a:rPr>
              <a:t>a[5]</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a[</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110000"/>
              </a:lnSpc>
              <a:spcAft>
                <a:spcPts val="0"/>
              </a:spcAft>
              <a:buClr>
                <a:schemeClr val="accent3"/>
              </a:buClr>
              <a:buFont typeface="Monotype Sorts" pitchFamily="2" charset="2"/>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2.</a:t>
            </a:r>
            <a:r>
              <a:rPr lang="zh-CN" altLang="en-US" sz="2800" b="1" dirty="0">
                <a:effectLst>
                  <a:outerShdw blurRad="38100" dist="38100" dir="2700000" algn="tl">
                    <a:srgbClr val="C0C0C0"/>
                  </a:outerShdw>
                </a:effectLst>
                <a:latin typeface="楷体_GB2312" pitchFamily="49" charset="-122"/>
                <a:ea typeface="楷体_GB2312" pitchFamily="49" charset="-122"/>
              </a:rPr>
              <a:t>利用数组名是数组首元素指针的规定，如 *</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a+i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表示</a:t>
            </a:r>
            <a:r>
              <a:rPr lang="en-US" altLang="zh-CN" sz="2800" b="1" dirty="0">
                <a:effectLst>
                  <a:outerShdw blurRad="38100" dist="38100" dir="2700000" algn="tl">
                    <a:srgbClr val="C0C0C0"/>
                  </a:outerShdw>
                </a:effectLst>
                <a:latin typeface="楷体_GB2312" pitchFamily="49" charset="-122"/>
                <a:ea typeface="楷体_GB2312" pitchFamily="49" charset="-122"/>
              </a:rPr>
              <a:t>a[</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110000"/>
              </a:lnSpc>
              <a:spcAft>
                <a:spcPts val="0"/>
              </a:spcAft>
              <a:buClr>
                <a:schemeClr val="accent3"/>
              </a:buClr>
              <a:buFont typeface="Monotype Sorts" pitchFamily="2" charset="2"/>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3.</a:t>
            </a:r>
            <a:r>
              <a:rPr lang="zh-CN" altLang="en-US" sz="2800" b="1" dirty="0">
                <a:effectLst>
                  <a:outerShdw blurRad="38100" dist="38100" dir="2700000" algn="tl">
                    <a:srgbClr val="C0C0C0"/>
                  </a:outerShdw>
                </a:effectLst>
                <a:latin typeface="楷体_GB2312" pitchFamily="49" charset="-122"/>
                <a:ea typeface="楷体_GB2312" pitchFamily="49" charset="-122"/>
              </a:rPr>
              <a:t>利用指向数组元素的指针变量，如 </a:t>
            </a:r>
            <a:r>
              <a:rPr lang="en-US" altLang="zh-CN" sz="2800" b="1" dirty="0">
                <a:effectLst>
                  <a:outerShdw blurRad="38100" dist="38100" dir="2700000" algn="tl">
                    <a:srgbClr val="C0C0C0"/>
                  </a:outerShdw>
                </a:effectLst>
                <a:latin typeface="楷体_GB2312" pitchFamily="49" charset="-122"/>
                <a:ea typeface="楷体_GB2312" pitchFamily="49" charset="-122"/>
              </a:rPr>
              <a:t>p = &amp;a[0]; </a:t>
            </a:r>
            <a:r>
              <a:rPr lang="zh-CN" altLang="en-US" sz="2800" b="1" dirty="0">
                <a:effectLst>
                  <a:outerShdw blurRad="38100" dist="38100" dir="2700000" algn="tl">
                    <a:srgbClr val="C0C0C0"/>
                  </a:outerShdw>
                </a:effectLst>
                <a:latin typeface="楷体_GB2312" pitchFamily="49" charset="-122"/>
                <a:ea typeface="楷体_GB2312" pitchFamily="49" charset="-122"/>
              </a:rPr>
              <a:t>则 *</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p+i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表示</a:t>
            </a:r>
            <a:r>
              <a:rPr lang="en-US" altLang="zh-CN" sz="2800" b="1" dirty="0">
                <a:effectLst>
                  <a:outerShdw blurRad="38100" dist="38100" dir="2700000" algn="tl">
                    <a:srgbClr val="C0C0C0"/>
                  </a:outerShdw>
                </a:effectLst>
                <a:latin typeface="楷体_GB2312" pitchFamily="49" charset="-122"/>
                <a:ea typeface="楷体_GB2312" pitchFamily="49" charset="-122"/>
              </a:rPr>
              <a:t>a[</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p+i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也可写成</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p>
        </p:txBody>
      </p:sp>
      <p:sp>
        <p:nvSpPr>
          <p:cNvPr id="27651"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D8AC4CB8-4DB7-4332-89A4-E1F7AA549410}" type="slidenum">
              <a:rPr lang="en-US" altLang="zh-CN"/>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xEl>
                                              <p:pRg st="1" end="1"/>
                                            </p:txEl>
                                          </p:spTgt>
                                        </p:tgtEl>
                                        <p:attrNameLst>
                                          <p:attrName>style.visibility</p:attrName>
                                        </p:attrNameLst>
                                      </p:cBhvr>
                                      <p:to>
                                        <p:strVal val="visible"/>
                                      </p:to>
                                    </p:set>
                                    <p:anim calcmode="lin" valueType="num">
                                      <p:cBhvr additive="base">
                                        <p:cTn id="7" dur="500" fill="hold"/>
                                        <p:tgtEl>
                                          <p:spTgt spid="512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2">
                                            <p:txEl>
                                              <p:pRg st="2" end="2"/>
                                            </p:txEl>
                                          </p:spTgt>
                                        </p:tgtEl>
                                        <p:attrNameLst>
                                          <p:attrName>style.visibility</p:attrName>
                                        </p:attrNameLst>
                                      </p:cBhvr>
                                      <p:to>
                                        <p:strVal val="visible"/>
                                      </p:to>
                                    </p:set>
                                    <p:anim calcmode="lin" valueType="num">
                                      <p:cBhvr additive="base">
                                        <p:cTn id="11" dur="500" fill="hold"/>
                                        <p:tgtEl>
                                          <p:spTgt spid="512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22">
                                            <p:txEl>
                                              <p:pRg st="3" end="3"/>
                                            </p:txEl>
                                          </p:spTgt>
                                        </p:tgtEl>
                                        <p:attrNameLst>
                                          <p:attrName>style.visibility</p:attrName>
                                        </p:attrNameLst>
                                      </p:cBhvr>
                                      <p:to>
                                        <p:strVal val="visible"/>
                                      </p:to>
                                    </p:set>
                                    <p:anim calcmode="lin" valueType="num">
                                      <p:cBhvr additive="base">
                                        <p:cTn id="17" dur="500" fill="hold"/>
                                        <p:tgtEl>
                                          <p:spTgt spid="512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122">
                                            <p:txEl>
                                              <p:pRg st="4" end="4"/>
                                            </p:txEl>
                                          </p:spTgt>
                                        </p:tgtEl>
                                        <p:attrNameLst>
                                          <p:attrName>style.visibility</p:attrName>
                                        </p:attrNameLst>
                                      </p:cBhvr>
                                      <p:to>
                                        <p:strVal val="visible"/>
                                      </p:to>
                                    </p:set>
                                    <p:anim calcmode="lin" valueType="num">
                                      <p:cBhvr additive="base">
                                        <p:cTn id="23" dur="500" fill="hold"/>
                                        <p:tgtEl>
                                          <p:spTgt spid="512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idx="1"/>
          </p:nvPr>
        </p:nvSpPr>
        <p:spPr>
          <a:xfrm>
            <a:off x="250825" y="692150"/>
            <a:ext cx="8512175" cy="5495925"/>
          </a:xfrm>
        </p:spPr>
        <p:txBody>
          <a:bodyPr>
            <a:normAutofit lnSpcReduction="10000"/>
          </a:bodyPr>
          <a:lstStyle/>
          <a:p>
            <a:pPr marL="0" indent="0" algn="just" eaLnBrk="1" fontAlgn="auto" hangingPunct="1">
              <a:lnSpc>
                <a:spcPct val="110000"/>
              </a:lnSpc>
              <a:spcAft>
                <a:spcPts val="0"/>
              </a:spcAft>
              <a:buClr>
                <a:schemeClr val="accent3"/>
              </a:buClr>
              <a:buFontTx/>
              <a:buNone/>
              <a:defRPr/>
            </a:pP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a[100], b[100], *p, *q;</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for(p = a; p &lt; a + 100;) /*</a:t>
            </a:r>
            <a:r>
              <a:rPr lang="zh-CN" altLang="en-US" sz="2800" b="1" dirty="0">
                <a:effectLst>
                  <a:outerShdw blurRad="38100" dist="38100" dir="2700000" algn="tl">
                    <a:srgbClr val="C0C0C0"/>
                  </a:outerShdw>
                </a:effectLst>
                <a:latin typeface="楷体_GB2312" pitchFamily="49" charset="-122"/>
                <a:ea typeface="楷体_GB2312" pitchFamily="49" charset="-122"/>
              </a:rPr>
              <a:t>利用指针遍历数组，输入数组的全部元素*</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scanf</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%d</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 p++);</a:t>
            </a:r>
          </a:p>
          <a:p>
            <a:pPr marL="0" indent="0" eaLnBrk="1" fontAlgn="auto" hangingPunct="1">
              <a:spcAft>
                <a:spcPts val="0"/>
              </a:spcAft>
              <a:buClr>
                <a:schemeClr val="accent3"/>
              </a:buClr>
              <a:buFontTx/>
              <a:buNone/>
              <a:defRPr/>
            </a:pP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for(p = a; p &lt;= &amp;a[99]; p++)/*</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利用指针遍历数组，输出数组的全部元素*</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        </a:t>
            </a:r>
            <a:r>
              <a:rPr lang="en-US" altLang="zh-CN" sz="2800" b="1" dirty="0" err="1">
                <a:solidFill>
                  <a:srgbClr val="990000"/>
                </a:solidFill>
                <a:effectLst>
                  <a:outerShdw blurRad="38100" dist="38100" dir="2700000" algn="tl">
                    <a:srgbClr val="C0C0C0"/>
                  </a:outerShdw>
                </a:effectLst>
                <a:latin typeface="楷体_GB2312" pitchFamily="49" charset="-122"/>
                <a:ea typeface="楷体_GB2312" pitchFamily="49" charset="-122"/>
              </a:rPr>
              <a:t>printf</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990000"/>
                </a:solidFill>
                <a:effectLst>
                  <a:outerShdw blurRad="38100" dist="38100" dir="2700000" algn="tl">
                    <a:srgbClr val="C0C0C0"/>
                  </a:outerShdw>
                </a:effectLst>
                <a:ea typeface="楷体_GB2312" pitchFamily="49" charset="-122"/>
              </a:rPr>
              <a:t>“</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*p = %d\t</a:t>
            </a:r>
            <a:r>
              <a:rPr lang="en-US" altLang="zh-CN" sz="2800" b="1" dirty="0">
                <a:solidFill>
                  <a:srgbClr val="990000"/>
                </a:solidFill>
                <a:effectLst>
                  <a:outerShdw blurRad="38100" dist="38100" dir="2700000" algn="tl">
                    <a:srgbClr val="C0C0C0"/>
                  </a:outerShdw>
                </a:effectLst>
                <a:ea typeface="楷体_GB2312" pitchFamily="49" charset="-122"/>
              </a:rPr>
              <a:t>”</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 *p);</a:t>
            </a:r>
          </a:p>
          <a:p>
            <a:pPr marL="0" indent="0" eaLnBrk="1" fontAlgn="auto" hangingPunct="1">
              <a:spcAft>
                <a:spcPts val="0"/>
              </a:spcAft>
              <a:buClr>
                <a:schemeClr val="accent3"/>
              </a:buClr>
              <a:buFontTx/>
              <a:buNone/>
              <a:defRPr/>
            </a:pPr>
            <a:r>
              <a:rPr lang="en-US" altLang="zh-CN" sz="2800" b="1" dirty="0" err="1">
                <a:solidFill>
                  <a:srgbClr val="990000"/>
                </a:solidFill>
                <a:effectLst>
                  <a:outerShdw blurRad="38100" dist="38100" dir="2700000" algn="tl">
                    <a:srgbClr val="C0C0C0"/>
                  </a:outerShdw>
                </a:effectLst>
                <a:latin typeface="楷体_GB2312" pitchFamily="49" charset="-122"/>
                <a:ea typeface="楷体_GB2312" pitchFamily="49" charset="-122"/>
              </a:rPr>
              <a:t>printf</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solidFill>
                  <a:srgbClr val="990000"/>
                </a:solidFill>
                <a:effectLst>
                  <a:outerShdw blurRad="38100" dist="38100" dir="2700000" algn="tl">
                    <a:srgbClr val="C0C0C0"/>
                  </a:outerShdw>
                </a:effectLst>
                <a:ea typeface="楷体_GB2312" pitchFamily="49" charset="-122"/>
              </a:rPr>
              <a:t>“</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\n</a:t>
            </a:r>
            <a:r>
              <a:rPr lang="en-US" altLang="zh-CN" sz="2800" b="1" dirty="0">
                <a:solidFill>
                  <a:srgbClr val="990000"/>
                </a:solidFill>
                <a:effectLst>
                  <a:outerShdw blurRad="38100" dist="38100" dir="2700000" algn="tl">
                    <a:srgbClr val="C0C0C0"/>
                  </a:outerShdw>
                </a:effectLst>
                <a:ea typeface="楷体_GB2312" pitchFamily="49" charset="-122"/>
              </a:rPr>
              <a:t>”</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endPar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for(p = a, q = b; p &lt; a + 100;)/* </a:t>
            </a:r>
            <a:r>
              <a:rPr lang="zh-CN" altLang="en-US" sz="2800" b="1" dirty="0">
                <a:effectLst>
                  <a:outerShdw blurRad="38100" dist="38100" dir="2700000" algn="tl">
                    <a:srgbClr val="C0C0C0"/>
                  </a:outerShdw>
                </a:effectLst>
                <a:latin typeface="楷体_GB2312" pitchFamily="49" charset="-122"/>
                <a:ea typeface="楷体_GB2312" pitchFamily="49" charset="-122"/>
              </a:rPr>
              <a:t>利用指针将已知数组复制到另一个数组*</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*q++ = *p++;  // c</a:t>
            </a:r>
            <a:r>
              <a:rPr lang="zh-CN" altLang="en-US" sz="2800" b="1" dirty="0">
                <a:effectLst>
                  <a:outerShdw blurRad="38100" dist="38100" dir="2700000" algn="tl">
                    <a:srgbClr val="C0C0C0"/>
                  </a:outerShdw>
                </a:effectLst>
                <a:latin typeface="楷体_GB2312" pitchFamily="49" charset="-122"/>
                <a:ea typeface="楷体_GB2312" pitchFamily="49" charset="-122"/>
              </a:rPr>
              <a:t>语言的简洁性</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p:txBody>
      </p:sp>
      <p:sp>
        <p:nvSpPr>
          <p:cNvPr id="30723"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4B0E18E6-0ACE-41BC-9819-A360CE0ED108}" type="slidenum">
              <a:rPr lang="en-US" altLang="zh-CN"/>
              <a:pPr>
                <a:defRPr/>
              </a:pPr>
              <a:t>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22">
                                            <p:txEl>
                                              <p:pRg st="3" end="3"/>
                                            </p:txEl>
                                          </p:spTgt>
                                        </p:tgtEl>
                                        <p:attrNameLst>
                                          <p:attrName>style.visibility</p:attrName>
                                        </p:attrNameLst>
                                      </p:cBhvr>
                                      <p:to>
                                        <p:strVal val="visible"/>
                                      </p:to>
                                    </p:set>
                                    <p:anim calcmode="lin" valueType="num">
                                      <p:cBhvr additive="base">
                                        <p:cTn id="7" dur="500" fill="hold"/>
                                        <p:tgtEl>
                                          <p:spTgt spid="8192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2">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1922">
                                            <p:txEl>
                                              <p:pRg st="4" end="4"/>
                                            </p:txEl>
                                          </p:spTgt>
                                        </p:tgtEl>
                                        <p:attrNameLst>
                                          <p:attrName>style.visibility</p:attrName>
                                        </p:attrNameLst>
                                      </p:cBhvr>
                                      <p:to>
                                        <p:strVal val="visible"/>
                                      </p:to>
                                    </p:set>
                                    <p:anim calcmode="lin" valueType="num">
                                      <p:cBhvr additive="base">
                                        <p:cTn id="11" dur="500" fill="hold"/>
                                        <p:tgtEl>
                                          <p:spTgt spid="81922">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1922">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1922">
                                            <p:txEl>
                                              <p:pRg st="5" end="5"/>
                                            </p:txEl>
                                          </p:spTgt>
                                        </p:tgtEl>
                                        <p:attrNameLst>
                                          <p:attrName>style.visibility</p:attrName>
                                        </p:attrNameLst>
                                      </p:cBhvr>
                                      <p:to>
                                        <p:strVal val="visible"/>
                                      </p:to>
                                    </p:set>
                                    <p:anim calcmode="lin" valueType="num">
                                      <p:cBhvr additive="base">
                                        <p:cTn id="15" dur="500" fill="hold"/>
                                        <p:tgtEl>
                                          <p:spTgt spid="81922">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192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1922">
                                            <p:txEl>
                                              <p:pRg st="7" end="7"/>
                                            </p:txEl>
                                          </p:spTgt>
                                        </p:tgtEl>
                                        <p:attrNameLst>
                                          <p:attrName>style.visibility</p:attrName>
                                        </p:attrNameLst>
                                      </p:cBhvr>
                                      <p:to>
                                        <p:strVal val="visible"/>
                                      </p:to>
                                    </p:set>
                                    <p:anim calcmode="lin" valueType="num">
                                      <p:cBhvr additive="base">
                                        <p:cTn id="21" dur="500" fill="hold"/>
                                        <p:tgtEl>
                                          <p:spTgt spid="81922">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1922">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1922">
                                            <p:txEl>
                                              <p:pRg st="8" end="8"/>
                                            </p:txEl>
                                          </p:spTgt>
                                        </p:tgtEl>
                                        <p:attrNameLst>
                                          <p:attrName>style.visibility</p:attrName>
                                        </p:attrNameLst>
                                      </p:cBhvr>
                                      <p:to>
                                        <p:strVal val="visible"/>
                                      </p:to>
                                    </p:set>
                                    <p:anim calcmode="lin" valueType="num">
                                      <p:cBhvr additive="base">
                                        <p:cTn id="25" dur="500" fill="hold"/>
                                        <p:tgtEl>
                                          <p:spTgt spid="81922">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idx="1"/>
          </p:nvPr>
        </p:nvSpPr>
        <p:spPr>
          <a:xfrm>
            <a:off x="250825" y="692150"/>
            <a:ext cx="8512175" cy="5495925"/>
          </a:xfrm>
        </p:spPr>
        <p:txBody>
          <a:bodyPr>
            <a:normAutofit fontScale="85000" lnSpcReduction="10000"/>
          </a:bodyPr>
          <a:lstStyle/>
          <a:p>
            <a:pPr marL="0" indent="0" algn="just" eaLnBrk="1" fontAlgn="auto" hangingPunct="1">
              <a:lnSpc>
                <a:spcPct val="110000"/>
              </a:lnSpc>
              <a:spcAft>
                <a:spcPts val="0"/>
              </a:spcAft>
              <a:buClr>
                <a:schemeClr val="accent3"/>
              </a:buClr>
              <a:buFontTx/>
              <a:buNone/>
              <a:defRPr/>
            </a:pPr>
            <a:r>
              <a:rPr lang="zh-CN" altLang="en-US" sz="3600" b="1" dirty="0">
                <a:effectLst>
                  <a:outerShdw blurRad="38100" dist="38100" dir="2700000" algn="tl">
                    <a:srgbClr val="C0C0C0"/>
                  </a:outerShdw>
                </a:effectLst>
                <a:latin typeface="楷体_GB2312" pitchFamily="49" charset="-122"/>
                <a:ea typeface="楷体_GB2312" pitchFamily="49" charset="-122"/>
              </a:rPr>
              <a:t>数组名与指针的区别：</a:t>
            </a:r>
          </a:p>
          <a:p>
            <a:pPr marL="0" indent="0" algn="just" eaLnBrk="1" fontAlgn="auto" hangingPunct="1">
              <a:lnSpc>
                <a:spcPct val="110000"/>
              </a:lnSpc>
              <a:spcAft>
                <a:spcPts val="0"/>
              </a:spcAft>
              <a:buClr>
                <a:schemeClr val="accent3"/>
              </a:buClr>
              <a:buFontTx/>
              <a:buNone/>
              <a:defRPr/>
            </a:pPr>
            <a:r>
              <a:rPr lang="zh-CN" altLang="en-US" sz="3600" b="1" dirty="0">
                <a:solidFill>
                  <a:schemeClr val="tx2"/>
                </a:solidFill>
                <a:effectLst>
                  <a:outerShdw blurRad="38100" dist="38100" dir="2700000" algn="tl">
                    <a:srgbClr val="C0C0C0"/>
                  </a:outerShdw>
                </a:effectLst>
                <a:latin typeface="楷体_GB2312" pitchFamily="49" charset="-122"/>
                <a:ea typeface="楷体_GB2312" pitchFamily="49" charset="-122"/>
              </a:rPr>
              <a:t>指针变量的值可改变，例如</a:t>
            </a:r>
            <a:r>
              <a:rPr lang="en-US" altLang="zh-CN" sz="3600" b="1" dirty="0">
                <a:solidFill>
                  <a:schemeClr val="tx2"/>
                </a:solidFill>
                <a:effectLst>
                  <a:outerShdw blurRad="38100" dist="38100" dir="2700000" algn="tl">
                    <a:srgbClr val="C0C0C0"/>
                  </a:outerShdw>
                </a:effectLst>
                <a:latin typeface="楷体_GB2312" pitchFamily="49" charset="-122"/>
                <a:ea typeface="楷体_GB2312" pitchFamily="49" charset="-122"/>
              </a:rPr>
              <a:t>p++</a:t>
            </a:r>
            <a:r>
              <a:rPr lang="zh-CN" altLang="en-US" sz="3600" b="1" dirty="0">
                <a:solidFill>
                  <a:schemeClr val="tx2"/>
                </a:solidFill>
                <a:effectLst>
                  <a:outerShdw blurRad="38100" dist="38100" dir="2700000" algn="tl">
                    <a:srgbClr val="C0C0C0"/>
                  </a:outerShdw>
                </a:effectLst>
                <a:latin typeface="楷体_GB2312" pitchFamily="49" charset="-122"/>
                <a:ea typeface="楷体_GB2312" pitchFamily="49" charset="-122"/>
              </a:rPr>
              <a:t>；数组名只代表数组首元素的指针，是不可改变的（</a:t>
            </a:r>
            <a:r>
              <a:rPr lang="zh-CN" altLang="en-US" sz="3600" b="1" dirty="0">
                <a:solidFill>
                  <a:srgbClr val="990000"/>
                </a:solidFill>
                <a:effectLst>
                  <a:outerShdw blurRad="38100" dist="38100" dir="2700000" algn="tl">
                    <a:srgbClr val="C0C0C0"/>
                  </a:outerShdw>
                </a:effectLst>
                <a:latin typeface="楷体_GB2312" pitchFamily="49" charset="-122"/>
                <a:ea typeface="楷体_GB2312" pitchFamily="49" charset="-122"/>
              </a:rPr>
              <a:t>是常量</a:t>
            </a:r>
            <a:r>
              <a:rPr lang="zh-CN" altLang="en-US" sz="3600" b="1" dirty="0">
                <a:solidFill>
                  <a:schemeClr val="tx2"/>
                </a:solidFill>
                <a:effectLst>
                  <a:outerShdw blurRad="38100" dist="38100" dir="2700000" algn="tl">
                    <a:srgbClr val="C0C0C0"/>
                  </a:outerShdw>
                </a:effectLst>
                <a:latin typeface="楷体_GB2312" pitchFamily="49" charset="-122"/>
                <a:ea typeface="楷体_GB2312" pitchFamily="49" charset="-122"/>
              </a:rPr>
              <a:t>）。</a:t>
            </a:r>
            <a:endParaRPr lang="en-US" altLang="zh-CN" sz="3600" b="1" dirty="0">
              <a:solidFill>
                <a:schemeClr val="tx2"/>
              </a:solidFill>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lnSpc>
                <a:spcPct val="110000"/>
              </a:lnSpc>
              <a:spcAft>
                <a:spcPts val="0"/>
              </a:spcAft>
              <a:buClr>
                <a:schemeClr val="accent3"/>
              </a:buClr>
              <a:buNone/>
              <a:defRPr/>
            </a:pPr>
            <a:endParaRPr lang="en-US" altLang="zh-CN" sz="3600" b="1" dirty="0">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lnSpc>
                <a:spcPct val="110000"/>
              </a:lnSpc>
              <a:spcAft>
                <a:spcPts val="0"/>
              </a:spcAft>
              <a:buClr>
                <a:schemeClr val="accent3"/>
              </a:buClr>
              <a:buNone/>
              <a:defRPr/>
            </a:pPr>
            <a:r>
              <a:rPr lang="en-US" altLang="zh-CN" sz="3600" b="1" dirty="0" err="1">
                <a:effectLst>
                  <a:outerShdw blurRad="38100" dist="38100" dir="2700000" algn="tl">
                    <a:srgbClr val="C0C0C0"/>
                  </a:outerShdw>
                </a:effectLst>
                <a:latin typeface="楷体_GB2312" pitchFamily="49" charset="-122"/>
                <a:ea typeface="楷体_GB2312" pitchFamily="49" charset="-122"/>
              </a:rPr>
              <a:t>int</a:t>
            </a:r>
            <a:r>
              <a:rPr lang="en-US" altLang="zh-CN" sz="3600" b="1" dirty="0">
                <a:effectLst>
                  <a:outerShdw blurRad="38100" dist="38100" dir="2700000" algn="tl">
                    <a:srgbClr val="C0C0C0"/>
                  </a:outerShdw>
                </a:effectLst>
                <a:latin typeface="楷体_GB2312" pitchFamily="49" charset="-122"/>
                <a:ea typeface="楷体_GB2312" pitchFamily="49" charset="-122"/>
              </a:rPr>
              <a:t> a[100], b[100], *p;</a:t>
            </a:r>
          </a:p>
          <a:p>
            <a:pPr marL="0" indent="0" eaLnBrk="1" fontAlgn="auto" hangingPunct="1">
              <a:spcAft>
                <a:spcPts val="0"/>
              </a:spcAft>
              <a:buClr>
                <a:schemeClr val="accent3"/>
              </a:buClr>
              <a:buFontTx/>
              <a:buNone/>
              <a:defRPr/>
            </a:pPr>
            <a:r>
              <a:rPr lang="en-US" altLang="zh-CN" sz="3600" b="1" dirty="0">
                <a:effectLst>
                  <a:outerShdw blurRad="38100" dist="38100" dir="2700000" algn="tl">
                    <a:srgbClr val="C0C0C0"/>
                  </a:outerShdw>
                </a:effectLst>
                <a:latin typeface="楷体_GB2312" pitchFamily="49" charset="-122"/>
                <a:ea typeface="楷体_GB2312" pitchFamily="49" charset="-122"/>
              </a:rPr>
              <a:t>for(p = a; p &lt; a + 100;)/* </a:t>
            </a:r>
            <a:r>
              <a:rPr lang="zh-CN" altLang="en-US" sz="3600" b="1" dirty="0">
                <a:effectLst>
                  <a:outerShdw blurRad="38100" dist="38100" dir="2700000" algn="tl">
                    <a:srgbClr val="C0C0C0"/>
                  </a:outerShdw>
                </a:effectLst>
                <a:latin typeface="楷体_GB2312" pitchFamily="49" charset="-122"/>
                <a:ea typeface="楷体_GB2312" pitchFamily="49" charset="-122"/>
              </a:rPr>
              <a:t>利用指针将已知数组复制到另一个数组*</a:t>
            </a:r>
            <a:r>
              <a:rPr lang="en-US" altLang="zh-CN" sz="36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3600" b="1" dirty="0">
                <a:effectLst>
                  <a:outerShdw blurRad="38100" dist="38100" dir="2700000" algn="tl">
                    <a:srgbClr val="C0C0C0"/>
                  </a:outerShdw>
                </a:effectLst>
                <a:latin typeface="楷体_GB2312" pitchFamily="49" charset="-122"/>
                <a:ea typeface="楷体_GB2312" pitchFamily="49" charset="-122"/>
              </a:rPr>
              <a:t>        *b++ = *p++;    </a:t>
            </a:r>
            <a:r>
              <a:rPr lang="zh-CN" altLang="en-US" sz="3600" b="1" dirty="0">
                <a:effectLst>
                  <a:outerShdw blurRad="38100" dist="38100" dir="2700000" algn="tl">
                    <a:srgbClr val="C0C0C0"/>
                  </a:outerShdw>
                </a:effectLst>
                <a:latin typeface="楷体_GB2312" pitchFamily="49" charset="-122"/>
                <a:ea typeface="楷体_GB2312" pitchFamily="49" charset="-122"/>
              </a:rPr>
              <a:t>     </a:t>
            </a:r>
            <a:endParaRPr lang="en-US" altLang="zh-CN" sz="3600" b="1" dirty="0">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lnSpc>
                <a:spcPct val="110000"/>
              </a:lnSpc>
              <a:spcAft>
                <a:spcPts val="0"/>
              </a:spcAft>
              <a:buClr>
                <a:schemeClr val="accent3"/>
              </a:buClr>
              <a:buFontTx/>
              <a:buNone/>
              <a:defRPr/>
            </a:pPr>
            <a:endParaRPr lang="zh-CN" altLang="en-US" sz="3600" b="1" dirty="0">
              <a:solidFill>
                <a:schemeClr val="tx2"/>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3200" dirty="0">
                <a:solidFill>
                  <a:schemeClr val="tx2"/>
                </a:solidFill>
              </a:rPr>
              <a:t> </a:t>
            </a:r>
            <a:endParaRPr lang="zh-CN" altLang="en-US" sz="3200" b="1" dirty="0">
              <a:solidFill>
                <a:schemeClr val="tx2"/>
              </a:solidFill>
              <a:effectLst>
                <a:outerShdw blurRad="38100" dist="38100" dir="2700000" algn="tl">
                  <a:srgbClr val="C0C0C0"/>
                </a:outerShdw>
              </a:effectLst>
            </a:endParaRPr>
          </a:p>
        </p:txBody>
      </p:sp>
      <p:sp>
        <p:nvSpPr>
          <p:cNvPr id="28675"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8EAFC21B-69DD-4BB4-82CA-A98BD2A9CE4E}" type="slidenum">
              <a:rPr lang="en-US" altLang="zh-CN"/>
              <a:pPr>
                <a:defRPr/>
              </a:pPr>
              <a:t>30</a:t>
            </a:fld>
            <a:endParaRPr lang="en-US" altLang="zh-CN"/>
          </a:p>
        </p:txBody>
      </p:sp>
      <p:sp>
        <p:nvSpPr>
          <p:cNvPr id="5" name="乘号 4"/>
          <p:cNvSpPr/>
          <p:nvPr/>
        </p:nvSpPr>
        <p:spPr>
          <a:xfrm>
            <a:off x="467544" y="3929066"/>
            <a:ext cx="2571768" cy="164307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xEl>
                                              <p:pRg st="3" end="3"/>
                                            </p:txEl>
                                          </p:spTgt>
                                        </p:tgtEl>
                                        <p:attrNameLst>
                                          <p:attrName>style.visibility</p:attrName>
                                        </p:attrNameLst>
                                      </p:cBhvr>
                                      <p:to>
                                        <p:strVal val="visible"/>
                                      </p:to>
                                    </p:set>
                                    <p:anim calcmode="lin" valueType="num">
                                      <p:cBhvr additive="base">
                                        <p:cTn id="7" dur="500" fill="hold"/>
                                        <p:tgtEl>
                                          <p:spTgt spid="614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6">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46">
                                            <p:txEl>
                                              <p:pRg st="4" end="4"/>
                                            </p:txEl>
                                          </p:spTgt>
                                        </p:tgtEl>
                                        <p:attrNameLst>
                                          <p:attrName>style.visibility</p:attrName>
                                        </p:attrNameLst>
                                      </p:cBhvr>
                                      <p:to>
                                        <p:strVal val="visible"/>
                                      </p:to>
                                    </p:set>
                                    <p:anim calcmode="lin" valueType="num">
                                      <p:cBhvr additive="base">
                                        <p:cTn id="11" dur="500" fill="hold"/>
                                        <p:tgtEl>
                                          <p:spTgt spid="6146">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46">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146">
                                            <p:txEl>
                                              <p:pRg st="5" end="5"/>
                                            </p:txEl>
                                          </p:spTgt>
                                        </p:tgtEl>
                                        <p:attrNameLst>
                                          <p:attrName>style.visibility</p:attrName>
                                        </p:attrNameLst>
                                      </p:cBhvr>
                                      <p:to>
                                        <p:strVal val="visible"/>
                                      </p:to>
                                    </p:set>
                                    <p:anim calcmode="lin" valueType="num">
                                      <p:cBhvr additive="base">
                                        <p:cTn id="15" dur="500" fill="hold"/>
                                        <p:tgtEl>
                                          <p:spTgt spid="6146">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14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idx="1"/>
          </p:nvPr>
        </p:nvSpPr>
        <p:spPr>
          <a:xfrm>
            <a:off x="250825" y="692150"/>
            <a:ext cx="8512175" cy="5495925"/>
          </a:xfrm>
        </p:spPr>
        <p:txBody>
          <a:bodyPr>
            <a:normAutofit/>
          </a:bodyPr>
          <a:lstStyle/>
          <a:p>
            <a:pPr marL="0" indent="0" eaLnBrk="1" fontAlgn="auto" hangingPunct="1">
              <a:spcAft>
                <a:spcPts val="0"/>
              </a:spcAft>
              <a:buClr>
                <a:schemeClr val="accent3"/>
              </a:buClr>
              <a:buFontTx/>
              <a:buNone/>
              <a:defRPr/>
            </a:pPr>
            <a:r>
              <a:rPr lang="zh-CN" altLang="en-US" sz="3200" b="1" dirty="0">
                <a:effectLst>
                  <a:outerShdw blurRad="38100" dist="38100" dir="2700000" algn="tl">
                    <a:srgbClr val="C0C0C0"/>
                  </a:outerShdw>
                </a:effectLst>
                <a:latin typeface="楷体_GB2312" pitchFamily="49" charset="-122"/>
                <a:ea typeface="楷体_GB2312" pitchFamily="49" charset="-122"/>
              </a:rPr>
              <a:t>当指针变量指向字符串某字符时，习惯称这样的指针为字符串的字符指针。</a:t>
            </a:r>
            <a:endParaRPr lang="en-US" altLang="zh-CN" sz="32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endParaRPr lang="zh-CN" altLang="en-US" sz="32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3200" b="1" dirty="0">
                <a:effectLst>
                  <a:outerShdw blurRad="38100" dist="38100" dir="2700000" algn="tl">
                    <a:srgbClr val="C0C0C0"/>
                  </a:outerShdw>
                </a:effectLst>
                <a:latin typeface="楷体_GB2312" pitchFamily="49" charset="-122"/>
                <a:ea typeface="楷体_GB2312" pitchFamily="49" charset="-122"/>
              </a:rPr>
              <a:t>当字符串存储于字符数组中，则指向字符串字符的指针也是指向数组元素的指针。由于字符串有</a:t>
            </a:r>
            <a:r>
              <a:rPr lang="zh-CN" altLang="en-US" sz="3200" b="1" dirty="0">
                <a:solidFill>
                  <a:srgbClr val="FF0000"/>
                </a:solidFill>
                <a:effectLst>
                  <a:outerShdw blurRad="38100" dist="38100" dir="2700000" algn="tl">
                    <a:srgbClr val="C0C0C0"/>
                  </a:outerShdw>
                </a:effectLst>
                <a:latin typeface="楷体_GB2312" pitchFamily="49" charset="-122"/>
                <a:ea typeface="楷体_GB2312" pitchFamily="49" charset="-122"/>
              </a:rPr>
              <a:t>字符串结束符</a:t>
            </a:r>
            <a:r>
              <a:rPr lang="zh-CN" altLang="en-US" sz="3200" b="1" dirty="0">
                <a:solidFill>
                  <a:srgbClr val="990000"/>
                </a:solidFill>
                <a:effectLst>
                  <a:outerShdw blurRad="38100" dist="38100" dir="2700000" algn="tl">
                    <a:srgbClr val="C0C0C0"/>
                  </a:outerShdw>
                </a:effectLst>
                <a:latin typeface="楷体_GB2312" pitchFamily="49" charset="-122"/>
                <a:ea typeface="楷体_GB2312" pitchFamily="49" charset="-122"/>
              </a:rPr>
              <a:t>，</a:t>
            </a:r>
            <a:r>
              <a:rPr lang="zh-CN" altLang="en-US" sz="3200" b="1" dirty="0">
                <a:effectLst>
                  <a:outerShdw blurRad="38100" dist="38100" dir="2700000" algn="tl">
                    <a:srgbClr val="C0C0C0"/>
                  </a:outerShdw>
                </a:effectLst>
                <a:latin typeface="楷体_GB2312" pitchFamily="49" charset="-122"/>
                <a:ea typeface="楷体_GB2312" pitchFamily="49" charset="-122"/>
              </a:rPr>
              <a:t>具体编写字符串处理程序时</a:t>
            </a:r>
            <a:r>
              <a:rPr lang="zh-CN" altLang="en-US" sz="3200" b="1" dirty="0">
                <a:solidFill>
                  <a:srgbClr val="FF0000"/>
                </a:solidFill>
                <a:effectLst>
                  <a:outerShdw blurRad="38100" dist="38100" dir="2700000" algn="tl">
                    <a:srgbClr val="C0C0C0"/>
                  </a:outerShdw>
                </a:effectLst>
                <a:latin typeface="楷体_GB2312" pitchFamily="49" charset="-122"/>
                <a:ea typeface="楷体_GB2312" pitchFamily="49" charset="-122"/>
              </a:rPr>
              <a:t>不再需要指定字符串的字符个数</a:t>
            </a:r>
            <a:r>
              <a:rPr lang="zh-CN" altLang="en-US" sz="3200" b="1" dirty="0">
                <a:solidFill>
                  <a:srgbClr val="990000"/>
                </a:solidFill>
                <a:effectLst>
                  <a:outerShdw blurRad="38100" dist="38100" dir="2700000" algn="tl">
                    <a:srgbClr val="C0C0C0"/>
                  </a:outerShdw>
                </a:effectLst>
                <a:latin typeface="楷体_GB2312" pitchFamily="49" charset="-122"/>
                <a:ea typeface="楷体_GB2312" pitchFamily="49" charset="-122"/>
              </a:rPr>
              <a:t>，</a:t>
            </a:r>
            <a:r>
              <a:rPr lang="zh-CN" altLang="en-US" sz="3200" b="1" dirty="0">
                <a:effectLst>
                  <a:outerShdw blurRad="38100" dist="38100" dir="2700000" algn="tl">
                    <a:srgbClr val="C0C0C0"/>
                  </a:outerShdw>
                </a:effectLst>
                <a:latin typeface="楷体_GB2312" pitchFamily="49" charset="-122"/>
                <a:ea typeface="楷体_GB2312" pitchFamily="49" charset="-122"/>
              </a:rPr>
              <a:t>而处理普通数组通常需要指定数组的元素个数。</a:t>
            </a:r>
          </a:p>
          <a:p>
            <a:pPr marL="0" indent="0" eaLnBrk="1" fontAlgn="auto" hangingPunct="1">
              <a:spcAft>
                <a:spcPts val="0"/>
              </a:spcAft>
              <a:buClr>
                <a:schemeClr val="accent3"/>
              </a:buClr>
              <a:buFontTx/>
              <a:buNone/>
              <a:defRPr/>
            </a:pPr>
            <a:endParaRPr lang="zh-CN" altLang="en-US" b="1" dirty="0">
              <a:solidFill>
                <a:srgbClr val="9900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endParaRPr lang="en-US" altLang="zh-CN" b="1" dirty="0">
              <a:effectLst>
                <a:outerShdw blurRad="38100" dist="38100" dir="2700000" algn="tl">
                  <a:srgbClr val="C0C0C0"/>
                </a:outerShdw>
              </a:effectLst>
              <a:latin typeface="楷体_GB2312" pitchFamily="49" charset="-122"/>
              <a:ea typeface="楷体_GB2312" pitchFamily="49" charset="-122"/>
            </a:endParaRPr>
          </a:p>
        </p:txBody>
      </p:sp>
      <p:sp>
        <p:nvSpPr>
          <p:cNvPr id="31747"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0C7136D0-2EFF-4A4B-8EDD-3F0C109941CA}" type="slidenum">
              <a:rPr lang="en-US" altLang="zh-CN"/>
              <a:pPr>
                <a:defRPr/>
              </a:pPr>
              <a:t>31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946">
                                            <p:txEl>
                                              <p:pRg st="2" end="2"/>
                                            </p:txEl>
                                          </p:spTgt>
                                        </p:tgtEl>
                                        <p:attrNameLst>
                                          <p:attrName>style.visibility</p:attrName>
                                        </p:attrNameLst>
                                      </p:cBhvr>
                                      <p:to>
                                        <p:strVal val="visible"/>
                                      </p:to>
                                    </p:set>
                                    <p:anim calcmode="lin" valueType="num">
                                      <p:cBhvr additive="base">
                                        <p:cTn id="7" dur="500" fill="hold"/>
                                        <p:tgtEl>
                                          <p:spTgt spid="8294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idx="1"/>
          </p:nvPr>
        </p:nvSpPr>
        <p:spPr>
          <a:xfrm>
            <a:off x="250825" y="692150"/>
            <a:ext cx="8512175" cy="5495925"/>
          </a:xfrm>
        </p:spPr>
        <p:txBody>
          <a:bodyPr>
            <a:normAutofit/>
          </a:bodyPr>
          <a:lstStyle/>
          <a:p>
            <a:pPr marL="0" indent="0" eaLnBrk="1" fontAlgn="auto" hangingPunct="1">
              <a:spcAft>
                <a:spcPts val="0"/>
              </a:spcAft>
              <a:buClr>
                <a:schemeClr val="accent3"/>
              </a:buClr>
              <a:buFontTx/>
              <a:buNone/>
              <a:defRPr/>
            </a:pP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把字符串常量存放在一个字符数组中。</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char s[] = "I am a string.";</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数组</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zh-CN" altLang="en-US" sz="2800" b="1" dirty="0">
                <a:effectLst>
                  <a:outerShdw blurRad="38100" dist="38100" dir="2700000" algn="tl">
                    <a:srgbClr val="C0C0C0"/>
                  </a:outerShdw>
                </a:effectLst>
                <a:latin typeface="楷体_GB2312" pitchFamily="49" charset="-122"/>
                <a:ea typeface="楷体_GB2312" pitchFamily="49" charset="-122"/>
              </a:rPr>
              <a:t>共有</a:t>
            </a:r>
            <a:r>
              <a:rPr lang="en-US" altLang="zh-CN" sz="2800" b="1" dirty="0">
                <a:effectLst>
                  <a:outerShdw blurRad="38100" dist="38100" dir="2700000" algn="tl">
                    <a:srgbClr val="C0C0C0"/>
                  </a:outerShdw>
                </a:effectLst>
                <a:latin typeface="楷体_GB2312" pitchFamily="49" charset="-122"/>
                <a:ea typeface="楷体_GB2312" pitchFamily="49" charset="-122"/>
              </a:rPr>
              <a:t>15</a:t>
            </a:r>
            <a:r>
              <a:rPr lang="zh-CN" altLang="en-US" sz="2800" b="1" dirty="0">
                <a:effectLst>
                  <a:outerShdw blurRad="38100" dist="38100" dir="2700000" algn="tl">
                    <a:srgbClr val="C0C0C0"/>
                  </a:outerShdw>
                </a:effectLst>
                <a:latin typeface="楷体_GB2312" pitchFamily="49" charset="-122"/>
                <a:ea typeface="楷体_GB2312" pitchFamily="49" charset="-122"/>
              </a:rPr>
              <a:t>个元素，其中</a:t>
            </a:r>
            <a:r>
              <a:rPr lang="en-US" altLang="zh-CN" sz="2800" b="1" dirty="0">
                <a:effectLst>
                  <a:outerShdw blurRad="38100" dist="38100" dir="2700000" algn="tl">
                    <a:srgbClr val="C0C0C0"/>
                  </a:outerShdw>
                </a:effectLst>
                <a:latin typeface="楷体_GB2312" pitchFamily="49" charset="-122"/>
                <a:ea typeface="楷体_GB2312" pitchFamily="49" charset="-122"/>
              </a:rPr>
              <a:t>s[14]</a:t>
            </a:r>
            <a:r>
              <a:rPr lang="zh-CN" altLang="en-US" sz="2800" b="1" dirty="0">
                <a:effectLst>
                  <a:outerShdw blurRad="38100" dist="38100" dir="2700000" algn="tl">
                    <a:srgbClr val="C0C0C0"/>
                  </a:outerShdw>
                </a:effectLst>
                <a:latin typeface="楷体_GB2312" pitchFamily="49" charset="-122"/>
                <a:ea typeface="楷体_GB2312" pitchFamily="49" charset="-122"/>
              </a:rPr>
              <a:t>为</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。对于这种情况，编译程序根据字符串常量所需的字节数为字符数组分配存储单元，并把字符串常量填写到数组中，即对数组初始化。</a:t>
            </a:r>
          </a:p>
        </p:txBody>
      </p:sp>
      <p:sp>
        <p:nvSpPr>
          <p:cNvPr id="32771"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2303D6C5-0A28-494A-93D8-44A582C862AC}" type="slidenum">
              <a:rPr lang="en-US" altLang="zh-CN"/>
              <a:pPr>
                <a:defRPr/>
              </a:pPr>
              <a:t>32</a:t>
            </a:fld>
            <a:endParaRPr lang="en-US" altLang="zh-CN"/>
          </a:p>
        </p:txBody>
      </p:sp>
      <p:sp>
        <p:nvSpPr>
          <p:cNvPr id="5" name="Rectangle 4"/>
          <p:cNvSpPr/>
          <p:nvPr/>
        </p:nvSpPr>
        <p:spPr>
          <a:xfrm>
            <a:off x="428625" y="0"/>
            <a:ext cx="7394575" cy="584200"/>
          </a:xfrm>
          <a:prstGeom prst="rect">
            <a:avLst/>
          </a:prstGeom>
        </p:spPr>
        <p:txBody>
          <a:bodyPr wrap="none">
            <a:spAutoFit/>
          </a:bodyPr>
          <a:lstStyle/>
          <a:p>
            <a:pPr>
              <a:defRPr/>
            </a:pPr>
            <a:r>
              <a:rPr lang="zh-CN" altLang="en-US" sz="3200" b="1" dirty="0">
                <a:effectLst>
                  <a:outerShdw blurRad="38100" dist="38100" dir="2700000" algn="tl">
                    <a:srgbClr val="C0C0C0"/>
                  </a:outerShdw>
                </a:effectLst>
                <a:latin typeface="黑体" pitchFamily="2" charset="-122"/>
                <a:ea typeface="黑体" pitchFamily="2" charset="-122"/>
              </a:rPr>
              <a:t>为字符串常量提供存储空间有两种方法</a:t>
            </a:r>
            <a:r>
              <a:rPr lang="en-US" altLang="zh-CN" sz="3200" b="1" dirty="0">
                <a:effectLst>
                  <a:outerShdw blurRad="38100" dist="38100" dir="2700000" algn="tl">
                    <a:srgbClr val="C0C0C0"/>
                  </a:outerShdw>
                </a:effectLst>
                <a:latin typeface="黑体" pitchFamily="2" charset="-122"/>
                <a:ea typeface="黑体" pitchFamily="2" charset="-122"/>
              </a:rPr>
              <a:t>:</a:t>
            </a:r>
            <a:endParaRPr lang="zh-CN" altLang="en-US" sz="3200" dirty="0">
              <a:latin typeface="黑体" pitchFamily="2" charset="-122"/>
              <a:ea typeface="黑体"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idx="1"/>
          </p:nvPr>
        </p:nvSpPr>
        <p:spPr>
          <a:xfrm>
            <a:off x="250825" y="692150"/>
            <a:ext cx="8512175" cy="5495925"/>
          </a:xfrm>
        </p:spPr>
        <p:txBody>
          <a:bodyPr>
            <a:normAutofit/>
          </a:bodyPr>
          <a:lstStyle/>
          <a:p>
            <a:pPr marL="0" indent="0" eaLnBrk="1" fontAlgn="auto" hangingPunct="1">
              <a:spcAft>
                <a:spcPts val="0"/>
              </a:spcAft>
              <a:buClr>
                <a:schemeClr val="accent3"/>
              </a:buClr>
              <a:buFontTx/>
              <a:buNone/>
              <a:defRPr/>
            </a:pP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(2)</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字符串常量放在程序运行环境的常量存储区中。</a:t>
            </a:r>
          </a:p>
          <a:p>
            <a:pPr marL="0" indent="0" eaLnBrk="1" fontAlgn="auto" hangingPunct="1">
              <a:spcAft>
                <a:spcPts val="0"/>
              </a:spcAft>
              <a:buClr>
                <a:schemeClr val="accent3"/>
              </a:buClr>
              <a:buFontTx/>
              <a:buNone/>
              <a:defRPr/>
            </a:pP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当字符串常量作为表达式出现时，字符串常量放入常量存储区，而把表达式转换成该字符串常量存储区的第一个字符的指针。</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endParaRPr lang="zh-CN" altLang="en-US"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字符串常量赋值给字符指针变量，向字符指针变量赋值的是字符串常量的第一个字符的指针，而不是向指针变量赋字符串常量的全部字符。</a:t>
            </a:r>
          </a:p>
        </p:txBody>
      </p:sp>
      <p:sp>
        <p:nvSpPr>
          <p:cNvPr id="33795"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D14E5D75-1881-4883-9DCD-1FAF2CDC1549}" type="slidenum">
              <a:rPr lang="en-US" altLang="zh-CN"/>
              <a:pPr>
                <a:defRPr/>
              </a:pPr>
              <a:t>33</a:t>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idx="1"/>
          </p:nvPr>
        </p:nvSpPr>
        <p:spPr>
          <a:xfrm>
            <a:off x="250825" y="692150"/>
            <a:ext cx="8512175" cy="5495925"/>
          </a:xfrm>
        </p:spPr>
        <p:txBody>
          <a:bodyPr>
            <a:normAutofit fontScale="92500" lnSpcReduction="10000"/>
          </a:bodyPr>
          <a:lstStyle/>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char *cp1, *cp2 = </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I am a string</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用字符串常量初始化字符指针变量*</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cp1 = </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Another string</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用字符串常量赋值给字符指针变量*</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使字符指针变量</a:t>
            </a:r>
            <a:r>
              <a:rPr lang="en-US" altLang="zh-CN" sz="2800" b="1" dirty="0">
                <a:effectLst>
                  <a:outerShdw blurRad="38100" dist="38100" dir="2700000" algn="tl">
                    <a:srgbClr val="C0C0C0"/>
                  </a:outerShdw>
                </a:effectLst>
                <a:latin typeface="楷体_GB2312" pitchFamily="49" charset="-122"/>
                <a:ea typeface="楷体_GB2312" pitchFamily="49" charset="-122"/>
              </a:rPr>
              <a:t>cp2</a:t>
            </a:r>
            <a:r>
              <a:rPr lang="zh-CN" altLang="en-US" sz="2800" b="1" dirty="0">
                <a:effectLst>
                  <a:outerShdw blurRad="38100" dist="38100" dir="2700000" algn="tl">
                    <a:srgbClr val="C0C0C0"/>
                  </a:outerShdw>
                </a:effectLst>
                <a:latin typeface="楷体_GB2312" pitchFamily="49" charset="-122"/>
                <a:ea typeface="楷体_GB2312" pitchFamily="49" charset="-122"/>
              </a:rPr>
              <a:t>指向字符串常量</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I am a string</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的第一个字符</a:t>
            </a:r>
            <a:r>
              <a:rPr lang="en-US" altLang="zh-CN" sz="2800" b="1" dirty="0">
                <a:effectLst>
                  <a:outerShdw blurRad="38100" dist="38100" dir="2700000" algn="tl">
                    <a:srgbClr val="C0C0C0"/>
                  </a:outerShdw>
                </a:effectLst>
                <a:latin typeface="楷体_GB2312" pitchFamily="49" charset="-122"/>
                <a:ea typeface="楷体_GB2312" pitchFamily="49" charset="-122"/>
              </a:rPr>
              <a:t>I</a:t>
            </a:r>
            <a:r>
              <a:rPr lang="zh-CN" altLang="en-US" sz="2800" b="1" dirty="0">
                <a:effectLst>
                  <a:outerShdw blurRad="38100" dist="38100" dir="2700000" algn="tl">
                    <a:srgbClr val="C0C0C0"/>
                  </a:outerShdw>
                </a:effectLst>
                <a:latin typeface="楷体_GB2312" pitchFamily="49" charset="-122"/>
                <a:ea typeface="楷体_GB2312" pitchFamily="49" charset="-122"/>
              </a:rPr>
              <a:t>，使</a:t>
            </a:r>
            <a:r>
              <a:rPr lang="en-US" altLang="zh-CN" sz="2800" b="1" dirty="0">
                <a:effectLst>
                  <a:outerShdw blurRad="38100" dist="38100" dir="2700000" algn="tl">
                    <a:srgbClr val="C0C0C0"/>
                  </a:outerShdw>
                </a:effectLst>
                <a:latin typeface="楷体_GB2312" pitchFamily="49" charset="-122"/>
                <a:ea typeface="楷体_GB2312" pitchFamily="49" charset="-122"/>
              </a:rPr>
              <a:t>cp1</a:t>
            </a:r>
            <a:r>
              <a:rPr lang="zh-CN" altLang="en-US" sz="2800" b="1" dirty="0">
                <a:effectLst>
                  <a:outerShdw blurRad="38100" dist="38100" dir="2700000" algn="tl">
                    <a:srgbClr val="C0C0C0"/>
                  </a:outerShdw>
                </a:effectLst>
                <a:latin typeface="楷体_GB2312" pitchFamily="49" charset="-122"/>
                <a:ea typeface="楷体_GB2312" pitchFamily="49" charset="-122"/>
              </a:rPr>
              <a:t>指向字符串常量</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Another string </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的第一个字符</a:t>
            </a:r>
            <a:r>
              <a:rPr lang="en-US" altLang="zh-CN" sz="2800" b="1" dirty="0">
                <a:effectLst>
                  <a:outerShdw blurRad="38100" dist="38100" dir="2700000" algn="tl">
                    <a:srgbClr val="C0C0C0"/>
                  </a:outerShdw>
                </a:effectLst>
                <a:latin typeface="楷体_GB2312" pitchFamily="49" charset="-122"/>
                <a:ea typeface="楷体_GB2312" pitchFamily="49" charset="-122"/>
              </a:rPr>
              <a:t>A</a:t>
            </a:r>
            <a:r>
              <a:rPr lang="zh-CN" altLang="en-US" sz="2800" b="1" dirty="0">
                <a:effectLst>
                  <a:outerShdw blurRad="38100" dist="38100" dir="2700000" algn="tl">
                    <a:srgbClr val="C0C0C0"/>
                  </a:outerShdw>
                </a:effectLst>
                <a:latin typeface="楷体_GB2312" pitchFamily="49" charset="-122"/>
                <a:ea typeface="楷体_GB2312" pitchFamily="49" charset="-122"/>
              </a:rPr>
              <a:t>。以后就可通过</a:t>
            </a:r>
            <a:r>
              <a:rPr lang="en-US" altLang="zh-CN" sz="2800" b="1" dirty="0">
                <a:effectLst>
                  <a:outerShdw blurRad="38100" dist="38100" dir="2700000" algn="tl">
                    <a:srgbClr val="C0C0C0"/>
                  </a:outerShdw>
                </a:effectLst>
                <a:latin typeface="楷体_GB2312" pitchFamily="49" charset="-122"/>
                <a:ea typeface="楷体_GB2312" pitchFamily="49" charset="-122"/>
              </a:rPr>
              <a:t>cp2</a:t>
            </a:r>
            <a:r>
              <a:rPr lang="zh-CN" altLang="en-US" sz="2800" b="1" dirty="0">
                <a:effectLst>
                  <a:outerShdw blurRad="38100" dist="38100" dir="2700000" algn="tl">
                    <a:srgbClr val="C0C0C0"/>
                  </a:outerShdw>
                </a:effectLst>
                <a:latin typeface="楷体_GB2312" pitchFamily="49" charset="-122"/>
                <a:ea typeface="楷体_GB2312" pitchFamily="49" charset="-122"/>
              </a:rPr>
              <a:t>或</a:t>
            </a:r>
            <a:r>
              <a:rPr lang="en-US" altLang="zh-CN" sz="2800" b="1" dirty="0">
                <a:effectLst>
                  <a:outerShdw blurRad="38100" dist="38100" dir="2700000" algn="tl">
                    <a:srgbClr val="C0C0C0"/>
                  </a:outerShdw>
                </a:effectLst>
                <a:latin typeface="楷体_GB2312" pitchFamily="49" charset="-122"/>
                <a:ea typeface="楷体_GB2312" pitchFamily="49" charset="-122"/>
              </a:rPr>
              <a:t>cp1</a:t>
            </a:r>
            <a:r>
              <a:rPr lang="zh-CN" altLang="en-US" sz="2800" b="1" dirty="0">
                <a:effectLst>
                  <a:outerShdw blurRad="38100" dist="38100" dir="2700000" algn="tl">
                    <a:srgbClr val="C0C0C0"/>
                  </a:outerShdw>
                </a:effectLst>
                <a:latin typeface="楷体_GB2312" pitchFamily="49" charset="-122"/>
                <a:ea typeface="楷体_GB2312" pitchFamily="49" charset="-122"/>
              </a:rPr>
              <a:t>分别访问这两个字符串常量中的其它字符。例如，*</a:t>
            </a:r>
            <a:r>
              <a:rPr lang="en-US" altLang="zh-CN" sz="2800" b="1" dirty="0">
                <a:effectLst>
                  <a:outerShdw blurRad="38100" dist="38100" dir="2700000" algn="tl">
                    <a:srgbClr val="C0C0C0"/>
                  </a:outerShdw>
                </a:effectLst>
                <a:latin typeface="楷体_GB2312" pitchFamily="49" charset="-122"/>
                <a:ea typeface="楷体_GB2312" pitchFamily="49" charset="-122"/>
              </a:rPr>
              <a:t>cp2</a:t>
            </a:r>
            <a:r>
              <a:rPr lang="zh-CN" altLang="en-US" sz="2800" b="1" dirty="0">
                <a:effectLst>
                  <a:outerShdw blurRad="38100" dist="38100" dir="2700000" algn="tl">
                    <a:srgbClr val="C0C0C0"/>
                  </a:outerShdw>
                </a:effectLst>
                <a:latin typeface="楷体_GB2312" pitchFamily="49" charset="-122"/>
                <a:ea typeface="楷体_GB2312" pitchFamily="49" charset="-122"/>
              </a:rPr>
              <a:t>或</a:t>
            </a:r>
            <a:r>
              <a:rPr lang="en-US" altLang="zh-CN" sz="2800" b="1" dirty="0">
                <a:effectLst>
                  <a:outerShdw blurRad="38100" dist="38100" dir="2700000" algn="tl">
                    <a:srgbClr val="C0C0C0"/>
                  </a:outerShdw>
                </a:effectLst>
                <a:latin typeface="楷体_GB2312" pitchFamily="49" charset="-122"/>
                <a:ea typeface="楷体_GB2312" pitchFamily="49" charset="-122"/>
              </a:rPr>
              <a:t>cp2[0]</a:t>
            </a:r>
            <a:r>
              <a:rPr lang="zh-CN" altLang="en-US" sz="2800" b="1" dirty="0">
                <a:effectLst>
                  <a:outerShdw blurRad="38100" dist="38100" dir="2700000" algn="tl">
                    <a:srgbClr val="C0C0C0"/>
                  </a:outerShdw>
                </a:effectLst>
                <a:latin typeface="楷体_GB2312" pitchFamily="49" charset="-122"/>
                <a:ea typeface="楷体_GB2312" pitchFamily="49" charset="-122"/>
              </a:rPr>
              <a:t>就是</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(cp1+3)</a:t>
            </a:r>
            <a:r>
              <a:rPr lang="zh-CN" altLang="en-US" sz="2800" b="1" dirty="0">
                <a:effectLst>
                  <a:outerShdw blurRad="38100" dist="38100" dir="2700000" algn="tl">
                    <a:srgbClr val="C0C0C0"/>
                  </a:outerShdw>
                </a:effectLst>
                <a:latin typeface="楷体_GB2312" pitchFamily="49" charset="-122"/>
                <a:ea typeface="楷体_GB2312" pitchFamily="49" charset="-122"/>
              </a:rPr>
              <a:t>或</a:t>
            </a:r>
            <a:r>
              <a:rPr lang="en-US" altLang="zh-CN" sz="2800" b="1" dirty="0">
                <a:effectLst>
                  <a:outerShdw blurRad="38100" dist="38100" dir="2700000" algn="tl">
                    <a:srgbClr val="C0C0C0"/>
                  </a:outerShdw>
                </a:effectLst>
                <a:latin typeface="楷体_GB2312" pitchFamily="49" charset="-122"/>
                <a:ea typeface="楷体_GB2312" pitchFamily="49" charset="-122"/>
              </a:rPr>
              <a:t>cp1[3]</a:t>
            </a:r>
            <a:r>
              <a:rPr lang="zh-CN" altLang="en-US" sz="2800" b="1" dirty="0">
                <a:effectLst>
                  <a:outerShdw blurRad="38100" dist="38100" dir="2700000" algn="tl">
                    <a:srgbClr val="C0C0C0"/>
                  </a:outerShdw>
                </a:effectLst>
                <a:latin typeface="楷体_GB2312" pitchFamily="49" charset="-122"/>
                <a:ea typeface="楷体_GB2312" pitchFamily="49" charset="-122"/>
              </a:rPr>
              <a:t>就是字符</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t</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要特别强调指出，不能通过指针变量修改存于常量区中的字符串常量。</a:t>
            </a:r>
          </a:p>
        </p:txBody>
      </p:sp>
      <p:sp>
        <p:nvSpPr>
          <p:cNvPr id="34819"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80ADC852-9B2B-449F-B559-2A1BDFEA93A0}" type="slidenum">
              <a:rPr lang="en-US" altLang="zh-CN"/>
              <a:pPr>
                <a:defRPr/>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018">
                                            <p:txEl>
                                              <p:pRg st="4" end="4"/>
                                            </p:txEl>
                                          </p:spTgt>
                                        </p:tgtEl>
                                        <p:attrNameLst>
                                          <p:attrName>style.visibility</p:attrName>
                                        </p:attrNameLst>
                                      </p:cBhvr>
                                      <p:to>
                                        <p:strVal val="visible"/>
                                      </p:to>
                                    </p:set>
                                    <p:anim calcmode="lin" valueType="num">
                                      <p:cBhvr additive="base">
                                        <p:cTn id="7" dur="500" fill="hold"/>
                                        <p:tgtEl>
                                          <p:spTgt spid="8601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60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6018">
                                            <p:txEl>
                                              <p:pRg st="5" end="5"/>
                                            </p:txEl>
                                          </p:spTgt>
                                        </p:tgtEl>
                                        <p:attrNameLst>
                                          <p:attrName>style.visibility</p:attrName>
                                        </p:attrNameLst>
                                      </p:cBhvr>
                                      <p:to>
                                        <p:strVal val="visible"/>
                                      </p:to>
                                    </p:set>
                                    <p:anim calcmode="lin" valueType="num">
                                      <p:cBhvr additive="base">
                                        <p:cTn id="13" dur="500" fill="hold"/>
                                        <p:tgtEl>
                                          <p:spTgt spid="86018">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601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idx="1"/>
          </p:nvPr>
        </p:nvSpPr>
        <p:spPr>
          <a:xfrm>
            <a:off x="307975" y="404813"/>
            <a:ext cx="8512175" cy="5495925"/>
          </a:xfrm>
        </p:spPr>
        <p:txBody>
          <a:bodyPr>
            <a:normAutofit lnSpcReduction="10000"/>
          </a:bodyPr>
          <a:lstStyle/>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例如，调用库函数</a:t>
            </a:r>
            <a:r>
              <a:rPr lang="en-US" altLang="zh-CN" sz="2800" b="1" dirty="0" err="1">
                <a:effectLst>
                  <a:outerShdw blurRad="38100" dist="38100" dir="2700000" algn="tl">
                    <a:srgbClr val="C0C0C0"/>
                  </a:outerShdw>
                </a:effectLst>
                <a:latin typeface="楷体_GB2312" pitchFamily="49" charset="-122"/>
                <a:ea typeface="楷体_GB2312" pitchFamily="49" charset="-122"/>
              </a:rPr>
              <a:t>strlen</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求字符串常量的长度：</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strlen</a:t>
            </a:r>
            <a:r>
              <a:rPr lang="en-US" altLang="zh-CN" sz="2800" b="1" dirty="0">
                <a:effectLst>
                  <a:outerShdw blurRad="38100" dist="38100" dir="2700000" algn="tl">
                    <a:srgbClr val="C0C0C0"/>
                  </a:outerShdw>
                </a:effectLst>
                <a:latin typeface="楷体_GB2312" pitchFamily="49" charset="-122"/>
                <a:ea typeface="楷体_GB2312" pitchFamily="49" charset="-122"/>
              </a:rPr>
              <a:t>("I am a string.")</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该函数调用的结果是</a:t>
            </a:r>
            <a:r>
              <a:rPr lang="en-US" altLang="zh-CN" sz="2800" b="1" dirty="0">
                <a:effectLst>
                  <a:outerShdw blurRad="38100" dist="38100" dir="2700000" algn="tl">
                    <a:srgbClr val="C0C0C0"/>
                  </a:outerShdw>
                </a:effectLst>
                <a:latin typeface="楷体_GB2312" pitchFamily="49" charset="-122"/>
                <a:ea typeface="楷体_GB2312" pitchFamily="49" charset="-122"/>
              </a:rPr>
              <a:t>14</a:t>
            </a:r>
            <a:r>
              <a:rPr lang="zh-CN" altLang="en-US" sz="2800" b="1" dirty="0">
                <a:effectLst>
                  <a:outerShdw blurRad="38100" dist="38100" dir="2700000" algn="tl">
                    <a:srgbClr val="C0C0C0"/>
                  </a:outerShdw>
                </a:effectLst>
                <a:latin typeface="楷体_GB2312" pitchFamily="49" charset="-122"/>
                <a:ea typeface="楷体_GB2312" pitchFamily="49" charset="-122"/>
              </a:rPr>
              <a:t>，表示这个字符串常量由</a:t>
            </a:r>
            <a:r>
              <a:rPr lang="en-US" altLang="zh-CN" sz="2800" b="1" dirty="0">
                <a:effectLst>
                  <a:outerShdw blurRad="38100" dist="38100" dir="2700000" algn="tl">
                    <a:srgbClr val="C0C0C0"/>
                  </a:outerShdw>
                </a:effectLst>
                <a:latin typeface="楷体_GB2312" pitchFamily="49" charset="-122"/>
                <a:ea typeface="楷体_GB2312" pitchFamily="49" charset="-122"/>
              </a:rPr>
              <a:t>14</a:t>
            </a:r>
            <a:r>
              <a:rPr lang="zh-CN" altLang="en-US" sz="2800" b="1" dirty="0">
                <a:effectLst>
                  <a:outerShdw blurRad="38100" dist="38100" dir="2700000" algn="tl">
                    <a:srgbClr val="C0C0C0"/>
                  </a:outerShdw>
                </a:effectLst>
                <a:latin typeface="楷体_GB2312" pitchFamily="49" charset="-122"/>
                <a:ea typeface="楷体_GB2312" pitchFamily="49" charset="-122"/>
              </a:rPr>
              <a:t>个有效字符组成。</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如果</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zh-CN" altLang="en-US" sz="2800" b="1" dirty="0">
                <a:effectLst>
                  <a:outerShdw blurRad="38100" dist="38100" dir="2700000" algn="tl">
                    <a:srgbClr val="C0C0C0"/>
                  </a:outerShdw>
                </a:effectLst>
                <a:latin typeface="楷体_GB2312" pitchFamily="49" charset="-122"/>
                <a:ea typeface="楷体_GB2312" pitchFamily="49" charset="-122"/>
              </a:rPr>
              <a:t>是一个字符数组，其中已存有字符串，</a:t>
            </a:r>
            <a:r>
              <a:rPr lang="en-US" altLang="zh-CN" sz="2800" b="1" dirty="0">
                <a:effectLst>
                  <a:outerShdw blurRad="38100" dist="38100" dir="2700000" algn="tl">
                    <a:srgbClr val="C0C0C0"/>
                  </a:outerShdw>
                </a:effectLst>
                <a:latin typeface="楷体_GB2312" pitchFamily="49" charset="-122"/>
                <a:ea typeface="楷体_GB2312" pitchFamily="49" charset="-122"/>
              </a:rPr>
              <a:t>cp</a:t>
            </a:r>
            <a:r>
              <a:rPr lang="zh-CN" altLang="en-US" sz="2800" b="1" dirty="0">
                <a:effectLst>
                  <a:outerShdw blurRad="38100" dist="38100" dir="2700000" algn="tl">
                    <a:srgbClr val="C0C0C0"/>
                  </a:outerShdw>
                </a:effectLst>
                <a:latin typeface="楷体_GB2312" pitchFamily="49" charset="-122"/>
                <a:ea typeface="楷体_GB2312" pitchFamily="49" charset="-122"/>
              </a:rPr>
              <a:t>是一个字符指针变量，它指向某个字符串的首字符</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char s[] = </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I am a string.</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cp = "Another string.";</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则代码：  </a:t>
            </a:r>
            <a:r>
              <a:rPr lang="en-US" altLang="zh-CN" sz="2800" b="1" dirty="0" err="1">
                <a:effectLst>
                  <a:outerShdw blurRad="38100" dist="38100" dir="2700000" algn="tl">
                    <a:srgbClr val="C0C0C0"/>
                  </a:outerShdw>
                </a:effectLst>
                <a:latin typeface="楷体_GB2312" pitchFamily="49" charset="-122"/>
                <a:ea typeface="楷体_GB2312" pitchFamily="49" charset="-122"/>
              </a:rPr>
              <a:t>printf</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en-US" altLang="zh-CN" sz="2800" b="1" dirty="0" err="1">
                <a:effectLst>
                  <a:outerShdw blurRad="38100" dist="38100" dir="2700000" algn="tl">
                    <a:srgbClr val="C0C0C0"/>
                  </a:outerShdw>
                </a:effectLst>
                <a:latin typeface="楷体_GB2312" pitchFamily="49" charset="-122"/>
                <a:ea typeface="楷体_GB2312" pitchFamily="49" charset="-122"/>
              </a:rPr>
              <a:t>n</a:t>
            </a:r>
            <a:r>
              <a:rPr lang="en-US" altLang="zh-CN" sz="2800" b="1" dirty="0" err="1">
                <a:effectLst>
                  <a:outerShdw blurRad="38100" dist="38100" dir="2700000" algn="tl">
                    <a:srgbClr val="C0C0C0"/>
                  </a:outerShdw>
                </a:effectLst>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,s</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输出存于字符数组</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zh-CN" altLang="en-US" sz="2800" b="1" dirty="0">
                <a:effectLst>
                  <a:outerShdw blurRad="38100" dist="38100" dir="2700000" algn="tl">
                    <a:srgbClr val="C0C0C0"/>
                  </a:outerShdw>
                </a:effectLst>
                <a:latin typeface="楷体_GB2312" pitchFamily="49" charset="-122"/>
                <a:ea typeface="楷体_GB2312" pitchFamily="49" charset="-122"/>
              </a:rPr>
              <a:t>中的字符串。</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而代码：  </a:t>
            </a:r>
            <a:r>
              <a:rPr lang="en-US" altLang="zh-CN" sz="2800" b="1" dirty="0" err="1">
                <a:effectLst>
                  <a:outerShdw blurRad="38100" dist="38100" dir="2700000" algn="tl">
                    <a:srgbClr val="C0C0C0"/>
                  </a:outerShdw>
                </a:effectLst>
                <a:latin typeface="楷体_GB2312" pitchFamily="49" charset="-122"/>
                <a:ea typeface="楷体_GB2312" pitchFamily="49" charset="-122"/>
              </a:rPr>
              <a:t>printf</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en-US" altLang="zh-CN" sz="2800" b="1" dirty="0" err="1">
                <a:effectLst>
                  <a:outerShdw blurRad="38100" dist="38100" dir="2700000" algn="tl">
                    <a:srgbClr val="C0C0C0"/>
                  </a:outerShdw>
                </a:effectLst>
                <a:latin typeface="楷体_GB2312" pitchFamily="49" charset="-122"/>
                <a:ea typeface="楷体_GB2312" pitchFamily="49" charset="-122"/>
              </a:rPr>
              <a:t>n</a:t>
            </a:r>
            <a:r>
              <a:rPr lang="en-US" altLang="zh-CN" sz="2800" b="1" dirty="0" err="1">
                <a:effectLst>
                  <a:outerShdw blurRad="38100" dist="38100" dir="2700000" algn="tl">
                    <a:srgbClr val="C0C0C0"/>
                  </a:outerShdw>
                </a:effectLst>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,cp</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输出字符指针变量</a:t>
            </a:r>
            <a:r>
              <a:rPr lang="en-US" altLang="zh-CN" sz="2800" b="1" dirty="0">
                <a:effectLst>
                  <a:outerShdw blurRad="38100" dist="38100" dir="2700000" algn="tl">
                    <a:srgbClr val="C0C0C0"/>
                  </a:outerShdw>
                </a:effectLst>
                <a:latin typeface="楷体_GB2312" pitchFamily="49" charset="-122"/>
                <a:ea typeface="楷体_GB2312" pitchFamily="49" charset="-122"/>
              </a:rPr>
              <a:t>cp</a:t>
            </a:r>
            <a:r>
              <a:rPr lang="zh-CN" altLang="en-US" sz="2800" b="1" dirty="0">
                <a:effectLst>
                  <a:outerShdw blurRad="38100" dist="38100" dir="2700000" algn="tl">
                    <a:srgbClr val="C0C0C0"/>
                  </a:outerShdw>
                </a:effectLst>
                <a:latin typeface="楷体_GB2312" pitchFamily="49" charset="-122"/>
                <a:ea typeface="楷体_GB2312" pitchFamily="49" charset="-122"/>
              </a:rPr>
              <a:t>所指向的字符串。</a:t>
            </a:r>
            <a:r>
              <a:rPr lang="zh-CN" altLang="en-US" sz="2800" dirty="0">
                <a:latin typeface="楷体_GB2312" pitchFamily="49" charset="-122"/>
                <a:ea typeface="楷体_GB2312" pitchFamily="49" charset="-122"/>
              </a:rPr>
              <a:t> </a:t>
            </a:r>
          </a:p>
        </p:txBody>
      </p:sp>
      <p:sp>
        <p:nvSpPr>
          <p:cNvPr id="35843"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6D61D8AB-4935-4372-9322-F51CF831C10F}" type="slidenum">
              <a:rPr lang="en-US" altLang="zh-CN"/>
              <a:pPr>
                <a:defRPr/>
              </a:pPr>
              <a:t>35</a:t>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idx="1"/>
          </p:nvPr>
        </p:nvSpPr>
        <p:spPr>
          <a:xfrm>
            <a:off x="307975" y="404813"/>
            <a:ext cx="8512175" cy="5495925"/>
          </a:xfrm>
        </p:spPr>
        <p:txBody>
          <a:bodyPr>
            <a:normAutofit fontScale="92500" lnSpcReduction="10000"/>
          </a:bodyPr>
          <a:lstStyle/>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例</a:t>
            </a:r>
            <a:r>
              <a:rPr lang="en-US" altLang="zh-CN" sz="2800" b="1" dirty="0">
                <a:effectLst>
                  <a:outerShdw blurRad="38100" dist="38100" dir="2700000" algn="tl">
                    <a:srgbClr val="C0C0C0"/>
                  </a:outerShdw>
                </a:effectLst>
                <a:latin typeface="楷体_GB2312" pitchFamily="49" charset="-122"/>
                <a:ea typeface="楷体_GB2312" pitchFamily="49" charset="-122"/>
              </a:rPr>
              <a:t>6.2】</a:t>
            </a:r>
            <a:r>
              <a:rPr lang="zh-CN" altLang="en-US" sz="2800" b="1" dirty="0">
                <a:effectLst>
                  <a:outerShdw blurRad="38100" dist="38100" dir="2700000" algn="tl">
                    <a:srgbClr val="C0C0C0"/>
                  </a:outerShdw>
                </a:effectLst>
                <a:latin typeface="楷体_GB2312" pitchFamily="49" charset="-122"/>
                <a:ea typeface="楷体_GB2312" pitchFamily="49" charset="-122"/>
              </a:rPr>
              <a:t>将一个已知字符串复制到一个字符数组，设</a:t>
            </a:r>
            <a:r>
              <a:rPr lang="en-US" altLang="zh-CN" sz="2800" b="1" dirty="0">
                <a:effectLst>
                  <a:outerShdw blurRad="38100" dist="38100" dir="2700000" algn="tl">
                    <a:srgbClr val="C0C0C0"/>
                  </a:outerShdw>
                </a:effectLst>
                <a:latin typeface="楷体_GB2312" pitchFamily="49" charset="-122"/>
                <a:ea typeface="楷体_GB2312" pitchFamily="49" charset="-122"/>
              </a:rPr>
              <a:t>from</a:t>
            </a:r>
            <a:r>
              <a:rPr lang="zh-CN" altLang="en-US" sz="2800" b="1" dirty="0">
                <a:effectLst>
                  <a:outerShdw blurRad="38100" dist="38100" dir="2700000" algn="tl">
                    <a:srgbClr val="C0C0C0"/>
                  </a:outerShdw>
                </a:effectLst>
                <a:latin typeface="楷体_GB2312" pitchFamily="49" charset="-122"/>
                <a:ea typeface="楷体_GB2312" pitchFamily="49" charset="-122"/>
              </a:rPr>
              <a:t>为已知字符串的首字符指针，</a:t>
            </a:r>
            <a:r>
              <a:rPr lang="en-US" altLang="zh-CN" sz="2800" b="1" dirty="0">
                <a:effectLst>
                  <a:outerShdw blurRad="38100" dist="38100" dir="2700000" algn="tl">
                    <a:srgbClr val="C0C0C0"/>
                  </a:outerShdw>
                </a:effectLst>
                <a:latin typeface="楷体_GB2312" pitchFamily="49" charset="-122"/>
                <a:ea typeface="楷体_GB2312" pitchFamily="49" charset="-122"/>
              </a:rPr>
              <a:t>to</a:t>
            </a:r>
            <a:r>
              <a:rPr lang="zh-CN" altLang="en-US" sz="2800" b="1" dirty="0">
                <a:effectLst>
                  <a:outerShdw blurRad="38100" dist="38100" dir="2700000" algn="tl">
                    <a:srgbClr val="C0C0C0"/>
                  </a:outerShdw>
                </a:effectLst>
                <a:latin typeface="楷体_GB2312" pitchFamily="49" charset="-122"/>
                <a:ea typeface="楷体_GB2312" pitchFamily="49" charset="-122"/>
              </a:rPr>
              <a:t>为存储复制字符串的字符数组首元素的</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指针</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400" b="1" dirty="0">
                <a:effectLst>
                  <a:outerShdw blurRad="38100" dist="38100" dir="2700000" algn="tl">
                    <a:srgbClr val="C0C0C0"/>
                  </a:outerShdw>
                </a:effectLst>
                <a:latin typeface="楷体_GB2312" pitchFamily="49" charset="-122"/>
                <a:ea typeface="楷体_GB2312" pitchFamily="49" charset="-122"/>
              </a:rPr>
              <a:t>用下标引用数组元素标记法，完成复制的代码可写成：</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k = 0;</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while ((to[k] = from[k]) != </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 </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k++;       </a:t>
            </a:r>
            <a:r>
              <a:rPr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rPr>
              <a:t>字符串终止标志</a:t>
            </a: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copy</a:t>
            </a:r>
            <a:r>
              <a:rPr lang="zh-CN" altLang="en-US" sz="2800" b="1" dirty="0">
                <a:solidFill>
                  <a:srgbClr val="FF0000"/>
                </a:solidFill>
                <a:effectLst>
                  <a:outerShdw blurRad="38100" dist="38100" dir="2700000" algn="tl">
                    <a:srgbClr val="C0C0C0"/>
                  </a:outerShdw>
                </a:effectLst>
                <a:latin typeface="楷体_GB2312" pitchFamily="49" charset="-122"/>
                <a:ea typeface="楷体_GB2312" pitchFamily="49" charset="-122"/>
              </a:rPr>
              <a:t>了吗</a:t>
            </a: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(2)</a:t>
            </a:r>
            <a:r>
              <a:rPr lang="zh-CN" altLang="en-US" sz="2800" b="1" dirty="0">
                <a:effectLst>
                  <a:outerShdw blurRad="38100" dist="38100" dir="2700000" algn="tl">
                    <a:srgbClr val="C0C0C0"/>
                  </a:outerShdw>
                </a:effectLst>
                <a:latin typeface="楷体_GB2312" pitchFamily="49" charset="-122"/>
                <a:ea typeface="楷体_GB2312" pitchFamily="49" charset="-122"/>
              </a:rPr>
              <a:t>用字符指针描述有：</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while ((*to++ = *from++) != </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由于字符串结束符</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的值为</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zh-CN" altLang="en-US" sz="2800" b="1" dirty="0">
                <a:effectLst>
                  <a:outerShdw blurRad="38100" dist="38100" dir="2700000" algn="tl">
                    <a:srgbClr val="C0C0C0"/>
                  </a:outerShdw>
                </a:effectLst>
                <a:latin typeface="楷体_GB2312" pitchFamily="49" charset="-122"/>
                <a:ea typeface="楷体_GB2312" pitchFamily="49" charset="-122"/>
              </a:rPr>
              <a:t>，上述测试当前复制字符是不是字符串结束符的代码中，</a:t>
            </a:r>
            <a:r>
              <a:rPr lang="zh-CN" altLang="en-US"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en-US" altLang="zh-CN" sz="2800" b="1" dirty="0">
                <a:effectLst>
                  <a:outerShdw blurRad="38100" dist="38100" dir="2700000" algn="tl">
                    <a:srgbClr val="C0C0C0"/>
                  </a:outerShdw>
                </a:effectLst>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是多余的，</a:t>
            </a:r>
            <a:r>
              <a:rPr lang="zh-CN" altLang="en-US" sz="2800" b="1" dirty="0">
                <a:solidFill>
                  <a:srgbClr val="006600"/>
                </a:solidFill>
                <a:effectLst>
                  <a:outerShdw blurRad="38100" dist="38100" dir="2700000" algn="tl">
                    <a:srgbClr val="C0C0C0"/>
                  </a:outerShdw>
                </a:effectLst>
                <a:latin typeface="楷体_GB2312" pitchFamily="49" charset="-122"/>
                <a:ea typeface="楷体_GB2312" pitchFamily="49" charset="-122"/>
              </a:rPr>
              <a:t>字符串复制更简洁的写法是：</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solidFill>
                  <a:srgbClr val="FF0000"/>
                </a:solidFill>
                <a:effectLst>
                  <a:outerShdw blurRad="38100" dist="38100" dir="2700000" algn="tl">
                    <a:srgbClr val="C0C0C0"/>
                  </a:outerShdw>
                </a:effectLst>
                <a:latin typeface="楷体_GB2312" pitchFamily="49" charset="-122"/>
                <a:ea typeface="楷体_GB2312" pitchFamily="49" charset="-122"/>
              </a:rPr>
              <a:t>while (*to++ = *from++);</a:t>
            </a:r>
          </a:p>
        </p:txBody>
      </p:sp>
      <p:sp>
        <p:nvSpPr>
          <p:cNvPr id="36867"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F997DB90-D159-44C5-856A-F048205EF2F8}" type="slidenum">
              <a:rPr lang="en-US" altLang="zh-CN"/>
              <a:pPr>
                <a:defRPr/>
              </a:pPr>
              <a:t>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6194">
                                            <p:txEl>
                                              <p:pRg st="5" end="5"/>
                                            </p:txEl>
                                          </p:spTgt>
                                        </p:tgtEl>
                                        <p:attrNameLst>
                                          <p:attrName>style.visibility</p:attrName>
                                        </p:attrNameLst>
                                      </p:cBhvr>
                                      <p:to>
                                        <p:strVal val="visible"/>
                                      </p:to>
                                    </p:set>
                                    <p:anim calcmode="lin" valueType="num">
                                      <p:cBhvr additive="base">
                                        <p:cTn id="7" dur="500" fill="hold"/>
                                        <p:tgtEl>
                                          <p:spTgt spid="13619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19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6194">
                                            <p:txEl>
                                              <p:pRg st="6" end="6"/>
                                            </p:txEl>
                                          </p:spTgt>
                                        </p:tgtEl>
                                        <p:attrNameLst>
                                          <p:attrName>style.visibility</p:attrName>
                                        </p:attrNameLst>
                                      </p:cBhvr>
                                      <p:to>
                                        <p:strVal val="visible"/>
                                      </p:to>
                                    </p:set>
                                    <p:anim calcmode="lin" valueType="num">
                                      <p:cBhvr additive="base">
                                        <p:cTn id="11" dur="500" fill="hold"/>
                                        <p:tgtEl>
                                          <p:spTgt spid="13619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619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6194">
                                            <p:txEl>
                                              <p:pRg st="7" end="7"/>
                                            </p:txEl>
                                          </p:spTgt>
                                        </p:tgtEl>
                                        <p:attrNameLst>
                                          <p:attrName>style.visibility</p:attrName>
                                        </p:attrNameLst>
                                      </p:cBhvr>
                                      <p:to>
                                        <p:strVal val="visible"/>
                                      </p:to>
                                    </p:set>
                                    <p:anim calcmode="lin" valueType="num">
                                      <p:cBhvr additive="base">
                                        <p:cTn id="17" dur="500" fill="hold"/>
                                        <p:tgtEl>
                                          <p:spTgt spid="136194">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6194">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6194">
                                            <p:txEl>
                                              <p:pRg st="8" end="8"/>
                                            </p:txEl>
                                          </p:spTgt>
                                        </p:tgtEl>
                                        <p:attrNameLst>
                                          <p:attrName>style.visibility</p:attrName>
                                        </p:attrNameLst>
                                      </p:cBhvr>
                                      <p:to>
                                        <p:strVal val="visible"/>
                                      </p:to>
                                    </p:set>
                                    <p:anim calcmode="lin" valueType="num">
                                      <p:cBhvr additive="base">
                                        <p:cTn id="21" dur="500" fill="hold"/>
                                        <p:tgtEl>
                                          <p:spTgt spid="136194">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619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idx="1"/>
          </p:nvPr>
        </p:nvSpPr>
        <p:spPr>
          <a:xfrm>
            <a:off x="307975" y="404813"/>
            <a:ext cx="8512175" cy="5495925"/>
          </a:xfrm>
        </p:spPr>
        <p:txBody>
          <a:bodyPr>
            <a:normAutofit lnSpcReduction="10000"/>
          </a:bodyPr>
          <a:lstStyle/>
          <a:p>
            <a:pPr marL="0" indent="0" eaLnBrk="1" fontAlgn="auto" hangingPunct="1">
              <a:spcAft>
                <a:spcPts val="0"/>
              </a:spcAft>
              <a:buClr>
                <a:schemeClr val="accent3"/>
              </a:buClr>
              <a:buFontTx/>
              <a:buNone/>
              <a:defRPr/>
            </a:pPr>
            <a:r>
              <a:rPr lang="en-US" altLang="zh-CN" sz="3200" b="1" dirty="0">
                <a:effectLst>
                  <a:outerShdw blurRad="38100" dist="38100" dir="2700000" algn="tl">
                    <a:srgbClr val="C0C0C0"/>
                  </a:outerShdw>
                </a:effectLst>
                <a:latin typeface="黑体" pitchFamily="2" charset="-122"/>
                <a:ea typeface="黑体" pitchFamily="2" charset="-122"/>
              </a:rPr>
              <a:t>【</a:t>
            </a:r>
            <a:r>
              <a:rPr lang="zh-CN" altLang="en-US" sz="3200" b="1" dirty="0">
                <a:effectLst>
                  <a:outerShdw blurRad="38100" dist="38100" dir="2700000" algn="tl">
                    <a:srgbClr val="C0C0C0"/>
                  </a:outerShdw>
                </a:effectLst>
                <a:latin typeface="黑体" pitchFamily="2" charset="-122"/>
                <a:ea typeface="黑体" pitchFamily="2" charset="-122"/>
              </a:rPr>
              <a:t>例</a:t>
            </a:r>
            <a:r>
              <a:rPr lang="en-US" altLang="zh-CN" sz="3200" b="1" dirty="0">
                <a:effectLst>
                  <a:outerShdw blurRad="38100" dist="38100" dir="2700000" algn="tl">
                    <a:srgbClr val="C0C0C0"/>
                  </a:outerShdw>
                </a:effectLst>
                <a:latin typeface="黑体" pitchFamily="2" charset="-122"/>
                <a:ea typeface="黑体" pitchFamily="2" charset="-122"/>
              </a:rPr>
              <a:t>6.3】</a:t>
            </a:r>
            <a:r>
              <a:rPr lang="zh-CN" altLang="en-US" sz="3200" b="1" dirty="0">
                <a:effectLst>
                  <a:outerShdw blurRad="38100" dist="38100" dir="2700000" algn="tl">
                    <a:srgbClr val="C0C0C0"/>
                  </a:outerShdw>
                </a:effectLst>
                <a:latin typeface="黑体" pitchFamily="2" charset="-122"/>
                <a:ea typeface="黑体" pitchFamily="2" charset="-122"/>
              </a:rPr>
              <a:t>将字符串</a:t>
            </a:r>
            <a:r>
              <a:rPr lang="en-US" altLang="zh-CN" sz="3200" b="1" dirty="0">
                <a:effectLst>
                  <a:outerShdw blurRad="38100" dist="38100" dir="2700000" algn="tl">
                    <a:srgbClr val="C0C0C0"/>
                  </a:outerShdw>
                </a:effectLst>
                <a:latin typeface="黑体" pitchFamily="2" charset="-122"/>
                <a:ea typeface="黑体" pitchFamily="2" charset="-122"/>
              </a:rPr>
              <a:t>s</a:t>
            </a:r>
            <a:r>
              <a:rPr lang="zh-CN" altLang="en-US" sz="3200" b="1" dirty="0">
                <a:effectLst>
                  <a:outerShdw blurRad="38100" dist="38100" dir="2700000" algn="tl">
                    <a:srgbClr val="C0C0C0"/>
                  </a:outerShdw>
                </a:effectLst>
                <a:latin typeface="黑体" pitchFamily="2" charset="-122"/>
                <a:ea typeface="黑体" pitchFamily="2" charset="-122"/>
              </a:rPr>
              <a:t>中的某种字符去掉，假设要去掉的字符与字符变量</a:t>
            </a:r>
            <a:r>
              <a:rPr lang="en-US" altLang="zh-CN" sz="3200" b="1" dirty="0">
                <a:effectLst>
                  <a:outerShdw blurRad="38100" dist="38100" dir="2700000" algn="tl">
                    <a:srgbClr val="C0C0C0"/>
                  </a:outerShdw>
                </a:effectLst>
                <a:latin typeface="黑体" pitchFamily="2" charset="-122"/>
                <a:ea typeface="黑体" pitchFamily="2" charset="-122"/>
              </a:rPr>
              <a:t>c</a:t>
            </a:r>
            <a:r>
              <a:rPr lang="zh-CN" altLang="en-US" sz="3200" b="1" dirty="0">
                <a:effectLst>
                  <a:outerShdw blurRad="38100" dist="38100" dir="2700000" algn="tl">
                    <a:srgbClr val="C0C0C0"/>
                  </a:outerShdw>
                </a:effectLst>
                <a:latin typeface="黑体" pitchFamily="2" charset="-122"/>
                <a:ea typeface="黑体" pitchFamily="2" charset="-122"/>
              </a:rPr>
              <a:t>中的字符相同。</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方法：一边考察字符，一边复制不去掉的字符。</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引入字符指针</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q</a:t>
            </a:r>
            <a:r>
              <a:rPr lang="zh-CN" altLang="en-US" sz="2800" b="1" dirty="0">
                <a:effectLst>
                  <a:outerShdw blurRad="38100" dist="38100" dir="2700000" algn="tl">
                    <a:srgbClr val="C0C0C0"/>
                  </a:outerShdw>
                </a:effectLst>
                <a:latin typeface="楷体_GB2312" pitchFamily="49" charset="-122"/>
                <a:ea typeface="楷体_GB2312" pitchFamily="49" charset="-122"/>
              </a:rPr>
              <a:t>，其中</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zh-CN" altLang="en-US" sz="2800" b="1" dirty="0">
                <a:effectLst>
                  <a:outerShdw blurRad="38100" dist="38100" dir="2700000" algn="tl">
                    <a:srgbClr val="C0C0C0"/>
                  </a:outerShdw>
                </a:effectLst>
                <a:latin typeface="楷体_GB2312" pitchFamily="49" charset="-122"/>
                <a:ea typeface="楷体_GB2312" pitchFamily="49" charset="-122"/>
              </a:rPr>
              <a:t>指向当前正要考察的字符，若它所指的字符与</a:t>
            </a:r>
            <a:r>
              <a:rPr lang="en-US" altLang="zh-CN" sz="2800" b="1" dirty="0">
                <a:effectLst>
                  <a:outerShdw blurRad="38100" dist="38100" dir="2700000" algn="tl">
                    <a:srgbClr val="C0C0C0"/>
                  </a:outerShdw>
                </a:effectLst>
                <a:latin typeface="楷体_GB2312" pitchFamily="49" charset="-122"/>
                <a:ea typeface="楷体_GB2312" pitchFamily="49" charset="-122"/>
              </a:rPr>
              <a:t>c</a:t>
            </a:r>
            <a:r>
              <a:rPr lang="zh-CN" altLang="en-US" sz="2800" b="1" dirty="0">
                <a:effectLst>
                  <a:outerShdw blurRad="38100" dist="38100" dir="2700000" algn="tl">
                    <a:srgbClr val="C0C0C0"/>
                  </a:outerShdw>
                </a:effectLst>
                <a:latin typeface="楷体_GB2312" pitchFamily="49" charset="-122"/>
                <a:ea typeface="楷体_GB2312" pitchFamily="49" charset="-122"/>
              </a:rPr>
              <a:t>中的字符不相同，则应将它复制到新字符串中。否则，该字符不被复制，也就从新的字符串中去掉了；</a:t>
            </a:r>
            <a:r>
              <a:rPr lang="en-US" altLang="zh-CN" sz="2800" b="1" dirty="0">
                <a:effectLst>
                  <a:outerShdw blurRad="38100" dist="38100" dir="2700000" algn="tl">
                    <a:srgbClr val="C0C0C0"/>
                  </a:outerShdw>
                </a:effectLst>
                <a:latin typeface="楷体_GB2312" pitchFamily="49" charset="-122"/>
                <a:ea typeface="楷体_GB2312" pitchFamily="49" charset="-122"/>
              </a:rPr>
              <a:t>q</a:t>
            </a:r>
            <a:r>
              <a:rPr lang="zh-CN" altLang="en-US" sz="2800" b="1" dirty="0">
                <a:effectLst>
                  <a:outerShdw blurRad="38100" dist="38100" dir="2700000" algn="tl">
                    <a:srgbClr val="C0C0C0"/>
                  </a:outerShdw>
                </a:effectLst>
                <a:latin typeface="楷体_GB2312" pitchFamily="49" charset="-122"/>
                <a:ea typeface="楷体_GB2312" pitchFamily="49" charset="-122"/>
              </a:rPr>
              <a:t>指向下一个用于存储复制字符的存储位置。每次复制一个字符后，</a:t>
            </a:r>
            <a:r>
              <a:rPr lang="en-US" altLang="zh-CN" sz="2800" b="1" dirty="0">
                <a:effectLst>
                  <a:outerShdw blurRad="38100" dist="38100" dir="2700000" algn="tl">
                    <a:srgbClr val="C0C0C0"/>
                  </a:outerShdw>
                </a:effectLst>
                <a:latin typeface="楷体_GB2312" pitchFamily="49" charset="-122"/>
                <a:ea typeface="楷体_GB2312" pitchFamily="49" charset="-122"/>
              </a:rPr>
              <a:t>q</a:t>
            </a:r>
            <a:r>
              <a:rPr lang="zh-CN" altLang="en-US" sz="2800" b="1" dirty="0">
                <a:effectLst>
                  <a:outerShdw blurRad="38100" dist="38100" dir="2700000" algn="tl">
                    <a:srgbClr val="C0C0C0"/>
                  </a:outerShdw>
                </a:effectLst>
                <a:latin typeface="楷体_GB2312" pitchFamily="49" charset="-122"/>
                <a:ea typeface="楷体_GB2312" pitchFamily="49" charset="-122"/>
              </a:rPr>
              <a:t>增加</a:t>
            </a: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。每次考察了一个字符后，</a:t>
            </a:r>
            <a:r>
              <a:rPr lang="en-US" altLang="zh-CN" sz="2800" b="1" dirty="0">
                <a:effectLst>
                  <a:outerShdw blurRad="38100" dist="38100" dir="2700000" algn="tl">
                    <a:srgbClr val="C0C0C0"/>
                  </a:outerShdw>
                </a:effectLst>
                <a:latin typeface="楷体_GB2312" pitchFamily="49" charset="-122"/>
                <a:ea typeface="楷体_GB2312" pitchFamily="49" charset="-122"/>
              </a:rPr>
              <a:t>p</a:t>
            </a:r>
            <a:r>
              <a:rPr lang="zh-CN" altLang="en-US" sz="2800" b="1" dirty="0">
                <a:effectLst>
                  <a:outerShdw blurRad="38100" dist="38100" dir="2700000" algn="tl">
                    <a:srgbClr val="C0C0C0"/>
                  </a:outerShdw>
                </a:effectLst>
                <a:latin typeface="楷体_GB2312" pitchFamily="49" charset="-122"/>
                <a:ea typeface="楷体_GB2312" pitchFamily="49" charset="-122"/>
              </a:rPr>
              <a:t>就增</a:t>
            </a: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a:effectLst>
                  <a:outerShdw blurRad="38100" dist="38100" dir="2700000" algn="tl">
                    <a:srgbClr val="C0C0C0"/>
                  </a:outerShdw>
                </a:effectLst>
                <a:latin typeface="楷体_GB2312" pitchFamily="49" charset="-122"/>
                <a:ea typeface="楷体_GB2312" pitchFamily="49" charset="-122"/>
              </a:rPr>
              <a:t>for(p = q = s; *p; p++) </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if (*p != c)  *q++ = *p; /* </a:t>
            </a:r>
            <a:r>
              <a:rPr lang="zh-CN" altLang="en-US" sz="2800" b="1" dirty="0">
                <a:effectLst>
                  <a:outerShdw blurRad="38100" dist="38100" dir="2700000" algn="tl">
                    <a:srgbClr val="C0C0C0"/>
                  </a:outerShdw>
                </a:effectLst>
                <a:latin typeface="楷体_GB2312" pitchFamily="49" charset="-122"/>
                <a:ea typeface="楷体_GB2312" pitchFamily="49" charset="-122"/>
              </a:rPr>
              <a:t>复制 *</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*q = </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en-US" altLang="zh-CN" sz="2800" b="1" dirty="0">
                <a:effectLst>
                  <a:outerShdw blurRad="38100" dist="38100" dir="2700000" algn="tl">
                    <a:srgbClr val="C0C0C0"/>
                  </a:outerShdw>
                </a:effectLst>
                <a:ea typeface="楷体_GB2312" pitchFamily="49" charset="-122"/>
              </a:rPr>
              <a:t>’</a:t>
            </a:r>
            <a:r>
              <a:rPr lang="en-US" altLang="zh-CN" sz="2800" b="1" dirty="0">
                <a:effectLst>
                  <a:outerShdw blurRad="38100" dist="38100" dir="2700000" algn="tl">
                    <a:srgbClr val="C0C0C0"/>
                  </a:outerShdw>
                </a:effectLst>
                <a:latin typeface="楷体_GB2312" pitchFamily="49" charset="-122"/>
                <a:ea typeface="楷体_GB2312" pitchFamily="49" charset="-122"/>
              </a:rPr>
              <a:t>;    /* </a:t>
            </a:r>
            <a:r>
              <a:rPr lang="zh-CN" altLang="en-US" sz="2800" b="1" dirty="0">
                <a:effectLst>
                  <a:outerShdw blurRad="38100" dist="38100" dir="2700000" algn="tl">
                    <a:srgbClr val="C0C0C0"/>
                  </a:outerShdw>
                </a:effectLst>
                <a:latin typeface="楷体_GB2312" pitchFamily="49" charset="-122"/>
                <a:ea typeface="楷体_GB2312" pitchFamily="49" charset="-122"/>
              </a:rPr>
              <a:t>重新构成字符串 *</a:t>
            </a:r>
            <a:r>
              <a:rPr lang="en-US" altLang="zh-CN" sz="2800" b="1" dirty="0">
                <a:effectLst>
                  <a:outerShdw blurRad="38100" dist="38100" dir="2700000" algn="tl">
                    <a:srgbClr val="C0C0C0"/>
                  </a:outerShdw>
                </a:effectLst>
                <a:latin typeface="楷体_GB2312" pitchFamily="49" charset="-122"/>
                <a:ea typeface="楷体_GB2312" pitchFamily="49" charset="-122"/>
              </a:rPr>
              <a:t>/</a:t>
            </a:r>
          </a:p>
        </p:txBody>
      </p:sp>
      <p:sp>
        <p:nvSpPr>
          <p:cNvPr id="37891"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0D5E0BB8-5596-4A6D-8F3A-BC88D912D1A8}" type="slidenum">
              <a:rPr lang="en-US" altLang="zh-CN"/>
              <a:pPr>
                <a:defRPr/>
              </a:pPr>
              <a:t>37</a:t>
            </a:fld>
            <a:endParaRPr lang="en-US" altLang="zh-CN" dirty="0"/>
          </a:p>
        </p:txBody>
      </p:sp>
      <p:sp>
        <p:nvSpPr>
          <p:cNvPr id="2" name="椭圆 1">
            <a:extLst>
              <a:ext uri="{FF2B5EF4-FFF2-40B4-BE49-F238E27FC236}">
                <a16:creationId xmlns:a16="http://schemas.microsoft.com/office/drawing/2014/main" id="{E08D504A-F278-7882-863A-F3FC29D5D741}"/>
              </a:ext>
            </a:extLst>
          </p:cNvPr>
          <p:cNvSpPr/>
          <p:nvPr/>
        </p:nvSpPr>
        <p:spPr>
          <a:xfrm>
            <a:off x="6983760" y="4673860"/>
            <a:ext cx="2160240" cy="167965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dirty="0">
                <a:solidFill>
                  <a:srgbClr val="FF0000"/>
                </a:solidFill>
              </a:rPr>
              <a:t>快慢指针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8">
                                            <p:txEl>
                                              <p:pRg st="3" end="3"/>
                                            </p:txEl>
                                          </p:spTgt>
                                        </p:tgtEl>
                                        <p:attrNameLst>
                                          <p:attrName>style.visibility</p:attrName>
                                        </p:attrNameLst>
                                      </p:cBhvr>
                                      <p:to>
                                        <p:strVal val="visible"/>
                                      </p:to>
                                    </p:set>
                                    <p:anim calcmode="lin" valueType="num">
                                      <p:cBhvr additive="base">
                                        <p:cTn id="7" dur="500" fill="hold"/>
                                        <p:tgtEl>
                                          <p:spTgt spid="13721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7218">
                                            <p:txEl>
                                              <p:pRg st="4" end="4"/>
                                            </p:txEl>
                                          </p:spTgt>
                                        </p:tgtEl>
                                        <p:attrNameLst>
                                          <p:attrName>style.visibility</p:attrName>
                                        </p:attrNameLst>
                                      </p:cBhvr>
                                      <p:to>
                                        <p:strVal val="visible"/>
                                      </p:to>
                                    </p:set>
                                    <p:anim calcmode="lin" valueType="num">
                                      <p:cBhvr additive="base">
                                        <p:cTn id="11" dur="500" fill="hold"/>
                                        <p:tgtEl>
                                          <p:spTgt spid="137218">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7218">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7218">
                                            <p:txEl>
                                              <p:pRg st="5" end="5"/>
                                            </p:txEl>
                                          </p:spTgt>
                                        </p:tgtEl>
                                        <p:attrNameLst>
                                          <p:attrName>style.visibility</p:attrName>
                                        </p:attrNameLst>
                                      </p:cBhvr>
                                      <p:to>
                                        <p:strVal val="visible"/>
                                      </p:to>
                                    </p:set>
                                    <p:anim calcmode="lin" valueType="num">
                                      <p:cBhvr additive="base">
                                        <p:cTn id="15" dur="500" fill="hold"/>
                                        <p:tgtEl>
                                          <p:spTgt spid="137218">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72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a:xfrm>
            <a:off x="250825" y="260350"/>
            <a:ext cx="8496300" cy="647700"/>
          </a:xfrm>
        </p:spPr>
        <p:txBody>
          <a:bodyPr lIns="92075" tIns="46038" rIns="92075" bIns="46038">
            <a:normAutofit/>
          </a:bodyPr>
          <a:lstStyle/>
          <a:p>
            <a:pPr marL="1800225" indent="-1800225" eaLnBrk="1" fontAlgn="auto" hangingPunct="1">
              <a:spcAft>
                <a:spcPts val="0"/>
              </a:spcAft>
              <a:defRPr/>
            </a:pPr>
            <a:r>
              <a:rPr lang="en-US" altLang="zh-CN" sz="3600" b="1" dirty="0">
                <a:solidFill>
                  <a:schemeClr val="tx1"/>
                </a:solidFill>
                <a:effectLst>
                  <a:outerShdw blurRad="38100" dist="38100" dir="2700000" algn="tl">
                    <a:srgbClr val="C0C0C0"/>
                  </a:outerShdw>
                </a:effectLst>
                <a:latin typeface="黑体" pitchFamily="2" charset="-122"/>
                <a:ea typeface="黑体" pitchFamily="2" charset="-122"/>
              </a:rPr>
              <a:t>6.3 </a:t>
            </a:r>
            <a:r>
              <a:rPr lang="zh-CN" altLang="en-US" sz="3600" b="1" dirty="0">
                <a:solidFill>
                  <a:schemeClr val="tx1"/>
                </a:solidFill>
                <a:effectLst>
                  <a:outerShdw blurRad="38100" dist="38100" dir="2700000" algn="tl">
                    <a:srgbClr val="C0C0C0"/>
                  </a:outerShdw>
                </a:effectLst>
                <a:latin typeface="黑体" pitchFamily="2" charset="-122"/>
                <a:ea typeface="黑体" pitchFamily="2" charset="-122"/>
              </a:rPr>
              <a:t>指针形参 </a:t>
            </a:r>
          </a:p>
        </p:txBody>
      </p:sp>
      <p:sp>
        <p:nvSpPr>
          <p:cNvPr id="11266" name="Rectangle 2"/>
          <p:cNvSpPr>
            <a:spLocks noGrp="1" noChangeArrowheads="1"/>
          </p:cNvSpPr>
          <p:nvPr>
            <p:ph idx="1"/>
          </p:nvPr>
        </p:nvSpPr>
        <p:spPr>
          <a:xfrm>
            <a:off x="228600" y="908050"/>
            <a:ext cx="8534400" cy="5568950"/>
          </a:xfrm>
        </p:spPr>
        <p:txBody>
          <a:bodyPr>
            <a:normAutofit/>
          </a:bodyPr>
          <a:lstStyle/>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值传递类型函数不能修改实参变量。但许多应用要求被调用函数能修改由实参指定的变量。</a:t>
            </a:r>
            <a:r>
              <a:rPr lang="en-US" altLang="zh-CN" sz="2800" b="1" dirty="0">
                <a:effectLst>
                  <a:outerShdw blurRad="38100" dist="38100" dir="2700000" algn="tl">
                    <a:srgbClr val="C0C0C0"/>
                  </a:outerShdw>
                </a:effectLst>
                <a:latin typeface="楷体_GB2312" pitchFamily="49" charset="-122"/>
                <a:ea typeface="楷体_GB2312" pitchFamily="49" charset="-122"/>
              </a:rPr>
              <a:t>C</a:t>
            </a:r>
            <a:r>
              <a:rPr lang="zh-CN" altLang="en-US" sz="2800" b="1" dirty="0">
                <a:effectLst>
                  <a:outerShdw blurRad="38100" dist="38100" dir="2700000" algn="tl">
                    <a:srgbClr val="C0C0C0"/>
                  </a:outerShdw>
                </a:effectLst>
                <a:latin typeface="楷体_GB2312" pitchFamily="49" charset="-122"/>
                <a:ea typeface="楷体_GB2312" pitchFamily="49" charset="-122"/>
              </a:rPr>
              <a:t>语言的指针形参能实现这种特殊的要求。</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指针形参能够指向的对象的类型在形参说明时指明。例如，以下函数说明中</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void </a:t>
            </a:r>
            <a:r>
              <a:rPr lang="en-US" altLang="zh-CN" sz="2800" b="1" dirty="0" err="1">
                <a:effectLst>
                  <a:outerShdw blurRad="38100" dist="38100" dir="2700000" algn="tl">
                    <a:srgbClr val="C0C0C0"/>
                  </a:outerShdw>
                </a:effectLst>
                <a:latin typeface="楷体_GB2312" pitchFamily="49" charset="-122"/>
                <a:ea typeface="楷体_GB2312" pitchFamily="49" charset="-122"/>
              </a:rPr>
              <a:t>divNum</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intPt</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d);</a:t>
            </a:r>
          </a:p>
          <a:p>
            <a:pPr marL="0" indent="0" eaLnBrk="1" fontAlgn="auto" hangingPunct="1">
              <a:spcAft>
                <a:spcPts val="0"/>
              </a:spcAft>
              <a:buClr>
                <a:schemeClr val="accent3"/>
              </a:buClr>
              <a:buFontTx/>
              <a:buNone/>
              <a:defRPr/>
            </a:pPr>
            <a:r>
              <a:rPr lang="en-US" altLang="zh-CN" sz="2800" b="1" dirty="0" err="1">
                <a:effectLst>
                  <a:outerShdw blurRad="38100" dist="38100" dir="2700000" algn="tl">
                    <a:srgbClr val="C0C0C0"/>
                  </a:outerShdw>
                </a:effectLst>
                <a:latin typeface="楷体_GB2312" pitchFamily="49" charset="-122"/>
                <a:ea typeface="楷体_GB2312" pitchFamily="49" charset="-122"/>
              </a:rPr>
              <a:t>intPt</a:t>
            </a:r>
            <a:r>
              <a:rPr lang="zh-CN" altLang="en-US" sz="2800" b="1" dirty="0">
                <a:effectLst>
                  <a:outerShdw blurRad="38100" dist="38100" dir="2700000" algn="tl">
                    <a:srgbClr val="C0C0C0"/>
                  </a:outerShdw>
                </a:effectLst>
                <a:latin typeface="楷体_GB2312" pitchFamily="49" charset="-122"/>
                <a:ea typeface="楷体_GB2312" pitchFamily="49" charset="-122"/>
              </a:rPr>
              <a:t>是一个指针形参，它能指向</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zh-CN" altLang="en-US" sz="2800" b="1" dirty="0">
                <a:effectLst>
                  <a:outerShdw blurRad="38100" dist="38100" dir="2700000" algn="tl">
                    <a:srgbClr val="C0C0C0"/>
                  </a:outerShdw>
                </a:effectLst>
                <a:latin typeface="楷体_GB2312" pitchFamily="49" charset="-122"/>
                <a:ea typeface="楷体_GB2312" pitchFamily="49" charset="-122"/>
              </a:rPr>
              <a:t>类型的变量。</a:t>
            </a:r>
          </a:p>
          <a:p>
            <a:pPr marL="0" indent="0" eaLnBrk="1" fontAlgn="auto" hangingPunct="1">
              <a:spcAft>
                <a:spcPts val="0"/>
              </a:spcAft>
              <a:buClr>
                <a:schemeClr val="accent3"/>
              </a:buClr>
              <a:buFontTx/>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调用有指针形参的函数时，对应指针形参的实参必须是某个变量的指针。</a:t>
            </a:r>
            <a:r>
              <a:rPr lang="zh-CN" altLang="en-US" sz="2800" b="1" dirty="0">
                <a:effectLst>
                  <a:outerShdw blurRad="38100" dist="38100" dir="2700000" algn="tl">
                    <a:srgbClr val="C0C0C0"/>
                  </a:outerShdw>
                </a:effectLst>
                <a:latin typeface="楷体_GB2312" pitchFamily="49" charset="-122"/>
                <a:ea typeface="楷体_GB2312" pitchFamily="49" charset="-122"/>
              </a:rPr>
              <a:t>指针形参从实参处得到某变量的指针，使指针形参指向一个变量。这样，函数就可用这个指针形参间接访问被调用函数之外的变量，或引用其值，或修改其值。</a:t>
            </a:r>
            <a:endPar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endParaRPr>
          </a:p>
        </p:txBody>
      </p:sp>
      <p:sp>
        <p:nvSpPr>
          <p:cNvPr id="38916"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5" name="Slide Number Placeholder 4"/>
          <p:cNvSpPr>
            <a:spLocks noGrp="1"/>
          </p:cNvSpPr>
          <p:nvPr>
            <p:ph type="sldNum" sz="quarter" idx="12"/>
          </p:nvPr>
        </p:nvSpPr>
        <p:spPr/>
        <p:txBody>
          <a:bodyPr/>
          <a:lstStyle/>
          <a:p>
            <a:pPr>
              <a:defRPr/>
            </a:pPr>
            <a:fld id="{899E6411-E6BA-4FA6-B88B-E45420F3B9F7}" type="slidenum">
              <a:rPr lang="en-US" altLang="zh-CN"/>
              <a:pPr>
                <a:defRPr/>
              </a:pPr>
              <a:t>38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xEl>
                                              <p:pRg st="1" end="1"/>
                                            </p:txEl>
                                          </p:spTgt>
                                        </p:tgtEl>
                                        <p:attrNameLst>
                                          <p:attrName>style.visibility</p:attrName>
                                        </p:attrNameLst>
                                      </p:cBhvr>
                                      <p:to>
                                        <p:strVal val="visible"/>
                                      </p:to>
                                    </p:set>
                                    <p:anim calcmode="lin" valueType="num">
                                      <p:cBhvr additive="base">
                                        <p:cTn id="7" dur="500" fill="hold"/>
                                        <p:tgtEl>
                                          <p:spTgt spid="1126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266">
                                            <p:txEl>
                                              <p:pRg st="2" end="2"/>
                                            </p:txEl>
                                          </p:spTgt>
                                        </p:tgtEl>
                                        <p:attrNameLst>
                                          <p:attrName>style.visibility</p:attrName>
                                        </p:attrNameLst>
                                      </p:cBhvr>
                                      <p:to>
                                        <p:strVal val="visible"/>
                                      </p:to>
                                    </p:set>
                                    <p:anim calcmode="lin" valueType="num">
                                      <p:cBhvr additive="base">
                                        <p:cTn id="11" dur="500" fill="hold"/>
                                        <p:tgtEl>
                                          <p:spTgt spid="1126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6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266">
                                            <p:txEl>
                                              <p:pRg st="3" end="3"/>
                                            </p:txEl>
                                          </p:spTgt>
                                        </p:tgtEl>
                                        <p:attrNameLst>
                                          <p:attrName>style.visibility</p:attrName>
                                        </p:attrNameLst>
                                      </p:cBhvr>
                                      <p:to>
                                        <p:strVal val="visible"/>
                                      </p:to>
                                    </p:set>
                                    <p:anim calcmode="lin" valueType="num">
                                      <p:cBhvr additive="base">
                                        <p:cTn id="15" dur="500" fill="hold"/>
                                        <p:tgtEl>
                                          <p:spTgt spid="1126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2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266">
                                            <p:txEl>
                                              <p:pRg st="4" end="4"/>
                                            </p:txEl>
                                          </p:spTgt>
                                        </p:tgtEl>
                                        <p:attrNameLst>
                                          <p:attrName>style.visibility</p:attrName>
                                        </p:attrNameLst>
                                      </p:cBhvr>
                                      <p:to>
                                        <p:strVal val="visible"/>
                                      </p:to>
                                    </p:set>
                                    <p:anim calcmode="lin" valueType="num">
                                      <p:cBhvr additive="base">
                                        <p:cTn id="21" dur="500" fill="hold"/>
                                        <p:tgtEl>
                                          <p:spTgt spid="1126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26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9" name="Rectangle 3"/>
          <p:cNvSpPr>
            <a:spLocks noGrp="1" noChangeArrowheads="1"/>
          </p:cNvSpPr>
          <p:nvPr>
            <p:ph type="body" idx="1"/>
          </p:nvPr>
        </p:nvSpPr>
        <p:spPr>
          <a:xfrm>
            <a:off x="468313" y="1557338"/>
            <a:ext cx="8458200" cy="3743325"/>
          </a:xfrm>
        </p:spPr>
        <p:txBody>
          <a:bodyPr tIns="46038" bIns="46038"/>
          <a:lstStyle/>
          <a:p>
            <a:pPr eaLnBrk="1">
              <a:lnSpc>
                <a:spcPct val="100000"/>
              </a:lnSpc>
              <a:spcBef>
                <a:spcPct val="96000"/>
              </a:spcBef>
              <a:spcAft>
                <a:spcPct val="24000"/>
              </a:spcAft>
              <a:defRPr/>
            </a:pPr>
            <a:r>
              <a:rPr lang="zh-CN" altLang="en-US" dirty="0">
                <a:ea typeface="仿宋_GB2312" pitchFamily="49" charset="-122"/>
              </a:rPr>
              <a:t>普通变量作函数参数</a:t>
            </a:r>
            <a:r>
              <a:rPr lang="en-US" altLang="zh-CN" dirty="0">
                <a:ea typeface="仿宋_GB2312" pitchFamily="49" charset="-122"/>
              </a:rPr>
              <a:t>—</a:t>
            </a:r>
            <a:r>
              <a:rPr lang="zh-CN" altLang="en-US" dirty="0">
                <a:latin typeface="楷体_GB2312" pitchFamily="49" charset="-122"/>
                <a:ea typeface="仿宋_GB2312" pitchFamily="49" charset="-122"/>
              </a:rPr>
              <a:t>按值调用</a:t>
            </a:r>
            <a:endParaRPr lang="en-US" altLang="zh-CN" i="1" dirty="0">
              <a:solidFill>
                <a:srgbClr val="0033CC"/>
              </a:solidFill>
              <a:ea typeface="宋体" pitchFamily="2" charset="-122"/>
            </a:endParaRPr>
          </a:p>
          <a:p>
            <a:pPr lvl="1" eaLnBrk="1">
              <a:lnSpc>
                <a:spcPct val="100000"/>
              </a:lnSpc>
              <a:defRPr/>
            </a:pPr>
            <a:r>
              <a:rPr lang="en-US" altLang="zh-CN" dirty="0">
                <a:ea typeface="宋体" pitchFamily="2" charset="-122"/>
              </a:rPr>
              <a:t>Cannot modify the </a:t>
            </a:r>
            <a:r>
              <a:rPr lang="en-US" altLang="zh-CN" i="1" dirty="0">
                <a:latin typeface="Courier New" pitchFamily="49" charset="0"/>
                <a:ea typeface="宋体" pitchFamily="2" charset="-122"/>
              </a:rPr>
              <a:t>argument</a:t>
            </a:r>
            <a:endParaRPr lang="en-US" altLang="zh-CN" dirty="0">
              <a:ea typeface="宋体" pitchFamily="2" charset="-122"/>
            </a:endParaRPr>
          </a:p>
          <a:p>
            <a:pPr eaLnBrk="1">
              <a:lnSpc>
                <a:spcPct val="100000"/>
              </a:lnSpc>
              <a:buFont typeface="Monotype Sorts" charset="2"/>
              <a:buNone/>
              <a:defRPr/>
            </a:pPr>
            <a:r>
              <a:rPr lang="zh-CN" altLang="en-US" i="1" dirty="0">
                <a:latin typeface="Courier New" pitchFamily="49" charset="0"/>
                <a:ea typeface="宋体" pitchFamily="2" charset="-122"/>
              </a:rPr>
              <a:t>   </a:t>
            </a:r>
            <a:r>
              <a:rPr lang="zh-CN" altLang="en-US" dirty="0">
                <a:latin typeface="Courier New" pitchFamily="49" charset="0"/>
                <a:ea typeface="仿宋_GB2312" pitchFamily="49" charset="-122"/>
              </a:rPr>
              <a:t>形参</a:t>
            </a:r>
            <a:r>
              <a:rPr lang="zh-CN" altLang="en-US" i="1" dirty="0">
                <a:latin typeface="Courier New" pitchFamily="49" charset="0"/>
                <a:ea typeface="宋体" pitchFamily="2" charset="-122"/>
              </a:rPr>
              <a:t>（</a:t>
            </a:r>
            <a:r>
              <a:rPr lang="en-US" altLang="zh-CN" i="1" dirty="0">
                <a:ea typeface="宋体" pitchFamily="2" charset="-122"/>
              </a:rPr>
              <a:t>parameter</a:t>
            </a:r>
            <a:r>
              <a:rPr lang="zh-CN" altLang="en-US" i="1" dirty="0">
                <a:latin typeface="Courier New" pitchFamily="49" charset="0"/>
                <a:ea typeface="宋体" pitchFamily="2" charset="-122"/>
              </a:rPr>
              <a:t>）</a:t>
            </a:r>
            <a:r>
              <a:rPr lang="en-US" altLang="zh-CN" i="1" dirty="0">
                <a:latin typeface="宋体" pitchFamily="2" charset="-122"/>
                <a:ea typeface="宋体" pitchFamily="2" charset="-122"/>
              </a:rPr>
              <a:t>←</a:t>
            </a:r>
            <a:r>
              <a:rPr lang="en-US" altLang="zh-CN" i="1" dirty="0">
                <a:latin typeface="Courier New" pitchFamily="49" charset="0"/>
                <a:ea typeface="宋体" pitchFamily="2" charset="-122"/>
              </a:rPr>
              <a:t> </a:t>
            </a:r>
            <a:r>
              <a:rPr lang="zh-CN" altLang="en-US" dirty="0">
                <a:latin typeface="Courier New" pitchFamily="49" charset="0"/>
                <a:ea typeface="仿宋_GB2312" pitchFamily="49" charset="-122"/>
              </a:rPr>
              <a:t>实参变量</a:t>
            </a:r>
            <a:r>
              <a:rPr lang="zh-CN" altLang="en-US" i="1" dirty="0">
                <a:latin typeface="Courier New" pitchFamily="49" charset="0"/>
                <a:ea typeface="宋体" pitchFamily="2" charset="-122"/>
              </a:rPr>
              <a:t>（</a:t>
            </a:r>
            <a:r>
              <a:rPr lang="en-US" altLang="zh-CN" i="1" dirty="0">
                <a:ea typeface="宋体" pitchFamily="2" charset="-122"/>
              </a:rPr>
              <a:t>variable</a:t>
            </a:r>
            <a:r>
              <a:rPr lang="zh-CN" altLang="en-US" i="1" dirty="0">
                <a:latin typeface="Courier New" pitchFamily="49" charset="0"/>
                <a:ea typeface="宋体" pitchFamily="2" charset="-122"/>
              </a:rPr>
              <a:t>）</a:t>
            </a:r>
          </a:p>
          <a:p>
            <a:pPr eaLnBrk="1">
              <a:lnSpc>
                <a:spcPct val="100000"/>
              </a:lnSpc>
              <a:spcBef>
                <a:spcPct val="96000"/>
              </a:spcBef>
              <a:spcAft>
                <a:spcPct val="24000"/>
              </a:spcAft>
              <a:defRPr/>
            </a:pPr>
            <a:r>
              <a:rPr lang="zh-CN" altLang="en-US" dirty="0">
                <a:ea typeface="仿宋_GB2312" pitchFamily="49" charset="-122"/>
              </a:rPr>
              <a:t>指针作函数参数</a:t>
            </a:r>
            <a:r>
              <a:rPr lang="en-US" altLang="zh-CN" dirty="0">
                <a:ea typeface="仿宋_GB2312" pitchFamily="49" charset="-122"/>
              </a:rPr>
              <a:t>—</a:t>
            </a:r>
            <a:r>
              <a:rPr lang="zh-CN" altLang="en-US" dirty="0">
                <a:latin typeface="楷体_GB2312" pitchFamily="49" charset="-122"/>
                <a:ea typeface="仿宋_GB2312" pitchFamily="49" charset="-122"/>
              </a:rPr>
              <a:t>按地址调用</a:t>
            </a:r>
            <a:endParaRPr lang="en-US" altLang="zh-CN" sz="3200" dirty="0">
              <a:ea typeface="楷体_GB2312" pitchFamily="49" charset="-122"/>
            </a:endParaRPr>
          </a:p>
          <a:p>
            <a:pPr lvl="1" eaLnBrk="1">
              <a:lnSpc>
                <a:spcPct val="100000"/>
              </a:lnSpc>
              <a:defRPr/>
            </a:pPr>
            <a:r>
              <a:rPr lang="en-US" altLang="zh-CN" dirty="0">
                <a:ea typeface="宋体" pitchFamily="2" charset="-122"/>
              </a:rPr>
              <a:t>In order to modify the </a:t>
            </a:r>
            <a:r>
              <a:rPr lang="en-US" altLang="zh-CN" i="1" dirty="0">
                <a:latin typeface="Courier New" pitchFamily="49" charset="0"/>
                <a:ea typeface="宋体" pitchFamily="2" charset="-122"/>
              </a:rPr>
              <a:t>argument</a:t>
            </a:r>
            <a:r>
              <a:rPr lang="zh-CN" altLang="en-US" dirty="0">
                <a:latin typeface="Courier New" pitchFamily="49" charset="0"/>
                <a:ea typeface="宋体" pitchFamily="2" charset="-122"/>
              </a:rPr>
              <a:t>，</a:t>
            </a:r>
            <a:r>
              <a:rPr lang="en-US" altLang="zh-CN" dirty="0">
                <a:ea typeface="宋体" pitchFamily="2" charset="-122"/>
              </a:rPr>
              <a:t>use:</a:t>
            </a:r>
          </a:p>
          <a:p>
            <a:pPr eaLnBrk="1">
              <a:buFont typeface="Monotype Sorts" charset="2"/>
              <a:buNone/>
              <a:defRPr/>
            </a:pPr>
            <a:r>
              <a:rPr lang="zh-CN" altLang="en-US" i="1" dirty="0">
                <a:latin typeface="Courier New" pitchFamily="49" charset="0"/>
                <a:ea typeface="宋体" pitchFamily="2" charset="-122"/>
              </a:rPr>
              <a:t>  </a:t>
            </a:r>
            <a:r>
              <a:rPr lang="zh-CN" altLang="en-US" dirty="0">
                <a:latin typeface="Courier New" pitchFamily="49" charset="0"/>
                <a:ea typeface="仿宋_GB2312" pitchFamily="49" charset="-122"/>
              </a:rPr>
              <a:t>指针形参</a:t>
            </a:r>
            <a:r>
              <a:rPr lang="en-US" altLang="zh-CN" i="1" dirty="0">
                <a:ea typeface="宋体" pitchFamily="2" charset="-122"/>
              </a:rPr>
              <a:t>(pointer parameter) ←  </a:t>
            </a:r>
            <a:r>
              <a:rPr lang="en-US" altLang="zh-CN" i="1" dirty="0">
                <a:latin typeface="Courier New" pitchFamily="49" charset="0"/>
                <a:ea typeface="宋体" pitchFamily="2" charset="-122"/>
              </a:rPr>
              <a:t>&amp;(</a:t>
            </a:r>
            <a:r>
              <a:rPr lang="en-US" altLang="zh-CN" i="1" dirty="0">
                <a:ea typeface="宋体" pitchFamily="2" charset="-122"/>
              </a:rPr>
              <a:t>variable</a:t>
            </a:r>
            <a:r>
              <a:rPr lang="en-US" altLang="zh-CN" i="1" dirty="0">
                <a:latin typeface="Courier New" pitchFamily="49" charset="0"/>
                <a:ea typeface="宋体" pitchFamily="2" charset="-122"/>
              </a:rPr>
              <a:t>) </a:t>
            </a:r>
            <a:r>
              <a:rPr lang="zh-CN" altLang="en-US" i="1" dirty="0">
                <a:solidFill>
                  <a:srgbClr val="FF0000"/>
                </a:solidFill>
                <a:latin typeface="Courier New" pitchFamily="49" charset="0"/>
                <a:ea typeface="宋体" pitchFamily="2" charset="-122"/>
              </a:rPr>
              <a:t>表达式</a:t>
            </a:r>
          </a:p>
        </p:txBody>
      </p:sp>
      <p:sp>
        <p:nvSpPr>
          <p:cNvPr id="572420" name="Rectangle 4"/>
          <p:cNvSpPr>
            <a:spLocks noChangeArrowheads="1"/>
          </p:cNvSpPr>
          <p:nvPr/>
        </p:nvSpPr>
        <p:spPr bwMode="auto">
          <a:xfrm>
            <a:off x="5580111" y="4293096"/>
            <a:ext cx="3095575" cy="7207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572421" name="Rectangle 5"/>
          <p:cNvSpPr>
            <a:spLocks noChangeArrowheads="1"/>
          </p:cNvSpPr>
          <p:nvPr/>
        </p:nvSpPr>
        <p:spPr bwMode="auto">
          <a:xfrm>
            <a:off x="4355976" y="2520950"/>
            <a:ext cx="3382962" cy="7207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nvGrpSpPr>
          <p:cNvPr id="2" name="Group 21"/>
          <p:cNvGrpSpPr>
            <a:grpSpLocks/>
          </p:cNvGrpSpPr>
          <p:nvPr/>
        </p:nvGrpSpPr>
        <p:grpSpPr bwMode="auto">
          <a:xfrm>
            <a:off x="4211638" y="5224463"/>
            <a:ext cx="3889375" cy="1492250"/>
            <a:chOff x="1383" y="3291"/>
            <a:chExt cx="2450" cy="940"/>
          </a:xfrm>
        </p:grpSpPr>
        <p:grpSp>
          <p:nvGrpSpPr>
            <p:cNvPr id="24592" name="Group 19"/>
            <p:cNvGrpSpPr>
              <a:grpSpLocks/>
            </p:cNvGrpSpPr>
            <p:nvPr/>
          </p:nvGrpSpPr>
          <p:grpSpPr bwMode="auto">
            <a:xfrm>
              <a:off x="1383" y="3291"/>
              <a:ext cx="2450" cy="940"/>
              <a:chOff x="1383" y="3291"/>
              <a:chExt cx="2450" cy="940"/>
            </a:xfrm>
          </p:grpSpPr>
          <p:sp>
            <p:nvSpPr>
              <p:cNvPr id="572423" name="Rectangle 7"/>
              <p:cNvSpPr>
                <a:spLocks noChangeArrowheads="1"/>
              </p:cNvSpPr>
              <p:nvPr/>
            </p:nvSpPr>
            <p:spPr bwMode="auto">
              <a:xfrm>
                <a:off x="1383" y="3291"/>
                <a:ext cx="2450" cy="940"/>
              </a:xfrm>
              <a:prstGeom prst="rect">
                <a:avLst/>
              </a:prstGeom>
              <a:noFill/>
              <a:ln w="12700">
                <a:solidFill>
                  <a:schemeClr val="bg2"/>
                </a:solidFill>
                <a:miter lim="800000"/>
                <a:headEnd/>
                <a:tailEnd/>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572424" name="Line 8"/>
              <p:cNvSpPr>
                <a:spLocks noChangeShapeType="1"/>
              </p:cNvSpPr>
              <p:nvPr/>
            </p:nvSpPr>
            <p:spPr bwMode="auto">
              <a:xfrm>
                <a:off x="1926" y="3566"/>
                <a:ext cx="1297" cy="0"/>
              </a:xfrm>
              <a:prstGeom prst="line">
                <a:avLst/>
              </a:prstGeom>
              <a:noFill/>
              <a:ln w="57150">
                <a:solidFill>
                  <a:srgbClr val="800000"/>
                </a:solidFill>
                <a:round/>
                <a:headEnd type="none" w="sm" len="sm"/>
                <a:tailEnd type="triangle" w="med" len="lg"/>
              </a:ln>
              <a:effectLst/>
            </p:spPr>
            <p:txBody>
              <a:bodyPr/>
              <a:lstStyle/>
              <a:p>
                <a:pPr>
                  <a:defRPr/>
                </a:pPr>
                <a:endParaRPr lang="zh-CN" altLang="en-US"/>
              </a:p>
            </p:txBody>
          </p:sp>
          <p:sp>
            <p:nvSpPr>
              <p:cNvPr id="24596" name="Rectangle 10"/>
              <p:cNvSpPr>
                <a:spLocks noChangeArrowheads="1"/>
              </p:cNvSpPr>
              <p:nvPr/>
            </p:nvSpPr>
            <p:spPr bwMode="auto">
              <a:xfrm>
                <a:off x="1560" y="3403"/>
                <a:ext cx="322" cy="327"/>
              </a:xfrm>
              <a:prstGeom prst="rect">
                <a:avLst/>
              </a:prstGeom>
              <a:solidFill>
                <a:srgbClr val="FFFF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FFFF66"/>
                </a:extrusionClr>
              </a:sp3d>
            </p:spPr>
            <p:txBody>
              <a:bodyPr>
                <a:spAutoFit/>
                <a:flatTx/>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kumimoji="1" lang="en-US" altLang="zh-CN" sz="2800" b="1">
                  <a:effectLst/>
                  <a:latin typeface="Courier New" pitchFamily="49" charset="0"/>
                  <a:ea typeface="宋体" pitchFamily="2" charset="-122"/>
                </a:endParaRPr>
              </a:p>
            </p:txBody>
          </p:sp>
          <p:sp>
            <p:nvSpPr>
              <p:cNvPr id="24597" name="Rectangle 13"/>
              <p:cNvSpPr>
                <a:spLocks noChangeArrowheads="1"/>
              </p:cNvSpPr>
              <p:nvPr/>
            </p:nvSpPr>
            <p:spPr bwMode="auto">
              <a:xfrm>
                <a:off x="3246" y="3408"/>
                <a:ext cx="314" cy="327"/>
              </a:xfrm>
              <a:prstGeom prst="rect">
                <a:avLst/>
              </a:prstGeom>
              <a:solidFill>
                <a:srgbClr val="FFFF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FFFF66"/>
                </a:extrusionClr>
              </a:sp3d>
            </p:spPr>
            <p:txBody>
              <a:bodyPr>
                <a:spAutoFit/>
                <a:flatTx/>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kumimoji="1" lang="en-US" altLang="zh-CN" sz="2800" b="1">
                  <a:effectLst/>
                  <a:latin typeface="Courier New" pitchFamily="49" charset="0"/>
                  <a:ea typeface="宋体" pitchFamily="2" charset="-122"/>
                </a:endParaRPr>
              </a:p>
            </p:txBody>
          </p:sp>
          <p:sp>
            <p:nvSpPr>
              <p:cNvPr id="572430" name="Text Box 14"/>
              <p:cNvSpPr txBox="1">
                <a:spLocks noChangeArrowheads="1"/>
              </p:cNvSpPr>
              <p:nvPr/>
            </p:nvSpPr>
            <p:spPr bwMode="auto">
              <a:xfrm>
                <a:off x="3458" y="3452"/>
                <a:ext cx="329" cy="250"/>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spcBef>
                    <a:spcPct val="50000"/>
                  </a:spcBef>
                </a:pPr>
                <a:r>
                  <a:rPr lang="en-US" altLang="zh-CN" sz="2000" b="1">
                    <a:effectLst>
                      <a:outerShdw blurRad="38100" dist="38100" dir="2700000" algn="tl">
                        <a:srgbClr val="C0C0C0"/>
                      </a:outerShdw>
                    </a:effectLst>
                    <a:ea typeface="宋体" pitchFamily="2" charset="-122"/>
                  </a:rPr>
                  <a:t>a</a:t>
                </a:r>
              </a:p>
            </p:txBody>
          </p:sp>
          <p:sp>
            <p:nvSpPr>
              <p:cNvPr id="572431" name="Text Box 15"/>
              <p:cNvSpPr txBox="1">
                <a:spLocks noChangeArrowheads="1"/>
              </p:cNvSpPr>
              <p:nvPr/>
            </p:nvSpPr>
            <p:spPr bwMode="auto">
              <a:xfrm>
                <a:off x="1507" y="3448"/>
                <a:ext cx="420" cy="25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altLang="zh-CN" sz="2000" b="1">
                    <a:effectLst>
                      <a:outerShdw blurRad="38100" dist="38100" dir="2700000" algn="tl">
                        <a:srgbClr val="C0C0C0"/>
                      </a:outerShdw>
                    </a:effectLst>
                    <a:ea typeface="宋体" pitchFamily="2" charset="-122"/>
                  </a:rPr>
                  <a:t>&amp;a</a:t>
                </a:r>
              </a:p>
            </p:txBody>
          </p:sp>
          <p:sp>
            <p:nvSpPr>
              <p:cNvPr id="24600" name="Rectangle 16"/>
              <p:cNvSpPr>
                <a:spLocks noChangeArrowheads="1"/>
              </p:cNvSpPr>
              <p:nvPr/>
            </p:nvSpPr>
            <p:spPr bwMode="auto">
              <a:xfrm>
                <a:off x="1556" y="3829"/>
                <a:ext cx="322" cy="327"/>
              </a:xfrm>
              <a:prstGeom prst="rect">
                <a:avLst/>
              </a:prstGeom>
              <a:solidFill>
                <a:srgbClr val="FFFF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FFFF66"/>
                </a:extrusionClr>
              </a:sp3d>
            </p:spPr>
            <p:txBody>
              <a:bodyPr>
                <a:spAutoFit/>
                <a:flatTx/>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kumimoji="1" lang="en-US" altLang="zh-CN" sz="2800" b="1">
                  <a:effectLst/>
                  <a:latin typeface="Courier New" pitchFamily="49" charset="0"/>
                  <a:ea typeface="宋体" pitchFamily="2" charset="-122"/>
                </a:endParaRPr>
              </a:p>
            </p:txBody>
          </p:sp>
          <p:sp>
            <p:nvSpPr>
              <p:cNvPr id="572433" name="Line 17"/>
              <p:cNvSpPr>
                <a:spLocks noChangeShapeType="1"/>
              </p:cNvSpPr>
              <p:nvPr/>
            </p:nvSpPr>
            <p:spPr bwMode="auto">
              <a:xfrm flipV="1">
                <a:off x="1891" y="3639"/>
                <a:ext cx="1316" cy="408"/>
              </a:xfrm>
              <a:prstGeom prst="line">
                <a:avLst/>
              </a:prstGeom>
              <a:noFill/>
              <a:ln w="57150">
                <a:solidFill>
                  <a:srgbClr val="800000"/>
                </a:solidFill>
                <a:round/>
                <a:headEnd type="none" w="sm" len="sm"/>
                <a:tailEnd type="triangle" w="med" len="lg"/>
              </a:ln>
              <a:effectLst/>
            </p:spPr>
            <p:txBody>
              <a:bodyPr/>
              <a:lstStyle/>
              <a:p>
                <a:pPr>
                  <a:defRPr/>
                </a:pPr>
                <a:endParaRPr lang="zh-CN" altLang="en-US"/>
              </a:p>
            </p:txBody>
          </p:sp>
          <p:sp>
            <p:nvSpPr>
              <p:cNvPr id="572434" name="Rectangle 18"/>
              <p:cNvSpPr>
                <a:spLocks noChangeArrowheads="1"/>
              </p:cNvSpPr>
              <p:nvPr/>
            </p:nvSpPr>
            <p:spPr bwMode="auto">
              <a:xfrm>
                <a:off x="1882" y="3970"/>
                <a:ext cx="1184" cy="231"/>
              </a:xfrm>
              <a:prstGeom prst="rect">
                <a:avLst/>
              </a:prstGeom>
              <a:noFill/>
              <a:ln w="12700">
                <a:noFill/>
                <a:miter lim="800000"/>
                <a:headEnd type="none" w="sm" len="sm"/>
                <a:tailEnd type="none" w="sm" len="sm"/>
              </a:ln>
              <a:effectLst/>
            </p:spPr>
            <p:txBody>
              <a:bodyPr wrap="none">
                <a:spAutoFit/>
              </a:bodyPr>
              <a:lstStyle/>
              <a:p>
                <a:pPr>
                  <a:defRPr/>
                </a:pPr>
                <a:r>
                  <a:rPr lang="en-US" altLang="zh-CN" sz="1800" b="1" i="1">
                    <a:effectLst>
                      <a:outerShdw blurRad="38100" dist="38100" dir="2700000" algn="tl">
                        <a:srgbClr val="C0C0C0"/>
                      </a:outerShdw>
                    </a:effectLst>
                    <a:ea typeface="宋体" pitchFamily="2" charset="-122"/>
                  </a:rPr>
                  <a:t>pointer parameter</a:t>
                </a:r>
                <a:endParaRPr lang="zh-CN" altLang="en-US" sz="1800" b="1" i="1">
                  <a:effectLst>
                    <a:outerShdw blurRad="38100" dist="38100" dir="2700000" algn="tl">
                      <a:srgbClr val="C0C0C0"/>
                    </a:outerShdw>
                  </a:effectLst>
                  <a:ea typeface="宋体" pitchFamily="2" charset="-122"/>
                </a:endParaRPr>
              </a:p>
            </p:txBody>
          </p:sp>
        </p:grpSp>
        <p:sp>
          <p:nvSpPr>
            <p:cNvPr id="572436" name="AutoShape 20"/>
            <p:cNvSpPr>
              <a:spLocks noChangeArrowheads="1"/>
            </p:cNvSpPr>
            <p:nvPr/>
          </p:nvSpPr>
          <p:spPr bwMode="auto">
            <a:xfrm>
              <a:off x="1401" y="3575"/>
              <a:ext cx="136" cy="453"/>
            </a:xfrm>
            <a:prstGeom prst="curvedRightArrow">
              <a:avLst>
                <a:gd name="adj1" fmla="val 66618"/>
                <a:gd name="adj2" fmla="val 133235"/>
                <a:gd name="adj3" fmla="val 33333"/>
              </a:avLst>
            </a:prstGeom>
            <a:solidFill>
              <a:srgbClr val="800000"/>
            </a:solidFill>
            <a:ln w="127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grpSp>
        <p:nvGrpSpPr>
          <p:cNvPr id="4" name="Group 35"/>
          <p:cNvGrpSpPr>
            <a:grpSpLocks/>
          </p:cNvGrpSpPr>
          <p:nvPr/>
        </p:nvGrpSpPr>
        <p:grpSpPr bwMode="auto">
          <a:xfrm>
            <a:off x="1044575" y="5214938"/>
            <a:ext cx="2447925" cy="1492250"/>
            <a:chOff x="249" y="3285"/>
            <a:chExt cx="1542" cy="940"/>
          </a:xfrm>
        </p:grpSpPr>
        <p:sp>
          <p:nvSpPr>
            <p:cNvPr id="572440" name="Rectangle 24"/>
            <p:cNvSpPr>
              <a:spLocks noChangeArrowheads="1"/>
            </p:cNvSpPr>
            <p:nvPr/>
          </p:nvSpPr>
          <p:spPr bwMode="auto">
            <a:xfrm>
              <a:off x="249" y="3285"/>
              <a:ext cx="1542" cy="940"/>
            </a:xfrm>
            <a:prstGeom prst="rect">
              <a:avLst/>
            </a:prstGeom>
            <a:noFill/>
            <a:ln w="12700">
              <a:solidFill>
                <a:schemeClr val="bg2"/>
              </a:solidFill>
              <a:miter lim="800000"/>
              <a:headEnd/>
              <a:tailEnd/>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4585" name="Rectangle 26"/>
            <p:cNvSpPr>
              <a:spLocks noChangeArrowheads="1"/>
            </p:cNvSpPr>
            <p:nvPr/>
          </p:nvSpPr>
          <p:spPr bwMode="auto">
            <a:xfrm>
              <a:off x="698" y="3397"/>
              <a:ext cx="322" cy="327"/>
            </a:xfrm>
            <a:prstGeom prst="rect">
              <a:avLst/>
            </a:prstGeom>
            <a:solidFill>
              <a:srgbClr val="FFFF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FFFF66"/>
              </a:extrusionClr>
            </a:sp3d>
          </p:spPr>
          <p:txBody>
            <a:bodyPr>
              <a:spAutoFit/>
              <a:flatTx/>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kumimoji="1" lang="en-US" altLang="zh-CN" sz="2800" b="1">
                <a:effectLst/>
                <a:latin typeface="Courier New" pitchFamily="49" charset="0"/>
                <a:ea typeface="宋体" pitchFamily="2" charset="-122"/>
              </a:endParaRPr>
            </a:p>
          </p:txBody>
        </p:sp>
        <p:sp>
          <p:nvSpPr>
            <p:cNvPr id="572444" name="Text Box 28"/>
            <p:cNvSpPr txBox="1">
              <a:spLocks noChangeArrowheads="1"/>
            </p:cNvSpPr>
            <p:nvPr/>
          </p:nvSpPr>
          <p:spPr bwMode="auto">
            <a:xfrm>
              <a:off x="295" y="3446"/>
              <a:ext cx="329" cy="250"/>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n-US" altLang="zh-CN" sz="2000" b="1">
                  <a:effectLst>
                    <a:outerShdw blurRad="38100" dist="38100" dir="2700000" algn="tl">
                      <a:srgbClr val="C0C0C0"/>
                    </a:outerShdw>
                  </a:effectLst>
                  <a:ea typeface="宋体" pitchFamily="2" charset="-122"/>
                </a:rPr>
                <a:t>a</a:t>
              </a:r>
            </a:p>
          </p:txBody>
        </p:sp>
        <p:sp>
          <p:nvSpPr>
            <p:cNvPr id="572445" name="Text Box 29"/>
            <p:cNvSpPr txBox="1">
              <a:spLocks noChangeArrowheads="1"/>
            </p:cNvSpPr>
            <p:nvPr/>
          </p:nvSpPr>
          <p:spPr bwMode="auto">
            <a:xfrm>
              <a:off x="249" y="3860"/>
              <a:ext cx="420" cy="250"/>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n-US" altLang="zh-CN" sz="2000" b="1">
                  <a:effectLst>
                    <a:outerShdw blurRad="38100" dist="38100" dir="2700000" algn="tl">
                      <a:srgbClr val="C0C0C0"/>
                    </a:outerShdw>
                  </a:effectLst>
                  <a:ea typeface="宋体" pitchFamily="2" charset="-122"/>
                </a:rPr>
                <a:t>x</a:t>
              </a:r>
            </a:p>
          </p:txBody>
        </p:sp>
        <p:sp>
          <p:nvSpPr>
            <p:cNvPr id="24588" name="Rectangle 30"/>
            <p:cNvSpPr>
              <a:spLocks noChangeArrowheads="1"/>
            </p:cNvSpPr>
            <p:nvPr/>
          </p:nvSpPr>
          <p:spPr bwMode="auto">
            <a:xfrm>
              <a:off x="694" y="3823"/>
              <a:ext cx="322" cy="327"/>
            </a:xfrm>
            <a:prstGeom prst="rect">
              <a:avLst/>
            </a:prstGeom>
            <a:solidFill>
              <a:srgbClr val="FFFF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FFFF66"/>
              </a:extrusionClr>
            </a:sp3d>
          </p:spPr>
          <p:txBody>
            <a:bodyPr>
              <a:spAutoFit/>
              <a:flatTx/>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kumimoji="1" lang="en-US" altLang="zh-CN" sz="2800" b="1">
                <a:effectLst/>
                <a:latin typeface="Courier New" pitchFamily="49" charset="0"/>
                <a:ea typeface="宋体" pitchFamily="2" charset="-122"/>
              </a:endParaRPr>
            </a:p>
          </p:txBody>
        </p:sp>
        <p:sp>
          <p:nvSpPr>
            <p:cNvPr id="572448" name="Rectangle 32"/>
            <p:cNvSpPr>
              <a:spLocks noChangeArrowheads="1"/>
            </p:cNvSpPr>
            <p:nvPr/>
          </p:nvSpPr>
          <p:spPr bwMode="auto">
            <a:xfrm>
              <a:off x="1020" y="3884"/>
              <a:ext cx="724" cy="231"/>
            </a:xfrm>
            <a:prstGeom prst="rect">
              <a:avLst/>
            </a:prstGeom>
            <a:noFill/>
            <a:ln w="12700">
              <a:noFill/>
              <a:miter lim="800000"/>
              <a:headEnd type="none" w="sm" len="sm"/>
              <a:tailEnd type="none" w="sm" len="sm"/>
            </a:ln>
            <a:effectLst/>
          </p:spPr>
          <p:txBody>
            <a:bodyPr wrap="none">
              <a:spAutoFit/>
            </a:bodyPr>
            <a:lstStyle/>
            <a:p>
              <a:pPr>
                <a:defRPr/>
              </a:pPr>
              <a:r>
                <a:rPr lang="en-US" altLang="zh-CN" sz="1800" b="1" i="1">
                  <a:effectLst>
                    <a:outerShdw blurRad="38100" dist="38100" dir="2700000" algn="tl">
                      <a:srgbClr val="C0C0C0"/>
                    </a:outerShdw>
                  </a:effectLst>
                  <a:ea typeface="宋体" pitchFamily="2" charset="-122"/>
                </a:rPr>
                <a:t>parameter</a:t>
              </a:r>
              <a:endParaRPr lang="zh-CN" altLang="en-US" sz="1800" b="1" i="1">
                <a:effectLst>
                  <a:outerShdw blurRad="38100" dist="38100" dir="2700000" algn="tl">
                    <a:srgbClr val="C0C0C0"/>
                  </a:outerShdw>
                </a:effectLst>
                <a:ea typeface="宋体" pitchFamily="2" charset="-122"/>
              </a:endParaRPr>
            </a:p>
          </p:txBody>
        </p:sp>
        <p:sp>
          <p:nvSpPr>
            <p:cNvPr id="572449" name="AutoShape 33"/>
            <p:cNvSpPr>
              <a:spLocks noChangeArrowheads="1"/>
            </p:cNvSpPr>
            <p:nvPr/>
          </p:nvSpPr>
          <p:spPr bwMode="auto">
            <a:xfrm>
              <a:off x="539" y="3569"/>
              <a:ext cx="136" cy="453"/>
            </a:xfrm>
            <a:prstGeom prst="curvedRightArrow">
              <a:avLst>
                <a:gd name="adj1" fmla="val 66618"/>
                <a:gd name="adj2" fmla="val 133235"/>
                <a:gd name="adj3" fmla="val 33333"/>
              </a:avLst>
            </a:prstGeom>
            <a:solidFill>
              <a:srgbClr val="800000"/>
            </a:solidFill>
            <a:ln w="127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572450" name="Rectangle 34"/>
            <p:cNvSpPr>
              <a:spLocks noChangeArrowheads="1"/>
            </p:cNvSpPr>
            <p:nvPr/>
          </p:nvSpPr>
          <p:spPr bwMode="auto">
            <a:xfrm>
              <a:off x="1020" y="3439"/>
              <a:ext cx="692" cy="231"/>
            </a:xfrm>
            <a:prstGeom prst="rect">
              <a:avLst/>
            </a:prstGeom>
            <a:noFill/>
            <a:ln w="12700">
              <a:noFill/>
              <a:miter lim="800000"/>
              <a:headEnd type="none" w="sm" len="sm"/>
              <a:tailEnd type="none" w="sm" len="sm"/>
            </a:ln>
            <a:effectLst/>
          </p:spPr>
          <p:txBody>
            <a:bodyPr wrap="none">
              <a:spAutoFit/>
            </a:bodyPr>
            <a:lstStyle/>
            <a:p>
              <a:pPr>
                <a:defRPr/>
              </a:pPr>
              <a:r>
                <a:rPr lang="en-US" altLang="zh-CN" sz="1800" b="1" i="1">
                  <a:effectLst>
                    <a:outerShdw blurRad="38100" dist="38100" dir="2700000" algn="tl">
                      <a:srgbClr val="C0C0C0"/>
                    </a:outerShdw>
                  </a:effectLst>
                  <a:ea typeface="宋体" pitchFamily="2" charset="-122"/>
                </a:rPr>
                <a:t>argument</a:t>
              </a:r>
              <a:endParaRPr lang="zh-CN" altLang="en-US" sz="1800" b="1" i="1">
                <a:effectLst>
                  <a:outerShdw blurRad="38100" dist="38100" dir="2700000" algn="tl">
                    <a:srgbClr val="C0C0C0"/>
                  </a:outerShdw>
                </a:effectLst>
                <a:ea typeface="宋体" pitchFamily="2" charset="-122"/>
              </a:endParaRPr>
            </a:p>
          </p:txBody>
        </p:sp>
      </p:grpSp>
      <p:sp>
        <p:nvSpPr>
          <p:cNvPr id="27" name="标题 26"/>
          <p:cNvSpPr>
            <a:spLocks noGrp="1"/>
          </p:cNvSpPr>
          <p:nvPr>
            <p:ph type="title"/>
          </p:nvPr>
        </p:nvSpPr>
        <p:spPr>
          <a:xfrm>
            <a:off x="681038" y="660400"/>
            <a:ext cx="7797800" cy="839788"/>
          </a:xfrm>
        </p:spPr>
        <p:txBody>
          <a:bodyPr/>
          <a:lstStyle/>
          <a:p>
            <a:pPr>
              <a:defRPr/>
            </a:pPr>
            <a:r>
              <a:rPr lang="zh-CN" altLang="en-US" sz="4000" dirty="0"/>
              <a:t>按值调用与按地址调用</a:t>
            </a:r>
          </a:p>
        </p:txBody>
      </p:sp>
    </p:spTree>
    <p:extLst>
      <p:ext uri="{BB962C8B-B14F-4D97-AF65-F5344CB8AC3E}">
        <p14:creationId xmlns:p14="http://schemas.microsoft.com/office/powerpoint/2010/main" val="1524525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572419">
                                            <p:txEl>
                                              <p:pRg st="0" end="0"/>
                                            </p:txEl>
                                          </p:spTgt>
                                        </p:tgtEl>
                                        <p:attrNameLst>
                                          <p:attrName>style.visibility</p:attrName>
                                        </p:attrNameLst>
                                      </p:cBhvr>
                                      <p:to>
                                        <p:strVal val="visible"/>
                                      </p:to>
                                    </p:set>
                                    <p:anim calcmode="lin" valueType="num">
                                      <p:cBhvr>
                                        <p:cTn id="7" dur="500" fill="hold"/>
                                        <p:tgtEl>
                                          <p:spTgt spid="57241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7241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7241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572419">
                                            <p:txEl>
                                              <p:pRg st="2" end="2"/>
                                            </p:txEl>
                                          </p:spTgt>
                                        </p:tgtEl>
                                        <p:attrNameLst>
                                          <p:attrName>style.visibility</p:attrName>
                                        </p:attrNameLst>
                                      </p:cBhvr>
                                      <p:to>
                                        <p:strVal val="visible"/>
                                      </p:to>
                                    </p:set>
                                    <p:anim calcmode="lin" valueType="num">
                                      <p:cBhvr>
                                        <p:cTn id="14" dur="500" fill="hold"/>
                                        <p:tgtEl>
                                          <p:spTgt spid="572419">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572419">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57241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572419">
                                            <p:txEl>
                                              <p:pRg st="1" end="1"/>
                                            </p:txEl>
                                          </p:spTgt>
                                        </p:tgtEl>
                                        <p:attrNameLst>
                                          <p:attrName>style.visibility</p:attrName>
                                        </p:attrNameLst>
                                      </p:cBhvr>
                                      <p:to>
                                        <p:strVal val="visible"/>
                                      </p:to>
                                    </p:set>
                                    <p:anim calcmode="lin" valueType="num">
                                      <p:cBhvr>
                                        <p:cTn id="28" dur="500" fill="hold"/>
                                        <p:tgtEl>
                                          <p:spTgt spid="572419">
                                            <p:txEl>
                                              <p:pRg st="1" end="1"/>
                                            </p:txEl>
                                          </p:spTgt>
                                        </p:tgtEl>
                                        <p:attrNameLst>
                                          <p:attrName>ppt_w</p:attrName>
                                        </p:attrNameLst>
                                      </p:cBhvr>
                                      <p:tavLst>
                                        <p:tav tm="0">
                                          <p:val>
                                            <p:fltVal val="0"/>
                                          </p:val>
                                        </p:tav>
                                        <p:tav tm="100000">
                                          <p:val>
                                            <p:strVal val="#ppt_w"/>
                                          </p:val>
                                        </p:tav>
                                      </p:tavLst>
                                    </p:anim>
                                    <p:anim calcmode="lin" valueType="num">
                                      <p:cBhvr>
                                        <p:cTn id="29" dur="500" fill="hold"/>
                                        <p:tgtEl>
                                          <p:spTgt spid="572419">
                                            <p:txEl>
                                              <p:pRg st="1" end="1"/>
                                            </p:txEl>
                                          </p:spTgt>
                                        </p:tgtEl>
                                        <p:attrNameLst>
                                          <p:attrName>ppt_h</p:attrName>
                                        </p:attrNameLst>
                                      </p:cBhvr>
                                      <p:tavLst>
                                        <p:tav tm="0">
                                          <p:val>
                                            <p:fltVal val="0"/>
                                          </p:val>
                                        </p:tav>
                                        <p:tav tm="100000">
                                          <p:val>
                                            <p:strVal val="#ppt_h"/>
                                          </p:val>
                                        </p:tav>
                                      </p:tavLst>
                                    </p:anim>
                                    <p:animEffect transition="in" filter="fade">
                                      <p:cBhvr>
                                        <p:cTn id="30" dur="500"/>
                                        <p:tgtEl>
                                          <p:spTgt spid="572419">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572421"/>
                                        </p:tgtEl>
                                        <p:attrNameLst>
                                          <p:attrName>style.visibility</p:attrName>
                                        </p:attrNameLst>
                                      </p:cBhvr>
                                      <p:to>
                                        <p:strVal val="visible"/>
                                      </p:to>
                                    </p:set>
                                    <p:anim calcmode="lin" valueType="num">
                                      <p:cBhvr>
                                        <p:cTn id="35" dur="500" fill="hold"/>
                                        <p:tgtEl>
                                          <p:spTgt spid="572421"/>
                                        </p:tgtEl>
                                        <p:attrNameLst>
                                          <p:attrName>ppt_w</p:attrName>
                                        </p:attrNameLst>
                                      </p:cBhvr>
                                      <p:tavLst>
                                        <p:tav tm="0">
                                          <p:val>
                                            <p:fltVal val="0"/>
                                          </p:val>
                                        </p:tav>
                                        <p:tav tm="100000">
                                          <p:val>
                                            <p:strVal val="#ppt_w"/>
                                          </p:val>
                                        </p:tav>
                                      </p:tavLst>
                                    </p:anim>
                                    <p:anim calcmode="lin" valueType="num">
                                      <p:cBhvr>
                                        <p:cTn id="36" dur="500" fill="hold"/>
                                        <p:tgtEl>
                                          <p:spTgt spid="572421"/>
                                        </p:tgtEl>
                                        <p:attrNameLst>
                                          <p:attrName>ppt_h</p:attrName>
                                        </p:attrNameLst>
                                      </p:cBhvr>
                                      <p:tavLst>
                                        <p:tav tm="0">
                                          <p:val>
                                            <p:fltVal val="0"/>
                                          </p:val>
                                        </p:tav>
                                        <p:tav tm="100000">
                                          <p:val>
                                            <p:strVal val="#ppt_h"/>
                                          </p:val>
                                        </p:tav>
                                      </p:tavLst>
                                    </p:anim>
                                    <p:animEffect transition="in" filter="fade">
                                      <p:cBhvr>
                                        <p:cTn id="37" dur="500"/>
                                        <p:tgtEl>
                                          <p:spTgt spid="5724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572419">
                                            <p:txEl>
                                              <p:pRg st="3" end="3"/>
                                            </p:txEl>
                                          </p:spTgt>
                                        </p:tgtEl>
                                        <p:attrNameLst>
                                          <p:attrName>style.visibility</p:attrName>
                                        </p:attrNameLst>
                                      </p:cBhvr>
                                      <p:to>
                                        <p:strVal val="visible"/>
                                      </p:to>
                                    </p:set>
                                    <p:anim calcmode="lin" valueType="num">
                                      <p:cBhvr>
                                        <p:cTn id="42" dur="500" fill="hold"/>
                                        <p:tgtEl>
                                          <p:spTgt spid="572419">
                                            <p:txEl>
                                              <p:pRg st="3" end="3"/>
                                            </p:txEl>
                                          </p:spTgt>
                                        </p:tgtEl>
                                        <p:attrNameLst>
                                          <p:attrName>ppt_w</p:attrName>
                                        </p:attrNameLst>
                                      </p:cBhvr>
                                      <p:tavLst>
                                        <p:tav tm="0">
                                          <p:val>
                                            <p:fltVal val="0"/>
                                          </p:val>
                                        </p:tav>
                                        <p:tav tm="100000">
                                          <p:val>
                                            <p:strVal val="#ppt_w"/>
                                          </p:val>
                                        </p:tav>
                                      </p:tavLst>
                                    </p:anim>
                                    <p:anim calcmode="lin" valueType="num">
                                      <p:cBhvr>
                                        <p:cTn id="43" dur="500" fill="hold"/>
                                        <p:tgtEl>
                                          <p:spTgt spid="572419">
                                            <p:txEl>
                                              <p:pRg st="3" end="3"/>
                                            </p:txEl>
                                          </p:spTgt>
                                        </p:tgtEl>
                                        <p:attrNameLst>
                                          <p:attrName>ppt_h</p:attrName>
                                        </p:attrNameLst>
                                      </p:cBhvr>
                                      <p:tavLst>
                                        <p:tav tm="0">
                                          <p:val>
                                            <p:fltVal val="0"/>
                                          </p:val>
                                        </p:tav>
                                        <p:tav tm="100000">
                                          <p:val>
                                            <p:strVal val="#ppt_h"/>
                                          </p:val>
                                        </p:tav>
                                      </p:tavLst>
                                    </p:anim>
                                    <p:animEffect transition="in" filter="fade">
                                      <p:cBhvr>
                                        <p:cTn id="44" dur="500"/>
                                        <p:tgtEl>
                                          <p:spTgt spid="572419">
                                            <p:txEl>
                                              <p:pRg st="3" end="3"/>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572419">
                                            <p:txEl>
                                              <p:pRg st="4" end="4"/>
                                            </p:txEl>
                                          </p:spTgt>
                                        </p:tgtEl>
                                        <p:attrNameLst>
                                          <p:attrName>style.visibility</p:attrName>
                                        </p:attrNameLst>
                                      </p:cBhvr>
                                      <p:to>
                                        <p:strVal val="visible"/>
                                      </p:to>
                                    </p:set>
                                    <p:anim calcmode="lin" valueType="num">
                                      <p:cBhvr>
                                        <p:cTn id="49" dur="500" fill="hold"/>
                                        <p:tgtEl>
                                          <p:spTgt spid="572419">
                                            <p:txEl>
                                              <p:pRg st="4" end="4"/>
                                            </p:txEl>
                                          </p:spTgt>
                                        </p:tgtEl>
                                        <p:attrNameLst>
                                          <p:attrName>ppt_w</p:attrName>
                                        </p:attrNameLst>
                                      </p:cBhvr>
                                      <p:tavLst>
                                        <p:tav tm="0">
                                          <p:val>
                                            <p:fltVal val="0"/>
                                          </p:val>
                                        </p:tav>
                                        <p:tav tm="100000">
                                          <p:val>
                                            <p:strVal val="#ppt_w"/>
                                          </p:val>
                                        </p:tav>
                                      </p:tavLst>
                                    </p:anim>
                                    <p:anim calcmode="lin" valueType="num">
                                      <p:cBhvr>
                                        <p:cTn id="50" dur="500" fill="hold"/>
                                        <p:tgtEl>
                                          <p:spTgt spid="572419">
                                            <p:txEl>
                                              <p:pRg st="4" end="4"/>
                                            </p:txEl>
                                          </p:spTgt>
                                        </p:tgtEl>
                                        <p:attrNameLst>
                                          <p:attrName>ppt_h</p:attrName>
                                        </p:attrNameLst>
                                      </p:cBhvr>
                                      <p:tavLst>
                                        <p:tav tm="0">
                                          <p:val>
                                            <p:fltVal val="0"/>
                                          </p:val>
                                        </p:tav>
                                        <p:tav tm="100000">
                                          <p:val>
                                            <p:strVal val="#ppt_h"/>
                                          </p:val>
                                        </p:tav>
                                      </p:tavLst>
                                    </p:anim>
                                    <p:animEffect transition="in" filter="fade">
                                      <p:cBhvr>
                                        <p:cTn id="51" dur="500"/>
                                        <p:tgtEl>
                                          <p:spTgt spid="572419">
                                            <p:txEl>
                                              <p:pRg st="4" end="4"/>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572419">
                                            <p:txEl>
                                              <p:pRg st="5" end="5"/>
                                            </p:txEl>
                                          </p:spTgt>
                                        </p:tgtEl>
                                        <p:attrNameLst>
                                          <p:attrName>style.visibility</p:attrName>
                                        </p:attrNameLst>
                                      </p:cBhvr>
                                      <p:to>
                                        <p:strVal val="visible"/>
                                      </p:to>
                                    </p:set>
                                    <p:anim calcmode="lin" valueType="num">
                                      <p:cBhvr>
                                        <p:cTn id="56" dur="500" fill="hold"/>
                                        <p:tgtEl>
                                          <p:spTgt spid="572419">
                                            <p:txEl>
                                              <p:pRg st="5" end="5"/>
                                            </p:txEl>
                                          </p:spTgt>
                                        </p:tgtEl>
                                        <p:attrNameLst>
                                          <p:attrName>ppt_w</p:attrName>
                                        </p:attrNameLst>
                                      </p:cBhvr>
                                      <p:tavLst>
                                        <p:tav tm="0">
                                          <p:val>
                                            <p:fltVal val="0"/>
                                          </p:val>
                                        </p:tav>
                                        <p:tav tm="100000">
                                          <p:val>
                                            <p:strVal val="#ppt_w"/>
                                          </p:val>
                                        </p:tav>
                                      </p:tavLst>
                                    </p:anim>
                                    <p:anim calcmode="lin" valueType="num">
                                      <p:cBhvr>
                                        <p:cTn id="57" dur="500" fill="hold"/>
                                        <p:tgtEl>
                                          <p:spTgt spid="572419">
                                            <p:txEl>
                                              <p:pRg st="5" end="5"/>
                                            </p:txEl>
                                          </p:spTgt>
                                        </p:tgtEl>
                                        <p:attrNameLst>
                                          <p:attrName>ppt_h</p:attrName>
                                        </p:attrNameLst>
                                      </p:cBhvr>
                                      <p:tavLst>
                                        <p:tav tm="0">
                                          <p:val>
                                            <p:fltVal val="0"/>
                                          </p:val>
                                        </p:tav>
                                        <p:tav tm="100000">
                                          <p:val>
                                            <p:strVal val="#ppt_h"/>
                                          </p:val>
                                        </p:tav>
                                      </p:tavLst>
                                    </p:anim>
                                    <p:animEffect transition="in" filter="fade">
                                      <p:cBhvr>
                                        <p:cTn id="58" dur="500"/>
                                        <p:tgtEl>
                                          <p:spTgt spid="572419">
                                            <p:txEl>
                                              <p:pRg st="5" end="5"/>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grpId="0" nodeType="clickEffect">
                                  <p:stCondLst>
                                    <p:cond delay="0"/>
                                  </p:stCondLst>
                                  <p:childTnLst>
                                    <p:set>
                                      <p:cBhvr>
                                        <p:cTn id="62" dur="1" fill="hold">
                                          <p:stCondLst>
                                            <p:cond delay="0"/>
                                          </p:stCondLst>
                                        </p:cTn>
                                        <p:tgtEl>
                                          <p:spTgt spid="572420"/>
                                        </p:tgtEl>
                                        <p:attrNameLst>
                                          <p:attrName>style.visibility</p:attrName>
                                        </p:attrNameLst>
                                      </p:cBhvr>
                                      <p:to>
                                        <p:strVal val="visible"/>
                                      </p:to>
                                    </p:set>
                                    <p:anim calcmode="lin" valueType="num">
                                      <p:cBhvr>
                                        <p:cTn id="63" dur="500" fill="hold"/>
                                        <p:tgtEl>
                                          <p:spTgt spid="572420"/>
                                        </p:tgtEl>
                                        <p:attrNameLst>
                                          <p:attrName>ppt_w</p:attrName>
                                        </p:attrNameLst>
                                      </p:cBhvr>
                                      <p:tavLst>
                                        <p:tav tm="0">
                                          <p:val>
                                            <p:fltVal val="0"/>
                                          </p:val>
                                        </p:tav>
                                        <p:tav tm="100000">
                                          <p:val>
                                            <p:strVal val="#ppt_w"/>
                                          </p:val>
                                        </p:tav>
                                      </p:tavLst>
                                    </p:anim>
                                    <p:anim calcmode="lin" valueType="num">
                                      <p:cBhvr>
                                        <p:cTn id="64" dur="500" fill="hold"/>
                                        <p:tgtEl>
                                          <p:spTgt spid="572420"/>
                                        </p:tgtEl>
                                        <p:attrNameLst>
                                          <p:attrName>ppt_h</p:attrName>
                                        </p:attrNameLst>
                                      </p:cBhvr>
                                      <p:tavLst>
                                        <p:tav tm="0">
                                          <p:val>
                                            <p:fltVal val="0"/>
                                          </p:val>
                                        </p:tav>
                                        <p:tav tm="100000">
                                          <p:val>
                                            <p:strVal val="#ppt_h"/>
                                          </p:val>
                                        </p:tav>
                                      </p:tavLst>
                                    </p:anim>
                                    <p:animEffect transition="in" filter="fade">
                                      <p:cBhvr>
                                        <p:cTn id="65" dur="500"/>
                                        <p:tgtEl>
                                          <p:spTgt spid="57242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2"/>
                                        </p:tgtEl>
                                        <p:attrNameLst>
                                          <p:attrName>style.visibility</p:attrName>
                                        </p:attrNameLst>
                                      </p:cBhvr>
                                      <p:to>
                                        <p:strVal val="visible"/>
                                      </p:to>
                                    </p:set>
                                    <p:anim calcmode="lin" valueType="num">
                                      <p:cBhvr>
                                        <p:cTn id="70" dur="500" fill="hold"/>
                                        <p:tgtEl>
                                          <p:spTgt spid="2"/>
                                        </p:tgtEl>
                                        <p:attrNameLst>
                                          <p:attrName>ppt_w</p:attrName>
                                        </p:attrNameLst>
                                      </p:cBhvr>
                                      <p:tavLst>
                                        <p:tav tm="0">
                                          <p:val>
                                            <p:fltVal val="0"/>
                                          </p:val>
                                        </p:tav>
                                        <p:tav tm="100000">
                                          <p:val>
                                            <p:strVal val="#ppt_w"/>
                                          </p:val>
                                        </p:tav>
                                      </p:tavLst>
                                    </p:anim>
                                    <p:anim calcmode="lin" valueType="num">
                                      <p:cBhvr>
                                        <p:cTn id="71" dur="500" fill="hold"/>
                                        <p:tgtEl>
                                          <p:spTgt spid="2"/>
                                        </p:tgtEl>
                                        <p:attrNameLst>
                                          <p:attrName>ppt_h</p:attrName>
                                        </p:attrNameLst>
                                      </p:cBhvr>
                                      <p:tavLst>
                                        <p:tav tm="0">
                                          <p:val>
                                            <p:fltVal val="0"/>
                                          </p:val>
                                        </p:tav>
                                        <p:tav tm="100000">
                                          <p:val>
                                            <p:strVal val="#ppt_h"/>
                                          </p:val>
                                        </p:tav>
                                      </p:tavLst>
                                    </p:anim>
                                    <p:animEffect transition="in" filter="fade">
                                      <p:cBhvr>
                                        <p:cTn id="7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20" grpId="0" animBg="1"/>
      <p:bldP spid="5724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16" name="Picture 1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8663" y="2075090"/>
            <a:ext cx="3771900" cy="4041321"/>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623618" name="Rectangle 2"/>
          <p:cNvSpPr>
            <a:spLocks noGrp="1" noChangeArrowheads="1"/>
          </p:cNvSpPr>
          <p:nvPr>
            <p:ph type="title"/>
          </p:nvPr>
        </p:nvSpPr>
        <p:spPr>
          <a:xfrm>
            <a:off x="285750" y="714375"/>
            <a:ext cx="8462963" cy="839788"/>
          </a:xfrm>
        </p:spPr>
        <p:txBody>
          <a:bodyPr/>
          <a:lstStyle/>
          <a:p>
            <a:pPr>
              <a:defRPr/>
            </a:pPr>
            <a:r>
              <a:rPr lang="zh-CN" altLang="en-US" sz="4000" dirty="0"/>
              <a:t>按值调用与按地址调用</a:t>
            </a:r>
            <a:endParaRPr lang="en-US" altLang="zh-CN" dirty="0"/>
          </a:p>
        </p:txBody>
      </p:sp>
      <p:sp>
        <p:nvSpPr>
          <p:cNvPr id="32" name="内容占位符 31"/>
          <p:cNvSpPr>
            <a:spLocks noGrp="1"/>
          </p:cNvSpPr>
          <p:nvPr>
            <p:ph idx="1"/>
          </p:nvPr>
        </p:nvSpPr>
        <p:spPr>
          <a:xfrm>
            <a:off x="428625" y="1500188"/>
            <a:ext cx="4357688" cy="857250"/>
          </a:xfrm>
        </p:spPr>
        <p:txBody>
          <a:bodyPr/>
          <a:lstStyle/>
          <a:p>
            <a:pPr eaLnBrk="1">
              <a:buFont typeface="Monotype Sorts" charset="2"/>
              <a:buNone/>
              <a:defRPr/>
            </a:pPr>
            <a:r>
              <a:rPr lang="zh-CN" altLang="en-US" sz="2400" dirty="0">
                <a:latin typeface="华文仿宋" pitchFamily="2" charset="-122"/>
                <a:ea typeface="华文仿宋" pitchFamily="2" charset="-122"/>
              </a:rPr>
              <a:t>演示按值调用</a:t>
            </a:r>
          </a:p>
        </p:txBody>
      </p:sp>
      <p:grpSp>
        <p:nvGrpSpPr>
          <p:cNvPr id="2" name="Group 3"/>
          <p:cNvGrpSpPr>
            <a:grpSpLocks/>
          </p:cNvGrpSpPr>
          <p:nvPr/>
        </p:nvGrpSpPr>
        <p:grpSpPr bwMode="auto">
          <a:xfrm>
            <a:off x="2286000" y="2714625"/>
            <a:ext cx="2071688" cy="928688"/>
            <a:chOff x="3146" y="1881"/>
            <a:chExt cx="1305" cy="585"/>
          </a:xfrm>
        </p:grpSpPr>
        <p:sp>
          <p:nvSpPr>
            <p:cNvPr id="9" name="Rectangle 4"/>
            <p:cNvSpPr>
              <a:spLocks noChangeArrowheads="1"/>
            </p:cNvSpPr>
            <p:nvPr/>
          </p:nvSpPr>
          <p:spPr bwMode="auto">
            <a:xfrm>
              <a:off x="3371" y="1881"/>
              <a:ext cx="1080" cy="296"/>
            </a:xfrm>
            <a:prstGeom prst="rect">
              <a:avLst/>
            </a:prstGeom>
            <a:solidFill>
              <a:schemeClr val="accent1">
                <a:lumMod val="40000"/>
                <a:lumOff val="60000"/>
              </a:schemeClr>
            </a:solidFill>
            <a:ln w="28575">
              <a:solidFill>
                <a:srgbClr val="800000"/>
              </a:solidFill>
              <a:miter lim="800000"/>
              <a:headEnd/>
              <a:tailEnd/>
            </a:ln>
            <a:effectLst/>
          </p:spPr>
          <p:txBody>
            <a:bodyPr wrap="none" anchor="ctr"/>
            <a:lstStyle/>
            <a:p>
              <a:pPr algn="ctr">
                <a:defRPr/>
              </a:pPr>
              <a:r>
                <a:rPr lang="zh-CN" altLang="en-US" b="1" dirty="0">
                  <a:solidFill>
                    <a:srgbClr val="000066"/>
                  </a:solidFill>
                  <a:effectLst/>
                  <a:latin typeface="Courier New" pitchFamily="49" charset="0"/>
                  <a:ea typeface="楷体_GB2312" pitchFamily="49" charset="-122"/>
                  <a:cs typeface="Courier New" pitchFamily="49" charset="0"/>
                </a:rPr>
                <a:t>传变量的值</a:t>
              </a:r>
            </a:p>
          </p:txBody>
        </p:sp>
        <p:sp>
          <p:nvSpPr>
            <p:cNvPr id="10" name="Freeform 5"/>
            <p:cNvSpPr>
              <a:spLocks/>
            </p:cNvSpPr>
            <p:nvPr/>
          </p:nvSpPr>
          <p:spPr bwMode="auto">
            <a:xfrm>
              <a:off x="3146" y="2151"/>
              <a:ext cx="225" cy="315"/>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11" name="Rectangle 59"/>
          <p:cNvSpPr>
            <a:spLocks noChangeArrowheads="1"/>
          </p:cNvSpPr>
          <p:nvPr/>
        </p:nvSpPr>
        <p:spPr bwMode="auto">
          <a:xfrm>
            <a:off x="1571625" y="3643313"/>
            <a:ext cx="1143000" cy="357187"/>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pic>
        <p:nvPicPr>
          <p:cNvPr id="783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063" y="2041525"/>
            <a:ext cx="1071562"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783366" name="Picture 6"/>
          <p:cNvPicPr>
            <a:picLocks noChangeAspect="1" noChangeArrowheads="1"/>
          </p:cNvPicPr>
          <p:nvPr/>
        </p:nvPicPr>
        <p:blipFill>
          <a:blip r:embed="rId4"/>
          <a:srcRect/>
          <a:stretch>
            <a:fillRect/>
          </a:stretch>
        </p:blipFill>
        <p:spPr bwMode="auto">
          <a:xfrm>
            <a:off x="5160963" y="3071813"/>
            <a:ext cx="3197225" cy="2428875"/>
          </a:xfrm>
          <a:prstGeom prst="rect">
            <a:avLst/>
          </a:prstGeom>
          <a:noFill/>
          <a:ln w="12700" cap="flat" cmpd="sng">
            <a:solidFill>
              <a:srgbClr val="C00000"/>
            </a:solidFill>
            <a:prstDash val="solid"/>
            <a:miter lim="800000"/>
            <a:headEnd type="none" w="sm" len="sm"/>
            <a:tailEnd type="none" w="sm" len="sm"/>
          </a:ln>
          <a:effectLst>
            <a:outerShdw blurRad="50800" dist="38100" dir="2700000" algn="tl" rotWithShape="0">
              <a:prstClr val="black">
                <a:alpha val="40000"/>
              </a:prstClr>
            </a:outerShdw>
          </a:effectLst>
        </p:spPr>
      </p:pic>
      <p:sp>
        <p:nvSpPr>
          <p:cNvPr id="21" name="Rectangle 59"/>
          <p:cNvSpPr>
            <a:spLocks noChangeArrowheads="1"/>
          </p:cNvSpPr>
          <p:nvPr/>
        </p:nvSpPr>
        <p:spPr bwMode="auto">
          <a:xfrm>
            <a:off x="1571625" y="5557838"/>
            <a:ext cx="1285875" cy="357187"/>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nvGrpSpPr>
          <p:cNvPr id="3" name="Group 3"/>
          <p:cNvGrpSpPr>
            <a:grpSpLocks/>
          </p:cNvGrpSpPr>
          <p:nvPr/>
        </p:nvGrpSpPr>
        <p:grpSpPr bwMode="auto">
          <a:xfrm>
            <a:off x="2857500" y="5715000"/>
            <a:ext cx="5143500" cy="800100"/>
            <a:chOff x="3236" y="3303"/>
            <a:chExt cx="3240" cy="504"/>
          </a:xfrm>
        </p:grpSpPr>
        <p:sp>
          <p:nvSpPr>
            <p:cNvPr id="23" name="Rectangle 4"/>
            <p:cNvSpPr>
              <a:spLocks noChangeArrowheads="1"/>
            </p:cNvSpPr>
            <p:nvPr/>
          </p:nvSpPr>
          <p:spPr bwMode="auto">
            <a:xfrm>
              <a:off x="4721" y="3313"/>
              <a:ext cx="1755" cy="494"/>
            </a:xfrm>
            <a:prstGeom prst="rect">
              <a:avLst/>
            </a:prstGeom>
            <a:solidFill>
              <a:schemeClr val="accent1">
                <a:lumMod val="40000"/>
                <a:lumOff val="60000"/>
              </a:schemeClr>
            </a:solidFill>
            <a:ln w="28575">
              <a:solidFill>
                <a:srgbClr val="800000"/>
              </a:solidFill>
              <a:miter lim="800000"/>
              <a:headEnd/>
              <a:tailEnd/>
            </a:ln>
            <a:effectLst/>
          </p:spPr>
          <p:txBody>
            <a:bodyPr wrap="none" anchor="ctr"/>
            <a:lstStyle/>
            <a:p>
              <a:pPr algn="ctr">
                <a:defRPr/>
              </a:pPr>
              <a:r>
                <a:rPr lang="zh-CN" altLang="en-US" b="1" dirty="0">
                  <a:solidFill>
                    <a:srgbClr val="000066"/>
                  </a:solidFill>
                  <a:effectLst/>
                  <a:latin typeface="Courier New" pitchFamily="49" charset="0"/>
                  <a:ea typeface="楷体_GB2312" pitchFamily="49" charset="-122"/>
                  <a:cs typeface="Courier New" pitchFamily="49" charset="0"/>
                </a:rPr>
                <a:t>形参值的改变</a:t>
              </a:r>
              <a:endParaRPr lang="en-US" altLang="zh-CN" b="1" dirty="0">
                <a:solidFill>
                  <a:srgbClr val="000066"/>
                </a:solidFill>
                <a:effectLst/>
                <a:latin typeface="Courier New" pitchFamily="49" charset="0"/>
                <a:ea typeface="楷体_GB2312" pitchFamily="49" charset="-122"/>
                <a:cs typeface="Courier New" pitchFamily="49" charset="0"/>
              </a:endParaRPr>
            </a:p>
            <a:p>
              <a:pPr algn="ctr">
                <a:defRPr/>
              </a:pPr>
              <a:r>
                <a:rPr lang="zh-CN" altLang="en-US" b="1" dirty="0">
                  <a:solidFill>
                    <a:srgbClr val="000066"/>
                  </a:solidFill>
                  <a:effectLst/>
                  <a:latin typeface="Courier New" pitchFamily="49" charset="0"/>
                  <a:ea typeface="楷体_GB2312" pitchFamily="49" charset="-122"/>
                  <a:cs typeface="Courier New" pitchFamily="49" charset="0"/>
                </a:rPr>
                <a:t>不会影响对应的实参</a:t>
              </a:r>
            </a:p>
          </p:txBody>
        </p:sp>
        <p:sp>
          <p:nvSpPr>
            <p:cNvPr id="24" name="Freeform 5"/>
            <p:cNvSpPr>
              <a:spLocks/>
            </p:cNvSpPr>
            <p:nvPr/>
          </p:nvSpPr>
          <p:spPr bwMode="auto">
            <a:xfrm flipV="1">
              <a:off x="3236" y="3303"/>
              <a:ext cx="1485" cy="495"/>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Tree>
    <p:extLst>
      <p:ext uri="{BB962C8B-B14F-4D97-AF65-F5344CB8AC3E}">
        <p14:creationId xmlns:p14="http://schemas.microsoft.com/office/powerpoint/2010/main" val="30973153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783366"/>
                                        </p:tgtEl>
                                        <p:attrNameLst>
                                          <p:attrName>style.visibility</p:attrName>
                                        </p:attrNameLst>
                                      </p:cBhvr>
                                      <p:to>
                                        <p:strVal val="visible"/>
                                      </p:to>
                                    </p:set>
                                    <p:anim calcmode="lin" valueType="num">
                                      <p:cBhvr>
                                        <p:cTn id="20" dur="500" fill="hold"/>
                                        <p:tgtEl>
                                          <p:spTgt spid="783366"/>
                                        </p:tgtEl>
                                        <p:attrNameLst>
                                          <p:attrName>ppt_w</p:attrName>
                                        </p:attrNameLst>
                                      </p:cBhvr>
                                      <p:tavLst>
                                        <p:tav tm="0">
                                          <p:val>
                                            <p:fltVal val="0"/>
                                          </p:val>
                                        </p:tav>
                                        <p:tav tm="100000">
                                          <p:val>
                                            <p:strVal val="#ppt_w"/>
                                          </p:val>
                                        </p:tav>
                                      </p:tavLst>
                                    </p:anim>
                                    <p:anim calcmode="lin" valueType="num">
                                      <p:cBhvr>
                                        <p:cTn id="21" dur="500" fill="hold"/>
                                        <p:tgtEl>
                                          <p:spTgt spid="783366"/>
                                        </p:tgtEl>
                                        <p:attrNameLst>
                                          <p:attrName>ppt_h</p:attrName>
                                        </p:attrNameLst>
                                      </p:cBhvr>
                                      <p:tavLst>
                                        <p:tav tm="0">
                                          <p:val>
                                            <p:fltVal val="0"/>
                                          </p:val>
                                        </p:tav>
                                        <p:tav tm="100000">
                                          <p:val>
                                            <p:strVal val="#ppt_h"/>
                                          </p:val>
                                        </p:tav>
                                      </p:tavLst>
                                    </p:anim>
                                    <p:animEffect transition="in" filter="fade">
                                      <p:cBhvr>
                                        <p:cTn id="22" dur="500"/>
                                        <p:tgtEl>
                                          <p:spTgt spid="7833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783363"/>
                                        </p:tgtEl>
                                        <p:attrNameLst>
                                          <p:attrName>style.visibility</p:attrName>
                                        </p:attrNameLst>
                                      </p:cBhvr>
                                      <p:to>
                                        <p:strVal val="visible"/>
                                      </p:to>
                                    </p:set>
                                    <p:anim calcmode="lin" valueType="num">
                                      <p:cBhvr>
                                        <p:cTn id="27" dur="500" fill="hold"/>
                                        <p:tgtEl>
                                          <p:spTgt spid="783363"/>
                                        </p:tgtEl>
                                        <p:attrNameLst>
                                          <p:attrName>ppt_w</p:attrName>
                                        </p:attrNameLst>
                                      </p:cBhvr>
                                      <p:tavLst>
                                        <p:tav tm="0">
                                          <p:val>
                                            <p:fltVal val="0"/>
                                          </p:val>
                                        </p:tav>
                                        <p:tav tm="100000">
                                          <p:val>
                                            <p:strVal val="#ppt_w"/>
                                          </p:val>
                                        </p:tav>
                                      </p:tavLst>
                                    </p:anim>
                                    <p:anim calcmode="lin" valueType="num">
                                      <p:cBhvr>
                                        <p:cTn id="28" dur="500" fill="hold"/>
                                        <p:tgtEl>
                                          <p:spTgt spid="783363"/>
                                        </p:tgtEl>
                                        <p:attrNameLst>
                                          <p:attrName>ppt_h</p:attrName>
                                        </p:attrNameLst>
                                      </p:cBhvr>
                                      <p:tavLst>
                                        <p:tav tm="0">
                                          <p:val>
                                            <p:fltVal val="0"/>
                                          </p:val>
                                        </p:tav>
                                        <p:tav tm="100000">
                                          <p:val>
                                            <p:strVal val="#ppt_h"/>
                                          </p:val>
                                        </p:tav>
                                      </p:tavLst>
                                    </p:anim>
                                    <p:animEffect transition="in" filter="fade">
                                      <p:cBhvr>
                                        <p:cTn id="29" dur="500"/>
                                        <p:tgtEl>
                                          <p:spTgt spid="78336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childTnLst>
                          </p:cTn>
                        </p:par>
                        <p:par>
                          <p:cTn id="37" fill="hold" nodeType="afterGroup">
                            <p:stCondLst>
                              <p:cond delay="500"/>
                            </p:stCondLst>
                            <p:childTnLst>
                              <p:par>
                                <p:cTn id="38" presetID="53" presetClass="entr" presetSubtype="0" fill="hold" nodeType="after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ppt_w</p:attrName>
                                        </p:attrNameLst>
                                      </p:cBhvr>
                                      <p:tavLst>
                                        <p:tav tm="0">
                                          <p:val>
                                            <p:fltVal val="0"/>
                                          </p:val>
                                        </p:tav>
                                        <p:tav tm="100000">
                                          <p:val>
                                            <p:strVal val="#ppt_w"/>
                                          </p:val>
                                        </p:tav>
                                      </p:tavLst>
                                    </p:anim>
                                    <p:anim calcmode="lin" valueType="num">
                                      <p:cBhvr>
                                        <p:cTn id="41" dur="500" fill="hold"/>
                                        <p:tgtEl>
                                          <p:spTgt spid="3"/>
                                        </p:tgtEl>
                                        <p:attrNameLst>
                                          <p:attrName>ppt_h</p:attrName>
                                        </p:attrNameLst>
                                      </p:cBhvr>
                                      <p:tavLst>
                                        <p:tav tm="0">
                                          <p:val>
                                            <p:fltVal val="0"/>
                                          </p:val>
                                        </p:tav>
                                        <p:tav tm="100000">
                                          <p:val>
                                            <p:strVal val="#ppt_h"/>
                                          </p:val>
                                        </p:tav>
                                      </p:tavLst>
                                    </p:anim>
                                    <p:animEffect transition="in" filter="fad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37" name="Picture 13"/>
          <p:cNvPicPr>
            <a:picLocks noChangeAspect="1" noChangeArrowheads="1"/>
          </p:cNvPicPr>
          <p:nvPr/>
        </p:nvPicPr>
        <p:blipFill>
          <a:blip r:embed="rId2"/>
          <a:srcRect/>
          <a:stretch>
            <a:fillRect/>
          </a:stretch>
        </p:blipFill>
        <p:spPr bwMode="auto">
          <a:xfrm>
            <a:off x="4922838" y="2071688"/>
            <a:ext cx="3924300" cy="4029075"/>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623618" name="Rectangle 2"/>
          <p:cNvSpPr>
            <a:spLocks noGrp="1" noChangeArrowheads="1"/>
          </p:cNvSpPr>
          <p:nvPr>
            <p:ph type="title"/>
          </p:nvPr>
        </p:nvSpPr>
        <p:spPr>
          <a:xfrm>
            <a:off x="285750" y="714375"/>
            <a:ext cx="8462963" cy="839788"/>
          </a:xfrm>
        </p:spPr>
        <p:txBody>
          <a:bodyPr/>
          <a:lstStyle/>
          <a:p>
            <a:pPr>
              <a:defRPr/>
            </a:pPr>
            <a:r>
              <a:rPr lang="zh-CN" altLang="en-US" sz="4000" dirty="0"/>
              <a:t>按值调用与按地址调用</a:t>
            </a:r>
            <a:endParaRPr lang="en-US" altLang="zh-CN" dirty="0"/>
          </a:p>
        </p:txBody>
      </p:sp>
      <p:sp>
        <p:nvSpPr>
          <p:cNvPr id="12" name="内容占位符 31"/>
          <p:cNvSpPr txBox="1">
            <a:spLocks/>
          </p:cNvSpPr>
          <p:nvPr/>
        </p:nvSpPr>
        <p:spPr bwMode="auto">
          <a:xfrm>
            <a:off x="4572000" y="1500188"/>
            <a:ext cx="4357688" cy="857250"/>
          </a:xfrm>
          <a:prstGeom prst="rect">
            <a:avLst/>
          </a:prstGeom>
          <a:noFill/>
          <a:ln w="9525">
            <a:noFill/>
            <a:miter lim="800000"/>
            <a:headEnd/>
            <a:tailEnd/>
          </a:ln>
          <a:effectLst/>
        </p:spPr>
        <p:txBody>
          <a:bodyPr lIns="92075" tIns="46037" rIns="92075" bIns="46037"/>
          <a:lstStyle/>
          <a:p>
            <a:pPr marL="374650" indent="-374650" eaLnBrk="1">
              <a:lnSpc>
                <a:spcPct val="95000"/>
              </a:lnSpc>
              <a:spcBef>
                <a:spcPct val="20000"/>
              </a:spcBef>
              <a:buClr>
                <a:srgbClr val="FFCC66"/>
              </a:buClr>
              <a:buSzPct val="80000"/>
              <a:buFont typeface="Monotype Sorts" charset="2"/>
              <a:buNone/>
              <a:defRPr/>
            </a:pPr>
            <a:r>
              <a:rPr lang="zh-CN" altLang="en-US" b="1" dirty="0">
                <a:effectLst>
                  <a:outerShdw blurRad="38100" dist="38100" dir="2700000" algn="tl">
                    <a:srgbClr val="C0C0C0"/>
                  </a:outerShdw>
                </a:effectLst>
                <a:latin typeface="华文仿宋" pitchFamily="2" charset="-122"/>
                <a:ea typeface="华文仿宋" pitchFamily="2" charset="-122"/>
              </a:rPr>
              <a:t>演示按地址调用</a:t>
            </a:r>
          </a:p>
        </p:txBody>
      </p:sp>
      <p:pic>
        <p:nvPicPr>
          <p:cNvPr id="783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2136775"/>
            <a:ext cx="1071562"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2" name="Group 3"/>
          <p:cNvGrpSpPr>
            <a:grpSpLocks/>
          </p:cNvGrpSpPr>
          <p:nvPr/>
        </p:nvGrpSpPr>
        <p:grpSpPr bwMode="auto">
          <a:xfrm>
            <a:off x="6472238" y="2714625"/>
            <a:ext cx="2071687" cy="928688"/>
            <a:chOff x="3146" y="1881"/>
            <a:chExt cx="1305" cy="585"/>
          </a:xfrm>
        </p:grpSpPr>
        <p:sp>
          <p:nvSpPr>
            <p:cNvPr id="16" name="Rectangle 4"/>
            <p:cNvSpPr>
              <a:spLocks noChangeArrowheads="1"/>
            </p:cNvSpPr>
            <p:nvPr/>
          </p:nvSpPr>
          <p:spPr bwMode="auto">
            <a:xfrm>
              <a:off x="3371" y="1881"/>
              <a:ext cx="1080" cy="296"/>
            </a:xfrm>
            <a:prstGeom prst="rect">
              <a:avLst/>
            </a:prstGeom>
            <a:solidFill>
              <a:schemeClr val="accent1">
                <a:lumMod val="40000"/>
                <a:lumOff val="60000"/>
              </a:schemeClr>
            </a:solidFill>
            <a:ln w="28575">
              <a:solidFill>
                <a:srgbClr val="800000"/>
              </a:solidFill>
              <a:miter lim="800000"/>
              <a:headEnd/>
              <a:tailEnd/>
            </a:ln>
            <a:effectLst/>
          </p:spPr>
          <p:txBody>
            <a:bodyPr wrap="none" anchor="ctr"/>
            <a:lstStyle/>
            <a:p>
              <a:pPr algn="ctr">
                <a:defRPr/>
              </a:pPr>
              <a:r>
                <a:rPr lang="zh-CN" altLang="en-US" b="1" dirty="0">
                  <a:solidFill>
                    <a:srgbClr val="000066"/>
                  </a:solidFill>
                  <a:effectLst/>
                  <a:latin typeface="Courier New" pitchFamily="49" charset="0"/>
                  <a:ea typeface="楷体_GB2312" pitchFamily="49" charset="-122"/>
                  <a:cs typeface="Courier New" pitchFamily="49" charset="0"/>
                </a:rPr>
                <a:t>传变量地址</a:t>
              </a:r>
            </a:p>
          </p:txBody>
        </p:sp>
        <p:sp>
          <p:nvSpPr>
            <p:cNvPr id="17" name="Freeform 5"/>
            <p:cNvSpPr>
              <a:spLocks/>
            </p:cNvSpPr>
            <p:nvPr/>
          </p:nvSpPr>
          <p:spPr bwMode="auto">
            <a:xfrm>
              <a:off x="3146" y="2151"/>
              <a:ext cx="225" cy="315"/>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18" name="Rectangle 59"/>
          <p:cNvSpPr>
            <a:spLocks noChangeArrowheads="1"/>
          </p:cNvSpPr>
          <p:nvPr/>
        </p:nvSpPr>
        <p:spPr bwMode="auto">
          <a:xfrm>
            <a:off x="5800725" y="3643313"/>
            <a:ext cx="1143000" cy="357187"/>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19" name="Rectangle 59"/>
          <p:cNvSpPr>
            <a:spLocks noChangeArrowheads="1"/>
          </p:cNvSpPr>
          <p:nvPr/>
        </p:nvSpPr>
        <p:spPr bwMode="auto">
          <a:xfrm>
            <a:off x="6373813" y="4759325"/>
            <a:ext cx="1143000" cy="357188"/>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pic>
        <p:nvPicPr>
          <p:cNvPr id="784386" name="Picture 2"/>
          <p:cNvPicPr>
            <a:picLocks noChangeAspect="1" noChangeArrowheads="1"/>
          </p:cNvPicPr>
          <p:nvPr/>
        </p:nvPicPr>
        <p:blipFill>
          <a:blip r:embed="rId4"/>
          <a:srcRect/>
          <a:stretch>
            <a:fillRect/>
          </a:stretch>
        </p:blipFill>
        <p:spPr bwMode="auto">
          <a:xfrm>
            <a:off x="523875" y="3357563"/>
            <a:ext cx="4262438" cy="2409825"/>
          </a:xfrm>
          <a:prstGeom prst="rect">
            <a:avLst/>
          </a:prstGeom>
          <a:noFill/>
          <a:ln w="12700" cap="flat" cmpd="sng">
            <a:solidFill>
              <a:srgbClr val="C00000"/>
            </a:solidFill>
            <a:prstDash val="solid"/>
            <a:miter lim="800000"/>
            <a:headEnd type="none" w="sm" len="sm"/>
            <a:tailEnd type="none" w="sm" len="s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47224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784386"/>
                                        </p:tgtEl>
                                        <p:attrNameLst>
                                          <p:attrName>style.visibility</p:attrName>
                                        </p:attrNameLst>
                                      </p:cBhvr>
                                      <p:to>
                                        <p:strVal val="visible"/>
                                      </p:to>
                                    </p:set>
                                    <p:anim calcmode="lin" valueType="num">
                                      <p:cBhvr>
                                        <p:cTn id="27" dur="500" fill="hold"/>
                                        <p:tgtEl>
                                          <p:spTgt spid="784386"/>
                                        </p:tgtEl>
                                        <p:attrNameLst>
                                          <p:attrName>ppt_w</p:attrName>
                                        </p:attrNameLst>
                                      </p:cBhvr>
                                      <p:tavLst>
                                        <p:tav tm="0">
                                          <p:val>
                                            <p:fltVal val="0"/>
                                          </p:val>
                                        </p:tav>
                                        <p:tav tm="100000">
                                          <p:val>
                                            <p:strVal val="#ppt_w"/>
                                          </p:val>
                                        </p:tav>
                                      </p:tavLst>
                                    </p:anim>
                                    <p:anim calcmode="lin" valueType="num">
                                      <p:cBhvr>
                                        <p:cTn id="28" dur="500" fill="hold"/>
                                        <p:tgtEl>
                                          <p:spTgt spid="784386"/>
                                        </p:tgtEl>
                                        <p:attrNameLst>
                                          <p:attrName>ppt_h</p:attrName>
                                        </p:attrNameLst>
                                      </p:cBhvr>
                                      <p:tavLst>
                                        <p:tav tm="0">
                                          <p:val>
                                            <p:fltVal val="0"/>
                                          </p:val>
                                        </p:tav>
                                        <p:tav tm="100000">
                                          <p:val>
                                            <p:strVal val="#ppt_h"/>
                                          </p:val>
                                        </p:tav>
                                      </p:tavLst>
                                    </p:anim>
                                    <p:animEffect transition="in" filter="fade">
                                      <p:cBhvr>
                                        <p:cTn id="29" dur="500"/>
                                        <p:tgtEl>
                                          <p:spTgt spid="78438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nodeType="clickEffect">
                                  <p:stCondLst>
                                    <p:cond delay="0"/>
                                  </p:stCondLst>
                                  <p:childTnLst>
                                    <p:set>
                                      <p:cBhvr>
                                        <p:cTn id="33" dur="1" fill="hold">
                                          <p:stCondLst>
                                            <p:cond delay="0"/>
                                          </p:stCondLst>
                                        </p:cTn>
                                        <p:tgtEl>
                                          <p:spTgt spid="783365"/>
                                        </p:tgtEl>
                                        <p:attrNameLst>
                                          <p:attrName>style.visibility</p:attrName>
                                        </p:attrNameLst>
                                      </p:cBhvr>
                                      <p:to>
                                        <p:strVal val="visible"/>
                                      </p:to>
                                    </p:set>
                                    <p:anim calcmode="lin" valueType="num">
                                      <p:cBhvr>
                                        <p:cTn id="34" dur="500" fill="hold"/>
                                        <p:tgtEl>
                                          <p:spTgt spid="783365"/>
                                        </p:tgtEl>
                                        <p:attrNameLst>
                                          <p:attrName>ppt_w</p:attrName>
                                        </p:attrNameLst>
                                      </p:cBhvr>
                                      <p:tavLst>
                                        <p:tav tm="0">
                                          <p:val>
                                            <p:fltVal val="0"/>
                                          </p:val>
                                        </p:tav>
                                        <p:tav tm="100000">
                                          <p:val>
                                            <p:strVal val="#ppt_w"/>
                                          </p:val>
                                        </p:tav>
                                      </p:tavLst>
                                    </p:anim>
                                    <p:anim calcmode="lin" valueType="num">
                                      <p:cBhvr>
                                        <p:cTn id="35" dur="500" fill="hold"/>
                                        <p:tgtEl>
                                          <p:spTgt spid="783365"/>
                                        </p:tgtEl>
                                        <p:attrNameLst>
                                          <p:attrName>ppt_h</p:attrName>
                                        </p:attrNameLst>
                                      </p:cBhvr>
                                      <p:tavLst>
                                        <p:tav tm="0">
                                          <p:val>
                                            <p:fltVal val="0"/>
                                          </p:val>
                                        </p:tav>
                                        <p:tav tm="100000">
                                          <p:val>
                                            <p:strVal val="#ppt_h"/>
                                          </p:val>
                                        </p:tav>
                                      </p:tavLst>
                                    </p:anim>
                                    <p:animEffect transition="in" filter="fade">
                                      <p:cBhvr>
                                        <p:cTn id="36" dur="500"/>
                                        <p:tgtEl>
                                          <p:spTgt spid="78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3"/>
          <p:cNvPicPr>
            <a:picLocks noChangeAspect="1" noChangeArrowheads="1"/>
          </p:cNvPicPr>
          <p:nvPr/>
        </p:nvPicPr>
        <p:blipFill>
          <a:blip r:embed="rId2"/>
          <a:srcRect/>
          <a:stretch>
            <a:fillRect/>
          </a:stretch>
        </p:blipFill>
        <p:spPr bwMode="auto">
          <a:xfrm>
            <a:off x="4922838" y="2071688"/>
            <a:ext cx="3924300" cy="4029075"/>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623618" name="Rectangle 2"/>
          <p:cNvSpPr>
            <a:spLocks noGrp="1" noChangeArrowheads="1"/>
          </p:cNvSpPr>
          <p:nvPr>
            <p:ph type="title"/>
          </p:nvPr>
        </p:nvSpPr>
        <p:spPr>
          <a:xfrm>
            <a:off x="285750" y="714375"/>
            <a:ext cx="8462963" cy="839788"/>
          </a:xfrm>
        </p:spPr>
        <p:txBody>
          <a:bodyPr/>
          <a:lstStyle/>
          <a:p>
            <a:pPr>
              <a:defRPr/>
            </a:pPr>
            <a:r>
              <a:rPr lang="zh-CN" altLang="en-US" sz="4000" dirty="0"/>
              <a:t>按值调用与按地址调用</a:t>
            </a:r>
            <a:endParaRPr lang="en-US" altLang="zh-CN" dirty="0"/>
          </a:p>
        </p:txBody>
      </p:sp>
      <p:sp>
        <p:nvSpPr>
          <p:cNvPr id="32" name="内容占位符 31"/>
          <p:cNvSpPr>
            <a:spLocks noGrp="1"/>
          </p:cNvSpPr>
          <p:nvPr>
            <p:ph idx="1"/>
          </p:nvPr>
        </p:nvSpPr>
        <p:spPr>
          <a:xfrm>
            <a:off x="428625" y="1500188"/>
            <a:ext cx="4357688" cy="857250"/>
          </a:xfrm>
        </p:spPr>
        <p:txBody>
          <a:bodyPr/>
          <a:lstStyle/>
          <a:p>
            <a:pPr eaLnBrk="1">
              <a:buFont typeface="Monotype Sorts" charset="2"/>
              <a:buNone/>
              <a:defRPr/>
            </a:pPr>
            <a:r>
              <a:rPr lang="zh-CN" altLang="en-US" sz="2400" dirty="0">
                <a:latin typeface="华文仿宋" pitchFamily="2" charset="-122"/>
                <a:ea typeface="华文仿宋" pitchFamily="2" charset="-122"/>
              </a:rPr>
              <a:t>演示按值调用</a:t>
            </a:r>
          </a:p>
        </p:txBody>
      </p:sp>
      <p:grpSp>
        <p:nvGrpSpPr>
          <p:cNvPr id="2" name="Group 3"/>
          <p:cNvGrpSpPr>
            <a:grpSpLocks/>
          </p:cNvGrpSpPr>
          <p:nvPr/>
        </p:nvGrpSpPr>
        <p:grpSpPr bwMode="auto">
          <a:xfrm>
            <a:off x="6000750" y="2428875"/>
            <a:ext cx="3000375" cy="2286000"/>
            <a:chOff x="2516" y="1188"/>
            <a:chExt cx="1890" cy="1440"/>
          </a:xfrm>
        </p:grpSpPr>
        <p:sp>
          <p:nvSpPr>
            <p:cNvPr id="9" name="Rectangle 4"/>
            <p:cNvSpPr>
              <a:spLocks noChangeArrowheads="1"/>
            </p:cNvSpPr>
            <p:nvPr/>
          </p:nvSpPr>
          <p:spPr bwMode="auto">
            <a:xfrm>
              <a:off x="2516" y="1188"/>
              <a:ext cx="1890" cy="449"/>
            </a:xfrm>
            <a:prstGeom prst="rect">
              <a:avLst/>
            </a:prstGeom>
            <a:solidFill>
              <a:schemeClr val="accent1">
                <a:lumMod val="40000"/>
                <a:lumOff val="60000"/>
              </a:schemeClr>
            </a:solidFill>
            <a:ln w="28575">
              <a:solidFill>
                <a:srgbClr val="800000"/>
              </a:solidFill>
              <a:miter lim="800000"/>
              <a:headEnd/>
              <a:tailEnd/>
            </a:ln>
            <a:effectLst/>
          </p:spPr>
          <p:txBody>
            <a:bodyPr wrap="none" anchor="ctr"/>
            <a:lstStyle/>
            <a:p>
              <a:pPr algn="ctr">
                <a:defRPr/>
              </a:pPr>
              <a:r>
                <a:rPr lang="zh-CN" altLang="en-US" b="1" dirty="0">
                  <a:solidFill>
                    <a:srgbClr val="000066"/>
                  </a:solidFill>
                  <a:effectLst/>
                  <a:latin typeface="Courier New" pitchFamily="49" charset="0"/>
                  <a:ea typeface="楷体_GB2312" pitchFamily="49" charset="-122"/>
                  <a:cs typeface="Courier New" pitchFamily="49" charset="0"/>
                </a:rPr>
                <a:t>指针变量作函数参数</a:t>
              </a:r>
              <a:endParaRPr lang="en-US" altLang="zh-CN" b="1" dirty="0">
                <a:solidFill>
                  <a:srgbClr val="000066"/>
                </a:solidFill>
                <a:effectLst/>
                <a:latin typeface="Courier New" pitchFamily="49" charset="0"/>
                <a:ea typeface="楷体_GB2312" pitchFamily="49" charset="-122"/>
                <a:cs typeface="Courier New" pitchFamily="49" charset="0"/>
              </a:endParaRPr>
            </a:p>
            <a:p>
              <a:pPr algn="ctr">
                <a:defRPr/>
              </a:pPr>
              <a:r>
                <a:rPr lang="zh-CN" altLang="en-US" b="1" dirty="0">
                  <a:solidFill>
                    <a:srgbClr val="000066"/>
                  </a:solidFill>
                  <a:effectLst/>
                  <a:latin typeface="Courier New" pitchFamily="49" charset="0"/>
                  <a:ea typeface="楷体_GB2312" pitchFamily="49" charset="-122"/>
                  <a:cs typeface="Courier New" pitchFamily="49" charset="0"/>
                </a:rPr>
                <a:t>可以修改实参的值</a:t>
              </a:r>
            </a:p>
          </p:txBody>
        </p:sp>
        <p:sp>
          <p:nvSpPr>
            <p:cNvPr id="10" name="Freeform 5"/>
            <p:cNvSpPr>
              <a:spLocks/>
            </p:cNvSpPr>
            <p:nvPr/>
          </p:nvSpPr>
          <p:spPr bwMode="auto">
            <a:xfrm>
              <a:off x="3101" y="1638"/>
              <a:ext cx="405" cy="990"/>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sp>
        <p:nvSpPr>
          <p:cNvPr id="11" name="Rectangle 59"/>
          <p:cNvSpPr>
            <a:spLocks noChangeArrowheads="1"/>
          </p:cNvSpPr>
          <p:nvPr/>
        </p:nvSpPr>
        <p:spPr bwMode="auto">
          <a:xfrm>
            <a:off x="6357938" y="4714875"/>
            <a:ext cx="1143000" cy="357188"/>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pic>
        <p:nvPicPr>
          <p:cNvPr id="276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6181725"/>
            <a:ext cx="6762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2" name="内容占位符 31"/>
          <p:cNvSpPr txBox="1">
            <a:spLocks/>
          </p:cNvSpPr>
          <p:nvPr/>
        </p:nvSpPr>
        <p:spPr bwMode="auto">
          <a:xfrm>
            <a:off x="4572000" y="1500188"/>
            <a:ext cx="4357688" cy="857250"/>
          </a:xfrm>
          <a:prstGeom prst="rect">
            <a:avLst/>
          </a:prstGeom>
          <a:noFill/>
          <a:ln w="9525">
            <a:noFill/>
            <a:miter lim="800000"/>
            <a:headEnd/>
            <a:tailEnd/>
          </a:ln>
          <a:effectLst/>
        </p:spPr>
        <p:txBody>
          <a:bodyPr lIns="92075" tIns="46037" rIns="92075" bIns="46037"/>
          <a:lstStyle/>
          <a:p>
            <a:pPr marL="374650" indent="-374650" eaLnBrk="1">
              <a:lnSpc>
                <a:spcPct val="95000"/>
              </a:lnSpc>
              <a:spcBef>
                <a:spcPct val="20000"/>
              </a:spcBef>
              <a:buClr>
                <a:srgbClr val="FFCC66"/>
              </a:buClr>
              <a:buSzPct val="80000"/>
              <a:buFont typeface="Monotype Sorts" charset="2"/>
              <a:buNone/>
              <a:defRPr/>
            </a:pPr>
            <a:r>
              <a:rPr lang="zh-CN" altLang="en-US" sz="2400" dirty="0">
                <a:latin typeface="华文仿宋" pitchFamily="2" charset="-122"/>
                <a:ea typeface="华文仿宋" pitchFamily="2" charset="-122"/>
              </a:rPr>
              <a:t>演示按地址调用</a:t>
            </a:r>
          </a:p>
        </p:txBody>
      </p:sp>
      <p:pic>
        <p:nvPicPr>
          <p:cNvPr id="276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4913" y="6181725"/>
            <a:ext cx="668337"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6" name="Picture 16"/>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28663" y="2075090"/>
            <a:ext cx="3771900" cy="4041321"/>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17" name="Rectangle 59"/>
          <p:cNvSpPr>
            <a:spLocks noChangeArrowheads="1"/>
          </p:cNvSpPr>
          <p:nvPr/>
        </p:nvSpPr>
        <p:spPr bwMode="auto">
          <a:xfrm>
            <a:off x="5857875" y="5572125"/>
            <a:ext cx="1143000" cy="357188"/>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Tree>
    <p:extLst>
      <p:ext uri="{BB962C8B-B14F-4D97-AF65-F5344CB8AC3E}">
        <p14:creationId xmlns:p14="http://schemas.microsoft.com/office/powerpoint/2010/main" val="2261692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nodeType="afterGroup">
                            <p:stCondLst>
                              <p:cond delay="500"/>
                            </p:stCondLst>
                            <p:childTnLst>
                              <p:par>
                                <p:cTn id="16" presetID="53"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86" name="Picture 14"/>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86313" y="1830741"/>
            <a:ext cx="3762375" cy="4291893"/>
          </a:xfrm>
          <a:prstGeom prst="rect">
            <a:avLst/>
          </a:prstGeom>
          <a:noFill/>
          <a:ln w="50800" cap="flat" cmpd="thickThin">
            <a:solidFill>
              <a:schemeClr val="accent2">
                <a:lumMod val="50000"/>
              </a:schemeClr>
            </a:solidFill>
            <a:prstDash val="solid"/>
            <a:miter lim="800000"/>
            <a:headEnd type="none" w="sm" len="sm"/>
            <a:tailEnd type="none" w="sm" len="sm"/>
          </a:ln>
          <a:effectLst/>
        </p:spPr>
      </p:pic>
      <p:pic>
        <p:nvPicPr>
          <p:cNvPr id="20" name="Picture 1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8663" y="2075090"/>
            <a:ext cx="3771900" cy="4041321"/>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623618" name="Rectangle 2"/>
          <p:cNvSpPr>
            <a:spLocks noGrp="1" noChangeArrowheads="1"/>
          </p:cNvSpPr>
          <p:nvPr>
            <p:ph type="title"/>
          </p:nvPr>
        </p:nvSpPr>
        <p:spPr>
          <a:xfrm>
            <a:off x="285750" y="714375"/>
            <a:ext cx="8462963" cy="839788"/>
          </a:xfrm>
        </p:spPr>
        <p:txBody>
          <a:bodyPr/>
          <a:lstStyle/>
          <a:p>
            <a:pPr>
              <a:defRPr/>
            </a:pPr>
            <a:r>
              <a:rPr lang="zh-CN" altLang="en-US" sz="4000" dirty="0"/>
              <a:t>按值调用与按地址调用</a:t>
            </a:r>
            <a:endParaRPr lang="en-US" altLang="zh-CN" dirty="0"/>
          </a:p>
        </p:txBody>
      </p:sp>
      <p:sp>
        <p:nvSpPr>
          <p:cNvPr id="32" name="内容占位符 31"/>
          <p:cNvSpPr>
            <a:spLocks noGrp="1"/>
          </p:cNvSpPr>
          <p:nvPr>
            <p:ph idx="1"/>
          </p:nvPr>
        </p:nvSpPr>
        <p:spPr>
          <a:xfrm>
            <a:off x="428625" y="1500188"/>
            <a:ext cx="4357688" cy="857250"/>
          </a:xfrm>
        </p:spPr>
        <p:txBody>
          <a:bodyPr/>
          <a:lstStyle/>
          <a:p>
            <a:pPr eaLnBrk="1">
              <a:buFont typeface="Monotype Sorts" charset="2"/>
              <a:buNone/>
              <a:defRPr/>
            </a:pPr>
            <a:r>
              <a:rPr lang="zh-CN" altLang="en-US" sz="2400" dirty="0">
                <a:latin typeface="华文仿宋" pitchFamily="2" charset="-122"/>
                <a:ea typeface="华文仿宋" pitchFamily="2" charset="-122"/>
              </a:rPr>
              <a:t>演示按值调用</a:t>
            </a:r>
          </a:p>
        </p:txBody>
      </p:sp>
      <p:sp>
        <p:nvSpPr>
          <p:cNvPr id="14" name="Rectangle 59"/>
          <p:cNvSpPr>
            <a:spLocks noChangeArrowheads="1"/>
          </p:cNvSpPr>
          <p:nvPr/>
        </p:nvSpPr>
        <p:spPr bwMode="auto">
          <a:xfrm>
            <a:off x="5715000" y="5586413"/>
            <a:ext cx="1285875" cy="357187"/>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15" name="Rectangle 59"/>
          <p:cNvSpPr>
            <a:spLocks noChangeArrowheads="1"/>
          </p:cNvSpPr>
          <p:nvPr/>
        </p:nvSpPr>
        <p:spPr bwMode="auto">
          <a:xfrm>
            <a:off x="5143500" y="4500563"/>
            <a:ext cx="571500" cy="357187"/>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16" name="Rectangle 59"/>
          <p:cNvSpPr>
            <a:spLocks noChangeArrowheads="1"/>
          </p:cNvSpPr>
          <p:nvPr/>
        </p:nvSpPr>
        <p:spPr bwMode="auto">
          <a:xfrm>
            <a:off x="5572125" y="3357563"/>
            <a:ext cx="785813" cy="357187"/>
          </a:xfrm>
          <a:prstGeom prst="rect">
            <a:avLst/>
          </a:prstGeom>
          <a:noFill/>
          <a:ln w="57150">
            <a:solidFill>
              <a:srgbClr val="00B05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nvGrpSpPr>
          <p:cNvPr id="2" name="Group 3"/>
          <p:cNvGrpSpPr>
            <a:grpSpLocks/>
          </p:cNvGrpSpPr>
          <p:nvPr/>
        </p:nvGrpSpPr>
        <p:grpSpPr bwMode="auto">
          <a:xfrm>
            <a:off x="1857375" y="4000500"/>
            <a:ext cx="3857625" cy="1571625"/>
            <a:chOff x="2606" y="2223"/>
            <a:chExt cx="2430" cy="990"/>
          </a:xfrm>
        </p:grpSpPr>
        <p:sp>
          <p:nvSpPr>
            <p:cNvPr id="18" name="Rectangle 4"/>
            <p:cNvSpPr>
              <a:spLocks noChangeArrowheads="1"/>
            </p:cNvSpPr>
            <p:nvPr/>
          </p:nvSpPr>
          <p:spPr bwMode="auto">
            <a:xfrm>
              <a:off x="2606" y="2223"/>
              <a:ext cx="1755" cy="449"/>
            </a:xfrm>
            <a:prstGeom prst="rect">
              <a:avLst/>
            </a:prstGeom>
            <a:solidFill>
              <a:schemeClr val="accent1">
                <a:lumMod val="40000"/>
                <a:lumOff val="60000"/>
              </a:schemeClr>
            </a:solidFill>
            <a:ln w="28575">
              <a:solidFill>
                <a:srgbClr val="800000"/>
              </a:solidFill>
              <a:miter lim="800000"/>
              <a:headEnd/>
              <a:tailEnd/>
            </a:ln>
            <a:effectLst/>
          </p:spPr>
          <p:txBody>
            <a:bodyPr wrap="none" anchor="ctr"/>
            <a:lstStyle/>
            <a:p>
              <a:pPr algn="ctr">
                <a:defRPr/>
              </a:pPr>
              <a:r>
                <a:rPr lang="en-US" altLang="zh-CN" b="1" dirty="0">
                  <a:solidFill>
                    <a:srgbClr val="000066"/>
                  </a:solidFill>
                  <a:effectLst/>
                  <a:latin typeface="Courier New" pitchFamily="49" charset="0"/>
                  <a:ea typeface="楷体_GB2312" pitchFamily="49" charset="-122"/>
                  <a:cs typeface="Courier New" pitchFamily="49" charset="0"/>
                </a:rPr>
                <a:t>return</a:t>
              </a:r>
              <a:r>
                <a:rPr lang="zh-CN" altLang="en-US" b="1" dirty="0">
                  <a:solidFill>
                    <a:srgbClr val="000066"/>
                  </a:solidFill>
                  <a:effectLst/>
                  <a:latin typeface="Courier New" pitchFamily="49" charset="0"/>
                  <a:ea typeface="楷体_GB2312" pitchFamily="49" charset="-122"/>
                  <a:cs typeface="Courier New" pitchFamily="49" charset="0"/>
                </a:rPr>
                <a:t>仅限于</a:t>
              </a:r>
              <a:endParaRPr lang="en-US" altLang="zh-CN" b="1" dirty="0">
                <a:solidFill>
                  <a:srgbClr val="000066"/>
                </a:solidFill>
                <a:effectLst/>
                <a:latin typeface="Courier New" pitchFamily="49" charset="0"/>
                <a:ea typeface="楷体_GB2312" pitchFamily="49" charset="-122"/>
                <a:cs typeface="Courier New" pitchFamily="49" charset="0"/>
              </a:endParaRPr>
            </a:p>
            <a:p>
              <a:pPr algn="ctr">
                <a:defRPr/>
              </a:pPr>
              <a:r>
                <a:rPr lang="zh-CN" altLang="en-US" b="1" dirty="0">
                  <a:solidFill>
                    <a:srgbClr val="000066"/>
                  </a:solidFill>
                  <a:effectLst/>
                  <a:latin typeface="Courier New" pitchFamily="49" charset="0"/>
                  <a:ea typeface="楷体_GB2312" pitchFamily="49" charset="-122"/>
                  <a:cs typeface="Courier New" pitchFamily="49" charset="0"/>
                </a:rPr>
                <a:t>从函数返回一个值</a:t>
              </a:r>
            </a:p>
          </p:txBody>
        </p:sp>
        <p:sp>
          <p:nvSpPr>
            <p:cNvPr id="19" name="Freeform 5"/>
            <p:cNvSpPr>
              <a:spLocks/>
            </p:cNvSpPr>
            <p:nvPr/>
          </p:nvSpPr>
          <p:spPr bwMode="auto">
            <a:xfrm flipH="1">
              <a:off x="4361" y="2673"/>
              <a:ext cx="675" cy="540"/>
            </a:xfrm>
            <a:custGeom>
              <a:avLst/>
              <a:gdLst/>
              <a:ahLst/>
              <a:cxnLst>
                <a:cxn ang="0">
                  <a:pos x="381" y="0"/>
                </a:cxn>
                <a:cxn ang="0">
                  <a:pos x="0" y="328"/>
                </a:cxn>
              </a:cxnLst>
              <a:rect l="0" t="0" r="r" b="b"/>
              <a:pathLst>
                <a:path w="381" h="328">
                  <a:moveTo>
                    <a:pt x="381" y="0"/>
                  </a:moveTo>
                  <a:lnTo>
                    <a:pt x="0" y="328"/>
                  </a:lnTo>
                </a:path>
              </a:pathLst>
            </a:custGeom>
            <a:noFill/>
            <a:ln w="38100" cmpd="sng">
              <a:solidFill>
                <a:srgbClr val="800000"/>
              </a:solidFill>
              <a:round/>
              <a:headEnd/>
              <a:tailEnd type="stealth" w="med" len="lg"/>
            </a:ln>
            <a:effectLst/>
          </p:spPr>
          <p:txBody>
            <a:bodyPr wrap="none"/>
            <a:lstStyle/>
            <a:p>
              <a:pPr>
                <a:defRPr/>
              </a:pPr>
              <a:endParaRPr lang="zh-CN" altLang="en-US">
                <a:effectLst>
                  <a:outerShdw blurRad="38100" dist="38100" dir="2700000" algn="tl">
                    <a:srgbClr val="C0C0C0"/>
                  </a:outerShdw>
                </a:effectLst>
                <a:ea typeface="宋体" pitchFamily="2" charset="-122"/>
              </a:endParaRPr>
            </a:p>
          </p:txBody>
        </p:sp>
      </p:grpSp>
      <p:pic>
        <p:nvPicPr>
          <p:cNvPr id="2868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6181725"/>
            <a:ext cx="6762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2868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4913" y="6181725"/>
            <a:ext cx="668337"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38752145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3156" name="Rectangle 4"/>
          <p:cNvSpPr>
            <a:spLocks noChangeArrowheads="1"/>
          </p:cNvSpPr>
          <p:nvPr/>
        </p:nvSpPr>
        <p:spPr bwMode="auto">
          <a:xfrm>
            <a:off x="4964113" y="1449388"/>
            <a:ext cx="4086225" cy="5043487"/>
          </a:xfrm>
          <a:prstGeom prst="rect">
            <a:avLst/>
          </a:prstGeom>
          <a:solidFill>
            <a:srgbClr val="FFFFFF"/>
          </a:solidFill>
          <a:ln w="12700" cap="sq">
            <a:noFill/>
            <a:miter lim="800000"/>
            <a:headEnd type="none" w="sm" len="sm"/>
            <a:tailEnd type="none" w="sm" len="sm"/>
          </a:ln>
          <a:effectLst>
            <a:outerShdw dist="107763" dir="18900000" algn="ctr" rotWithShape="0">
              <a:schemeClr val="tx2"/>
            </a:outerShdw>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9699" name="Rectangle 5"/>
          <p:cNvSpPr>
            <a:spLocks noChangeArrowheads="1"/>
          </p:cNvSpPr>
          <p:nvPr/>
        </p:nvSpPr>
        <p:spPr bwMode="auto">
          <a:xfrm>
            <a:off x="5267325" y="4086225"/>
            <a:ext cx="3810000" cy="276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kumimoji="1" lang="en-US" altLang="zh-CN" sz="2000" b="1">
              <a:effectLst/>
              <a:latin typeface="Courier New" pitchFamily="49" charset="0"/>
              <a:ea typeface="宋体" pitchFamily="2" charset="-122"/>
            </a:endParaRPr>
          </a:p>
          <a:p>
            <a:pPr eaLnBrk="1" hangingPunct="1"/>
            <a:r>
              <a:rPr kumimoji="1" lang="en-US" altLang="zh-CN" sz="2000" b="1">
                <a:effectLst/>
                <a:latin typeface="Courier New" pitchFamily="49" charset="0"/>
                <a:ea typeface="宋体" pitchFamily="2" charset="-122"/>
              </a:rPr>
              <a:t>void Swap(int *x,int *y)</a:t>
            </a:r>
          </a:p>
          <a:p>
            <a:pPr eaLnBrk="1" hangingPunct="1"/>
            <a:r>
              <a:rPr kumimoji="1" lang="en-US" altLang="zh-CN" sz="2000" b="1">
                <a:effectLst/>
                <a:latin typeface="Courier New" pitchFamily="49" charset="0"/>
                <a:ea typeface="宋体" pitchFamily="2" charset="-122"/>
              </a:rPr>
              <a:t>{ </a:t>
            </a:r>
          </a:p>
          <a:p>
            <a:pPr eaLnBrk="1" hangingPunct="1"/>
            <a:r>
              <a:rPr kumimoji="1" lang="en-US" altLang="zh-CN" sz="2000" b="1">
                <a:effectLst/>
                <a:latin typeface="Courier New" pitchFamily="49" charset="0"/>
                <a:ea typeface="宋体" pitchFamily="2" charset="-122"/>
              </a:rPr>
              <a:t>    int temp;</a:t>
            </a:r>
          </a:p>
          <a:p>
            <a:pPr eaLnBrk="1" hangingPunct="1"/>
            <a:r>
              <a:rPr kumimoji="1" lang="en-US" altLang="zh-CN" sz="2000" b="1">
                <a:effectLst/>
                <a:latin typeface="Courier New" pitchFamily="49" charset="0"/>
                <a:ea typeface="宋体" pitchFamily="2" charset="-122"/>
              </a:rPr>
              <a:t>    temp = *x;</a:t>
            </a:r>
          </a:p>
          <a:p>
            <a:pPr eaLnBrk="1" hangingPunct="1"/>
            <a:r>
              <a:rPr kumimoji="1" lang="en-US" altLang="zh-CN" sz="2000" b="1">
                <a:effectLst/>
                <a:latin typeface="Courier New" pitchFamily="49" charset="0"/>
                <a:ea typeface="宋体" pitchFamily="2" charset="-122"/>
              </a:rPr>
              <a:t>    *x = *y;</a:t>
            </a:r>
          </a:p>
          <a:p>
            <a:pPr eaLnBrk="1" hangingPunct="1"/>
            <a:r>
              <a:rPr kumimoji="1" lang="en-US" altLang="zh-CN" sz="2000" b="1">
                <a:effectLst/>
                <a:latin typeface="Courier New" pitchFamily="49" charset="0"/>
                <a:ea typeface="宋体" pitchFamily="2" charset="-122"/>
              </a:rPr>
              <a:t>    *y = temp;</a:t>
            </a:r>
          </a:p>
          <a:p>
            <a:pPr eaLnBrk="1" hangingPunct="1"/>
            <a:r>
              <a:rPr kumimoji="1" lang="en-US" altLang="zh-CN" sz="2000" b="1">
                <a:effectLst/>
                <a:latin typeface="Courier New" pitchFamily="49" charset="0"/>
                <a:ea typeface="宋体" pitchFamily="2" charset="-122"/>
              </a:rPr>
              <a:t>}</a:t>
            </a:r>
          </a:p>
          <a:p>
            <a:pPr eaLnBrk="1" hangingPunct="1"/>
            <a:endParaRPr kumimoji="1" lang="zh-CN" altLang="en-US" sz="2000" b="1">
              <a:effectLst/>
              <a:latin typeface="Courier New" pitchFamily="49" charset="0"/>
              <a:ea typeface="宋体" pitchFamily="2" charset="-122"/>
            </a:endParaRPr>
          </a:p>
        </p:txBody>
      </p:sp>
      <p:sp>
        <p:nvSpPr>
          <p:cNvPr id="433158" name="Rectangle 6"/>
          <p:cNvSpPr>
            <a:spLocks noChangeArrowheads="1"/>
          </p:cNvSpPr>
          <p:nvPr/>
        </p:nvSpPr>
        <p:spPr bwMode="auto">
          <a:xfrm>
            <a:off x="4962525" y="1479550"/>
            <a:ext cx="4146550" cy="2921000"/>
          </a:xfrm>
          <a:prstGeom prst="rect">
            <a:avLst/>
          </a:prstGeom>
          <a:noFill/>
          <a:ln w="9525">
            <a:noFill/>
            <a:miter lim="800000"/>
            <a:headEnd/>
            <a:tailEnd/>
          </a:ln>
          <a:effectLst/>
        </p:spPr>
        <p:txBody>
          <a:bodyPr>
            <a:spAutoFit/>
          </a:bodyPr>
          <a:lstStyle/>
          <a:p>
            <a:pPr eaLnBrk="1" hangingPunct="1">
              <a:lnSpc>
                <a:spcPts val="2200"/>
              </a:lnSpc>
              <a:defRPr/>
            </a:pPr>
            <a:r>
              <a:rPr kumimoji="1" lang="en-US" altLang="zh-CN" sz="2000" b="1" dirty="0" err="1">
                <a:effectLst/>
                <a:latin typeface="Courier New" pitchFamily="49" charset="0"/>
                <a:ea typeface="宋体" pitchFamily="2" charset="-122"/>
              </a:rPr>
              <a:t>int</a:t>
            </a:r>
            <a:r>
              <a:rPr kumimoji="1" lang="en-US" altLang="zh-CN" sz="2000" b="1" dirty="0">
                <a:effectLst/>
                <a:latin typeface="Courier New" pitchFamily="49" charset="0"/>
                <a:ea typeface="宋体" pitchFamily="2" charset="-122"/>
              </a:rPr>
              <a:t> main()</a:t>
            </a:r>
          </a:p>
          <a:p>
            <a:pPr eaLnBrk="1" hangingPunct="1">
              <a:lnSpc>
                <a:spcPts val="2200"/>
              </a:lnSpc>
              <a:defRPr/>
            </a:pP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effectLst/>
                <a:latin typeface="Courier New" pitchFamily="49" charset="0"/>
                <a:ea typeface="宋体" pitchFamily="2" charset="-122"/>
              </a:rPr>
              <a:t>int</a:t>
            </a:r>
            <a:r>
              <a:rPr kumimoji="1" lang="en-US" altLang="zh-CN" sz="2000" b="1" dirty="0">
                <a:effectLst/>
                <a:latin typeface="Courier New" pitchFamily="49" charset="0"/>
                <a:ea typeface="宋体" pitchFamily="2" charset="-122"/>
              </a:rPr>
              <a:t> a, b;</a:t>
            </a:r>
          </a:p>
          <a:p>
            <a:pPr eaLnBrk="1" hangingPunct="1">
              <a:lnSpc>
                <a:spcPts val="2200"/>
              </a:lnSpc>
              <a:defRPr/>
            </a:pPr>
            <a:r>
              <a:rPr kumimoji="1" lang="en-US" altLang="zh-CN" sz="2000" b="1" dirty="0">
                <a:effectLst/>
                <a:latin typeface="Courier New" pitchFamily="49" charset="0"/>
                <a:ea typeface="宋体" pitchFamily="2" charset="-122"/>
              </a:rPr>
              <a:t>  a = 5;</a:t>
            </a:r>
          </a:p>
          <a:p>
            <a:pPr eaLnBrk="1" hangingPunct="1">
              <a:lnSpc>
                <a:spcPts val="2200"/>
              </a:lnSpc>
              <a:defRPr/>
            </a:pPr>
            <a:r>
              <a:rPr kumimoji="1" lang="en-US" altLang="zh-CN" sz="2000" b="1" dirty="0">
                <a:effectLst/>
                <a:latin typeface="Courier New" pitchFamily="49" charset="0"/>
                <a:ea typeface="宋体" pitchFamily="2" charset="-122"/>
              </a:rPr>
              <a:t>  b = 9;</a:t>
            </a:r>
          </a:p>
          <a:p>
            <a:pPr eaLnBrk="1" hangingPunct="1">
              <a:lnSpc>
                <a:spcPts val="2200"/>
              </a:lnSpc>
              <a:defRPr/>
            </a:pPr>
            <a:r>
              <a:rPr kumimoji="1" lang="en-US" altLang="zh-CN" sz="2000" b="1" dirty="0">
                <a:effectLst/>
                <a:latin typeface="Courier New" pitchFamily="49" charset="0"/>
                <a:ea typeface="宋体" pitchFamily="2" charset="-122"/>
              </a:rPr>
              <a:t>  Swap( &amp;a, &amp;b );</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effectLst/>
                <a:latin typeface="Courier New" pitchFamily="49" charset="0"/>
                <a:ea typeface="宋体" pitchFamily="2" charset="-122"/>
              </a:rPr>
              <a:t>printf</a:t>
            </a:r>
            <a:r>
              <a:rPr kumimoji="1" lang="en-US" altLang="zh-CN" sz="2000" b="1" dirty="0">
                <a:effectLst/>
                <a:latin typeface="Courier New" pitchFamily="49" charset="0"/>
                <a:ea typeface="宋体" pitchFamily="2" charset="-122"/>
              </a:rPr>
              <a:t>(</a:t>
            </a:r>
            <a:r>
              <a:rPr lang="en-US" altLang="zh-CN" sz="2000" b="1" dirty="0">
                <a:effectLst>
                  <a:outerShdw blurRad="38100" dist="38100" dir="2700000" algn="tl">
                    <a:srgbClr val="C0C0C0"/>
                  </a:outerShdw>
                </a:effectLst>
                <a:ea typeface="宋体" pitchFamily="2" charset="-122"/>
              </a:rPr>
              <a:t>"</a:t>
            </a:r>
            <a:r>
              <a:rPr kumimoji="1" lang="en-US" altLang="zh-CN" sz="2000" b="1" dirty="0">
                <a:effectLst/>
                <a:latin typeface="Courier New" pitchFamily="49" charset="0"/>
                <a:ea typeface="宋体" pitchFamily="2" charset="-122"/>
              </a:rPr>
              <a:t>a=%</a:t>
            </a:r>
            <a:r>
              <a:rPr kumimoji="1" lang="en-US" altLang="zh-CN" sz="2000" b="1" dirty="0" err="1">
                <a:effectLst/>
                <a:latin typeface="Courier New" pitchFamily="49" charset="0"/>
                <a:ea typeface="宋体" pitchFamily="2" charset="-122"/>
              </a:rPr>
              <a:t>d,b</a:t>
            </a:r>
            <a:r>
              <a:rPr kumimoji="1" lang="en-US" altLang="zh-CN" sz="2000" b="1" dirty="0">
                <a:effectLst/>
                <a:latin typeface="Courier New" pitchFamily="49" charset="0"/>
                <a:ea typeface="宋体" pitchFamily="2" charset="-122"/>
              </a:rPr>
              <a:t>=%</a:t>
            </a:r>
            <a:r>
              <a:rPr kumimoji="1" lang="en-US" altLang="zh-CN" sz="2000" b="1" dirty="0" err="1">
                <a:effectLst/>
                <a:latin typeface="Courier New" pitchFamily="49" charset="0"/>
                <a:ea typeface="宋体" pitchFamily="2" charset="-122"/>
              </a:rPr>
              <a:t>d</a:t>
            </a:r>
            <a:r>
              <a:rPr lang="en-US" altLang="zh-CN" sz="2000" b="1" dirty="0" err="1">
                <a:effectLst>
                  <a:outerShdw blurRad="38100" dist="38100" dir="2700000" algn="tl">
                    <a:srgbClr val="C0C0C0"/>
                  </a:outerShdw>
                </a:effectLst>
                <a:ea typeface="宋体" pitchFamily="2" charset="-122"/>
              </a:rPr>
              <a:t>"</a:t>
            </a:r>
            <a:r>
              <a:rPr kumimoji="1" lang="en-US" altLang="zh-CN" sz="2000" b="1" dirty="0" err="1">
                <a:effectLst/>
                <a:latin typeface="Courier New" pitchFamily="49" charset="0"/>
                <a:ea typeface="宋体" pitchFamily="2" charset="-122"/>
              </a:rPr>
              <a:t>,a,b</a:t>
            </a: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return 0;</a:t>
            </a:r>
          </a:p>
          <a:p>
            <a:pPr eaLnBrk="1" hangingPunct="1">
              <a:lnSpc>
                <a:spcPts val="2200"/>
              </a:lnSpc>
              <a:defRPr/>
            </a:pPr>
            <a:r>
              <a:rPr kumimoji="1" lang="en-US" altLang="zh-CN" sz="2000" b="1" dirty="0">
                <a:effectLst/>
                <a:latin typeface="Courier New" pitchFamily="49" charset="0"/>
                <a:ea typeface="宋体" pitchFamily="2" charset="-122"/>
              </a:rPr>
              <a:t>} </a:t>
            </a:r>
            <a:br>
              <a:rPr kumimoji="1" lang="en-US" altLang="zh-CN" sz="2000" b="1" dirty="0">
                <a:effectLst/>
                <a:latin typeface="Courier New" pitchFamily="49" charset="0"/>
                <a:ea typeface="宋体" pitchFamily="2" charset="-122"/>
              </a:rPr>
            </a:br>
            <a:endParaRPr kumimoji="1" lang="en-US" altLang="zh-CN" sz="2000" b="1" dirty="0">
              <a:effectLst/>
              <a:latin typeface="Courier New" pitchFamily="49" charset="0"/>
              <a:ea typeface="宋体" pitchFamily="2" charset="-122"/>
            </a:endParaRPr>
          </a:p>
        </p:txBody>
      </p:sp>
      <p:sp>
        <p:nvSpPr>
          <p:cNvPr id="31749" name="Rectangle 8"/>
          <p:cNvSpPr>
            <a:spLocks noChangeArrowheads="1"/>
          </p:cNvSpPr>
          <p:nvPr/>
        </p:nvSpPr>
        <p:spPr bwMode="auto">
          <a:xfrm>
            <a:off x="120650" y="1463675"/>
            <a:ext cx="3781425" cy="4962525"/>
          </a:xfrm>
          <a:prstGeom prst="rect">
            <a:avLst/>
          </a:prstGeom>
          <a:solidFill>
            <a:srgbClr val="FFFFFF"/>
          </a:solidFill>
          <a:ln w="12700" cap="sq">
            <a:noFill/>
            <a:miter lim="800000"/>
            <a:headEnd type="none" w="sm" len="sm"/>
            <a:tailEnd type="none" w="sm" len="sm"/>
          </a:ln>
          <a:effectLst>
            <a:outerShdw dist="107763" dir="13500000" algn="ctr" rotWithShape="0">
              <a:schemeClr val="tx2"/>
            </a:outerShdw>
          </a:effectLst>
        </p:spPr>
        <p:txBody>
          <a:bodyPr wrap="none" anchor="ctr"/>
          <a:lstStyle/>
          <a:p>
            <a:pPr eaLnBrk="1" hangingPunct="1">
              <a:defRPr/>
            </a:pPr>
            <a:endParaRPr kumimoji="1" lang="zh-CN" altLang="en-US">
              <a:effectLst/>
              <a:ea typeface="宋体" pitchFamily="2" charset="-122"/>
            </a:endParaRPr>
          </a:p>
        </p:txBody>
      </p:sp>
      <p:sp>
        <p:nvSpPr>
          <p:cNvPr id="433161" name="Rectangle 9"/>
          <p:cNvSpPr>
            <a:spLocks noGrp="1" noChangeArrowheads="1"/>
          </p:cNvSpPr>
          <p:nvPr>
            <p:ph type="body" idx="1"/>
          </p:nvPr>
        </p:nvSpPr>
        <p:spPr>
          <a:xfrm>
            <a:off x="149225" y="3643313"/>
            <a:ext cx="3630613" cy="2774950"/>
          </a:xfrm>
        </p:spPr>
        <p:txBody>
          <a:bodyPr/>
          <a:lstStyle/>
          <a:p>
            <a:pPr marL="342900" indent="-342900" eaLnBrk="1">
              <a:lnSpc>
                <a:spcPct val="85000"/>
              </a:lnSpc>
              <a:buFont typeface="Monotype Sorts" charset="2"/>
              <a:buNone/>
              <a:defRPr/>
            </a:pPr>
            <a:endParaRPr lang="zh-CN" altLang="en-US">
              <a:ea typeface="宋体" pitchFamily="2" charset="-122"/>
            </a:endParaRPr>
          </a:p>
          <a:p>
            <a:pPr marL="342900" indent="-342900" eaLnBrk="1">
              <a:lnSpc>
                <a:spcPct val="85000"/>
              </a:lnSpc>
              <a:buFont typeface="Monotype Sorts" charset="2"/>
              <a:buNone/>
              <a:defRPr/>
            </a:pPr>
            <a:endParaRPr lang="en-US" altLang="zh-CN" sz="2000">
              <a:effectLst/>
              <a:latin typeface="Courier New" pitchFamily="49" charset="0"/>
              <a:ea typeface="宋体" pitchFamily="2" charset="-122"/>
            </a:endParaRPr>
          </a:p>
          <a:p>
            <a:pPr marL="342900" indent="-342900" eaLnBrk="1">
              <a:lnSpc>
                <a:spcPct val="85000"/>
              </a:lnSpc>
              <a:buFont typeface="Monotype Sorts" charset="2"/>
              <a:buNone/>
              <a:defRPr/>
            </a:pPr>
            <a:r>
              <a:rPr lang="en-US" altLang="zh-CN" sz="2000">
                <a:effectLst/>
                <a:latin typeface="Courier New" pitchFamily="49" charset="0"/>
                <a:ea typeface="宋体" pitchFamily="2" charset="-122"/>
              </a:rPr>
              <a:t>void Swap(int x,int y)</a:t>
            </a:r>
          </a:p>
          <a:p>
            <a:pPr marL="342900" indent="-342900" eaLnBrk="1">
              <a:lnSpc>
                <a:spcPct val="90000"/>
              </a:lnSpc>
              <a:spcBef>
                <a:spcPct val="0"/>
              </a:spcBef>
              <a:buFont typeface="Monotype Sorts" charset="2"/>
              <a:buNone/>
              <a:defRPr/>
            </a:pPr>
            <a:r>
              <a:rPr lang="en-US" altLang="zh-CN" sz="2000">
                <a:effectLst/>
                <a:latin typeface="Courier New" pitchFamily="49" charset="0"/>
                <a:ea typeface="宋体" pitchFamily="2" charset="-122"/>
              </a:rPr>
              <a:t>{ </a:t>
            </a:r>
          </a:p>
          <a:p>
            <a:pPr marL="342900" indent="-342900" eaLnBrk="1">
              <a:lnSpc>
                <a:spcPct val="90000"/>
              </a:lnSpc>
              <a:spcBef>
                <a:spcPct val="0"/>
              </a:spcBef>
              <a:buFont typeface="Monotype Sorts" charset="2"/>
              <a:buNone/>
              <a:defRPr/>
            </a:pPr>
            <a:r>
              <a:rPr lang="en-US" altLang="zh-CN" sz="2000">
                <a:effectLst/>
                <a:latin typeface="Courier New" pitchFamily="49" charset="0"/>
                <a:ea typeface="宋体" pitchFamily="2" charset="-122"/>
              </a:rPr>
              <a:t>    int temp;</a:t>
            </a:r>
          </a:p>
          <a:p>
            <a:pPr marL="342900" indent="-342900" eaLnBrk="1">
              <a:lnSpc>
                <a:spcPct val="90000"/>
              </a:lnSpc>
              <a:spcBef>
                <a:spcPct val="0"/>
              </a:spcBef>
              <a:buFont typeface="Monotype Sorts" charset="2"/>
              <a:buNone/>
              <a:defRPr/>
            </a:pPr>
            <a:r>
              <a:rPr lang="en-US" altLang="zh-CN" sz="2000">
                <a:effectLst/>
                <a:latin typeface="Courier New" pitchFamily="49" charset="0"/>
                <a:ea typeface="宋体" pitchFamily="2" charset="-122"/>
              </a:rPr>
              <a:t>    temp = x;</a:t>
            </a:r>
          </a:p>
          <a:p>
            <a:pPr marL="342900" indent="-342900" eaLnBrk="1">
              <a:lnSpc>
                <a:spcPct val="90000"/>
              </a:lnSpc>
              <a:spcBef>
                <a:spcPct val="0"/>
              </a:spcBef>
              <a:buFont typeface="Monotype Sorts" charset="2"/>
              <a:buNone/>
              <a:defRPr/>
            </a:pPr>
            <a:r>
              <a:rPr lang="en-US" altLang="zh-CN" sz="2000">
                <a:effectLst/>
                <a:latin typeface="Courier New" pitchFamily="49" charset="0"/>
                <a:ea typeface="宋体" pitchFamily="2" charset="-122"/>
              </a:rPr>
              <a:t>    x = y;</a:t>
            </a:r>
          </a:p>
          <a:p>
            <a:pPr marL="342900" indent="-342900" eaLnBrk="1">
              <a:lnSpc>
                <a:spcPct val="90000"/>
              </a:lnSpc>
              <a:spcBef>
                <a:spcPct val="0"/>
              </a:spcBef>
              <a:buFont typeface="Monotype Sorts" charset="2"/>
              <a:buNone/>
              <a:defRPr/>
            </a:pPr>
            <a:r>
              <a:rPr lang="en-US" altLang="zh-CN" sz="2000">
                <a:effectLst/>
                <a:latin typeface="Courier New" pitchFamily="49" charset="0"/>
                <a:ea typeface="宋体" pitchFamily="2" charset="-122"/>
              </a:rPr>
              <a:t>    y = temp;</a:t>
            </a:r>
          </a:p>
          <a:p>
            <a:pPr marL="342900" indent="-342900" eaLnBrk="1">
              <a:lnSpc>
                <a:spcPct val="90000"/>
              </a:lnSpc>
              <a:spcBef>
                <a:spcPct val="0"/>
              </a:spcBef>
              <a:buFont typeface="Monotype Sorts" charset="2"/>
              <a:buNone/>
              <a:defRPr/>
            </a:pPr>
            <a:r>
              <a:rPr lang="en-US" altLang="zh-CN" sz="2000">
                <a:effectLst/>
                <a:latin typeface="Courier New" pitchFamily="49" charset="0"/>
                <a:ea typeface="宋体" pitchFamily="2" charset="-122"/>
              </a:rPr>
              <a:t>}</a:t>
            </a:r>
          </a:p>
        </p:txBody>
      </p:sp>
      <p:sp>
        <p:nvSpPr>
          <p:cNvPr id="433162" name="Rectangle 10"/>
          <p:cNvSpPr>
            <a:spLocks noChangeArrowheads="1"/>
          </p:cNvSpPr>
          <p:nvPr/>
        </p:nvSpPr>
        <p:spPr bwMode="auto">
          <a:xfrm>
            <a:off x="177800" y="1531938"/>
            <a:ext cx="4164013" cy="2638425"/>
          </a:xfrm>
          <a:prstGeom prst="rect">
            <a:avLst/>
          </a:prstGeom>
          <a:noFill/>
          <a:ln w="12700" cap="sq">
            <a:noFill/>
            <a:miter lim="800000"/>
            <a:headEnd type="none" w="sm" len="sm"/>
            <a:tailEnd type="none" w="sm" len="sm"/>
          </a:ln>
          <a:effectLst/>
        </p:spPr>
        <p:txBody>
          <a:bodyPr wrap="none">
            <a:spAutoFit/>
          </a:bodyPr>
          <a:lstStyle/>
          <a:p>
            <a:pPr eaLnBrk="1" hangingPunct="1">
              <a:lnSpc>
                <a:spcPts val="2200"/>
              </a:lnSpc>
              <a:defRPr/>
            </a:pPr>
            <a:r>
              <a:rPr kumimoji="1" lang="en-US" altLang="zh-CN" sz="2000" b="1" dirty="0" err="1">
                <a:effectLst/>
                <a:latin typeface="Courier New" pitchFamily="49" charset="0"/>
                <a:ea typeface="宋体" pitchFamily="2" charset="-122"/>
              </a:rPr>
              <a:t>int</a:t>
            </a:r>
            <a:r>
              <a:rPr kumimoji="1" lang="en-US" altLang="zh-CN" sz="2000" b="1" dirty="0">
                <a:effectLst/>
                <a:latin typeface="Courier New" pitchFamily="49" charset="0"/>
                <a:ea typeface="宋体" pitchFamily="2" charset="-122"/>
              </a:rPr>
              <a:t> main()</a:t>
            </a:r>
          </a:p>
          <a:p>
            <a:pPr eaLnBrk="1" hangingPunct="1">
              <a:lnSpc>
                <a:spcPts val="2200"/>
              </a:lnSpc>
              <a:defRPr/>
            </a:pP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effectLst/>
                <a:latin typeface="Courier New" pitchFamily="49" charset="0"/>
                <a:ea typeface="宋体" pitchFamily="2" charset="-122"/>
              </a:rPr>
              <a:t>int</a:t>
            </a:r>
            <a:r>
              <a:rPr kumimoji="1" lang="en-US" altLang="zh-CN" sz="2000" b="1" dirty="0">
                <a:effectLst/>
                <a:latin typeface="Courier New" pitchFamily="49" charset="0"/>
                <a:ea typeface="宋体" pitchFamily="2" charset="-122"/>
              </a:rPr>
              <a:t> a, b;</a:t>
            </a:r>
          </a:p>
          <a:p>
            <a:pPr eaLnBrk="1" hangingPunct="1">
              <a:lnSpc>
                <a:spcPts val="2200"/>
              </a:lnSpc>
              <a:defRPr/>
            </a:pPr>
            <a:r>
              <a:rPr kumimoji="1" lang="en-US" altLang="zh-CN" sz="2000" b="1" dirty="0">
                <a:effectLst/>
                <a:latin typeface="Courier New" pitchFamily="49" charset="0"/>
                <a:ea typeface="宋体" pitchFamily="2" charset="-122"/>
              </a:rPr>
              <a:t>  a = 5;</a:t>
            </a:r>
          </a:p>
          <a:p>
            <a:pPr eaLnBrk="1" hangingPunct="1">
              <a:lnSpc>
                <a:spcPts val="2200"/>
              </a:lnSpc>
              <a:defRPr/>
            </a:pPr>
            <a:r>
              <a:rPr kumimoji="1" lang="en-US" altLang="zh-CN" sz="2000" b="1" dirty="0">
                <a:effectLst/>
                <a:latin typeface="Courier New" pitchFamily="49" charset="0"/>
                <a:ea typeface="宋体" pitchFamily="2" charset="-122"/>
              </a:rPr>
              <a:t>  b = 9;</a:t>
            </a:r>
          </a:p>
          <a:p>
            <a:pPr eaLnBrk="1" hangingPunct="1">
              <a:lnSpc>
                <a:spcPts val="2200"/>
              </a:lnSpc>
              <a:defRPr/>
            </a:pPr>
            <a:r>
              <a:rPr kumimoji="1" lang="en-US" altLang="zh-CN" sz="2000" b="1" dirty="0">
                <a:effectLst/>
                <a:latin typeface="Courier New" pitchFamily="49" charset="0"/>
                <a:ea typeface="宋体" pitchFamily="2" charset="-122"/>
              </a:rPr>
              <a:t>  Swap(a, b);</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effectLst/>
                <a:latin typeface="Courier New" pitchFamily="49" charset="0"/>
                <a:ea typeface="宋体" pitchFamily="2" charset="-122"/>
              </a:rPr>
              <a:t>printf</a:t>
            </a:r>
            <a:r>
              <a:rPr kumimoji="1" lang="en-US" altLang="zh-CN" sz="2000" b="1" dirty="0">
                <a:effectLst/>
                <a:latin typeface="Courier New" pitchFamily="49" charset="0"/>
                <a:ea typeface="宋体" pitchFamily="2" charset="-122"/>
              </a:rPr>
              <a:t>(</a:t>
            </a:r>
            <a:r>
              <a:rPr lang="en-US" altLang="zh-CN" sz="2000" b="1" dirty="0">
                <a:effectLst>
                  <a:outerShdw blurRad="38100" dist="38100" dir="2700000" algn="tl">
                    <a:srgbClr val="C0C0C0"/>
                  </a:outerShdw>
                </a:effectLst>
                <a:ea typeface="宋体" pitchFamily="2" charset="-122"/>
              </a:rPr>
              <a:t>"</a:t>
            </a:r>
            <a:r>
              <a:rPr kumimoji="1" lang="en-US" altLang="zh-CN" sz="2000" b="1" dirty="0">
                <a:effectLst/>
                <a:latin typeface="Courier New" pitchFamily="49" charset="0"/>
                <a:ea typeface="宋体" pitchFamily="2" charset="-122"/>
              </a:rPr>
              <a:t>a=%</a:t>
            </a:r>
            <a:r>
              <a:rPr kumimoji="1" lang="en-US" altLang="zh-CN" sz="2000" b="1" dirty="0" err="1">
                <a:effectLst/>
                <a:latin typeface="Courier New" pitchFamily="49" charset="0"/>
                <a:ea typeface="宋体" pitchFamily="2" charset="-122"/>
              </a:rPr>
              <a:t>d,b</a:t>
            </a:r>
            <a:r>
              <a:rPr kumimoji="1" lang="en-US" altLang="zh-CN" sz="2000" b="1" dirty="0">
                <a:effectLst/>
                <a:latin typeface="Courier New" pitchFamily="49" charset="0"/>
                <a:ea typeface="宋体" pitchFamily="2" charset="-122"/>
              </a:rPr>
              <a:t>=%</a:t>
            </a:r>
            <a:r>
              <a:rPr kumimoji="1" lang="en-US" altLang="zh-CN" sz="2000" b="1" dirty="0" err="1">
                <a:effectLst/>
                <a:latin typeface="Courier New" pitchFamily="49" charset="0"/>
                <a:ea typeface="宋体" pitchFamily="2" charset="-122"/>
              </a:rPr>
              <a:t>d</a:t>
            </a:r>
            <a:r>
              <a:rPr lang="en-US" altLang="zh-CN" sz="2000" b="1" dirty="0" err="1">
                <a:effectLst>
                  <a:outerShdw blurRad="38100" dist="38100" dir="2700000" algn="tl">
                    <a:srgbClr val="C0C0C0"/>
                  </a:outerShdw>
                </a:effectLst>
                <a:ea typeface="宋体" pitchFamily="2" charset="-122"/>
              </a:rPr>
              <a:t>"</a:t>
            </a:r>
            <a:r>
              <a:rPr kumimoji="1" lang="en-US" altLang="zh-CN" sz="2000" b="1" dirty="0" err="1">
                <a:effectLst/>
                <a:latin typeface="Courier New" pitchFamily="49" charset="0"/>
                <a:ea typeface="宋体" pitchFamily="2" charset="-122"/>
              </a:rPr>
              <a:t>,a,b</a:t>
            </a: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return 0;</a:t>
            </a:r>
          </a:p>
          <a:p>
            <a:pPr eaLnBrk="1" hangingPunct="1">
              <a:lnSpc>
                <a:spcPts val="2200"/>
              </a:lnSpc>
              <a:defRPr/>
            </a:pPr>
            <a:r>
              <a:rPr kumimoji="1" lang="en-US" altLang="zh-CN" sz="2000" b="1" dirty="0">
                <a:effectLst/>
                <a:latin typeface="Courier New" pitchFamily="49" charset="0"/>
                <a:ea typeface="宋体" pitchFamily="2" charset="-122"/>
              </a:rPr>
              <a:t>}</a:t>
            </a:r>
          </a:p>
        </p:txBody>
      </p:sp>
      <p:sp>
        <p:nvSpPr>
          <p:cNvPr id="29704" name="Text Box 11"/>
          <p:cNvSpPr txBox="1">
            <a:spLocks noChangeArrowheads="1"/>
          </p:cNvSpPr>
          <p:nvPr/>
        </p:nvSpPr>
        <p:spPr bwMode="auto">
          <a:xfrm>
            <a:off x="90488" y="836613"/>
            <a:ext cx="1025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zh-CN" altLang="en-US" b="1">
                <a:effectLst/>
                <a:ea typeface="宋体" pitchFamily="2" charset="-122"/>
              </a:rPr>
              <a:t>程序 </a:t>
            </a:r>
            <a:r>
              <a:rPr kumimoji="1" lang="en-US" altLang="zh-CN" b="1">
                <a:effectLst/>
                <a:ea typeface="宋体" pitchFamily="2" charset="-122"/>
              </a:rPr>
              <a:t>1</a:t>
            </a:r>
          </a:p>
        </p:txBody>
      </p:sp>
      <p:sp>
        <p:nvSpPr>
          <p:cNvPr id="29705" name="Text Box 12"/>
          <p:cNvSpPr txBox="1">
            <a:spLocks noChangeArrowheads="1"/>
          </p:cNvSpPr>
          <p:nvPr/>
        </p:nvSpPr>
        <p:spPr bwMode="auto">
          <a:xfrm>
            <a:off x="7812088" y="765175"/>
            <a:ext cx="1101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zh-CN" altLang="en-US" b="1">
                <a:effectLst/>
                <a:ea typeface="宋体" pitchFamily="2" charset="-122"/>
              </a:rPr>
              <a:t>程序 </a:t>
            </a:r>
            <a:r>
              <a:rPr kumimoji="1" lang="en-US" altLang="zh-CN" b="1">
                <a:effectLst/>
                <a:ea typeface="宋体" pitchFamily="2" charset="-122"/>
              </a:rPr>
              <a:t>2 </a:t>
            </a:r>
          </a:p>
        </p:txBody>
      </p:sp>
      <p:grpSp>
        <p:nvGrpSpPr>
          <p:cNvPr id="2" name="Group 14"/>
          <p:cNvGrpSpPr>
            <a:grpSpLocks/>
          </p:cNvGrpSpPr>
          <p:nvPr/>
        </p:nvGrpSpPr>
        <p:grpSpPr bwMode="auto">
          <a:xfrm>
            <a:off x="2771775" y="1543050"/>
            <a:ext cx="2266950" cy="590550"/>
            <a:chOff x="1692" y="972"/>
            <a:chExt cx="1599" cy="432"/>
          </a:xfrm>
        </p:grpSpPr>
        <p:sp>
          <p:nvSpPr>
            <p:cNvPr id="433167" name="Oval 15"/>
            <p:cNvSpPr>
              <a:spLocks noChangeArrowheads="1"/>
            </p:cNvSpPr>
            <p:nvPr/>
          </p:nvSpPr>
          <p:spPr bwMode="auto">
            <a:xfrm>
              <a:off x="2010" y="972"/>
              <a:ext cx="1008" cy="432"/>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12700" cap="sq">
              <a:noFill/>
              <a:round/>
              <a:headEnd type="none" w="sm" len="sm"/>
              <a:tailEnd type="none" w="sm" len="sm"/>
            </a:ln>
            <a:effectLst/>
          </p:spPr>
          <p:txBody>
            <a:bodyPr wrap="none" anchor="ctr"/>
            <a:lstStyle/>
            <a:p>
              <a:pPr algn="ctr" eaLnBrk="1" hangingPunct="1">
                <a:defRPr/>
              </a:pPr>
              <a:r>
                <a:rPr kumimoji="1" lang="zh-CN" altLang="en-US" sz="2000" b="1">
                  <a:solidFill>
                    <a:schemeClr val="bg1"/>
                  </a:solidFill>
                  <a:effectLst/>
                  <a:ea typeface="幼圆" pitchFamily="49" charset="-122"/>
                </a:rPr>
                <a:t>主调函数</a:t>
              </a:r>
            </a:p>
          </p:txBody>
        </p:sp>
        <p:sp>
          <p:nvSpPr>
            <p:cNvPr id="433168" name="Line 16"/>
            <p:cNvSpPr>
              <a:spLocks noChangeShapeType="1"/>
            </p:cNvSpPr>
            <p:nvPr/>
          </p:nvSpPr>
          <p:spPr bwMode="auto">
            <a:xfrm flipH="1">
              <a:off x="1692" y="1344"/>
              <a:ext cx="613" cy="0"/>
            </a:xfrm>
            <a:prstGeom prst="line">
              <a:avLst/>
            </a:prstGeom>
            <a:noFill/>
            <a:ln w="57150" cap="sq">
              <a:solidFill>
                <a:srgbClr val="333399"/>
              </a:solidFill>
              <a:round/>
              <a:headEnd type="none" w="sm" len="sm"/>
              <a:tailEnd type="triangle" w="med" len="med"/>
            </a:ln>
            <a:effectLst/>
          </p:spPr>
          <p:txBody>
            <a:bodyPr wrap="none" anchor="ctr"/>
            <a:lstStyle/>
            <a:p>
              <a:pPr>
                <a:defRPr/>
              </a:pPr>
              <a:endParaRPr lang="zh-CN" altLang="en-US"/>
            </a:p>
          </p:txBody>
        </p:sp>
        <p:sp>
          <p:nvSpPr>
            <p:cNvPr id="433169" name="Line 17"/>
            <p:cNvSpPr>
              <a:spLocks noChangeShapeType="1"/>
            </p:cNvSpPr>
            <p:nvPr/>
          </p:nvSpPr>
          <p:spPr bwMode="auto">
            <a:xfrm>
              <a:off x="2667" y="1008"/>
              <a:ext cx="624" cy="0"/>
            </a:xfrm>
            <a:prstGeom prst="line">
              <a:avLst/>
            </a:prstGeom>
            <a:noFill/>
            <a:ln w="57150" cap="sq">
              <a:solidFill>
                <a:srgbClr val="333399"/>
              </a:solidFill>
              <a:round/>
              <a:headEnd type="none" w="sm" len="sm"/>
              <a:tailEnd type="triangle" w="med" len="med"/>
            </a:ln>
            <a:effectLst/>
          </p:spPr>
          <p:txBody>
            <a:bodyPr wrap="none" anchor="ctr"/>
            <a:lstStyle/>
            <a:p>
              <a:pPr>
                <a:defRPr/>
              </a:pPr>
              <a:endParaRPr lang="zh-CN" altLang="en-US"/>
            </a:p>
          </p:txBody>
        </p:sp>
      </p:grpSp>
      <p:grpSp>
        <p:nvGrpSpPr>
          <p:cNvPr id="3" name="Group 18"/>
          <p:cNvGrpSpPr>
            <a:grpSpLocks/>
          </p:cNvGrpSpPr>
          <p:nvPr/>
        </p:nvGrpSpPr>
        <p:grpSpPr bwMode="auto">
          <a:xfrm>
            <a:off x="3467100" y="4292600"/>
            <a:ext cx="1873250" cy="649288"/>
            <a:chOff x="1764" y="2238"/>
            <a:chExt cx="1968" cy="414"/>
          </a:xfrm>
        </p:grpSpPr>
        <p:sp>
          <p:nvSpPr>
            <p:cNvPr id="433171" name="Oval 19"/>
            <p:cNvSpPr>
              <a:spLocks noChangeArrowheads="1"/>
            </p:cNvSpPr>
            <p:nvPr/>
          </p:nvSpPr>
          <p:spPr bwMode="auto">
            <a:xfrm>
              <a:off x="2256" y="2238"/>
              <a:ext cx="1044" cy="414"/>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12700" cap="sq">
              <a:noFill/>
              <a:round/>
              <a:headEnd type="none" w="sm" len="sm"/>
              <a:tailEnd type="none" w="sm" len="sm"/>
            </a:ln>
            <a:effectLst/>
          </p:spPr>
          <p:txBody>
            <a:bodyPr wrap="none" anchor="ctr"/>
            <a:lstStyle/>
            <a:p>
              <a:pPr algn="ctr" eaLnBrk="1" hangingPunct="1">
                <a:defRPr/>
              </a:pPr>
              <a:r>
                <a:rPr kumimoji="1" lang="zh-CN" altLang="en-US" sz="1800" b="1">
                  <a:solidFill>
                    <a:schemeClr val="bg1"/>
                  </a:solidFill>
                  <a:effectLst/>
                  <a:ea typeface="幼圆" pitchFamily="49" charset="-122"/>
                </a:rPr>
                <a:t>被调</a:t>
              </a:r>
            </a:p>
            <a:p>
              <a:pPr algn="ctr" eaLnBrk="1" hangingPunct="1">
                <a:defRPr/>
              </a:pPr>
              <a:r>
                <a:rPr kumimoji="1" lang="zh-CN" altLang="en-US" sz="1800" b="1">
                  <a:solidFill>
                    <a:schemeClr val="bg1"/>
                  </a:solidFill>
                  <a:effectLst/>
                  <a:ea typeface="幼圆" pitchFamily="49" charset="-122"/>
                </a:rPr>
                <a:t>函数</a:t>
              </a:r>
            </a:p>
          </p:txBody>
        </p:sp>
        <p:sp>
          <p:nvSpPr>
            <p:cNvPr id="433172" name="Line 20"/>
            <p:cNvSpPr>
              <a:spLocks noChangeShapeType="1"/>
            </p:cNvSpPr>
            <p:nvPr/>
          </p:nvSpPr>
          <p:spPr bwMode="auto">
            <a:xfrm flipH="1">
              <a:off x="1764" y="2460"/>
              <a:ext cx="492" cy="0"/>
            </a:xfrm>
            <a:prstGeom prst="line">
              <a:avLst/>
            </a:prstGeom>
            <a:noFill/>
            <a:ln w="57150" cap="sq">
              <a:solidFill>
                <a:srgbClr val="333399"/>
              </a:solidFill>
              <a:round/>
              <a:headEnd type="none" w="sm" len="sm"/>
              <a:tailEnd type="triangle" w="med" len="med"/>
            </a:ln>
            <a:effectLst/>
          </p:spPr>
          <p:txBody>
            <a:bodyPr wrap="none" anchor="ctr"/>
            <a:lstStyle/>
            <a:p>
              <a:pPr>
                <a:defRPr/>
              </a:pPr>
              <a:endParaRPr lang="zh-CN" altLang="en-US"/>
            </a:p>
          </p:txBody>
        </p:sp>
        <p:sp>
          <p:nvSpPr>
            <p:cNvPr id="433173" name="Line 21"/>
            <p:cNvSpPr>
              <a:spLocks noChangeShapeType="1"/>
            </p:cNvSpPr>
            <p:nvPr/>
          </p:nvSpPr>
          <p:spPr bwMode="auto">
            <a:xfrm>
              <a:off x="3307" y="2460"/>
              <a:ext cx="425" cy="0"/>
            </a:xfrm>
            <a:prstGeom prst="line">
              <a:avLst/>
            </a:prstGeom>
            <a:noFill/>
            <a:ln w="57150" cap="sq">
              <a:solidFill>
                <a:srgbClr val="333399"/>
              </a:solidFill>
              <a:round/>
              <a:headEnd type="none" w="sm" len="sm"/>
              <a:tailEnd type="triangle" w="med" len="med"/>
            </a:ln>
            <a:effectLst/>
          </p:spPr>
          <p:txBody>
            <a:bodyPr wrap="none" anchor="ctr"/>
            <a:lstStyle/>
            <a:p>
              <a:pPr>
                <a:defRPr/>
              </a:pPr>
              <a:endParaRPr lang="zh-CN" altLang="en-US"/>
            </a:p>
          </p:txBody>
        </p:sp>
      </p:grpSp>
      <p:sp>
        <p:nvSpPr>
          <p:cNvPr id="433174" name="Oval 22"/>
          <p:cNvSpPr>
            <a:spLocks noChangeArrowheads="1"/>
          </p:cNvSpPr>
          <p:nvPr/>
        </p:nvSpPr>
        <p:spPr bwMode="auto">
          <a:xfrm>
            <a:off x="1216025" y="2914650"/>
            <a:ext cx="876300" cy="390525"/>
          </a:xfrm>
          <a:prstGeom prst="ellipse">
            <a:avLst/>
          </a:prstGeom>
          <a:noFill/>
          <a:ln w="57150" cap="sq">
            <a:solidFill>
              <a:srgbClr val="333399"/>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3175" name="Oval 23"/>
          <p:cNvSpPr>
            <a:spLocks noChangeArrowheads="1"/>
          </p:cNvSpPr>
          <p:nvPr/>
        </p:nvSpPr>
        <p:spPr bwMode="auto">
          <a:xfrm>
            <a:off x="6143625" y="2898775"/>
            <a:ext cx="1308100" cy="390525"/>
          </a:xfrm>
          <a:prstGeom prst="ellipse">
            <a:avLst/>
          </a:prstGeom>
          <a:noFill/>
          <a:ln w="57150" cap="sq">
            <a:solidFill>
              <a:srgbClr val="333399"/>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3176" name="Oval 24"/>
          <p:cNvSpPr>
            <a:spLocks noChangeArrowheads="1"/>
          </p:cNvSpPr>
          <p:nvPr/>
        </p:nvSpPr>
        <p:spPr bwMode="auto">
          <a:xfrm>
            <a:off x="3779838" y="2928938"/>
            <a:ext cx="1247775" cy="390525"/>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12700" cap="sq">
            <a:noFill/>
            <a:round/>
            <a:headEnd type="none" w="sm" len="sm"/>
            <a:tailEnd type="none" w="sm" len="sm"/>
          </a:ln>
          <a:effectLst/>
        </p:spPr>
        <p:txBody>
          <a:bodyPr wrap="none" anchor="ctr"/>
          <a:lstStyle/>
          <a:p>
            <a:pPr algn="ctr" eaLnBrk="1" hangingPunct="1">
              <a:defRPr/>
            </a:pPr>
            <a:r>
              <a:rPr kumimoji="1" lang="zh-CN" altLang="en-US" b="1" dirty="0">
                <a:solidFill>
                  <a:schemeClr val="bg1"/>
                </a:solidFill>
                <a:effectLst/>
                <a:latin typeface="幼圆" pitchFamily="49" charset="-122"/>
                <a:ea typeface="幼圆" pitchFamily="49" charset="-122"/>
              </a:rPr>
              <a:t>实 参</a:t>
            </a:r>
          </a:p>
        </p:txBody>
      </p:sp>
      <p:sp>
        <p:nvSpPr>
          <p:cNvPr id="433177" name="Line 25"/>
          <p:cNvSpPr>
            <a:spLocks noChangeShapeType="1"/>
          </p:cNvSpPr>
          <p:nvPr/>
        </p:nvSpPr>
        <p:spPr bwMode="auto">
          <a:xfrm flipH="1">
            <a:off x="2114550" y="3140075"/>
            <a:ext cx="1690688" cy="0"/>
          </a:xfrm>
          <a:prstGeom prst="line">
            <a:avLst/>
          </a:prstGeom>
          <a:noFill/>
          <a:ln w="57150" cap="sq">
            <a:solidFill>
              <a:srgbClr val="333399"/>
            </a:solidFill>
            <a:round/>
            <a:headEnd type="triangle" w="med" len="med"/>
            <a:tailEnd/>
          </a:ln>
          <a:effectLst/>
        </p:spPr>
        <p:txBody>
          <a:bodyPr wrap="none" anchor="ctr"/>
          <a:lstStyle/>
          <a:p>
            <a:pPr>
              <a:defRPr/>
            </a:pPr>
            <a:endParaRPr lang="zh-CN" altLang="en-US"/>
          </a:p>
        </p:txBody>
      </p:sp>
      <p:sp>
        <p:nvSpPr>
          <p:cNvPr id="433178" name="Line 26"/>
          <p:cNvSpPr>
            <a:spLocks noChangeShapeType="1"/>
          </p:cNvSpPr>
          <p:nvPr/>
        </p:nvSpPr>
        <p:spPr bwMode="auto">
          <a:xfrm>
            <a:off x="4973638" y="3101975"/>
            <a:ext cx="1162050" cy="0"/>
          </a:xfrm>
          <a:prstGeom prst="line">
            <a:avLst/>
          </a:prstGeom>
          <a:noFill/>
          <a:ln w="57150" cap="sq">
            <a:solidFill>
              <a:srgbClr val="333399"/>
            </a:solidFill>
            <a:round/>
            <a:headEnd type="triangle" w="med" len="med"/>
            <a:tailEnd/>
          </a:ln>
          <a:effectLst/>
        </p:spPr>
        <p:txBody>
          <a:bodyPr wrap="none" anchor="ctr"/>
          <a:lstStyle/>
          <a:p>
            <a:pPr>
              <a:defRPr/>
            </a:pPr>
            <a:endParaRPr lang="zh-CN" altLang="en-US"/>
          </a:p>
        </p:txBody>
      </p:sp>
      <p:sp>
        <p:nvSpPr>
          <p:cNvPr id="433179" name="Oval 27"/>
          <p:cNvSpPr>
            <a:spLocks noChangeArrowheads="1"/>
          </p:cNvSpPr>
          <p:nvPr/>
        </p:nvSpPr>
        <p:spPr bwMode="auto">
          <a:xfrm>
            <a:off x="1708150" y="4276725"/>
            <a:ext cx="1800225" cy="609600"/>
          </a:xfrm>
          <a:prstGeom prst="ellipse">
            <a:avLst/>
          </a:prstGeom>
          <a:noFill/>
          <a:ln w="57150" cap="sq">
            <a:solidFill>
              <a:srgbClr val="333399"/>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3180" name="Oval 28"/>
          <p:cNvSpPr>
            <a:spLocks noChangeArrowheads="1"/>
          </p:cNvSpPr>
          <p:nvPr/>
        </p:nvSpPr>
        <p:spPr bwMode="auto">
          <a:xfrm>
            <a:off x="6819900" y="4314825"/>
            <a:ext cx="2160588" cy="609600"/>
          </a:xfrm>
          <a:prstGeom prst="ellipse">
            <a:avLst/>
          </a:prstGeom>
          <a:noFill/>
          <a:ln w="57150" cap="sq">
            <a:solidFill>
              <a:srgbClr val="333399"/>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3181" name="Oval 29"/>
          <p:cNvSpPr>
            <a:spLocks noChangeArrowheads="1"/>
          </p:cNvSpPr>
          <p:nvPr/>
        </p:nvSpPr>
        <p:spPr bwMode="auto">
          <a:xfrm>
            <a:off x="3713163" y="5126038"/>
            <a:ext cx="1362075" cy="390525"/>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12700" cap="sq">
            <a:noFill/>
            <a:round/>
            <a:headEnd type="none" w="sm" len="sm"/>
            <a:tailEnd type="none" w="sm" len="sm"/>
          </a:ln>
          <a:effectLst/>
        </p:spPr>
        <p:txBody>
          <a:bodyPr wrap="none" anchor="ctr"/>
          <a:lstStyle/>
          <a:p>
            <a:pPr algn="ctr" eaLnBrk="1" hangingPunct="1">
              <a:defRPr/>
            </a:pPr>
            <a:r>
              <a:rPr kumimoji="1" lang="zh-CN" altLang="en-US" b="1">
                <a:solidFill>
                  <a:schemeClr val="bg1"/>
                </a:solidFill>
                <a:effectLst/>
                <a:latin typeface="幼圆" pitchFamily="49" charset="-122"/>
                <a:ea typeface="幼圆" pitchFamily="49" charset="-122"/>
              </a:rPr>
              <a:t>形 参</a:t>
            </a:r>
          </a:p>
        </p:txBody>
      </p:sp>
      <p:sp>
        <p:nvSpPr>
          <p:cNvPr id="433182" name="Line 30"/>
          <p:cNvSpPr>
            <a:spLocks noChangeShapeType="1"/>
          </p:cNvSpPr>
          <p:nvPr/>
        </p:nvSpPr>
        <p:spPr bwMode="auto">
          <a:xfrm flipV="1">
            <a:off x="5075238" y="4837113"/>
            <a:ext cx="1873250" cy="504825"/>
          </a:xfrm>
          <a:prstGeom prst="line">
            <a:avLst/>
          </a:prstGeom>
          <a:noFill/>
          <a:ln w="57150" cap="sq">
            <a:solidFill>
              <a:srgbClr val="333399"/>
            </a:solidFill>
            <a:round/>
            <a:headEnd type="triangle" w="med" len="med"/>
            <a:tailEnd/>
          </a:ln>
          <a:effectLst/>
        </p:spPr>
        <p:txBody>
          <a:bodyPr wrap="none" anchor="ctr"/>
          <a:lstStyle/>
          <a:p>
            <a:pPr>
              <a:defRPr/>
            </a:pPr>
            <a:endParaRPr lang="zh-CN" altLang="en-US"/>
          </a:p>
        </p:txBody>
      </p:sp>
      <p:sp>
        <p:nvSpPr>
          <p:cNvPr id="433183" name="Line 31"/>
          <p:cNvSpPr>
            <a:spLocks noChangeShapeType="1"/>
          </p:cNvSpPr>
          <p:nvPr/>
        </p:nvSpPr>
        <p:spPr bwMode="auto">
          <a:xfrm flipH="1" flipV="1">
            <a:off x="2555875" y="4910138"/>
            <a:ext cx="1135063" cy="447675"/>
          </a:xfrm>
          <a:prstGeom prst="line">
            <a:avLst/>
          </a:prstGeom>
          <a:noFill/>
          <a:ln w="57150" cap="sq">
            <a:solidFill>
              <a:srgbClr val="333399"/>
            </a:solidFill>
            <a:round/>
            <a:headEnd type="triangle" w="med" len="med"/>
            <a:tailEnd/>
          </a:ln>
          <a:effectLst/>
        </p:spPr>
        <p:txBody>
          <a:bodyPr wrap="none" anchor="ctr"/>
          <a:lstStyle/>
          <a:p>
            <a:pPr>
              <a:defRPr/>
            </a:pPr>
            <a:endParaRPr lang="zh-CN" altLang="en-US"/>
          </a:p>
        </p:txBody>
      </p:sp>
      <p:sp>
        <p:nvSpPr>
          <p:cNvPr id="433184" name="Text Box 32">
            <a:hlinkClick r:id="rId2" action="ppaction://program"/>
          </p:cNvPr>
          <p:cNvSpPr txBox="1">
            <a:spLocks noChangeArrowheads="1"/>
          </p:cNvSpPr>
          <p:nvPr/>
        </p:nvSpPr>
        <p:spPr bwMode="auto">
          <a:xfrm>
            <a:off x="2484438" y="6162675"/>
            <a:ext cx="3040062" cy="579438"/>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zh-CN" altLang="en-US" sz="3200" b="1">
                <a:solidFill>
                  <a:srgbClr val="000099"/>
                </a:solidFill>
                <a:effectLst>
                  <a:outerShdw blurRad="38100" dist="38100" dir="2700000" algn="tl">
                    <a:srgbClr val="C0C0C0"/>
                  </a:outerShdw>
                </a:effectLst>
                <a:ea typeface="隶书" pitchFamily="49" charset="-122"/>
              </a:rPr>
              <a:t>结果有何不同？</a:t>
            </a:r>
          </a:p>
        </p:txBody>
      </p:sp>
      <p:sp>
        <p:nvSpPr>
          <p:cNvPr id="433185" name="Line 33"/>
          <p:cNvSpPr>
            <a:spLocks noChangeShapeType="1"/>
          </p:cNvSpPr>
          <p:nvPr/>
        </p:nvSpPr>
        <p:spPr bwMode="auto">
          <a:xfrm>
            <a:off x="179388" y="4214813"/>
            <a:ext cx="3959225" cy="0"/>
          </a:xfrm>
          <a:prstGeom prst="line">
            <a:avLst/>
          </a:prstGeom>
          <a:noFill/>
          <a:ln w="57150" cap="sq" cmpd="thinThick">
            <a:solidFill>
              <a:schemeClr val="accent2"/>
            </a:solidFill>
            <a:round/>
            <a:headEnd type="none" w="sm" len="sm"/>
            <a:tailEnd type="none" w="sm" len="sm"/>
          </a:ln>
          <a:effectLst/>
        </p:spPr>
        <p:txBody>
          <a:bodyPr wrap="none" anchor="ctr"/>
          <a:lstStyle/>
          <a:p>
            <a:pPr>
              <a:defRPr/>
            </a:pPr>
            <a:endParaRPr lang="zh-CN" altLang="en-US"/>
          </a:p>
        </p:txBody>
      </p:sp>
      <p:sp>
        <p:nvSpPr>
          <p:cNvPr id="433186" name="Line 34"/>
          <p:cNvSpPr>
            <a:spLocks noChangeShapeType="1"/>
          </p:cNvSpPr>
          <p:nvPr/>
        </p:nvSpPr>
        <p:spPr bwMode="auto">
          <a:xfrm>
            <a:off x="5068888" y="4229100"/>
            <a:ext cx="3995737" cy="0"/>
          </a:xfrm>
          <a:prstGeom prst="line">
            <a:avLst/>
          </a:prstGeom>
          <a:noFill/>
          <a:ln w="57150" cap="sq" cmpd="thinThick">
            <a:solidFill>
              <a:schemeClr val="accent2"/>
            </a:solidFill>
            <a:round/>
            <a:headEnd type="none" w="sm" len="sm"/>
            <a:tailEnd type="none" w="sm" len="sm"/>
          </a:ln>
          <a:effectLst/>
        </p:spPr>
        <p:txBody>
          <a:bodyPr wrap="none" anchor="ctr"/>
          <a:lstStyle/>
          <a:p>
            <a:pPr>
              <a:defRPr/>
            </a:pPr>
            <a:endParaRPr lang="zh-CN" altLang="en-US"/>
          </a:p>
        </p:txBody>
      </p:sp>
      <p:sp>
        <p:nvSpPr>
          <p:cNvPr id="433187" name="WordArt 35"/>
          <p:cNvSpPr>
            <a:spLocks noChangeArrowheads="1" noChangeShapeType="1" noTextEdit="1"/>
          </p:cNvSpPr>
          <p:nvPr/>
        </p:nvSpPr>
        <p:spPr bwMode="auto">
          <a:xfrm>
            <a:off x="1456519" y="5760392"/>
            <a:ext cx="2611425" cy="692944"/>
          </a:xfrm>
          <a:prstGeom prst="rect">
            <a:avLst/>
          </a:prstGeom>
        </p:spPr>
        <p:txBody>
          <a:bodyPr wrap="none" fromWordArt="1">
            <a:prstTxWarp prst="textSlantUp">
              <a:avLst>
                <a:gd name="adj" fmla="val 55556"/>
              </a:avLst>
            </a:prstTxWarp>
          </a:bodyPr>
          <a:lstStyle/>
          <a:p>
            <a:pPr algn="ctr">
              <a:defRPr/>
            </a:pPr>
            <a:r>
              <a:rPr lang="en-US" altLang="zh-CN" sz="3600" b="1" kern="10" dirty="0">
                <a:ln w="9525">
                  <a:solidFill>
                    <a:srgbClr val="FF0000"/>
                  </a:solidFill>
                  <a:round/>
                  <a:headEnd type="none" w="sm" len="sm"/>
                  <a:tailEnd type="none" w="sm" len="sm"/>
                </a:ln>
                <a:solidFill>
                  <a:srgbClr val="FF0000"/>
                </a:solidFill>
                <a:effectLst/>
                <a:latin typeface="Academy Engraved LET"/>
              </a:rPr>
              <a:t>Not Work</a:t>
            </a:r>
            <a:r>
              <a:rPr lang="zh-CN" altLang="en-US" sz="3600" b="1" kern="10" dirty="0">
                <a:ln w="9525">
                  <a:solidFill>
                    <a:srgbClr val="FF0000"/>
                  </a:solidFill>
                  <a:round/>
                  <a:headEnd type="none" w="sm" len="sm"/>
                  <a:tailEnd type="none" w="sm" len="sm"/>
                </a:ln>
                <a:solidFill>
                  <a:srgbClr val="FF0000"/>
                </a:solidFill>
                <a:effectLst/>
                <a:latin typeface="Academy Engraved LET"/>
              </a:rPr>
              <a:t>！</a:t>
            </a:r>
            <a:r>
              <a:rPr lang="en-US" altLang="zh-CN" sz="3600" b="1" kern="10" dirty="0">
                <a:ln w="9525">
                  <a:solidFill>
                    <a:srgbClr val="FF0000"/>
                  </a:solidFill>
                  <a:round/>
                  <a:headEnd type="none" w="sm" len="sm"/>
                  <a:tailEnd type="none" w="sm" len="sm"/>
                </a:ln>
                <a:solidFill>
                  <a:srgbClr val="FF0000"/>
                </a:solidFill>
                <a:effectLst/>
                <a:latin typeface="Academy Engraved LET"/>
              </a:rPr>
              <a:t>Why?</a:t>
            </a:r>
            <a:endParaRPr lang="zh-CN" altLang="en-US" sz="3600" b="1" kern="10" dirty="0">
              <a:ln w="9525">
                <a:solidFill>
                  <a:srgbClr val="FF0000"/>
                </a:solidFill>
                <a:round/>
                <a:headEnd type="none" w="sm" len="sm"/>
                <a:tailEnd type="none" w="sm" len="sm"/>
              </a:ln>
              <a:solidFill>
                <a:srgbClr val="FF0000"/>
              </a:solidFill>
              <a:effectLst/>
              <a:latin typeface="Academy Engraved LET"/>
            </a:endParaRPr>
          </a:p>
        </p:txBody>
      </p:sp>
      <p:sp>
        <p:nvSpPr>
          <p:cNvPr id="433188" name="Rectangle 36"/>
          <p:cNvSpPr>
            <a:spLocks noChangeArrowheads="1"/>
          </p:cNvSpPr>
          <p:nvPr/>
        </p:nvSpPr>
        <p:spPr bwMode="auto">
          <a:xfrm>
            <a:off x="3038475" y="836613"/>
            <a:ext cx="2738438" cy="457200"/>
          </a:xfrm>
          <a:prstGeom prst="rect">
            <a:avLst/>
          </a:prstGeom>
          <a:noFill/>
          <a:ln w="12700">
            <a:noFill/>
            <a:miter lim="800000"/>
            <a:headEnd type="none" w="sm" len="sm"/>
            <a:tailEnd type="none" w="sm" len="sm"/>
          </a:ln>
          <a:effectLst/>
        </p:spPr>
        <p:txBody>
          <a:bodyPr wrap="none">
            <a:spAutoFit/>
          </a:bodyPr>
          <a:lstStyle/>
          <a:p>
            <a:pPr>
              <a:defRPr/>
            </a:pPr>
            <a:r>
              <a:rPr lang="en-US" altLang="zh-CN" b="1">
                <a:effectLst>
                  <a:outerShdw blurRad="38100" dist="38100" dir="2700000" algn="tl">
                    <a:srgbClr val="C0C0C0"/>
                  </a:outerShdw>
                </a:effectLst>
                <a:ea typeface="宋体" pitchFamily="2" charset="-122"/>
              </a:rPr>
              <a:t>Trace the execution</a:t>
            </a:r>
            <a:endParaRPr lang="zh-CN" altLang="en-US" b="1">
              <a:effectLst>
                <a:outerShdw blurRad="38100" dist="38100" dir="2700000" algn="tl">
                  <a:srgbClr val="C0C0C0"/>
                </a:outerShdw>
              </a:effectLst>
              <a:ea typeface="宋体" pitchFamily="2" charset="-122"/>
            </a:endParaRPr>
          </a:p>
        </p:txBody>
      </p:sp>
      <p:sp>
        <p:nvSpPr>
          <p:cNvPr id="36" name="Rectangle 13"/>
          <p:cNvSpPr>
            <a:spLocks noChangeArrowheads="1"/>
          </p:cNvSpPr>
          <p:nvPr/>
        </p:nvSpPr>
        <p:spPr bwMode="auto">
          <a:xfrm>
            <a:off x="314325" y="227013"/>
            <a:ext cx="8505825" cy="609600"/>
          </a:xfrm>
          <a:prstGeom prst="rect">
            <a:avLst/>
          </a:prstGeom>
          <a:noFill/>
          <a:ln w="9525">
            <a:noFill/>
            <a:miter lim="800000"/>
            <a:headEnd/>
            <a:tailEnd/>
          </a:ln>
          <a:effectLst>
            <a:outerShdw dist="35921" dir="2700000" algn="ctr" rotWithShape="0">
              <a:schemeClr val="tx1"/>
            </a:outerShdw>
          </a:effectLst>
        </p:spPr>
        <p:txBody>
          <a:bodyPr>
            <a:spAutoFit/>
          </a:bodyPr>
          <a:lstStyle/>
          <a:p>
            <a:pPr algn="ctr">
              <a:lnSpc>
                <a:spcPct val="85000"/>
              </a:lnSpc>
              <a:defRPr/>
            </a:pPr>
            <a:r>
              <a:rPr lang="zh-CN" altLang="en-US" sz="4000" i="1" kern="0" dirty="0">
                <a:solidFill>
                  <a:schemeClr val="accent2">
                    <a:lumMod val="50000"/>
                  </a:schemeClr>
                </a:solidFill>
                <a:effectLst>
                  <a:outerShdw blurRad="38100" dist="38100" dir="2700000" algn="tl">
                    <a:srgbClr val="C0C0C0"/>
                  </a:outerShdw>
                </a:effectLst>
                <a:latin typeface="+mj-lt"/>
                <a:ea typeface="+mj-ea"/>
                <a:cs typeface="+mj-cs"/>
              </a:rPr>
              <a:t>编写函数实现两数的互换</a:t>
            </a:r>
          </a:p>
        </p:txBody>
      </p:sp>
    </p:spTree>
    <p:extLst>
      <p:ext uri="{BB962C8B-B14F-4D97-AF65-F5344CB8AC3E}">
        <p14:creationId xmlns:p14="http://schemas.microsoft.com/office/powerpoint/2010/main" val="2123548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3174"/>
                                        </p:tgtEl>
                                        <p:attrNameLst>
                                          <p:attrName>style.visibility</p:attrName>
                                        </p:attrNameLst>
                                      </p:cBhvr>
                                      <p:to>
                                        <p:strVal val="visible"/>
                                      </p:to>
                                    </p:set>
                                    <p:animEffect transition="in" filter="wipe(left)">
                                      <p:cBhvr>
                                        <p:cTn id="17" dur="500"/>
                                        <p:tgtEl>
                                          <p:spTgt spid="433174"/>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433177"/>
                                        </p:tgtEl>
                                        <p:attrNameLst>
                                          <p:attrName>style.visibility</p:attrName>
                                        </p:attrNameLst>
                                      </p:cBhvr>
                                      <p:to>
                                        <p:strVal val="visible"/>
                                      </p:to>
                                    </p:set>
                                    <p:animEffect transition="in" filter="wipe(left)">
                                      <p:cBhvr>
                                        <p:cTn id="21" dur="500"/>
                                        <p:tgtEl>
                                          <p:spTgt spid="433177"/>
                                        </p:tgtEl>
                                      </p:cBhvr>
                                    </p:animEffect>
                                  </p:childTnLst>
                                </p:cTn>
                              </p:par>
                            </p:childTnLst>
                          </p:cTn>
                        </p:par>
                        <p:par>
                          <p:cTn id="22" fill="hold" nodeType="afterGroup">
                            <p:stCondLst>
                              <p:cond delay="1000"/>
                            </p:stCondLst>
                            <p:childTnLst>
                              <p:par>
                                <p:cTn id="23" presetID="22" presetClass="entr" presetSubtype="2" fill="hold" grpId="0" nodeType="afterEffect">
                                  <p:stCondLst>
                                    <p:cond delay="0"/>
                                  </p:stCondLst>
                                  <p:childTnLst>
                                    <p:set>
                                      <p:cBhvr>
                                        <p:cTn id="24" dur="1" fill="hold">
                                          <p:stCondLst>
                                            <p:cond delay="0"/>
                                          </p:stCondLst>
                                        </p:cTn>
                                        <p:tgtEl>
                                          <p:spTgt spid="433175"/>
                                        </p:tgtEl>
                                        <p:attrNameLst>
                                          <p:attrName>style.visibility</p:attrName>
                                        </p:attrNameLst>
                                      </p:cBhvr>
                                      <p:to>
                                        <p:strVal val="visible"/>
                                      </p:to>
                                    </p:set>
                                    <p:animEffect transition="in" filter="wipe(right)">
                                      <p:cBhvr>
                                        <p:cTn id="25" dur="500"/>
                                        <p:tgtEl>
                                          <p:spTgt spid="433175"/>
                                        </p:tgtEl>
                                      </p:cBhvr>
                                    </p:animEffect>
                                  </p:childTnLst>
                                </p:cTn>
                              </p:par>
                            </p:childTnLst>
                          </p:cTn>
                        </p:par>
                        <p:par>
                          <p:cTn id="26" fill="hold" nodeType="afterGroup">
                            <p:stCondLst>
                              <p:cond delay="1500"/>
                            </p:stCondLst>
                            <p:childTnLst>
                              <p:par>
                                <p:cTn id="27" presetID="22" presetClass="entr" presetSubtype="2" fill="hold" nodeType="afterEffect">
                                  <p:stCondLst>
                                    <p:cond delay="0"/>
                                  </p:stCondLst>
                                  <p:childTnLst>
                                    <p:set>
                                      <p:cBhvr>
                                        <p:cTn id="28" dur="1" fill="hold">
                                          <p:stCondLst>
                                            <p:cond delay="0"/>
                                          </p:stCondLst>
                                        </p:cTn>
                                        <p:tgtEl>
                                          <p:spTgt spid="433178"/>
                                        </p:tgtEl>
                                        <p:attrNameLst>
                                          <p:attrName>style.visibility</p:attrName>
                                        </p:attrNameLst>
                                      </p:cBhvr>
                                      <p:to>
                                        <p:strVal val="visible"/>
                                      </p:to>
                                    </p:set>
                                    <p:animEffect transition="in" filter="wipe(right)">
                                      <p:cBhvr>
                                        <p:cTn id="29" dur="500"/>
                                        <p:tgtEl>
                                          <p:spTgt spid="433178"/>
                                        </p:tgtEl>
                                      </p:cBhvr>
                                    </p:animEffect>
                                  </p:childTnLst>
                                </p:cTn>
                              </p:par>
                            </p:childTnLst>
                          </p:cTn>
                        </p:par>
                        <p:par>
                          <p:cTn id="30" fill="hold" nodeType="afterGroup">
                            <p:stCondLst>
                              <p:cond delay="2000"/>
                            </p:stCondLst>
                            <p:childTnLst>
                              <p:par>
                                <p:cTn id="31" presetID="16" presetClass="entr" presetSubtype="21" fill="hold" grpId="0" nodeType="afterEffect">
                                  <p:stCondLst>
                                    <p:cond delay="0"/>
                                  </p:stCondLst>
                                  <p:childTnLst>
                                    <p:set>
                                      <p:cBhvr>
                                        <p:cTn id="32" dur="1" fill="hold">
                                          <p:stCondLst>
                                            <p:cond delay="0"/>
                                          </p:stCondLst>
                                        </p:cTn>
                                        <p:tgtEl>
                                          <p:spTgt spid="433176"/>
                                        </p:tgtEl>
                                        <p:attrNameLst>
                                          <p:attrName>style.visibility</p:attrName>
                                        </p:attrNameLst>
                                      </p:cBhvr>
                                      <p:to>
                                        <p:strVal val="visible"/>
                                      </p:to>
                                    </p:set>
                                    <p:animEffect transition="in" filter="barn(inVertical)">
                                      <p:cBhvr>
                                        <p:cTn id="33" dur="500"/>
                                        <p:tgtEl>
                                          <p:spTgt spid="43317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33179"/>
                                        </p:tgtEl>
                                        <p:attrNameLst>
                                          <p:attrName>style.visibility</p:attrName>
                                        </p:attrNameLst>
                                      </p:cBhvr>
                                      <p:to>
                                        <p:strVal val="visible"/>
                                      </p:to>
                                    </p:set>
                                    <p:animEffect transition="in" filter="wipe(left)">
                                      <p:cBhvr>
                                        <p:cTn id="38" dur="500"/>
                                        <p:tgtEl>
                                          <p:spTgt spid="433179"/>
                                        </p:tgtEl>
                                      </p:cBhvr>
                                    </p:animEffect>
                                  </p:childTnLst>
                                </p:cTn>
                              </p:par>
                            </p:childTnLst>
                          </p:cTn>
                        </p:par>
                        <p:par>
                          <p:cTn id="39" fill="hold" nodeType="afterGroup">
                            <p:stCondLst>
                              <p:cond delay="500"/>
                            </p:stCondLst>
                            <p:childTnLst>
                              <p:par>
                                <p:cTn id="40" presetID="22" presetClass="entr" presetSubtype="1" fill="hold" nodeType="afterEffect">
                                  <p:stCondLst>
                                    <p:cond delay="0"/>
                                  </p:stCondLst>
                                  <p:childTnLst>
                                    <p:set>
                                      <p:cBhvr>
                                        <p:cTn id="41" dur="1" fill="hold">
                                          <p:stCondLst>
                                            <p:cond delay="0"/>
                                          </p:stCondLst>
                                        </p:cTn>
                                        <p:tgtEl>
                                          <p:spTgt spid="433183"/>
                                        </p:tgtEl>
                                        <p:attrNameLst>
                                          <p:attrName>style.visibility</p:attrName>
                                        </p:attrNameLst>
                                      </p:cBhvr>
                                      <p:to>
                                        <p:strVal val="visible"/>
                                      </p:to>
                                    </p:set>
                                    <p:animEffect transition="in" filter="wipe(up)">
                                      <p:cBhvr>
                                        <p:cTn id="42" dur="500"/>
                                        <p:tgtEl>
                                          <p:spTgt spid="433183"/>
                                        </p:tgtEl>
                                      </p:cBhvr>
                                    </p:animEffect>
                                  </p:childTnLst>
                                </p:cTn>
                              </p:par>
                            </p:childTnLst>
                          </p:cTn>
                        </p:par>
                        <p:par>
                          <p:cTn id="43" fill="hold" nodeType="afterGroup">
                            <p:stCondLst>
                              <p:cond delay="1000"/>
                            </p:stCondLst>
                            <p:childTnLst>
                              <p:par>
                                <p:cTn id="44" presetID="22" presetClass="entr" presetSubtype="2" fill="hold" grpId="0" nodeType="afterEffect">
                                  <p:stCondLst>
                                    <p:cond delay="0"/>
                                  </p:stCondLst>
                                  <p:childTnLst>
                                    <p:set>
                                      <p:cBhvr>
                                        <p:cTn id="45" dur="1" fill="hold">
                                          <p:stCondLst>
                                            <p:cond delay="0"/>
                                          </p:stCondLst>
                                        </p:cTn>
                                        <p:tgtEl>
                                          <p:spTgt spid="433180"/>
                                        </p:tgtEl>
                                        <p:attrNameLst>
                                          <p:attrName>style.visibility</p:attrName>
                                        </p:attrNameLst>
                                      </p:cBhvr>
                                      <p:to>
                                        <p:strVal val="visible"/>
                                      </p:to>
                                    </p:set>
                                    <p:animEffect transition="in" filter="wipe(right)">
                                      <p:cBhvr>
                                        <p:cTn id="46" dur="500"/>
                                        <p:tgtEl>
                                          <p:spTgt spid="433180"/>
                                        </p:tgtEl>
                                      </p:cBhvr>
                                    </p:animEffect>
                                  </p:childTnLst>
                                </p:cTn>
                              </p:par>
                            </p:childTnLst>
                          </p:cTn>
                        </p:par>
                        <p:par>
                          <p:cTn id="47" fill="hold" nodeType="afterGroup">
                            <p:stCondLst>
                              <p:cond delay="1500"/>
                            </p:stCondLst>
                            <p:childTnLst>
                              <p:par>
                                <p:cTn id="48" presetID="22" presetClass="entr" presetSubtype="1" fill="hold" nodeType="afterEffect">
                                  <p:stCondLst>
                                    <p:cond delay="0"/>
                                  </p:stCondLst>
                                  <p:childTnLst>
                                    <p:set>
                                      <p:cBhvr>
                                        <p:cTn id="49" dur="1" fill="hold">
                                          <p:stCondLst>
                                            <p:cond delay="0"/>
                                          </p:stCondLst>
                                        </p:cTn>
                                        <p:tgtEl>
                                          <p:spTgt spid="433182"/>
                                        </p:tgtEl>
                                        <p:attrNameLst>
                                          <p:attrName>style.visibility</p:attrName>
                                        </p:attrNameLst>
                                      </p:cBhvr>
                                      <p:to>
                                        <p:strVal val="visible"/>
                                      </p:to>
                                    </p:set>
                                    <p:animEffect transition="in" filter="wipe(up)">
                                      <p:cBhvr>
                                        <p:cTn id="50" dur="500"/>
                                        <p:tgtEl>
                                          <p:spTgt spid="433182"/>
                                        </p:tgtEl>
                                      </p:cBhvr>
                                    </p:animEffect>
                                  </p:childTnLst>
                                </p:cTn>
                              </p:par>
                            </p:childTnLst>
                          </p:cTn>
                        </p:par>
                        <p:par>
                          <p:cTn id="51" fill="hold" nodeType="afterGroup">
                            <p:stCondLst>
                              <p:cond delay="2000"/>
                            </p:stCondLst>
                            <p:childTnLst>
                              <p:par>
                                <p:cTn id="52" presetID="16" presetClass="entr" presetSubtype="21" fill="hold" grpId="0" nodeType="afterEffect">
                                  <p:stCondLst>
                                    <p:cond delay="0"/>
                                  </p:stCondLst>
                                  <p:childTnLst>
                                    <p:set>
                                      <p:cBhvr>
                                        <p:cTn id="53" dur="1" fill="hold">
                                          <p:stCondLst>
                                            <p:cond delay="0"/>
                                          </p:stCondLst>
                                        </p:cTn>
                                        <p:tgtEl>
                                          <p:spTgt spid="433181"/>
                                        </p:tgtEl>
                                        <p:attrNameLst>
                                          <p:attrName>style.visibility</p:attrName>
                                        </p:attrNameLst>
                                      </p:cBhvr>
                                      <p:to>
                                        <p:strVal val="visible"/>
                                      </p:to>
                                    </p:set>
                                    <p:animEffect transition="in" filter="barn(inVertical)">
                                      <p:cBhvr>
                                        <p:cTn id="54" dur="500"/>
                                        <p:tgtEl>
                                          <p:spTgt spid="43318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6" presetClass="entr" presetSubtype="37" fill="hold" grpId="0" nodeType="clickEffect">
                                  <p:stCondLst>
                                    <p:cond delay="0"/>
                                  </p:stCondLst>
                                  <p:childTnLst>
                                    <p:set>
                                      <p:cBhvr>
                                        <p:cTn id="58" dur="1" fill="hold">
                                          <p:stCondLst>
                                            <p:cond delay="0"/>
                                          </p:stCondLst>
                                        </p:cTn>
                                        <p:tgtEl>
                                          <p:spTgt spid="433184"/>
                                        </p:tgtEl>
                                        <p:attrNameLst>
                                          <p:attrName>style.visibility</p:attrName>
                                        </p:attrNameLst>
                                      </p:cBhvr>
                                      <p:to>
                                        <p:strVal val="visible"/>
                                      </p:to>
                                    </p:set>
                                    <p:animEffect transition="in" filter="barn(outVertical)">
                                      <p:cBhvr>
                                        <p:cTn id="59" dur="500"/>
                                        <p:tgtEl>
                                          <p:spTgt spid="43318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1" fill="hold" nodeType="clickEffect">
                                  <p:stCondLst>
                                    <p:cond delay="0"/>
                                  </p:stCondLst>
                                  <p:childTnLst>
                                    <p:set>
                                      <p:cBhvr>
                                        <p:cTn id="63" dur="1" fill="hold">
                                          <p:stCondLst>
                                            <p:cond delay="0"/>
                                          </p:stCondLst>
                                        </p:cTn>
                                        <p:tgtEl>
                                          <p:spTgt spid="433187"/>
                                        </p:tgtEl>
                                        <p:attrNameLst>
                                          <p:attrName>style.visibility</p:attrName>
                                        </p:attrNameLst>
                                      </p:cBhvr>
                                      <p:to>
                                        <p:strVal val="visible"/>
                                      </p:to>
                                    </p:set>
                                    <p:anim calcmode="lin" valueType="num">
                                      <p:cBhvr additive="base">
                                        <p:cTn id="64" dur="500" fill="hold"/>
                                        <p:tgtEl>
                                          <p:spTgt spid="433187"/>
                                        </p:tgtEl>
                                        <p:attrNameLst>
                                          <p:attrName>ppt_x</p:attrName>
                                        </p:attrNameLst>
                                      </p:cBhvr>
                                      <p:tavLst>
                                        <p:tav tm="0">
                                          <p:val>
                                            <p:strVal val="#ppt_x"/>
                                          </p:val>
                                        </p:tav>
                                        <p:tav tm="100000">
                                          <p:val>
                                            <p:strVal val="#ppt_x"/>
                                          </p:val>
                                        </p:tav>
                                      </p:tavLst>
                                    </p:anim>
                                    <p:anim calcmode="lin" valueType="num">
                                      <p:cBhvr additive="base">
                                        <p:cTn id="65" dur="500" fill="hold"/>
                                        <p:tgtEl>
                                          <p:spTgt spid="43318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74" grpId="0" animBg="1"/>
      <p:bldP spid="433175" grpId="0" animBg="1"/>
      <p:bldP spid="433176" grpId="0" animBg="1" autoUpdateAnimBg="0"/>
      <p:bldP spid="433179" grpId="0" animBg="1"/>
      <p:bldP spid="433180" grpId="0" animBg="1"/>
      <p:bldP spid="433181" grpId="0" animBg="1" autoUpdateAnimBg="0"/>
      <p:bldP spid="433184"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8" name="Rectangle 4"/>
          <p:cNvSpPr>
            <a:spLocks noChangeArrowheads="1"/>
          </p:cNvSpPr>
          <p:nvPr/>
        </p:nvSpPr>
        <p:spPr bwMode="auto">
          <a:xfrm>
            <a:off x="357188" y="1371600"/>
            <a:ext cx="4748212" cy="2638425"/>
          </a:xfrm>
          <a:prstGeom prst="rect">
            <a:avLst/>
          </a:prstGeom>
          <a:noFill/>
          <a:ln w="12700" cap="sq">
            <a:noFill/>
            <a:miter lim="800000"/>
            <a:headEnd type="none" w="sm" len="sm"/>
            <a:tailEnd type="none" w="sm" len="sm"/>
          </a:ln>
          <a:effectLst/>
        </p:spPr>
        <p:txBody>
          <a:bodyPr>
            <a:spAutoFit/>
          </a:bodyPr>
          <a:lstStyle/>
          <a:p>
            <a:pPr eaLnBrk="1" hangingPunct="1">
              <a:lnSpc>
                <a:spcPts val="2200"/>
              </a:lnSpc>
              <a:defRPr/>
            </a:pPr>
            <a:r>
              <a:rPr kumimoji="1" lang="en-US" altLang="zh-CN" sz="2000" b="1" dirty="0" err="1">
                <a:solidFill>
                  <a:schemeClr val="accent2">
                    <a:lumMod val="75000"/>
                  </a:schemeClr>
                </a:solidFill>
                <a:latin typeface="Courier New" pitchFamily="49" charset="0"/>
                <a:ea typeface="宋体" pitchFamily="2" charset="-122"/>
              </a:rPr>
              <a:t>int</a:t>
            </a:r>
            <a:r>
              <a:rPr kumimoji="1" lang="en-US" altLang="zh-CN" sz="2000" b="1" dirty="0">
                <a:latin typeface="Courier New" pitchFamily="49" charset="0"/>
                <a:ea typeface="宋体" pitchFamily="2" charset="-122"/>
              </a:rPr>
              <a:t> </a:t>
            </a:r>
            <a:r>
              <a:rPr kumimoji="1" lang="en-US" altLang="zh-CN" sz="2000" b="1" dirty="0">
                <a:effectLst/>
                <a:latin typeface="Courier New" pitchFamily="49" charset="0"/>
                <a:ea typeface="宋体" pitchFamily="2" charset="-122"/>
              </a:rPr>
              <a:t>main()</a:t>
            </a:r>
          </a:p>
          <a:p>
            <a:pPr eaLnBrk="1" hangingPunct="1">
              <a:lnSpc>
                <a:spcPts val="2200"/>
              </a:lnSpc>
              <a:defRPr/>
            </a:pP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solidFill>
                  <a:schemeClr val="accent2">
                    <a:lumMod val="75000"/>
                  </a:schemeClr>
                </a:solidFill>
                <a:latin typeface="Courier New" pitchFamily="49" charset="0"/>
                <a:ea typeface="宋体" pitchFamily="2" charset="-122"/>
              </a:rPr>
              <a:t>int</a:t>
            </a:r>
            <a:r>
              <a:rPr kumimoji="1" lang="en-US" altLang="zh-CN" sz="2000" b="1" dirty="0">
                <a:latin typeface="Courier New" pitchFamily="49" charset="0"/>
                <a:ea typeface="宋体" pitchFamily="2" charset="-122"/>
              </a:rPr>
              <a:t> </a:t>
            </a:r>
            <a:r>
              <a:rPr kumimoji="1" lang="en-US" altLang="zh-CN" sz="2000" b="1" dirty="0">
                <a:effectLst/>
                <a:latin typeface="Courier New" pitchFamily="49" charset="0"/>
                <a:ea typeface="宋体" pitchFamily="2" charset="-122"/>
              </a:rPr>
              <a:t>a, b;</a:t>
            </a:r>
          </a:p>
          <a:p>
            <a:pPr eaLnBrk="1" hangingPunct="1">
              <a:lnSpc>
                <a:spcPts val="2200"/>
              </a:lnSpc>
              <a:defRPr/>
            </a:pPr>
            <a:r>
              <a:rPr kumimoji="1" lang="en-US" altLang="zh-CN" sz="2000" b="1" dirty="0">
                <a:effectLst/>
                <a:latin typeface="Courier New" pitchFamily="49" charset="0"/>
                <a:ea typeface="宋体" pitchFamily="2" charset="-122"/>
              </a:rPr>
              <a:t>  a = 5;</a:t>
            </a:r>
          </a:p>
          <a:p>
            <a:pPr eaLnBrk="1" hangingPunct="1">
              <a:lnSpc>
                <a:spcPts val="2200"/>
              </a:lnSpc>
              <a:defRPr/>
            </a:pPr>
            <a:r>
              <a:rPr kumimoji="1" lang="en-US" altLang="zh-CN" sz="2000" b="1" dirty="0">
                <a:effectLst/>
                <a:latin typeface="Courier New" pitchFamily="49" charset="0"/>
                <a:ea typeface="宋体" pitchFamily="2" charset="-122"/>
              </a:rPr>
              <a:t>  b = 9;</a:t>
            </a:r>
          </a:p>
          <a:p>
            <a:pPr eaLnBrk="1" hangingPunct="1">
              <a:lnSpc>
                <a:spcPts val="2200"/>
              </a:lnSpc>
              <a:defRPr/>
            </a:pPr>
            <a:r>
              <a:rPr kumimoji="1" lang="en-US" altLang="zh-CN" sz="2000" b="1" dirty="0">
                <a:effectLst/>
                <a:latin typeface="Courier New" pitchFamily="49" charset="0"/>
                <a:ea typeface="宋体" pitchFamily="2" charset="-122"/>
              </a:rPr>
              <a:t>  Swap(a, b);</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effectLst/>
                <a:latin typeface="Courier New" pitchFamily="49" charset="0"/>
                <a:ea typeface="宋体" pitchFamily="2" charset="-122"/>
              </a:rPr>
              <a:t>printf</a:t>
            </a:r>
            <a:r>
              <a:rPr kumimoji="1" lang="en-US" altLang="zh-CN" sz="2000" b="1" dirty="0">
                <a:effectLst/>
                <a:latin typeface="Courier New" pitchFamily="49" charset="0"/>
                <a:ea typeface="宋体" pitchFamily="2" charset="-122"/>
              </a:rPr>
              <a:t>(</a:t>
            </a:r>
            <a:r>
              <a:rPr lang="en-US" altLang="zh-CN" sz="2000" b="1" dirty="0">
                <a:effectLst>
                  <a:outerShdw blurRad="38100" dist="38100" dir="2700000" algn="tl">
                    <a:srgbClr val="C0C0C0"/>
                  </a:outerShdw>
                </a:effectLst>
                <a:ea typeface="宋体" pitchFamily="2" charset="-122"/>
              </a:rPr>
              <a:t>"</a:t>
            </a:r>
            <a:r>
              <a:rPr kumimoji="1" lang="en-US" altLang="zh-CN" sz="2000" b="1" dirty="0">
                <a:effectLst/>
                <a:latin typeface="Courier New" pitchFamily="49" charset="0"/>
                <a:ea typeface="宋体" pitchFamily="2" charset="-122"/>
              </a:rPr>
              <a:t>a=%</a:t>
            </a:r>
            <a:r>
              <a:rPr kumimoji="1" lang="en-US" altLang="zh-CN" sz="2000" b="1" dirty="0" err="1">
                <a:effectLst/>
                <a:latin typeface="Courier New" pitchFamily="49" charset="0"/>
                <a:ea typeface="宋体" pitchFamily="2" charset="-122"/>
              </a:rPr>
              <a:t>d,b</a:t>
            </a:r>
            <a:r>
              <a:rPr kumimoji="1" lang="en-US" altLang="zh-CN" sz="2000" b="1" dirty="0">
                <a:effectLst/>
                <a:latin typeface="Courier New" pitchFamily="49" charset="0"/>
                <a:ea typeface="宋体" pitchFamily="2" charset="-122"/>
              </a:rPr>
              <a:t>=%</a:t>
            </a:r>
            <a:r>
              <a:rPr kumimoji="1" lang="en-US" altLang="zh-CN" sz="2000" b="1" dirty="0" err="1">
                <a:effectLst/>
                <a:latin typeface="Courier New" pitchFamily="49" charset="0"/>
                <a:ea typeface="宋体" pitchFamily="2" charset="-122"/>
              </a:rPr>
              <a:t>d</a:t>
            </a:r>
            <a:r>
              <a:rPr lang="en-US" altLang="zh-CN" sz="2000" b="1" dirty="0" err="1">
                <a:effectLst>
                  <a:outerShdw blurRad="38100" dist="38100" dir="2700000" algn="tl">
                    <a:srgbClr val="C0C0C0"/>
                  </a:outerShdw>
                </a:effectLst>
                <a:ea typeface="宋体" pitchFamily="2" charset="-122"/>
              </a:rPr>
              <a:t>"</a:t>
            </a:r>
            <a:r>
              <a:rPr kumimoji="1" lang="en-US" altLang="zh-CN" sz="2000" b="1" dirty="0" err="1">
                <a:effectLst/>
                <a:latin typeface="Courier New" pitchFamily="49" charset="0"/>
                <a:ea typeface="宋体" pitchFamily="2" charset="-122"/>
              </a:rPr>
              <a:t>,a,b</a:t>
            </a: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a:solidFill>
                  <a:schemeClr val="accent2">
                    <a:lumMod val="75000"/>
                  </a:schemeClr>
                </a:solidFill>
                <a:latin typeface="Courier New" pitchFamily="49" charset="0"/>
                <a:ea typeface="宋体" pitchFamily="2" charset="-122"/>
              </a:rPr>
              <a:t>return</a:t>
            </a:r>
            <a:r>
              <a:rPr kumimoji="1" lang="en-US" altLang="zh-CN" sz="2000" b="1" dirty="0">
                <a:latin typeface="Courier New" pitchFamily="49" charset="0"/>
                <a:ea typeface="宋体" pitchFamily="2" charset="-122"/>
              </a:rPr>
              <a:t> </a:t>
            </a:r>
            <a:r>
              <a:rPr kumimoji="1" lang="en-US" altLang="zh-CN" sz="2000" b="1" dirty="0">
                <a:effectLst/>
                <a:latin typeface="Courier New" pitchFamily="49" charset="0"/>
                <a:ea typeface="宋体" pitchFamily="2" charset="-122"/>
              </a:rPr>
              <a:t>0;</a:t>
            </a:r>
          </a:p>
          <a:p>
            <a:pPr eaLnBrk="1" hangingPunct="1">
              <a:lnSpc>
                <a:spcPts val="2200"/>
              </a:lnSpc>
              <a:defRPr/>
            </a:pPr>
            <a:r>
              <a:rPr kumimoji="1" lang="en-US" altLang="zh-CN" sz="2000" b="1" dirty="0">
                <a:effectLst/>
                <a:latin typeface="Courier New" pitchFamily="49" charset="0"/>
                <a:ea typeface="宋体" pitchFamily="2" charset="-122"/>
              </a:rPr>
              <a:t>}</a:t>
            </a:r>
            <a:endParaRPr kumimoji="1" lang="en-US" altLang="zh-CN" sz="2000" b="1" dirty="0">
              <a:effectLst>
                <a:outerShdw blurRad="38100" dist="38100" dir="2700000" algn="tl">
                  <a:srgbClr val="C0C0C0"/>
                </a:outerShdw>
              </a:effectLst>
              <a:latin typeface="Courier New" pitchFamily="49" charset="0"/>
              <a:ea typeface="宋体" pitchFamily="2" charset="-122"/>
            </a:endParaRPr>
          </a:p>
        </p:txBody>
      </p:sp>
      <p:sp>
        <p:nvSpPr>
          <p:cNvPr id="395269" name="Rectangle 5"/>
          <p:cNvSpPr>
            <a:spLocks noChangeArrowheads="1"/>
          </p:cNvSpPr>
          <p:nvPr/>
        </p:nvSpPr>
        <p:spPr bwMode="auto">
          <a:xfrm>
            <a:off x="5062538" y="1268413"/>
            <a:ext cx="3689350" cy="2225675"/>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000" b="1" dirty="0">
                <a:solidFill>
                  <a:schemeClr val="accent2"/>
                </a:solidFill>
                <a:effectLst>
                  <a:outerShdw blurRad="38100" dist="38100" dir="2700000" algn="tl">
                    <a:srgbClr val="C0C0C0"/>
                  </a:outerShdw>
                </a:effectLst>
                <a:latin typeface="Courier New" pitchFamily="49" charset="0"/>
                <a:ea typeface="宋体" pitchFamily="2" charset="-122"/>
              </a:rPr>
              <a:t>void</a:t>
            </a:r>
            <a:r>
              <a:rPr kumimoji="1" lang="en-US" altLang="zh-CN" sz="2000" b="1" dirty="0">
                <a:effectLst>
                  <a:outerShdw blurRad="38100" dist="38100" dir="2700000" algn="tl">
                    <a:srgbClr val="C0C0C0"/>
                  </a:outerShdw>
                </a:effectLst>
                <a:latin typeface="Courier New" pitchFamily="49" charset="0"/>
                <a:ea typeface="宋体" pitchFamily="2" charset="-122"/>
              </a:rPr>
              <a:t> Swap(</a:t>
            </a:r>
            <a:r>
              <a:rPr kumimoji="1" lang="en-US" altLang="zh-CN" sz="2000" b="1" dirty="0" err="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dirty="0">
                <a:solidFill>
                  <a:schemeClr val="tx2"/>
                </a:solidFill>
                <a:effectLst>
                  <a:outerShdw blurRad="38100" dist="38100" dir="2700000" algn="tl">
                    <a:srgbClr val="C0C0C0"/>
                  </a:outerShdw>
                </a:effectLst>
                <a:latin typeface="Courier New" pitchFamily="49" charset="0"/>
                <a:ea typeface="宋体" pitchFamily="2" charset="-122"/>
              </a:rPr>
              <a:t> x, </a:t>
            </a:r>
            <a:r>
              <a:rPr kumimoji="1" lang="en-US" altLang="zh-CN" sz="2000" b="1" dirty="0" err="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dirty="0">
                <a:solidFill>
                  <a:schemeClr val="tx2"/>
                </a:solidFill>
                <a:effectLst>
                  <a:outerShdw blurRad="38100" dist="38100" dir="2700000" algn="tl">
                    <a:srgbClr val="C0C0C0"/>
                  </a:outerShdw>
                </a:effectLst>
                <a:latin typeface="Courier New" pitchFamily="49" charset="0"/>
                <a:ea typeface="宋体" pitchFamily="2" charset="-122"/>
              </a:rPr>
              <a:t> y</a:t>
            </a:r>
            <a:r>
              <a:rPr kumimoji="1" lang="en-US" altLang="zh-CN" sz="2000" b="1" dirty="0">
                <a:effectLst>
                  <a:outerShdw blurRad="38100" dist="38100" dir="2700000" algn="tl">
                    <a:srgbClr val="C0C0C0"/>
                  </a:outerShdw>
                </a:effectLst>
                <a:latin typeface="Courier New" pitchFamily="49" charset="0"/>
                <a:ea typeface="宋体" pitchFamily="2" charset="-122"/>
              </a:rPr>
              <a:t>)</a:t>
            </a:r>
          </a:p>
          <a:p>
            <a:pPr eaLnBrk="1" hangingPunct="1">
              <a:defRPr/>
            </a:pPr>
            <a:r>
              <a:rPr kumimoji="1" lang="en-US" altLang="zh-CN" sz="2000" b="1" dirty="0">
                <a:effectLst>
                  <a:outerShdw blurRad="38100" dist="38100" dir="2700000" algn="tl">
                    <a:srgbClr val="C0C0C0"/>
                  </a:outerShdw>
                </a:effectLst>
                <a:latin typeface="Courier New" pitchFamily="49" charset="0"/>
                <a:ea typeface="宋体" pitchFamily="2" charset="-122"/>
              </a:rPr>
              <a:t>{    </a:t>
            </a:r>
          </a:p>
          <a:p>
            <a:pPr eaLnBrk="1" hangingPunct="1">
              <a:defRPr/>
            </a:pPr>
            <a:r>
              <a:rPr kumimoji="1" lang="en-US" altLang="zh-CN" sz="2000" b="1" dirty="0">
                <a:effectLst>
                  <a:outerShdw blurRad="38100" dist="38100" dir="2700000" algn="tl">
                    <a:srgbClr val="C0C0C0"/>
                  </a:outerShdw>
                </a:effectLst>
                <a:latin typeface="Courier New" pitchFamily="49" charset="0"/>
                <a:ea typeface="宋体" pitchFamily="2" charset="-122"/>
              </a:rPr>
              <a:t>    </a:t>
            </a:r>
            <a:r>
              <a:rPr kumimoji="1" lang="en-US" altLang="zh-CN" sz="2000" b="1" dirty="0" err="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dirty="0">
                <a:effectLst>
                  <a:outerShdw blurRad="38100" dist="38100" dir="2700000" algn="tl">
                    <a:srgbClr val="C0C0C0"/>
                  </a:outerShdw>
                </a:effectLst>
                <a:latin typeface="Courier New" pitchFamily="49" charset="0"/>
                <a:ea typeface="宋体" pitchFamily="2" charset="-122"/>
              </a:rPr>
              <a:t> temp;</a:t>
            </a:r>
          </a:p>
          <a:p>
            <a:pPr eaLnBrk="1" hangingPunct="1">
              <a:defRPr/>
            </a:pPr>
            <a:r>
              <a:rPr kumimoji="1" lang="en-US" altLang="zh-CN" sz="2000" b="1" dirty="0">
                <a:effectLst>
                  <a:outerShdw blurRad="38100" dist="38100" dir="2700000" algn="tl">
                    <a:srgbClr val="C0C0C0"/>
                  </a:outerShdw>
                </a:effectLst>
                <a:latin typeface="Courier New" pitchFamily="49" charset="0"/>
                <a:ea typeface="宋体" pitchFamily="2" charset="-122"/>
              </a:rPr>
              <a:t>    temp = x;</a:t>
            </a:r>
          </a:p>
          <a:p>
            <a:pPr eaLnBrk="1" hangingPunct="1">
              <a:defRPr/>
            </a:pPr>
            <a:r>
              <a:rPr kumimoji="1" lang="en-US" altLang="zh-CN" sz="2000" b="1" dirty="0">
                <a:effectLst>
                  <a:outerShdw blurRad="38100" dist="38100" dir="2700000" algn="tl">
                    <a:srgbClr val="C0C0C0"/>
                  </a:outerShdw>
                </a:effectLst>
                <a:latin typeface="Courier New" pitchFamily="49" charset="0"/>
                <a:ea typeface="宋体" pitchFamily="2" charset="-122"/>
              </a:rPr>
              <a:t>    x = y;</a:t>
            </a:r>
          </a:p>
          <a:p>
            <a:pPr eaLnBrk="1" hangingPunct="1">
              <a:defRPr/>
            </a:pPr>
            <a:r>
              <a:rPr kumimoji="1" lang="en-US" altLang="zh-CN" sz="2000" b="1" dirty="0">
                <a:effectLst>
                  <a:outerShdw blurRad="38100" dist="38100" dir="2700000" algn="tl">
                    <a:srgbClr val="C0C0C0"/>
                  </a:outerShdw>
                </a:effectLst>
                <a:latin typeface="Courier New" pitchFamily="49" charset="0"/>
                <a:ea typeface="宋体" pitchFamily="2" charset="-122"/>
              </a:rPr>
              <a:t>    y = temp;</a:t>
            </a:r>
          </a:p>
          <a:p>
            <a:pPr eaLnBrk="1" hangingPunct="1">
              <a:defRPr/>
            </a:pPr>
            <a:r>
              <a:rPr kumimoji="1" lang="en-US" altLang="zh-CN" sz="2000" b="1" dirty="0">
                <a:effectLst>
                  <a:outerShdw blurRad="38100" dist="38100" dir="2700000" algn="tl">
                    <a:srgbClr val="C0C0C0"/>
                  </a:outerShdw>
                </a:effectLst>
                <a:latin typeface="Courier New" pitchFamily="49" charset="0"/>
                <a:ea typeface="宋体" pitchFamily="2" charset="-122"/>
              </a:rPr>
              <a:t>}</a:t>
            </a:r>
          </a:p>
        </p:txBody>
      </p:sp>
      <p:sp>
        <p:nvSpPr>
          <p:cNvPr id="395270" name="Rectangle 6"/>
          <p:cNvSpPr>
            <a:spLocks noChangeArrowheads="1"/>
          </p:cNvSpPr>
          <p:nvPr/>
        </p:nvSpPr>
        <p:spPr bwMode="auto">
          <a:xfrm>
            <a:off x="2124075" y="4668838"/>
            <a:ext cx="622300" cy="519112"/>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395271" name="Rectangle 7"/>
          <p:cNvSpPr>
            <a:spLocks noChangeArrowheads="1"/>
          </p:cNvSpPr>
          <p:nvPr/>
        </p:nvSpPr>
        <p:spPr bwMode="auto">
          <a:xfrm>
            <a:off x="6073775" y="4640263"/>
            <a:ext cx="622300" cy="519112"/>
          </a:xfrm>
          <a:prstGeom prst="rect">
            <a:avLst/>
          </a:prstGeom>
          <a:solidFill>
            <a:srgbClr val="008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395272" name="Rectangle 8"/>
          <p:cNvSpPr>
            <a:spLocks noChangeArrowheads="1"/>
          </p:cNvSpPr>
          <p:nvPr/>
        </p:nvSpPr>
        <p:spPr bwMode="auto">
          <a:xfrm>
            <a:off x="4951413" y="4633913"/>
            <a:ext cx="622300" cy="519112"/>
          </a:xfrm>
          <a:prstGeom prst="rect">
            <a:avLst/>
          </a:prstGeom>
          <a:solidFill>
            <a:srgbClr val="008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395273" name="Rectangle 9"/>
          <p:cNvSpPr>
            <a:spLocks noChangeArrowheads="1"/>
          </p:cNvSpPr>
          <p:nvPr/>
        </p:nvSpPr>
        <p:spPr bwMode="auto">
          <a:xfrm>
            <a:off x="3403600" y="4648200"/>
            <a:ext cx="622300" cy="519113"/>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395274" name="Text Box 10"/>
          <p:cNvSpPr txBox="1">
            <a:spLocks noChangeArrowheads="1"/>
          </p:cNvSpPr>
          <p:nvPr/>
        </p:nvSpPr>
        <p:spPr bwMode="auto">
          <a:xfrm>
            <a:off x="5092700" y="46688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ea typeface="宋体" pitchFamily="2" charset="-122"/>
              </a:rPr>
              <a:t>5</a:t>
            </a:r>
            <a:endParaRPr kumimoji="1" lang="en-US" altLang="zh-CN" sz="2800" b="1">
              <a:solidFill>
                <a:schemeClr val="hlink"/>
              </a:solidFill>
              <a:effectLst/>
              <a:ea typeface="宋体" pitchFamily="2" charset="-122"/>
            </a:endParaRPr>
          </a:p>
        </p:txBody>
      </p:sp>
      <p:sp>
        <p:nvSpPr>
          <p:cNvPr id="395275" name="Text Box 11"/>
          <p:cNvSpPr txBox="1">
            <a:spLocks noChangeArrowheads="1"/>
          </p:cNvSpPr>
          <p:nvPr/>
        </p:nvSpPr>
        <p:spPr bwMode="auto">
          <a:xfrm>
            <a:off x="2259013" y="46497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ea typeface="宋体" pitchFamily="2" charset="-122"/>
              </a:rPr>
              <a:t>5</a:t>
            </a:r>
            <a:endParaRPr kumimoji="1" lang="en-US" altLang="zh-CN" sz="2800" b="1">
              <a:solidFill>
                <a:srgbClr val="CC3300"/>
              </a:solidFill>
              <a:effectLst/>
              <a:ea typeface="宋体" pitchFamily="2" charset="-122"/>
            </a:endParaRPr>
          </a:p>
        </p:txBody>
      </p:sp>
      <p:sp>
        <p:nvSpPr>
          <p:cNvPr id="395276" name="Text Box 12"/>
          <p:cNvSpPr txBox="1">
            <a:spLocks noChangeArrowheads="1"/>
          </p:cNvSpPr>
          <p:nvPr/>
        </p:nvSpPr>
        <p:spPr bwMode="auto">
          <a:xfrm>
            <a:off x="2227263" y="4278313"/>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a</a:t>
            </a:r>
          </a:p>
        </p:txBody>
      </p:sp>
      <p:sp>
        <p:nvSpPr>
          <p:cNvPr id="395277" name="Text Box 13"/>
          <p:cNvSpPr txBox="1">
            <a:spLocks noChangeArrowheads="1"/>
          </p:cNvSpPr>
          <p:nvPr/>
        </p:nvSpPr>
        <p:spPr bwMode="auto">
          <a:xfrm>
            <a:off x="3536950" y="4262438"/>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b</a:t>
            </a:r>
          </a:p>
        </p:txBody>
      </p:sp>
      <p:sp>
        <p:nvSpPr>
          <p:cNvPr id="395278" name="Line 14"/>
          <p:cNvSpPr>
            <a:spLocks noChangeShapeType="1"/>
          </p:cNvSpPr>
          <p:nvPr/>
        </p:nvSpPr>
        <p:spPr bwMode="auto">
          <a:xfrm>
            <a:off x="4475163" y="-1588"/>
            <a:ext cx="0" cy="6858001"/>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395279" name="Line 15"/>
          <p:cNvSpPr>
            <a:spLocks noChangeShapeType="1"/>
          </p:cNvSpPr>
          <p:nvPr/>
        </p:nvSpPr>
        <p:spPr bwMode="auto">
          <a:xfrm>
            <a:off x="0" y="1247775"/>
            <a:ext cx="9144000" cy="0"/>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395280" name="Rectangle 16"/>
          <p:cNvSpPr>
            <a:spLocks noChangeArrowheads="1"/>
          </p:cNvSpPr>
          <p:nvPr/>
        </p:nvSpPr>
        <p:spPr bwMode="auto">
          <a:xfrm>
            <a:off x="468313" y="4724400"/>
            <a:ext cx="1069975" cy="519113"/>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r>
              <a:rPr kumimoji="1" lang="zh-CN" altLang="en-US" b="1">
                <a:solidFill>
                  <a:schemeClr val="bg1"/>
                </a:solidFill>
                <a:effectLst/>
                <a:latin typeface="幼圆" pitchFamily="49" charset="-122"/>
                <a:ea typeface="幼圆" pitchFamily="49" charset="-122"/>
              </a:rPr>
              <a:t>实 参</a:t>
            </a:r>
          </a:p>
        </p:txBody>
      </p:sp>
      <p:sp>
        <p:nvSpPr>
          <p:cNvPr id="395281" name="Rectangle 17"/>
          <p:cNvSpPr>
            <a:spLocks noChangeArrowheads="1"/>
          </p:cNvSpPr>
          <p:nvPr/>
        </p:nvSpPr>
        <p:spPr bwMode="auto">
          <a:xfrm>
            <a:off x="7235825" y="4652963"/>
            <a:ext cx="1069975" cy="519112"/>
          </a:xfrm>
          <a:prstGeom prst="rect">
            <a:avLst/>
          </a:prstGeom>
          <a:solidFill>
            <a:srgbClr val="008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r>
              <a:rPr kumimoji="1" lang="zh-CN" altLang="en-US" b="1">
                <a:solidFill>
                  <a:schemeClr val="bg1"/>
                </a:solidFill>
                <a:effectLst/>
                <a:latin typeface="幼圆" pitchFamily="49" charset="-122"/>
                <a:ea typeface="幼圆" pitchFamily="49" charset="-122"/>
              </a:rPr>
              <a:t>形 参</a:t>
            </a:r>
          </a:p>
        </p:txBody>
      </p:sp>
      <p:grpSp>
        <p:nvGrpSpPr>
          <p:cNvPr id="2" name="Group 18"/>
          <p:cNvGrpSpPr>
            <a:grpSpLocks/>
          </p:cNvGrpSpPr>
          <p:nvPr/>
        </p:nvGrpSpPr>
        <p:grpSpPr bwMode="auto">
          <a:xfrm>
            <a:off x="2435225" y="5130800"/>
            <a:ext cx="2876550" cy="541338"/>
            <a:chOff x="1449" y="1885"/>
            <a:chExt cx="1812" cy="341"/>
          </a:xfrm>
        </p:grpSpPr>
        <p:sp>
          <p:nvSpPr>
            <p:cNvPr id="395283" name="Line 19"/>
            <p:cNvSpPr>
              <a:spLocks noChangeShapeType="1"/>
            </p:cNvSpPr>
            <p:nvPr/>
          </p:nvSpPr>
          <p:spPr bwMode="auto">
            <a:xfrm>
              <a:off x="1479" y="2226"/>
              <a:ext cx="1782" cy="0"/>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sp>
          <p:nvSpPr>
            <p:cNvPr id="395284" name="Line 20"/>
            <p:cNvSpPr>
              <a:spLocks noChangeShapeType="1"/>
            </p:cNvSpPr>
            <p:nvPr/>
          </p:nvSpPr>
          <p:spPr bwMode="auto">
            <a:xfrm flipV="1">
              <a:off x="1449" y="1940"/>
              <a:ext cx="0" cy="286"/>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sp>
          <p:nvSpPr>
            <p:cNvPr id="395285" name="Line 21"/>
            <p:cNvSpPr>
              <a:spLocks noChangeShapeType="1"/>
            </p:cNvSpPr>
            <p:nvPr/>
          </p:nvSpPr>
          <p:spPr bwMode="auto">
            <a:xfrm flipV="1">
              <a:off x="3261" y="1885"/>
              <a:ext cx="0" cy="341"/>
            </a:xfrm>
            <a:prstGeom prst="line">
              <a:avLst/>
            </a:prstGeom>
            <a:noFill/>
            <a:ln w="57150" cap="sq">
              <a:solidFill>
                <a:schemeClr val="tx2"/>
              </a:solidFill>
              <a:round/>
              <a:headEnd type="none" w="sm" len="sm"/>
              <a:tailEnd type="triangle" w="med" len="med"/>
            </a:ln>
            <a:effectLst/>
          </p:spPr>
          <p:txBody>
            <a:bodyPr wrap="none" anchor="ctr"/>
            <a:lstStyle/>
            <a:p>
              <a:pPr>
                <a:defRPr/>
              </a:pPr>
              <a:endParaRPr lang="zh-CN" altLang="en-US"/>
            </a:p>
          </p:txBody>
        </p:sp>
      </p:grpSp>
      <p:grpSp>
        <p:nvGrpSpPr>
          <p:cNvPr id="3" name="Group 22"/>
          <p:cNvGrpSpPr>
            <a:grpSpLocks/>
          </p:cNvGrpSpPr>
          <p:nvPr/>
        </p:nvGrpSpPr>
        <p:grpSpPr bwMode="auto">
          <a:xfrm>
            <a:off x="3708400" y="5157788"/>
            <a:ext cx="2701925" cy="781050"/>
            <a:chOff x="2237" y="1909"/>
            <a:chExt cx="1702" cy="492"/>
          </a:xfrm>
        </p:grpSpPr>
        <p:sp>
          <p:nvSpPr>
            <p:cNvPr id="395287" name="Line 23"/>
            <p:cNvSpPr>
              <a:spLocks noChangeShapeType="1"/>
            </p:cNvSpPr>
            <p:nvPr/>
          </p:nvSpPr>
          <p:spPr bwMode="auto">
            <a:xfrm>
              <a:off x="2237" y="2401"/>
              <a:ext cx="1702" cy="0"/>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sp>
          <p:nvSpPr>
            <p:cNvPr id="395288" name="Line 24"/>
            <p:cNvSpPr>
              <a:spLocks noChangeShapeType="1"/>
            </p:cNvSpPr>
            <p:nvPr/>
          </p:nvSpPr>
          <p:spPr bwMode="auto">
            <a:xfrm flipV="1">
              <a:off x="3939" y="1909"/>
              <a:ext cx="0" cy="492"/>
            </a:xfrm>
            <a:prstGeom prst="line">
              <a:avLst/>
            </a:prstGeom>
            <a:noFill/>
            <a:ln w="57150" cap="sq">
              <a:solidFill>
                <a:schemeClr val="tx2"/>
              </a:solidFill>
              <a:round/>
              <a:headEnd type="none" w="sm" len="sm"/>
              <a:tailEnd type="triangle" w="med" len="med"/>
            </a:ln>
            <a:effectLst/>
          </p:spPr>
          <p:txBody>
            <a:bodyPr wrap="none" anchor="ctr"/>
            <a:lstStyle/>
            <a:p>
              <a:pPr>
                <a:defRPr/>
              </a:pPr>
              <a:endParaRPr lang="zh-CN" altLang="en-US"/>
            </a:p>
          </p:txBody>
        </p:sp>
        <p:sp>
          <p:nvSpPr>
            <p:cNvPr id="395289" name="Line 25"/>
            <p:cNvSpPr>
              <a:spLocks noChangeShapeType="1"/>
            </p:cNvSpPr>
            <p:nvPr/>
          </p:nvSpPr>
          <p:spPr bwMode="auto">
            <a:xfrm flipV="1">
              <a:off x="2237" y="1921"/>
              <a:ext cx="0" cy="462"/>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grpSp>
      <p:sp>
        <p:nvSpPr>
          <p:cNvPr id="395290" name="Text Box 26"/>
          <p:cNvSpPr txBox="1">
            <a:spLocks noChangeArrowheads="1"/>
          </p:cNvSpPr>
          <p:nvPr/>
        </p:nvSpPr>
        <p:spPr bwMode="auto">
          <a:xfrm>
            <a:off x="6219825" y="46402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ea typeface="宋体" pitchFamily="2" charset="-122"/>
              </a:rPr>
              <a:t>9</a:t>
            </a:r>
            <a:endParaRPr kumimoji="1" lang="en-US" altLang="zh-CN" sz="2800" b="1">
              <a:solidFill>
                <a:schemeClr val="hlink"/>
              </a:solidFill>
              <a:effectLst/>
              <a:ea typeface="宋体" pitchFamily="2" charset="-122"/>
            </a:endParaRPr>
          </a:p>
        </p:txBody>
      </p:sp>
      <p:sp>
        <p:nvSpPr>
          <p:cNvPr id="395291" name="Text Box 27"/>
          <p:cNvSpPr txBox="1">
            <a:spLocks noChangeArrowheads="1"/>
          </p:cNvSpPr>
          <p:nvPr/>
        </p:nvSpPr>
        <p:spPr bwMode="auto">
          <a:xfrm>
            <a:off x="3536950" y="46402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ea typeface="宋体" pitchFamily="2" charset="-122"/>
              </a:rPr>
              <a:t>9</a:t>
            </a:r>
          </a:p>
        </p:txBody>
      </p:sp>
      <p:grpSp>
        <p:nvGrpSpPr>
          <p:cNvPr id="4" name="Group 28"/>
          <p:cNvGrpSpPr>
            <a:grpSpLocks/>
          </p:cNvGrpSpPr>
          <p:nvPr/>
        </p:nvGrpSpPr>
        <p:grpSpPr bwMode="auto">
          <a:xfrm>
            <a:off x="5041900" y="6084888"/>
            <a:ext cx="1185863" cy="519112"/>
            <a:chOff x="3085" y="2733"/>
            <a:chExt cx="747" cy="327"/>
          </a:xfrm>
        </p:grpSpPr>
        <p:sp>
          <p:nvSpPr>
            <p:cNvPr id="30768" name="Text Box 29"/>
            <p:cNvSpPr txBox="1">
              <a:spLocks noChangeArrowheads="1"/>
            </p:cNvSpPr>
            <p:nvPr/>
          </p:nvSpPr>
          <p:spPr bwMode="auto">
            <a:xfrm>
              <a:off x="3085" y="2733"/>
              <a:ext cx="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accent2"/>
                  </a:solidFill>
                  <a:effectLst/>
                  <a:latin typeface="Courier New" pitchFamily="49" charset="0"/>
                  <a:ea typeface="宋体" pitchFamily="2" charset="-122"/>
                </a:rPr>
                <a:t>x</a:t>
              </a:r>
            </a:p>
          </p:txBody>
        </p:sp>
        <p:sp>
          <p:nvSpPr>
            <p:cNvPr id="30769" name="Text Box 30"/>
            <p:cNvSpPr txBox="1">
              <a:spLocks noChangeArrowheads="1"/>
            </p:cNvSpPr>
            <p:nvPr/>
          </p:nvSpPr>
          <p:spPr bwMode="auto">
            <a:xfrm>
              <a:off x="3632" y="2733"/>
              <a:ext cx="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accent2"/>
                  </a:solidFill>
                  <a:effectLst/>
                  <a:latin typeface="Courier New" pitchFamily="49" charset="0"/>
                  <a:ea typeface="宋体" pitchFamily="2" charset="-122"/>
                </a:rPr>
                <a:t>y</a:t>
              </a:r>
            </a:p>
          </p:txBody>
        </p:sp>
        <p:sp>
          <p:nvSpPr>
            <p:cNvPr id="395295" name="AutoShape 31"/>
            <p:cNvSpPr>
              <a:spLocks noChangeArrowheads="1"/>
            </p:cNvSpPr>
            <p:nvPr/>
          </p:nvSpPr>
          <p:spPr bwMode="auto">
            <a:xfrm>
              <a:off x="3308"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grpSp>
        <p:nvGrpSpPr>
          <p:cNvPr id="5" name="Group 32"/>
          <p:cNvGrpSpPr>
            <a:grpSpLocks/>
          </p:cNvGrpSpPr>
          <p:nvPr/>
        </p:nvGrpSpPr>
        <p:grpSpPr bwMode="auto">
          <a:xfrm>
            <a:off x="2484438" y="6111875"/>
            <a:ext cx="1350962" cy="581025"/>
            <a:chOff x="1774" y="2750"/>
            <a:chExt cx="851" cy="366"/>
          </a:xfrm>
        </p:grpSpPr>
        <p:sp>
          <p:nvSpPr>
            <p:cNvPr id="395297" name="Text Box 33"/>
            <p:cNvSpPr txBox="1">
              <a:spLocks noChangeArrowheads="1"/>
            </p:cNvSpPr>
            <p:nvPr/>
          </p:nvSpPr>
          <p:spPr bwMode="auto">
            <a:xfrm>
              <a:off x="1774" y="2750"/>
              <a:ext cx="250" cy="327"/>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800" b="1">
                  <a:solidFill>
                    <a:schemeClr val="accent2"/>
                  </a:solidFill>
                  <a:effectLst/>
                  <a:latin typeface="Courier New" pitchFamily="49" charset="0"/>
                  <a:ea typeface="宋体" pitchFamily="2" charset="-122"/>
                </a:rPr>
                <a:t>a</a:t>
              </a:r>
              <a:endParaRPr kumimoji="1" lang="en-US" altLang="zh-CN" sz="2800" b="1">
                <a:solidFill>
                  <a:schemeClr val="accent2"/>
                </a:solidFill>
                <a:effectLst>
                  <a:outerShdw blurRad="38100" dist="38100" dir="2700000" algn="tl">
                    <a:srgbClr val="C0C0C0"/>
                  </a:outerShdw>
                </a:effectLst>
                <a:latin typeface="Courier New" pitchFamily="49" charset="0"/>
                <a:ea typeface="宋体" pitchFamily="2" charset="-122"/>
              </a:endParaRPr>
            </a:p>
          </p:txBody>
        </p:sp>
        <p:sp>
          <p:nvSpPr>
            <p:cNvPr id="395298" name="Text Box 34"/>
            <p:cNvSpPr txBox="1">
              <a:spLocks noChangeArrowheads="1"/>
            </p:cNvSpPr>
            <p:nvPr/>
          </p:nvSpPr>
          <p:spPr bwMode="auto">
            <a:xfrm>
              <a:off x="2375" y="2789"/>
              <a:ext cx="250" cy="327"/>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800" b="1">
                  <a:solidFill>
                    <a:schemeClr val="accent2"/>
                  </a:solidFill>
                  <a:effectLst/>
                  <a:latin typeface="Courier New" pitchFamily="49" charset="0"/>
                  <a:ea typeface="宋体" pitchFamily="2" charset="-122"/>
                </a:rPr>
                <a:t>b</a:t>
              </a:r>
              <a:endParaRPr kumimoji="1" lang="en-US" altLang="zh-CN" sz="2800" b="1">
                <a:solidFill>
                  <a:schemeClr val="accent2"/>
                </a:solidFill>
                <a:effectLst>
                  <a:outerShdw blurRad="38100" dist="38100" dir="2700000" algn="tl">
                    <a:srgbClr val="C0C0C0"/>
                  </a:outerShdw>
                </a:effectLst>
                <a:latin typeface="Courier New" pitchFamily="49" charset="0"/>
                <a:ea typeface="宋体" pitchFamily="2" charset="-122"/>
              </a:endParaRPr>
            </a:p>
          </p:txBody>
        </p:sp>
        <p:sp>
          <p:nvSpPr>
            <p:cNvPr id="395299" name="AutoShape 35"/>
            <p:cNvSpPr>
              <a:spLocks noChangeArrowheads="1"/>
            </p:cNvSpPr>
            <p:nvPr/>
          </p:nvSpPr>
          <p:spPr bwMode="auto">
            <a:xfrm>
              <a:off x="2024"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sp>
        <p:nvSpPr>
          <p:cNvPr id="395304" name="Text Box 40"/>
          <p:cNvSpPr txBox="1">
            <a:spLocks noChangeArrowheads="1"/>
          </p:cNvSpPr>
          <p:nvPr/>
        </p:nvSpPr>
        <p:spPr bwMode="auto">
          <a:xfrm>
            <a:off x="5045075" y="4205288"/>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x</a:t>
            </a:r>
          </a:p>
        </p:txBody>
      </p:sp>
      <p:sp>
        <p:nvSpPr>
          <p:cNvPr id="395305" name="Text Box 41"/>
          <p:cNvSpPr txBox="1">
            <a:spLocks noChangeArrowheads="1"/>
          </p:cNvSpPr>
          <p:nvPr/>
        </p:nvSpPr>
        <p:spPr bwMode="auto">
          <a:xfrm>
            <a:off x="6126163" y="4189413"/>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y</a:t>
            </a:r>
          </a:p>
        </p:txBody>
      </p:sp>
      <p:sp>
        <p:nvSpPr>
          <p:cNvPr id="395311" name="Text Box 47"/>
          <p:cNvSpPr txBox="1">
            <a:spLocks noChangeArrowheads="1"/>
          </p:cNvSpPr>
          <p:nvPr/>
        </p:nvSpPr>
        <p:spPr bwMode="auto">
          <a:xfrm>
            <a:off x="6084888" y="4646613"/>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kumimoji="1" lang="en-US" altLang="zh-CN" sz="2800" b="1">
                <a:solidFill>
                  <a:schemeClr val="bg1"/>
                </a:solidFill>
                <a:effectLst/>
                <a:ea typeface="宋体" pitchFamily="2" charset="-122"/>
              </a:rPr>
              <a:t>5</a:t>
            </a:r>
          </a:p>
        </p:txBody>
      </p:sp>
      <p:sp>
        <p:nvSpPr>
          <p:cNvPr id="395312" name="Rectangle 48"/>
          <p:cNvSpPr>
            <a:spLocks noChangeArrowheads="1"/>
          </p:cNvSpPr>
          <p:nvPr/>
        </p:nvSpPr>
        <p:spPr bwMode="auto">
          <a:xfrm>
            <a:off x="5462588" y="3716338"/>
            <a:ext cx="622300" cy="519112"/>
          </a:xfrm>
          <a:prstGeom prst="rect">
            <a:avLst/>
          </a:prstGeom>
          <a:solidFill>
            <a:srgbClr val="800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395310" name="Text Box 46"/>
          <p:cNvSpPr txBox="1">
            <a:spLocks noChangeArrowheads="1"/>
          </p:cNvSpPr>
          <p:nvPr/>
        </p:nvSpPr>
        <p:spPr bwMode="auto">
          <a:xfrm>
            <a:off x="5497513" y="3716338"/>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kumimoji="1" lang="en-US" altLang="zh-CN" sz="2800" b="1">
                <a:solidFill>
                  <a:schemeClr val="bg1"/>
                </a:solidFill>
                <a:effectLst/>
                <a:ea typeface="宋体" pitchFamily="2" charset="-122"/>
              </a:rPr>
              <a:t>5</a:t>
            </a:r>
          </a:p>
        </p:txBody>
      </p:sp>
      <p:sp>
        <p:nvSpPr>
          <p:cNvPr id="395313" name="Text Box 49"/>
          <p:cNvSpPr txBox="1">
            <a:spLocks noChangeArrowheads="1"/>
          </p:cNvSpPr>
          <p:nvPr/>
        </p:nvSpPr>
        <p:spPr bwMode="auto">
          <a:xfrm>
            <a:off x="5364163" y="3429000"/>
            <a:ext cx="730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1800" b="1">
                <a:solidFill>
                  <a:schemeClr val="tx2"/>
                </a:solidFill>
                <a:effectLst/>
                <a:latin typeface="Courier New" pitchFamily="49" charset="0"/>
                <a:ea typeface="宋体" pitchFamily="2" charset="-122"/>
              </a:rPr>
              <a:t>temp</a:t>
            </a:r>
          </a:p>
        </p:txBody>
      </p:sp>
      <p:sp>
        <p:nvSpPr>
          <p:cNvPr id="395314" name="Line 50"/>
          <p:cNvSpPr>
            <a:spLocks noChangeShapeType="1"/>
          </p:cNvSpPr>
          <p:nvPr/>
        </p:nvSpPr>
        <p:spPr bwMode="auto">
          <a:xfrm flipV="1">
            <a:off x="5076825" y="3905250"/>
            <a:ext cx="0" cy="719138"/>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395315" name="Line 51"/>
          <p:cNvSpPr>
            <a:spLocks noChangeShapeType="1"/>
          </p:cNvSpPr>
          <p:nvPr/>
        </p:nvSpPr>
        <p:spPr bwMode="auto">
          <a:xfrm>
            <a:off x="5062538" y="3933825"/>
            <a:ext cx="431800" cy="0"/>
          </a:xfrm>
          <a:prstGeom prst="line">
            <a:avLst/>
          </a:prstGeom>
          <a:noFill/>
          <a:ln w="57150">
            <a:solidFill>
              <a:schemeClr val="accent2"/>
            </a:solidFill>
            <a:round/>
            <a:headEnd type="none" w="sm" len="sm"/>
            <a:tailEnd type="triangle" w="sm" len="sm"/>
          </a:ln>
          <a:effectLst/>
        </p:spPr>
        <p:txBody>
          <a:bodyPr/>
          <a:lstStyle/>
          <a:p>
            <a:pPr>
              <a:defRPr/>
            </a:pPr>
            <a:endParaRPr lang="zh-CN" altLang="en-US"/>
          </a:p>
        </p:txBody>
      </p:sp>
      <p:sp>
        <p:nvSpPr>
          <p:cNvPr id="395318" name="Line 54"/>
          <p:cNvSpPr>
            <a:spLocks noChangeShapeType="1"/>
          </p:cNvSpPr>
          <p:nvPr/>
        </p:nvSpPr>
        <p:spPr bwMode="auto">
          <a:xfrm flipV="1">
            <a:off x="6516688" y="3905250"/>
            <a:ext cx="0" cy="719138"/>
          </a:xfrm>
          <a:prstGeom prst="line">
            <a:avLst/>
          </a:prstGeom>
          <a:noFill/>
          <a:ln w="57150">
            <a:solidFill>
              <a:schemeClr val="accent2"/>
            </a:solidFill>
            <a:round/>
            <a:headEnd type="triangle" w="sm" len="sm"/>
            <a:tailEnd type="none" w="sm" len="sm"/>
          </a:ln>
          <a:effectLst/>
        </p:spPr>
        <p:txBody>
          <a:bodyPr/>
          <a:lstStyle/>
          <a:p>
            <a:pPr>
              <a:defRPr/>
            </a:pPr>
            <a:endParaRPr lang="zh-CN" altLang="en-US"/>
          </a:p>
        </p:txBody>
      </p:sp>
      <p:sp>
        <p:nvSpPr>
          <p:cNvPr id="395319" name="Line 55"/>
          <p:cNvSpPr>
            <a:spLocks noChangeShapeType="1"/>
          </p:cNvSpPr>
          <p:nvPr/>
        </p:nvSpPr>
        <p:spPr bwMode="auto">
          <a:xfrm>
            <a:off x="6084888" y="3933825"/>
            <a:ext cx="431800" cy="0"/>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395322" name="Line 58"/>
          <p:cNvSpPr>
            <a:spLocks noChangeShapeType="1"/>
          </p:cNvSpPr>
          <p:nvPr/>
        </p:nvSpPr>
        <p:spPr bwMode="auto">
          <a:xfrm rot="5400000" flipV="1">
            <a:off x="5831682" y="5236368"/>
            <a:ext cx="0" cy="792163"/>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395323" name="Line 59"/>
          <p:cNvSpPr>
            <a:spLocks noChangeShapeType="1"/>
          </p:cNvSpPr>
          <p:nvPr/>
        </p:nvSpPr>
        <p:spPr bwMode="auto">
          <a:xfrm rot="5400000">
            <a:off x="5981700" y="5416550"/>
            <a:ext cx="431800" cy="0"/>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395324" name="Line 60"/>
          <p:cNvSpPr>
            <a:spLocks noChangeShapeType="1"/>
          </p:cNvSpPr>
          <p:nvPr/>
        </p:nvSpPr>
        <p:spPr bwMode="auto">
          <a:xfrm rot="5400000">
            <a:off x="5253038" y="5416550"/>
            <a:ext cx="431800" cy="0"/>
          </a:xfrm>
          <a:prstGeom prst="line">
            <a:avLst/>
          </a:prstGeom>
          <a:noFill/>
          <a:ln w="57150">
            <a:solidFill>
              <a:schemeClr val="accent2"/>
            </a:solidFill>
            <a:round/>
            <a:headEnd type="triangle" w="sm" len="sm"/>
            <a:tailEnd type="none" w="sm" len="sm"/>
          </a:ln>
          <a:effectLst/>
        </p:spPr>
        <p:txBody>
          <a:bodyPr/>
          <a:lstStyle/>
          <a:p>
            <a:pPr>
              <a:defRPr/>
            </a:pPr>
            <a:endParaRPr lang="zh-CN" altLang="en-US"/>
          </a:p>
        </p:txBody>
      </p:sp>
      <p:sp>
        <p:nvSpPr>
          <p:cNvPr id="395326" name="Text Box 62"/>
          <p:cNvSpPr txBox="1">
            <a:spLocks noChangeArrowheads="1"/>
          </p:cNvSpPr>
          <p:nvPr/>
        </p:nvSpPr>
        <p:spPr bwMode="auto">
          <a:xfrm>
            <a:off x="5003800" y="4652963"/>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kumimoji="1" lang="en-US" altLang="zh-CN" sz="2800" b="1">
                <a:solidFill>
                  <a:schemeClr val="bg1"/>
                </a:solidFill>
                <a:effectLst/>
                <a:ea typeface="宋体" pitchFamily="2" charset="-122"/>
              </a:rPr>
              <a:t>9</a:t>
            </a:r>
          </a:p>
        </p:txBody>
      </p:sp>
      <p:grpSp>
        <p:nvGrpSpPr>
          <p:cNvPr id="6" name="Group 63"/>
          <p:cNvGrpSpPr>
            <a:grpSpLocks/>
          </p:cNvGrpSpPr>
          <p:nvPr/>
        </p:nvGrpSpPr>
        <p:grpSpPr bwMode="auto">
          <a:xfrm>
            <a:off x="2843213" y="6107113"/>
            <a:ext cx="646112" cy="635000"/>
            <a:chOff x="1993" y="3152"/>
            <a:chExt cx="407" cy="400"/>
          </a:xfrm>
        </p:grpSpPr>
        <p:sp>
          <p:nvSpPr>
            <p:cNvPr id="395328" name="Line 64"/>
            <p:cNvSpPr>
              <a:spLocks noChangeShapeType="1"/>
            </p:cNvSpPr>
            <p:nvPr/>
          </p:nvSpPr>
          <p:spPr bwMode="auto">
            <a:xfrm>
              <a:off x="1993" y="3152"/>
              <a:ext cx="407" cy="400"/>
            </a:xfrm>
            <a:prstGeom prst="line">
              <a:avLst/>
            </a:prstGeom>
            <a:noFill/>
            <a:ln w="57150" cap="sq">
              <a:solidFill>
                <a:srgbClr val="FF0000"/>
              </a:solidFill>
              <a:round/>
              <a:headEnd type="none" w="sm" len="sm"/>
              <a:tailEnd type="none" w="sm" len="sm"/>
            </a:ln>
            <a:effectLst/>
          </p:spPr>
          <p:txBody>
            <a:bodyPr wrap="none" anchor="ctr"/>
            <a:lstStyle/>
            <a:p>
              <a:pPr>
                <a:defRPr/>
              </a:pPr>
              <a:endParaRPr lang="zh-CN" altLang="en-US"/>
            </a:p>
          </p:txBody>
        </p:sp>
        <p:sp>
          <p:nvSpPr>
            <p:cNvPr id="395329" name="Line 65"/>
            <p:cNvSpPr>
              <a:spLocks noChangeShapeType="1"/>
            </p:cNvSpPr>
            <p:nvPr/>
          </p:nvSpPr>
          <p:spPr bwMode="auto">
            <a:xfrm flipH="1">
              <a:off x="2002" y="3152"/>
              <a:ext cx="373" cy="372"/>
            </a:xfrm>
            <a:prstGeom prst="line">
              <a:avLst/>
            </a:prstGeom>
            <a:noFill/>
            <a:ln w="57150" cap="sq">
              <a:solidFill>
                <a:srgbClr val="FF0000"/>
              </a:solidFill>
              <a:round/>
              <a:headEnd type="none" w="sm" len="sm"/>
              <a:tailEnd type="none" w="sm" len="sm"/>
            </a:ln>
            <a:effectLst/>
          </p:spPr>
          <p:txBody>
            <a:bodyPr wrap="none" anchor="ctr"/>
            <a:lstStyle/>
            <a:p>
              <a:pPr>
                <a:defRPr/>
              </a:pPr>
              <a:endParaRPr lang="zh-CN" altLang="en-US"/>
            </a:p>
          </p:txBody>
        </p:sp>
      </p:grpSp>
      <p:sp>
        <p:nvSpPr>
          <p:cNvPr id="395330" name="Rectangle 66"/>
          <p:cNvSpPr>
            <a:spLocks noChangeArrowheads="1"/>
          </p:cNvSpPr>
          <p:nvPr/>
        </p:nvSpPr>
        <p:spPr bwMode="auto">
          <a:xfrm>
            <a:off x="682625" y="2786063"/>
            <a:ext cx="1873250" cy="360362"/>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395331" name="Rectangle 67"/>
          <p:cNvSpPr>
            <a:spLocks noChangeArrowheads="1"/>
          </p:cNvSpPr>
          <p:nvPr/>
        </p:nvSpPr>
        <p:spPr bwMode="auto">
          <a:xfrm>
            <a:off x="6588125" y="1268413"/>
            <a:ext cx="2016125"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395333" name="Rectangle 69"/>
          <p:cNvSpPr>
            <a:spLocks noChangeArrowheads="1"/>
          </p:cNvSpPr>
          <p:nvPr/>
        </p:nvSpPr>
        <p:spPr bwMode="auto">
          <a:xfrm>
            <a:off x="6315075" y="6037263"/>
            <a:ext cx="2735263" cy="776287"/>
          </a:xfrm>
          <a:prstGeom prst="rect">
            <a:avLst/>
          </a:prstGeom>
          <a:solidFill>
            <a:srgbClr val="FFFF99"/>
          </a:solidFill>
          <a:ln w="28575">
            <a:solidFill>
              <a:srgbClr val="800000"/>
            </a:solidFill>
            <a:miter lim="800000"/>
            <a:headEnd/>
            <a:tailEnd/>
          </a:ln>
          <a:effectLst/>
        </p:spPr>
        <p:txBody>
          <a:bodyPr wrap="none" anchor="ctr"/>
          <a:lstStyle/>
          <a:p>
            <a:pPr algn="ctr">
              <a:defRPr/>
            </a:pPr>
            <a:r>
              <a:rPr lang="en-US" altLang="zh-CN" b="1">
                <a:solidFill>
                  <a:srgbClr val="000066"/>
                </a:solidFill>
                <a:effectLst/>
                <a:latin typeface="Courier New" pitchFamily="49" charset="0"/>
                <a:ea typeface="宋体" pitchFamily="2" charset="-122"/>
              </a:rPr>
              <a:t>x</a:t>
            </a:r>
            <a:r>
              <a:rPr lang="en-US" altLang="zh-CN" b="1">
                <a:solidFill>
                  <a:srgbClr val="000066"/>
                </a:solidFill>
                <a:effectLst/>
                <a:ea typeface="宋体" pitchFamily="2" charset="-122"/>
              </a:rPr>
              <a:t> </a:t>
            </a:r>
            <a:r>
              <a:rPr lang="zh-CN" altLang="en-US" b="1">
                <a:solidFill>
                  <a:srgbClr val="000066"/>
                </a:solidFill>
                <a:effectLst/>
                <a:ea typeface="宋体" pitchFamily="2" charset="-122"/>
              </a:rPr>
              <a:t>和 </a:t>
            </a:r>
            <a:r>
              <a:rPr lang="en-US" altLang="zh-CN" b="1">
                <a:solidFill>
                  <a:srgbClr val="000066"/>
                </a:solidFill>
                <a:effectLst/>
                <a:latin typeface="Courier New" pitchFamily="49" charset="0"/>
                <a:ea typeface="宋体" pitchFamily="2" charset="-122"/>
              </a:rPr>
              <a:t>y</a:t>
            </a:r>
            <a:r>
              <a:rPr lang="zh-CN" altLang="en-US" b="1">
                <a:solidFill>
                  <a:srgbClr val="000066"/>
                </a:solidFill>
                <a:effectLst/>
                <a:latin typeface="Courier New" pitchFamily="49" charset="0"/>
                <a:ea typeface="宋体" pitchFamily="2" charset="-122"/>
              </a:rPr>
              <a:t>是内部变量</a:t>
            </a:r>
          </a:p>
          <a:p>
            <a:pPr algn="ctr">
              <a:defRPr/>
            </a:pPr>
            <a:r>
              <a:rPr lang="zh-CN" altLang="en-US" b="1">
                <a:solidFill>
                  <a:srgbClr val="000066"/>
                </a:solidFill>
                <a:effectLst/>
                <a:latin typeface="Courier New" pitchFamily="49" charset="0"/>
                <a:ea typeface="宋体" pitchFamily="2" charset="-122"/>
              </a:rPr>
              <a:t>单向值传递</a:t>
            </a:r>
            <a:endParaRPr lang="zh-CN" altLang="en-US" b="1" i="1">
              <a:solidFill>
                <a:srgbClr val="FF3300"/>
              </a:solidFill>
              <a:effectLst>
                <a:outerShdw blurRad="38100" dist="38100" dir="2700000" algn="tl">
                  <a:srgbClr val="000000"/>
                </a:outerShdw>
              </a:effectLst>
              <a:ea typeface="宋体" pitchFamily="2" charset="-122"/>
            </a:endParaRPr>
          </a:p>
        </p:txBody>
      </p:sp>
      <p:sp>
        <p:nvSpPr>
          <p:cNvPr id="433165" name="Rectangle 13"/>
          <p:cNvSpPr>
            <a:spLocks noChangeArrowheads="1"/>
          </p:cNvSpPr>
          <p:nvPr/>
        </p:nvSpPr>
        <p:spPr bwMode="auto">
          <a:xfrm>
            <a:off x="314325" y="227013"/>
            <a:ext cx="8505825" cy="609600"/>
          </a:xfrm>
          <a:prstGeom prst="rect">
            <a:avLst/>
          </a:prstGeom>
          <a:noFill/>
          <a:ln w="9525">
            <a:noFill/>
            <a:miter lim="800000"/>
            <a:headEnd/>
            <a:tailEnd/>
          </a:ln>
          <a:effectLst>
            <a:outerShdw dist="35921" dir="2700000" algn="ctr" rotWithShape="0">
              <a:schemeClr val="tx1"/>
            </a:outerShdw>
          </a:effectLst>
        </p:spPr>
        <p:txBody>
          <a:bodyPr>
            <a:spAutoFit/>
          </a:bodyPr>
          <a:lstStyle/>
          <a:p>
            <a:pPr algn="ctr">
              <a:lnSpc>
                <a:spcPct val="85000"/>
              </a:lnSpc>
              <a:defRPr/>
            </a:pPr>
            <a:r>
              <a:rPr lang="zh-CN" altLang="en-US" sz="4000" i="1" kern="0">
                <a:solidFill>
                  <a:schemeClr val="accent2">
                    <a:lumMod val="50000"/>
                  </a:schemeClr>
                </a:solidFill>
                <a:effectLst>
                  <a:outerShdw blurRad="38100" dist="38100" dir="2700000" algn="tl">
                    <a:srgbClr val="C0C0C0"/>
                  </a:outerShdw>
                </a:effectLst>
                <a:latin typeface="+mj-lt"/>
                <a:ea typeface="+mj-ea"/>
                <a:cs typeface="+mj-cs"/>
              </a:rPr>
              <a:t>编写</a:t>
            </a:r>
            <a:r>
              <a:rPr lang="zh-CN" altLang="en-US" sz="4000" i="1" kern="0" dirty="0">
                <a:solidFill>
                  <a:schemeClr val="accent2">
                    <a:lumMod val="50000"/>
                  </a:schemeClr>
                </a:solidFill>
                <a:effectLst>
                  <a:outerShdw blurRad="38100" dist="38100" dir="2700000" algn="tl">
                    <a:srgbClr val="C0C0C0"/>
                  </a:outerShdw>
                </a:effectLst>
                <a:latin typeface="+mj-lt"/>
                <a:ea typeface="+mj-ea"/>
                <a:cs typeface="+mj-cs"/>
              </a:rPr>
              <a:t>函数实现两数的互换</a:t>
            </a:r>
          </a:p>
        </p:txBody>
      </p:sp>
      <p:sp>
        <p:nvSpPr>
          <p:cNvPr id="30761" name="Text Box 2"/>
          <p:cNvSpPr txBox="1">
            <a:spLocks noChangeArrowheads="1"/>
          </p:cNvSpPr>
          <p:nvPr/>
        </p:nvSpPr>
        <p:spPr bwMode="auto">
          <a:xfrm>
            <a:off x="323850" y="7493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zh-CN" altLang="en-US" sz="2800" b="1">
                <a:effectLst/>
                <a:ea typeface="华文仿宋" pitchFamily="2" charset="-122"/>
              </a:rPr>
              <a:t>主调函数</a:t>
            </a:r>
          </a:p>
        </p:txBody>
      </p:sp>
      <p:sp>
        <p:nvSpPr>
          <p:cNvPr id="30762" name="Text Box 3"/>
          <p:cNvSpPr txBox="1">
            <a:spLocks noChangeArrowheads="1"/>
          </p:cNvSpPr>
          <p:nvPr/>
        </p:nvSpPr>
        <p:spPr bwMode="auto">
          <a:xfrm>
            <a:off x="7429500" y="7493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zh-CN" altLang="en-US" sz="2800" b="1">
                <a:effectLst/>
                <a:ea typeface="华文仿宋" pitchFamily="2" charset="-122"/>
              </a:rPr>
              <a:t>被调函数</a:t>
            </a:r>
          </a:p>
        </p:txBody>
      </p:sp>
    </p:spTree>
    <p:extLst>
      <p:ext uri="{BB962C8B-B14F-4D97-AF65-F5344CB8AC3E}">
        <p14:creationId xmlns:p14="http://schemas.microsoft.com/office/powerpoint/2010/main" val="2902297315"/>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95330"/>
                                        </p:tgtEl>
                                        <p:attrNameLst>
                                          <p:attrName>style.visibility</p:attrName>
                                        </p:attrNameLst>
                                      </p:cBhvr>
                                      <p:to>
                                        <p:strVal val="visible"/>
                                      </p:to>
                                    </p:set>
                                    <p:anim calcmode="lin" valueType="num">
                                      <p:cBhvr>
                                        <p:cTn id="7" dur="500" fill="hold"/>
                                        <p:tgtEl>
                                          <p:spTgt spid="395330"/>
                                        </p:tgtEl>
                                        <p:attrNameLst>
                                          <p:attrName>ppt_w</p:attrName>
                                        </p:attrNameLst>
                                      </p:cBhvr>
                                      <p:tavLst>
                                        <p:tav tm="0">
                                          <p:val>
                                            <p:fltVal val="0"/>
                                          </p:val>
                                        </p:tav>
                                        <p:tav tm="100000">
                                          <p:val>
                                            <p:strVal val="#ppt_w"/>
                                          </p:val>
                                        </p:tav>
                                      </p:tavLst>
                                    </p:anim>
                                    <p:anim calcmode="lin" valueType="num">
                                      <p:cBhvr>
                                        <p:cTn id="8" dur="500" fill="hold"/>
                                        <p:tgtEl>
                                          <p:spTgt spid="395330"/>
                                        </p:tgtEl>
                                        <p:attrNameLst>
                                          <p:attrName>ppt_h</p:attrName>
                                        </p:attrNameLst>
                                      </p:cBhvr>
                                      <p:tavLst>
                                        <p:tav tm="0">
                                          <p:val>
                                            <p:fltVal val="0"/>
                                          </p:val>
                                        </p:tav>
                                        <p:tav tm="100000">
                                          <p:val>
                                            <p:strVal val="#ppt_h"/>
                                          </p:val>
                                        </p:tav>
                                      </p:tavLst>
                                    </p:anim>
                                    <p:animEffect transition="in" filter="fade">
                                      <p:cBhvr>
                                        <p:cTn id="9" dur="500"/>
                                        <p:tgtEl>
                                          <p:spTgt spid="395330"/>
                                        </p:tgtEl>
                                      </p:cBhvr>
                                    </p:animEffect>
                                  </p:childTnLst>
                                </p:cTn>
                              </p:par>
                            </p:childTnLst>
                          </p:cTn>
                        </p:par>
                        <p:par>
                          <p:cTn id="10" fill="hold" nodeType="afterGroup">
                            <p:stCondLst>
                              <p:cond delay="500"/>
                            </p:stCondLst>
                            <p:childTnLst>
                              <p:par>
                                <p:cTn id="11" presetID="14" presetClass="entr" presetSubtype="10" fill="hold" grpId="0" nodeType="afterEffect">
                                  <p:stCondLst>
                                    <p:cond delay="0"/>
                                  </p:stCondLst>
                                  <p:childTnLst>
                                    <p:set>
                                      <p:cBhvr>
                                        <p:cTn id="12" dur="1" fill="hold">
                                          <p:stCondLst>
                                            <p:cond delay="0"/>
                                          </p:stCondLst>
                                        </p:cTn>
                                        <p:tgtEl>
                                          <p:spTgt spid="395280"/>
                                        </p:tgtEl>
                                        <p:attrNameLst>
                                          <p:attrName>style.visibility</p:attrName>
                                        </p:attrNameLst>
                                      </p:cBhvr>
                                      <p:to>
                                        <p:strVal val="visible"/>
                                      </p:to>
                                    </p:set>
                                    <p:animEffect transition="in" filter="randombar(horizontal)">
                                      <p:cBhvr>
                                        <p:cTn id="13" dur="500"/>
                                        <p:tgtEl>
                                          <p:spTgt spid="3952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395276"/>
                                        </p:tgtEl>
                                        <p:attrNameLst>
                                          <p:attrName>style.visibility</p:attrName>
                                        </p:attrNameLst>
                                      </p:cBhvr>
                                      <p:to>
                                        <p:strVal val="visible"/>
                                      </p:to>
                                    </p:set>
                                  </p:childTnLst>
                                </p:cTn>
                              </p:par>
                            </p:childTnLst>
                          </p:cTn>
                        </p:par>
                        <p:par>
                          <p:cTn id="18" fill="hold" nodeType="afterGroup">
                            <p:stCondLst>
                              <p:cond delay="500"/>
                            </p:stCondLst>
                            <p:childTnLst>
                              <p:par>
                                <p:cTn id="19" presetID="16" presetClass="entr" presetSubtype="37" fill="hold" grpId="0" nodeType="afterEffect">
                                  <p:stCondLst>
                                    <p:cond delay="0"/>
                                  </p:stCondLst>
                                  <p:childTnLst>
                                    <p:set>
                                      <p:cBhvr>
                                        <p:cTn id="20" dur="1" fill="hold">
                                          <p:stCondLst>
                                            <p:cond delay="0"/>
                                          </p:stCondLst>
                                        </p:cTn>
                                        <p:tgtEl>
                                          <p:spTgt spid="395270"/>
                                        </p:tgtEl>
                                        <p:attrNameLst>
                                          <p:attrName>style.visibility</p:attrName>
                                        </p:attrNameLst>
                                      </p:cBhvr>
                                      <p:to>
                                        <p:strVal val="visible"/>
                                      </p:to>
                                    </p:set>
                                    <p:animEffect transition="in" filter="barn(outVertical)">
                                      <p:cBhvr>
                                        <p:cTn id="21" dur="500"/>
                                        <p:tgtEl>
                                          <p:spTgt spid="395270"/>
                                        </p:tgtEl>
                                      </p:cBhvr>
                                    </p:animEffect>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395275"/>
                                        </p:tgtEl>
                                        <p:attrNameLst>
                                          <p:attrName>style.visibility</p:attrName>
                                        </p:attrNameLst>
                                      </p:cBhvr>
                                      <p:to>
                                        <p:strVal val="visible"/>
                                      </p:to>
                                    </p:set>
                                  </p:childTnLst>
                                </p:cTn>
                              </p:par>
                            </p:childTnLst>
                          </p:cTn>
                        </p:par>
                        <p:par>
                          <p:cTn id="25" fill="hold" nodeType="afterGroup">
                            <p:stCondLst>
                              <p:cond delay="1500"/>
                            </p:stCondLst>
                            <p:childTnLst>
                              <p:par>
                                <p:cTn id="26" presetID="1" presetClass="entr" presetSubtype="0" fill="hold" grpId="0" nodeType="afterEffect">
                                  <p:stCondLst>
                                    <p:cond delay="0"/>
                                  </p:stCondLst>
                                  <p:childTnLst>
                                    <p:set>
                                      <p:cBhvr>
                                        <p:cTn id="27" dur="1" fill="hold">
                                          <p:stCondLst>
                                            <p:cond delay="499"/>
                                          </p:stCondLst>
                                        </p:cTn>
                                        <p:tgtEl>
                                          <p:spTgt spid="395277"/>
                                        </p:tgtEl>
                                        <p:attrNameLst>
                                          <p:attrName>style.visibility</p:attrName>
                                        </p:attrNameLst>
                                      </p:cBhvr>
                                      <p:to>
                                        <p:strVal val="visible"/>
                                      </p:to>
                                    </p:set>
                                  </p:childTnLst>
                                </p:cTn>
                              </p:par>
                            </p:childTnLst>
                          </p:cTn>
                        </p:par>
                        <p:par>
                          <p:cTn id="28" fill="hold" nodeType="afterGroup">
                            <p:stCondLst>
                              <p:cond delay="2000"/>
                            </p:stCondLst>
                            <p:childTnLst>
                              <p:par>
                                <p:cTn id="29" presetID="16" presetClass="entr" presetSubtype="37" fill="hold" grpId="0" nodeType="afterEffect">
                                  <p:stCondLst>
                                    <p:cond delay="0"/>
                                  </p:stCondLst>
                                  <p:childTnLst>
                                    <p:set>
                                      <p:cBhvr>
                                        <p:cTn id="30" dur="1" fill="hold">
                                          <p:stCondLst>
                                            <p:cond delay="0"/>
                                          </p:stCondLst>
                                        </p:cTn>
                                        <p:tgtEl>
                                          <p:spTgt spid="395273"/>
                                        </p:tgtEl>
                                        <p:attrNameLst>
                                          <p:attrName>style.visibility</p:attrName>
                                        </p:attrNameLst>
                                      </p:cBhvr>
                                      <p:to>
                                        <p:strVal val="visible"/>
                                      </p:to>
                                    </p:set>
                                    <p:animEffect transition="in" filter="barn(outVertical)">
                                      <p:cBhvr>
                                        <p:cTn id="31" dur="500"/>
                                        <p:tgtEl>
                                          <p:spTgt spid="395273"/>
                                        </p:tgtEl>
                                      </p:cBhvr>
                                    </p:animEffect>
                                  </p:childTnLst>
                                </p:cTn>
                              </p:par>
                            </p:childTnLst>
                          </p:cTn>
                        </p:par>
                        <p:par>
                          <p:cTn id="32" fill="hold" nodeType="afterGroup">
                            <p:stCondLst>
                              <p:cond delay="2500"/>
                            </p:stCondLst>
                            <p:childTnLst>
                              <p:par>
                                <p:cTn id="33" presetID="1" presetClass="entr" presetSubtype="0" fill="hold" grpId="0" nodeType="afterEffect">
                                  <p:stCondLst>
                                    <p:cond delay="0"/>
                                  </p:stCondLst>
                                  <p:childTnLst>
                                    <p:set>
                                      <p:cBhvr>
                                        <p:cTn id="34" dur="1" fill="hold">
                                          <p:stCondLst>
                                            <p:cond delay="499"/>
                                          </p:stCondLst>
                                        </p:cTn>
                                        <p:tgtEl>
                                          <p:spTgt spid="39529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0" fill="hold" grpId="0" nodeType="clickEffect">
                                  <p:stCondLst>
                                    <p:cond delay="0"/>
                                  </p:stCondLst>
                                  <p:childTnLst>
                                    <p:set>
                                      <p:cBhvr>
                                        <p:cTn id="38" dur="1" fill="hold">
                                          <p:stCondLst>
                                            <p:cond delay="0"/>
                                          </p:stCondLst>
                                        </p:cTn>
                                        <p:tgtEl>
                                          <p:spTgt spid="395331"/>
                                        </p:tgtEl>
                                        <p:attrNameLst>
                                          <p:attrName>style.visibility</p:attrName>
                                        </p:attrNameLst>
                                      </p:cBhvr>
                                      <p:to>
                                        <p:strVal val="visible"/>
                                      </p:to>
                                    </p:set>
                                    <p:anim calcmode="lin" valueType="num">
                                      <p:cBhvr>
                                        <p:cTn id="39" dur="500" fill="hold"/>
                                        <p:tgtEl>
                                          <p:spTgt spid="395331"/>
                                        </p:tgtEl>
                                        <p:attrNameLst>
                                          <p:attrName>ppt_w</p:attrName>
                                        </p:attrNameLst>
                                      </p:cBhvr>
                                      <p:tavLst>
                                        <p:tav tm="0">
                                          <p:val>
                                            <p:fltVal val="0"/>
                                          </p:val>
                                        </p:tav>
                                        <p:tav tm="100000">
                                          <p:val>
                                            <p:strVal val="#ppt_w"/>
                                          </p:val>
                                        </p:tav>
                                      </p:tavLst>
                                    </p:anim>
                                    <p:anim calcmode="lin" valueType="num">
                                      <p:cBhvr>
                                        <p:cTn id="40" dur="500" fill="hold"/>
                                        <p:tgtEl>
                                          <p:spTgt spid="395331"/>
                                        </p:tgtEl>
                                        <p:attrNameLst>
                                          <p:attrName>ppt_h</p:attrName>
                                        </p:attrNameLst>
                                      </p:cBhvr>
                                      <p:tavLst>
                                        <p:tav tm="0">
                                          <p:val>
                                            <p:fltVal val="0"/>
                                          </p:val>
                                        </p:tav>
                                        <p:tav tm="100000">
                                          <p:val>
                                            <p:strVal val="#ppt_h"/>
                                          </p:val>
                                        </p:tav>
                                      </p:tavLst>
                                    </p:anim>
                                    <p:animEffect transition="in" filter="fade">
                                      <p:cBhvr>
                                        <p:cTn id="41" dur="500"/>
                                        <p:tgtEl>
                                          <p:spTgt spid="395331"/>
                                        </p:tgtEl>
                                      </p:cBhvr>
                                    </p:animEffect>
                                  </p:childTnLst>
                                </p:cTn>
                              </p:par>
                            </p:childTnLst>
                          </p:cTn>
                        </p:par>
                        <p:par>
                          <p:cTn id="42" fill="hold" nodeType="afterGroup">
                            <p:stCondLst>
                              <p:cond delay="500"/>
                            </p:stCondLst>
                            <p:childTnLst>
                              <p:par>
                                <p:cTn id="43" presetID="14" presetClass="entr" presetSubtype="10" fill="hold" grpId="0" nodeType="afterEffect">
                                  <p:stCondLst>
                                    <p:cond delay="0"/>
                                  </p:stCondLst>
                                  <p:childTnLst>
                                    <p:set>
                                      <p:cBhvr>
                                        <p:cTn id="44" dur="1" fill="hold">
                                          <p:stCondLst>
                                            <p:cond delay="0"/>
                                          </p:stCondLst>
                                        </p:cTn>
                                        <p:tgtEl>
                                          <p:spTgt spid="395281"/>
                                        </p:tgtEl>
                                        <p:attrNameLst>
                                          <p:attrName>style.visibility</p:attrName>
                                        </p:attrNameLst>
                                      </p:cBhvr>
                                      <p:to>
                                        <p:strVal val="visible"/>
                                      </p:to>
                                    </p:set>
                                    <p:animEffect transition="in" filter="randombar(horizontal)">
                                      <p:cBhvr>
                                        <p:cTn id="45" dur="500"/>
                                        <p:tgtEl>
                                          <p:spTgt spid="39528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395304"/>
                                        </p:tgtEl>
                                        <p:attrNameLst>
                                          <p:attrName>style.visibility</p:attrName>
                                        </p:attrNameLst>
                                      </p:cBhvr>
                                      <p:to>
                                        <p:strVal val="visible"/>
                                      </p:to>
                                    </p:set>
                                  </p:childTnLst>
                                </p:cTn>
                              </p:par>
                            </p:childTnLst>
                          </p:cTn>
                        </p:par>
                        <p:par>
                          <p:cTn id="50" fill="hold" nodeType="afterGroup">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395272"/>
                                        </p:tgtEl>
                                        <p:attrNameLst>
                                          <p:attrName>style.visibility</p:attrName>
                                        </p:attrNameLst>
                                      </p:cBhvr>
                                      <p:to>
                                        <p:strVal val="visible"/>
                                      </p:to>
                                    </p:set>
                                    <p:animEffect transition="in" filter="barn(outVertical)">
                                      <p:cBhvr>
                                        <p:cTn id="53" dur="500"/>
                                        <p:tgtEl>
                                          <p:spTgt spid="395272"/>
                                        </p:tgtEl>
                                      </p:cBhvr>
                                    </p:animEffect>
                                  </p:childTnLst>
                                </p:cTn>
                              </p:par>
                            </p:childTnLst>
                          </p:cTn>
                        </p:par>
                        <p:par>
                          <p:cTn id="54" fill="hold" nodeType="afterGroup">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395305"/>
                                        </p:tgtEl>
                                        <p:attrNameLst>
                                          <p:attrName>style.visibility</p:attrName>
                                        </p:attrNameLst>
                                      </p:cBhvr>
                                      <p:to>
                                        <p:strVal val="visible"/>
                                      </p:to>
                                    </p:set>
                                  </p:childTnLst>
                                </p:cTn>
                              </p:par>
                            </p:childTnLst>
                          </p:cTn>
                        </p:par>
                        <p:par>
                          <p:cTn id="57" fill="hold" nodeType="afterGroup">
                            <p:stCondLst>
                              <p:cond delay="1500"/>
                            </p:stCondLst>
                            <p:childTnLst>
                              <p:par>
                                <p:cTn id="58" presetID="16" presetClass="entr" presetSubtype="37" fill="hold" grpId="0" nodeType="afterEffect">
                                  <p:stCondLst>
                                    <p:cond delay="0"/>
                                  </p:stCondLst>
                                  <p:childTnLst>
                                    <p:set>
                                      <p:cBhvr>
                                        <p:cTn id="59" dur="1" fill="hold">
                                          <p:stCondLst>
                                            <p:cond delay="0"/>
                                          </p:stCondLst>
                                        </p:cTn>
                                        <p:tgtEl>
                                          <p:spTgt spid="395271"/>
                                        </p:tgtEl>
                                        <p:attrNameLst>
                                          <p:attrName>style.visibility</p:attrName>
                                        </p:attrNameLst>
                                      </p:cBhvr>
                                      <p:to>
                                        <p:strVal val="visible"/>
                                      </p:to>
                                    </p:set>
                                    <p:animEffect transition="in" filter="barn(outVertical)">
                                      <p:cBhvr>
                                        <p:cTn id="60" dur="500"/>
                                        <p:tgtEl>
                                          <p:spTgt spid="395271"/>
                                        </p:tgtEl>
                                      </p:cBhvr>
                                    </p:animEffect>
                                  </p:childTnLst>
                                </p:cTn>
                              </p:par>
                            </p:childTnLst>
                          </p:cTn>
                        </p:par>
                        <p:par>
                          <p:cTn id="61" fill="hold" nodeType="afterGroup">
                            <p:stCondLst>
                              <p:cond delay="2000"/>
                            </p:stCondLst>
                            <p:childTnLst>
                              <p:par>
                                <p:cTn id="62" presetID="16" presetClass="entr" presetSubtype="37" fill="hold" grpId="0" nodeType="afterEffect">
                                  <p:stCondLst>
                                    <p:cond delay="0"/>
                                  </p:stCondLst>
                                  <p:childTnLst>
                                    <p:set>
                                      <p:cBhvr>
                                        <p:cTn id="63" dur="1" fill="hold">
                                          <p:stCondLst>
                                            <p:cond delay="0"/>
                                          </p:stCondLst>
                                        </p:cTn>
                                        <p:tgtEl>
                                          <p:spTgt spid="395312"/>
                                        </p:tgtEl>
                                        <p:attrNameLst>
                                          <p:attrName>style.visibility</p:attrName>
                                        </p:attrNameLst>
                                      </p:cBhvr>
                                      <p:to>
                                        <p:strVal val="visible"/>
                                      </p:to>
                                    </p:set>
                                    <p:animEffect transition="in" filter="barn(outVertical)">
                                      <p:cBhvr>
                                        <p:cTn id="64" dur="500"/>
                                        <p:tgtEl>
                                          <p:spTgt spid="395312"/>
                                        </p:tgtEl>
                                      </p:cBhvr>
                                    </p:animEffect>
                                  </p:childTnLst>
                                </p:cTn>
                              </p:par>
                            </p:childTnLst>
                          </p:cTn>
                        </p:par>
                        <p:par>
                          <p:cTn id="65" fill="hold" nodeType="afterGroup">
                            <p:stCondLst>
                              <p:cond delay="2500"/>
                            </p:stCondLst>
                            <p:childTnLst>
                              <p:par>
                                <p:cTn id="66" presetID="1" presetClass="entr" presetSubtype="0" fill="hold" grpId="0" nodeType="afterEffect">
                                  <p:stCondLst>
                                    <p:cond delay="0"/>
                                  </p:stCondLst>
                                  <p:childTnLst>
                                    <p:set>
                                      <p:cBhvr>
                                        <p:cTn id="67" dur="1" fill="hold">
                                          <p:stCondLst>
                                            <p:cond delay="499"/>
                                          </p:stCondLst>
                                        </p:cTn>
                                        <p:tgtEl>
                                          <p:spTgt spid="395313"/>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wipe(left)">
                                      <p:cBhvr>
                                        <p:cTn id="72" dur="500"/>
                                        <p:tgtEl>
                                          <p:spTgt spid="2"/>
                                        </p:tgtEl>
                                      </p:cBhvr>
                                    </p:animEffect>
                                  </p:childTnLst>
                                </p:cTn>
                              </p:par>
                            </p:childTnLst>
                          </p:cTn>
                        </p:par>
                        <p:par>
                          <p:cTn id="73" fill="hold" nodeType="afterGroup">
                            <p:stCondLst>
                              <p:cond delay="500"/>
                            </p:stCondLst>
                            <p:childTnLst>
                              <p:par>
                                <p:cTn id="74" presetID="1" presetClass="entr" presetSubtype="0" fill="hold" grpId="0" nodeType="afterEffect">
                                  <p:stCondLst>
                                    <p:cond delay="0"/>
                                  </p:stCondLst>
                                  <p:childTnLst>
                                    <p:set>
                                      <p:cBhvr>
                                        <p:cTn id="75" dur="1" fill="hold">
                                          <p:stCondLst>
                                            <p:cond delay="499"/>
                                          </p:stCondLst>
                                        </p:cTn>
                                        <p:tgtEl>
                                          <p:spTgt spid="395274"/>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xit" presetSubtype="0" fill="hold" nodeType="clickEffect">
                                  <p:stCondLst>
                                    <p:cond delay="0"/>
                                  </p:stCondLst>
                                  <p:childTnLst>
                                    <p:set>
                                      <p:cBhvr>
                                        <p:cTn id="79" dur="1" fill="hold">
                                          <p:stCondLst>
                                            <p:cond delay="0"/>
                                          </p:stCondLst>
                                        </p:cTn>
                                        <p:tgtEl>
                                          <p:spTgt spid="2"/>
                                        </p:tgtEl>
                                        <p:attrNameLst>
                                          <p:attrName>style.visibility</p:attrName>
                                        </p:attrNameLst>
                                      </p:cBhvr>
                                      <p:to>
                                        <p:strVal val="hidden"/>
                                      </p:to>
                                    </p:set>
                                  </p:childTnLst>
                                </p:cTn>
                              </p:par>
                            </p:childTnLst>
                          </p:cTn>
                        </p:par>
                        <p:par>
                          <p:cTn id="80" fill="hold" nodeType="afterGroup">
                            <p:stCondLst>
                              <p:cond delay="0"/>
                            </p:stCondLst>
                            <p:childTnLst>
                              <p:par>
                                <p:cTn id="81" presetID="22" presetClass="entr" presetSubtype="8" fill="hold" nodeType="after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wipe(left)">
                                      <p:cBhvr>
                                        <p:cTn id="83" dur="500"/>
                                        <p:tgtEl>
                                          <p:spTgt spid="3"/>
                                        </p:tgtEl>
                                      </p:cBhvr>
                                    </p:animEffect>
                                  </p:childTnLst>
                                </p:cTn>
                              </p:par>
                            </p:childTnLst>
                          </p:cTn>
                        </p:par>
                        <p:par>
                          <p:cTn id="84" fill="hold" nodeType="afterGroup">
                            <p:stCondLst>
                              <p:cond delay="500"/>
                            </p:stCondLst>
                            <p:childTnLst>
                              <p:par>
                                <p:cTn id="85" presetID="1" presetClass="entr" presetSubtype="0" fill="hold" grpId="0" nodeType="afterEffect">
                                  <p:stCondLst>
                                    <p:cond delay="0"/>
                                  </p:stCondLst>
                                  <p:childTnLst>
                                    <p:set>
                                      <p:cBhvr>
                                        <p:cTn id="86" dur="1" fill="hold">
                                          <p:stCondLst>
                                            <p:cond delay="499"/>
                                          </p:stCondLst>
                                        </p:cTn>
                                        <p:tgtEl>
                                          <p:spTgt spid="395290"/>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xit" presetSubtype="0" fill="hold" nodeType="clickEffect">
                                  <p:stCondLst>
                                    <p:cond delay="0"/>
                                  </p:stCondLst>
                                  <p:childTnLst>
                                    <p:set>
                                      <p:cBhvr>
                                        <p:cTn id="90" dur="1" fill="hold">
                                          <p:stCondLst>
                                            <p:cond delay="0"/>
                                          </p:stCondLst>
                                        </p:cTn>
                                        <p:tgtEl>
                                          <p:spTgt spid="3"/>
                                        </p:tgtEl>
                                        <p:attrNameLst>
                                          <p:attrName>style.visibility</p:attrName>
                                        </p:attrNameLst>
                                      </p:cBhvr>
                                      <p:to>
                                        <p:strVal val="hidden"/>
                                      </p:to>
                                    </p:set>
                                  </p:childTnLst>
                                </p:cTn>
                              </p:par>
                            </p:childTnLst>
                          </p:cTn>
                        </p:par>
                        <p:par>
                          <p:cTn id="91" fill="hold" nodeType="afterGroup">
                            <p:stCondLst>
                              <p:cond delay="0"/>
                            </p:stCondLst>
                            <p:childTnLst>
                              <p:par>
                                <p:cTn id="92" presetID="22" presetClass="entr" presetSubtype="4" fill="hold" nodeType="afterEffect">
                                  <p:stCondLst>
                                    <p:cond delay="0"/>
                                  </p:stCondLst>
                                  <p:childTnLst>
                                    <p:set>
                                      <p:cBhvr>
                                        <p:cTn id="93" dur="1" fill="hold">
                                          <p:stCondLst>
                                            <p:cond delay="0"/>
                                          </p:stCondLst>
                                        </p:cTn>
                                        <p:tgtEl>
                                          <p:spTgt spid="395314"/>
                                        </p:tgtEl>
                                        <p:attrNameLst>
                                          <p:attrName>style.visibility</p:attrName>
                                        </p:attrNameLst>
                                      </p:cBhvr>
                                      <p:to>
                                        <p:strVal val="visible"/>
                                      </p:to>
                                    </p:set>
                                    <p:animEffect transition="in" filter="wipe(down)">
                                      <p:cBhvr>
                                        <p:cTn id="94" dur="500"/>
                                        <p:tgtEl>
                                          <p:spTgt spid="395314"/>
                                        </p:tgtEl>
                                      </p:cBhvr>
                                    </p:animEffect>
                                  </p:childTnLst>
                                </p:cTn>
                              </p:par>
                            </p:childTnLst>
                          </p:cTn>
                        </p:par>
                        <p:par>
                          <p:cTn id="95" fill="hold" nodeType="afterGroup">
                            <p:stCondLst>
                              <p:cond delay="500"/>
                            </p:stCondLst>
                            <p:childTnLst>
                              <p:par>
                                <p:cTn id="96" presetID="22" presetClass="entr" presetSubtype="8" fill="hold" nodeType="afterEffect">
                                  <p:stCondLst>
                                    <p:cond delay="0"/>
                                  </p:stCondLst>
                                  <p:childTnLst>
                                    <p:set>
                                      <p:cBhvr>
                                        <p:cTn id="97" dur="1" fill="hold">
                                          <p:stCondLst>
                                            <p:cond delay="0"/>
                                          </p:stCondLst>
                                        </p:cTn>
                                        <p:tgtEl>
                                          <p:spTgt spid="395315"/>
                                        </p:tgtEl>
                                        <p:attrNameLst>
                                          <p:attrName>style.visibility</p:attrName>
                                        </p:attrNameLst>
                                      </p:cBhvr>
                                      <p:to>
                                        <p:strVal val="visible"/>
                                      </p:to>
                                    </p:set>
                                    <p:animEffect transition="in" filter="wipe(left)">
                                      <p:cBhvr>
                                        <p:cTn id="98" dur="500"/>
                                        <p:tgtEl>
                                          <p:spTgt spid="395315"/>
                                        </p:tgtEl>
                                      </p:cBhvr>
                                    </p:animEffect>
                                  </p:childTnLst>
                                </p:cTn>
                              </p:par>
                            </p:childTnLst>
                          </p:cTn>
                        </p:par>
                        <p:par>
                          <p:cTn id="99" fill="hold" nodeType="afterGroup">
                            <p:stCondLst>
                              <p:cond delay="1000"/>
                            </p:stCondLst>
                            <p:childTnLst>
                              <p:par>
                                <p:cTn id="100" presetID="1" presetClass="entr" presetSubtype="0" fill="hold" grpId="0" nodeType="afterEffect">
                                  <p:stCondLst>
                                    <p:cond delay="0"/>
                                  </p:stCondLst>
                                  <p:childTnLst>
                                    <p:set>
                                      <p:cBhvr>
                                        <p:cTn id="101" dur="1" fill="hold">
                                          <p:stCondLst>
                                            <p:cond delay="0"/>
                                          </p:stCondLst>
                                        </p:cTn>
                                        <p:tgtEl>
                                          <p:spTgt spid="395310"/>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nodeType="clickEffect">
                                  <p:stCondLst>
                                    <p:cond delay="0"/>
                                  </p:stCondLst>
                                  <p:childTnLst>
                                    <p:set>
                                      <p:cBhvr>
                                        <p:cTn id="105" dur="1" fill="hold">
                                          <p:stCondLst>
                                            <p:cond delay="0"/>
                                          </p:stCondLst>
                                        </p:cTn>
                                        <p:tgtEl>
                                          <p:spTgt spid="395323"/>
                                        </p:tgtEl>
                                        <p:attrNameLst>
                                          <p:attrName>style.visibility</p:attrName>
                                        </p:attrNameLst>
                                      </p:cBhvr>
                                      <p:to>
                                        <p:strVal val="visible"/>
                                      </p:to>
                                    </p:set>
                                    <p:animEffect transition="in" filter="wipe(up)">
                                      <p:cBhvr>
                                        <p:cTn id="106" dur="500"/>
                                        <p:tgtEl>
                                          <p:spTgt spid="395323"/>
                                        </p:tgtEl>
                                      </p:cBhvr>
                                    </p:animEffect>
                                  </p:childTnLst>
                                </p:cTn>
                              </p:par>
                            </p:childTnLst>
                          </p:cTn>
                        </p:par>
                        <p:par>
                          <p:cTn id="107" fill="hold" nodeType="afterGroup">
                            <p:stCondLst>
                              <p:cond delay="500"/>
                            </p:stCondLst>
                            <p:childTnLst>
                              <p:par>
                                <p:cTn id="108" presetID="22" presetClass="entr" presetSubtype="2" fill="hold" nodeType="afterEffect">
                                  <p:stCondLst>
                                    <p:cond delay="0"/>
                                  </p:stCondLst>
                                  <p:childTnLst>
                                    <p:set>
                                      <p:cBhvr>
                                        <p:cTn id="109" dur="1" fill="hold">
                                          <p:stCondLst>
                                            <p:cond delay="0"/>
                                          </p:stCondLst>
                                        </p:cTn>
                                        <p:tgtEl>
                                          <p:spTgt spid="395322"/>
                                        </p:tgtEl>
                                        <p:attrNameLst>
                                          <p:attrName>style.visibility</p:attrName>
                                        </p:attrNameLst>
                                      </p:cBhvr>
                                      <p:to>
                                        <p:strVal val="visible"/>
                                      </p:to>
                                    </p:set>
                                    <p:animEffect transition="in" filter="wipe(right)">
                                      <p:cBhvr>
                                        <p:cTn id="110" dur="500"/>
                                        <p:tgtEl>
                                          <p:spTgt spid="395322"/>
                                        </p:tgtEl>
                                      </p:cBhvr>
                                    </p:animEffect>
                                  </p:childTnLst>
                                </p:cTn>
                              </p:par>
                            </p:childTnLst>
                          </p:cTn>
                        </p:par>
                        <p:par>
                          <p:cTn id="111" fill="hold" nodeType="afterGroup">
                            <p:stCondLst>
                              <p:cond delay="1000"/>
                            </p:stCondLst>
                            <p:childTnLst>
                              <p:par>
                                <p:cTn id="112" presetID="22" presetClass="entr" presetSubtype="4" fill="hold" nodeType="afterEffect">
                                  <p:stCondLst>
                                    <p:cond delay="0"/>
                                  </p:stCondLst>
                                  <p:childTnLst>
                                    <p:set>
                                      <p:cBhvr>
                                        <p:cTn id="113" dur="1" fill="hold">
                                          <p:stCondLst>
                                            <p:cond delay="0"/>
                                          </p:stCondLst>
                                        </p:cTn>
                                        <p:tgtEl>
                                          <p:spTgt spid="395324"/>
                                        </p:tgtEl>
                                        <p:attrNameLst>
                                          <p:attrName>style.visibility</p:attrName>
                                        </p:attrNameLst>
                                      </p:cBhvr>
                                      <p:to>
                                        <p:strVal val="visible"/>
                                      </p:to>
                                    </p:set>
                                    <p:animEffect transition="in" filter="wipe(down)">
                                      <p:cBhvr>
                                        <p:cTn id="114" dur="500"/>
                                        <p:tgtEl>
                                          <p:spTgt spid="395324"/>
                                        </p:tgtEl>
                                      </p:cBhvr>
                                    </p:animEffect>
                                  </p:childTnLst>
                                </p:cTn>
                              </p:par>
                            </p:childTnLst>
                          </p:cTn>
                        </p:par>
                        <p:par>
                          <p:cTn id="115" fill="hold" nodeType="afterGroup">
                            <p:stCondLst>
                              <p:cond delay="1500"/>
                            </p:stCondLst>
                            <p:childTnLst>
                              <p:par>
                                <p:cTn id="116" presetID="1" presetClass="entr" presetSubtype="0" fill="hold" grpId="0" nodeType="afterEffect">
                                  <p:stCondLst>
                                    <p:cond delay="0"/>
                                  </p:stCondLst>
                                  <p:childTnLst>
                                    <p:set>
                                      <p:cBhvr>
                                        <p:cTn id="117" dur="1" fill="hold">
                                          <p:stCondLst>
                                            <p:cond delay="0"/>
                                          </p:stCondLst>
                                        </p:cTn>
                                        <p:tgtEl>
                                          <p:spTgt spid="395326"/>
                                        </p:tgtEl>
                                        <p:attrNameLst>
                                          <p:attrName>style.visibility</p:attrName>
                                        </p:attrNameLst>
                                      </p:cBhvr>
                                      <p:to>
                                        <p:strVal val="visible"/>
                                      </p:to>
                                    </p:set>
                                  </p:childTnLst>
                                </p:cTn>
                              </p:par>
                            </p:childTnLst>
                          </p:cTn>
                        </p:par>
                        <p:par>
                          <p:cTn id="118" fill="hold" nodeType="afterGroup">
                            <p:stCondLst>
                              <p:cond delay="1500"/>
                            </p:stCondLst>
                            <p:childTnLst>
                              <p:par>
                                <p:cTn id="119" presetID="1" presetClass="exit" presetSubtype="0" fill="hold" grpId="1" nodeType="afterEffect">
                                  <p:stCondLst>
                                    <p:cond delay="0"/>
                                  </p:stCondLst>
                                  <p:childTnLst>
                                    <p:set>
                                      <p:cBhvr>
                                        <p:cTn id="120" dur="1" fill="hold">
                                          <p:stCondLst>
                                            <p:cond delay="0"/>
                                          </p:stCondLst>
                                        </p:cTn>
                                        <p:tgtEl>
                                          <p:spTgt spid="395274"/>
                                        </p:tgtEl>
                                        <p:attrNameLst>
                                          <p:attrName>style.visibility</p:attrName>
                                        </p:attrNameLst>
                                      </p:cBhvr>
                                      <p:to>
                                        <p:strVal val="hidden"/>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395319"/>
                                        </p:tgtEl>
                                        <p:attrNameLst>
                                          <p:attrName>style.visibility</p:attrName>
                                        </p:attrNameLst>
                                      </p:cBhvr>
                                      <p:to>
                                        <p:strVal val="visible"/>
                                      </p:to>
                                    </p:set>
                                    <p:animEffect transition="in" filter="wipe(left)">
                                      <p:cBhvr>
                                        <p:cTn id="125" dur="500"/>
                                        <p:tgtEl>
                                          <p:spTgt spid="395319"/>
                                        </p:tgtEl>
                                      </p:cBhvr>
                                    </p:animEffect>
                                  </p:childTnLst>
                                </p:cTn>
                              </p:par>
                            </p:childTnLst>
                          </p:cTn>
                        </p:par>
                        <p:par>
                          <p:cTn id="126" fill="hold" nodeType="afterGroup">
                            <p:stCondLst>
                              <p:cond delay="500"/>
                            </p:stCondLst>
                            <p:childTnLst>
                              <p:par>
                                <p:cTn id="127" presetID="22" presetClass="entr" presetSubtype="1" fill="hold" nodeType="afterEffect">
                                  <p:stCondLst>
                                    <p:cond delay="0"/>
                                  </p:stCondLst>
                                  <p:childTnLst>
                                    <p:set>
                                      <p:cBhvr>
                                        <p:cTn id="128" dur="1" fill="hold">
                                          <p:stCondLst>
                                            <p:cond delay="0"/>
                                          </p:stCondLst>
                                        </p:cTn>
                                        <p:tgtEl>
                                          <p:spTgt spid="395318"/>
                                        </p:tgtEl>
                                        <p:attrNameLst>
                                          <p:attrName>style.visibility</p:attrName>
                                        </p:attrNameLst>
                                      </p:cBhvr>
                                      <p:to>
                                        <p:strVal val="visible"/>
                                      </p:to>
                                    </p:set>
                                    <p:animEffect transition="in" filter="wipe(up)">
                                      <p:cBhvr>
                                        <p:cTn id="129" dur="500"/>
                                        <p:tgtEl>
                                          <p:spTgt spid="395318"/>
                                        </p:tgtEl>
                                      </p:cBhvr>
                                    </p:animEffect>
                                  </p:childTnLst>
                                </p:cTn>
                              </p:par>
                            </p:childTnLst>
                          </p:cTn>
                        </p:par>
                        <p:par>
                          <p:cTn id="130" fill="hold" nodeType="afterGroup">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95311"/>
                                        </p:tgtEl>
                                        <p:attrNameLst>
                                          <p:attrName>style.visibility</p:attrName>
                                        </p:attrNameLst>
                                      </p:cBhvr>
                                      <p:to>
                                        <p:strVal val="visible"/>
                                      </p:to>
                                    </p:set>
                                  </p:childTnLst>
                                </p:cTn>
                              </p:par>
                            </p:childTnLst>
                          </p:cTn>
                        </p:par>
                        <p:par>
                          <p:cTn id="133" fill="hold" nodeType="afterGroup">
                            <p:stCondLst>
                              <p:cond delay="1000"/>
                            </p:stCondLst>
                            <p:childTnLst>
                              <p:par>
                                <p:cTn id="134" presetID="1" presetClass="exit" presetSubtype="0" fill="hold" grpId="1" nodeType="afterEffect">
                                  <p:stCondLst>
                                    <p:cond delay="0"/>
                                  </p:stCondLst>
                                  <p:childTnLst>
                                    <p:set>
                                      <p:cBhvr>
                                        <p:cTn id="135" dur="1" fill="hold">
                                          <p:stCondLst>
                                            <p:cond delay="0"/>
                                          </p:stCondLst>
                                        </p:cTn>
                                        <p:tgtEl>
                                          <p:spTgt spid="395290"/>
                                        </p:tgtEl>
                                        <p:attrNameLst>
                                          <p:attrName>style.visibility</p:attrName>
                                        </p:attrNameLst>
                                      </p:cBhvr>
                                      <p:to>
                                        <p:strVal val="hidden"/>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6" presetClass="entr" presetSubtype="37" fill="hold" nodeType="clickEffect">
                                  <p:stCondLst>
                                    <p:cond delay="0"/>
                                  </p:stCondLst>
                                  <p:childTnLst>
                                    <p:set>
                                      <p:cBhvr>
                                        <p:cTn id="139" dur="1" fill="hold">
                                          <p:stCondLst>
                                            <p:cond delay="0"/>
                                          </p:stCondLst>
                                        </p:cTn>
                                        <p:tgtEl>
                                          <p:spTgt spid="4"/>
                                        </p:tgtEl>
                                        <p:attrNameLst>
                                          <p:attrName>style.visibility</p:attrName>
                                        </p:attrNameLst>
                                      </p:cBhvr>
                                      <p:to>
                                        <p:strVal val="visible"/>
                                      </p:to>
                                    </p:set>
                                    <p:animEffect transition="in" filter="barn(outVertical)">
                                      <p:cBhvr>
                                        <p:cTn id="140" dur="500"/>
                                        <p:tgtEl>
                                          <p:spTgt spid="4"/>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6" presetClass="entr" presetSubtype="37" fill="hold" nodeType="clickEffect">
                                  <p:stCondLst>
                                    <p:cond delay="0"/>
                                  </p:stCondLst>
                                  <p:childTnLst>
                                    <p:set>
                                      <p:cBhvr>
                                        <p:cTn id="144" dur="1" fill="hold">
                                          <p:stCondLst>
                                            <p:cond delay="0"/>
                                          </p:stCondLst>
                                        </p:cTn>
                                        <p:tgtEl>
                                          <p:spTgt spid="5"/>
                                        </p:tgtEl>
                                        <p:attrNameLst>
                                          <p:attrName>style.visibility</p:attrName>
                                        </p:attrNameLst>
                                      </p:cBhvr>
                                      <p:to>
                                        <p:strVal val="visible"/>
                                      </p:to>
                                    </p:set>
                                    <p:animEffect transition="in" filter="barn(outVertical)">
                                      <p:cBhvr>
                                        <p:cTn id="145" dur="500"/>
                                        <p:tgtEl>
                                          <p:spTgt spid="5"/>
                                        </p:tgtEl>
                                      </p:cBhvr>
                                    </p:animEffect>
                                  </p:childTnLst>
                                </p:cTn>
                              </p:par>
                            </p:childTnLst>
                          </p:cTn>
                        </p:par>
                        <p:par>
                          <p:cTn id="146" fill="hold" nodeType="afterGroup">
                            <p:stCondLst>
                              <p:cond delay="500"/>
                            </p:stCondLst>
                            <p:childTnLst>
                              <p:par>
                                <p:cTn id="147" presetID="9" presetClass="entr" presetSubtype="0" fill="hold" nodeType="afterEffect">
                                  <p:stCondLst>
                                    <p:cond delay="0"/>
                                  </p:stCondLst>
                                  <p:childTnLst>
                                    <p:set>
                                      <p:cBhvr>
                                        <p:cTn id="148" dur="1" fill="hold">
                                          <p:stCondLst>
                                            <p:cond delay="0"/>
                                          </p:stCondLst>
                                        </p:cTn>
                                        <p:tgtEl>
                                          <p:spTgt spid="6"/>
                                        </p:tgtEl>
                                        <p:attrNameLst>
                                          <p:attrName>style.visibility</p:attrName>
                                        </p:attrNameLst>
                                      </p:cBhvr>
                                      <p:to>
                                        <p:strVal val="visible"/>
                                      </p:to>
                                    </p:set>
                                    <p:animEffect transition="in" filter="dissolve">
                                      <p:cBhvr>
                                        <p:cTn id="149" dur="500"/>
                                        <p:tgtEl>
                                          <p:spTgt spid="6"/>
                                        </p:tgtEl>
                                      </p:cBhvr>
                                    </p:animEffect>
                                  </p:childTnLst>
                                  <p:subTnLst>
                                    <p:audio>
                                      <p:cMediaNode>
                                        <p:cTn display="0" masterRel="sameClick">
                                          <p:stCondLst>
                                            <p:cond evt="begin" delay="0">
                                              <p:tn val="147"/>
                                            </p:cond>
                                          </p:stCondLst>
                                          <p:endCondLst>
                                            <p:cond evt="onStopAudio" delay="0">
                                              <p:tgtEl>
                                                <p:sldTgt/>
                                              </p:tgtEl>
                                            </p:cond>
                                          </p:endCondLst>
                                        </p:cTn>
                                        <p:tgtEl>
                                          <p:sndTgt r:embed="rId2" name="DING.WAV"/>
                                        </p:tgtEl>
                                      </p:cMediaNode>
                                    </p:audio>
                                  </p:subTnLst>
                                </p:cTn>
                              </p:par>
                            </p:childTnLst>
                          </p:cTn>
                        </p:par>
                      </p:childTnLst>
                    </p:cTn>
                  </p:par>
                  <p:par>
                    <p:cTn id="150" fill="hold" nodeType="clickPar">
                      <p:stCondLst>
                        <p:cond delay="indefinite"/>
                      </p:stCondLst>
                      <p:childTnLst>
                        <p:par>
                          <p:cTn id="151" fill="hold" nodeType="withGroup">
                            <p:stCondLst>
                              <p:cond delay="0"/>
                            </p:stCondLst>
                            <p:childTnLst>
                              <p:par>
                                <p:cTn id="152" presetID="53" presetClass="entr" presetSubtype="0" fill="hold" grpId="0" nodeType="clickEffect">
                                  <p:stCondLst>
                                    <p:cond delay="0"/>
                                  </p:stCondLst>
                                  <p:childTnLst>
                                    <p:set>
                                      <p:cBhvr>
                                        <p:cTn id="153" dur="1" fill="hold">
                                          <p:stCondLst>
                                            <p:cond delay="0"/>
                                          </p:stCondLst>
                                        </p:cTn>
                                        <p:tgtEl>
                                          <p:spTgt spid="395333"/>
                                        </p:tgtEl>
                                        <p:attrNameLst>
                                          <p:attrName>style.visibility</p:attrName>
                                        </p:attrNameLst>
                                      </p:cBhvr>
                                      <p:to>
                                        <p:strVal val="visible"/>
                                      </p:to>
                                    </p:set>
                                    <p:anim calcmode="lin" valueType="num">
                                      <p:cBhvr>
                                        <p:cTn id="154" dur="500" fill="hold"/>
                                        <p:tgtEl>
                                          <p:spTgt spid="395333"/>
                                        </p:tgtEl>
                                        <p:attrNameLst>
                                          <p:attrName>ppt_w</p:attrName>
                                        </p:attrNameLst>
                                      </p:cBhvr>
                                      <p:tavLst>
                                        <p:tav tm="0">
                                          <p:val>
                                            <p:fltVal val="0"/>
                                          </p:val>
                                        </p:tav>
                                        <p:tav tm="100000">
                                          <p:val>
                                            <p:strVal val="#ppt_w"/>
                                          </p:val>
                                        </p:tav>
                                      </p:tavLst>
                                    </p:anim>
                                    <p:anim calcmode="lin" valueType="num">
                                      <p:cBhvr>
                                        <p:cTn id="155" dur="500" fill="hold"/>
                                        <p:tgtEl>
                                          <p:spTgt spid="395333"/>
                                        </p:tgtEl>
                                        <p:attrNameLst>
                                          <p:attrName>ppt_h</p:attrName>
                                        </p:attrNameLst>
                                      </p:cBhvr>
                                      <p:tavLst>
                                        <p:tav tm="0">
                                          <p:val>
                                            <p:fltVal val="0"/>
                                          </p:val>
                                        </p:tav>
                                        <p:tav tm="100000">
                                          <p:val>
                                            <p:strVal val="#ppt_h"/>
                                          </p:val>
                                        </p:tav>
                                      </p:tavLst>
                                    </p:anim>
                                    <p:animEffect transition="in" filter="fade">
                                      <p:cBhvr>
                                        <p:cTn id="156" dur="500"/>
                                        <p:tgtEl>
                                          <p:spTgt spid="395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70" grpId="0" animBg="1" autoUpdateAnimBg="0"/>
      <p:bldP spid="395271" grpId="0" animBg="1" autoUpdateAnimBg="0"/>
      <p:bldP spid="395272" grpId="0" animBg="1" autoUpdateAnimBg="0"/>
      <p:bldP spid="395273" grpId="0" animBg="1" autoUpdateAnimBg="0"/>
      <p:bldP spid="395274" grpId="0" autoUpdateAnimBg="0"/>
      <p:bldP spid="395274" grpId="1"/>
      <p:bldP spid="395275" grpId="0" autoUpdateAnimBg="0"/>
      <p:bldP spid="395276" grpId="0" autoUpdateAnimBg="0"/>
      <p:bldP spid="395277" grpId="0" autoUpdateAnimBg="0"/>
      <p:bldP spid="395280" grpId="0" animBg="1" autoUpdateAnimBg="0"/>
      <p:bldP spid="395281" grpId="0" animBg="1" autoUpdateAnimBg="0"/>
      <p:bldP spid="395290" grpId="0" autoUpdateAnimBg="0"/>
      <p:bldP spid="395290" grpId="1"/>
      <p:bldP spid="395291" grpId="0" autoUpdateAnimBg="0"/>
      <p:bldP spid="395304" grpId="0" autoUpdateAnimBg="0"/>
      <p:bldP spid="395305" grpId="0" autoUpdateAnimBg="0"/>
      <p:bldP spid="395311" grpId="0"/>
      <p:bldP spid="395312" grpId="0" animBg="1" autoUpdateAnimBg="0"/>
      <p:bldP spid="395310" grpId="0"/>
      <p:bldP spid="395313" grpId="0" autoUpdateAnimBg="0"/>
      <p:bldP spid="395326" grpId="0"/>
      <p:bldP spid="395330" grpId="0" animBg="1"/>
      <p:bldP spid="395331" grpId="0" animBg="1"/>
      <p:bldP spid="3953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80" name="Rectangle 4"/>
          <p:cNvSpPr>
            <a:spLocks noChangeArrowheads="1"/>
          </p:cNvSpPr>
          <p:nvPr/>
        </p:nvSpPr>
        <p:spPr bwMode="auto">
          <a:xfrm>
            <a:off x="357188" y="1371600"/>
            <a:ext cx="4748212" cy="2638425"/>
          </a:xfrm>
          <a:prstGeom prst="rect">
            <a:avLst/>
          </a:prstGeom>
          <a:noFill/>
          <a:ln w="12700" cap="sq">
            <a:noFill/>
            <a:miter lim="800000"/>
            <a:headEnd type="none" w="sm" len="sm"/>
            <a:tailEnd type="none" w="sm" len="sm"/>
          </a:ln>
          <a:effectLst/>
        </p:spPr>
        <p:txBody>
          <a:bodyPr>
            <a:spAutoFit/>
          </a:bodyPr>
          <a:lstStyle/>
          <a:p>
            <a:pPr eaLnBrk="1" hangingPunct="1">
              <a:lnSpc>
                <a:spcPts val="2200"/>
              </a:lnSpc>
              <a:defRPr/>
            </a:pPr>
            <a:r>
              <a:rPr kumimoji="1" lang="en-US" altLang="zh-CN" sz="2000" b="1" dirty="0" err="1">
                <a:solidFill>
                  <a:schemeClr val="accent2">
                    <a:lumMod val="75000"/>
                  </a:schemeClr>
                </a:solidFill>
                <a:latin typeface="Courier New" pitchFamily="49" charset="0"/>
                <a:ea typeface="宋体" pitchFamily="2" charset="-122"/>
              </a:rPr>
              <a:t>int</a:t>
            </a:r>
            <a:r>
              <a:rPr kumimoji="1" lang="en-US" altLang="zh-CN" sz="2000" b="1" dirty="0">
                <a:latin typeface="Courier New" pitchFamily="49" charset="0"/>
                <a:ea typeface="宋体" pitchFamily="2" charset="-122"/>
              </a:rPr>
              <a:t> </a:t>
            </a:r>
            <a:r>
              <a:rPr kumimoji="1" lang="en-US" altLang="zh-CN" sz="2000" b="1" dirty="0">
                <a:effectLst/>
                <a:latin typeface="Courier New" pitchFamily="49" charset="0"/>
                <a:ea typeface="宋体" pitchFamily="2" charset="-122"/>
              </a:rPr>
              <a:t>main()</a:t>
            </a:r>
          </a:p>
          <a:p>
            <a:pPr eaLnBrk="1" hangingPunct="1">
              <a:lnSpc>
                <a:spcPts val="2200"/>
              </a:lnSpc>
              <a:defRPr/>
            </a:pP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solidFill>
                  <a:schemeClr val="accent2">
                    <a:lumMod val="75000"/>
                  </a:schemeClr>
                </a:solidFill>
                <a:latin typeface="Courier New" pitchFamily="49" charset="0"/>
                <a:ea typeface="宋体" pitchFamily="2" charset="-122"/>
              </a:rPr>
              <a:t>int</a:t>
            </a:r>
            <a:r>
              <a:rPr kumimoji="1" lang="en-US" altLang="zh-CN" sz="2000" b="1" dirty="0">
                <a:latin typeface="Courier New" pitchFamily="49" charset="0"/>
                <a:ea typeface="宋体" pitchFamily="2" charset="-122"/>
              </a:rPr>
              <a:t> </a:t>
            </a:r>
            <a:r>
              <a:rPr kumimoji="1" lang="en-US" altLang="zh-CN" sz="2000" b="1" dirty="0">
                <a:effectLst/>
                <a:latin typeface="Courier New" pitchFamily="49" charset="0"/>
                <a:ea typeface="宋体" pitchFamily="2" charset="-122"/>
              </a:rPr>
              <a:t>a, b;</a:t>
            </a:r>
          </a:p>
          <a:p>
            <a:pPr eaLnBrk="1" hangingPunct="1">
              <a:lnSpc>
                <a:spcPts val="2200"/>
              </a:lnSpc>
              <a:defRPr/>
            </a:pPr>
            <a:r>
              <a:rPr kumimoji="1" lang="en-US" altLang="zh-CN" sz="2000" b="1" dirty="0">
                <a:effectLst/>
                <a:latin typeface="Courier New" pitchFamily="49" charset="0"/>
                <a:ea typeface="宋体" pitchFamily="2" charset="-122"/>
              </a:rPr>
              <a:t>  a = 5;</a:t>
            </a:r>
          </a:p>
          <a:p>
            <a:pPr eaLnBrk="1" hangingPunct="1">
              <a:lnSpc>
                <a:spcPts val="2200"/>
              </a:lnSpc>
              <a:defRPr/>
            </a:pPr>
            <a:r>
              <a:rPr kumimoji="1" lang="en-US" altLang="zh-CN" sz="2000" b="1" dirty="0">
                <a:effectLst/>
                <a:latin typeface="Courier New" pitchFamily="49" charset="0"/>
                <a:ea typeface="宋体" pitchFamily="2" charset="-122"/>
              </a:rPr>
              <a:t>  b = 9;</a:t>
            </a:r>
          </a:p>
          <a:p>
            <a:pPr eaLnBrk="1" hangingPunct="1">
              <a:lnSpc>
                <a:spcPts val="2200"/>
              </a:lnSpc>
              <a:defRPr/>
            </a:pPr>
            <a:r>
              <a:rPr kumimoji="1" lang="en-US" altLang="zh-CN" sz="2000" b="1" dirty="0">
                <a:effectLst/>
                <a:latin typeface="Courier New" pitchFamily="49" charset="0"/>
                <a:ea typeface="宋体" pitchFamily="2" charset="-122"/>
              </a:rPr>
              <a:t>  Swap( &amp;a, &amp;b );</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err="1">
                <a:effectLst/>
                <a:latin typeface="Courier New" pitchFamily="49" charset="0"/>
                <a:ea typeface="宋体" pitchFamily="2" charset="-122"/>
              </a:rPr>
              <a:t>printf</a:t>
            </a:r>
            <a:r>
              <a:rPr kumimoji="1" lang="en-US" altLang="zh-CN" sz="2000" b="1" dirty="0">
                <a:effectLst/>
                <a:latin typeface="Courier New" pitchFamily="49" charset="0"/>
                <a:ea typeface="宋体" pitchFamily="2" charset="-122"/>
              </a:rPr>
              <a:t>(</a:t>
            </a:r>
            <a:r>
              <a:rPr lang="en-US" altLang="zh-CN" sz="2000" b="1" dirty="0">
                <a:effectLst>
                  <a:outerShdw blurRad="38100" dist="38100" dir="2700000" algn="tl">
                    <a:srgbClr val="C0C0C0"/>
                  </a:outerShdw>
                </a:effectLst>
                <a:ea typeface="宋体" pitchFamily="2" charset="-122"/>
              </a:rPr>
              <a:t>"</a:t>
            </a:r>
            <a:r>
              <a:rPr kumimoji="1" lang="en-US" altLang="zh-CN" sz="2000" b="1" dirty="0">
                <a:effectLst/>
                <a:latin typeface="Courier New" pitchFamily="49" charset="0"/>
                <a:ea typeface="宋体" pitchFamily="2" charset="-122"/>
              </a:rPr>
              <a:t>a=%</a:t>
            </a:r>
            <a:r>
              <a:rPr kumimoji="1" lang="en-US" altLang="zh-CN" sz="2000" b="1" dirty="0" err="1">
                <a:effectLst/>
                <a:latin typeface="Courier New" pitchFamily="49" charset="0"/>
                <a:ea typeface="宋体" pitchFamily="2" charset="-122"/>
              </a:rPr>
              <a:t>d,b</a:t>
            </a:r>
            <a:r>
              <a:rPr kumimoji="1" lang="en-US" altLang="zh-CN" sz="2000" b="1" dirty="0">
                <a:effectLst/>
                <a:latin typeface="Courier New" pitchFamily="49" charset="0"/>
                <a:ea typeface="宋体" pitchFamily="2" charset="-122"/>
              </a:rPr>
              <a:t>=%</a:t>
            </a:r>
            <a:r>
              <a:rPr kumimoji="1" lang="en-US" altLang="zh-CN" sz="2000" b="1" dirty="0" err="1">
                <a:effectLst/>
                <a:latin typeface="Courier New" pitchFamily="49" charset="0"/>
                <a:ea typeface="宋体" pitchFamily="2" charset="-122"/>
              </a:rPr>
              <a:t>d</a:t>
            </a:r>
            <a:r>
              <a:rPr lang="en-US" altLang="zh-CN" sz="2000" b="1" dirty="0" err="1">
                <a:effectLst>
                  <a:outerShdw blurRad="38100" dist="38100" dir="2700000" algn="tl">
                    <a:srgbClr val="C0C0C0"/>
                  </a:outerShdw>
                </a:effectLst>
                <a:ea typeface="宋体" pitchFamily="2" charset="-122"/>
              </a:rPr>
              <a:t>"</a:t>
            </a:r>
            <a:r>
              <a:rPr kumimoji="1" lang="en-US" altLang="zh-CN" sz="2000" b="1" dirty="0" err="1">
                <a:effectLst/>
                <a:latin typeface="Courier New" pitchFamily="49" charset="0"/>
                <a:ea typeface="宋体" pitchFamily="2" charset="-122"/>
              </a:rPr>
              <a:t>,a,b</a:t>
            </a:r>
            <a:r>
              <a:rPr kumimoji="1" lang="en-US" altLang="zh-CN" sz="2000" b="1" dirty="0">
                <a:effectLst/>
                <a:latin typeface="Courier New" pitchFamily="49" charset="0"/>
                <a:ea typeface="宋体" pitchFamily="2" charset="-122"/>
              </a:rPr>
              <a:t>);</a:t>
            </a:r>
          </a:p>
          <a:p>
            <a:pPr eaLnBrk="1" hangingPunct="1">
              <a:lnSpc>
                <a:spcPts val="2200"/>
              </a:lnSpc>
              <a:defRPr/>
            </a:pPr>
            <a:r>
              <a:rPr kumimoji="1" lang="en-US" altLang="zh-CN" sz="2000" b="1" dirty="0">
                <a:effectLst/>
                <a:latin typeface="Courier New" pitchFamily="49" charset="0"/>
                <a:ea typeface="宋体" pitchFamily="2" charset="-122"/>
              </a:rPr>
              <a:t>  </a:t>
            </a:r>
            <a:r>
              <a:rPr kumimoji="1" lang="en-US" altLang="zh-CN" sz="2000" b="1" dirty="0">
                <a:solidFill>
                  <a:schemeClr val="accent2">
                    <a:lumMod val="75000"/>
                  </a:schemeClr>
                </a:solidFill>
                <a:latin typeface="Courier New" pitchFamily="49" charset="0"/>
                <a:ea typeface="宋体" pitchFamily="2" charset="-122"/>
              </a:rPr>
              <a:t>return</a:t>
            </a:r>
            <a:r>
              <a:rPr kumimoji="1" lang="en-US" altLang="zh-CN" sz="2000" b="1" dirty="0">
                <a:latin typeface="Courier New" pitchFamily="49" charset="0"/>
                <a:ea typeface="宋体" pitchFamily="2" charset="-122"/>
              </a:rPr>
              <a:t> </a:t>
            </a:r>
            <a:r>
              <a:rPr kumimoji="1" lang="en-US" altLang="zh-CN" sz="2000" b="1" dirty="0">
                <a:effectLst/>
                <a:latin typeface="Courier New" pitchFamily="49" charset="0"/>
                <a:ea typeface="宋体" pitchFamily="2" charset="-122"/>
              </a:rPr>
              <a:t>0;</a:t>
            </a:r>
          </a:p>
          <a:p>
            <a:pPr eaLnBrk="1" hangingPunct="1">
              <a:lnSpc>
                <a:spcPts val="2200"/>
              </a:lnSpc>
              <a:defRPr/>
            </a:pPr>
            <a:r>
              <a:rPr kumimoji="1" lang="en-US" altLang="zh-CN" sz="2000" b="1" dirty="0">
                <a:effectLst/>
                <a:latin typeface="Courier New" pitchFamily="49" charset="0"/>
                <a:ea typeface="宋体" pitchFamily="2" charset="-122"/>
              </a:rPr>
              <a:t>}</a:t>
            </a:r>
            <a:endParaRPr kumimoji="1" lang="en-US" altLang="zh-CN" sz="2000" b="1" dirty="0">
              <a:effectLst>
                <a:outerShdw blurRad="38100" dist="38100" dir="2700000" algn="tl">
                  <a:srgbClr val="C0C0C0"/>
                </a:outerShdw>
              </a:effectLst>
              <a:latin typeface="Courier New" pitchFamily="49" charset="0"/>
              <a:ea typeface="宋体" pitchFamily="2" charset="-122"/>
            </a:endParaRPr>
          </a:p>
        </p:txBody>
      </p:sp>
      <p:sp>
        <p:nvSpPr>
          <p:cNvPr id="434181" name="Rectangle 5"/>
          <p:cNvSpPr>
            <a:spLocks noChangeArrowheads="1"/>
          </p:cNvSpPr>
          <p:nvPr/>
        </p:nvSpPr>
        <p:spPr bwMode="auto">
          <a:xfrm>
            <a:off x="5062538" y="1268413"/>
            <a:ext cx="3994150" cy="2225675"/>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void</a:t>
            </a:r>
            <a:r>
              <a:rPr kumimoji="1" lang="en-US" altLang="zh-CN" sz="2000" b="1">
                <a:effectLst>
                  <a:outerShdw blurRad="38100" dist="38100" dir="2700000" algn="tl">
                    <a:srgbClr val="C0C0C0"/>
                  </a:outerShdw>
                </a:effectLst>
                <a:latin typeface="Courier New" pitchFamily="49" charset="0"/>
                <a:ea typeface="宋体" pitchFamily="2" charset="-122"/>
              </a:rPr>
              <a:t> Swap(</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solidFill>
                  <a:schemeClr val="tx2"/>
                </a:solidFill>
                <a:effectLst>
                  <a:outerShdw blurRad="38100" dist="38100" dir="2700000" algn="tl">
                    <a:srgbClr val="C0C0C0"/>
                  </a:outerShdw>
                </a:effectLst>
                <a:latin typeface="Courier New" pitchFamily="49" charset="0"/>
                <a:ea typeface="宋体" pitchFamily="2" charset="-122"/>
              </a:rPr>
              <a:t> *x, </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solidFill>
                  <a:schemeClr val="tx2"/>
                </a:solidFill>
                <a:effectLst>
                  <a:outerShdw blurRad="38100" dist="38100" dir="2700000" algn="tl">
                    <a:srgbClr val="C0C0C0"/>
                  </a:outerShdw>
                </a:effectLst>
                <a:latin typeface="Courier New" pitchFamily="49" charset="0"/>
                <a:ea typeface="宋体" pitchFamily="2" charset="-122"/>
              </a:rPr>
              <a:t> *y</a:t>
            </a:r>
            <a:r>
              <a:rPr kumimoji="1" lang="en-US" altLang="zh-CN" sz="2000" b="1">
                <a:effectLst>
                  <a:outerShdw blurRad="38100" dist="38100" dir="2700000" algn="tl">
                    <a:srgbClr val="C0C0C0"/>
                  </a:outerShdw>
                </a:effectLst>
                <a:latin typeface="Courier New" pitchFamily="49" charset="0"/>
                <a:ea typeface="宋体" pitchFamily="2" charset="-122"/>
              </a:rPr>
              <a:t>)</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effectLst>
                  <a:outerShdw blurRad="38100" dist="38100" dir="2700000" algn="tl">
                    <a:srgbClr val="C0C0C0"/>
                  </a:outerShdw>
                </a:effectLst>
                <a:latin typeface="Courier New" pitchFamily="49" charset="0"/>
                <a:ea typeface="宋体" pitchFamily="2" charset="-122"/>
              </a:rPr>
              <a:t> temp;</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temp = *x;</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*x = *y;</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*y = temp;</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a:t>
            </a:r>
          </a:p>
        </p:txBody>
      </p:sp>
      <p:sp>
        <p:nvSpPr>
          <p:cNvPr id="434182" name="Rectangle 6"/>
          <p:cNvSpPr>
            <a:spLocks noChangeArrowheads="1"/>
          </p:cNvSpPr>
          <p:nvPr/>
        </p:nvSpPr>
        <p:spPr bwMode="auto">
          <a:xfrm>
            <a:off x="2390775" y="4668838"/>
            <a:ext cx="622300" cy="519112"/>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183" name="Rectangle 7"/>
          <p:cNvSpPr>
            <a:spLocks noChangeArrowheads="1"/>
          </p:cNvSpPr>
          <p:nvPr/>
        </p:nvSpPr>
        <p:spPr bwMode="auto">
          <a:xfrm>
            <a:off x="6340475" y="4640263"/>
            <a:ext cx="622300" cy="519112"/>
          </a:xfrm>
          <a:prstGeom prst="rect">
            <a:avLst/>
          </a:prstGeom>
          <a:solidFill>
            <a:srgbClr val="008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184" name="Rectangle 8"/>
          <p:cNvSpPr>
            <a:spLocks noChangeArrowheads="1"/>
          </p:cNvSpPr>
          <p:nvPr/>
        </p:nvSpPr>
        <p:spPr bwMode="auto">
          <a:xfrm>
            <a:off x="5224463" y="4633913"/>
            <a:ext cx="622300" cy="519112"/>
          </a:xfrm>
          <a:prstGeom prst="rect">
            <a:avLst/>
          </a:prstGeom>
          <a:solidFill>
            <a:srgbClr val="008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185" name="Rectangle 9"/>
          <p:cNvSpPr>
            <a:spLocks noChangeArrowheads="1"/>
          </p:cNvSpPr>
          <p:nvPr/>
        </p:nvSpPr>
        <p:spPr bwMode="auto">
          <a:xfrm>
            <a:off x="3670300" y="4648200"/>
            <a:ext cx="622300" cy="519113"/>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186" name="Text Box 10"/>
          <p:cNvSpPr txBox="1">
            <a:spLocks noChangeArrowheads="1"/>
          </p:cNvSpPr>
          <p:nvPr/>
        </p:nvSpPr>
        <p:spPr bwMode="auto">
          <a:xfrm>
            <a:off x="5265738" y="468788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b="1">
                <a:solidFill>
                  <a:schemeClr val="bg1"/>
                </a:solidFill>
                <a:effectLst/>
                <a:latin typeface="Courier New" pitchFamily="49" charset="0"/>
                <a:ea typeface="宋体" pitchFamily="2" charset="-122"/>
              </a:rPr>
              <a:t>&amp;a</a:t>
            </a:r>
          </a:p>
        </p:txBody>
      </p:sp>
      <p:sp>
        <p:nvSpPr>
          <p:cNvPr id="434187" name="Text Box 11"/>
          <p:cNvSpPr txBox="1">
            <a:spLocks noChangeArrowheads="1"/>
          </p:cNvSpPr>
          <p:nvPr/>
        </p:nvSpPr>
        <p:spPr bwMode="auto">
          <a:xfrm>
            <a:off x="2401888" y="4652963"/>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latin typeface="Courier New" pitchFamily="49" charset="0"/>
                <a:ea typeface="宋体" pitchFamily="2" charset="-122"/>
              </a:rPr>
              <a:t>&amp;a</a:t>
            </a:r>
            <a:endParaRPr kumimoji="1" lang="en-US" altLang="zh-CN" sz="2800" b="1">
              <a:solidFill>
                <a:srgbClr val="CC3300"/>
              </a:solidFill>
              <a:effectLst/>
              <a:latin typeface="Courier New" pitchFamily="49" charset="0"/>
              <a:ea typeface="宋体" pitchFamily="2" charset="-122"/>
            </a:endParaRPr>
          </a:p>
        </p:txBody>
      </p:sp>
      <p:sp>
        <p:nvSpPr>
          <p:cNvPr id="434190" name="Line 14"/>
          <p:cNvSpPr>
            <a:spLocks noChangeShapeType="1"/>
          </p:cNvSpPr>
          <p:nvPr/>
        </p:nvSpPr>
        <p:spPr bwMode="auto">
          <a:xfrm>
            <a:off x="4475163" y="-1588"/>
            <a:ext cx="0" cy="6858001"/>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434191" name="Line 15"/>
          <p:cNvSpPr>
            <a:spLocks noChangeShapeType="1"/>
          </p:cNvSpPr>
          <p:nvPr/>
        </p:nvSpPr>
        <p:spPr bwMode="auto">
          <a:xfrm>
            <a:off x="0" y="1247775"/>
            <a:ext cx="9144000" cy="0"/>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434192" name="Rectangle 16"/>
          <p:cNvSpPr>
            <a:spLocks noChangeArrowheads="1"/>
          </p:cNvSpPr>
          <p:nvPr/>
        </p:nvSpPr>
        <p:spPr bwMode="auto">
          <a:xfrm>
            <a:off x="539750" y="5661025"/>
            <a:ext cx="863600" cy="449263"/>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r>
              <a:rPr kumimoji="1" lang="zh-CN" altLang="en-US" b="1">
                <a:solidFill>
                  <a:schemeClr val="bg1"/>
                </a:solidFill>
                <a:effectLst/>
                <a:latin typeface="幼圆" pitchFamily="49" charset="-122"/>
                <a:ea typeface="幼圆" pitchFamily="49" charset="-122"/>
              </a:rPr>
              <a:t>实 参</a:t>
            </a:r>
          </a:p>
        </p:txBody>
      </p:sp>
      <p:sp>
        <p:nvSpPr>
          <p:cNvPr id="434193" name="Rectangle 17"/>
          <p:cNvSpPr>
            <a:spLocks noChangeArrowheads="1"/>
          </p:cNvSpPr>
          <p:nvPr/>
        </p:nvSpPr>
        <p:spPr bwMode="auto">
          <a:xfrm>
            <a:off x="6804025" y="5502275"/>
            <a:ext cx="863600" cy="447675"/>
          </a:xfrm>
          <a:prstGeom prst="rect">
            <a:avLst/>
          </a:prstGeom>
          <a:solidFill>
            <a:srgbClr val="008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r>
              <a:rPr kumimoji="1" lang="zh-CN" altLang="en-US" b="1">
                <a:solidFill>
                  <a:schemeClr val="bg1"/>
                </a:solidFill>
                <a:effectLst/>
                <a:latin typeface="幼圆" pitchFamily="49" charset="-122"/>
                <a:ea typeface="幼圆" pitchFamily="49" charset="-122"/>
              </a:rPr>
              <a:t>形 参</a:t>
            </a:r>
          </a:p>
        </p:txBody>
      </p:sp>
      <p:grpSp>
        <p:nvGrpSpPr>
          <p:cNvPr id="2" name="Group 18"/>
          <p:cNvGrpSpPr>
            <a:grpSpLocks/>
          </p:cNvGrpSpPr>
          <p:nvPr/>
        </p:nvGrpSpPr>
        <p:grpSpPr bwMode="auto">
          <a:xfrm>
            <a:off x="2701925" y="5130800"/>
            <a:ext cx="2876550" cy="541338"/>
            <a:chOff x="1449" y="1885"/>
            <a:chExt cx="1812" cy="341"/>
          </a:xfrm>
        </p:grpSpPr>
        <p:sp>
          <p:nvSpPr>
            <p:cNvPr id="434195" name="Line 19"/>
            <p:cNvSpPr>
              <a:spLocks noChangeShapeType="1"/>
            </p:cNvSpPr>
            <p:nvPr/>
          </p:nvSpPr>
          <p:spPr bwMode="auto">
            <a:xfrm>
              <a:off x="1479" y="2226"/>
              <a:ext cx="1782" cy="0"/>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sp>
          <p:nvSpPr>
            <p:cNvPr id="434196" name="Line 20"/>
            <p:cNvSpPr>
              <a:spLocks noChangeShapeType="1"/>
            </p:cNvSpPr>
            <p:nvPr/>
          </p:nvSpPr>
          <p:spPr bwMode="auto">
            <a:xfrm flipV="1">
              <a:off x="1449" y="1940"/>
              <a:ext cx="0" cy="286"/>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sp>
          <p:nvSpPr>
            <p:cNvPr id="434197" name="Line 21"/>
            <p:cNvSpPr>
              <a:spLocks noChangeShapeType="1"/>
            </p:cNvSpPr>
            <p:nvPr/>
          </p:nvSpPr>
          <p:spPr bwMode="auto">
            <a:xfrm flipV="1">
              <a:off x="3261" y="1885"/>
              <a:ext cx="0" cy="341"/>
            </a:xfrm>
            <a:prstGeom prst="line">
              <a:avLst/>
            </a:prstGeom>
            <a:noFill/>
            <a:ln w="57150" cap="sq">
              <a:solidFill>
                <a:schemeClr val="tx2"/>
              </a:solidFill>
              <a:round/>
              <a:headEnd type="none" w="sm" len="sm"/>
              <a:tailEnd type="triangle" w="med" len="med"/>
            </a:ln>
            <a:effectLst/>
          </p:spPr>
          <p:txBody>
            <a:bodyPr wrap="none" anchor="ctr"/>
            <a:lstStyle/>
            <a:p>
              <a:pPr>
                <a:defRPr/>
              </a:pPr>
              <a:endParaRPr lang="zh-CN" altLang="en-US"/>
            </a:p>
          </p:txBody>
        </p:sp>
      </p:grpSp>
      <p:grpSp>
        <p:nvGrpSpPr>
          <p:cNvPr id="3" name="Group 22"/>
          <p:cNvGrpSpPr>
            <a:grpSpLocks/>
          </p:cNvGrpSpPr>
          <p:nvPr/>
        </p:nvGrpSpPr>
        <p:grpSpPr bwMode="auto">
          <a:xfrm>
            <a:off x="3952875" y="5168900"/>
            <a:ext cx="2701925" cy="781050"/>
            <a:chOff x="2237" y="1909"/>
            <a:chExt cx="1702" cy="492"/>
          </a:xfrm>
        </p:grpSpPr>
        <p:sp>
          <p:nvSpPr>
            <p:cNvPr id="434199" name="Line 23"/>
            <p:cNvSpPr>
              <a:spLocks noChangeShapeType="1"/>
            </p:cNvSpPr>
            <p:nvPr/>
          </p:nvSpPr>
          <p:spPr bwMode="auto">
            <a:xfrm>
              <a:off x="2237" y="2401"/>
              <a:ext cx="1702" cy="0"/>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sp>
          <p:nvSpPr>
            <p:cNvPr id="434200" name="Line 24"/>
            <p:cNvSpPr>
              <a:spLocks noChangeShapeType="1"/>
            </p:cNvSpPr>
            <p:nvPr/>
          </p:nvSpPr>
          <p:spPr bwMode="auto">
            <a:xfrm flipV="1">
              <a:off x="3939" y="1909"/>
              <a:ext cx="0" cy="492"/>
            </a:xfrm>
            <a:prstGeom prst="line">
              <a:avLst/>
            </a:prstGeom>
            <a:noFill/>
            <a:ln w="57150" cap="sq">
              <a:solidFill>
                <a:schemeClr val="tx2"/>
              </a:solidFill>
              <a:round/>
              <a:headEnd type="none" w="sm" len="sm"/>
              <a:tailEnd type="triangle" w="med" len="med"/>
            </a:ln>
            <a:effectLst/>
          </p:spPr>
          <p:txBody>
            <a:bodyPr wrap="none" anchor="ctr"/>
            <a:lstStyle/>
            <a:p>
              <a:pPr>
                <a:defRPr/>
              </a:pPr>
              <a:endParaRPr lang="zh-CN" altLang="en-US"/>
            </a:p>
          </p:txBody>
        </p:sp>
        <p:sp>
          <p:nvSpPr>
            <p:cNvPr id="434201" name="Line 25"/>
            <p:cNvSpPr>
              <a:spLocks noChangeShapeType="1"/>
            </p:cNvSpPr>
            <p:nvPr/>
          </p:nvSpPr>
          <p:spPr bwMode="auto">
            <a:xfrm flipV="1">
              <a:off x="2237" y="1921"/>
              <a:ext cx="0" cy="462"/>
            </a:xfrm>
            <a:prstGeom prst="line">
              <a:avLst/>
            </a:prstGeom>
            <a:noFill/>
            <a:ln w="57150" cap="sq">
              <a:solidFill>
                <a:schemeClr val="tx2"/>
              </a:solidFill>
              <a:round/>
              <a:headEnd type="none" w="sm" len="sm"/>
              <a:tailEnd type="none" w="sm" len="sm"/>
            </a:ln>
            <a:effectLst/>
          </p:spPr>
          <p:txBody>
            <a:bodyPr wrap="none" anchor="ctr"/>
            <a:lstStyle/>
            <a:p>
              <a:pPr>
                <a:defRPr/>
              </a:pPr>
              <a:endParaRPr lang="zh-CN" altLang="en-US"/>
            </a:p>
          </p:txBody>
        </p:sp>
      </p:grpSp>
      <p:sp>
        <p:nvSpPr>
          <p:cNvPr id="434202" name="Text Box 26"/>
          <p:cNvSpPr txBox="1">
            <a:spLocks noChangeArrowheads="1"/>
          </p:cNvSpPr>
          <p:nvPr/>
        </p:nvSpPr>
        <p:spPr bwMode="auto">
          <a:xfrm>
            <a:off x="6392863" y="4687888"/>
            <a:ext cx="549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b="1">
                <a:solidFill>
                  <a:schemeClr val="bg1"/>
                </a:solidFill>
                <a:effectLst/>
                <a:latin typeface="Courier New" pitchFamily="49" charset="0"/>
                <a:ea typeface="宋体" pitchFamily="2" charset="-122"/>
              </a:rPr>
              <a:t>&amp;b</a:t>
            </a:r>
          </a:p>
        </p:txBody>
      </p:sp>
      <p:sp>
        <p:nvSpPr>
          <p:cNvPr id="434203" name="Text Box 27"/>
          <p:cNvSpPr txBox="1">
            <a:spLocks noChangeArrowheads="1"/>
          </p:cNvSpPr>
          <p:nvPr/>
        </p:nvSpPr>
        <p:spPr bwMode="auto">
          <a:xfrm>
            <a:off x="3803650" y="46545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latin typeface="Courier New" pitchFamily="49" charset="0"/>
                <a:ea typeface="宋体" pitchFamily="2" charset="-122"/>
              </a:rPr>
              <a:t>&amp;b</a:t>
            </a:r>
          </a:p>
        </p:txBody>
      </p:sp>
      <p:grpSp>
        <p:nvGrpSpPr>
          <p:cNvPr id="4" name="Group 28"/>
          <p:cNvGrpSpPr>
            <a:grpSpLocks/>
          </p:cNvGrpSpPr>
          <p:nvPr/>
        </p:nvGrpSpPr>
        <p:grpSpPr bwMode="auto">
          <a:xfrm>
            <a:off x="5089525" y="6142038"/>
            <a:ext cx="1185863" cy="519112"/>
            <a:chOff x="3085" y="2733"/>
            <a:chExt cx="747" cy="327"/>
          </a:xfrm>
        </p:grpSpPr>
        <p:sp>
          <p:nvSpPr>
            <p:cNvPr id="31799" name="Text Box 29"/>
            <p:cNvSpPr txBox="1">
              <a:spLocks noChangeArrowheads="1"/>
            </p:cNvSpPr>
            <p:nvPr/>
          </p:nvSpPr>
          <p:spPr bwMode="auto">
            <a:xfrm>
              <a:off x="3085" y="2733"/>
              <a:ext cx="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accent2"/>
                  </a:solidFill>
                  <a:effectLst/>
                  <a:latin typeface="Courier New" pitchFamily="49" charset="0"/>
                  <a:ea typeface="宋体" pitchFamily="2" charset="-122"/>
                </a:rPr>
                <a:t>x</a:t>
              </a:r>
            </a:p>
          </p:txBody>
        </p:sp>
        <p:sp>
          <p:nvSpPr>
            <p:cNvPr id="31800" name="Text Box 30"/>
            <p:cNvSpPr txBox="1">
              <a:spLocks noChangeArrowheads="1"/>
            </p:cNvSpPr>
            <p:nvPr/>
          </p:nvSpPr>
          <p:spPr bwMode="auto">
            <a:xfrm>
              <a:off x="3632" y="2733"/>
              <a:ext cx="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accent2"/>
                  </a:solidFill>
                  <a:effectLst/>
                  <a:latin typeface="Courier New" pitchFamily="49" charset="0"/>
                  <a:ea typeface="宋体" pitchFamily="2" charset="-122"/>
                </a:rPr>
                <a:t>y</a:t>
              </a:r>
            </a:p>
          </p:txBody>
        </p:sp>
        <p:sp>
          <p:nvSpPr>
            <p:cNvPr id="434207" name="AutoShape 31"/>
            <p:cNvSpPr>
              <a:spLocks noChangeArrowheads="1"/>
            </p:cNvSpPr>
            <p:nvPr/>
          </p:nvSpPr>
          <p:spPr bwMode="auto">
            <a:xfrm>
              <a:off x="3308"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grpSp>
        <p:nvGrpSpPr>
          <p:cNvPr id="5" name="Group 32"/>
          <p:cNvGrpSpPr>
            <a:grpSpLocks/>
          </p:cNvGrpSpPr>
          <p:nvPr/>
        </p:nvGrpSpPr>
        <p:grpSpPr bwMode="auto">
          <a:xfrm>
            <a:off x="2555875" y="6111875"/>
            <a:ext cx="1350963" cy="581025"/>
            <a:chOff x="1774" y="2750"/>
            <a:chExt cx="851" cy="366"/>
          </a:xfrm>
        </p:grpSpPr>
        <p:sp>
          <p:nvSpPr>
            <p:cNvPr id="434209" name="Text Box 33"/>
            <p:cNvSpPr txBox="1">
              <a:spLocks noChangeArrowheads="1"/>
            </p:cNvSpPr>
            <p:nvPr/>
          </p:nvSpPr>
          <p:spPr bwMode="auto">
            <a:xfrm>
              <a:off x="1774" y="2750"/>
              <a:ext cx="250" cy="327"/>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800" b="1">
                  <a:solidFill>
                    <a:schemeClr val="accent2"/>
                  </a:solidFill>
                  <a:effectLst/>
                  <a:latin typeface="Courier New" pitchFamily="49" charset="0"/>
                  <a:ea typeface="宋体" pitchFamily="2" charset="-122"/>
                </a:rPr>
                <a:t>a</a:t>
              </a:r>
              <a:endParaRPr kumimoji="1" lang="en-US" altLang="zh-CN" sz="2800" b="1">
                <a:solidFill>
                  <a:schemeClr val="accent2"/>
                </a:solidFill>
                <a:effectLst>
                  <a:outerShdw blurRad="38100" dist="38100" dir="2700000" algn="tl">
                    <a:srgbClr val="C0C0C0"/>
                  </a:outerShdw>
                </a:effectLst>
                <a:latin typeface="Courier New" pitchFamily="49" charset="0"/>
                <a:ea typeface="宋体" pitchFamily="2" charset="-122"/>
              </a:endParaRPr>
            </a:p>
          </p:txBody>
        </p:sp>
        <p:sp>
          <p:nvSpPr>
            <p:cNvPr id="434210" name="Text Box 34"/>
            <p:cNvSpPr txBox="1">
              <a:spLocks noChangeArrowheads="1"/>
            </p:cNvSpPr>
            <p:nvPr/>
          </p:nvSpPr>
          <p:spPr bwMode="auto">
            <a:xfrm>
              <a:off x="2375" y="2789"/>
              <a:ext cx="250" cy="327"/>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800" b="1">
                  <a:solidFill>
                    <a:schemeClr val="accent2"/>
                  </a:solidFill>
                  <a:effectLst/>
                  <a:latin typeface="Courier New" pitchFamily="49" charset="0"/>
                  <a:ea typeface="宋体" pitchFamily="2" charset="-122"/>
                </a:rPr>
                <a:t>b</a:t>
              </a:r>
              <a:endParaRPr kumimoji="1" lang="en-US" altLang="zh-CN" sz="2800" b="1">
                <a:solidFill>
                  <a:schemeClr val="accent2"/>
                </a:solidFill>
                <a:effectLst>
                  <a:outerShdw blurRad="38100" dist="38100" dir="2700000" algn="tl">
                    <a:srgbClr val="C0C0C0"/>
                  </a:outerShdw>
                </a:effectLst>
                <a:latin typeface="Courier New" pitchFamily="49" charset="0"/>
                <a:ea typeface="宋体" pitchFamily="2" charset="-122"/>
              </a:endParaRPr>
            </a:p>
          </p:txBody>
        </p:sp>
        <p:sp>
          <p:nvSpPr>
            <p:cNvPr id="434211" name="AutoShape 35"/>
            <p:cNvSpPr>
              <a:spLocks noChangeArrowheads="1"/>
            </p:cNvSpPr>
            <p:nvPr/>
          </p:nvSpPr>
          <p:spPr bwMode="auto">
            <a:xfrm>
              <a:off x="2024" y="2772"/>
              <a:ext cx="288" cy="288"/>
            </a:xfrm>
            <a:prstGeom prst="leftRightArrow">
              <a:avLst>
                <a:gd name="adj1" fmla="val 50000"/>
                <a:gd name="adj2" fmla="val 20000"/>
              </a:avLst>
            </a:prstGeom>
            <a:solidFill>
              <a:srgbClr val="CC9900"/>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sp>
        <p:nvSpPr>
          <p:cNvPr id="434216" name="Text Box 40"/>
          <p:cNvSpPr txBox="1">
            <a:spLocks noChangeArrowheads="1"/>
          </p:cNvSpPr>
          <p:nvPr/>
        </p:nvSpPr>
        <p:spPr bwMode="auto">
          <a:xfrm>
            <a:off x="5343525" y="4205288"/>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x</a:t>
            </a:r>
          </a:p>
        </p:txBody>
      </p:sp>
      <p:sp>
        <p:nvSpPr>
          <p:cNvPr id="434217" name="Text Box 41"/>
          <p:cNvSpPr txBox="1">
            <a:spLocks noChangeArrowheads="1"/>
          </p:cNvSpPr>
          <p:nvPr/>
        </p:nvSpPr>
        <p:spPr bwMode="auto">
          <a:xfrm>
            <a:off x="6424613" y="4205288"/>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y</a:t>
            </a:r>
          </a:p>
        </p:txBody>
      </p:sp>
      <p:sp>
        <p:nvSpPr>
          <p:cNvPr id="434223" name="Rectangle 47"/>
          <p:cNvSpPr>
            <a:spLocks noChangeArrowheads="1"/>
          </p:cNvSpPr>
          <p:nvPr/>
        </p:nvSpPr>
        <p:spPr bwMode="auto">
          <a:xfrm>
            <a:off x="5761038" y="3716338"/>
            <a:ext cx="622300" cy="519112"/>
          </a:xfrm>
          <a:prstGeom prst="rect">
            <a:avLst/>
          </a:prstGeom>
          <a:solidFill>
            <a:srgbClr val="800000"/>
          </a:solidFill>
          <a:ln w="12700" cap="sq">
            <a:noFill/>
            <a:miter lim="800000"/>
            <a:headEnd type="none" w="sm" len="sm"/>
            <a:tailEnd type="none" w="sm" len="sm"/>
          </a:ln>
          <a:effectLst>
            <a:outerShdw dist="35921" dir="2700000" algn="ctr" rotWithShape="0">
              <a:srgbClr val="FFFF00"/>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224" name="Text Box 48"/>
          <p:cNvSpPr txBox="1">
            <a:spLocks noChangeArrowheads="1"/>
          </p:cNvSpPr>
          <p:nvPr/>
        </p:nvSpPr>
        <p:spPr bwMode="auto">
          <a:xfrm>
            <a:off x="5748338" y="3716338"/>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kumimoji="1" lang="en-US" altLang="zh-CN" sz="2800" b="1">
                <a:solidFill>
                  <a:schemeClr val="bg1"/>
                </a:solidFill>
                <a:effectLst/>
                <a:ea typeface="宋体" pitchFamily="2" charset="-122"/>
              </a:rPr>
              <a:t>5</a:t>
            </a:r>
          </a:p>
        </p:txBody>
      </p:sp>
      <p:sp>
        <p:nvSpPr>
          <p:cNvPr id="434225" name="Text Box 49"/>
          <p:cNvSpPr txBox="1">
            <a:spLocks noChangeArrowheads="1"/>
          </p:cNvSpPr>
          <p:nvPr/>
        </p:nvSpPr>
        <p:spPr bwMode="auto">
          <a:xfrm>
            <a:off x="5634038" y="3429000"/>
            <a:ext cx="730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1800" b="1">
                <a:solidFill>
                  <a:schemeClr val="tx2"/>
                </a:solidFill>
                <a:effectLst/>
                <a:latin typeface="Courier New" pitchFamily="49" charset="0"/>
                <a:ea typeface="宋体" pitchFamily="2" charset="-122"/>
              </a:rPr>
              <a:t>temp</a:t>
            </a:r>
          </a:p>
        </p:txBody>
      </p:sp>
      <p:sp>
        <p:nvSpPr>
          <p:cNvPr id="434226" name="Line 50"/>
          <p:cNvSpPr>
            <a:spLocks noChangeShapeType="1"/>
          </p:cNvSpPr>
          <p:nvPr/>
        </p:nvSpPr>
        <p:spPr bwMode="auto">
          <a:xfrm flipV="1">
            <a:off x="517525" y="3905250"/>
            <a:ext cx="0" cy="747713"/>
          </a:xfrm>
          <a:prstGeom prst="line">
            <a:avLst/>
          </a:prstGeom>
          <a:noFill/>
          <a:ln w="57150">
            <a:solidFill>
              <a:srgbClr val="0000FF"/>
            </a:solidFill>
            <a:round/>
            <a:headEnd type="none" w="sm" len="sm"/>
            <a:tailEnd type="none" w="sm" len="sm"/>
          </a:ln>
          <a:effectLst/>
        </p:spPr>
        <p:txBody>
          <a:bodyPr/>
          <a:lstStyle/>
          <a:p>
            <a:pPr>
              <a:defRPr/>
            </a:pPr>
            <a:endParaRPr lang="zh-CN" altLang="en-US"/>
          </a:p>
        </p:txBody>
      </p:sp>
      <p:sp>
        <p:nvSpPr>
          <p:cNvPr id="434227" name="Line 51"/>
          <p:cNvSpPr>
            <a:spLocks noChangeShapeType="1"/>
          </p:cNvSpPr>
          <p:nvPr/>
        </p:nvSpPr>
        <p:spPr bwMode="auto">
          <a:xfrm>
            <a:off x="517525" y="3933825"/>
            <a:ext cx="5275263" cy="0"/>
          </a:xfrm>
          <a:prstGeom prst="line">
            <a:avLst/>
          </a:prstGeom>
          <a:noFill/>
          <a:ln w="57150">
            <a:solidFill>
              <a:srgbClr val="0000FF"/>
            </a:solidFill>
            <a:round/>
            <a:headEnd type="none" w="sm" len="sm"/>
            <a:tailEnd type="triangle" w="sm" len="sm"/>
          </a:ln>
          <a:effectLst/>
        </p:spPr>
        <p:txBody>
          <a:bodyPr/>
          <a:lstStyle/>
          <a:p>
            <a:pPr>
              <a:defRPr/>
            </a:pPr>
            <a:endParaRPr lang="zh-CN" altLang="en-US"/>
          </a:p>
        </p:txBody>
      </p:sp>
      <p:sp>
        <p:nvSpPr>
          <p:cNvPr id="434228" name="Line 52"/>
          <p:cNvSpPr>
            <a:spLocks noChangeShapeType="1"/>
          </p:cNvSpPr>
          <p:nvPr/>
        </p:nvSpPr>
        <p:spPr bwMode="auto">
          <a:xfrm flipV="1">
            <a:off x="1712913" y="4321175"/>
            <a:ext cx="0" cy="360363"/>
          </a:xfrm>
          <a:prstGeom prst="line">
            <a:avLst/>
          </a:prstGeom>
          <a:noFill/>
          <a:ln w="57150">
            <a:solidFill>
              <a:schemeClr val="accent2"/>
            </a:solidFill>
            <a:round/>
            <a:headEnd type="triangle" w="sm" len="sm"/>
            <a:tailEnd type="none" w="sm" len="sm"/>
          </a:ln>
          <a:effectLst/>
        </p:spPr>
        <p:txBody>
          <a:bodyPr/>
          <a:lstStyle/>
          <a:p>
            <a:pPr>
              <a:defRPr/>
            </a:pPr>
            <a:endParaRPr lang="zh-CN" altLang="en-US"/>
          </a:p>
        </p:txBody>
      </p:sp>
      <p:sp>
        <p:nvSpPr>
          <p:cNvPr id="434229" name="Line 53"/>
          <p:cNvSpPr>
            <a:spLocks noChangeShapeType="1"/>
          </p:cNvSpPr>
          <p:nvPr/>
        </p:nvSpPr>
        <p:spPr bwMode="auto">
          <a:xfrm rot="5400000">
            <a:off x="6008688" y="4260850"/>
            <a:ext cx="107950" cy="0"/>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434230" name="Line 54"/>
          <p:cNvSpPr>
            <a:spLocks noChangeShapeType="1"/>
          </p:cNvSpPr>
          <p:nvPr/>
        </p:nvSpPr>
        <p:spPr bwMode="auto">
          <a:xfrm rot="-5400000">
            <a:off x="1079501" y="4957762"/>
            <a:ext cx="0" cy="1095375"/>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434231" name="Line 55"/>
          <p:cNvSpPr>
            <a:spLocks noChangeShapeType="1"/>
          </p:cNvSpPr>
          <p:nvPr/>
        </p:nvSpPr>
        <p:spPr bwMode="auto">
          <a:xfrm rot="5400000">
            <a:off x="1465263" y="5362575"/>
            <a:ext cx="323850" cy="0"/>
          </a:xfrm>
          <a:prstGeom prst="line">
            <a:avLst/>
          </a:prstGeom>
          <a:noFill/>
          <a:ln w="57150">
            <a:solidFill>
              <a:schemeClr val="accent2"/>
            </a:solidFill>
            <a:round/>
            <a:headEnd type="none" w="sm" len="sm"/>
            <a:tailEnd type="none" w="sm" len="sm"/>
          </a:ln>
          <a:effectLst/>
        </p:spPr>
        <p:txBody>
          <a:bodyPr/>
          <a:lstStyle/>
          <a:p>
            <a:pPr>
              <a:defRPr/>
            </a:pPr>
            <a:endParaRPr lang="zh-CN" altLang="en-US"/>
          </a:p>
        </p:txBody>
      </p:sp>
      <p:sp>
        <p:nvSpPr>
          <p:cNvPr id="434232" name="Line 56"/>
          <p:cNvSpPr>
            <a:spLocks noChangeShapeType="1"/>
          </p:cNvSpPr>
          <p:nvPr/>
        </p:nvSpPr>
        <p:spPr bwMode="auto">
          <a:xfrm rot="5400000">
            <a:off x="384175" y="5362575"/>
            <a:ext cx="323850" cy="0"/>
          </a:xfrm>
          <a:prstGeom prst="line">
            <a:avLst/>
          </a:prstGeom>
          <a:noFill/>
          <a:ln w="57150">
            <a:solidFill>
              <a:schemeClr val="accent2"/>
            </a:solidFill>
            <a:round/>
            <a:headEnd type="triangle" w="sm" len="sm"/>
            <a:tailEnd type="none" w="sm" len="sm"/>
          </a:ln>
          <a:effectLst/>
        </p:spPr>
        <p:txBody>
          <a:bodyPr/>
          <a:lstStyle/>
          <a:p>
            <a:pPr>
              <a:defRPr/>
            </a:pPr>
            <a:endParaRPr lang="zh-CN" altLang="en-US"/>
          </a:p>
        </p:txBody>
      </p:sp>
      <p:sp>
        <p:nvSpPr>
          <p:cNvPr id="434244" name="Rectangle 68"/>
          <p:cNvSpPr>
            <a:spLocks noChangeArrowheads="1"/>
          </p:cNvSpPr>
          <p:nvPr/>
        </p:nvSpPr>
        <p:spPr bwMode="auto">
          <a:xfrm>
            <a:off x="346075" y="4681538"/>
            <a:ext cx="622300" cy="519112"/>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245" name="Rectangle 69"/>
          <p:cNvSpPr>
            <a:spLocks noChangeArrowheads="1"/>
          </p:cNvSpPr>
          <p:nvPr/>
        </p:nvSpPr>
        <p:spPr bwMode="auto">
          <a:xfrm>
            <a:off x="1408113" y="4675188"/>
            <a:ext cx="622300" cy="519112"/>
          </a:xfrm>
          <a:prstGeom prst="rect">
            <a:avLst/>
          </a:prstGeom>
          <a:solidFill>
            <a:srgbClr val="000080"/>
          </a:solidFill>
          <a:ln w="12700" cap="sq">
            <a:noFill/>
            <a:miter lim="800000"/>
            <a:headEnd type="none" w="sm" len="sm"/>
            <a:tailEnd type="none" w="sm" len="sm"/>
          </a:ln>
          <a:effectLst>
            <a:outerShdw dist="35921" dir="2700000" algn="ctr" rotWithShape="0">
              <a:schemeClr val="accent2"/>
            </a:outerShdw>
          </a:effectLst>
        </p:spPr>
        <p:txBody>
          <a:bodyPr wrap="none" anchor="ctr"/>
          <a:lstStyle/>
          <a:p>
            <a:pPr algn="ctr" eaLnBrk="1" hangingPunct="1">
              <a:defRPr/>
            </a:pPr>
            <a:endParaRPr kumimoji="1" lang="zh-CN" altLang="en-US" sz="2800" b="1">
              <a:solidFill>
                <a:schemeClr val="bg1"/>
              </a:solidFill>
              <a:effectLst/>
              <a:ea typeface="宋体" pitchFamily="2" charset="-122"/>
            </a:endParaRPr>
          </a:p>
        </p:txBody>
      </p:sp>
      <p:sp>
        <p:nvSpPr>
          <p:cNvPr id="434246" name="Text Box 70"/>
          <p:cNvSpPr txBox="1">
            <a:spLocks noChangeArrowheads="1"/>
          </p:cNvSpPr>
          <p:nvPr/>
        </p:nvSpPr>
        <p:spPr bwMode="auto">
          <a:xfrm>
            <a:off x="481013" y="46815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ea typeface="宋体" pitchFamily="2" charset="-122"/>
              </a:rPr>
              <a:t>5</a:t>
            </a:r>
            <a:endParaRPr kumimoji="1" lang="en-US" altLang="zh-CN" sz="2800" b="1">
              <a:solidFill>
                <a:srgbClr val="CC3300"/>
              </a:solidFill>
              <a:effectLst/>
              <a:ea typeface="宋体" pitchFamily="2" charset="-122"/>
            </a:endParaRPr>
          </a:p>
        </p:txBody>
      </p:sp>
      <p:sp>
        <p:nvSpPr>
          <p:cNvPr id="434247" name="Text Box 71"/>
          <p:cNvSpPr txBox="1">
            <a:spLocks noChangeArrowheads="1"/>
          </p:cNvSpPr>
          <p:nvPr/>
        </p:nvSpPr>
        <p:spPr bwMode="auto">
          <a:xfrm>
            <a:off x="449263" y="4278313"/>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a</a:t>
            </a:r>
          </a:p>
        </p:txBody>
      </p:sp>
      <p:sp>
        <p:nvSpPr>
          <p:cNvPr id="434248" name="Text Box 72"/>
          <p:cNvSpPr txBox="1">
            <a:spLocks noChangeArrowheads="1"/>
          </p:cNvSpPr>
          <p:nvPr/>
        </p:nvSpPr>
        <p:spPr bwMode="auto">
          <a:xfrm>
            <a:off x="1682750" y="4278313"/>
            <a:ext cx="396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b</a:t>
            </a:r>
          </a:p>
        </p:txBody>
      </p:sp>
      <p:sp>
        <p:nvSpPr>
          <p:cNvPr id="434249" name="Text Box 73"/>
          <p:cNvSpPr txBox="1">
            <a:spLocks noChangeArrowheads="1"/>
          </p:cNvSpPr>
          <p:nvPr/>
        </p:nvSpPr>
        <p:spPr bwMode="auto">
          <a:xfrm>
            <a:off x="1543050" y="46529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kumimoji="1" lang="en-US" altLang="zh-CN" sz="2800" b="1">
                <a:solidFill>
                  <a:schemeClr val="bg1"/>
                </a:solidFill>
                <a:effectLst/>
                <a:ea typeface="宋体" pitchFamily="2" charset="-122"/>
              </a:rPr>
              <a:t>9</a:t>
            </a:r>
          </a:p>
        </p:txBody>
      </p:sp>
      <p:sp>
        <p:nvSpPr>
          <p:cNvPr id="434233" name="Text Box 57"/>
          <p:cNvSpPr txBox="1">
            <a:spLocks noChangeArrowheads="1"/>
          </p:cNvSpPr>
          <p:nvPr/>
        </p:nvSpPr>
        <p:spPr bwMode="auto">
          <a:xfrm>
            <a:off x="431800" y="4681538"/>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kumimoji="1" lang="en-US" altLang="zh-CN" sz="2800" b="1">
                <a:solidFill>
                  <a:schemeClr val="bg1"/>
                </a:solidFill>
                <a:effectLst/>
                <a:ea typeface="宋体" pitchFamily="2" charset="-122"/>
              </a:rPr>
              <a:t>9</a:t>
            </a:r>
          </a:p>
        </p:txBody>
      </p:sp>
      <p:sp>
        <p:nvSpPr>
          <p:cNvPr id="434222" name="Text Box 46"/>
          <p:cNvSpPr txBox="1">
            <a:spLocks noChangeArrowheads="1"/>
          </p:cNvSpPr>
          <p:nvPr/>
        </p:nvSpPr>
        <p:spPr bwMode="auto">
          <a:xfrm>
            <a:off x="1439863" y="4646613"/>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kumimoji="1" lang="en-US" altLang="zh-CN" sz="2800" b="1">
                <a:solidFill>
                  <a:schemeClr val="bg1"/>
                </a:solidFill>
                <a:effectLst/>
                <a:ea typeface="宋体" pitchFamily="2" charset="-122"/>
              </a:rPr>
              <a:t>5</a:t>
            </a:r>
          </a:p>
        </p:txBody>
      </p:sp>
      <p:sp>
        <p:nvSpPr>
          <p:cNvPr id="434250" name="Line 74"/>
          <p:cNvSpPr>
            <a:spLocks noChangeShapeType="1"/>
          </p:cNvSpPr>
          <p:nvPr/>
        </p:nvSpPr>
        <p:spPr bwMode="auto">
          <a:xfrm>
            <a:off x="1684338" y="4337050"/>
            <a:ext cx="4392612" cy="0"/>
          </a:xfrm>
          <a:prstGeom prst="line">
            <a:avLst/>
          </a:prstGeom>
          <a:noFill/>
          <a:ln w="57150">
            <a:solidFill>
              <a:srgbClr val="0000FF"/>
            </a:solidFill>
            <a:round/>
            <a:headEnd type="none" w="sm" len="sm"/>
            <a:tailEnd type="none" w="sm" len="sm"/>
          </a:ln>
          <a:effectLst/>
        </p:spPr>
        <p:txBody>
          <a:bodyPr/>
          <a:lstStyle/>
          <a:p>
            <a:pPr>
              <a:defRPr/>
            </a:pPr>
            <a:endParaRPr lang="zh-CN" altLang="en-US"/>
          </a:p>
        </p:txBody>
      </p:sp>
      <p:sp>
        <p:nvSpPr>
          <p:cNvPr id="434268" name="Rectangle 92"/>
          <p:cNvSpPr>
            <a:spLocks noChangeArrowheads="1"/>
          </p:cNvSpPr>
          <p:nvPr/>
        </p:nvSpPr>
        <p:spPr bwMode="auto">
          <a:xfrm>
            <a:off x="714375" y="2786063"/>
            <a:ext cx="2357438" cy="360362"/>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4269" name="Rectangle 93"/>
          <p:cNvSpPr>
            <a:spLocks noChangeArrowheads="1"/>
          </p:cNvSpPr>
          <p:nvPr/>
        </p:nvSpPr>
        <p:spPr bwMode="auto">
          <a:xfrm>
            <a:off x="6588125" y="1268413"/>
            <a:ext cx="2376488"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434270" name="Text Box 94"/>
          <p:cNvSpPr txBox="1">
            <a:spLocks noChangeArrowheads="1"/>
          </p:cNvSpPr>
          <p:nvPr/>
        </p:nvSpPr>
        <p:spPr bwMode="auto">
          <a:xfrm>
            <a:off x="452438" y="5099050"/>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*x</a:t>
            </a:r>
          </a:p>
        </p:txBody>
      </p:sp>
      <p:sp>
        <p:nvSpPr>
          <p:cNvPr id="434271" name="Text Box 95"/>
          <p:cNvSpPr txBox="1">
            <a:spLocks noChangeArrowheads="1"/>
          </p:cNvSpPr>
          <p:nvPr/>
        </p:nvSpPr>
        <p:spPr bwMode="auto">
          <a:xfrm>
            <a:off x="1528763" y="5113338"/>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en-US" altLang="zh-CN" sz="2800" b="1">
                <a:solidFill>
                  <a:schemeClr val="tx2"/>
                </a:solidFill>
                <a:effectLst/>
                <a:latin typeface="Courier New" pitchFamily="49" charset="0"/>
                <a:ea typeface="宋体" pitchFamily="2" charset="-122"/>
              </a:rPr>
              <a:t>*y</a:t>
            </a:r>
          </a:p>
        </p:txBody>
      </p:sp>
      <p:grpSp>
        <p:nvGrpSpPr>
          <p:cNvPr id="6" name="Group 96"/>
          <p:cNvGrpSpPr>
            <a:grpSpLocks/>
          </p:cNvGrpSpPr>
          <p:nvPr/>
        </p:nvGrpSpPr>
        <p:grpSpPr bwMode="auto">
          <a:xfrm>
            <a:off x="5351463" y="6107113"/>
            <a:ext cx="646112" cy="635000"/>
            <a:chOff x="1993" y="3152"/>
            <a:chExt cx="407" cy="400"/>
          </a:xfrm>
        </p:grpSpPr>
        <p:sp>
          <p:nvSpPr>
            <p:cNvPr id="434273" name="Line 97"/>
            <p:cNvSpPr>
              <a:spLocks noChangeShapeType="1"/>
            </p:cNvSpPr>
            <p:nvPr/>
          </p:nvSpPr>
          <p:spPr bwMode="auto">
            <a:xfrm>
              <a:off x="1993" y="3152"/>
              <a:ext cx="407" cy="400"/>
            </a:xfrm>
            <a:prstGeom prst="line">
              <a:avLst/>
            </a:prstGeom>
            <a:noFill/>
            <a:ln w="57150" cap="sq">
              <a:solidFill>
                <a:srgbClr val="FF0000"/>
              </a:solidFill>
              <a:round/>
              <a:headEnd type="none" w="sm" len="sm"/>
              <a:tailEnd type="none" w="sm" len="sm"/>
            </a:ln>
            <a:effectLst/>
          </p:spPr>
          <p:txBody>
            <a:bodyPr wrap="none" anchor="ctr"/>
            <a:lstStyle/>
            <a:p>
              <a:pPr>
                <a:defRPr/>
              </a:pPr>
              <a:endParaRPr lang="zh-CN" altLang="en-US"/>
            </a:p>
          </p:txBody>
        </p:sp>
        <p:sp>
          <p:nvSpPr>
            <p:cNvPr id="434274" name="Line 98"/>
            <p:cNvSpPr>
              <a:spLocks noChangeShapeType="1"/>
            </p:cNvSpPr>
            <p:nvPr/>
          </p:nvSpPr>
          <p:spPr bwMode="auto">
            <a:xfrm flipH="1">
              <a:off x="2002" y="3152"/>
              <a:ext cx="373" cy="372"/>
            </a:xfrm>
            <a:prstGeom prst="line">
              <a:avLst/>
            </a:prstGeom>
            <a:noFill/>
            <a:ln w="57150" cap="sq">
              <a:solidFill>
                <a:srgbClr val="FF0000"/>
              </a:solidFill>
              <a:round/>
              <a:headEnd type="none" w="sm" len="sm"/>
              <a:tailEnd type="none" w="sm" len="sm"/>
            </a:ln>
            <a:effectLst/>
          </p:spPr>
          <p:txBody>
            <a:bodyPr wrap="none" anchor="ctr"/>
            <a:lstStyle/>
            <a:p>
              <a:pPr>
                <a:defRPr/>
              </a:pPr>
              <a:endParaRPr lang="zh-CN" altLang="en-US"/>
            </a:p>
          </p:txBody>
        </p:sp>
      </p:grpSp>
      <p:sp>
        <p:nvSpPr>
          <p:cNvPr id="434275" name="Rectangle 99"/>
          <p:cNvSpPr>
            <a:spLocks noChangeArrowheads="1"/>
          </p:cNvSpPr>
          <p:nvPr/>
        </p:nvSpPr>
        <p:spPr bwMode="auto">
          <a:xfrm>
            <a:off x="6315075" y="6037263"/>
            <a:ext cx="2735263" cy="776287"/>
          </a:xfrm>
          <a:prstGeom prst="rect">
            <a:avLst/>
          </a:prstGeom>
          <a:solidFill>
            <a:srgbClr val="FFFF99"/>
          </a:solidFill>
          <a:ln w="28575">
            <a:solidFill>
              <a:srgbClr val="800000"/>
            </a:solidFill>
            <a:miter lim="800000"/>
            <a:headEnd/>
            <a:tailEnd/>
          </a:ln>
          <a:effectLst/>
        </p:spPr>
        <p:txBody>
          <a:bodyPr wrap="none" anchor="ctr"/>
          <a:lstStyle/>
          <a:p>
            <a:pPr algn="ctr">
              <a:defRPr/>
            </a:pPr>
            <a:r>
              <a:rPr lang="zh-CN" altLang="en-US" b="1">
                <a:solidFill>
                  <a:srgbClr val="000066"/>
                </a:solidFill>
                <a:effectLst/>
                <a:latin typeface="Courier New" pitchFamily="49" charset="0"/>
                <a:ea typeface="宋体" pitchFamily="2" charset="-122"/>
              </a:rPr>
              <a:t>交换的是</a:t>
            </a:r>
            <a:r>
              <a:rPr lang="en-US" altLang="zh-CN" b="1">
                <a:solidFill>
                  <a:srgbClr val="000066"/>
                </a:solidFill>
                <a:effectLst/>
                <a:latin typeface="Courier New" pitchFamily="49" charset="0"/>
                <a:ea typeface="宋体" pitchFamily="2" charset="-122"/>
              </a:rPr>
              <a:t>x</a:t>
            </a:r>
            <a:r>
              <a:rPr lang="en-US" altLang="zh-CN" b="1">
                <a:solidFill>
                  <a:srgbClr val="000066"/>
                </a:solidFill>
                <a:effectLst/>
                <a:ea typeface="宋体" pitchFamily="2" charset="-122"/>
              </a:rPr>
              <a:t> </a:t>
            </a:r>
            <a:r>
              <a:rPr lang="zh-CN" altLang="en-US" b="1">
                <a:solidFill>
                  <a:srgbClr val="000066"/>
                </a:solidFill>
                <a:effectLst/>
                <a:ea typeface="宋体" pitchFamily="2" charset="-122"/>
              </a:rPr>
              <a:t>和 </a:t>
            </a:r>
            <a:r>
              <a:rPr lang="en-US" altLang="zh-CN" b="1">
                <a:solidFill>
                  <a:srgbClr val="000066"/>
                </a:solidFill>
                <a:effectLst/>
                <a:latin typeface="Courier New" pitchFamily="49" charset="0"/>
                <a:ea typeface="宋体" pitchFamily="2" charset="-122"/>
              </a:rPr>
              <a:t>y</a:t>
            </a:r>
          </a:p>
          <a:p>
            <a:pPr algn="ctr">
              <a:defRPr/>
            </a:pPr>
            <a:r>
              <a:rPr lang="zh-CN" altLang="en-US" b="1">
                <a:solidFill>
                  <a:srgbClr val="000066"/>
                </a:solidFill>
                <a:effectLst/>
                <a:latin typeface="Courier New" pitchFamily="49" charset="0"/>
                <a:ea typeface="宋体" pitchFamily="2" charset="-122"/>
              </a:rPr>
              <a:t>指向的单元内容</a:t>
            </a:r>
            <a:endParaRPr lang="zh-CN" altLang="en-US" b="1" i="1">
              <a:solidFill>
                <a:srgbClr val="FF3300"/>
              </a:solidFill>
              <a:effectLst>
                <a:outerShdw blurRad="38100" dist="38100" dir="2700000" algn="tl">
                  <a:srgbClr val="000000"/>
                </a:outerShdw>
              </a:effectLst>
              <a:ea typeface="宋体" pitchFamily="2" charset="-122"/>
            </a:endParaRPr>
          </a:p>
        </p:txBody>
      </p:sp>
      <p:sp>
        <p:nvSpPr>
          <p:cNvPr id="31791" name="Text Box 2"/>
          <p:cNvSpPr txBox="1">
            <a:spLocks noChangeArrowheads="1"/>
          </p:cNvSpPr>
          <p:nvPr/>
        </p:nvSpPr>
        <p:spPr bwMode="auto">
          <a:xfrm>
            <a:off x="323850" y="7493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zh-CN" altLang="en-US" sz="2800" b="1">
                <a:effectLst/>
                <a:ea typeface="华文仿宋" pitchFamily="2" charset="-122"/>
              </a:rPr>
              <a:t>主调函数</a:t>
            </a:r>
          </a:p>
        </p:txBody>
      </p:sp>
      <p:sp>
        <p:nvSpPr>
          <p:cNvPr id="31792" name="Text Box 3"/>
          <p:cNvSpPr txBox="1">
            <a:spLocks noChangeArrowheads="1"/>
          </p:cNvSpPr>
          <p:nvPr/>
        </p:nvSpPr>
        <p:spPr bwMode="auto">
          <a:xfrm>
            <a:off x="7429500" y="74930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kumimoji="1" lang="zh-CN" altLang="en-US" sz="2800" b="1">
                <a:effectLst/>
                <a:ea typeface="华文仿宋" pitchFamily="2" charset="-122"/>
              </a:rPr>
              <a:t>被调函数</a:t>
            </a:r>
          </a:p>
        </p:txBody>
      </p:sp>
      <p:sp>
        <p:nvSpPr>
          <p:cNvPr id="433165" name="Rectangle 13"/>
          <p:cNvSpPr>
            <a:spLocks noChangeArrowheads="1"/>
          </p:cNvSpPr>
          <p:nvPr/>
        </p:nvSpPr>
        <p:spPr bwMode="auto">
          <a:xfrm>
            <a:off x="314325" y="227013"/>
            <a:ext cx="8505825" cy="609600"/>
          </a:xfrm>
          <a:prstGeom prst="rect">
            <a:avLst/>
          </a:prstGeom>
          <a:noFill/>
          <a:ln w="9525">
            <a:noFill/>
            <a:miter lim="800000"/>
            <a:headEnd/>
            <a:tailEnd/>
          </a:ln>
          <a:effectLst>
            <a:outerShdw dist="35921" dir="2700000" algn="ctr" rotWithShape="0">
              <a:schemeClr val="tx1"/>
            </a:outerShdw>
          </a:effectLst>
        </p:spPr>
        <p:txBody>
          <a:bodyPr>
            <a:spAutoFit/>
          </a:bodyPr>
          <a:lstStyle/>
          <a:p>
            <a:pPr algn="ctr">
              <a:lnSpc>
                <a:spcPct val="85000"/>
              </a:lnSpc>
              <a:defRPr/>
            </a:pPr>
            <a:r>
              <a:rPr lang="zh-CN" altLang="en-US" sz="4000" i="1" kern="0" dirty="0">
                <a:solidFill>
                  <a:schemeClr val="accent2">
                    <a:lumMod val="50000"/>
                  </a:schemeClr>
                </a:solidFill>
                <a:effectLst>
                  <a:outerShdw blurRad="38100" dist="38100" dir="2700000" algn="tl">
                    <a:srgbClr val="C0C0C0"/>
                  </a:outerShdw>
                </a:effectLst>
                <a:latin typeface="+mj-lt"/>
                <a:ea typeface="+mj-ea"/>
                <a:cs typeface="+mj-cs"/>
              </a:rPr>
              <a:t>编写函数实现两数的互换</a:t>
            </a:r>
          </a:p>
        </p:txBody>
      </p:sp>
    </p:spTree>
    <p:extLst>
      <p:ext uri="{BB962C8B-B14F-4D97-AF65-F5344CB8AC3E}">
        <p14:creationId xmlns:p14="http://schemas.microsoft.com/office/powerpoint/2010/main" val="2145197094"/>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34268"/>
                                        </p:tgtEl>
                                        <p:attrNameLst>
                                          <p:attrName>style.visibility</p:attrName>
                                        </p:attrNameLst>
                                      </p:cBhvr>
                                      <p:to>
                                        <p:strVal val="visible"/>
                                      </p:to>
                                    </p:set>
                                    <p:anim calcmode="lin" valueType="num">
                                      <p:cBhvr>
                                        <p:cTn id="7" dur="500" fill="hold"/>
                                        <p:tgtEl>
                                          <p:spTgt spid="434268"/>
                                        </p:tgtEl>
                                        <p:attrNameLst>
                                          <p:attrName>ppt_w</p:attrName>
                                        </p:attrNameLst>
                                      </p:cBhvr>
                                      <p:tavLst>
                                        <p:tav tm="0">
                                          <p:val>
                                            <p:fltVal val="0"/>
                                          </p:val>
                                        </p:tav>
                                        <p:tav tm="100000">
                                          <p:val>
                                            <p:strVal val="#ppt_w"/>
                                          </p:val>
                                        </p:tav>
                                      </p:tavLst>
                                    </p:anim>
                                    <p:anim calcmode="lin" valueType="num">
                                      <p:cBhvr>
                                        <p:cTn id="8" dur="500" fill="hold"/>
                                        <p:tgtEl>
                                          <p:spTgt spid="434268"/>
                                        </p:tgtEl>
                                        <p:attrNameLst>
                                          <p:attrName>ppt_h</p:attrName>
                                        </p:attrNameLst>
                                      </p:cBhvr>
                                      <p:tavLst>
                                        <p:tav tm="0">
                                          <p:val>
                                            <p:fltVal val="0"/>
                                          </p:val>
                                        </p:tav>
                                        <p:tav tm="100000">
                                          <p:val>
                                            <p:strVal val="#ppt_h"/>
                                          </p:val>
                                        </p:tav>
                                      </p:tavLst>
                                    </p:anim>
                                    <p:animEffect transition="in" filter="fade">
                                      <p:cBhvr>
                                        <p:cTn id="9" dur="500"/>
                                        <p:tgtEl>
                                          <p:spTgt spid="434268"/>
                                        </p:tgtEl>
                                      </p:cBhvr>
                                    </p:animEffect>
                                  </p:childTnLst>
                                </p:cTn>
                              </p:par>
                            </p:childTnLst>
                          </p:cTn>
                        </p:par>
                        <p:par>
                          <p:cTn id="10" fill="hold" nodeType="afterGroup">
                            <p:stCondLst>
                              <p:cond delay="500"/>
                            </p:stCondLst>
                            <p:childTnLst>
                              <p:par>
                                <p:cTn id="11" presetID="14" presetClass="entr" presetSubtype="10" fill="hold" grpId="0" nodeType="afterEffect">
                                  <p:stCondLst>
                                    <p:cond delay="0"/>
                                  </p:stCondLst>
                                  <p:childTnLst>
                                    <p:set>
                                      <p:cBhvr>
                                        <p:cTn id="12" dur="1" fill="hold">
                                          <p:stCondLst>
                                            <p:cond delay="0"/>
                                          </p:stCondLst>
                                        </p:cTn>
                                        <p:tgtEl>
                                          <p:spTgt spid="434192"/>
                                        </p:tgtEl>
                                        <p:attrNameLst>
                                          <p:attrName>style.visibility</p:attrName>
                                        </p:attrNameLst>
                                      </p:cBhvr>
                                      <p:to>
                                        <p:strVal val="visible"/>
                                      </p:to>
                                    </p:set>
                                    <p:animEffect transition="in" filter="randombar(horizontal)">
                                      <p:cBhvr>
                                        <p:cTn id="13" dur="500"/>
                                        <p:tgtEl>
                                          <p:spTgt spid="43419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34247"/>
                                        </p:tgtEl>
                                        <p:attrNameLst>
                                          <p:attrName>style.visibility</p:attrName>
                                        </p:attrNameLst>
                                      </p:cBhvr>
                                      <p:to>
                                        <p:strVal val="visible"/>
                                      </p:to>
                                    </p:set>
                                  </p:childTnLst>
                                </p:cTn>
                              </p:par>
                            </p:childTnLst>
                          </p:cTn>
                        </p:par>
                        <p:par>
                          <p:cTn id="18" fill="hold" nodeType="afterGroup">
                            <p:stCondLst>
                              <p:cond delay="500"/>
                            </p:stCondLst>
                            <p:childTnLst>
                              <p:par>
                                <p:cTn id="19" presetID="16" presetClass="entr" presetSubtype="37" fill="hold" grpId="0" nodeType="afterEffect">
                                  <p:stCondLst>
                                    <p:cond delay="0"/>
                                  </p:stCondLst>
                                  <p:childTnLst>
                                    <p:set>
                                      <p:cBhvr>
                                        <p:cTn id="20" dur="1" fill="hold">
                                          <p:stCondLst>
                                            <p:cond delay="0"/>
                                          </p:stCondLst>
                                        </p:cTn>
                                        <p:tgtEl>
                                          <p:spTgt spid="434244"/>
                                        </p:tgtEl>
                                        <p:attrNameLst>
                                          <p:attrName>style.visibility</p:attrName>
                                        </p:attrNameLst>
                                      </p:cBhvr>
                                      <p:to>
                                        <p:strVal val="visible"/>
                                      </p:to>
                                    </p:set>
                                    <p:animEffect transition="in" filter="barn(outVertical)">
                                      <p:cBhvr>
                                        <p:cTn id="21" dur="500"/>
                                        <p:tgtEl>
                                          <p:spTgt spid="434244"/>
                                        </p:tgtEl>
                                      </p:cBhvr>
                                    </p:animEffect>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434246"/>
                                        </p:tgtEl>
                                        <p:attrNameLst>
                                          <p:attrName>style.visibility</p:attrName>
                                        </p:attrNameLst>
                                      </p:cBhvr>
                                      <p:to>
                                        <p:strVal val="visible"/>
                                      </p:to>
                                    </p:set>
                                  </p:childTnLst>
                                </p:cTn>
                              </p:par>
                            </p:childTnLst>
                          </p:cTn>
                        </p:par>
                        <p:par>
                          <p:cTn id="25" fill="hold" nodeType="afterGroup">
                            <p:stCondLst>
                              <p:cond delay="1500"/>
                            </p:stCondLst>
                            <p:childTnLst>
                              <p:par>
                                <p:cTn id="26" presetID="1" presetClass="entr" presetSubtype="0" fill="hold" grpId="0" nodeType="afterEffect">
                                  <p:stCondLst>
                                    <p:cond delay="0"/>
                                  </p:stCondLst>
                                  <p:childTnLst>
                                    <p:set>
                                      <p:cBhvr>
                                        <p:cTn id="27" dur="1" fill="hold">
                                          <p:stCondLst>
                                            <p:cond delay="499"/>
                                          </p:stCondLst>
                                        </p:cTn>
                                        <p:tgtEl>
                                          <p:spTgt spid="434248"/>
                                        </p:tgtEl>
                                        <p:attrNameLst>
                                          <p:attrName>style.visibility</p:attrName>
                                        </p:attrNameLst>
                                      </p:cBhvr>
                                      <p:to>
                                        <p:strVal val="visible"/>
                                      </p:to>
                                    </p:set>
                                  </p:childTnLst>
                                </p:cTn>
                              </p:par>
                            </p:childTnLst>
                          </p:cTn>
                        </p:par>
                        <p:par>
                          <p:cTn id="28" fill="hold" nodeType="afterGroup">
                            <p:stCondLst>
                              <p:cond delay="2000"/>
                            </p:stCondLst>
                            <p:childTnLst>
                              <p:par>
                                <p:cTn id="29" presetID="16" presetClass="entr" presetSubtype="37" fill="hold" grpId="0" nodeType="afterEffect">
                                  <p:stCondLst>
                                    <p:cond delay="0"/>
                                  </p:stCondLst>
                                  <p:childTnLst>
                                    <p:set>
                                      <p:cBhvr>
                                        <p:cTn id="30" dur="1" fill="hold">
                                          <p:stCondLst>
                                            <p:cond delay="0"/>
                                          </p:stCondLst>
                                        </p:cTn>
                                        <p:tgtEl>
                                          <p:spTgt spid="434245"/>
                                        </p:tgtEl>
                                        <p:attrNameLst>
                                          <p:attrName>style.visibility</p:attrName>
                                        </p:attrNameLst>
                                      </p:cBhvr>
                                      <p:to>
                                        <p:strVal val="visible"/>
                                      </p:to>
                                    </p:set>
                                    <p:animEffect transition="in" filter="barn(outVertical)">
                                      <p:cBhvr>
                                        <p:cTn id="31" dur="500"/>
                                        <p:tgtEl>
                                          <p:spTgt spid="434245"/>
                                        </p:tgtEl>
                                      </p:cBhvr>
                                    </p:animEffect>
                                  </p:childTnLst>
                                </p:cTn>
                              </p:par>
                            </p:childTnLst>
                          </p:cTn>
                        </p:par>
                        <p:par>
                          <p:cTn id="32" fill="hold" nodeType="afterGroup">
                            <p:stCondLst>
                              <p:cond delay="2500"/>
                            </p:stCondLst>
                            <p:childTnLst>
                              <p:par>
                                <p:cTn id="33" presetID="1" presetClass="entr" presetSubtype="0" fill="hold" grpId="0" nodeType="afterEffect">
                                  <p:stCondLst>
                                    <p:cond delay="0"/>
                                  </p:stCondLst>
                                  <p:childTnLst>
                                    <p:set>
                                      <p:cBhvr>
                                        <p:cTn id="34" dur="1" fill="hold">
                                          <p:stCondLst>
                                            <p:cond delay="499"/>
                                          </p:stCondLst>
                                        </p:cTn>
                                        <p:tgtEl>
                                          <p:spTgt spid="43424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0" fill="hold" grpId="0" nodeType="clickEffect">
                                  <p:stCondLst>
                                    <p:cond delay="0"/>
                                  </p:stCondLst>
                                  <p:childTnLst>
                                    <p:set>
                                      <p:cBhvr>
                                        <p:cTn id="38" dur="1" fill="hold">
                                          <p:stCondLst>
                                            <p:cond delay="0"/>
                                          </p:stCondLst>
                                        </p:cTn>
                                        <p:tgtEl>
                                          <p:spTgt spid="434269"/>
                                        </p:tgtEl>
                                        <p:attrNameLst>
                                          <p:attrName>style.visibility</p:attrName>
                                        </p:attrNameLst>
                                      </p:cBhvr>
                                      <p:to>
                                        <p:strVal val="visible"/>
                                      </p:to>
                                    </p:set>
                                    <p:anim calcmode="lin" valueType="num">
                                      <p:cBhvr>
                                        <p:cTn id="39" dur="500" fill="hold"/>
                                        <p:tgtEl>
                                          <p:spTgt spid="434269"/>
                                        </p:tgtEl>
                                        <p:attrNameLst>
                                          <p:attrName>ppt_w</p:attrName>
                                        </p:attrNameLst>
                                      </p:cBhvr>
                                      <p:tavLst>
                                        <p:tav tm="0">
                                          <p:val>
                                            <p:fltVal val="0"/>
                                          </p:val>
                                        </p:tav>
                                        <p:tav tm="100000">
                                          <p:val>
                                            <p:strVal val="#ppt_w"/>
                                          </p:val>
                                        </p:tav>
                                      </p:tavLst>
                                    </p:anim>
                                    <p:anim calcmode="lin" valueType="num">
                                      <p:cBhvr>
                                        <p:cTn id="40" dur="500" fill="hold"/>
                                        <p:tgtEl>
                                          <p:spTgt spid="434269"/>
                                        </p:tgtEl>
                                        <p:attrNameLst>
                                          <p:attrName>ppt_h</p:attrName>
                                        </p:attrNameLst>
                                      </p:cBhvr>
                                      <p:tavLst>
                                        <p:tav tm="0">
                                          <p:val>
                                            <p:fltVal val="0"/>
                                          </p:val>
                                        </p:tav>
                                        <p:tav tm="100000">
                                          <p:val>
                                            <p:strVal val="#ppt_h"/>
                                          </p:val>
                                        </p:tav>
                                      </p:tavLst>
                                    </p:anim>
                                    <p:animEffect transition="in" filter="fade">
                                      <p:cBhvr>
                                        <p:cTn id="41" dur="500"/>
                                        <p:tgtEl>
                                          <p:spTgt spid="434269"/>
                                        </p:tgtEl>
                                      </p:cBhvr>
                                    </p:animEffect>
                                  </p:childTnLst>
                                </p:cTn>
                              </p:par>
                            </p:childTnLst>
                          </p:cTn>
                        </p:par>
                        <p:par>
                          <p:cTn id="42" fill="hold" nodeType="afterGroup">
                            <p:stCondLst>
                              <p:cond delay="500"/>
                            </p:stCondLst>
                            <p:childTnLst>
                              <p:par>
                                <p:cTn id="43" presetID="14" presetClass="entr" presetSubtype="10" fill="hold" grpId="0" nodeType="afterEffect">
                                  <p:stCondLst>
                                    <p:cond delay="0"/>
                                  </p:stCondLst>
                                  <p:childTnLst>
                                    <p:set>
                                      <p:cBhvr>
                                        <p:cTn id="44" dur="1" fill="hold">
                                          <p:stCondLst>
                                            <p:cond delay="0"/>
                                          </p:stCondLst>
                                        </p:cTn>
                                        <p:tgtEl>
                                          <p:spTgt spid="434193"/>
                                        </p:tgtEl>
                                        <p:attrNameLst>
                                          <p:attrName>style.visibility</p:attrName>
                                        </p:attrNameLst>
                                      </p:cBhvr>
                                      <p:to>
                                        <p:strVal val="visible"/>
                                      </p:to>
                                    </p:set>
                                    <p:animEffect transition="in" filter="randombar(horizontal)">
                                      <p:cBhvr>
                                        <p:cTn id="45" dur="500"/>
                                        <p:tgtEl>
                                          <p:spTgt spid="43419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434216"/>
                                        </p:tgtEl>
                                        <p:attrNameLst>
                                          <p:attrName>style.visibility</p:attrName>
                                        </p:attrNameLst>
                                      </p:cBhvr>
                                      <p:to>
                                        <p:strVal val="visible"/>
                                      </p:to>
                                    </p:set>
                                  </p:childTnLst>
                                </p:cTn>
                              </p:par>
                            </p:childTnLst>
                          </p:cTn>
                        </p:par>
                        <p:par>
                          <p:cTn id="50" fill="hold" nodeType="afterGroup">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434184"/>
                                        </p:tgtEl>
                                        <p:attrNameLst>
                                          <p:attrName>style.visibility</p:attrName>
                                        </p:attrNameLst>
                                      </p:cBhvr>
                                      <p:to>
                                        <p:strVal val="visible"/>
                                      </p:to>
                                    </p:set>
                                    <p:animEffect transition="in" filter="barn(outVertical)">
                                      <p:cBhvr>
                                        <p:cTn id="53" dur="500"/>
                                        <p:tgtEl>
                                          <p:spTgt spid="434184"/>
                                        </p:tgtEl>
                                      </p:cBhvr>
                                    </p:animEffect>
                                  </p:childTnLst>
                                </p:cTn>
                              </p:par>
                            </p:childTnLst>
                          </p:cTn>
                        </p:par>
                        <p:par>
                          <p:cTn id="54" fill="hold" nodeType="afterGroup">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434217"/>
                                        </p:tgtEl>
                                        <p:attrNameLst>
                                          <p:attrName>style.visibility</p:attrName>
                                        </p:attrNameLst>
                                      </p:cBhvr>
                                      <p:to>
                                        <p:strVal val="visible"/>
                                      </p:to>
                                    </p:set>
                                  </p:childTnLst>
                                </p:cTn>
                              </p:par>
                            </p:childTnLst>
                          </p:cTn>
                        </p:par>
                        <p:par>
                          <p:cTn id="57" fill="hold" nodeType="afterGroup">
                            <p:stCondLst>
                              <p:cond delay="1500"/>
                            </p:stCondLst>
                            <p:childTnLst>
                              <p:par>
                                <p:cTn id="58" presetID="16" presetClass="entr" presetSubtype="37" fill="hold" grpId="0" nodeType="afterEffect">
                                  <p:stCondLst>
                                    <p:cond delay="0"/>
                                  </p:stCondLst>
                                  <p:childTnLst>
                                    <p:set>
                                      <p:cBhvr>
                                        <p:cTn id="59" dur="1" fill="hold">
                                          <p:stCondLst>
                                            <p:cond delay="0"/>
                                          </p:stCondLst>
                                        </p:cTn>
                                        <p:tgtEl>
                                          <p:spTgt spid="434183"/>
                                        </p:tgtEl>
                                        <p:attrNameLst>
                                          <p:attrName>style.visibility</p:attrName>
                                        </p:attrNameLst>
                                      </p:cBhvr>
                                      <p:to>
                                        <p:strVal val="visible"/>
                                      </p:to>
                                    </p:set>
                                    <p:animEffect transition="in" filter="barn(outVertical)">
                                      <p:cBhvr>
                                        <p:cTn id="60" dur="500"/>
                                        <p:tgtEl>
                                          <p:spTgt spid="434183"/>
                                        </p:tgtEl>
                                      </p:cBhvr>
                                    </p:animEffect>
                                  </p:childTnLst>
                                </p:cTn>
                              </p:par>
                            </p:childTnLst>
                          </p:cTn>
                        </p:par>
                        <p:par>
                          <p:cTn id="61" fill="hold" nodeType="afterGroup">
                            <p:stCondLst>
                              <p:cond delay="2000"/>
                            </p:stCondLst>
                            <p:childTnLst>
                              <p:par>
                                <p:cTn id="62" presetID="1" presetClass="entr" presetSubtype="0" fill="hold" grpId="0" nodeType="afterEffect">
                                  <p:stCondLst>
                                    <p:cond delay="0"/>
                                  </p:stCondLst>
                                  <p:childTnLst>
                                    <p:set>
                                      <p:cBhvr>
                                        <p:cTn id="63" dur="1" fill="hold">
                                          <p:stCondLst>
                                            <p:cond delay="499"/>
                                          </p:stCondLst>
                                        </p:cTn>
                                        <p:tgtEl>
                                          <p:spTgt spid="434225"/>
                                        </p:tgtEl>
                                        <p:attrNameLst>
                                          <p:attrName>style.visibility</p:attrName>
                                        </p:attrNameLst>
                                      </p:cBhvr>
                                      <p:to>
                                        <p:strVal val="visible"/>
                                      </p:to>
                                    </p:set>
                                  </p:childTnLst>
                                </p:cTn>
                              </p:par>
                            </p:childTnLst>
                          </p:cTn>
                        </p:par>
                        <p:par>
                          <p:cTn id="64" fill="hold" nodeType="afterGroup">
                            <p:stCondLst>
                              <p:cond delay="2500"/>
                            </p:stCondLst>
                            <p:childTnLst>
                              <p:par>
                                <p:cTn id="65" presetID="16" presetClass="entr" presetSubtype="37" fill="hold" grpId="0" nodeType="afterEffect">
                                  <p:stCondLst>
                                    <p:cond delay="0"/>
                                  </p:stCondLst>
                                  <p:childTnLst>
                                    <p:set>
                                      <p:cBhvr>
                                        <p:cTn id="66" dur="1" fill="hold">
                                          <p:stCondLst>
                                            <p:cond delay="0"/>
                                          </p:stCondLst>
                                        </p:cTn>
                                        <p:tgtEl>
                                          <p:spTgt spid="434223"/>
                                        </p:tgtEl>
                                        <p:attrNameLst>
                                          <p:attrName>style.visibility</p:attrName>
                                        </p:attrNameLst>
                                      </p:cBhvr>
                                      <p:to>
                                        <p:strVal val="visible"/>
                                      </p:to>
                                    </p:set>
                                    <p:animEffect transition="in" filter="barn(outVertical)">
                                      <p:cBhvr>
                                        <p:cTn id="67" dur="500"/>
                                        <p:tgtEl>
                                          <p:spTgt spid="43422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37" fill="hold" grpId="0" nodeType="clickEffect">
                                  <p:stCondLst>
                                    <p:cond delay="0"/>
                                  </p:stCondLst>
                                  <p:childTnLst>
                                    <p:set>
                                      <p:cBhvr>
                                        <p:cTn id="71" dur="1" fill="hold">
                                          <p:stCondLst>
                                            <p:cond delay="0"/>
                                          </p:stCondLst>
                                        </p:cTn>
                                        <p:tgtEl>
                                          <p:spTgt spid="434182"/>
                                        </p:tgtEl>
                                        <p:attrNameLst>
                                          <p:attrName>style.visibility</p:attrName>
                                        </p:attrNameLst>
                                      </p:cBhvr>
                                      <p:to>
                                        <p:strVal val="visible"/>
                                      </p:to>
                                    </p:set>
                                    <p:animEffect transition="in" filter="barn(outVertical)">
                                      <p:cBhvr>
                                        <p:cTn id="72" dur="500"/>
                                        <p:tgtEl>
                                          <p:spTgt spid="434182"/>
                                        </p:tgtEl>
                                      </p:cBhvr>
                                    </p:animEffect>
                                  </p:childTnLst>
                                </p:cTn>
                              </p:par>
                              <p:par>
                                <p:cTn id="73" presetID="1" presetClass="entr" presetSubtype="0" fill="hold" grpId="0" nodeType="withEffect">
                                  <p:stCondLst>
                                    <p:cond delay="0"/>
                                  </p:stCondLst>
                                  <p:childTnLst>
                                    <p:set>
                                      <p:cBhvr>
                                        <p:cTn id="74" dur="1" fill="hold">
                                          <p:stCondLst>
                                            <p:cond delay="499"/>
                                          </p:stCondLst>
                                        </p:cTn>
                                        <p:tgtEl>
                                          <p:spTgt spid="434187"/>
                                        </p:tgtEl>
                                        <p:attrNameLst>
                                          <p:attrName>style.visibility</p:attrName>
                                        </p:attrNameLst>
                                      </p:cBhvr>
                                      <p:to>
                                        <p:strVal val="visible"/>
                                      </p:to>
                                    </p:set>
                                  </p:childTnLst>
                                </p:cTn>
                              </p:par>
                            </p:childTnLst>
                          </p:cTn>
                        </p:par>
                        <p:par>
                          <p:cTn id="75" fill="hold" nodeType="afterGroup">
                            <p:stCondLst>
                              <p:cond delay="500"/>
                            </p:stCondLst>
                            <p:childTnLst>
                              <p:par>
                                <p:cTn id="76" presetID="22" presetClass="entr" presetSubtype="8" fill="hold" nodeType="after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wipe(left)">
                                      <p:cBhvr>
                                        <p:cTn id="78" dur="500"/>
                                        <p:tgtEl>
                                          <p:spTgt spid="2"/>
                                        </p:tgtEl>
                                      </p:cBhvr>
                                    </p:animEffect>
                                  </p:childTnLst>
                                </p:cTn>
                              </p:par>
                            </p:childTnLst>
                          </p:cTn>
                        </p:par>
                        <p:par>
                          <p:cTn id="79" fill="hold" nodeType="afterGroup">
                            <p:stCondLst>
                              <p:cond delay="1000"/>
                            </p:stCondLst>
                            <p:childTnLst>
                              <p:par>
                                <p:cTn id="80" presetID="1" presetClass="entr" presetSubtype="0" fill="hold" grpId="0" nodeType="afterEffect">
                                  <p:stCondLst>
                                    <p:cond delay="0"/>
                                  </p:stCondLst>
                                  <p:childTnLst>
                                    <p:set>
                                      <p:cBhvr>
                                        <p:cTn id="81" dur="1" fill="hold">
                                          <p:stCondLst>
                                            <p:cond delay="499"/>
                                          </p:stCondLst>
                                        </p:cTn>
                                        <p:tgtEl>
                                          <p:spTgt spid="434186"/>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xit" presetSubtype="0" fill="hold" nodeType="clickEffect">
                                  <p:stCondLst>
                                    <p:cond delay="0"/>
                                  </p:stCondLst>
                                  <p:childTnLst>
                                    <p:set>
                                      <p:cBhvr>
                                        <p:cTn id="85" dur="1" fill="hold">
                                          <p:stCondLst>
                                            <p:cond delay="0"/>
                                          </p:stCondLst>
                                        </p:cTn>
                                        <p:tgtEl>
                                          <p:spTgt spid="2"/>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499"/>
                                          </p:stCondLst>
                                        </p:cTn>
                                        <p:tgtEl>
                                          <p:spTgt spid="43427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37" fill="hold" grpId="0" nodeType="clickEffect">
                                  <p:stCondLst>
                                    <p:cond delay="0"/>
                                  </p:stCondLst>
                                  <p:childTnLst>
                                    <p:set>
                                      <p:cBhvr>
                                        <p:cTn id="91" dur="1" fill="hold">
                                          <p:stCondLst>
                                            <p:cond delay="0"/>
                                          </p:stCondLst>
                                        </p:cTn>
                                        <p:tgtEl>
                                          <p:spTgt spid="434185"/>
                                        </p:tgtEl>
                                        <p:attrNameLst>
                                          <p:attrName>style.visibility</p:attrName>
                                        </p:attrNameLst>
                                      </p:cBhvr>
                                      <p:to>
                                        <p:strVal val="visible"/>
                                      </p:to>
                                    </p:set>
                                    <p:animEffect transition="in" filter="barn(outVertical)">
                                      <p:cBhvr>
                                        <p:cTn id="92" dur="500"/>
                                        <p:tgtEl>
                                          <p:spTgt spid="434185"/>
                                        </p:tgtEl>
                                      </p:cBhvr>
                                    </p:animEffect>
                                  </p:childTnLst>
                                </p:cTn>
                              </p:par>
                              <p:par>
                                <p:cTn id="93" presetID="1" presetClass="entr" presetSubtype="0" fill="hold" grpId="0" nodeType="withEffect">
                                  <p:stCondLst>
                                    <p:cond delay="0"/>
                                  </p:stCondLst>
                                  <p:childTnLst>
                                    <p:set>
                                      <p:cBhvr>
                                        <p:cTn id="94" dur="1" fill="hold">
                                          <p:stCondLst>
                                            <p:cond delay="499"/>
                                          </p:stCondLst>
                                        </p:cTn>
                                        <p:tgtEl>
                                          <p:spTgt spid="434203"/>
                                        </p:tgtEl>
                                        <p:attrNameLst>
                                          <p:attrName>style.visibility</p:attrName>
                                        </p:attrNameLst>
                                      </p:cBhvr>
                                      <p:to>
                                        <p:strVal val="visible"/>
                                      </p:to>
                                    </p:set>
                                  </p:childTnLst>
                                </p:cTn>
                              </p:par>
                            </p:childTnLst>
                          </p:cTn>
                        </p:par>
                        <p:par>
                          <p:cTn id="95" fill="hold" nodeType="afterGroup">
                            <p:stCondLst>
                              <p:cond delay="500"/>
                            </p:stCondLst>
                            <p:childTnLst>
                              <p:par>
                                <p:cTn id="96" presetID="22" presetClass="entr" presetSubtype="8" fill="hold" nodeType="afterEffect">
                                  <p:stCondLst>
                                    <p:cond delay="0"/>
                                  </p:stCondLst>
                                  <p:childTnLst>
                                    <p:set>
                                      <p:cBhvr>
                                        <p:cTn id="97" dur="1" fill="hold">
                                          <p:stCondLst>
                                            <p:cond delay="0"/>
                                          </p:stCondLst>
                                        </p:cTn>
                                        <p:tgtEl>
                                          <p:spTgt spid="3"/>
                                        </p:tgtEl>
                                        <p:attrNameLst>
                                          <p:attrName>style.visibility</p:attrName>
                                        </p:attrNameLst>
                                      </p:cBhvr>
                                      <p:to>
                                        <p:strVal val="visible"/>
                                      </p:to>
                                    </p:set>
                                    <p:animEffect transition="in" filter="wipe(left)">
                                      <p:cBhvr>
                                        <p:cTn id="98" dur="500"/>
                                        <p:tgtEl>
                                          <p:spTgt spid="3"/>
                                        </p:tgtEl>
                                      </p:cBhvr>
                                    </p:animEffect>
                                  </p:childTnLst>
                                </p:cTn>
                              </p:par>
                            </p:childTnLst>
                          </p:cTn>
                        </p:par>
                        <p:par>
                          <p:cTn id="99" fill="hold" nodeType="afterGroup">
                            <p:stCondLst>
                              <p:cond delay="1000"/>
                            </p:stCondLst>
                            <p:childTnLst>
                              <p:par>
                                <p:cTn id="100" presetID="1" presetClass="entr" presetSubtype="0" fill="hold" grpId="0" nodeType="afterEffect">
                                  <p:stCondLst>
                                    <p:cond delay="0"/>
                                  </p:stCondLst>
                                  <p:childTnLst>
                                    <p:set>
                                      <p:cBhvr>
                                        <p:cTn id="101" dur="1" fill="hold">
                                          <p:stCondLst>
                                            <p:cond delay="499"/>
                                          </p:stCondLst>
                                        </p:cTn>
                                        <p:tgtEl>
                                          <p:spTgt spid="434202"/>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xit" presetSubtype="0" fill="hold" nodeType="clickEffect">
                                  <p:stCondLst>
                                    <p:cond delay="0"/>
                                  </p:stCondLst>
                                  <p:childTnLst>
                                    <p:set>
                                      <p:cBhvr>
                                        <p:cTn id="105" dur="1" fill="hold">
                                          <p:stCondLst>
                                            <p:cond delay="0"/>
                                          </p:stCondLst>
                                        </p:cTn>
                                        <p:tgtEl>
                                          <p:spTgt spid="3"/>
                                        </p:tgtEl>
                                        <p:attrNameLst>
                                          <p:attrName>style.visibility</p:attrName>
                                        </p:attrNameLst>
                                      </p:cBhvr>
                                      <p:to>
                                        <p:strVal val="hidden"/>
                                      </p:to>
                                    </p:set>
                                  </p:childTnLst>
                                </p:cTn>
                              </p:par>
                              <p:par>
                                <p:cTn id="106" presetID="1" presetClass="entr" presetSubtype="0" fill="hold" grpId="0" nodeType="withEffect">
                                  <p:stCondLst>
                                    <p:cond delay="0"/>
                                  </p:stCondLst>
                                  <p:childTnLst>
                                    <p:set>
                                      <p:cBhvr>
                                        <p:cTn id="107" dur="1" fill="hold">
                                          <p:stCondLst>
                                            <p:cond delay="499"/>
                                          </p:stCondLst>
                                        </p:cTn>
                                        <p:tgtEl>
                                          <p:spTgt spid="434271"/>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4" fill="hold" nodeType="clickEffect">
                                  <p:stCondLst>
                                    <p:cond delay="0"/>
                                  </p:stCondLst>
                                  <p:childTnLst>
                                    <p:set>
                                      <p:cBhvr>
                                        <p:cTn id="111" dur="1" fill="hold">
                                          <p:stCondLst>
                                            <p:cond delay="0"/>
                                          </p:stCondLst>
                                        </p:cTn>
                                        <p:tgtEl>
                                          <p:spTgt spid="434226"/>
                                        </p:tgtEl>
                                        <p:attrNameLst>
                                          <p:attrName>style.visibility</p:attrName>
                                        </p:attrNameLst>
                                      </p:cBhvr>
                                      <p:to>
                                        <p:strVal val="visible"/>
                                      </p:to>
                                    </p:set>
                                    <p:animEffect transition="in" filter="wipe(down)">
                                      <p:cBhvr>
                                        <p:cTn id="112" dur="500"/>
                                        <p:tgtEl>
                                          <p:spTgt spid="434226"/>
                                        </p:tgtEl>
                                      </p:cBhvr>
                                    </p:animEffect>
                                  </p:childTnLst>
                                </p:cTn>
                              </p:par>
                            </p:childTnLst>
                          </p:cTn>
                        </p:par>
                        <p:par>
                          <p:cTn id="113" fill="hold" nodeType="afterGroup">
                            <p:stCondLst>
                              <p:cond delay="500"/>
                            </p:stCondLst>
                            <p:childTnLst>
                              <p:par>
                                <p:cTn id="114" presetID="22" presetClass="entr" presetSubtype="8" fill="hold" nodeType="afterEffect">
                                  <p:stCondLst>
                                    <p:cond delay="0"/>
                                  </p:stCondLst>
                                  <p:childTnLst>
                                    <p:set>
                                      <p:cBhvr>
                                        <p:cTn id="115" dur="1" fill="hold">
                                          <p:stCondLst>
                                            <p:cond delay="0"/>
                                          </p:stCondLst>
                                        </p:cTn>
                                        <p:tgtEl>
                                          <p:spTgt spid="434227"/>
                                        </p:tgtEl>
                                        <p:attrNameLst>
                                          <p:attrName>style.visibility</p:attrName>
                                        </p:attrNameLst>
                                      </p:cBhvr>
                                      <p:to>
                                        <p:strVal val="visible"/>
                                      </p:to>
                                    </p:set>
                                    <p:animEffect transition="in" filter="wipe(left)">
                                      <p:cBhvr>
                                        <p:cTn id="116" dur="500"/>
                                        <p:tgtEl>
                                          <p:spTgt spid="434227"/>
                                        </p:tgtEl>
                                      </p:cBhvr>
                                    </p:animEffect>
                                  </p:childTnLst>
                                </p:cTn>
                              </p:par>
                            </p:childTnLst>
                          </p:cTn>
                        </p:par>
                        <p:par>
                          <p:cTn id="117" fill="hold" nodeType="afterGroup">
                            <p:stCondLst>
                              <p:cond delay="1000"/>
                            </p:stCondLst>
                            <p:childTnLst>
                              <p:par>
                                <p:cTn id="118" presetID="1" presetClass="entr" presetSubtype="0" fill="hold" grpId="0" nodeType="afterEffect">
                                  <p:stCondLst>
                                    <p:cond delay="0"/>
                                  </p:stCondLst>
                                  <p:childTnLst>
                                    <p:set>
                                      <p:cBhvr>
                                        <p:cTn id="119" dur="1" fill="hold">
                                          <p:stCondLst>
                                            <p:cond delay="0"/>
                                          </p:stCondLst>
                                        </p:cTn>
                                        <p:tgtEl>
                                          <p:spTgt spid="434224"/>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1" fill="hold" nodeType="clickEffect">
                                  <p:stCondLst>
                                    <p:cond delay="0"/>
                                  </p:stCondLst>
                                  <p:childTnLst>
                                    <p:set>
                                      <p:cBhvr>
                                        <p:cTn id="123" dur="1" fill="hold">
                                          <p:stCondLst>
                                            <p:cond delay="0"/>
                                          </p:stCondLst>
                                        </p:cTn>
                                        <p:tgtEl>
                                          <p:spTgt spid="434231"/>
                                        </p:tgtEl>
                                        <p:attrNameLst>
                                          <p:attrName>style.visibility</p:attrName>
                                        </p:attrNameLst>
                                      </p:cBhvr>
                                      <p:to>
                                        <p:strVal val="visible"/>
                                      </p:to>
                                    </p:set>
                                    <p:animEffect transition="in" filter="wipe(up)">
                                      <p:cBhvr>
                                        <p:cTn id="124" dur="500"/>
                                        <p:tgtEl>
                                          <p:spTgt spid="434231"/>
                                        </p:tgtEl>
                                      </p:cBhvr>
                                    </p:animEffect>
                                  </p:childTnLst>
                                </p:cTn>
                              </p:par>
                            </p:childTnLst>
                          </p:cTn>
                        </p:par>
                        <p:par>
                          <p:cTn id="125" fill="hold" nodeType="afterGroup">
                            <p:stCondLst>
                              <p:cond delay="500"/>
                            </p:stCondLst>
                            <p:childTnLst>
                              <p:par>
                                <p:cTn id="126" presetID="22" presetClass="entr" presetSubtype="2" fill="hold" nodeType="afterEffect">
                                  <p:stCondLst>
                                    <p:cond delay="0"/>
                                  </p:stCondLst>
                                  <p:childTnLst>
                                    <p:set>
                                      <p:cBhvr>
                                        <p:cTn id="127" dur="1" fill="hold">
                                          <p:stCondLst>
                                            <p:cond delay="0"/>
                                          </p:stCondLst>
                                        </p:cTn>
                                        <p:tgtEl>
                                          <p:spTgt spid="434230"/>
                                        </p:tgtEl>
                                        <p:attrNameLst>
                                          <p:attrName>style.visibility</p:attrName>
                                        </p:attrNameLst>
                                      </p:cBhvr>
                                      <p:to>
                                        <p:strVal val="visible"/>
                                      </p:to>
                                    </p:set>
                                    <p:animEffect transition="in" filter="wipe(right)">
                                      <p:cBhvr>
                                        <p:cTn id="128" dur="500"/>
                                        <p:tgtEl>
                                          <p:spTgt spid="434230"/>
                                        </p:tgtEl>
                                      </p:cBhvr>
                                    </p:animEffect>
                                  </p:childTnLst>
                                </p:cTn>
                              </p:par>
                            </p:childTnLst>
                          </p:cTn>
                        </p:par>
                        <p:par>
                          <p:cTn id="129" fill="hold" nodeType="afterGroup">
                            <p:stCondLst>
                              <p:cond delay="1000"/>
                            </p:stCondLst>
                            <p:childTnLst>
                              <p:par>
                                <p:cTn id="130" presetID="22" presetClass="entr" presetSubtype="4" fill="hold" nodeType="afterEffect">
                                  <p:stCondLst>
                                    <p:cond delay="0"/>
                                  </p:stCondLst>
                                  <p:childTnLst>
                                    <p:set>
                                      <p:cBhvr>
                                        <p:cTn id="131" dur="1" fill="hold">
                                          <p:stCondLst>
                                            <p:cond delay="0"/>
                                          </p:stCondLst>
                                        </p:cTn>
                                        <p:tgtEl>
                                          <p:spTgt spid="434232"/>
                                        </p:tgtEl>
                                        <p:attrNameLst>
                                          <p:attrName>style.visibility</p:attrName>
                                        </p:attrNameLst>
                                      </p:cBhvr>
                                      <p:to>
                                        <p:strVal val="visible"/>
                                      </p:to>
                                    </p:set>
                                    <p:animEffect transition="in" filter="wipe(down)">
                                      <p:cBhvr>
                                        <p:cTn id="132" dur="500"/>
                                        <p:tgtEl>
                                          <p:spTgt spid="434232"/>
                                        </p:tgtEl>
                                      </p:cBhvr>
                                    </p:animEffect>
                                  </p:childTnLst>
                                </p:cTn>
                              </p:par>
                            </p:childTnLst>
                          </p:cTn>
                        </p:par>
                        <p:par>
                          <p:cTn id="133" fill="hold" nodeType="afterGroup">
                            <p:stCondLst>
                              <p:cond delay="1500"/>
                            </p:stCondLst>
                            <p:childTnLst>
                              <p:par>
                                <p:cTn id="134" presetID="1" presetClass="entr" presetSubtype="0" fill="hold" grpId="0" nodeType="afterEffect">
                                  <p:stCondLst>
                                    <p:cond delay="0"/>
                                  </p:stCondLst>
                                  <p:childTnLst>
                                    <p:set>
                                      <p:cBhvr>
                                        <p:cTn id="135" dur="1" fill="hold">
                                          <p:stCondLst>
                                            <p:cond delay="0"/>
                                          </p:stCondLst>
                                        </p:cTn>
                                        <p:tgtEl>
                                          <p:spTgt spid="434233"/>
                                        </p:tgtEl>
                                        <p:attrNameLst>
                                          <p:attrName>style.visibility</p:attrName>
                                        </p:attrNameLst>
                                      </p:cBhvr>
                                      <p:to>
                                        <p:strVal val="visible"/>
                                      </p:to>
                                    </p:set>
                                  </p:childTnLst>
                                </p:cTn>
                              </p:par>
                            </p:childTnLst>
                          </p:cTn>
                        </p:par>
                        <p:par>
                          <p:cTn id="136" fill="hold" nodeType="afterGroup">
                            <p:stCondLst>
                              <p:cond delay="1500"/>
                            </p:stCondLst>
                            <p:childTnLst>
                              <p:par>
                                <p:cTn id="137" presetID="1" presetClass="exit" presetSubtype="0" fill="hold" grpId="1" nodeType="afterEffect">
                                  <p:stCondLst>
                                    <p:cond delay="0"/>
                                  </p:stCondLst>
                                  <p:childTnLst>
                                    <p:set>
                                      <p:cBhvr>
                                        <p:cTn id="138" dur="1" fill="hold">
                                          <p:stCondLst>
                                            <p:cond delay="0"/>
                                          </p:stCondLst>
                                        </p:cTn>
                                        <p:tgtEl>
                                          <p:spTgt spid="434246"/>
                                        </p:tgtEl>
                                        <p:attrNameLst>
                                          <p:attrName>style.visibility</p:attrName>
                                        </p:attrNameLst>
                                      </p:cBhvr>
                                      <p:to>
                                        <p:strVal val="hidden"/>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434229"/>
                                        </p:tgtEl>
                                        <p:attrNameLst>
                                          <p:attrName>style.visibility</p:attrName>
                                        </p:attrNameLst>
                                      </p:cBhvr>
                                      <p:to>
                                        <p:strVal val="visible"/>
                                      </p:to>
                                    </p:set>
                                    <p:animEffect transition="in" filter="wipe(left)">
                                      <p:cBhvr>
                                        <p:cTn id="143" dur="500"/>
                                        <p:tgtEl>
                                          <p:spTgt spid="434229"/>
                                        </p:tgtEl>
                                      </p:cBhvr>
                                    </p:animEffect>
                                  </p:childTnLst>
                                </p:cTn>
                              </p:par>
                            </p:childTnLst>
                          </p:cTn>
                        </p:par>
                        <p:par>
                          <p:cTn id="144" fill="hold" nodeType="afterGroup">
                            <p:stCondLst>
                              <p:cond delay="500"/>
                            </p:stCondLst>
                            <p:childTnLst>
                              <p:par>
                                <p:cTn id="145" presetID="22" presetClass="entr" presetSubtype="2" fill="hold" nodeType="afterEffect">
                                  <p:stCondLst>
                                    <p:cond delay="0"/>
                                  </p:stCondLst>
                                  <p:childTnLst>
                                    <p:set>
                                      <p:cBhvr>
                                        <p:cTn id="146" dur="1" fill="hold">
                                          <p:stCondLst>
                                            <p:cond delay="0"/>
                                          </p:stCondLst>
                                        </p:cTn>
                                        <p:tgtEl>
                                          <p:spTgt spid="434250"/>
                                        </p:tgtEl>
                                        <p:attrNameLst>
                                          <p:attrName>style.visibility</p:attrName>
                                        </p:attrNameLst>
                                      </p:cBhvr>
                                      <p:to>
                                        <p:strVal val="visible"/>
                                      </p:to>
                                    </p:set>
                                    <p:animEffect transition="in" filter="wipe(right)">
                                      <p:cBhvr>
                                        <p:cTn id="147" dur="500"/>
                                        <p:tgtEl>
                                          <p:spTgt spid="434250"/>
                                        </p:tgtEl>
                                      </p:cBhvr>
                                    </p:animEffect>
                                  </p:childTnLst>
                                </p:cTn>
                              </p:par>
                            </p:childTnLst>
                          </p:cTn>
                        </p:par>
                        <p:par>
                          <p:cTn id="148" fill="hold" nodeType="afterGroup">
                            <p:stCondLst>
                              <p:cond delay="1000"/>
                            </p:stCondLst>
                            <p:childTnLst>
                              <p:par>
                                <p:cTn id="149" presetID="22" presetClass="entr" presetSubtype="1" fill="hold" nodeType="afterEffect">
                                  <p:stCondLst>
                                    <p:cond delay="0"/>
                                  </p:stCondLst>
                                  <p:childTnLst>
                                    <p:set>
                                      <p:cBhvr>
                                        <p:cTn id="150" dur="1" fill="hold">
                                          <p:stCondLst>
                                            <p:cond delay="0"/>
                                          </p:stCondLst>
                                        </p:cTn>
                                        <p:tgtEl>
                                          <p:spTgt spid="434228"/>
                                        </p:tgtEl>
                                        <p:attrNameLst>
                                          <p:attrName>style.visibility</p:attrName>
                                        </p:attrNameLst>
                                      </p:cBhvr>
                                      <p:to>
                                        <p:strVal val="visible"/>
                                      </p:to>
                                    </p:set>
                                    <p:animEffect transition="in" filter="wipe(up)">
                                      <p:cBhvr>
                                        <p:cTn id="151" dur="500"/>
                                        <p:tgtEl>
                                          <p:spTgt spid="434228"/>
                                        </p:tgtEl>
                                      </p:cBhvr>
                                    </p:animEffect>
                                  </p:childTnLst>
                                </p:cTn>
                              </p:par>
                            </p:childTnLst>
                          </p:cTn>
                        </p:par>
                        <p:par>
                          <p:cTn id="152" fill="hold" nodeType="afterGroup">
                            <p:stCondLst>
                              <p:cond delay="1500"/>
                            </p:stCondLst>
                            <p:childTnLst>
                              <p:par>
                                <p:cTn id="153" presetID="1" presetClass="entr" presetSubtype="0" fill="hold" grpId="0" nodeType="afterEffect">
                                  <p:stCondLst>
                                    <p:cond delay="0"/>
                                  </p:stCondLst>
                                  <p:childTnLst>
                                    <p:set>
                                      <p:cBhvr>
                                        <p:cTn id="154" dur="1" fill="hold">
                                          <p:stCondLst>
                                            <p:cond delay="0"/>
                                          </p:stCondLst>
                                        </p:cTn>
                                        <p:tgtEl>
                                          <p:spTgt spid="434222"/>
                                        </p:tgtEl>
                                        <p:attrNameLst>
                                          <p:attrName>style.visibility</p:attrName>
                                        </p:attrNameLst>
                                      </p:cBhvr>
                                      <p:to>
                                        <p:strVal val="visible"/>
                                      </p:to>
                                    </p:set>
                                  </p:childTnLst>
                                </p:cTn>
                              </p:par>
                            </p:childTnLst>
                          </p:cTn>
                        </p:par>
                        <p:par>
                          <p:cTn id="155" fill="hold" nodeType="afterGroup">
                            <p:stCondLst>
                              <p:cond delay="1500"/>
                            </p:stCondLst>
                            <p:childTnLst>
                              <p:par>
                                <p:cTn id="156" presetID="1" presetClass="exit" presetSubtype="0" fill="hold" grpId="1" nodeType="afterEffect">
                                  <p:stCondLst>
                                    <p:cond delay="0"/>
                                  </p:stCondLst>
                                  <p:childTnLst>
                                    <p:set>
                                      <p:cBhvr>
                                        <p:cTn id="157" dur="1" fill="hold">
                                          <p:stCondLst>
                                            <p:cond delay="0"/>
                                          </p:stCondLst>
                                        </p:cTn>
                                        <p:tgtEl>
                                          <p:spTgt spid="434249"/>
                                        </p:tgtEl>
                                        <p:attrNameLst>
                                          <p:attrName>style.visibility</p:attrName>
                                        </p:attrNameLst>
                                      </p:cBhvr>
                                      <p:to>
                                        <p:strVal val="hidden"/>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37" fill="hold" nodeType="clickEffect">
                                  <p:stCondLst>
                                    <p:cond delay="0"/>
                                  </p:stCondLst>
                                  <p:childTnLst>
                                    <p:set>
                                      <p:cBhvr>
                                        <p:cTn id="161" dur="1" fill="hold">
                                          <p:stCondLst>
                                            <p:cond delay="0"/>
                                          </p:stCondLst>
                                        </p:cTn>
                                        <p:tgtEl>
                                          <p:spTgt spid="4"/>
                                        </p:tgtEl>
                                        <p:attrNameLst>
                                          <p:attrName>style.visibility</p:attrName>
                                        </p:attrNameLst>
                                      </p:cBhvr>
                                      <p:to>
                                        <p:strVal val="visible"/>
                                      </p:to>
                                    </p:set>
                                    <p:animEffect transition="in" filter="barn(outVertical)">
                                      <p:cBhvr>
                                        <p:cTn id="162" dur="500"/>
                                        <p:tgtEl>
                                          <p:spTgt spid="4"/>
                                        </p:tgtEl>
                                      </p:cBhvr>
                                    </p:animEffect>
                                  </p:childTnLst>
                                </p:cTn>
                              </p:par>
                            </p:childTnLst>
                          </p:cTn>
                        </p:par>
                        <p:par>
                          <p:cTn id="163" fill="hold" nodeType="afterGroup">
                            <p:stCondLst>
                              <p:cond delay="500"/>
                            </p:stCondLst>
                            <p:childTnLst>
                              <p:par>
                                <p:cTn id="164" presetID="9" presetClass="entr" presetSubtype="0" fill="hold" nodeType="afterEffect">
                                  <p:stCondLst>
                                    <p:cond delay="0"/>
                                  </p:stCondLst>
                                  <p:childTnLst>
                                    <p:set>
                                      <p:cBhvr>
                                        <p:cTn id="165" dur="1" fill="hold">
                                          <p:stCondLst>
                                            <p:cond delay="0"/>
                                          </p:stCondLst>
                                        </p:cTn>
                                        <p:tgtEl>
                                          <p:spTgt spid="6"/>
                                        </p:tgtEl>
                                        <p:attrNameLst>
                                          <p:attrName>style.visibility</p:attrName>
                                        </p:attrNameLst>
                                      </p:cBhvr>
                                      <p:to>
                                        <p:strVal val="visible"/>
                                      </p:to>
                                    </p:set>
                                    <p:animEffect transition="in" filter="dissolve">
                                      <p:cBhvr>
                                        <p:cTn id="166" dur="500"/>
                                        <p:tgtEl>
                                          <p:spTgt spid="6"/>
                                        </p:tgtEl>
                                      </p:cBhvr>
                                    </p:animEffect>
                                  </p:childTnLst>
                                  <p:subTnLst>
                                    <p:audio>
                                      <p:cMediaNode>
                                        <p:cTn display="0" masterRel="sameClick">
                                          <p:stCondLst>
                                            <p:cond evt="begin" delay="0">
                                              <p:tn val="164"/>
                                            </p:cond>
                                          </p:stCondLst>
                                          <p:endCondLst>
                                            <p:cond evt="onStopAudio" delay="0">
                                              <p:tgtEl>
                                                <p:sldTgt/>
                                              </p:tgtEl>
                                            </p:cond>
                                          </p:endCondLst>
                                        </p:cTn>
                                        <p:tgtEl>
                                          <p:sndTgt r:embed="rId2" name="DING.WAV"/>
                                        </p:tgtEl>
                                      </p:cMediaNode>
                                    </p:audio>
                                  </p:subTnLst>
                                </p:cTn>
                              </p:par>
                            </p:childTnLst>
                          </p:cTn>
                        </p:par>
                      </p:childTnLst>
                    </p:cTn>
                  </p:par>
                  <p:par>
                    <p:cTn id="167" fill="hold" nodeType="clickPar">
                      <p:stCondLst>
                        <p:cond delay="indefinite"/>
                      </p:stCondLst>
                      <p:childTnLst>
                        <p:par>
                          <p:cTn id="168" fill="hold" nodeType="withGroup">
                            <p:stCondLst>
                              <p:cond delay="0"/>
                            </p:stCondLst>
                            <p:childTnLst>
                              <p:par>
                                <p:cTn id="169" presetID="16" presetClass="entr" presetSubtype="37" fill="hold" nodeType="clickEffect">
                                  <p:stCondLst>
                                    <p:cond delay="0"/>
                                  </p:stCondLst>
                                  <p:childTnLst>
                                    <p:set>
                                      <p:cBhvr>
                                        <p:cTn id="170" dur="1" fill="hold">
                                          <p:stCondLst>
                                            <p:cond delay="0"/>
                                          </p:stCondLst>
                                        </p:cTn>
                                        <p:tgtEl>
                                          <p:spTgt spid="5"/>
                                        </p:tgtEl>
                                        <p:attrNameLst>
                                          <p:attrName>style.visibility</p:attrName>
                                        </p:attrNameLst>
                                      </p:cBhvr>
                                      <p:to>
                                        <p:strVal val="visible"/>
                                      </p:to>
                                    </p:set>
                                    <p:animEffect transition="in" filter="barn(outVertical)">
                                      <p:cBhvr>
                                        <p:cTn id="171" dur="500"/>
                                        <p:tgtEl>
                                          <p:spTgt spid="5"/>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53" presetClass="entr" presetSubtype="0" fill="hold" grpId="0" nodeType="clickEffect">
                                  <p:stCondLst>
                                    <p:cond delay="0"/>
                                  </p:stCondLst>
                                  <p:childTnLst>
                                    <p:set>
                                      <p:cBhvr>
                                        <p:cTn id="175" dur="1" fill="hold">
                                          <p:stCondLst>
                                            <p:cond delay="0"/>
                                          </p:stCondLst>
                                        </p:cTn>
                                        <p:tgtEl>
                                          <p:spTgt spid="434275"/>
                                        </p:tgtEl>
                                        <p:attrNameLst>
                                          <p:attrName>style.visibility</p:attrName>
                                        </p:attrNameLst>
                                      </p:cBhvr>
                                      <p:to>
                                        <p:strVal val="visible"/>
                                      </p:to>
                                    </p:set>
                                    <p:anim calcmode="lin" valueType="num">
                                      <p:cBhvr>
                                        <p:cTn id="176" dur="500" fill="hold"/>
                                        <p:tgtEl>
                                          <p:spTgt spid="434275"/>
                                        </p:tgtEl>
                                        <p:attrNameLst>
                                          <p:attrName>ppt_w</p:attrName>
                                        </p:attrNameLst>
                                      </p:cBhvr>
                                      <p:tavLst>
                                        <p:tav tm="0">
                                          <p:val>
                                            <p:fltVal val="0"/>
                                          </p:val>
                                        </p:tav>
                                        <p:tav tm="100000">
                                          <p:val>
                                            <p:strVal val="#ppt_w"/>
                                          </p:val>
                                        </p:tav>
                                      </p:tavLst>
                                    </p:anim>
                                    <p:anim calcmode="lin" valueType="num">
                                      <p:cBhvr>
                                        <p:cTn id="177" dur="500" fill="hold"/>
                                        <p:tgtEl>
                                          <p:spTgt spid="434275"/>
                                        </p:tgtEl>
                                        <p:attrNameLst>
                                          <p:attrName>ppt_h</p:attrName>
                                        </p:attrNameLst>
                                      </p:cBhvr>
                                      <p:tavLst>
                                        <p:tav tm="0">
                                          <p:val>
                                            <p:fltVal val="0"/>
                                          </p:val>
                                        </p:tav>
                                        <p:tav tm="100000">
                                          <p:val>
                                            <p:strVal val="#ppt_h"/>
                                          </p:val>
                                        </p:tav>
                                      </p:tavLst>
                                    </p:anim>
                                    <p:animEffect transition="in" filter="fade">
                                      <p:cBhvr>
                                        <p:cTn id="178" dur="500"/>
                                        <p:tgtEl>
                                          <p:spTgt spid="43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2" grpId="0" animBg="1" autoUpdateAnimBg="0"/>
      <p:bldP spid="434183" grpId="0" animBg="1" autoUpdateAnimBg="0"/>
      <p:bldP spid="434184" grpId="0" animBg="1" autoUpdateAnimBg="0"/>
      <p:bldP spid="434185" grpId="0" animBg="1" autoUpdateAnimBg="0"/>
      <p:bldP spid="434186" grpId="0" autoUpdateAnimBg="0"/>
      <p:bldP spid="434187" grpId="0" autoUpdateAnimBg="0"/>
      <p:bldP spid="434192" grpId="0" animBg="1" autoUpdateAnimBg="0"/>
      <p:bldP spid="434193" grpId="0" animBg="1" autoUpdateAnimBg="0"/>
      <p:bldP spid="434202" grpId="0" autoUpdateAnimBg="0"/>
      <p:bldP spid="434203" grpId="0" autoUpdateAnimBg="0"/>
      <p:bldP spid="434216" grpId="0" autoUpdateAnimBg="0"/>
      <p:bldP spid="434217" grpId="0" autoUpdateAnimBg="0"/>
      <p:bldP spid="434223" grpId="0" animBg="1" autoUpdateAnimBg="0"/>
      <p:bldP spid="434224" grpId="0"/>
      <p:bldP spid="434225" grpId="0" autoUpdateAnimBg="0"/>
      <p:bldP spid="434244" grpId="0" animBg="1" autoUpdateAnimBg="0"/>
      <p:bldP spid="434245" grpId="0" animBg="1" autoUpdateAnimBg="0"/>
      <p:bldP spid="434246" grpId="0" autoUpdateAnimBg="0"/>
      <p:bldP spid="434246" grpId="1"/>
      <p:bldP spid="434247" grpId="0" autoUpdateAnimBg="0"/>
      <p:bldP spid="434248" grpId="0" autoUpdateAnimBg="0"/>
      <p:bldP spid="434249" grpId="0" autoUpdateAnimBg="0"/>
      <p:bldP spid="434249" grpId="1"/>
      <p:bldP spid="434233" grpId="0"/>
      <p:bldP spid="434222" grpId="0"/>
      <p:bldP spid="434268" grpId="0" animBg="1"/>
      <p:bldP spid="434269" grpId="0" animBg="1"/>
      <p:bldP spid="434270" grpId="0" autoUpdateAnimBg="0"/>
      <p:bldP spid="434271" grpId="0" autoUpdateAnimBg="0"/>
      <p:bldP spid="43427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7" name="Rectangle 5"/>
          <p:cNvSpPr>
            <a:spLocks noChangeArrowheads="1"/>
          </p:cNvSpPr>
          <p:nvPr/>
        </p:nvSpPr>
        <p:spPr bwMode="auto">
          <a:xfrm>
            <a:off x="5062538" y="1268413"/>
            <a:ext cx="3994150" cy="2530475"/>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void</a:t>
            </a:r>
            <a:r>
              <a:rPr kumimoji="1" lang="en-US" altLang="zh-CN" sz="2000" b="1">
                <a:effectLst>
                  <a:outerShdw blurRad="38100" dist="38100" dir="2700000" algn="tl">
                    <a:srgbClr val="C0C0C0"/>
                  </a:outerShdw>
                </a:effectLst>
                <a:latin typeface="Courier New" pitchFamily="49" charset="0"/>
                <a:ea typeface="宋体" pitchFamily="2" charset="-122"/>
              </a:rPr>
              <a:t> Swap(</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solidFill>
                  <a:schemeClr val="tx2"/>
                </a:solidFill>
                <a:effectLst>
                  <a:outerShdw blurRad="38100" dist="38100" dir="2700000" algn="tl">
                    <a:srgbClr val="C0C0C0"/>
                  </a:outerShdw>
                </a:effectLst>
                <a:latin typeface="Courier New" pitchFamily="49" charset="0"/>
                <a:ea typeface="宋体" pitchFamily="2" charset="-122"/>
              </a:rPr>
              <a:t> *x, </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solidFill>
                  <a:schemeClr val="tx2"/>
                </a:solidFill>
                <a:effectLst>
                  <a:outerShdw blurRad="38100" dist="38100" dir="2700000" algn="tl">
                    <a:srgbClr val="C0C0C0"/>
                  </a:outerShdw>
                </a:effectLst>
                <a:latin typeface="Courier New" pitchFamily="49" charset="0"/>
                <a:ea typeface="宋体" pitchFamily="2" charset="-122"/>
              </a:rPr>
              <a:t> *y</a:t>
            </a:r>
            <a:r>
              <a:rPr kumimoji="1" lang="en-US" altLang="zh-CN" sz="2000" b="1">
                <a:effectLst>
                  <a:outerShdw blurRad="38100" dist="38100" dir="2700000" algn="tl">
                    <a:srgbClr val="C0C0C0"/>
                  </a:outerShdw>
                </a:effectLst>
                <a:latin typeface="Courier New" pitchFamily="49" charset="0"/>
                <a:ea typeface="宋体" pitchFamily="2" charset="-122"/>
              </a:rPr>
              <a:t>)</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effectLst>
                  <a:outerShdw blurRad="38100" dist="38100" dir="2700000" algn="tl">
                    <a:srgbClr val="C0C0C0"/>
                  </a:outerShdw>
                </a:effectLst>
                <a:latin typeface="Courier New" pitchFamily="49" charset="0"/>
                <a:ea typeface="宋体" pitchFamily="2" charset="-122"/>
              </a:rPr>
              <a:t> temp;</a:t>
            </a:r>
          </a:p>
          <a:p>
            <a:pPr eaLnBrk="1" hangingPunct="1">
              <a:defRPr/>
            </a:pPr>
            <a:endParaRPr kumimoji="1" lang="en-US" altLang="zh-CN" sz="2000" b="1">
              <a:effectLst>
                <a:outerShdw blurRad="38100" dist="38100" dir="2700000" algn="tl">
                  <a:srgbClr val="C0C0C0"/>
                </a:outerShdw>
              </a:effectLst>
              <a:latin typeface="Courier New" pitchFamily="49" charset="0"/>
              <a:ea typeface="宋体" pitchFamily="2" charset="-122"/>
            </a:endParaRP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temp = *x;</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*x = *y;</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*y = temp;</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a:t>
            </a:r>
          </a:p>
        </p:txBody>
      </p:sp>
      <p:sp>
        <p:nvSpPr>
          <p:cNvPr id="663564" name="Line 12"/>
          <p:cNvSpPr>
            <a:spLocks noChangeShapeType="1"/>
          </p:cNvSpPr>
          <p:nvPr/>
        </p:nvSpPr>
        <p:spPr bwMode="auto">
          <a:xfrm>
            <a:off x="4859338" y="1196975"/>
            <a:ext cx="0" cy="5659438"/>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663565" name="Line 13"/>
          <p:cNvSpPr>
            <a:spLocks noChangeShapeType="1"/>
          </p:cNvSpPr>
          <p:nvPr/>
        </p:nvSpPr>
        <p:spPr bwMode="auto">
          <a:xfrm>
            <a:off x="0" y="1247775"/>
            <a:ext cx="9144000" cy="0"/>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663615" name="Rectangle 63"/>
          <p:cNvSpPr>
            <a:spLocks noChangeArrowheads="1"/>
          </p:cNvSpPr>
          <p:nvPr/>
        </p:nvSpPr>
        <p:spPr bwMode="auto">
          <a:xfrm>
            <a:off x="611188" y="4724400"/>
            <a:ext cx="3960812" cy="1295400"/>
          </a:xfrm>
          <a:prstGeom prst="rect">
            <a:avLst/>
          </a:prstGeom>
          <a:solidFill>
            <a:srgbClr val="FFFF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b="1">
                <a:solidFill>
                  <a:srgbClr val="000066"/>
                </a:solidFill>
                <a:effectLst/>
                <a:latin typeface="Courier New" pitchFamily="49" charset="0"/>
                <a:ea typeface="宋体" pitchFamily="2" charset="-122"/>
              </a:rPr>
              <a:t>指针</a:t>
            </a:r>
            <a:r>
              <a:rPr lang="en-US" altLang="zh-CN" b="1">
                <a:solidFill>
                  <a:srgbClr val="000066"/>
                </a:solidFill>
                <a:effectLst/>
                <a:latin typeface="Courier New" pitchFamily="49" charset="0"/>
                <a:ea typeface="宋体" pitchFamily="2" charset="-122"/>
              </a:rPr>
              <a:t>pTemp</a:t>
            </a:r>
            <a:r>
              <a:rPr lang="zh-CN" altLang="en-US" b="1">
                <a:solidFill>
                  <a:srgbClr val="000066"/>
                </a:solidFill>
                <a:effectLst/>
                <a:latin typeface="Courier New" pitchFamily="49" charset="0"/>
                <a:ea typeface="宋体" pitchFamily="2" charset="-122"/>
              </a:rPr>
              <a:t>未初始化</a:t>
            </a:r>
          </a:p>
          <a:p>
            <a:pPr algn="ctr"/>
            <a:r>
              <a:rPr lang="zh-CN" altLang="en-US" b="1">
                <a:solidFill>
                  <a:srgbClr val="000066"/>
                </a:solidFill>
                <a:effectLst/>
                <a:latin typeface="Courier New" pitchFamily="49" charset="0"/>
                <a:ea typeface="宋体" pitchFamily="2" charset="-122"/>
              </a:rPr>
              <a:t>指针</a:t>
            </a:r>
            <a:r>
              <a:rPr lang="en-US" altLang="zh-CN" b="1">
                <a:solidFill>
                  <a:srgbClr val="000066"/>
                </a:solidFill>
                <a:effectLst/>
                <a:latin typeface="Courier New" pitchFamily="49" charset="0"/>
                <a:ea typeface="宋体" pitchFamily="2" charset="-122"/>
              </a:rPr>
              <a:t>pTemp</a:t>
            </a:r>
            <a:r>
              <a:rPr lang="zh-CN" altLang="en-US" b="1">
                <a:solidFill>
                  <a:srgbClr val="000066"/>
                </a:solidFill>
                <a:effectLst/>
                <a:latin typeface="Courier New" pitchFamily="49" charset="0"/>
                <a:ea typeface="宋体" pitchFamily="2" charset="-122"/>
              </a:rPr>
              <a:t>指向哪里未知</a:t>
            </a:r>
          </a:p>
          <a:p>
            <a:pPr algn="ctr"/>
            <a:r>
              <a:rPr lang="zh-CN" altLang="en-US" b="1">
                <a:solidFill>
                  <a:srgbClr val="000066"/>
                </a:solidFill>
                <a:effectLst/>
                <a:latin typeface="Courier New" pitchFamily="49" charset="0"/>
                <a:ea typeface="宋体" pitchFamily="2" charset="-122"/>
              </a:rPr>
              <a:t>对未知单元写操作是危险的</a:t>
            </a:r>
          </a:p>
        </p:txBody>
      </p:sp>
      <p:pic>
        <p:nvPicPr>
          <p:cNvPr id="2055" name="Picture 64" descr="J0234687"/>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86675" y="406400"/>
            <a:ext cx="12287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3617" name="Rectangle 65"/>
          <p:cNvSpPr>
            <a:spLocks noChangeArrowheads="1"/>
          </p:cNvSpPr>
          <p:nvPr/>
        </p:nvSpPr>
        <p:spPr bwMode="auto">
          <a:xfrm>
            <a:off x="395288" y="1268413"/>
            <a:ext cx="4533900" cy="3168650"/>
          </a:xfrm>
          <a:prstGeom prst="rect">
            <a:avLst/>
          </a:prstGeom>
          <a:noFill/>
          <a:ln w="9525">
            <a:noFill/>
            <a:miter lim="800000"/>
            <a:headEnd/>
            <a:tailEnd/>
          </a:ln>
          <a:effectLst/>
        </p:spPr>
        <p:txBody>
          <a:bodyPr lIns="92075" tIns="46037" rIns="92075" bIns="46037"/>
          <a:lstStyle/>
          <a:p>
            <a:pPr marL="342900" indent="-342900" algn="just" eaLnBrk="1">
              <a:lnSpc>
                <a:spcPct val="95000"/>
              </a:lnSpc>
              <a:spcBef>
                <a:spcPct val="20000"/>
              </a:spcBef>
              <a:buClr>
                <a:srgbClr val="FFCC66"/>
              </a:buClr>
              <a:buSzPct val="80000"/>
              <a:buFont typeface="Monotype Sorts" charset="2"/>
              <a:buNone/>
              <a:defRPr/>
            </a:pP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void</a:t>
            </a:r>
            <a:r>
              <a:rPr lang="en-US" altLang="zh-CN" sz="2000" b="1">
                <a:effectLst>
                  <a:outerShdw blurRad="38100" dist="38100" dir="2700000" algn="tl">
                    <a:srgbClr val="C0C0C0"/>
                  </a:outerShdw>
                </a:effectLst>
                <a:latin typeface="Courier New" pitchFamily="49" charset="0"/>
                <a:ea typeface="宋体" pitchFamily="2" charset="-122"/>
              </a:rPr>
              <a:t> Swap(</a:t>
            </a: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lang="en-US" altLang="zh-CN" sz="2000" b="1">
                <a:effectLst>
                  <a:outerShdw blurRad="38100" dist="38100" dir="2700000" algn="tl">
                    <a:srgbClr val="C0C0C0"/>
                  </a:outerShdw>
                </a:effectLst>
                <a:latin typeface="Courier New" pitchFamily="49" charset="0"/>
                <a:ea typeface="宋体" pitchFamily="2" charset="-122"/>
              </a:rPr>
              <a:t> *x, </a:t>
            </a: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 </a:t>
            </a:r>
            <a:r>
              <a:rPr lang="en-US" altLang="zh-CN" sz="2000" b="1">
                <a:effectLst>
                  <a:outerShdw blurRad="38100" dist="38100" dir="2700000" algn="tl">
                    <a:srgbClr val="C0C0C0"/>
                  </a:outerShdw>
                </a:effectLst>
                <a:latin typeface="Courier New" pitchFamily="49" charset="0"/>
                <a:ea typeface="宋体" pitchFamily="2" charset="-122"/>
              </a:rPr>
              <a:t>*y)</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lang="en-US" altLang="zh-CN" sz="2000" b="1">
                <a:effectLst>
                  <a:outerShdw blurRad="38100" dist="38100" dir="2700000" algn="tl">
                    <a:srgbClr val="C0C0C0"/>
                  </a:outerShdw>
                </a:effectLst>
                <a:latin typeface="Courier New" pitchFamily="49" charset="0"/>
                <a:ea typeface="宋体" pitchFamily="2" charset="-122"/>
              </a:rPr>
              <a:t> </a:t>
            </a:r>
            <a:r>
              <a:rPr lang="en-US" altLang="zh-CN" sz="2000" b="1">
                <a:solidFill>
                  <a:srgbClr val="000066"/>
                </a:solidFill>
                <a:effectLst>
                  <a:outerShdw blurRad="38100" dist="38100" dir="2700000" algn="tl">
                    <a:srgbClr val="C0C0C0"/>
                  </a:outerShdw>
                </a:effectLst>
                <a:latin typeface="Courier New" pitchFamily="49" charset="0"/>
                <a:ea typeface="宋体" pitchFamily="2" charset="-122"/>
              </a:rPr>
              <a:t>*pTemp</a:t>
            </a:r>
            <a:r>
              <a:rPr lang="en-US" altLang="zh-CN" sz="2000" b="1">
                <a:effectLst>
                  <a:outerShdw blurRad="38100" dist="38100" dir="2700000" algn="tl">
                    <a:srgbClr val="C0C0C0"/>
                  </a:outerShdw>
                </a:effectLst>
                <a:latin typeface="Courier New" pitchFamily="49" charset="0"/>
                <a:ea typeface="宋体" pitchFamily="2" charset="-122"/>
              </a:rPr>
              <a:t>; </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r>
              <a:rPr lang="en-US" altLang="zh-CN" sz="2000" b="1">
                <a:solidFill>
                  <a:srgbClr val="000066"/>
                </a:solidFill>
                <a:effectLst>
                  <a:outerShdw blurRad="38100" dist="38100" dir="2700000" algn="tl">
                    <a:srgbClr val="C0C0C0"/>
                  </a:outerShdw>
                </a:effectLst>
                <a:latin typeface="Courier New" pitchFamily="49" charset="0"/>
                <a:ea typeface="宋体" pitchFamily="2" charset="-122"/>
              </a:rPr>
              <a:t>*pTemp</a:t>
            </a:r>
            <a:r>
              <a:rPr lang="en-US" altLang="zh-CN" sz="2000" b="1">
                <a:effectLst>
                  <a:outerShdw blurRad="38100" dist="38100" dir="2700000" algn="tl">
                    <a:srgbClr val="C0C0C0"/>
                  </a:outerShdw>
                </a:effectLst>
                <a:latin typeface="Courier New" pitchFamily="49" charset="0"/>
                <a:ea typeface="宋体" pitchFamily="2" charset="-122"/>
              </a:rPr>
              <a:t> = *x;</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*x = *y;</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*y = </a:t>
            </a:r>
            <a:r>
              <a:rPr lang="en-US" altLang="zh-CN" sz="2000" b="1">
                <a:solidFill>
                  <a:srgbClr val="000066"/>
                </a:solidFill>
                <a:effectLst>
                  <a:outerShdw blurRad="38100" dist="38100" dir="2700000" algn="tl">
                    <a:srgbClr val="C0C0C0"/>
                  </a:outerShdw>
                </a:effectLst>
                <a:latin typeface="Courier New" pitchFamily="49" charset="0"/>
                <a:ea typeface="宋体" pitchFamily="2" charset="-122"/>
              </a:rPr>
              <a:t>*pTemp</a:t>
            </a:r>
            <a:r>
              <a:rPr lang="en-US" altLang="zh-CN" sz="2000" b="1">
                <a:effectLst>
                  <a:outerShdw blurRad="38100" dist="38100" dir="2700000" algn="tl">
                    <a:srgbClr val="C0C0C0"/>
                  </a:outerShdw>
                </a:effectLst>
                <a:latin typeface="Courier New" pitchFamily="49" charset="0"/>
                <a:ea typeface="宋体" pitchFamily="2" charset="-122"/>
              </a:rPr>
              <a:t>;</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p>
        </p:txBody>
      </p:sp>
      <p:sp>
        <p:nvSpPr>
          <p:cNvPr id="663618" name="Rectangle 66"/>
          <p:cNvSpPr>
            <a:spLocks noChangeArrowheads="1"/>
          </p:cNvSpPr>
          <p:nvPr/>
        </p:nvSpPr>
        <p:spPr bwMode="auto">
          <a:xfrm>
            <a:off x="1676400" y="1960563"/>
            <a:ext cx="1008063"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63619" name="Rectangle 67"/>
          <p:cNvSpPr>
            <a:spLocks noChangeArrowheads="1"/>
          </p:cNvSpPr>
          <p:nvPr/>
        </p:nvSpPr>
        <p:spPr bwMode="auto">
          <a:xfrm>
            <a:off x="1087438" y="2636838"/>
            <a:ext cx="1008062"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pic>
        <p:nvPicPr>
          <p:cNvPr id="2059" name="ImgPreview" descr="文件名: j0289944.wmf&#10;关键字: females, key to success, keys ...&#10;文件大小: 48 K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5203825"/>
            <a:ext cx="143986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0" name="ImgPreview" descr="文件名: PE02408_.wmf&#10;关键字: buildings, 人物, 任务 ...&#10;文件大小: 5 K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388" y="5133975"/>
            <a:ext cx="1223962"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0" name="Object 70"/>
          <p:cNvGraphicFramePr>
            <a:graphicFrameLocks/>
          </p:cNvGraphicFramePr>
          <p:nvPr/>
        </p:nvGraphicFramePr>
        <p:xfrm>
          <a:off x="3922713" y="3068638"/>
          <a:ext cx="720725" cy="990600"/>
        </p:xfrm>
        <a:graphic>
          <a:graphicData uri="http://schemas.openxmlformats.org/presentationml/2006/ole">
            <mc:AlternateContent xmlns:mc="http://schemas.openxmlformats.org/markup-compatibility/2006">
              <mc:Choice xmlns:v="urn:schemas-microsoft-com:vml" Requires="v">
                <p:oleObj name="Clip" r:id="rId5" imgW="2193938" imgH="3658765" progId="MS_ClipArt_Gallery.2">
                  <p:embed/>
                </p:oleObj>
              </mc:Choice>
              <mc:Fallback>
                <p:oleObj name="Clip" r:id="rId5" imgW="2193938" imgH="3658765" progId="MS_ClipArt_Gallery.2">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2713" y="3068638"/>
                        <a:ext cx="7207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61" name="Picture 7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47850" y="476250"/>
            <a:ext cx="22923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5"/>
          <p:cNvSpPr>
            <a:spLocks noChangeArrowheads="1"/>
          </p:cNvSpPr>
          <p:nvPr/>
        </p:nvSpPr>
        <p:spPr bwMode="auto">
          <a:xfrm>
            <a:off x="5029200" y="3886200"/>
            <a:ext cx="3886200" cy="1295400"/>
          </a:xfrm>
          <a:prstGeom prst="rect">
            <a:avLst/>
          </a:prstGeom>
          <a:solidFill>
            <a:srgbClr val="FFFF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b="1">
                <a:solidFill>
                  <a:srgbClr val="000099"/>
                </a:solidFill>
                <a:effectLst/>
                <a:latin typeface="Arial" charset="0"/>
                <a:ea typeface="宋体" pitchFamily="2" charset="-122"/>
              </a:rPr>
              <a:t>永远要清楚：</a:t>
            </a:r>
          </a:p>
          <a:p>
            <a:pPr algn="ctr"/>
            <a:r>
              <a:rPr lang="zh-CN" altLang="en-US" b="1">
                <a:solidFill>
                  <a:srgbClr val="000099"/>
                </a:solidFill>
                <a:effectLst/>
                <a:latin typeface="Arial" charset="0"/>
                <a:ea typeface="宋体" pitchFamily="2" charset="-122"/>
              </a:rPr>
              <a:t>每个指针指向了哪里</a:t>
            </a:r>
          </a:p>
          <a:p>
            <a:pPr algn="ctr"/>
            <a:r>
              <a:rPr lang="zh-CN" altLang="en-US" b="1">
                <a:solidFill>
                  <a:srgbClr val="000099"/>
                </a:solidFill>
                <a:effectLst/>
                <a:latin typeface="Arial" charset="0"/>
                <a:ea typeface="宋体" pitchFamily="2" charset="-122"/>
              </a:rPr>
              <a:t>指针指向的内容是什么 </a:t>
            </a:r>
          </a:p>
        </p:txBody>
      </p:sp>
    </p:spTree>
    <p:extLst>
      <p:ext uri="{BB962C8B-B14F-4D97-AF65-F5344CB8AC3E}">
        <p14:creationId xmlns:p14="http://schemas.microsoft.com/office/powerpoint/2010/main" val="527471787"/>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63618"/>
                                        </p:tgtEl>
                                        <p:attrNameLst>
                                          <p:attrName>style.visibility</p:attrName>
                                        </p:attrNameLst>
                                      </p:cBhvr>
                                      <p:to>
                                        <p:strVal val="visible"/>
                                      </p:to>
                                    </p:set>
                                    <p:anim calcmode="lin" valueType="num">
                                      <p:cBhvr>
                                        <p:cTn id="7" dur="500" fill="hold"/>
                                        <p:tgtEl>
                                          <p:spTgt spid="663618"/>
                                        </p:tgtEl>
                                        <p:attrNameLst>
                                          <p:attrName>ppt_w</p:attrName>
                                        </p:attrNameLst>
                                      </p:cBhvr>
                                      <p:tavLst>
                                        <p:tav tm="0">
                                          <p:val>
                                            <p:fltVal val="0"/>
                                          </p:val>
                                        </p:tav>
                                        <p:tav tm="100000">
                                          <p:val>
                                            <p:strVal val="#ppt_w"/>
                                          </p:val>
                                        </p:tav>
                                      </p:tavLst>
                                    </p:anim>
                                    <p:anim calcmode="lin" valueType="num">
                                      <p:cBhvr>
                                        <p:cTn id="8" dur="500" fill="hold"/>
                                        <p:tgtEl>
                                          <p:spTgt spid="663618"/>
                                        </p:tgtEl>
                                        <p:attrNameLst>
                                          <p:attrName>ppt_h</p:attrName>
                                        </p:attrNameLst>
                                      </p:cBhvr>
                                      <p:tavLst>
                                        <p:tav tm="0">
                                          <p:val>
                                            <p:fltVal val="0"/>
                                          </p:val>
                                        </p:tav>
                                        <p:tav tm="100000">
                                          <p:val>
                                            <p:strVal val="#ppt_h"/>
                                          </p:val>
                                        </p:tav>
                                      </p:tavLst>
                                    </p:anim>
                                    <p:animEffect transition="in" filter="fade">
                                      <p:cBhvr>
                                        <p:cTn id="9" dur="500"/>
                                        <p:tgtEl>
                                          <p:spTgt spid="66361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63619"/>
                                        </p:tgtEl>
                                        <p:attrNameLst>
                                          <p:attrName>style.visibility</p:attrName>
                                        </p:attrNameLst>
                                      </p:cBhvr>
                                      <p:to>
                                        <p:strVal val="visible"/>
                                      </p:to>
                                    </p:set>
                                    <p:anim calcmode="lin" valueType="num">
                                      <p:cBhvr>
                                        <p:cTn id="14" dur="500" fill="hold"/>
                                        <p:tgtEl>
                                          <p:spTgt spid="663619"/>
                                        </p:tgtEl>
                                        <p:attrNameLst>
                                          <p:attrName>ppt_w</p:attrName>
                                        </p:attrNameLst>
                                      </p:cBhvr>
                                      <p:tavLst>
                                        <p:tav tm="0">
                                          <p:val>
                                            <p:fltVal val="0"/>
                                          </p:val>
                                        </p:tav>
                                        <p:tav tm="100000">
                                          <p:val>
                                            <p:strVal val="#ppt_w"/>
                                          </p:val>
                                        </p:tav>
                                      </p:tavLst>
                                    </p:anim>
                                    <p:anim calcmode="lin" valueType="num">
                                      <p:cBhvr>
                                        <p:cTn id="15" dur="500" fill="hold"/>
                                        <p:tgtEl>
                                          <p:spTgt spid="663619"/>
                                        </p:tgtEl>
                                        <p:attrNameLst>
                                          <p:attrName>ppt_h</p:attrName>
                                        </p:attrNameLst>
                                      </p:cBhvr>
                                      <p:tavLst>
                                        <p:tav tm="0">
                                          <p:val>
                                            <p:fltVal val="0"/>
                                          </p:val>
                                        </p:tav>
                                        <p:tav tm="100000">
                                          <p:val>
                                            <p:strVal val="#ppt_h"/>
                                          </p:val>
                                        </p:tav>
                                      </p:tavLst>
                                    </p:anim>
                                    <p:animEffect transition="in" filter="fade">
                                      <p:cBhvr>
                                        <p:cTn id="16" dur="500"/>
                                        <p:tgtEl>
                                          <p:spTgt spid="6636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663615"/>
                                        </p:tgtEl>
                                        <p:attrNameLst>
                                          <p:attrName>style.visibility</p:attrName>
                                        </p:attrNameLst>
                                      </p:cBhvr>
                                      <p:to>
                                        <p:strVal val="visible"/>
                                      </p:to>
                                    </p:set>
                                    <p:anim calcmode="lin" valueType="num">
                                      <p:cBhvr>
                                        <p:cTn id="21" dur="500" fill="hold"/>
                                        <p:tgtEl>
                                          <p:spTgt spid="663615"/>
                                        </p:tgtEl>
                                        <p:attrNameLst>
                                          <p:attrName>ppt_w</p:attrName>
                                        </p:attrNameLst>
                                      </p:cBhvr>
                                      <p:tavLst>
                                        <p:tav tm="0">
                                          <p:val>
                                            <p:fltVal val="0"/>
                                          </p:val>
                                        </p:tav>
                                        <p:tav tm="100000">
                                          <p:val>
                                            <p:strVal val="#ppt_w"/>
                                          </p:val>
                                        </p:tav>
                                      </p:tavLst>
                                    </p:anim>
                                    <p:anim calcmode="lin" valueType="num">
                                      <p:cBhvr>
                                        <p:cTn id="22" dur="500" fill="hold"/>
                                        <p:tgtEl>
                                          <p:spTgt spid="663615"/>
                                        </p:tgtEl>
                                        <p:attrNameLst>
                                          <p:attrName>ppt_h</p:attrName>
                                        </p:attrNameLst>
                                      </p:cBhvr>
                                      <p:tavLst>
                                        <p:tav tm="0">
                                          <p:val>
                                            <p:fltVal val="0"/>
                                          </p:val>
                                        </p:tav>
                                        <p:tav tm="100000">
                                          <p:val>
                                            <p:strVal val="#ppt_h"/>
                                          </p:val>
                                        </p:tav>
                                      </p:tavLst>
                                    </p:anim>
                                    <p:animEffect transition="in" filter="fade">
                                      <p:cBhvr>
                                        <p:cTn id="23" dur="500"/>
                                        <p:tgtEl>
                                          <p:spTgt spid="6636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615" grpId="0" animBg="1"/>
      <p:bldP spid="663618" grpId="0" animBg="1"/>
      <p:bldP spid="663619" grpId="0" animBg="1"/>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ChangeArrowheads="1"/>
          </p:cNvSpPr>
          <p:nvPr/>
        </p:nvSpPr>
        <p:spPr bwMode="auto">
          <a:xfrm>
            <a:off x="5062538" y="1268413"/>
            <a:ext cx="3994150" cy="2530475"/>
          </a:xfrm>
          <a:prstGeom prst="rect">
            <a:avLst/>
          </a:prstGeom>
          <a:noFill/>
          <a:ln w="12700" cap="sq">
            <a:noFill/>
            <a:miter lim="800000"/>
            <a:headEnd type="none" w="sm" len="sm"/>
            <a:tailEnd type="none" w="sm" len="sm"/>
          </a:ln>
          <a:effectLst/>
        </p:spPr>
        <p:txBody>
          <a:bodyPr wrap="none">
            <a:spAutoFit/>
          </a:bodyPr>
          <a:lstStyle/>
          <a:p>
            <a:pPr eaLnBrk="1" hangingPunct="1">
              <a:defRPr/>
            </a:pP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void</a:t>
            </a:r>
            <a:r>
              <a:rPr kumimoji="1" lang="en-US" altLang="zh-CN" sz="2000" b="1">
                <a:effectLst>
                  <a:outerShdw blurRad="38100" dist="38100" dir="2700000" algn="tl">
                    <a:srgbClr val="C0C0C0"/>
                  </a:outerShdw>
                </a:effectLst>
                <a:latin typeface="Courier New" pitchFamily="49" charset="0"/>
                <a:ea typeface="宋体" pitchFamily="2" charset="-122"/>
              </a:rPr>
              <a:t> Swap(</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solidFill>
                  <a:schemeClr val="tx2"/>
                </a:solidFill>
                <a:effectLst>
                  <a:outerShdw blurRad="38100" dist="38100" dir="2700000" algn="tl">
                    <a:srgbClr val="C0C0C0"/>
                  </a:outerShdw>
                </a:effectLst>
                <a:latin typeface="Courier New" pitchFamily="49" charset="0"/>
                <a:ea typeface="宋体" pitchFamily="2" charset="-122"/>
              </a:rPr>
              <a:t> *x, </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solidFill>
                  <a:schemeClr val="tx2"/>
                </a:solidFill>
                <a:effectLst>
                  <a:outerShdw blurRad="38100" dist="38100" dir="2700000" algn="tl">
                    <a:srgbClr val="C0C0C0"/>
                  </a:outerShdw>
                </a:effectLst>
                <a:latin typeface="Courier New" pitchFamily="49" charset="0"/>
                <a:ea typeface="宋体" pitchFamily="2" charset="-122"/>
              </a:rPr>
              <a:t> *y</a:t>
            </a:r>
            <a:r>
              <a:rPr kumimoji="1" lang="en-US" altLang="zh-CN" sz="2000" b="1">
                <a:effectLst>
                  <a:outerShdw blurRad="38100" dist="38100" dir="2700000" algn="tl">
                    <a:srgbClr val="C0C0C0"/>
                  </a:outerShdw>
                </a:effectLst>
                <a:latin typeface="Courier New" pitchFamily="49" charset="0"/>
                <a:ea typeface="宋体" pitchFamily="2" charset="-122"/>
              </a:rPr>
              <a:t>)</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a:t>
            </a:r>
            <a:r>
              <a:rPr kumimoji="1"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kumimoji="1" lang="en-US" altLang="zh-CN" sz="2000" b="1">
                <a:effectLst>
                  <a:outerShdw blurRad="38100" dist="38100" dir="2700000" algn="tl">
                    <a:srgbClr val="C0C0C0"/>
                  </a:outerShdw>
                </a:effectLst>
                <a:latin typeface="Courier New" pitchFamily="49" charset="0"/>
                <a:ea typeface="宋体" pitchFamily="2" charset="-122"/>
              </a:rPr>
              <a:t> temp;</a:t>
            </a:r>
          </a:p>
          <a:p>
            <a:pPr eaLnBrk="1" hangingPunct="1">
              <a:defRPr/>
            </a:pPr>
            <a:endParaRPr kumimoji="1" lang="en-US" altLang="zh-CN" sz="2000" b="1">
              <a:effectLst>
                <a:outerShdw blurRad="38100" dist="38100" dir="2700000" algn="tl">
                  <a:srgbClr val="C0C0C0"/>
                </a:outerShdw>
              </a:effectLst>
              <a:latin typeface="Courier New" pitchFamily="49" charset="0"/>
              <a:ea typeface="宋体" pitchFamily="2" charset="-122"/>
            </a:endParaRP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temp = *x;</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*x = *y;</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    *y = temp;</a:t>
            </a:r>
          </a:p>
          <a:p>
            <a:pPr eaLnBrk="1" hangingPunct="1">
              <a:defRPr/>
            </a:pPr>
            <a:r>
              <a:rPr kumimoji="1" lang="en-US" altLang="zh-CN" sz="2000" b="1">
                <a:effectLst>
                  <a:outerShdw blurRad="38100" dist="38100" dir="2700000" algn="tl">
                    <a:srgbClr val="C0C0C0"/>
                  </a:outerShdw>
                </a:effectLst>
                <a:latin typeface="Courier New" pitchFamily="49" charset="0"/>
                <a:ea typeface="宋体" pitchFamily="2" charset="-122"/>
              </a:rPr>
              <a:t>}</a:t>
            </a:r>
          </a:p>
        </p:txBody>
      </p:sp>
      <p:sp>
        <p:nvSpPr>
          <p:cNvPr id="664579" name="Line 3"/>
          <p:cNvSpPr>
            <a:spLocks noChangeShapeType="1"/>
          </p:cNvSpPr>
          <p:nvPr/>
        </p:nvSpPr>
        <p:spPr bwMode="auto">
          <a:xfrm>
            <a:off x="4859338" y="1196975"/>
            <a:ext cx="0" cy="5659438"/>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664580" name="Line 4"/>
          <p:cNvSpPr>
            <a:spLocks noChangeShapeType="1"/>
          </p:cNvSpPr>
          <p:nvPr/>
        </p:nvSpPr>
        <p:spPr bwMode="auto">
          <a:xfrm>
            <a:off x="0" y="1247775"/>
            <a:ext cx="9144000" cy="0"/>
          </a:xfrm>
          <a:prstGeom prst="line">
            <a:avLst/>
          </a:prstGeom>
          <a:noFill/>
          <a:ln w="57150">
            <a:solidFill>
              <a:srgbClr val="CC9900"/>
            </a:solidFill>
            <a:prstDash val="lgDashDotDot"/>
            <a:round/>
            <a:headEnd type="none" w="sm" len="sm"/>
            <a:tailEnd type="none" w="sm" len="sm"/>
          </a:ln>
          <a:effectLst/>
        </p:spPr>
        <p:txBody>
          <a:bodyPr wrap="none" anchor="ctr"/>
          <a:lstStyle/>
          <a:p>
            <a:pPr>
              <a:defRPr/>
            </a:pPr>
            <a:endParaRPr lang="zh-CN" altLang="en-US"/>
          </a:p>
        </p:txBody>
      </p:sp>
      <p:sp>
        <p:nvSpPr>
          <p:cNvPr id="664581" name="Rectangle 5"/>
          <p:cNvSpPr>
            <a:spLocks noChangeArrowheads="1"/>
          </p:cNvSpPr>
          <p:nvPr/>
        </p:nvSpPr>
        <p:spPr bwMode="auto">
          <a:xfrm>
            <a:off x="611188" y="4724400"/>
            <a:ext cx="3960812" cy="1295400"/>
          </a:xfrm>
          <a:prstGeom prst="rect">
            <a:avLst/>
          </a:prstGeom>
          <a:solidFill>
            <a:srgbClr val="FFFF99"/>
          </a:solidFill>
          <a:ln w="28575">
            <a:solidFill>
              <a:srgbClr val="800000"/>
            </a:solidFill>
            <a:miter lim="800000"/>
            <a:headEnd/>
            <a:tailEnd/>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zh-CN" altLang="en-US" b="1">
                <a:solidFill>
                  <a:srgbClr val="000066"/>
                </a:solidFill>
                <a:effectLst/>
                <a:ea typeface="宋体" pitchFamily="2" charset="-122"/>
              </a:rPr>
              <a:t>指针</a:t>
            </a:r>
            <a:r>
              <a:rPr lang="en-US" altLang="zh-CN" b="1">
                <a:solidFill>
                  <a:srgbClr val="000066"/>
                </a:solidFill>
                <a:effectLst/>
                <a:latin typeface="Courier New" pitchFamily="49" charset="0"/>
                <a:ea typeface="宋体" pitchFamily="2" charset="-122"/>
              </a:rPr>
              <a:t>pTemp</a:t>
            </a:r>
            <a:r>
              <a:rPr lang="zh-CN" altLang="en-US" b="1">
                <a:solidFill>
                  <a:srgbClr val="000066"/>
                </a:solidFill>
                <a:effectLst/>
                <a:ea typeface="宋体" pitchFamily="2" charset="-122"/>
              </a:rPr>
              <a:t>被赋了值</a:t>
            </a:r>
          </a:p>
          <a:p>
            <a:pPr algn="ctr"/>
            <a:r>
              <a:rPr lang="zh-CN" altLang="en-US" b="1">
                <a:solidFill>
                  <a:srgbClr val="000066"/>
                </a:solidFill>
                <a:effectLst/>
                <a:ea typeface="宋体" pitchFamily="2" charset="-122"/>
              </a:rPr>
              <a:t>但交换的是地址值</a:t>
            </a:r>
          </a:p>
          <a:p>
            <a:pPr algn="ctr"/>
            <a:r>
              <a:rPr lang="zh-CN" altLang="en-US" b="1">
                <a:solidFill>
                  <a:srgbClr val="000066"/>
                </a:solidFill>
                <a:effectLst/>
                <a:ea typeface="宋体" pitchFamily="2" charset="-122"/>
              </a:rPr>
              <a:t>不是指针指向单元的内容</a:t>
            </a:r>
          </a:p>
        </p:txBody>
      </p:sp>
      <p:sp>
        <p:nvSpPr>
          <p:cNvPr id="664583" name="Rectangle 7"/>
          <p:cNvSpPr>
            <a:spLocks noChangeArrowheads="1"/>
          </p:cNvSpPr>
          <p:nvPr/>
        </p:nvSpPr>
        <p:spPr bwMode="auto">
          <a:xfrm>
            <a:off x="395288" y="1268413"/>
            <a:ext cx="4533900" cy="3168650"/>
          </a:xfrm>
          <a:prstGeom prst="rect">
            <a:avLst/>
          </a:prstGeom>
          <a:noFill/>
          <a:ln w="9525">
            <a:noFill/>
            <a:miter lim="800000"/>
            <a:headEnd/>
            <a:tailEnd/>
          </a:ln>
          <a:effectLst/>
        </p:spPr>
        <p:txBody>
          <a:bodyPr lIns="92075" tIns="46037" rIns="92075" bIns="46037"/>
          <a:lstStyle/>
          <a:p>
            <a:pPr marL="342900" indent="-342900" algn="just" eaLnBrk="1">
              <a:lnSpc>
                <a:spcPct val="95000"/>
              </a:lnSpc>
              <a:spcBef>
                <a:spcPct val="20000"/>
              </a:spcBef>
              <a:buClr>
                <a:srgbClr val="FFCC66"/>
              </a:buClr>
              <a:buSzPct val="80000"/>
              <a:buFont typeface="Monotype Sorts" charset="2"/>
              <a:buNone/>
              <a:defRPr/>
            </a:pP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void</a:t>
            </a:r>
            <a:r>
              <a:rPr lang="en-US" altLang="zh-CN" sz="2000" b="1">
                <a:effectLst>
                  <a:outerShdw blurRad="38100" dist="38100" dir="2700000" algn="tl">
                    <a:srgbClr val="C0C0C0"/>
                  </a:outerShdw>
                </a:effectLst>
                <a:latin typeface="Courier New" pitchFamily="49" charset="0"/>
                <a:ea typeface="宋体" pitchFamily="2" charset="-122"/>
              </a:rPr>
              <a:t> Swap(</a:t>
            </a: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lang="en-US" altLang="zh-CN" sz="2000" b="1">
                <a:effectLst>
                  <a:outerShdw blurRad="38100" dist="38100" dir="2700000" algn="tl">
                    <a:srgbClr val="C0C0C0"/>
                  </a:outerShdw>
                </a:effectLst>
                <a:latin typeface="Courier New" pitchFamily="49" charset="0"/>
                <a:ea typeface="宋体" pitchFamily="2" charset="-122"/>
              </a:rPr>
              <a:t> *x, </a:t>
            </a: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 </a:t>
            </a:r>
            <a:r>
              <a:rPr lang="en-US" altLang="zh-CN" sz="2000" b="1">
                <a:effectLst>
                  <a:outerShdw blurRad="38100" dist="38100" dir="2700000" algn="tl">
                    <a:srgbClr val="C0C0C0"/>
                  </a:outerShdw>
                </a:effectLst>
                <a:latin typeface="Courier New" pitchFamily="49" charset="0"/>
                <a:ea typeface="宋体" pitchFamily="2" charset="-122"/>
              </a:rPr>
              <a:t>*y)</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r>
              <a:rPr lang="en-US" altLang="zh-CN" sz="2000" b="1">
                <a:solidFill>
                  <a:schemeClr val="accent2"/>
                </a:solidFill>
                <a:effectLst>
                  <a:outerShdw blurRad="38100" dist="38100" dir="2700000" algn="tl">
                    <a:srgbClr val="C0C0C0"/>
                  </a:outerShdw>
                </a:effectLst>
                <a:latin typeface="Courier New" pitchFamily="49" charset="0"/>
                <a:ea typeface="宋体" pitchFamily="2" charset="-122"/>
              </a:rPr>
              <a:t>int</a:t>
            </a:r>
            <a:r>
              <a:rPr lang="en-US" altLang="zh-CN" sz="2000" b="1">
                <a:effectLst>
                  <a:outerShdw blurRad="38100" dist="38100" dir="2700000" algn="tl">
                    <a:srgbClr val="C0C0C0"/>
                  </a:outerShdw>
                </a:effectLst>
                <a:latin typeface="Courier New" pitchFamily="49" charset="0"/>
                <a:ea typeface="宋体" pitchFamily="2" charset="-122"/>
              </a:rPr>
              <a:t> </a:t>
            </a:r>
            <a:r>
              <a:rPr lang="en-US" altLang="zh-CN" sz="2000" b="1">
                <a:solidFill>
                  <a:srgbClr val="000066"/>
                </a:solidFill>
                <a:effectLst>
                  <a:outerShdw blurRad="38100" dist="38100" dir="2700000" algn="tl">
                    <a:srgbClr val="C0C0C0"/>
                  </a:outerShdw>
                </a:effectLst>
                <a:latin typeface="Courier New" pitchFamily="49" charset="0"/>
                <a:ea typeface="宋体" pitchFamily="2" charset="-122"/>
              </a:rPr>
              <a:t>*pTemp</a:t>
            </a:r>
            <a:r>
              <a:rPr lang="en-US" altLang="zh-CN" sz="2000" b="1">
                <a:effectLst>
                  <a:outerShdw blurRad="38100" dist="38100" dir="2700000" algn="tl">
                    <a:srgbClr val="C0C0C0"/>
                  </a:outerShdw>
                </a:effectLst>
                <a:latin typeface="Courier New" pitchFamily="49" charset="0"/>
                <a:ea typeface="宋体" pitchFamily="2" charset="-122"/>
              </a:rPr>
              <a:t>; </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r>
              <a:rPr lang="en-US" altLang="zh-CN" sz="2000" b="1">
                <a:solidFill>
                  <a:srgbClr val="000066"/>
                </a:solidFill>
                <a:effectLst>
                  <a:outerShdw blurRad="38100" dist="38100" dir="2700000" algn="tl">
                    <a:srgbClr val="C0C0C0"/>
                  </a:outerShdw>
                </a:effectLst>
                <a:latin typeface="Courier New" pitchFamily="49" charset="0"/>
                <a:ea typeface="宋体" pitchFamily="2" charset="-122"/>
              </a:rPr>
              <a:t>pTemp</a:t>
            </a:r>
            <a:r>
              <a:rPr lang="en-US" altLang="zh-CN" sz="2000" b="1">
                <a:effectLst>
                  <a:outerShdw blurRad="38100" dist="38100" dir="2700000" algn="tl">
                    <a:srgbClr val="C0C0C0"/>
                  </a:outerShdw>
                </a:effectLst>
                <a:latin typeface="Courier New" pitchFamily="49" charset="0"/>
                <a:ea typeface="宋体" pitchFamily="2" charset="-122"/>
              </a:rPr>
              <a:t> = x;</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x = y;</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y = </a:t>
            </a:r>
            <a:r>
              <a:rPr lang="en-US" altLang="zh-CN" sz="2000" b="1">
                <a:solidFill>
                  <a:srgbClr val="000066"/>
                </a:solidFill>
                <a:effectLst>
                  <a:outerShdw blurRad="38100" dist="38100" dir="2700000" algn="tl">
                    <a:srgbClr val="C0C0C0"/>
                  </a:outerShdw>
                </a:effectLst>
                <a:latin typeface="Courier New" pitchFamily="49" charset="0"/>
                <a:ea typeface="宋体" pitchFamily="2" charset="-122"/>
              </a:rPr>
              <a:t>pTemp</a:t>
            </a:r>
            <a:r>
              <a:rPr lang="en-US" altLang="zh-CN" sz="2000" b="1">
                <a:effectLst>
                  <a:outerShdw blurRad="38100" dist="38100" dir="2700000" algn="tl">
                    <a:srgbClr val="C0C0C0"/>
                  </a:outerShdw>
                </a:effectLst>
                <a:latin typeface="Courier New" pitchFamily="49" charset="0"/>
                <a:ea typeface="宋体" pitchFamily="2" charset="-122"/>
              </a:rPr>
              <a:t>;</a:t>
            </a:r>
          </a:p>
          <a:p>
            <a:pPr marL="342900" indent="-342900" algn="just" eaLnBrk="1">
              <a:lnSpc>
                <a:spcPct val="95000"/>
              </a:lnSpc>
              <a:spcBef>
                <a:spcPct val="20000"/>
              </a:spcBef>
              <a:buClr>
                <a:srgbClr val="FFCC66"/>
              </a:buClr>
              <a:buSzPct val="80000"/>
              <a:buFont typeface="Monotype Sorts" charset="2"/>
              <a:buNone/>
              <a:defRPr/>
            </a:pPr>
            <a:r>
              <a:rPr lang="en-US" altLang="zh-CN" sz="2000" b="1">
                <a:effectLst>
                  <a:outerShdw blurRad="38100" dist="38100" dir="2700000" algn="tl">
                    <a:srgbClr val="C0C0C0"/>
                  </a:outerShdw>
                </a:effectLst>
                <a:latin typeface="Courier New" pitchFamily="49" charset="0"/>
                <a:ea typeface="宋体" pitchFamily="2" charset="-122"/>
              </a:rPr>
              <a:t>} </a:t>
            </a:r>
          </a:p>
        </p:txBody>
      </p:sp>
      <p:sp>
        <p:nvSpPr>
          <p:cNvPr id="664584" name="Rectangle 8"/>
          <p:cNvSpPr>
            <a:spLocks noChangeArrowheads="1"/>
          </p:cNvSpPr>
          <p:nvPr/>
        </p:nvSpPr>
        <p:spPr bwMode="auto">
          <a:xfrm>
            <a:off x="1676400" y="1960563"/>
            <a:ext cx="1008063"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64585" name="Rectangle 9"/>
          <p:cNvSpPr>
            <a:spLocks noChangeArrowheads="1"/>
          </p:cNvSpPr>
          <p:nvPr/>
        </p:nvSpPr>
        <p:spPr bwMode="auto">
          <a:xfrm>
            <a:off x="1044575" y="2636838"/>
            <a:ext cx="1612900" cy="431800"/>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aphicFrame>
        <p:nvGraphicFramePr>
          <p:cNvPr id="3074" name="Object 12"/>
          <p:cNvGraphicFramePr>
            <a:graphicFrameLocks/>
          </p:cNvGraphicFramePr>
          <p:nvPr/>
        </p:nvGraphicFramePr>
        <p:xfrm>
          <a:off x="3922713" y="3068638"/>
          <a:ext cx="720725" cy="990600"/>
        </p:xfrm>
        <a:graphic>
          <a:graphicData uri="http://schemas.openxmlformats.org/presentationml/2006/ole">
            <mc:AlternateContent xmlns:mc="http://schemas.openxmlformats.org/markup-compatibility/2006">
              <mc:Choice xmlns:v="urn:schemas-microsoft-com:vml" Requires="v">
                <p:oleObj name="Clip" r:id="rId2" imgW="2193938" imgH="3658765" progId="MS_ClipArt_Gallery.2">
                  <p:embed/>
                </p:oleObj>
              </mc:Choice>
              <mc:Fallback>
                <p:oleObj name="Clip" r:id="rId2" imgW="2193938" imgH="3658765" progId="MS_ClipArt_Gallery.2">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2713" y="3068638"/>
                        <a:ext cx="7207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82"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47850" y="476250"/>
            <a:ext cx="22923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ImgPreview" descr="文件名: j0289944.wmf&#10;关键字: females, key to success, keys ...&#10;文件大小: 48 K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5203825"/>
            <a:ext cx="143986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4" name="ImgPreview" descr="文件名: PE02408_.wmf&#10;关键字: buildings, 人物, 任务 ...&#10;文件大小: 5 K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5133975"/>
            <a:ext cx="1223962"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64" descr="J0234687"/>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7686675" y="406400"/>
            <a:ext cx="12287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7074630"/>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64584"/>
                                        </p:tgtEl>
                                        <p:attrNameLst>
                                          <p:attrName>style.visibility</p:attrName>
                                        </p:attrNameLst>
                                      </p:cBhvr>
                                      <p:to>
                                        <p:strVal val="visible"/>
                                      </p:to>
                                    </p:set>
                                    <p:anim calcmode="lin" valueType="num">
                                      <p:cBhvr>
                                        <p:cTn id="7" dur="500" fill="hold"/>
                                        <p:tgtEl>
                                          <p:spTgt spid="664584"/>
                                        </p:tgtEl>
                                        <p:attrNameLst>
                                          <p:attrName>ppt_w</p:attrName>
                                        </p:attrNameLst>
                                      </p:cBhvr>
                                      <p:tavLst>
                                        <p:tav tm="0">
                                          <p:val>
                                            <p:fltVal val="0"/>
                                          </p:val>
                                        </p:tav>
                                        <p:tav tm="100000">
                                          <p:val>
                                            <p:strVal val="#ppt_w"/>
                                          </p:val>
                                        </p:tav>
                                      </p:tavLst>
                                    </p:anim>
                                    <p:anim calcmode="lin" valueType="num">
                                      <p:cBhvr>
                                        <p:cTn id="8" dur="500" fill="hold"/>
                                        <p:tgtEl>
                                          <p:spTgt spid="664584"/>
                                        </p:tgtEl>
                                        <p:attrNameLst>
                                          <p:attrName>ppt_h</p:attrName>
                                        </p:attrNameLst>
                                      </p:cBhvr>
                                      <p:tavLst>
                                        <p:tav tm="0">
                                          <p:val>
                                            <p:fltVal val="0"/>
                                          </p:val>
                                        </p:tav>
                                        <p:tav tm="100000">
                                          <p:val>
                                            <p:strVal val="#ppt_h"/>
                                          </p:val>
                                        </p:tav>
                                      </p:tavLst>
                                    </p:anim>
                                    <p:animEffect transition="in" filter="fade">
                                      <p:cBhvr>
                                        <p:cTn id="9" dur="500"/>
                                        <p:tgtEl>
                                          <p:spTgt spid="66458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64585"/>
                                        </p:tgtEl>
                                        <p:attrNameLst>
                                          <p:attrName>style.visibility</p:attrName>
                                        </p:attrNameLst>
                                      </p:cBhvr>
                                      <p:to>
                                        <p:strVal val="visible"/>
                                      </p:to>
                                    </p:set>
                                    <p:anim calcmode="lin" valueType="num">
                                      <p:cBhvr>
                                        <p:cTn id="14" dur="500" fill="hold"/>
                                        <p:tgtEl>
                                          <p:spTgt spid="664585"/>
                                        </p:tgtEl>
                                        <p:attrNameLst>
                                          <p:attrName>ppt_w</p:attrName>
                                        </p:attrNameLst>
                                      </p:cBhvr>
                                      <p:tavLst>
                                        <p:tav tm="0">
                                          <p:val>
                                            <p:fltVal val="0"/>
                                          </p:val>
                                        </p:tav>
                                        <p:tav tm="100000">
                                          <p:val>
                                            <p:strVal val="#ppt_w"/>
                                          </p:val>
                                        </p:tav>
                                      </p:tavLst>
                                    </p:anim>
                                    <p:anim calcmode="lin" valueType="num">
                                      <p:cBhvr>
                                        <p:cTn id="15" dur="500" fill="hold"/>
                                        <p:tgtEl>
                                          <p:spTgt spid="664585"/>
                                        </p:tgtEl>
                                        <p:attrNameLst>
                                          <p:attrName>ppt_h</p:attrName>
                                        </p:attrNameLst>
                                      </p:cBhvr>
                                      <p:tavLst>
                                        <p:tav tm="0">
                                          <p:val>
                                            <p:fltVal val="0"/>
                                          </p:val>
                                        </p:tav>
                                        <p:tav tm="100000">
                                          <p:val>
                                            <p:strVal val="#ppt_h"/>
                                          </p:val>
                                        </p:tav>
                                      </p:tavLst>
                                    </p:anim>
                                    <p:animEffect transition="in" filter="fade">
                                      <p:cBhvr>
                                        <p:cTn id="16" dur="500"/>
                                        <p:tgtEl>
                                          <p:spTgt spid="66458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664581"/>
                                        </p:tgtEl>
                                        <p:attrNameLst>
                                          <p:attrName>style.visibility</p:attrName>
                                        </p:attrNameLst>
                                      </p:cBhvr>
                                      <p:to>
                                        <p:strVal val="visible"/>
                                      </p:to>
                                    </p:set>
                                    <p:anim calcmode="lin" valueType="num">
                                      <p:cBhvr>
                                        <p:cTn id="21" dur="500" fill="hold"/>
                                        <p:tgtEl>
                                          <p:spTgt spid="664581"/>
                                        </p:tgtEl>
                                        <p:attrNameLst>
                                          <p:attrName>ppt_w</p:attrName>
                                        </p:attrNameLst>
                                      </p:cBhvr>
                                      <p:tavLst>
                                        <p:tav tm="0">
                                          <p:val>
                                            <p:fltVal val="0"/>
                                          </p:val>
                                        </p:tav>
                                        <p:tav tm="100000">
                                          <p:val>
                                            <p:strVal val="#ppt_w"/>
                                          </p:val>
                                        </p:tav>
                                      </p:tavLst>
                                    </p:anim>
                                    <p:anim calcmode="lin" valueType="num">
                                      <p:cBhvr>
                                        <p:cTn id="22" dur="500" fill="hold"/>
                                        <p:tgtEl>
                                          <p:spTgt spid="664581"/>
                                        </p:tgtEl>
                                        <p:attrNameLst>
                                          <p:attrName>ppt_h</p:attrName>
                                        </p:attrNameLst>
                                      </p:cBhvr>
                                      <p:tavLst>
                                        <p:tav tm="0">
                                          <p:val>
                                            <p:fltVal val="0"/>
                                          </p:val>
                                        </p:tav>
                                        <p:tav tm="100000">
                                          <p:val>
                                            <p:strVal val="#ppt_h"/>
                                          </p:val>
                                        </p:tav>
                                      </p:tavLst>
                                    </p:anim>
                                    <p:animEffect transition="in" filter="fade">
                                      <p:cBhvr>
                                        <p:cTn id="23" dur="500"/>
                                        <p:tgtEl>
                                          <p:spTgt spid="66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81" grpId="0" animBg="1"/>
      <p:bldP spid="664584" grpId="0" animBg="1"/>
      <p:bldP spid="66458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idx="1"/>
          </p:nvPr>
        </p:nvSpPr>
        <p:spPr>
          <a:xfrm>
            <a:off x="250825" y="476250"/>
            <a:ext cx="8534400" cy="2879725"/>
          </a:xfrm>
        </p:spPr>
        <p:txBody>
          <a:bodyPr>
            <a:noAutofit/>
          </a:bodyPr>
          <a:lstStyle/>
          <a:p>
            <a:pPr marL="0" indent="0" eaLnBrk="1" fontAlgn="auto" hangingPunct="1">
              <a:spcAft>
                <a:spcPts val="0"/>
              </a:spcAft>
              <a:buClr>
                <a:schemeClr val="accent3"/>
              </a:buClr>
              <a:buFontTx/>
              <a:buNone/>
              <a:tabLst>
                <a:tab pos="8069263" algn="l"/>
              </a:tabLst>
              <a:defRPr/>
            </a:pPr>
            <a:r>
              <a:rPr lang="zh-CN" altLang="en-US" sz="3200" b="1" dirty="0">
                <a:effectLst>
                  <a:outerShdw blurRad="38100" dist="38100" dir="2700000" algn="tl">
                    <a:srgbClr val="C0C0C0"/>
                  </a:outerShdw>
                </a:effectLst>
                <a:latin typeface="楷体_GB2312" pitchFamily="49" charset="-122"/>
                <a:ea typeface="楷体_GB2312" pitchFamily="49" charset="-122"/>
              </a:rPr>
              <a:t>例子说明，只有实参向形参单向传递值，函数执行时，形参值的改变不会影响实参变量。</a:t>
            </a:r>
          </a:p>
          <a:p>
            <a:pPr marL="0" indent="0" eaLnBrk="1" fontAlgn="auto" hangingPunct="1">
              <a:spcAft>
                <a:spcPts val="0"/>
              </a:spcAft>
              <a:buClr>
                <a:schemeClr val="accent3"/>
              </a:buClr>
              <a:buFontTx/>
              <a:buNone/>
              <a:tabLst>
                <a:tab pos="8069263" algn="l"/>
              </a:tabLst>
              <a:defRPr/>
            </a:pPr>
            <a:r>
              <a:rPr lang="zh-CN" altLang="en-US" sz="3200" b="1" dirty="0">
                <a:effectLst>
                  <a:outerShdw blurRad="38100" dist="38100" dir="2700000" algn="tl">
                    <a:srgbClr val="C0C0C0"/>
                  </a:outerShdw>
                </a:effectLst>
                <a:latin typeface="楷体_GB2312" pitchFamily="49" charset="-122"/>
                <a:ea typeface="楷体_GB2312" pitchFamily="49" charset="-122"/>
              </a:rPr>
              <a:t>希望函数能按需要改变由实参指定的变量，需要在三个方面协调一致。</a:t>
            </a:r>
          </a:p>
          <a:p>
            <a:pPr marL="0" indent="0" eaLnBrk="1" fontAlgn="auto" hangingPunct="1">
              <a:spcAft>
                <a:spcPts val="0"/>
              </a:spcAft>
              <a:buClr>
                <a:schemeClr val="accent3"/>
              </a:buClr>
              <a:buFontTx/>
              <a:buNone/>
              <a:tabLst>
                <a:tab pos="8069263" algn="l"/>
              </a:tabLst>
              <a:defRPr/>
            </a:pPr>
            <a:r>
              <a:rPr lang="en-US" altLang="zh-CN" sz="3200" b="1" dirty="0">
                <a:effectLst>
                  <a:outerShdw blurRad="38100" dist="38100" dir="2700000" algn="tl">
                    <a:srgbClr val="C0C0C0"/>
                  </a:outerShdw>
                </a:effectLst>
                <a:latin typeface="楷体_GB2312" pitchFamily="49" charset="-122"/>
                <a:ea typeface="楷体_GB2312" pitchFamily="49" charset="-122"/>
              </a:rPr>
              <a:t>(1)</a:t>
            </a:r>
            <a:r>
              <a:rPr lang="zh-CN" altLang="en-US" sz="3200" b="1" dirty="0">
                <a:effectLst>
                  <a:outerShdw blurRad="38100" dist="38100" dir="2700000" algn="tl">
                    <a:srgbClr val="C0C0C0"/>
                  </a:outerShdw>
                </a:effectLst>
                <a:latin typeface="楷体_GB2312" pitchFamily="49" charset="-122"/>
                <a:ea typeface="楷体_GB2312" pitchFamily="49" charset="-122"/>
              </a:rPr>
              <a:t>函数应设置指针形参；</a:t>
            </a:r>
          </a:p>
          <a:p>
            <a:pPr marL="0" indent="0" eaLnBrk="1" fontAlgn="auto" hangingPunct="1">
              <a:spcAft>
                <a:spcPts val="0"/>
              </a:spcAft>
              <a:buClr>
                <a:schemeClr val="accent3"/>
              </a:buClr>
              <a:buFontTx/>
              <a:buNone/>
              <a:tabLst>
                <a:tab pos="8069263" algn="l"/>
              </a:tabLst>
              <a:defRPr/>
            </a:pPr>
            <a:r>
              <a:rPr lang="en-US" altLang="zh-CN" sz="3200" b="1" dirty="0">
                <a:effectLst>
                  <a:outerShdw blurRad="38100" dist="38100" dir="2700000" algn="tl">
                    <a:srgbClr val="C0C0C0"/>
                  </a:outerShdw>
                </a:effectLst>
                <a:latin typeface="楷体_GB2312" pitchFamily="49" charset="-122"/>
                <a:ea typeface="楷体_GB2312" pitchFamily="49" charset="-122"/>
              </a:rPr>
              <a:t>(2)</a:t>
            </a:r>
            <a:r>
              <a:rPr lang="zh-CN" altLang="en-US" sz="3200" b="1" dirty="0">
                <a:effectLst>
                  <a:outerShdw blurRad="38100" dist="38100" dir="2700000" algn="tl">
                    <a:srgbClr val="C0C0C0"/>
                  </a:outerShdw>
                </a:effectLst>
                <a:latin typeface="楷体_GB2312" pitchFamily="49" charset="-122"/>
                <a:ea typeface="楷体_GB2312" pitchFamily="49" charset="-122"/>
              </a:rPr>
              <a:t>函数体必须通过指针形参间接引用变量；</a:t>
            </a:r>
          </a:p>
          <a:p>
            <a:pPr marL="0" indent="0" eaLnBrk="1" fontAlgn="auto" hangingPunct="1">
              <a:spcAft>
                <a:spcPts val="0"/>
              </a:spcAft>
              <a:buClr>
                <a:schemeClr val="accent3"/>
              </a:buClr>
              <a:buFontTx/>
              <a:buNone/>
              <a:tabLst>
                <a:tab pos="8069263" algn="l"/>
              </a:tabLst>
              <a:defRPr/>
            </a:pPr>
            <a:r>
              <a:rPr lang="en-US" altLang="zh-CN" sz="3200" b="1" dirty="0">
                <a:effectLst>
                  <a:outerShdw blurRad="38100" dist="38100" dir="2700000" algn="tl">
                    <a:srgbClr val="C0C0C0"/>
                  </a:outerShdw>
                </a:effectLst>
                <a:latin typeface="楷体_GB2312" pitchFamily="49" charset="-122"/>
                <a:ea typeface="楷体_GB2312" pitchFamily="49" charset="-122"/>
              </a:rPr>
              <a:t>(3)</a:t>
            </a:r>
            <a:r>
              <a:rPr lang="zh-CN" altLang="en-US" sz="3200" b="1" dirty="0">
                <a:effectLst>
                  <a:outerShdw blurRad="38100" dist="38100" dir="2700000" algn="tl">
                    <a:srgbClr val="C0C0C0"/>
                  </a:outerShdw>
                </a:effectLst>
                <a:latin typeface="楷体_GB2312" pitchFamily="49" charset="-122"/>
                <a:ea typeface="楷体_GB2312" pitchFamily="49" charset="-122"/>
              </a:rPr>
              <a:t>调用函数时，必须以希望改变值的变量的指针为实参。</a:t>
            </a:r>
          </a:p>
        </p:txBody>
      </p:sp>
      <p:sp>
        <p:nvSpPr>
          <p:cNvPr id="46083"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4" name="Slide Number Placeholder 3"/>
          <p:cNvSpPr>
            <a:spLocks noGrp="1"/>
          </p:cNvSpPr>
          <p:nvPr>
            <p:ph type="sldNum" sz="quarter" idx="12"/>
          </p:nvPr>
        </p:nvSpPr>
        <p:spPr/>
        <p:txBody>
          <a:bodyPr/>
          <a:lstStyle/>
          <a:p>
            <a:pPr>
              <a:defRPr/>
            </a:pPr>
            <a:fld id="{1F50DE4B-A730-4CC0-913D-B41896B90842}" type="slidenum">
              <a:rPr lang="en-US" altLang="zh-CN"/>
              <a:pPr>
                <a:defRPr/>
              </a:pPr>
              <a:t>49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410">
                                            <p:txEl>
                                              <p:pRg st="1" end="1"/>
                                            </p:txEl>
                                          </p:spTgt>
                                        </p:tgtEl>
                                        <p:attrNameLst>
                                          <p:attrName>style.visibility</p:attrName>
                                        </p:attrNameLst>
                                      </p:cBhvr>
                                      <p:to>
                                        <p:strVal val="visible"/>
                                      </p:to>
                                    </p:set>
                                    <p:anim calcmode="lin" valueType="num">
                                      <p:cBhvr additive="base">
                                        <p:cTn id="7" dur="500" fill="hold"/>
                                        <p:tgtEl>
                                          <p:spTgt spid="1454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41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5410">
                                            <p:txEl>
                                              <p:pRg st="2" end="2"/>
                                            </p:txEl>
                                          </p:spTgt>
                                        </p:tgtEl>
                                        <p:attrNameLst>
                                          <p:attrName>style.visibility</p:attrName>
                                        </p:attrNameLst>
                                      </p:cBhvr>
                                      <p:to>
                                        <p:strVal val="visible"/>
                                      </p:to>
                                    </p:set>
                                    <p:anim calcmode="lin" valueType="num">
                                      <p:cBhvr additive="base">
                                        <p:cTn id="11" dur="500" fill="hold"/>
                                        <p:tgtEl>
                                          <p:spTgt spid="14541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5410">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5410">
                                            <p:txEl>
                                              <p:pRg st="3" end="3"/>
                                            </p:txEl>
                                          </p:spTgt>
                                        </p:tgtEl>
                                        <p:attrNameLst>
                                          <p:attrName>style.visibility</p:attrName>
                                        </p:attrNameLst>
                                      </p:cBhvr>
                                      <p:to>
                                        <p:strVal val="visible"/>
                                      </p:to>
                                    </p:set>
                                    <p:anim calcmode="lin" valueType="num">
                                      <p:cBhvr additive="base">
                                        <p:cTn id="15" dur="500" fill="hold"/>
                                        <p:tgtEl>
                                          <p:spTgt spid="145410">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5410">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5410">
                                            <p:txEl>
                                              <p:pRg st="4" end="4"/>
                                            </p:txEl>
                                          </p:spTgt>
                                        </p:tgtEl>
                                        <p:attrNameLst>
                                          <p:attrName>style.visibility</p:attrName>
                                        </p:attrNameLst>
                                      </p:cBhvr>
                                      <p:to>
                                        <p:strVal val="visible"/>
                                      </p:to>
                                    </p:set>
                                    <p:anim calcmode="lin" valueType="num">
                                      <p:cBhvr additive="base">
                                        <p:cTn id="19" dur="500" fill="hold"/>
                                        <p:tgtEl>
                                          <p:spTgt spid="1454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54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title"/>
          </p:nvPr>
        </p:nvSpPr>
        <p:spPr>
          <a:xfrm>
            <a:off x="611188" y="188913"/>
            <a:ext cx="7848600" cy="647700"/>
          </a:xfrm>
          <a:noFill/>
        </p:spPr>
        <p:txBody>
          <a:bodyPr lIns="92075" tIns="46038" rIns="92075" bIns="46038"/>
          <a:lstStyle/>
          <a:p>
            <a:pPr eaLnBrk="1" hangingPunct="1"/>
            <a:r>
              <a:rPr lang="en-US" altLang="zh-CN" sz="3600">
                <a:solidFill>
                  <a:schemeClr val="tx1"/>
                </a:solidFill>
                <a:latin typeface="黑体" pitchFamily="2" charset="-122"/>
                <a:ea typeface="黑体" pitchFamily="2" charset="-122"/>
              </a:rPr>
              <a:t>6.4</a:t>
            </a:r>
            <a:r>
              <a:rPr lang="zh-CN" altLang="en-US" sz="3600">
                <a:solidFill>
                  <a:schemeClr val="tx1"/>
                </a:solidFill>
                <a:latin typeface="黑体" pitchFamily="2" charset="-122"/>
                <a:ea typeface="黑体" pitchFamily="2" charset="-122"/>
              </a:rPr>
              <a:t>数组形参 </a:t>
            </a:r>
          </a:p>
        </p:txBody>
      </p:sp>
      <p:sp>
        <p:nvSpPr>
          <p:cNvPr id="92162" name="Rectangle 2"/>
          <p:cNvSpPr>
            <a:spLocks noGrp="1" noChangeArrowheads="1"/>
          </p:cNvSpPr>
          <p:nvPr>
            <p:ph idx="1"/>
          </p:nvPr>
        </p:nvSpPr>
        <p:spPr>
          <a:xfrm>
            <a:off x="250825" y="836613"/>
            <a:ext cx="8569325" cy="5832475"/>
          </a:xfrm>
        </p:spPr>
        <p:txBody>
          <a:bodyPr>
            <a:normAutofit/>
          </a:bodyPr>
          <a:lstStyle/>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为了能使函数处理不同的数组，函数可设置数组形参。对应数组形参的实参是数组某元素的地址，最通常的情况是数组首元素的地址。由于数组名能代表数组首元素的地址，所以常用数组名实参对应数组形参。</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例如，下面定义的函数</a:t>
            </a:r>
            <a:r>
              <a:rPr lang="en-US" altLang="zh-CN" sz="2400" b="1" dirty="0">
                <a:effectLst>
                  <a:outerShdw blurRad="38100" dist="38100" dir="2700000" algn="tl">
                    <a:srgbClr val="C0C0C0"/>
                  </a:outerShdw>
                </a:effectLst>
                <a:latin typeface="楷体_GB2312" pitchFamily="49" charset="-122"/>
                <a:ea typeface="楷体_GB2312" pitchFamily="49" charset="-122"/>
              </a:rPr>
              <a:t>sum()</a:t>
            </a:r>
            <a:r>
              <a:rPr lang="zh-CN" altLang="en-US" sz="2400" b="1" dirty="0">
                <a:effectLst>
                  <a:outerShdw blurRad="38100" dist="38100" dir="2700000" algn="tl">
                    <a:srgbClr val="C0C0C0"/>
                  </a:outerShdw>
                </a:effectLst>
                <a:latin typeface="楷体_GB2312" pitchFamily="49" charset="-122"/>
                <a:ea typeface="楷体_GB2312" pitchFamily="49" charset="-122"/>
              </a:rPr>
              <a:t>用于求</a:t>
            </a:r>
            <a:r>
              <a:rPr lang="en-US" altLang="zh-CN" sz="2400" b="1" dirty="0">
                <a:effectLst>
                  <a:outerShdw blurRad="38100" dist="38100" dir="2700000" algn="tl">
                    <a:srgbClr val="C0C0C0"/>
                  </a:outerShdw>
                </a:effectLst>
                <a:latin typeface="楷体_GB2312" pitchFamily="49" charset="-122"/>
                <a:ea typeface="楷体_GB2312" pitchFamily="49" charset="-122"/>
              </a:rPr>
              <a:t>n</a:t>
            </a:r>
            <a:r>
              <a:rPr lang="zh-CN" altLang="en-US" sz="2400" b="1" dirty="0">
                <a:effectLst>
                  <a:outerShdw blurRad="38100" dist="38100" dir="2700000" algn="tl">
                    <a:srgbClr val="C0C0C0"/>
                  </a:outerShdw>
                </a:effectLst>
                <a:latin typeface="楷体_GB2312" pitchFamily="49" charset="-122"/>
                <a:ea typeface="楷体_GB2312" pitchFamily="49" charset="-122"/>
              </a:rPr>
              <a:t>个数之和，这个函数正确地设置有两个形参，</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一个形参是数组，用于对应实在数组；另一个形参是整型的，用于指定求和数组的元素个数。</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sum(</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n)</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s;</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for(s =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0;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&lt; n;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s += a[</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return s;</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p:txBody>
      </p:sp>
      <p:sp>
        <p:nvSpPr>
          <p:cNvPr id="4" name="Slide Number Placeholder 3"/>
          <p:cNvSpPr>
            <a:spLocks noGrp="1"/>
          </p:cNvSpPr>
          <p:nvPr>
            <p:ph type="sldNum" sz="quarter" idx="12"/>
          </p:nvPr>
        </p:nvSpPr>
        <p:spPr/>
        <p:txBody>
          <a:bodyPr/>
          <a:lstStyle/>
          <a:p>
            <a:pPr>
              <a:defRPr/>
            </a:pPr>
            <a:fld id="{3C5C17E2-0236-4635-9C66-FCB007032D08}" type="slidenum">
              <a:rPr lang="en-US" altLang="zh-CN"/>
              <a:pPr>
                <a:defRPr/>
              </a:pPr>
              <a:t>50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62">
                                            <p:txEl>
                                              <p:pRg st="1" end="1"/>
                                            </p:txEl>
                                          </p:spTgt>
                                        </p:tgtEl>
                                        <p:attrNameLst>
                                          <p:attrName>style.visibility</p:attrName>
                                        </p:attrNameLst>
                                      </p:cBhvr>
                                      <p:to>
                                        <p:strVal val="visible"/>
                                      </p:to>
                                    </p:set>
                                    <p:anim calcmode="lin" valueType="num">
                                      <p:cBhvr additive="base">
                                        <p:cTn id="7" dur="500" fill="hold"/>
                                        <p:tgtEl>
                                          <p:spTgt spid="921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162">
                                            <p:txEl>
                                              <p:pRg st="2" end="2"/>
                                            </p:txEl>
                                          </p:spTgt>
                                        </p:tgtEl>
                                        <p:attrNameLst>
                                          <p:attrName>style.visibility</p:attrName>
                                        </p:attrNameLst>
                                      </p:cBhvr>
                                      <p:to>
                                        <p:strVal val="visible"/>
                                      </p:to>
                                    </p:set>
                                    <p:anim calcmode="lin" valueType="num">
                                      <p:cBhvr additive="base">
                                        <p:cTn id="11" dur="500" fill="hold"/>
                                        <p:tgtEl>
                                          <p:spTgt spid="9216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6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2162">
                                            <p:txEl>
                                              <p:pRg st="3" end="3"/>
                                            </p:txEl>
                                          </p:spTgt>
                                        </p:tgtEl>
                                        <p:attrNameLst>
                                          <p:attrName>style.visibility</p:attrName>
                                        </p:attrNameLst>
                                      </p:cBhvr>
                                      <p:to>
                                        <p:strVal val="visible"/>
                                      </p:to>
                                    </p:set>
                                    <p:anim calcmode="lin" valueType="num">
                                      <p:cBhvr additive="base">
                                        <p:cTn id="15" dur="500" fill="hold"/>
                                        <p:tgtEl>
                                          <p:spTgt spid="9216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16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2162">
                                            <p:txEl>
                                              <p:pRg st="4" end="4"/>
                                            </p:txEl>
                                          </p:spTgt>
                                        </p:tgtEl>
                                        <p:attrNameLst>
                                          <p:attrName>style.visibility</p:attrName>
                                        </p:attrNameLst>
                                      </p:cBhvr>
                                      <p:to>
                                        <p:strVal val="visible"/>
                                      </p:to>
                                    </p:set>
                                    <p:anim calcmode="lin" valueType="num">
                                      <p:cBhvr additive="base">
                                        <p:cTn id="19" dur="500" fill="hold"/>
                                        <p:tgtEl>
                                          <p:spTgt spid="9216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6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2162">
                                            <p:txEl>
                                              <p:pRg st="5" end="5"/>
                                            </p:txEl>
                                          </p:spTgt>
                                        </p:tgtEl>
                                        <p:attrNameLst>
                                          <p:attrName>style.visibility</p:attrName>
                                        </p:attrNameLst>
                                      </p:cBhvr>
                                      <p:to>
                                        <p:strVal val="visible"/>
                                      </p:to>
                                    </p:set>
                                    <p:anim calcmode="lin" valueType="num">
                                      <p:cBhvr additive="base">
                                        <p:cTn id="23" dur="500" fill="hold"/>
                                        <p:tgtEl>
                                          <p:spTgt spid="9216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16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2162">
                                            <p:txEl>
                                              <p:pRg st="6" end="6"/>
                                            </p:txEl>
                                          </p:spTgt>
                                        </p:tgtEl>
                                        <p:attrNameLst>
                                          <p:attrName>style.visibility</p:attrName>
                                        </p:attrNameLst>
                                      </p:cBhvr>
                                      <p:to>
                                        <p:strVal val="visible"/>
                                      </p:to>
                                    </p:set>
                                    <p:anim calcmode="lin" valueType="num">
                                      <p:cBhvr additive="base">
                                        <p:cTn id="27" dur="500" fill="hold"/>
                                        <p:tgtEl>
                                          <p:spTgt spid="9216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16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2162">
                                            <p:txEl>
                                              <p:pRg st="7" end="7"/>
                                            </p:txEl>
                                          </p:spTgt>
                                        </p:tgtEl>
                                        <p:attrNameLst>
                                          <p:attrName>style.visibility</p:attrName>
                                        </p:attrNameLst>
                                      </p:cBhvr>
                                      <p:to>
                                        <p:strVal val="visible"/>
                                      </p:to>
                                    </p:set>
                                    <p:anim calcmode="lin" valueType="num">
                                      <p:cBhvr additive="base">
                                        <p:cTn id="31" dur="500" fill="hold"/>
                                        <p:tgtEl>
                                          <p:spTgt spid="9216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6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idx="1"/>
          </p:nvPr>
        </p:nvSpPr>
        <p:spPr>
          <a:xfrm>
            <a:off x="250825" y="836613"/>
            <a:ext cx="8569325" cy="5832475"/>
          </a:xfrm>
        </p:spPr>
        <p:txBody>
          <a:bodyPr>
            <a:normAutofit/>
          </a:bodyPr>
          <a:lstStyle/>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利用以上定义的函数</a:t>
            </a:r>
            <a:r>
              <a:rPr lang="en-US" altLang="zh-CN" sz="2800" b="1" dirty="0">
                <a:effectLst>
                  <a:outerShdw blurRad="38100" dist="38100" dir="2700000" algn="tl">
                    <a:srgbClr val="C0C0C0"/>
                  </a:outerShdw>
                </a:effectLst>
                <a:latin typeface="楷体_GB2312" pitchFamily="49" charset="-122"/>
                <a:ea typeface="楷体_GB2312" pitchFamily="49" charset="-122"/>
              </a:rPr>
              <a:t>sum()</a:t>
            </a:r>
            <a:r>
              <a:rPr lang="zh-CN" altLang="en-US" sz="2800" b="1" dirty="0">
                <a:effectLst>
                  <a:outerShdw blurRad="38100" dist="38100" dir="2700000" algn="tl">
                    <a:srgbClr val="C0C0C0"/>
                  </a:outerShdw>
                </a:effectLst>
                <a:latin typeface="楷体_GB2312" pitchFamily="49" charset="-122"/>
                <a:ea typeface="楷体_GB2312" pitchFamily="49" charset="-122"/>
              </a:rPr>
              <a:t>，如果有以下变量定义：</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x[] = {1, 2, 3, 4, 5};</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 j;</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则语句</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 = sum(x, 5);</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j = sum(&amp;x[2], 3);</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printf</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 = %d\</a:t>
            </a:r>
            <a:r>
              <a:rPr lang="en-US" altLang="zh-CN" sz="2800" b="1" dirty="0" err="1">
                <a:effectLst>
                  <a:outerShdw blurRad="38100" dist="38100" dir="2700000" algn="tl">
                    <a:srgbClr val="C0C0C0"/>
                  </a:outerShdw>
                </a:effectLst>
                <a:latin typeface="楷体_GB2312" pitchFamily="49" charset="-122"/>
                <a:ea typeface="楷体_GB2312" pitchFamily="49" charset="-122"/>
              </a:rPr>
              <a:t>nj</a:t>
            </a:r>
            <a:r>
              <a:rPr lang="en-US" altLang="zh-CN" sz="2800" b="1" dirty="0">
                <a:effectLst>
                  <a:outerShdw blurRad="38100" dist="38100" dir="2700000" algn="tl">
                    <a:srgbClr val="C0C0C0"/>
                  </a:outerShdw>
                </a:effectLst>
                <a:latin typeface="楷体_GB2312" pitchFamily="49" charset="-122"/>
                <a:ea typeface="楷体_GB2312" pitchFamily="49" charset="-122"/>
              </a:rPr>
              <a:t> = %d\n", </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 j);</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将输出</a:t>
            </a:r>
          </a:p>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a:t>
            </a:r>
            <a:r>
              <a:rPr lang="en-US" altLang="zh-CN" sz="2800" b="1" dirty="0" err="1">
                <a:effectLst>
                  <a:outerShdw blurRad="38100" dist="38100" dir="2700000" algn="tl">
                    <a:srgbClr val="C0C0C0"/>
                  </a:outerShdw>
                </a:effectLst>
                <a:latin typeface="楷体_GB2312" pitchFamily="49" charset="-122"/>
                <a:ea typeface="楷体_GB2312" pitchFamily="49" charset="-122"/>
              </a:rPr>
              <a:t>i</a:t>
            </a:r>
            <a:r>
              <a:rPr lang="en-US" altLang="zh-CN" sz="2800" b="1" dirty="0">
                <a:effectLst>
                  <a:outerShdw blurRad="38100" dist="38100" dir="2700000" algn="tl">
                    <a:srgbClr val="C0C0C0"/>
                  </a:outerShdw>
                </a:effectLst>
                <a:latin typeface="楷体_GB2312" pitchFamily="49" charset="-122"/>
                <a:ea typeface="楷体_GB2312" pitchFamily="49" charset="-122"/>
              </a:rPr>
              <a:t> = 15</a:t>
            </a:r>
          </a:p>
          <a:p>
            <a:pPr marL="0" indent="0" eaLnBrk="1" fontAlgn="auto" hangingPunct="1">
              <a:spcAft>
                <a:spcPts val="0"/>
              </a:spcAft>
              <a:buClr>
                <a:schemeClr val="accent3"/>
              </a:buClr>
              <a:buFontTx/>
              <a:buNone/>
              <a:defRPr/>
            </a:pPr>
            <a:r>
              <a:rPr lang="en-US" altLang="zh-CN" sz="2800" b="1" dirty="0">
                <a:effectLst>
                  <a:outerShdw blurRad="38100" dist="38100" dir="2700000" algn="tl">
                    <a:srgbClr val="C0C0C0"/>
                  </a:outerShdw>
                </a:effectLst>
                <a:latin typeface="楷体_GB2312" pitchFamily="49" charset="-122"/>
                <a:ea typeface="楷体_GB2312" pitchFamily="49" charset="-122"/>
              </a:rPr>
              <a:t>      j = 12</a:t>
            </a:r>
          </a:p>
        </p:txBody>
      </p:sp>
      <p:sp>
        <p:nvSpPr>
          <p:cNvPr id="51203" name="AutoShape 5"/>
          <p:cNvSpPr>
            <a:spLocks noChangeArrowheads="1"/>
          </p:cNvSpPr>
          <p:nvPr/>
        </p:nvSpPr>
        <p:spPr bwMode="auto">
          <a:xfrm>
            <a:off x="4143375" y="2000250"/>
            <a:ext cx="2790825" cy="1011238"/>
          </a:xfrm>
          <a:prstGeom prst="wedgeRoundRectCallout">
            <a:avLst>
              <a:gd name="adj1" fmla="val -91588"/>
              <a:gd name="adj2" fmla="val 57102"/>
              <a:gd name="adj3" fmla="val 16667"/>
            </a:avLst>
          </a:prstGeom>
          <a:solidFill>
            <a:schemeClr val="bg2"/>
          </a:solidFill>
          <a:ln w="9525">
            <a:solidFill>
              <a:schemeClr val="tx1"/>
            </a:solidFill>
            <a:miter lim="800000"/>
            <a:headEnd/>
            <a:tailEnd/>
          </a:ln>
        </p:spPr>
        <p:txBody>
          <a:bodyPr/>
          <a:lstStyle/>
          <a:p>
            <a:pPr algn="ctr"/>
            <a:r>
              <a:rPr lang="zh-CN" altLang="en-US" sz="2000" b="1"/>
              <a:t>将数组</a:t>
            </a:r>
            <a:r>
              <a:rPr lang="en-US" altLang="zh-CN" sz="2000" b="1"/>
              <a:t>x</a:t>
            </a:r>
            <a:r>
              <a:rPr lang="zh-CN" altLang="en-US" sz="2000" b="1"/>
              <a:t>的地址</a:t>
            </a:r>
            <a:r>
              <a:rPr lang="en-US" altLang="zh-CN" sz="2000" b="1"/>
              <a:t>(&amp;x[0])</a:t>
            </a:r>
            <a:r>
              <a:rPr lang="zh-CN" altLang="en-US" sz="2000" b="1"/>
              <a:t>传送给数组形参</a:t>
            </a:r>
            <a:r>
              <a:rPr lang="en-US" altLang="zh-CN" sz="2000" b="1"/>
              <a:t>a</a:t>
            </a:r>
            <a:r>
              <a:rPr lang="zh-CN" altLang="en-US"/>
              <a:t> </a:t>
            </a:r>
          </a:p>
        </p:txBody>
      </p:sp>
      <p:sp>
        <p:nvSpPr>
          <p:cNvPr id="51204" name="AutoShape 6"/>
          <p:cNvSpPr>
            <a:spLocks noChangeArrowheads="1"/>
          </p:cNvSpPr>
          <p:nvPr/>
        </p:nvSpPr>
        <p:spPr bwMode="auto">
          <a:xfrm>
            <a:off x="3635375" y="4652962"/>
            <a:ext cx="2079633" cy="1062053"/>
          </a:xfrm>
          <a:prstGeom prst="wedgeRoundRectCallout">
            <a:avLst>
              <a:gd name="adj1" fmla="val -73892"/>
              <a:gd name="adj2" fmla="val -128218"/>
              <a:gd name="adj3" fmla="val 16667"/>
            </a:avLst>
          </a:prstGeom>
          <a:ln>
            <a:headEnd/>
            <a:tailEnd/>
          </a:ln>
        </p:spPr>
        <p:style>
          <a:lnRef idx="1">
            <a:schemeClr val="accent4"/>
          </a:lnRef>
          <a:fillRef idx="2">
            <a:schemeClr val="accent4"/>
          </a:fillRef>
          <a:effectRef idx="1">
            <a:schemeClr val="accent4"/>
          </a:effectRef>
          <a:fontRef idx="minor">
            <a:schemeClr val="dk1"/>
          </a:fontRef>
        </p:style>
        <p:txBody>
          <a:bodyPr/>
          <a:lstStyle/>
          <a:p>
            <a:pPr algn="ctr">
              <a:defRPr/>
            </a:pPr>
            <a:r>
              <a:rPr lang="zh-CN" altLang="en-US" sz="2000" b="1" dirty="0"/>
              <a:t>将数组</a:t>
            </a:r>
            <a:r>
              <a:rPr lang="en-US" altLang="zh-CN" sz="2000" b="1" dirty="0"/>
              <a:t>x</a:t>
            </a:r>
            <a:r>
              <a:rPr lang="zh-CN" altLang="en-US" sz="2000" b="1" dirty="0"/>
              <a:t>中的</a:t>
            </a:r>
            <a:r>
              <a:rPr lang="en-US" altLang="zh-CN" sz="2000" b="1" dirty="0"/>
              <a:t>x[2]</a:t>
            </a:r>
            <a:r>
              <a:rPr lang="zh-CN" altLang="en-US" sz="2000" b="1" dirty="0"/>
              <a:t>的地址</a:t>
            </a:r>
            <a:r>
              <a:rPr lang="en-US" altLang="zh-CN" sz="2000" b="1" dirty="0"/>
              <a:t>(&amp;x[2])</a:t>
            </a:r>
            <a:r>
              <a:rPr lang="zh-CN" altLang="en-US" sz="2000" b="1" dirty="0"/>
              <a:t>传送给形参</a:t>
            </a:r>
            <a:r>
              <a:rPr lang="en-US" altLang="zh-CN" sz="2000" b="1" dirty="0"/>
              <a:t>a </a:t>
            </a:r>
          </a:p>
        </p:txBody>
      </p:sp>
      <p:sp>
        <p:nvSpPr>
          <p:cNvPr id="5" name="Slide Number Placeholder 4"/>
          <p:cNvSpPr>
            <a:spLocks noGrp="1"/>
          </p:cNvSpPr>
          <p:nvPr>
            <p:ph type="sldNum" sz="quarter" idx="12"/>
          </p:nvPr>
        </p:nvSpPr>
        <p:spPr/>
        <p:txBody>
          <a:bodyPr/>
          <a:lstStyle/>
          <a:p>
            <a:pPr>
              <a:defRPr/>
            </a:pPr>
            <a:fld id="{FEF7602E-BE3D-4BE3-846A-29B150547EAE}" type="slidenum">
              <a:rPr lang="en-US" altLang="zh-CN"/>
              <a:pPr>
                <a:defRPr/>
              </a:pPr>
              <a:t>51</a:t>
            </a:fld>
            <a:endParaRPr lang="en-US"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idx="1"/>
          </p:nvPr>
        </p:nvSpPr>
        <p:spPr>
          <a:xfrm>
            <a:off x="250825" y="549275"/>
            <a:ext cx="8569325" cy="5832475"/>
          </a:xfrm>
        </p:spPr>
        <p:txBody>
          <a:bodyPr>
            <a:normAutofit/>
          </a:bodyPr>
          <a:lstStyle/>
          <a:p>
            <a:pPr marL="0" indent="0" eaLnBrk="1" fontAlgn="auto" hangingPunct="1">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对于数组类型的形参来说，函数被调用时，与它对应的实在数组有多少个元素是不确定的，可能会对应一个大数组，也可能会对应一个小数组，甚至会对应数组中的某一段。</a:t>
            </a:r>
          </a:p>
          <a:p>
            <a:pPr marL="0" indent="0" eaLnBrk="1" fontAlgn="auto" hangingPunct="1">
              <a:spcAft>
                <a:spcPts val="0"/>
              </a:spcAft>
              <a:buClr>
                <a:schemeClr val="accent3"/>
              </a:buClr>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在数组形参说明中，形参数组不必指定数组元素的个数。</a:t>
            </a:r>
          </a:p>
          <a:p>
            <a:pPr marL="0" indent="0" eaLnBrk="1" fontAlgn="auto" hangingPunct="1">
              <a:spcAft>
                <a:spcPts val="0"/>
              </a:spcAft>
              <a:buClr>
                <a:schemeClr val="accent3"/>
              </a:buClr>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为了正确指明某次函数调用实际参与计算的</a:t>
            </a:r>
            <a:r>
              <a:rPr lang="zh-CN" altLang="en-US" b="1" dirty="0">
                <a:solidFill>
                  <a:srgbClr val="C00000"/>
                </a:solidFill>
                <a:effectLst>
                  <a:outerShdw blurRad="38100" dist="38100" dir="2700000" algn="tl">
                    <a:srgbClr val="C0C0C0"/>
                  </a:outerShdw>
                </a:effectLst>
                <a:latin typeface="楷体_GB2312" pitchFamily="49" charset="-122"/>
                <a:ea typeface="楷体_GB2312" pitchFamily="49" charset="-122"/>
              </a:rPr>
              <a:t>元素个数</a:t>
            </a:r>
            <a:r>
              <a:rPr lang="zh-CN" altLang="en-US" b="1" dirty="0">
                <a:effectLst>
                  <a:outerShdw blurRad="38100" dist="38100" dir="2700000" algn="tl">
                    <a:srgbClr val="C0C0C0"/>
                  </a:outerShdw>
                </a:effectLst>
                <a:latin typeface="楷体_GB2312" pitchFamily="49" charset="-122"/>
                <a:ea typeface="楷体_GB2312" pitchFamily="49" charset="-122"/>
              </a:rPr>
              <a:t>，</a:t>
            </a:r>
            <a:r>
              <a:rPr lang="zh-CN" altLang="en-US" b="1" dirty="0">
                <a:solidFill>
                  <a:srgbClr val="C00000"/>
                </a:solidFill>
                <a:effectLst>
                  <a:outerShdw blurRad="38100" dist="38100" dir="2700000" algn="tl">
                    <a:srgbClr val="C0C0C0"/>
                  </a:outerShdw>
                </a:effectLst>
                <a:latin typeface="楷体_GB2312" pitchFamily="49" charset="-122"/>
                <a:ea typeface="楷体_GB2312" pitchFamily="49" charset="-122"/>
              </a:rPr>
              <a:t>应另引入一个整型形参来指定</a:t>
            </a:r>
            <a:r>
              <a:rPr lang="zh-CN" altLang="en-US" b="1" dirty="0">
                <a:effectLst>
                  <a:outerShdw blurRad="38100" dist="38100" dir="2700000" algn="tl">
                    <a:srgbClr val="C0C0C0"/>
                  </a:outerShdw>
                </a:effectLst>
                <a:latin typeface="楷体_GB2312" pitchFamily="49" charset="-122"/>
                <a:ea typeface="楷体_GB2312" pitchFamily="49" charset="-122"/>
              </a:rPr>
              <a:t>，就如函数</a:t>
            </a:r>
            <a:r>
              <a:rPr lang="en-US" altLang="zh-CN" b="1" dirty="0">
                <a:effectLst>
                  <a:outerShdw blurRad="38100" dist="38100" dir="2700000" algn="tl">
                    <a:srgbClr val="C0C0C0"/>
                  </a:outerShdw>
                </a:effectLst>
                <a:latin typeface="楷体_GB2312" pitchFamily="49" charset="-122"/>
                <a:ea typeface="楷体_GB2312" pitchFamily="49" charset="-122"/>
              </a:rPr>
              <a:t>sum()</a:t>
            </a:r>
            <a:r>
              <a:rPr lang="zh-CN" altLang="en-US" b="1" dirty="0">
                <a:effectLst>
                  <a:outerShdw blurRad="38100" dist="38100" dir="2700000" algn="tl">
                    <a:srgbClr val="C0C0C0"/>
                  </a:outerShdw>
                </a:effectLst>
                <a:latin typeface="楷体_GB2312" pitchFamily="49" charset="-122"/>
                <a:ea typeface="楷体_GB2312" pitchFamily="49" charset="-122"/>
              </a:rPr>
              <a:t>那样。</a:t>
            </a:r>
            <a:r>
              <a:rPr lang="zh-CN" altLang="en-US" dirty="0">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E626351F-F5D3-47D4-8B92-503AC3487E04}" type="slidenum">
              <a:rPr lang="en-US" altLang="zh-CN"/>
              <a:pPr>
                <a:defRPr/>
              </a:pPr>
              <a:t>52</a:t>
            </a:fld>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idx="1"/>
          </p:nvPr>
        </p:nvSpPr>
        <p:spPr>
          <a:xfrm>
            <a:off x="250825" y="549275"/>
            <a:ext cx="8569325" cy="5832475"/>
          </a:xfrm>
        </p:spPr>
        <p:txBody>
          <a:bodyPr>
            <a:normAutofit fontScale="92500" lnSpcReduction="10000"/>
          </a:bodyPr>
          <a:lstStyle/>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因传递给数组形参的实参是数组段的开始地址，函数内对数组形参的访问就是对实参所指数组的访问。函数也可以改变实参所指数组元素的值。例如，以下</a:t>
            </a:r>
            <a:r>
              <a:rPr lang="en-US" altLang="zh-CN" sz="2400" b="1" dirty="0" err="1">
                <a:effectLst>
                  <a:outerShdw blurRad="38100" dist="38100" dir="2700000" algn="tl">
                    <a:srgbClr val="C0C0C0"/>
                  </a:outerShdw>
                </a:effectLst>
                <a:latin typeface="楷体_GB2312" pitchFamily="49" charset="-122"/>
                <a:ea typeface="楷体_GB2312" pitchFamily="49" charset="-122"/>
              </a:rPr>
              <a:t>initArry</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函数的定义：</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a:effectLst>
                  <a:outerShdw blurRad="38100" dist="38100" dir="2700000" algn="tl">
                    <a:srgbClr val="C0C0C0"/>
                  </a:outerShdw>
                </a:effectLst>
                <a:latin typeface="楷体_GB2312" pitchFamily="49" charset="-122"/>
                <a:ea typeface="楷体_GB2312" pitchFamily="49" charset="-122"/>
              </a:rPr>
              <a:t>void </a:t>
            </a:r>
            <a:r>
              <a:rPr lang="en-US" altLang="zh-CN" sz="2400" b="1" dirty="0" err="1">
                <a:effectLst>
                  <a:outerShdw blurRad="38100" dist="38100" dir="2700000" algn="tl">
                    <a:srgbClr val="C0C0C0"/>
                  </a:outerShdw>
                </a:effectLst>
                <a:latin typeface="楷体_GB2312" pitchFamily="49" charset="-122"/>
                <a:ea typeface="楷体_GB2312" pitchFamily="49" charset="-122"/>
              </a:rPr>
              <a:t>initArray</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x[],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n,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val</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for(</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0;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&lt; n;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x[</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a:t>
            </a:r>
            <a:r>
              <a:rPr lang="en-US" altLang="zh-CN" sz="2400" b="1" dirty="0" err="1">
                <a:effectLst>
                  <a:outerShdw blurRad="38100" dist="38100" dir="2700000" algn="tl">
                    <a:srgbClr val="C0C0C0"/>
                  </a:outerShdw>
                </a:effectLst>
                <a:latin typeface="楷体_GB2312" pitchFamily="49" charset="-122"/>
                <a:ea typeface="楷体_GB2312" pitchFamily="49" charset="-122"/>
              </a:rPr>
              <a:t>val</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函数</a:t>
            </a:r>
            <a:r>
              <a:rPr lang="en-US" altLang="zh-CN" sz="2400" b="1" dirty="0" err="1">
                <a:effectLst>
                  <a:outerShdw blurRad="38100" dist="38100" dir="2700000" algn="tl">
                    <a:srgbClr val="C0C0C0"/>
                  </a:outerShdw>
                </a:effectLst>
                <a:latin typeface="楷体_GB2312" pitchFamily="49" charset="-122"/>
                <a:ea typeface="楷体_GB2312" pitchFamily="49" charset="-122"/>
              </a:rPr>
              <a:t>initArray</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是给数组元素赋指定值的。</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如有数组定义</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a[10], b[100];</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语句</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initArray</a:t>
            </a:r>
            <a:r>
              <a:rPr lang="en-US" altLang="zh-CN" sz="2400" b="1" dirty="0">
                <a:effectLst>
                  <a:outerShdw blurRad="38100" dist="38100" dir="2700000" algn="tl">
                    <a:srgbClr val="C0C0C0"/>
                  </a:outerShdw>
                </a:effectLst>
                <a:latin typeface="楷体_GB2312" pitchFamily="49" charset="-122"/>
                <a:ea typeface="楷体_GB2312" pitchFamily="49" charset="-122"/>
              </a:rPr>
              <a:t>(a, 10, 1);   </a:t>
            </a:r>
            <a:r>
              <a:rPr lang="en-US" altLang="zh-CN" sz="2400" b="1" dirty="0" err="1">
                <a:effectLst>
                  <a:outerShdw blurRad="38100" dist="38100" dir="2700000" algn="tl">
                    <a:srgbClr val="C0C0C0"/>
                  </a:outerShdw>
                </a:effectLst>
                <a:latin typeface="楷体_GB2312" pitchFamily="49" charset="-122"/>
                <a:ea typeface="楷体_GB2312" pitchFamily="49" charset="-122"/>
              </a:rPr>
              <a:t>initArray</a:t>
            </a:r>
            <a:r>
              <a:rPr lang="en-US" altLang="zh-CN" sz="2400" b="1" dirty="0">
                <a:effectLst>
                  <a:outerShdw blurRad="38100" dist="38100" dir="2700000" algn="tl">
                    <a:srgbClr val="C0C0C0"/>
                  </a:outerShdw>
                </a:effectLst>
                <a:latin typeface="楷体_GB2312" pitchFamily="49" charset="-122"/>
                <a:ea typeface="楷体_GB2312" pitchFamily="49" charset="-122"/>
              </a:rPr>
              <a:t>(b, 50, 2);</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initArray</a:t>
            </a:r>
            <a:r>
              <a:rPr lang="en-US" altLang="zh-CN" sz="2400" b="1" dirty="0">
                <a:effectLst>
                  <a:outerShdw blurRad="38100" dist="38100" dir="2700000" algn="tl">
                    <a:srgbClr val="C0C0C0"/>
                  </a:outerShdw>
                </a:effectLst>
                <a:latin typeface="楷体_GB2312" pitchFamily="49" charset="-122"/>
                <a:ea typeface="楷体_GB2312" pitchFamily="49" charset="-122"/>
              </a:rPr>
              <a:t>(&amp;b[50], 50, 4);</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分别给数组</a:t>
            </a:r>
            <a:r>
              <a:rPr lang="en-US" altLang="zh-CN" sz="2400" b="1" dirty="0">
                <a:effectLst>
                  <a:outerShdw blurRad="38100" dist="38100" dir="2700000" algn="tl">
                    <a:srgbClr val="C0C0C0"/>
                  </a:outerShdw>
                </a:effectLst>
                <a:latin typeface="楷体_GB2312" pitchFamily="49" charset="-122"/>
                <a:ea typeface="楷体_GB2312" pitchFamily="49" charset="-122"/>
              </a:rPr>
              <a:t>a</a:t>
            </a:r>
            <a:r>
              <a:rPr lang="zh-CN" altLang="en-US" sz="2400" b="1" dirty="0">
                <a:effectLst>
                  <a:outerShdw blurRad="38100" dist="38100" dir="2700000" algn="tl">
                    <a:srgbClr val="C0C0C0"/>
                  </a:outerShdw>
                </a:effectLst>
                <a:latin typeface="楷体_GB2312" pitchFamily="49" charset="-122"/>
                <a:ea typeface="楷体_GB2312" pitchFamily="49" charset="-122"/>
              </a:rPr>
              <a:t>的所有元素赋值</a:t>
            </a:r>
            <a:r>
              <a:rPr lang="en-US" altLang="zh-CN" sz="2400" b="1" dirty="0">
                <a:effectLst>
                  <a:outerShdw blurRad="38100" dist="38100" dir="2700000" algn="tl">
                    <a:srgbClr val="C0C0C0"/>
                  </a:outerShdw>
                </a:effectLst>
                <a:latin typeface="楷体_GB2312" pitchFamily="49" charset="-122"/>
                <a:ea typeface="楷体_GB2312" pitchFamily="49" charset="-122"/>
              </a:rPr>
              <a:t>1</a:t>
            </a:r>
            <a:r>
              <a:rPr lang="zh-CN" altLang="en-US" sz="2400" b="1" dirty="0">
                <a:effectLst>
                  <a:outerShdw blurRad="38100" dist="38100" dir="2700000" algn="tl">
                    <a:srgbClr val="C0C0C0"/>
                  </a:outerShdw>
                </a:effectLst>
                <a:latin typeface="楷体_GB2312" pitchFamily="49" charset="-122"/>
                <a:ea typeface="楷体_GB2312" pitchFamily="49" charset="-122"/>
              </a:rPr>
              <a:t>，为数组</a:t>
            </a:r>
            <a:r>
              <a:rPr lang="en-US" altLang="zh-CN" sz="2400" b="1" dirty="0">
                <a:effectLst>
                  <a:outerShdw blurRad="38100" dist="38100" dir="2700000" algn="tl">
                    <a:srgbClr val="C0C0C0"/>
                  </a:outerShdw>
                </a:effectLst>
                <a:latin typeface="楷体_GB2312" pitchFamily="49" charset="-122"/>
                <a:ea typeface="楷体_GB2312" pitchFamily="49" charset="-122"/>
              </a:rPr>
              <a:t>b</a:t>
            </a:r>
            <a:r>
              <a:rPr lang="zh-CN" altLang="en-US" sz="2400" b="1" dirty="0">
                <a:effectLst>
                  <a:outerShdw blurRad="38100" dist="38100" dir="2700000" algn="tl">
                    <a:srgbClr val="C0C0C0"/>
                  </a:outerShdw>
                </a:effectLst>
                <a:latin typeface="楷体_GB2312" pitchFamily="49" charset="-122"/>
                <a:ea typeface="楷体_GB2312" pitchFamily="49" charset="-122"/>
              </a:rPr>
              <a:t>的前</a:t>
            </a:r>
            <a:r>
              <a:rPr lang="en-US" altLang="zh-CN" sz="2400" b="1" dirty="0">
                <a:effectLst>
                  <a:outerShdw blurRad="38100" dist="38100" dir="2700000" algn="tl">
                    <a:srgbClr val="C0C0C0"/>
                  </a:outerShdw>
                </a:effectLst>
                <a:latin typeface="楷体_GB2312" pitchFamily="49" charset="-122"/>
                <a:ea typeface="楷体_GB2312" pitchFamily="49" charset="-122"/>
              </a:rPr>
              <a:t>50</a:t>
            </a:r>
            <a:r>
              <a:rPr lang="zh-CN" altLang="en-US" sz="2400" b="1" dirty="0">
                <a:effectLst>
                  <a:outerShdw blurRad="38100" dist="38100" dir="2700000" algn="tl">
                    <a:srgbClr val="C0C0C0"/>
                  </a:outerShdw>
                </a:effectLst>
                <a:latin typeface="楷体_GB2312" pitchFamily="49" charset="-122"/>
                <a:ea typeface="楷体_GB2312" pitchFamily="49" charset="-122"/>
              </a:rPr>
              <a:t>个元素赋值</a:t>
            </a:r>
            <a:r>
              <a:rPr lang="en-US" altLang="zh-CN" sz="2400" b="1" dirty="0">
                <a:effectLst>
                  <a:outerShdw blurRad="38100" dist="38100" dir="2700000" algn="tl">
                    <a:srgbClr val="C0C0C0"/>
                  </a:outerShdw>
                </a:effectLst>
                <a:latin typeface="楷体_GB2312" pitchFamily="49" charset="-122"/>
                <a:ea typeface="楷体_GB2312" pitchFamily="49" charset="-122"/>
              </a:rPr>
              <a:t>2</a:t>
            </a:r>
            <a:r>
              <a:rPr lang="zh-CN" altLang="en-US" sz="2400" b="1" dirty="0">
                <a:effectLst>
                  <a:outerShdw blurRad="38100" dist="38100" dir="2700000" algn="tl">
                    <a:srgbClr val="C0C0C0"/>
                  </a:outerShdw>
                </a:effectLst>
                <a:latin typeface="楷体_GB2312" pitchFamily="49" charset="-122"/>
                <a:ea typeface="楷体_GB2312" pitchFamily="49" charset="-122"/>
              </a:rPr>
              <a:t>，后</a:t>
            </a:r>
            <a:r>
              <a:rPr lang="en-US" altLang="zh-CN" sz="2400" b="1" dirty="0">
                <a:effectLst>
                  <a:outerShdw blurRad="38100" dist="38100" dir="2700000" algn="tl">
                    <a:srgbClr val="C0C0C0"/>
                  </a:outerShdw>
                </a:effectLst>
                <a:latin typeface="楷体_GB2312" pitchFamily="49" charset="-122"/>
                <a:ea typeface="楷体_GB2312" pitchFamily="49" charset="-122"/>
              </a:rPr>
              <a:t>50</a:t>
            </a:r>
            <a:r>
              <a:rPr lang="zh-CN" altLang="en-US" sz="2400" b="1" dirty="0">
                <a:effectLst>
                  <a:outerShdw blurRad="38100" dist="38100" dir="2700000" algn="tl">
                    <a:srgbClr val="C0C0C0"/>
                  </a:outerShdw>
                </a:effectLst>
                <a:latin typeface="楷体_GB2312" pitchFamily="49" charset="-122"/>
                <a:ea typeface="楷体_GB2312" pitchFamily="49" charset="-122"/>
              </a:rPr>
              <a:t>个元素赋值</a:t>
            </a:r>
            <a:r>
              <a:rPr lang="en-US" altLang="zh-CN" sz="2400" b="1" dirty="0">
                <a:effectLst>
                  <a:outerShdw blurRad="38100" dist="38100" dir="2700000" algn="tl">
                    <a:srgbClr val="C0C0C0"/>
                  </a:outerShdw>
                </a:effectLst>
                <a:latin typeface="楷体_GB2312" pitchFamily="49" charset="-122"/>
                <a:ea typeface="楷体_GB2312" pitchFamily="49" charset="-122"/>
              </a:rPr>
              <a:t>4</a:t>
            </a:r>
            <a:r>
              <a:rPr lang="zh-CN" altLang="en-US" sz="2400" b="1" dirty="0">
                <a:effectLst>
                  <a:outerShdw blurRad="38100" dist="38100" dir="2700000" algn="tl">
                    <a:srgbClr val="C0C0C0"/>
                  </a:outerShdw>
                </a:effectLst>
                <a:latin typeface="楷体_GB2312" pitchFamily="49" charset="-122"/>
                <a:ea typeface="楷体_GB2312" pitchFamily="49" charset="-122"/>
              </a:rPr>
              <a:t>。</a:t>
            </a:r>
          </a:p>
        </p:txBody>
      </p:sp>
      <p:sp>
        <p:nvSpPr>
          <p:cNvPr id="3" name="Slide Number Placeholder 2"/>
          <p:cNvSpPr>
            <a:spLocks noGrp="1"/>
          </p:cNvSpPr>
          <p:nvPr>
            <p:ph type="sldNum" sz="quarter" idx="12"/>
          </p:nvPr>
        </p:nvSpPr>
        <p:spPr/>
        <p:txBody>
          <a:bodyPr/>
          <a:lstStyle/>
          <a:p>
            <a:pPr>
              <a:defRPr/>
            </a:pPr>
            <a:fld id="{D23AF109-E2A1-4F44-8752-DAB4EB38531A}" type="slidenum">
              <a:rPr lang="en-US" altLang="zh-CN"/>
              <a:pPr>
                <a:defRPr/>
              </a:pPr>
              <a:t>53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130">
                                            <p:txEl>
                                              <p:pRg st="6" end="6"/>
                                            </p:txEl>
                                          </p:spTgt>
                                        </p:tgtEl>
                                        <p:attrNameLst>
                                          <p:attrName>style.visibility</p:attrName>
                                        </p:attrNameLst>
                                      </p:cBhvr>
                                      <p:to>
                                        <p:strVal val="visible"/>
                                      </p:to>
                                    </p:set>
                                    <p:anim calcmode="lin" valueType="num">
                                      <p:cBhvr additive="base">
                                        <p:cTn id="7" dur="500" fill="hold"/>
                                        <p:tgtEl>
                                          <p:spTgt spid="176130">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6130">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6130">
                                            <p:txEl>
                                              <p:pRg st="7" end="7"/>
                                            </p:txEl>
                                          </p:spTgt>
                                        </p:tgtEl>
                                        <p:attrNameLst>
                                          <p:attrName>style.visibility</p:attrName>
                                        </p:attrNameLst>
                                      </p:cBhvr>
                                      <p:to>
                                        <p:strVal val="visible"/>
                                      </p:to>
                                    </p:set>
                                    <p:anim calcmode="lin" valueType="num">
                                      <p:cBhvr additive="base">
                                        <p:cTn id="11" dur="500" fill="hold"/>
                                        <p:tgtEl>
                                          <p:spTgt spid="176130">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6130">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6130">
                                            <p:txEl>
                                              <p:pRg st="8" end="8"/>
                                            </p:txEl>
                                          </p:spTgt>
                                        </p:tgtEl>
                                        <p:attrNameLst>
                                          <p:attrName>style.visibility</p:attrName>
                                        </p:attrNameLst>
                                      </p:cBhvr>
                                      <p:to>
                                        <p:strVal val="visible"/>
                                      </p:to>
                                    </p:set>
                                    <p:anim calcmode="lin" valueType="num">
                                      <p:cBhvr additive="base">
                                        <p:cTn id="15" dur="500" fill="hold"/>
                                        <p:tgtEl>
                                          <p:spTgt spid="176130">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6130">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6130">
                                            <p:txEl>
                                              <p:pRg st="9" end="9"/>
                                            </p:txEl>
                                          </p:spTgt>
                                        </p:tgtEl>
                                        <p:attrNameLst>
                                          <p:attrName>style.visibility</p:attrName>
                                        </p:attrNameLst>
                                      </p:cBhvr>
                                      <p:to>
                                        <p:strVal val="visible"/>
                                      </p:to>
                                    </p:set>
                                    <p:anim calcmode="lin" valueType="num">
                                      <p:cBhvr additive="base">
                                        <p:cTn id="19" dur="500" fill="hold"/>
                                        <p:tgtEl>
                                          <p:spTgt spid="176130">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6130">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6130">
                                            <p:txEl>
                                              <p:pRg st="10" end="10"/>
                                            </p:txEl>
                                          </p:spTgt>
                                        </p:tgtEl>
                                        <p:attrNameLst>
                                          <p:attrName>style.visibility</p:attrName>
                                        </p:attrNameLst>
                                      </p:cBhvr>
                                      <p:to>
                                        <p:strVal val="visible"/>
                                      </p:to>
                                    </p:set>
                                    <p:anim calcmode="lin" valueType="num">
                                      <p:cBhvr additive="base">
                                        <p:cTn id="23" dur="500" fill="hold"/>
                                        <p:tgtEl>
                                          <p:spTgt spid="176130">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6130">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6130">
                                            <p:txEl>
                                              <p:pRg st="11" end="11"/>
                                            </p:txEl>
                                          </p:spTgt>
                                        </p:tgtEl>
                                        <p:attrNameLst>
                                          <p:attrName>style.visibility</p:attrName>
                                        </p:attrNameLst>
                                      </p:cBhvr>
                                      <p:to>
                                        <p:strVal val="visible"/>
                                      </p:to>
                                    </p:set>
                                    <p:anim calcmode="lin" valueType="num">
                                      <p:cBhvr additive="base">
                                        <p:cTn id="27" dur="500" fill="hold"/>
                                        <p:tgtEl>
                                          <p:spTgt spid="176130">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6130">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idx="1"/>
          </p:nvPr>
        </p:nvSpPr>
        <p:spPr>
          <a:xfrm>
            <a:off x="250825" y="549275"/>
            <a:ext cx="8569325" cy="5832475"/>
          </a:xfrm>
        </p:spPr>
        <p:txBody>
          <a:bodyPr>
            <a:normAutofit/>
          </a:bodyPr>
          <a:lstStyle/>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数组形参也可以是多维数组。当数组形参是多维时，除数组形参的第一维大小不必指定外，其他维的大小必须明确指定。</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例如，下面的函数</a:t>
            </a:r>
            <a:r>
              <a:rPr lang="en-US" altLang="zh-CN" sz="2400" b="1" dirty="0" err="1">
                <a:effectLst>
                  <a:outerShdw blurRad="38100" dist="38100" dir="2700000" algn="tl">
                    <a:srgbClr val="C0C0C0"/>
                  </a:outerShdw>
                </a:effectLst>
                <a:latin typeface="楷体_GB2312" pitchFamily="49" charset="-122"/>
                <a:ea typeface="楷体_GB2312" pitchFamily="49" charset="-122"/>
              </a:rPr>
              <a:t>sumAToB</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，用于将一个</a:t>
            </a:r>
            <a:r>
              <a:rPr lang="en-US" altLang="zh-CN" sz="2400" b="1" dirty="0">
                <a:effectLst>
                  <a:outerShdw blurRad="38100" dist="38100" dir="2700000" algn="tl">
                    <a:srgbClr val="C0C0C0"/>
                  </a:outerShdw>
                </a:effectLst>
                <a:latin typeface="楷体_GB2312" pitchFamily="49" charset="-122"/>
                <a:ea typeface="楷体_GB2312" pitchFamily="49" charset="-122"/>
              </a:rPr>
              <a:t>n×10</a:t>
            </a:r>
            <a:r>
              <a:rPr lang="zh-CN" altLang="en-US" sz="2400" b="1" dirty="0">
                <a:effectLst>
                  <a:outerShdw blurRad="38100" dist="38100" dir="2700000" algn="tl">
                    <a:srgbClr val="C0C0C0"/>
                  </a:outerShdw>
                </a:effectLst>
                <a:latin typeface="楷体_GB2312" pitchFamily="49" charset="-122"/>
                <a:ea typeface="楷体_GB2312" pitchFamily="49" charset="-122"/>
              </a:rPr>
              <a:t>的二维数组各行的</a:t>
            </a:r>
            <a:r>
              <a:rPr lang="en-US" altLang="zh-CN" sz="2400" b="1" dirty="0">
                <a:effectLst>
                  <a:outerShdw blurRad="38100" dist="38100" dir="2700000" algn="tl">
                    <a:srgbClr val="C0C0C0"/>
                  </a:outerShdw>
                </a:effectLst>
                <a:latin typeface="楷体_GB2312" pitchFamily="49" charset="-122"/>
                <a:ea typeface="楷体_GB2312" pitchFamily="49" charset="-122"/>
              </a:rPr>
              <a:t>10</a:t>
            </a:r>
            <a:r>
              <a:rPr lang="zh-CN" altLang="en-US" sz="2400" b="1" dirty="0">
                <a:effectLst>
                  <a:outerShdw blurRad="38100" dist="38100" dir="2700000" algn="tl">
                    <a:srgbClr val="C0C0C0"/>
                  </a:outerShdw>
                </a:effectLst>
                <a:latin typeface="楷体_GB2312" pitchFamily="49" charset="-122"/>
                <a:ea typeface="楷体_GB2312" pitchFamily="49" charset="-122"/>
              </a:rPr>
              <a:t>个元素之和存于另一个数组中。</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a:effectLst>
                  <a:outerShdw blurRad="38100" dist="38100" dir="2700000" algn="tl">
                    <a:srgbClr val="C0C0C0"/>
                  </a:outerShdw>
                </a:effectLst>
                <a:latin typeface="楷体_GB2312" pitchFamily="49" charset="-122"/>
                <a:ea typeface="楷体_GB2312" pitchFamily="49" charset="-122"/>
              </a:rPr>
              <a:t>void  </a:t>
            </a:r>
            <a:r>
              <a:rPr lang="en-US" altLang="zh-CN" sz="2400" b="1" dirty="0" err="1">
                <a:effectLst>
                  <a:outerShdw blurRad="38100" dist="38100" dir="2700000" algn="tl">
                    <a:srgbClr val="C0C0C0"/>
                  </a:outerShdw>
                </a:effectLst>
                <a:latin typeface="楷体_GB2312" pitchFamily="49" charset="-122"/>
                <a:ea typeface="楷体_GB2312" pitchFamily="49" charset="-122"/>
              </a:rPr>
              <a:t>sumAToB</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a[][10],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b[],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n)</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j;</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for(</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0;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&lt; n;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for(b[</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0, j = 0; j &lt; 10; j++)</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b[</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a[</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][j];</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在函数</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sumAToB</a:t>
            </a:r>
            <a:r>
              <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的定义中，如果形参</a:t>
            </a:r>
            <a:r>
              <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a</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的说明写成</a:t>
            </a:r>
            <a:r>
              <a:rPr lang="en-US" altLang="zh-CN" sz="2400" b="1" dirty="0" err="1">
                <a:solidFill>
                  <a:srgbClr val="C00000"/>
                </a:solidFill>
                <a:effectLst>
                  <a:outerShdw blurRad="38100" dist="38100" dir="2700000" algn="tl">
                    <a:srgbClr val="C0C0C0"/>
                  </a:outerShdw>
                </a:effectLst>
                <a:latin typeface="楷体_GB2312" pitchFamily="49" charset="-122"/>
                <a:ea typeface="楷体_GB2312" pitchFamily="49" charset="-122"/>
              </a:rPr>
              <a:t>int</a:t>
            </a:r>
            <a:r>
              <a:rPr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 a[][]</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则是错误的。</a:t>
            </a:r>
            <a:r>
              <a:rPr lang="zh-CN" altLang="en-US" sz="2400" b="1" dirty="0">
                <a:effectLst>
                  <a:outerShdw blurRad="38100" dist="38100" dir="2700000" algn="tl">
                    <a:srgbClr val="C0C0C0"/>
                  </a:outerShdw>
                </a:effectLst>
                <a:latin typeface="楷体_GB2312" pitchFamily="49" charset="-122"/>
                <a:ea typeface="楷体_GB2312" pitchFamily="49" charset="-122"/>
              </a:rPr>
              <a:t>因二维数组的元素只是一行行存放，并不自动说明数组的列数（即每行元素个数）。如果在数组形参中不说明它的列数，就无法确定数组元素</a:t>
            </a:r>
            <a:r>
              <a:rPr lang="en-US" altLang="zh-CN" sz="2400" b="1" dirty="0">
                <a:effectLst>
                  <a:outerShdw blurRad="38100" dist="38100" dir="2700000" algn="tl">
                    <a:srgbClr val="C0C0C0"/>
                  </a:outerShdw>
                </a:effectLst>
                <a:latin typeface="楷体_GB2312" pitchFamily="49" charset="-122"/>
                <a:ea typeface="楷体_GB2312" pitchFamily="49" charset="-122"/>
              </a:rPr>
              <a:t>a[</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][j]</a:t>
            </a:r>
            <a:r>
              <a:rPr lang="zh-CN" altLang="en-US" sz="2400" b="1" dirty="0">
                <a:effectLst>
                  <a:outerShdw blurRad="38100" dist="38100" dir="2700000" algn="tl">
                    <a:srgbClr val="C0C0C0"/>
                  </a:outerShdw>
                </a:effectLst>
                <a:latin typeface="楷体_GB2312" pitchFamily="49" charset="-122"/>
                <a:ea typeface="楷体_GB2312" pitchFamily="49" charset="-122"/>
              </a:rPr>
              <a:t>的实际地址。</a:t>
            </a:r>
            <a:r>
              <a:rPr lang="zh-CN" altLang="en-US" sz="2400" dirty="0">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C96CF9EE-CD27-4C08-92AC-5044DDAEBCA9}" type="slidenum">
              <a:rPr lang="en-US" altLang="zh-CN"/>
              <a:pPr>
                <a:defRPr/>
              </a:pPr>
              <a:t>54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7154">
                                            <p:txEl>
                                              <p:pRg st="1" end="1"/>
                                            </p:txEl>
                                          </p:spTgt>
                                        </p:tgtEl>
                                        <p:attrNameLst>
                                          <p:attrName>style.visibility</p:attrName>
                                        </p:attrNameLst>
                                      </p:cBhvr>
                                      <p:to>
                                        <p:strVal val="visible"/>
                                      </p:to>
                                    </p:set>
                                    <p:anim calcmode="lin" valueType="num">
                                      <p:cBhvr additive="base">
                                        <p:cTn id="7" dur="500" fill="hold"/>
                                        <p:tgtEl>
                                          <p:spTgt spid="17715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715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7154">
                                            <p:txEl>
                                              <p:pRg st="2" end="2"/>
                                            </p:txEl>
                                          </p:spTgt>
                                        </p:tgtEl>
                                        <p:attrNameLst>
                                          <p:attrName>style.visibility</p:attrName>
                                        </p:attrNameLst>
                                      </p:cBhvr>
                                      <p:to>
                                        <p:strVal val="visible"/>
                                      </p:to>
                                    </p:set>
                                    <p:anim calcmode="lin" valueType="num">
                                      <p:cBhvr additive="base">
                                        <p:cTn id="11" dur="500" fill="hold"/>
                                        <p:tgtEl>
                                          <p:spTgt spid="17715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715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7154">
                                            <p:txEl>
                                              <p:pRg st="3" end="3"/>
                                            </p:txEl>
                                          </p:spTgt>
                                        </p:tgtEl>
                                        <p:attrNameLst>
                                          <p:attrName>style.visibility</p:attrName>
                                        </p:attrNameLst>
                                      </p:cBhvr>
                                      <p:to>
                                        <p:strVal val="visible"/>
                                      </p:to>
                                    </p:set>
                                    <p:anim calcmode="lin" valueType="num">
                                      <p:cBhvr additive="base">
                                        <p:cTn id="15" dur="500" fill="hold"/>
                                        <p:tgtEl>
                                          <p:spTgt spid="17715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7154">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7154">
                                            <p:txEl>
                                              <p:pRg st="4" end="4"/>
                                            </p:txEl>
                                          </p:spTgt>
                                        </p:tgtEl>
                                        <p:attrNameLst>
                                          <p:attrName>style.visibility</p:attrName>
                                        </p:attrNameLst>
                                      </p:cBhvr>
                                      <p:to>
                                        <p:strVal val="visible"/>
                                      </p:to>
                                    </p:set>
                                    <p:anim calcmode="lin" valueType="num">
                                      <p:cBhvr additive="base">
                                        <p:cTn id="19" dur="500" fill="hold"/>
                                        <p:tgtEl>
                                          <p:spTgt spid="17715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7154">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7154">
                                            <p:txEl>
                                              <p:pRg st="5" end="5"/>
                                            </p:txEl>
                                          </p:spTgt>
                                        </p:tgtEl>
                                        <p:attrNameLst>
                                          <p:attrName>style.visibility</p:attrName>
                                        </p:attrNameLst>
                                      </p:cBhvr>
                                      <p:to>
                                        <p:strVal val="visible"/>
                                      </p:to>
                                    </p:set>
                                    <p:anim calcmode="lin" valueType="num">
                                      <p:cBhvr additive="base">
                                        <p:cTn id="23" dur="500" fill="hold"/>
                                        <p:tgtEl>
                                          <p:spTgt spid="177154">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7154">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7154">
                                            <p:txEl>
                                              <p:pRg st="6" end="6"/>
                                            </p:txEl>
                                          </p:spTgt>
                                        </p:tgtEl>
                                        <p:attrNameLst>
                                          <p:attrName>style.visibility</p:attrName>
                                        </p:attrNameLst>
                                      </p:cBhvr>
                                      <p:to>
                                        <p:strVal val="visible"/>
                                      </p:to>
                                    </p:set>
                                    <p:anim calcmode="lin" valueType="num">
                                      <p:cBhvr additive="base">
                                        <p:cTn id="27" dur="500" fill="hold"/>
                                        <p:tgtEl>
                                          <p:spTgt spid="177154">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7154">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77154">
                                            <p:txEl>
                                              <p:pRg st="7" end="7"/>
                                            </p:txEl>
                                          </p:spTgt>
                                        </p:tgtEl>
                                        <p:attrNameLst>
                                          <p:attrName>style.visibility</p:attrName>
                                        </p:attrNameLst>
                                      </p:cBhvr>
                                      <p:to>
                                        <p:strVal val="visible"/>
                                      </p:to>
                                    </p:set>
                                    <p:anim calcmode="lin" valueType="num">
                                      <p:cBhvr additive="base">
                                        <p:cTn id="31" dur="500" fill="hold"/>
                                        <p:tgtEl>
                                          <p:spTgt spid="17715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715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7154">
                                            <p:txEl>
                                              <p:pRg st="8" end="8"/>
                                            </p:txEl>
                                          </p:spTgt>
                                        </p:tgtEl>
                                        <p:attrNameLst>
                                          <p:attrName>style.visibility</p:attrName>
                                        </p:attrNameLst>
                                      </p:cBhvr>
                                      <p:to>
                                        <p:strVal val="visible"/>
                                      </p:to>
                                    </p:set>
                                    <p:anim calcmode="lin" valueType="num">
                                      <p:cBhvr additive="base">
                                        <p:cTn id="37" dur="500" fill="hold"/>
                                        <p:tgtEl>
                                          <p:spTgt spid="17715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715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idx="1"/>
          </p:nvPr>
        </p:nvSpPr>
        <p:spPr>
          <a:xfrm>
            <a:off x="250825" y="549275"/>
            <a:ext cx="8569325" cy="5832475"/>
          </a:xfrm>
        </p:spPr>
        <p:txBody>
          <a:bodyPr>
            <a:normAutofit/>
          </a:bodyPr>
          <a:lstStyle/>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例</a:t>
            </a:r>
            <a:r>
              <a:rPr lang="en-US" altLang="zh-CN" sz="2400" b="1" dirty="0">
                <a:effectLst>
                  <a:outerShdw blurRad="38100" dist="38100" dir="2700000" algn="tl">
                    <a:srgbClr val="C0C0C0"/>
                  </a:outerShdw>
                </a:effectLst>
                <a:latin typeface="楷体_GB2312" pitchFamily="49" charset="-122"/>
                <a:ea typeface="楷体_GB2312" pitchFamily="49" charset="-122"/>
              </a:rPr>
              <a:t>6.8】</a:t>
            </a:r>
            <a:r>
              <a:rPr lang="zh-CN" altLang="en-US" sz="2400" b="1" dirty="0">
                <a:effectLst>
                  <a:outerShdw blurRad="38100" dist="38100" dir="2700000" algn="tl">
                    <a:srgbClr val="C0C0C0"/>
                  </a:outerShdw>
                </a:effectLst>
                <a:latin typeface="楷体_GB2312" pitchFamily="49" charset="-122"/>
                <a:ea typeface="楷体_GB2312" pitchFamily="49" charset="-122"/>
              </a:rPr>
              <a:t>求数组中最大元素值的函数。</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maxInArray</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n)</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m;</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for(m = 0,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1;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&lt; n ;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if (a[m] &lt; a[</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m =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return a[m];</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6F0182D6-BA30-47E8-AC56-3CF948859018}" type="slidenum">
              <a:rPr lang="en-US" altLang="zh-CN"/>
              <a:pPr>
                <a:defRPr/>
              </a:pPr>
              <a:t>55</a:t>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idx="1"/>
          </p:nvPr>
        </p:nvSpPr>
        <p:spPr>
          <a:xfrm>
            <a:off x="250825" y="549275"/>
            <a:ext cx="8569325" cy="5832475"/>
          </a:xfrm>
        </p:spPr>
        <p:txBody>
          <a:bodyPr>
            <a:normAutofit fontScale="92500" lnSpcReduction="10000"/>
          </a:bodyPr>
          <a:lstStyle/>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因函数的数组形参对应的实参可以是数组某元素的地址，即数组某元素的指针，</a:t>
            </a:r>
            <a:r>
              <a:rPr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所以数组形参就是一种指针形参，</a:t>
            </a:r>
            <a:r>
              <a:rPr lang="zh-CN" altLang="en-US" sz="2400" b="1" dirty="0">
                <a:effectLst>
                  <a:outerShdw blurRad="38100" dist="38100" dir="2700000" algn="tl">
                    <a:srgbClr val="C0C0C0"/>
                  </a:outerShdw>
                </a:effectLst>
                <a:latin typeface="楷体_GB2312" pitchFamily="49" charset="-122"/>
                <a:ea typeface="楷体_GB2312" pitchFamily="49" charset="-122"/>
              </a:rPr>
              <a:t>只是它要求对应的实参是数组某元素的指针，而不是一般变量的指针。所以任何数组形参说明：</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zh-CN" altLang="en-US" sz="2400" b="1" dirty="0">
                <a:solidFill>
                  <a:srgbClr val="990000"/>
                </a:solidFill>
                <a:effectLst>
                  <a:outerShdw blurRad="38100" dist="38100" dir="2700000" algn="tl">
                    <a:srgbClr val="C0C0C0"/>
                  </a:outerShdw>
                </a:effectLst>
                <a:latin typeface="楷体_GB2312" pitchFamily="49" charset="-122"/>
                <a:ea typeface="楷体_GB2312" pitchFamily="49" charset="-122"/>
              </a:rPr>
              <a:t>类型  形参名</a:t>
            </a:r>
            <a:r>
              <a:rPr lang="en-US" altLang="zh-CN" sz="2400" b="1" dirty="0">
                <a:solidFill>
                  <a:srgbClr val="990000"/>
                </a:solidFill>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都可改写成：</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zh-CN" altLang="en-US" sz="2400" b="1" dirty="0">
                <a:solidFill>
                  <a:srgbClr val="990000"/>
                </a:solidFill>
                <a:effectLst>
                  <a:outerShdw blurRad="38100" dist="38100" dir="2700000" algn="tl">
                    <a:srgbClr val="C0C0C0"/>
                  </a:outerShdw>
                </a:effectLst>
                <a:latin typeface="楷体_GB2312" pitchFamily="49" charset="-122"/>
                <a:ea typeface="楷体_GB2312" pitchFamily="49" charset="-122"/>
              </a:rPr>
              <a:t>类型  *形参名</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例如，前面的函数</a:t>
            </a:r>
            <a:r>
              <a:rPr lang="en-US" altLang="zh-CN" sz="2400" b="1" dirty="0">
                <a:effectLst>
                  <a:outerShdw blurRad="38100" dist="38100" dir="2700000" algn="tl">
                    <a:srgbClr val="C0C0C0"/>
                  </a:outerShdw>
                </a:effectLst>
                <a:latin typeface="楷体_GB2312" pitchFamily="49" charset="-122"/>
                <a:ea typeface="楷体_GB2312" pitchFamily="49" charset="-122"/>
              </a:rPr>
              <a:t>sum()</a:t>
            </a:r>
            <a:r>
              <a:rPr lang="zh-CN" altLang="en-US" sz="2400" b="1" dirty="0">
                <a:effectLst>
                  <a:outerShdw blurRad="38100" dist="38100" dir="2700000" algn="tl">
                    <a:srgbClr val="C0C0C0"/>
                  </a:outerShdw>
                </a:effectLst>
                <a:latin typeface="楷体_GB2312" pitchFamily="49" charset="-122"/>
                <a:ea typeface="楷体_GB2312" pitchFamily="49" charset="-122"/>
              </a:rPr>
              <a:t>的定义可改写成如下形式：</a:t>
            </a:r>
          </a:p>
          <a:p>
            <a:pPr marL="0" indent="0" eaLnBrk="1" fontAlgn="auto" hangingPunct="1">
              <a:spcAft>
                <a:spcPts val="0"/>
              </a:spcAft>
              <a:buClr>
                <a:schemeClr val="accent3"/>
              </a:buClr>
              <a:buFontTx/>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sum(</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n)</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  </a:t>
            </a: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s;</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for(s =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 0;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 &lt; n; </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s += a[</a:t>
            </a:r>
            <a:r>
              <a:rPr lang="en-US" altLang="zh-CN" sz="2400" b="1" dirty="0" err="1">
                <a:effectLst>
                  <a:outerShdw blurRad="38100" dist="38100" dir="2700000" algn="tl">
                    <a:srgbClr val="C0C0C0"/>
                  </a:outerShdw>
                </a:effectLst>
                <a:latin typeface="楷体_GB2312" pitchFamily="49" charset="-122"/>
                <a:ea typeface="楷体_GB2312" pitchFamily="49" charset="-122"/>
              </a:rPr>
              <a:t>i</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return s;</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8AF09A07-21CE-438E-8794-23E8EF9B392D}" type="slidenum">
              <a:rPr lang="en-US" altLang="zh-CN"/>
              <a:pPr>
                <a:defRPr/>
              </a:pPr>
              <a:t>56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0226">
                                            <p:txEl>
                                              <p:pRg st="4" end="4"/>
                                            </p:txEl>
                                          </p:spTgt>
                                        </p:tgtEl>
                                        <p:attrNameLst>
                                          <p:attrName>style.visibility</p:attrName>
                                        </p:attrNameLst>
                                      </p:cBhvr>
                                      <p:to>
                                        <p:strVal val="visible"/>
                                      </p:to>
                                    </p:set>
                                    <p:anim calcmode="lin" valueType="num">
                                      <p:cBhvr additive="base">
                                        <p:cTn id="7" dur="500" fill="hold"/>
                                        <p:tgtEl>
                                          <p:spTgt spid="18022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022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0226">
                                            <p:txEl>
                                              <p:pRg st="5" end="5"/>
                                            </p:txEl>
                                          </p:spTgt>
                                        </p:tgtEl>
                                        <p:attrNameLst>
                                          <p:attrName>style.visibility</p:attrName>
                                        </p:attrNameLst>
                                      </p:cBhvr>
                                      <p:to>
                                        <p:strVal val="visible"/>
                                      </p:to>
                                    </p:set>
                                    <p:anim calcmode="lin" valueType="num">
                                      <p:cBhvr additive="base">
                                        <p:cTn id="11" dur="500" fill="hold"/>
                                        <p:tgtEl>
                                          <p:spTgt spid="180226">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0226">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0226">
                                            <p:txEl>
                                              <p:pRg st="6" end="6"/>
                                            </p:txEl>
                                          </p:spTgt>
                                        </p:tgtEl>
                                        <p:attrNameLst>
                                          <p:attrName>style.visibility</p:attrName>
                                        </p:attrNameLst>
                                      </p:cBhvr>
                                      <p:to>
                                        <p:strVal val="visible"/>
                                      </p:to>
                                    </p:set>
                                    <p:anim calcmode="lin" valueType="num">
                                      <p:cBhvr additive="base">
                                        <p:cTn id="15" dur="500" fill="hold"/>
                                        <p:tgtEl>
                                          <p:spTgt spid="18022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0226">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0226">
                                            <p:txEl>
                                              <p:pRg st="7" end="7"/>
                                            </p:txEl>
                                          </p:spTgt>
                                        </p:tgtEl>
                                        <p:attrNameLst>
                                          <p:attrName>style.visibility</p:attrName>
                                        </p:attrNameLst>
                                      </p:cBhvr>
                                      <p:to>
                                        <p:strVal val="visible"/>
                                      </p:to>
                                    </p:set>
                                    <p:anim calcmode="lin" valueType="num">
                                      <p:cBhvr additive="base">
                                        <p:cTn id="19" dur="500" fill="hold"/>
                                        <p:tgtEl>
                                          <p:spTgt spid="180226">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0226">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0226">
                                            <p:txEl>
                                              <p:pRg st="8" end="8"/>
                                            </p:txEl>
                                          </p:spTgt>
                                        </p:tgtEl>
                                        <p:attrNameLst>
                                          <p:attrName>style.visibility</p:attrName>
                                        </p:attrNameLst>
                                      </p:cBhvr>
                                      <p:to>
                                        <p:strVal val="visible"/>
                                      </p:to>
                                    </p:set>
                                    <p:anim calcmode="lin" valueType="num">
                                      <p:cBhvr additive="base">
                                        <p:cTn id="23" dur="500" fill="hold"/>
                                        <p:tgtEl>
                                          <p:spTgt spid="180226">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0226">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0226">
                                            <p:txEl>
                                              <p:pRg st="9" end="9"/>
                                            </p:txEl>
                                          </p:spTgt>
                                        </p:tgtEl>
                                        <p:attrNameLst>
                                          <p:attrName>style.visibility</p:attrName>
                                        </p:attrNameLst>
                                      </p:cBhvr>
                                      <p:to>
                                        <p:strVal val="visible"/>
                                      </p:to>
                                    </p:set>
                                    <p:anim calcmode="lin" valueType="num">
                                      <p:cBhvr additive="base">
                                        <p:cTn id="27" dur="500" fill="hold"/>
                                        <p:tgtEl>
                                          <p:spTgt spid="180226">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0226">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80226">
                                            <p:txEl>
                                              <p:pRg st="10" end="10"/>
                                            </p:txEl>
                                          </p:spTgt>
                                        </p:tgtEl>
                                        <p:attrNameLst>
                                          <p:attrName>style.visibility</p:attrName>
                                        </p:attrNameLst>
                                      </p:cBhvr>
                                      <p:to>
                                        <p:strVal val="visible"/>
                                      </p:to>
                                    </p:set>
                                    <p:anim calcmode="lin" valueType="num">
                                      <p:cBhvr additive="base">
                                        <p:cTn id="31" dur="500" fill="hold"/>
                                        <p:tgtEl>
                                          <p:spTgt spid="180226">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022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idx="1"/>
          </p:nvPr>
        </p:nvSpPr>
        <p:spPr>
          <a:xfrm>
            <a:off x="250825" y="549275"/>
            <a:ext cx="8569325" cy="5832475"/>
          </a:xfrm>
        </p:spPr>
        <p:txBody>
          <a:bodyPr>
            <a:normAutofit/>
          </a:bodyPr>
          <a:lstStyle/>
          <a:p>
            <a:pPr marL="0" indent="0" eaLnBrk="1" fontAlgn="auto" hangingPunct="1">
              <a:spcAft>
                <a:spcPts val="0"/>
              </a:spcAft>
              <a:buClr>
                <a:schemeClr val="accent3"/>
              </a:buClr>
              <a:buFontTx/>
              <a:buNone/>
              <a:defRPr/>
            </a:pPr>
            <a:r>
              <a:rPr lang="zh-CN" altLang="en-US" sz="2400" b="1">
                <a:effectLst>
                  <a:outerShdw blurRad="38100" dist="38100" dir="2700000" algn="tl">
                    <a:srgbClr val="C0C0C0"/>
                  </a:outerShdw>
                </a:effectLst>
                <a:latin typeface="楷体_GB2312" pitchFamily="49" charset="-122"/>
                <a:ea typeface="楷体_GB2312" pitchFamily="49" charset="-122"/>
              </a:rPr>
              <a:t>函数的形参也是函数的一种局部变量，指针形参就是函数的指针变量，函数</a:t>
            </a:r>
            <a:r>
              <a:rPr lang="en-US" altLang="zh-CN" sz="2400" b="1">
                <a:effectLst>
                  <a:outerShdw blurRad="38100" dist="38100" dir="2700000" algn="tl">
                    <a:srgbClr val="C0C0C0"/>
                  </a:outerShdw>
                </a:effectLst>
                <a:latin typeface="楷体_GB2312" pitchFamily="49" charset="-122"/>
                <a:ea typeface="楷体_GB2312" pitchFamily="49" charset="-122"/>
              </a:rPr>
              <a:t>sum()</a:t>
            </a:r>
            <a:r>
              <a:rPr lang="zh-CN" altLang="en-US" sz="2400" b="1">
                <a:effectLst>
                  <a:outerShdw blurRad="38100" dist="38100" dir="2700000" algn="tl">
                    <a:srgbClr val="C0C0C0"/>
                  </a:outerShdw>
                </a:effectLst>
                <a:latin typeface="楷体_GB2312" pitchFamily="49" charset="-122"/>
                <a:ea typeface="楷体_GB2312" pitchFamily="49" charset="-122"/>
              </a:rPr>
              <a:t>的定义又可改写成如下形式：</a:t>
            </a:r>
          </a:p>
          <a:p>
            <a:pPr marL="0" indent="0" eaLnBrk="1" fontAlgn="auto" hangingPunct="1">
              <a:spcAft>
                <a:spcPts val="0"/>
              </a:spcAft>
              <a:buClr>
                <a:schemeClr val="accent3"/>
              </a:buClr>
              <a:buFontTx/>
              <a:buNone/>
              <a:defRPr/>
            </a:pPr>
            <a:r>
              <a:rPr lang="zh-CN" altLang="en-US" sz="2400" b="1">
                <a:effectLst>
                  <a:outerShdw blurRad="38100" dist="38100" dir="2700000" algn="tl">
                    <a:srgbClr val="C0C0C0"/>
                  </a:outerShdw>
                </a:effectLst>
                <a:latin typeface="楷体_GB2312" pitchFamily="49" charset="-122"/>
                <a:ea typeface="楷体_GB2312" pitchFamily="49" charset="-122"/>
              </a:rPr>
              <a:t>     </a:t>
            </a:r>
            <a:r>
              <a:rPr lang="en-US" altLang="zh-CN" sz="2400" b="1">
                <a:effectLst>
                  <a:outerShdw blurRad="38100" dist="38100" dir="2700000" algn="tl">
                    <a:srgbClr val="C0C0C0"/>
                  </a:outerShdw>
                </a:effectLst>
                <a:latin typeface="楷体_GB2312" pitchFamily="49" charset="-122"/>
                <a:ea typeface="楷体_GB2312" pitchFamily="49" charset="-122"/>
              </a:rPr>
              <a:t>int sum(int *a, int n)</a:t>
            </a:r>
          </a:p>
          <a:p>
            <a:pPr marL="0" indent="0" eaLnBrk="1" fontAlgn="auto" hangingPunct="1">
              <a:spcAft>
                <a:spcPts val="0"/>
              </a:spcAft>
              <a:buClr>
                <a:schemeClr val="accent3"/>
              </a:buClr>
              <a:buFontTx/>
              <a:buNone/>
              <a:defRPr/>
            </a:pPr>
            <a:r>
              <a:rPr lang="en-US" altLang="zh-CN" sz="2400" b="1">
                <a:effectLst>
                  <a:outerShdw blurRad="38100" dist="38100" dir="2700000" algn="tl">
                    <a:srgbClr val="C0C0C0"/>
                  </a:outerShdw>
                </a:effectLst>
                <a:latin typeface="楷体_GB2312" pitchFamily="49" charset="-122"/>
                <a:ea typeface="楷体_GB2312" pitchFamily="49" charset="-122"/>
              </a:rPr>
              <a:t>     {  int s = 0;</a:t>
            </a:r>
          </a:p>
          <a:p>
            <a:pPr marL="0" indent="0" eaLnBrk="1" fontAlgn="auto" hangingPunct="1">
              <a:spcAft>
                <a:spcPts val="0"/>
              </a:spcAft>
              <a:buClr>
                <a:schemeClr val="accent3"/>
              </a:buClr>
              <a:buFontTx/>
              <a:buNone/>
              <a:defRPr/>
            </a:pPr>
            <a:r>
              <a:rPr lang="en-US" altLang="zh-CN" sz="2400" b="1">
                <a:effectLst>
                  <a:outerShdw blurRad="38100" dist="38100" dir="2700000" algn="tl">
                    <a:srgbClr val="C0C0C0"/>
                  </a:outerShdw>
                </a:effectLst>
                <a:latin typeface="楷体_GB2312" pitchFamily="49" charset="-122"/>
                <a:ea typeface="楷体_GB2312" pitchFamily="49" charset="-122"/>
              </a:rPr>
              <a:t>        for(; n--; )</a:t>
            </a:r>
          </a:p>
          <a:p>
            <a:pPr marL="0" indent="0" eaLnBrk="1" fontAlgn="auto" hangingPunct="1">
              <a:spcAft>
                <a:spcPts val="0"/>
              </a:spcAft>
              <a:buClr>
                <a:schemeClr val="accent3"/>
              </a:buClr>
              <a:buFontTx/>
              <a:buNone/>
              <a:defRPr/>
            </a:pPr>
            <a:r>
              <a:rPr lang="en-US" altLang="zh-CN" sz="2400" b="1">
                <a:effectLst>
                  <a:outerShdw blurRad="38100" dist="38100" dir="2700000" algn="tl">
                    <a:srgbClr val="C0C0C0"/>
                  </a:outerShdw>
                </a:effectLst>
                <a:latin typeface="楷体_GB2312" pitchFamily="49" charset="-122"/>
                <a:ea typeface="楷体_GB2312" pitchFamily="49" charset="-122"/>
              </a:rPr>
              <a:t>           s += *a++;</a:t>
            </a:r>
          </a:p>
          <a:p>
            <a:pPr marL="0" indent="0" eaLnBrk="1" fontAlgn="auto" hangingPunct="1">
              <a:spcAft>
                <a:spcPts val="0"/>
              </a:spcAft>
              <a:buClr>
                <a:schemeClr val="accent3"/>
              </a:buClr>
              <a:buFontTx/>
              <a:buNone/>
              <a:defRPr/>
            </a:pPr>
            <a:r>
              <a:rPr lang="en-US" altLang="zh-CN" sz="2400" b="1">
                <a:effectLst>
                  <a:outerShdw blurRad="38100" dist="38100" dir="2700000" algn="tl">
                    <a:srgbClr val="C0C0C0"/>
                  </a:outerShdw>
                </a:effectLst>
                <a:latin typeface="楷体_GB2312" pitchFamily="49" charset="-122"/>
                <a:ea typeface="楷体_GB2312" pitchFamily="49" charset="-122"/>
              </a:rPr>
              <a:t>        return s;</a:t>
            </a:r>
          </a:p>
          <a:p>
            <a:pPr marL="0" indent="0" eaLnBrk="1" fontAlgn="auto" hangingPunct="1">
              <a:spcAft>
                <a:spcPts val="0"/>
              </a:spcAft>
              <a:buClr>
                <a:schemeClr val="accent3"/>
              </a:buClr>
              <a:buFontTx/>
              <a:buNone/>
              <a:defRPr/>
            </a:pPr>
            <a:r>
              <a:rPr lang="en-US" altLang="zh-CN" sz="2400" b="1">
                <a:effectLst>
                  <a:outerShdw blurRad="38100" dist="38100" dir="2700000" algn="tl">
                    <a:srgbClr val="C0C0C0"/>
                  </a:outerShdw>
                </a:effectLst>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41C4CF15-06EE-480A-9249-F14B3838E5D7}" type="slidenum">
              <a:rPr lang="en-US" altLang="zh-CN"/>
              <a:pPr>
                <a:defRPr/>
              </a:pPr>
              <a:t>57</a:t>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idx="1"/>
          </p:nvPr>
        </p:nvSpPr>
        <p:spPr>
          <a:xfrm>
            <a:off x="250825" y="549275"/>
            <a:ext cx="8569325" cy="5832475"/>
          </a:xfrm>
        </p:spPr>
        <p:txBody>
          <a:bodyPr>
            <a:normAutofit/>
          </a:bodyPr>
          <a:lstStyle/>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函数为了处理顺序存储的线性表，通常至少需要两个形参，</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一个是线性表首元素的指针，另一个是线性表的元素个数。</a:t>
            </a:r>
            <a:r>
              <a:rPr lang="zh-CN" altLang="en-US" sz="2800" b="1" dirty="0">
                <a:effectLst>
                  <a:outerShdw blurRad="38100" dist="38100" dir="2700000" algn="tl">
                    <a:srgbClr val="C0C0C0"/>
                  </a:outerShdw>
                </a:effectLst>
                <a:latin typeface="楷体_GB2312" pitchFamily="49" charset="-122"/>
                <a:ea typeface="楷体_GB2312" pitchFamily="49" charset="-122"/>
              </a:rPr>
              <a:t>如果将以上讨论的内容应用于字符串处理，由于字符串存储于字符数组中，所以有关指向数组元素的指针形参的用法都可应用于编写字符串处理函数。</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因字符串包含有字符串结束符的特殊性，表示数组元素个数的形参就可省去。</a:t>
            </a:r>
          </a:p>
        </p:txBody>
      </p:sp>
      <p:sp>
        <p:nvSpPr>
          <p:cNvPr id="3" name="Slide Number Placeholder 2"/>
          <p:cNvSpPr>
            <a:spLocks noGrp="1"/>
          </p:cNvSpPr>
          <p:nvPr>
            <p:ph type="sldNum" sz="quarter" idx="12"/>
          </p:nvPr>
        </p:nvSpPr>
        <p:spPr/>
        <p:txBody>
          <a:bodyPr/>
          <a:lstStyle/>
          <a:p>
            <a:pPr>
              <a:defRPr/>
            </a:pPr>
            <a:fld id="{6B0131C9-3909-4F47-9B4A-B44FF6D3A995}" type="slidenum">
              <a:rPr lang="en-US" altLang="zh-CN"/>
              <a:pPr>
                <a:defRPr/>
              </a:pPr>
              <a:t>58</a:t>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idx="1"/>
          </p:nvPr>
        </p:nvSpPr>
        <p:spPr>
          <a:xfrm>
            <a:off x="250825" y="549275"/>
            <a:ext cx="8569325" cy="5689600"/>
          </a:xfrm>
        </p:spPr>
        <p:txBody>
          <a:bodyPr>
            <a:normAutofit/>
          </a:bodyPr>
          <a:lstStyle/>
          <a:p>
            <a:pPr marL="0" indent="0" algn="just" eaLnBrk="1" fontAlgn="auto" hangingPunct="1">
              <a:spcAft>
                <a:spcPts val="0"/>
              </a:spcAft>
              <a:buClr>
                <a:schemeClr val="accent3"/>
              </a:buClr>
              <a:buFontTx/>
              <a:buNone/>
              <a:defRPr/>
            </a:pPr>
            <a:r>
              <a:rPr lang="zh-CN" altLang="en-US" b="1" dirty="0">
                <a:solidFill>
                  <a:srgbClr val="336600"/>
                </a:solidFill>
                <a:effectLst>
                  <a:outerShdw blurRad="38100" dist="38100" dir="2700000" algn="tl">
                    <a:srgbClr val="C0C0C0"/>
                  </a:outerShdw>
                </a:effectLst>
                <a:latin typeface="Times New Roman" charset="0"/>
              </a:rPr>
              <a:t>将一个字符串从一个函数传递给另一个函数，可以使用指向字符串的指针变量作为参数。</a:t>
            </a:r>
            <a:endParaRPr lang="zh-CN" altLang="en-US" b="1" dirty="0">
              <a:effectLst>
                <a:outerShdw blurRad="38100" dist="38100" dir="2700000" algn="tl">
                  <a:srgbClr val="C0C0C0"/>
                </a:outerShdw>
              </a:effectLst>
              <a:latin typeface="Times New Roman" charset="0"/>
            </a:endParaRP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例</a:t>
            </a:r>
            <a:r>
              <a:rPr lang="en-US" altLang="zh-CN" b="1" dirty="0">
                <a:effectLst>
                  <a:outerShdw blurRad="38100" dist="38100" dir="2700000" algn="tl">
                    <a:srgbClr val="C0C0C0"/>
                  </a:outerShdw>
                </a:effectLst>
                <a:latin typeface="宋体" pitchFamily="2" charset="-122"/>
              </a:rPr>
              <a:t>6.9】</a:t>
            </a:r>
            <a:r>
              <a:rPr lang="zh-CN" altLang="en-US" b="1" dirty="0">
                <a:effectLst>
                  <a:outerShdw blurRad="38100" dist="38100" dir="2700000" algn="tl">
                    <a:srgbClr val="C0C0C0"/>
                  </a:outerShdw>
                </a:effectLst>
                <a:latin typeface="宋体" pitchFamily="2" charset="-122"/>
              </a:rPr>
              <a:t>字符串拷贝函数 </a:t>
            </a:r>
            <a:r>
              <a:rPr lang="en-US" altLang="zh-CN" b="1" dirty="0" err="1">
                <a:effectLst>
                  <a:outerShdw blurRad="38100" dist="38100" dir="2700000" algn="tl">
                    <a:srgbClr val="C0C0C0"/>
                  </a:outerShdw>
                </a:effectLst>
                <a:latin typeface="宋体" pitchFamily="2" charset="-122"/>
              </a:rPr>
              <a:t>strcpy</a:t>
            </a:r>
            <a:r>
              <a:rPr lang="en-US" altLang="zh-CN" b="1" dirty="0">
                <a:effectLst>
                  <a:outerShdw blurRad="38100" dist="38100" dir="2700000" algn="tl">
                    <a:srgbClr val="C0C0C0"/>
                  </a:outerShdw>
                </a:effectLst>
                <a:latin typeface="宋体" pitchFamily="2" charset="-122"/>
              </a:rPr>
              <a:t>()</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void </a:t>
            </a:r>
            <a:r>
              <a:rPr lang="en-US" altLang="zh-CN" b="1" dirty="0" err="1">
                <a:effectLst>
                  <a:outerShdw blurRad="38100" dist="38100" dir="2700000" algn="tl">
                    <a:srgbClr val="C0C0C0"/>
                  </a:outerShdw>
                </a:effectLst>
              </a:rPr>
              <a:t>strcpy</a:t>
            </a:r>
            <a:r>
              <a:rPr lang="en-US" altLang="zh-CN" b="1" dirty="0">
                <a:effectLst>
                  <a:outerShdw blurRad="38100" dist="38100" dir="2700000" algn="tl">
                    <a:srgbClr val="C0C0C0"/>
                  </a:outerShdw>
                </a:effectLst>
              </a:rPr>
              <a:t> (char *to, char * from)</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  while (*to++ = *from++);  }</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void main()</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  char a[ ]="</a:t>
            </a:r>
            <a:r>
              <a:rPr lang="en-US" altLang="zh-CN" b="1" dirty="0" err="1">
                <a:effectLst>
                  <a:outerShdw blurRad="38100" dist="38100" dir="2700000" algn="tl">
                    <a:srgbClr val="C0C0C0"/>
                  </a:outerShdw>
                </a:effectLst>
              </a:rPr>
              <a:t>Fudan</a:t>
            </a:r>
            <a:r>
              <a:rPr lang="en-US" altLang="zh-CN" b="1" dirty="0">
                <a:effectLst>
                  <a:outerShdw blurRad="38100" dist="38100" dir="2700000" algn="tl">
                    <a:srgbClr val="C0C0C0"/>
                  </a:outerShdw>
                </a:effectLst>
              </a:rPr>
              <a:t> University", b[100];</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strcpy</a:t>
            </a:r>
            <a:r>
              <a:rPr lang="en-US" altLang="zh-CN" b="1" dirty="0">
                <a:effectLst>
                  <a:outerShdw blurRad="38100" dist="38100" dir="2700000" algn="tl">
                    <a:srgbClr val="C0C0C0"/>
                  </a:outerShdw>
                </a:effectLst>
              </a:rPr>
              <a:t> (b, a);</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 ("string a=%s\</a:t>
            </a:r>
            <a:r>
              <a:rPr lang="en-US" altLang="zh-CN" b="1" dirty="0" err="1">
                <a:effectLst>
                  <a:outerShdw blurRad="38100" dist="38100" dir="2700000" algn="tl">
                    <a:srgbClr val="C0C0C0"/>
                  </a:outerShdw>
                </a:effectLst>
              </a:rPr>
              <a:t>nstring</a:t>
            </a:r>
            <a:r>
              <a:rPr lang="en-US" altLang="zh-CN" b="1" dirty="0">
                <a:effectLst>
                  <a:outerShdw blurRad="38100" dist="38100" dir="2700000" algn="tl">
                    <a:srgbClr val="C0C0C0"/>
                  </a:outerShdw>
                </a:effectLst>
              </a:rPr>
              <a:t> b=%s\n", </a:t>
            </a:r>
            <a:r>
              <a:rPr lang="en-US" altLang="zh-CN" b="1" dirty="0" err="1">
                <a:effectLst>
                  <a:outerShdw blurRad="38100" dist="38100" dir="2700000" algn="tl">
                    <a:srgbClr val="C0C0C0"/>
                  </a:outerShdw>
                </a:effectLst>
              </a:rPr>
              <a:t>a,b</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Tx/>
              <a:buNone/>
              <a:defRPr/>
            </a:pPr>
            <a:r>
              <a:rPr lang="en-US" altLang="zh-CN" b="1" dirty="0">
                <a:effectLst>
                  <a:outerShdw blurRad="38100" dist="38100" dir="2700000" algn="tl">
                    <a:srgbClr val="C0C0C0"/>
                  </a:outerShdw>
                </a:effectLst>
              </a:rPr>
              <a:t>   } </a:t>
            </a:r>
          </a:p>
        </p:txBody>
      </p:sp>
      <p:sp>
        <p:nvSpPr>
          <p:cNvPr id="5" name="Slide Number Placeholder 4"/>
          <p:cNvSpPr>
            <a:spLocks noGrp="1"/>
          </p:cNvSpPr>
          <p:nvPr>
            <p:ph type="sldNum" sz="quarter" idx="12"/>
          </p:nvPr>
        </p:nvSpPr>
        <p:spPr/>
        <p:txBody>
          <a:bodyPr/>
          <a:lstStyle/>
          <a:p>
            <a:pPr>
              <a:defRPr/>
            </a:pPr>
            <a:fld id="{8731C23D-4547-461C-8DE1-A97396D2E27A}" type="slidenum">
              <a:rPr lang="en-US" altLang="zh-CN"/>
              <a:pPr>
                <a:defRPr/>
              </a:pPr>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title"/>
          </p:nvPr>
        </p:nvSpPr>
        <p:spPr>
          <a:xfrm>
            <a:off x="0" y="260350"/>
            <a:ext cx="9144000" cy="720725"/>
          </a:xfrm>
          <a:noFill/>
        </p:spPr>
        <p:txBody>
          <a:bodyPr lIns="92075" tIns="46038" rIns="92075" bIns="46038"/>
          <a:lstStyle/>
          <a:p>
            <a:pPr eaLnBrk="1" hangingPunct="1"/>
            <a:r>
              <a:rPr lang="en-US" altLang="en-US" sz="3200" b="1">
                <a:solidFill>
                  <a:schemeClr val="tx1"/>
                </a:solidFill>
                <a:latin typeface="黑体" pitchFamily="2" charset="-122"/>
                <a:ea typeface="黑体" pitchFamily="2" charset="-122"/>
              </a:rPr>
              <a:t>【例</a:t>
            </a:r>
            <a:r>
              <a:rPr lang="en-US" altLang="zh-CN" sz="3200" b="1">
                <a:solidFill>
                  <a:schemeClr val="tx1"/>
                </a:solidFill>
                <a:latin typeface="黑体" pitchFamily="2" charset="-122"/>
                <a:ea typeface="黑体" pitchFamily="2" charset="-122"/>
              </a:rPr>
              <a:t>6</a:t>
            </a:r>
            <a:r>
              <a:rPr lang="en-US" altLang="en-US" sz="3200" b="1">
                <a:solidFill>
                  <a:schemeClr val="tx1"/>
                </a:solidFill>
                <a:latin typeface="黑体" pitchFamily="2" charset="-122"/>
                <a:ea typeface="黑体" pitchFamily="2" charset="-122"/>
              </a:rPr>
              <a:t>.</a:t>
            </a:r>
            <a:r>
              <a:rPr lang="en-US" altLang="zh-CN" sz="3200" b="1">
                <a:solidFill>
                  <a:schemeClr val="tx1"/>
                </a:solidFill>
                <a:latin typeface="黑体" pitchFamily="2" charset="-122"/>
                <a:ea typeface="黑体" pitchFamily="2" charset="-122"/>
              </a:rPr>
              <a:t>10</a:t>
            </a:r>
            <a:r>
              <a:rPr lang="en-US" altLang="en-US" sz="3200" b="1">
                <a:solidFill>
                  <a:schemeClr val="tx1"/>
                </a:solidFill>
                <a:latin typeface="黑体" pitchFamily="2" charset="-122"/>
                <a:ea typeface="黑体" pitchFamily="2" charset="-122"/>
              </a:rPr>
              <a:t>】两字符串比较函数 strcmp()</a:t>
            </a:r>
            <a:r>
              <a:rPr lang="en-US" altLang="zh-CN" sz="4000">
                <a:solidFill>
                  <a:schemeClr val="tx1"/>
                </a:solidFill>
                <a:latin typeface="黑体" pitchFamily="2" charset="-122"/>
                <a:ea typeface="黑体" pitchFamily="2" charset="-122"/>
              </a:rPr>
              <a:t> </a:t>
            </a:r>
            <a:endParaRPr lang="en-US" altLang="zh-CN" sz="3200" b="1">
              <a:solidFill>
                <a:schemeClr val="tx1"/>
              </a:solidFill>
              <a:latin typeface="黑体" pitchFamily="2" charset="-122"/>
              <a:ea typeface="黑体" pitchFamily="2" charset="-122"/>
            </a:endParaRPr>
          </a:p>
        </p:txBody>
      </p:sp>
      <p:sp>
        <p:nvSpPr>
          <p:cNvPr id="101378" name="Rectangle 2"/>
          <p:cNvSpPr>
            <a:spLocks noGrp="1" noChangeArrowheads="1"/>
          </p:cNvSpPr>
          <p:nvPr>
            <p:ph idx="1"/>
          </p:nvPr>
        </p:nvSpPr>
        <p:spPr>
          <a:xfrm>
            <a:off x="323850" y="1052513"/>
            <a:ext cx="8569325" cy="5472112"/>
          </a:xfrm>
        </p:spPr>
        <p:txBody>
          <a:bodyPr>
            <a:normAutofit/>
          </a:bodyPr>
          <a:lstStyle/>
          <a:p>
            <a:pPr marL="0" indent="0" eaLnBrk="1" fontAlgn="auto" hangingPunct="1">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该函数的功能是比较两字符串的大小：</a:t>
            </a:r>
            <a:r>
              <a:rPr lang="en-US" altLang="zh-CN" sz="2800" b="1" dirty="0" err="1">
                <a:effectLst>
                  <a:outerShdw blurRad="38100" dist="38100" dir="2700000" algn="tl">
                    <a:srgbClr val="C0C0C0"/>
                  </a:outerShdw>
                </a:effectLst>
                <a:latin typeface="楷体_GB2312" pitchFamily="49" charset="-122"/>
                <a:ea typeface="楷体_GB2312" pitchFamily="49" charset="-122"/>
              </a:rPr>
              <a:t>strcmp</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有两个形参</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t</a:t>
            </a:r>
            <a:r>
              <a:rPr lang="zh-CN" altLang="en-US" sz="2800" b="1" dirty="0">
                <a:effectLst>
                  <a:outerShdw blurRad="38100" dist="38100" dir="2700000" algn="tl">
                    <a:srgbClr val="C0C0C0"/>
                  </a:outerShdw>
                </a:effectLst>
                <a:latin typeface="楷体_GB2312" pitchFamily="49" charset="-122"/>
                <a:ea typeface="楷体_GB2312" pitchFamily="49" charset="-122"/>
              </a:rPr>
              <a:t>；分别为两个要比较字符串的首字符指针。如</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zh-CN" altLang="en-US" sz="2800" b="1" dirty="0">
                <a:effectLst>
                  <a:outerShdw blurRad="38100" dist="38100" dir="2700000" algn="tl">
                    <a:srgbClr val="C0C0C0"/>
                  </a:outerShdw>
                </a:effectLst>
                <a:latin typeface="楷体_GB2312" pitchFamily="49" charset="-122"/>
                <a:ea typeface="楷体_GB2312" pitchFamily="49" charset="-122"/>
              </a:rPr>
              <a:t>所指的字符串小于</a:t>
            </a:r>
            <a:r>
              <a:rPr lang="en-US" altLang="zh-CN" sz="2800" b="1" dirty="0">
                <a:effectLst>
                  <a:outerShdw blurRad="38100" dist="38100" dir="2700000" algn="tl">
                    <a:srgbClr val="C0C0C0"/>
                  </a:outerShdw>
                </a:effectLst>
                <a:latin typeface="楷体_GB2312" pitchFamily="49" charset="-122"/>
                <a:ea typeface="楷体_GB2312" pitchFamily="49" charset="-122"/>
              </a:rPr>
              <a:t>t</a:t>
            </a:r>
            <a:r>
              <a:rPr lang="zh-CN" altLang="en-US" sz="2800" b="1" dirty="0">
                <a:effectLst>
                  <a:outerShdw blurRad="38100" dist="38100" dir="2700000" algn="tl">
                    <a:srgbClr val="C0C0C0"/>
                  </a:outerShdw>
                </a:effectLst>
                <a:latin typeface="楷体_GB2312" pitchFamily="49" charset="-122"/>
                <a:ea typeface="楷体_GB2312" pitchFamily="49" charset="-122"/>
              </a:rPr>
              <a:t>所指的字符串，函数返回值小于</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zh-CN" altLang="en-US" sz="2800" b="1" dirty="0">
                <a:effectLst>
                  <a:outerShdw blurRad="38100" dist="38100" dir="2700000" algn="tl">
                    <a:srgbClr val="C0C0C0"/>
                  </a:outerShdw>
                </a:effectLst>
                <a:latin typeface="楷体_GB2312" pitchFamily="49" charset="-122"/>
                <a:ea typeface="楷体_GB2312" pitchFamily="49" charset="-122"/>
              </a:rPr>
              <a:t>；如</a:t>
            </a:r>
            <a:r>
              <a:rPr lang="en-US" altLang="zh-CN" sz="2800" b="1" dirty="0">
                <a:effectLst>
                  <a:outerShdw blurRad="38100" dist="38100" dir="2700000" algn="tl">
                    <a:srgbClr val="C0C0C0"/>
                  </a:outerShdw>
                </a:effectLst>
                <a:latin typeface="楷体_GB2312" pitchFamily="49" charset="-122"/>
                <a:ea typeface="楷体_GB2312" pitchFamily="49" charset="-122"/>
              </a:rPr>
              <a:t>s</a:t>
            </a:r>
            <a:r>
              <a:rPr lang="zh-CN" altLang="en-US" sz="2800" b="1" dirty="0">
                <a:effectLst>
                  <a:outerShdw blurRad="38100" dist="38100" dir="2700000" algn="tl">
                    <a:srgbClr val="C0C0C0"/>
                  </a:outerShdw>
                </a:effectLst>
                <a:latin typeface="楷体_GB2312" pitchFamily="49" charset="-122"/>
                <a:ea typeface="楷体_GB2312" pitchFamily="49" charset="-122"/>
              </a:rPr>
              <a:t>所指字符串大于</a:t>
            </a:r>
            <a:r>
              <a:rPr lang="en-US" altLang="zh-CN" sz="2800" b="1" dirty="0">
                <a:effectLst>
                  <a:outerShdw blurRad="38100" dist="38100" dir="2700000" algn="tl">
                    <a:srgbClr val="C0C0C0"/>
                  </a:outerShdw>
                </a:effectLst>
                <a:latin typeface="楷体_GB2312" pitchFamily="49" charset="-122"/>
                <a:ea typeface="楷体_GB2312" pitchFamily="49" charset="-122"/>
              </a:rPr>
              <a:t>t</a:t>
            </a:r>
            <a:r>
              <a:rPr lang="zh-CN" altLang="en-US" sz="2800" b="1" dirty="0">
                <a:effectLst>
                  <a:outerShdw blurRad="38100" dist="38100" dir="2700000" algn="tl">
                    <a:srgbClr val="C0C0C0"/>
                  </a:outerShdw>
                </a:effectLst>
                <a:latin typeface="楷体_GB2312" pitchFamily="49" charset="-122"/>
                <a:ea typeface="楷体_GB2312" pitchFamily="49" charset="-122"/>
              </a:rPr>
              <a:t>所指字符串，函数返回值大于</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zh-CN" altLang="en-US" sz="2800" b="1" dirty="0">
                <a:effectLst>
                  <a:outerShdw blurRad="38100" dist="38100" dir="2700000" algn="tl">
                    <a:srgbClr val="C0C0C0"/>
                  </a:outerShdw>
                </a:effectLst>
                <a:latin typeface="楷体_GB2312" pitchFamily="49" charset="-122"/>
                <a:ea typeface="楷体_GB2312" pitchFamily="49" charset="-122"/>
              </a:rPr>
              <a:t>；如果两个字符串相同，则函数返回</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zh-CN" altLang="en-US" sz="28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函数以</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s</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和</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t</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为两字符串的顺序考察工作指针，用循环比较</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s</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和</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t</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所指的两字符，直至两个字符不相等结束比较循环。</a:t>
            </a:r>
            <a:r>
              <a:rPr lang="zh-CN" altLang="en-US" sz="2800" b="1" dirty="0">
                <a:effectLst>
                  <a:outerShdw blurRad="38100" dist="38100" dir="2700000" algn="tl">
                    <a:srgbClr val="C0C0C0"/>
                  </a:outerShdw>
                </a:effectLst>
                <a:latin typeface="楷体_GB2312" pitchFamily="49" charset="-122"/>
                <a:ea typeface="楷体_GB2312" pitchFamily="49" charset="-122"/>
              </a:rPr>
              <a:t>循环过程中要判字符串是否结束，如果字符串已结束，则两字符串相同，函数返回</a:t>
            </a:r>
            <a:r>
              <a:rPr lang="en-US" altLang="zh-CN" sz="2800" b="1" dirty="0">
                <a:effectLst>
                  <a:outerShdw blurRad="38100" dist="38100" dir="2700000" algn="tl">
                    <a:srgbClr val="C0C0C0"/>
                  </a:outerShdw>
                </a:effectLst>
                <a:latin typeface="楷体_GB2312" pitchFamily="49" charset="-122"/>
                <a:ea typeface="楷体_GB2312" pitchFamily="49" charset="-122"/>
              </a:rPr>
              <a:t>0</a:t>
            </a:r>
            <a:r>
              <a:rPr lang="zh-CN" altLang="en-US" sz="2800" b="1" dirty="0">
                <a:effectLst>
                  <a:outerShdw blurRad="38100" dist="38100" dir="2700000" algn="tl">
                    <a:srgbClr val="C0C0C0"/>
                  </a:outerShdw>
                </a:effectLst>
                <a:latin typeface="楷体_GB2312" pitchFamily="49" charset="-122"/>
                <a:ea typeface="楷体_GB2312" pitchFamily="49" charset="-122"/>
              </a:rPr>
              <a:t>；否则，两字符指针分别加</a:t>
            </a:r>
            <a:r>
              <a:rPr lang="en-US" altLang="zh-CN" sz="2800" b="1" dirty="0">
                <a:effectLst>
                  <a:outerShdw blurRad="38100" dist="38100" dir="2700000" algn="tl">
                    <a:srgbClr val="C0C0C0"/>
                  </a:outerShdw>
                </a:effectLst>
                <a:latin typeface="楷体_GB2312" pitchFamily="49" charset="-122"/>
                <a:ea typeface="楷体_GB2312" pitchFamily="49" charset="-122"/>
              </a:rPr>
              <a:t>1</a:t>
            </a:r>
            <a:r>
              <a:rPr lang="zh-CN" altLang="en-US" sz="2800" b="1" dirty="0">
                <a:effectLst>
                  <a:outerShdw blurRad="38100" dist="38100" dir="2700000" algn="tl">
                    <a:srgbClr val="C0C0C0"/>
                  </a:outerShdw>
                </a:effectLst>
                <a:latin typeface="楷体_GB2312" pitchFamily="49" charset="-122"/>
                <a:ea typeface="楷体_GB2312" pitchFamily="49" charset="-122"/>
              </a:rPr>
              <a:t>，准备比较下一对字符。当两字符不相等结束循环时，函数可直接以两字符的差返回。</a:t>
            </a:r>
            <a:r>
              <a:rPr lang="zh-CN" altLang="en-US" sz="2800" dirty="0">
                <a:latin typeface="楷体_GB2312" pitchFamily="49" charset="-122"/>
                <a:ea typeface="楷体_GB2312" pitchFamily="49" charset="-122"/>
              </a:rPr>
              <a:t> </a:t>
            </a:r>
          </a:p>
        </p:txBody>
      </p:sp>
      <p:sp>
        <p:nvSpPr>
          <p:cNvPr id="4" name="Slide Number Placeholder 3"/>
          <p:cNvSpPr>
            <a:spLocks noGrp="1"/>
          </p:cNvSpPr>
          <p:nvPr>
            <p:ph type="sldNum" sz="quarter" idx="12"/>
          </p:nvPr>
        </p:nvSpPr>
        <p:spPr/>
        <p:txBody>
          <a:bodyPr/>
          <a:lstStyle/>
          <a:p>
            <a:pPr>
              <a:defRPr/>
            </a:pPr>
            <a:fld id="{6F2ADC10-9414-43CE-ABD0-6D59EAC4F12D}" type="slidenum">
              <a:rPr lang="en-US" altLang="zh-CN"/>
              <a:pPr>
                <a:defRPr/>
              </a:pPr>
              <a:t>60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378">
                                            <p:txEl>
                                              <p:pRg st="1" end="1"/>
                                            </p:txEl>
                                          </p:spTgt>
                                        </p:tgtEl>
                                        <p:attrNameLst>
                                          <p:attrName>style.visibility</p:attrName>
                                        </p:attrNameLst>
                                      </p:cBhvr>
                                      <p:to>
                                        <p:strVal val="visible"/>
                                      </p:to>
                                    </p:set>
                                    <p:anim calcmode="lin" valueType="num">
                                      <p:cBhvr additive="base">
                                        <p:cTn id="7" dur="500" fill="hold"/>
                                        <p:tgtEl>
                                          <p:spTgt spid="10137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137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idx="1"/>
          </p:nvPr>
        </p:nvSpPr>
        <p:spPr>
          <a:xfrm>
            <a:off x="323850" y="1052513"/>
            <a:ext cx="8569325" cy="5472112"/>
          </a:xfrm>
        </p:spPr>
        <p:txBody>
          <a:bodyPr>
            <a:normAutofit/>
          </a:bodyPr>
          <a:lstStyle/>
          <a:p>
            <a:pPr marL="0" indent="0" eaLnBrk="1" fontAlgn="auto" hangingPunct="1">
              <a:spcAft>
                <a:spcPts val="0"/>
              </a:spcAft>
              <a:buClr>
                <a:schemeClr val="accent3"/>
              </a:buClr>
              <a:buFontTx/>
              <a:buNone/>
              <a:defRPr/>
            </a:pPr>
            <a:r>
              <a:rPr lang="en-US" altLang="zh-CN" sz="2800">
                <a:latin typeface="楷体_GB2312" pitchFamily="49" charset="-122"/>
                <a:ea typeface="楷体_GB2312" pitchFamily="49" charset="-122"/>
              </a:rPr>
              <a:t> </a:t>
            </a:r>
            <a:r>
              <a:rPr lang="en-US" altLang="zh-CN" sz="2800" b="1">
                <a:effectLst>
                  <a:outerShdw blurRad="38100" dist="38100" dir="2700000" algn="tl">
                    <a:srgbClr val="C0C0C0"/>
                  </a:outerShdw>
                </a:effectLst>
                <a:latin typeface="楷体_GB2312" pitchFamily="49" charset="-122"/>
                <a:ea typeface="楷体_GB2312" pitchFamily="49" charset="-122"/>
              </a:rPr>
              <a:t>int strcmp(char *s</a:t>
            </a:r>
            <a:r>
              <a:rPr lang="zh-CN" altLang="en-US" sz="2800" b="1">
                <a:effectLst>
                  <a:outerShdw blurRad="38100" dist="38100" dir="2700000" algn="tl">
                    <a:srgbClr val="C0C0C0"/>
                  </a:outerShdw>
                </a:effectLst>
                <a:latin typeface="楷体_GB2312" pitchFamily="49" charset="-122"/>
                <a:ea typeface="楷体_GB2312" pitchFamily="49" charset="-122"/>
              </a:rPr>
              <a:t>，</a:t>
            </a:r>
            <a:r>
              <a:rPr lang="en-US" altLang="zh-CN" sz="2800" b="1">
                <a:effectLst>
                  <a:outerShdw blurRad="38100" dist="38100" dir="2700000" algn="tl">
                    <a:srgbClr val="C0C0C0"/>
                  </a:outerShdw>
                </a:effectLst>
                <a:latin typeface="楷体_GB2312" pitchFamily="49" charset="-122"/>
                <a:ea typeface="楷体_GB2312" pitchFamily="49" charset="-122"/>
              </a:rPr>
              <a:t>char *t)</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return &lt;0, if s&lt;t; 0, if s==t; &gt;0,if s&gt;t */</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while (*s == *t) {/* </a:t>
            </a:r>
            <a:r>
              <a:rPr lang="zh-CN" altLang="en-US" sz="2800" b="1">
                <a:effectLst>
                  <a:outerShdw blurRad="38100" dist="38100" dir="2700000" algn="tl">
                    <a:srgbClr val="C0C0C0"/>
                  </a:outerShdw>
                </a:effectLst>
                <a:latin typeface="楷体_GB2312" pitchFamily="49" charset="-122"/>
                <a:ea typeface="楷体_GB2312" pitchFamily="49" charset="-122"/>
              </a:rPr>
              <a:t>对应字符相等循环 *</a:t>
            </a:r>
            <a:r>
              <a:rPr lang="en-US" altLang="zh-CN" sz="2800" b="1">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if (*s == '\0')  return 0;</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s++; t++;</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return *s - *t; /* </a:t>
            </a:r>
            <a:r>
              <a:rPr lang="zh-CN" altLang="en-US" sz="2800" b="1">
                <a:effectLst>
                  <a:outerShdw blurRad="38100" dist="38100" dir="2700000" algn="tl">
                    <a:srgbClr val="C0C0C0"/>
                  </a:outerShdw>
                </a:effectLst>
                <a:latin typeface="楷体_GB2312" pitchFamily="49" charset="-122"/>
                <a:ea typeface="楷体_GB2312" pitchFamily="49" charset="-122"/>
              </a:rPr>
              <a:t>返回比较结果 *</a:t>
            </a:r>
            <a:r>
              <a:rPr lang="en-US" altLang="zh-CN" sz="2800" b="1">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Tx/>
              <a:buNone/>
              <a:defRPr/>
            </a:pPr>
            <a:r>
              <a:rPr lang="en-US" altLang="zh-CN" sz="2800" b="1">
                <a:effectLst>
                  <a:outerShdw blurRad="38100" dist="38100" dir="2700000" algn="tl">
                    <a:srgbClr val="C0C0C0"/>
                  </a:outerShdw>
                </a:effectLst>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B9C1466D-482F-4499-AF72-A63BF4EE2B7D}" type="slidenum">
              <a:rPr lang="en-US" altLang="zh-CN"/>
              <a:pPr>
                <a:defRPr/>
              </a:pPr>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1212B4-0A70-7608-089A-4C7FFC707440}"/>
              </a:ext>
            </a:extLst>
          </p:cNvPr>
          <p:cNvSpPr>
            <a:spLocks noGrp="1"/>
          </p:cNvSpPr>
          <p:nvPr>
            <p:ph type="title"/>
          </p:nvPr>
        </p:nvSpPr>
        <p:spPr>
          <a:xfrm>
            <a:off x="474849" y="1760538"/>
            <a:ext cx="8229600" cy="1143000"/>
          </a:xfrm>
        </p:spPr>
        <p:txBody>
          <a:bodyPr/>
          <a:lstStyle/>
          <a:p>
            <a:r>
              <a:rPr lang="zh-CN" altLang="en-US" dirty="0"/>
              <a:t>保留字符串中每个字符的前两次出现，删除之后所有更多的出现</a:t>
            </a:r>
          </a:p>
        </p:txBody>
      </p:sp>
      <p:sp>
        <p:nvSpPr>
          <p:cNvPr id="4" name="灯片编号占位符 3">
            <a:extLst>
              <a:ext uri="{FF2B5EF4-FFF2-40B4-BE49-F238E27FC236}">
                <a16:creationId xmlns:a16="http://schemas.microsoft.com/office/drawing/2014/main" id="{28DB9E81-C793-4169-356C-600A8F8054E8}"/>
              </a:ext>
            </a:extLst>
          </p:cNvPr>
          <p:cNvSpPr>
            <a:spLocks noGrp="1"/>
          </p:cNvSpPr>
          <p:nvPr>
            <p:ph type="sldNum" sz="quarter" idx="12"/>
          </p:nvPr>
        </p:nvSpPr>
        <p:spPr/>
        <p:txBody>
          <a:bodyPr/>
          <a:lstStyle/>
          <a:p>
            <a:pPr>
              <a:defRPr/>
            </a:pPr>
            <a:fld id="{4C02CBC6-E8D8-4A37-96BD-A7C68420EB00}" type="slidenum">
              <a:rPr lang="en-US" altLang="zh-CN" smtClean="0"/>
              <a:pPr>
                <a:defRPr/>
              </a:pPr>
              <a:t>62</a:t>
            </a:fld>
            <a:endParaRPr lang="en-US" altLang="zh-CN"/>
          </a:p>
        </p:txBody>
      </p:sp>
      <p:sp>
        <p:nvSpPr>
          <p:cNvPr id="6" name="内容占位符 5">
            <a:extLst>
              <a:ext uri="{FF2B5EF4-FFF2-40B4-BE49-F238E27FC236}">
                <a16:creationId xmlns:a16="http://schemas.microsoft.com/office/drawing/2014/main" id="{F657EB8E-92CB-0506-4024-0712D1ED8E12}"/>
              </a:ext>
            </a:extLst>
          </p:cNvPr>
          <p:cNvSpPr>
            <a:spLocks noGrp="1"/>
          </p:cNvSpPr>
          <p:nvPr>
            <p:ph idx="1"/>
          </p:nvPr>
        </p:nvSpPr>
        <p:spPr>
          <a:xfrm>
            <a:off x="474849" y="3234877"/>
            <a:ext cx="8229600" cy="2805261"/>
          </a:xfrm>
        </p:spPr>
        <p:txBody>
          <a:bodyPr/>
          <a:lstStyle/>
          <a:p>
            <a:r>
              <a:rPr lang="zh-CN" altLang="en-US" dirty="0"/>
              <a:t>使用</a:t>
            </a:r>
            <a:r>
              <a:rPr lang="zh-CN" altLang="en-US" sz="2800" dirty="0"/>
              <a:t>快慢</a:t>
            </a:r>
            <a:r>
              <a:rPr lang="zh-CN" altLang="en-US" dirty="0"/>
              <a:t>指针</a:t>
            </a:r>
          </a:p>
        </p:txBody>
      </p:sp>
    </p:spTree>
    <p:extLst>
      <p:ext uri="{BB962C8B-B14F-4D97-AF65-F5344CB8AC3E}">
        <p14:creationId xmlns:p14="http://schemas.microsoft.com/office/powerpoint/2010/main" val="25416440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E5FEE50-EFCE-29C8-DD6E-893A76DD8912}"/>
              </a:ext>
            </a:extLst>
          </p:cNvPr>
          <p:cNvSpPr>
            <a:spLocks noGrp="1"/>
          </p:cNvSpPr>
          <p:nvPr>
            <p:ph idx="1"/>
          </p:nvPr>
        </p:nvSpPr>
        <p:spPr>
          <a:xfrm>
            <a:off x="457200" y="166805"/>
            <a:ext cx="8229600" cy="6554670"/>
          </a:xfrm>
        </p:spPr>
        <p:txBody>
          <a:bodyPr/>
          <a:lstStyle/>
          <a:p>
            <a:r>
              <a:rPr lang="en-US" altLang="zh-CN" sz="1600" dirty="0"/>
              <a:t>void </a:t>
            </a:r>
            <a:r>
              <a:rPr lang="en-US" altLang="zh-CN" sz="1600" dirty="0" err="1"/>
              <a:t>removeExcessCharacters</a:t>
            </a:r>
            <a:r>
              <a:rPr lang="en-US" altLang="zh-CN" sz="1600" dirty="0"/>
              <a:t>(char *str) {</a:t>
            </a:r>
          </a:p>
          <a:p>
            <a:r>
              <a:rPr lang="en-US" altLang="zh-CN" sz="1600" dirty="0"/>
              <a:t>    char *</a:t>
            </a:r>
            <a:r>
              <a:rPr lang="en-US" altLang="zh-CN" sz="1600" dirty="0" err="1"/>
              <a:t>slowPtr</a:t>
            </a:r>
            <a:r>
              <a:rPr lang="en-US" altLang="zh-CN" sz="1600" dirty="0"/>
              <a:t> = str, *</a:t>
            </a:r>
            <a:r>
              <a:rPr lang="en-US" altLang="zh-CN" sz="1600" dirty="0" err="1"/>
              <a:t>fastPtr</a:t>
            </a:r>
            <a:r>
              <a:rPr lang="en-US" altLang="zh-CN" sz="1600" dirty="0"/>
              <a:t> = str + 1;</a:t>
            </a:r>
          </a:p>
          <a:p>
            <a:r>
              <a:rPr lang="en-US" altLang="zh-CN" sz="1600" dirty="0"/>
              <a:t>    int count;</a:t>
            </a:r>
          </a:p>
          <a:p>
            <a:r>
              <a:rPr lang="en-US" altLang="zh-CN" sz="1600" dirty="0"/>
              <a:t>    while (*</a:t>
            </a:r>
            <a:r>
              <a:rPr lang="en-US" altLang="zh-CN" sz="1600" dirty="0" err="1"/>
              <a:t>slowPtr</a:t>
            </a:r>
            <a:r>
              <a:rPr lang="en-US" altLang="zh-CN" sz="1600" dirty="0"/>
              <a:t>) {</a:t>
            </a:r>
          </a:p>
          <a:p>
            <a:r>
              <a:rPr lang="en-US" altLang="zh-CN" sz="1600" dirty="0"/>
              <a:t>        count = 1;</a:t>
            </a:r>
          </a:p>
          <a:p>
            <a:r>
              <a:rPr lang="en-US" altLang="zh-CN" sz="1600" dirty="0">
                <a:solidFill>
                  <a:srgbClr val="FF0000"/>
                </a:solidFill>
              </a:rPr>
              <a:t>        while (*</a:t>
            </a:r>
            <a:r>
              <a:rPr lang="en-US" altLang="zh-CN" sz="1600" dirty="0" err="1">
                <a:solidFill>
                  <a:srgbClr val="FF0000"/>
                </a:solidFill>
              </a:rPr>
              <a:t>fastPtr</a:t>
            </a:r>
            <a:r>
              <a:rPr lang="en-US" altLang="zh-CN" sz="1600" dirty="0">
                <a:solidFill>
                  <a:srgbClr val="FF0000"/>
                </a:solidFill>
              </a:rPr>
              <a:t>) {</a:t>
            </a:r>
          </a:p>
          <a:p>
            <a:r>
              <a:rPr lang="en-US" altLang="zh-CN" sz="1600" dirty="0">
                <a:solidFill>
                  <a:schemeClr val="accent1"/>
                </a:solidFill>
              </a:rPr>
              <a:t>            if (*</a:t>
            </a:r>
            <a:r>
              <a:rPr lang="en-US" altLang="zh-CN" sz="1600" dirty="0" err="1">
                <a:solidFill>
                  <a:schemeClr val="accent1"/>
                </a:solidFill>
              </a:rPr>
              <a:t>fastPtr</a:t>
            </a:r>
            <a:r>
              <a:rPr lang="en-US" altLang="zh-CN" sz="1600" dirty="0">
                <a:solidFill>
                  <a:schemeClr val="accent1"/>
                </a:solidFill>
              </a:rPr>
              <a:t> == *</a:t>
            </a:r>
            <a:r>
              <a:rPr lang="en-US" altLang="zh-CN" sz="1600" dirty="0" err="1">
                <a:solidFill>
                  <a:schemeClr val="accent1"/>
                </a:solidFill>
              </a:rPr>
              <a:t>slowPtr</a:t>
            </a:r>
            <a:r>
              <a:rPr lang="en-US" altLang="zh-CN" sz="1600" dirty="0">
                <a:solidFill>
                  <a:schemeClr val="accent1"/>
                </a:solidFill>
              </a:rPr>
              <a:t>) {</a:t>
            </a:r>
          </a:p>
          <a:p>
            <a:r>
              <a:rPr lang="en-US" altLang="zh-CN" sz="1600" dirty="0">
                <a:solidFill>
                  <a:schemeClr val="accent1"/>
                </a:solidFill>
              </a:rPr>
              <a:t>                count++;</a:t>
            </a:r>
          </a:p>
          <a:p>
            <a:r>
              <a:rPr lang="en-US" altLang="zh-CN" sz="1600" dirty="0"/>
              <a:t>                </a:t>
            </a:r>
            <a:r>
              <a:rPr lang="en-US" altLang="zh-CN" sz="1600" dirty="0">
                <a:solidFill>
                  <a:srgbClr val="7030A0"/>
                </a:solidFill>
              </a:rPr>
              <a:t>if (count &gt; 2) {</a:t>
            </a:r>
          </a:p>
          <a:p>
            <a:r>
              <a:rPr lang="en-US" altLang="zh-CN" sz="1600" dirty="0">
                <a:solidFill>
                  <a:srgbClr val="7030A0"/>
                </a:solidFill>
              </a:rPr>
              <a:t>                    char *</a:t>
            </a:r>
            <a:r>
              <a:rPr lang="en-US" altLang="zh-CN" sz="1600" dirty="0" err="1">
                <a:solidFill>
                  <a:srgbClr val="7030A0"/>
                </a:solidFill>
              </a:rPr>
              <a:t>tempPtr</a:t>
            </a:r>
            <a:r>
              <a:rPr lang="en-US" altLang="zh-CN" sz="1600" dirty="0">
                <a:solidFill>
                  <a:srgbClr val="7030A0"/>
                </a:solidFill>
              </a:rPr>
              <a:t> = </a:t>
            </a:r>
            <a:r>
              <a:rPr lang="en-US" altLang="zh-CN" sz="1600" dirty="0" err="1">
                <a:solidFill>
                  <a:srgbClr val="7030A0"/>
                </a:solidFill>
              </a:rPr>
              <a:t>fastPtr</a:t>
            </a:r>
            <a:r>
              <a:rPr lang="en-US" altLang="zh-CN" sz="1600" dirty="0">
                <a:solidFill>
                  <a:srgbClr val="7030A0"/>
                </a:solidFill>
              </a:rPr>
              <a:t>;</a:t>
            </a:r>
          </a:p>
          <a:p>
            <a:r>
              <a:rPr lang="en-US" altLang="zh-CN" sz="1600" dirty="0">
                <a:solidFill>
                  <a:srgbClr val="7030A0"/>
                </a:solidFill>
              </a:rPr>
              <a:t>                    while (*</a:t>
            </a:r>
            <a:r>
              <a:rPr lang="en-US" altLang="zh-CN" sz="1600" dirty="0" err="1">
                <a:solidFill>
                  <a:srgbClr val="7030A0"/>
                </a:solidFill>
              </a:rPr>
              <a:t>tempPtr</a:t>
            </a:r>
            <a:r>
              <a:rPr lang="en-US" altLang="zh-CN" sz="1600" dirty="0">
                <a:solidFill>
                  <a:srgbClr val="7030A0"/>
                </a:solidFill>
              </a:rPr>
              <a:t>) {</a:t>
            </a:r>
          </a:p>
          <a:p>
            <a:r>
              <a:rPr lang="en-US" altLang="zh-CN" sz="1600" dirty="0">
                <a:solidFill>
                  <a:srgbClr val="7030A0"/>
                </a:solidFill>
              </a:rPr>
              <a:t>                        *</a:t>
            </a:r>
            <a:r>
              <a:rPr lang="en-US" altLang="zh-CN" sz="1600" dirty="0" err="1">
                <a:solidFill>
                  <a:srgbClr val="7030A0"/>
                </a:solidFill>
              </a:rPr>
              <a:t>tempPtr</a:t>
            </a:r>
            <a:r>
              <a:rPr lang="en-US" altLang="zh-CN" sz="1600" dirty="0">
                <a:solidFill>
                  <a:srgbClr val="7030A0"/>
                </a:solidFill>
              </a:rPr>
              <a:t> = *(</a:t>
            </a:r>
            <a:r>
              <a:rPr lang="en-US" altLang="zh-CN" sz="1600" dirty="0" err="1">
                <a:solidFill>
                  <a:srgbClr val="7030A0"/>
                </a:solidFill>
              </a:rPr>
              <a:t>tempPtr</a:t>
            </a:r>
            <a:r>
              <a:rPr lang="en-US" altLang="zh-CN" sz="1600" dirty="0">
                <a:solidFill>
                  <a:srgbClr val="7030A0"/>
                </a:solidFill>
              </a:rPr>
              <a:t> + 1);</a:t>
            </a:r>
          </a:p>
          <a:p>
            <a:r>
              <a:rPr lang="en-US" altLang="zh-CN" sz="1600" dirty="0">
                <a:solidFill>
                  <a:srgbClr val="7030A0"/>
                </a:solidFill>
              </a:rPr>
              <a:t>                        </a:t>
            </a:r>
            <a:r>
              <a:rPr lang="en-US" altLang="zh-CN" sz="1600" dirty="0" err="1">
                <a:solidFill>
                  <a:srgbClr val="7030A0"/>
                </a:solidFill>
              </a:rPr>
              <a:t>tempPtr</a:t>
            </a:r>
            <a:r>
              <a:rPr lang="en-US" altLang="zh-CN" sz="1600" dirty="0">
                <a:solidFill>
                  <a:srgbClr val="7030A0"/>
                </a:solidFill>
              </a:rPr>
              <a:t>++;</a:t>
            </a:r>
          </a:p>
          <a:p>
            <a:r>
              <a:rPr lang="en-US" altLang="zh-CN" sz="1600" dirty="0">
                <a:solidFill>
                  <a:srgbClr val="7030A0"/>
                </a:solidFill>
              </a:rPr>
              <a:t>                    }</a:t>
            </a:r>
          </a:p>
          <a:p>
            <a:r>
              <a:rPr lang="en-US" altLang="zh-CN" sz="1600" dirty="0">
                <a:solidFill>
                  <a:srgbClr val="7030A0"/>
                </a:solidFill>
              </a:rPr>
              <a:t>                    </a:t>
            </a:r>
            <a:r>
              <a:rPr lang="en-US" altLang="zh-CN" sz="1600" dirty="0" err="1">
                <a:solidFill>
                  <a:srgbClr val="7030A0"/>
                </a:solidFill>
              </a:rPr>
              <a:t>fastPtr</a:t>
            </a:r>
            <a:r>
              <a:rPr lang="en-US" altLang="zh-CN" sz="1600" dirty="0">
                <a:solidFill>
                  <a:srgbClr val="7030A0"/>
                </a:solidFill>
              </a:rPr>
              <a:t>--;</a:t>
            </a:r>
          </a:p>
          <a:p>
            <a:r>
              <a:rPr lang="en-US" altLang="zh-CN" sz="1600" dirty="0">
                <a:solidFill>
                  <a:srgbClr val="7030A0"/>
                </a:solidFill>
              </a:rPr>
              <a:t>                }</a:t>
            </a:r>
          </a:p>
          <a:p>
            <a:r>
              <a:rPr lang="en-US" altLang="zh-CN" sz="1600" dirty="0"/>
              <a:t>            }</a:t>
            </a:r>
          </a:p>
          <a:p>
            <a:r>
              <a:rPr lang="en-US" altLang="zh-CN" sz="1600" dirty="0">
                <a:solidFill>
                  <a:srgbClr val="FF0000"/>
                </a:solidFill>
              </a:rPr>
              <a:t>            </a:t>
            </a:r>
            <a:r>
              <a:rPr lang="en-US" altLang="zh-CN" sz="1600" dirty="0" err="1">
                <a:solidFill>
                  <a:srgbClr val="FF0000"/>
                </a:solidFill>
              </a:rPr>
              <a:t>fastPtr</a:t>
            </a:r>
            <a:r>
              <a:rPr lang="en-US" altLang="zh-CN" sz="1600" dirty="0">
                <a:solidFill>
                  <a:srgbClr val="FF0000"/>
                </a:solidFill>
              </a:rPr>
              <a:t>++;</a:t>
            </a:r>
          </a:p>
          <a:p>
            <a:r>
              <a:rPr lang="en-US" altLang="zh-CN" sz="1600" dirty="0"/>
              <a:t>        }</a:t>
            </a:r>
          </a:p>
          <a:p>
            <a:r>
              <a:rPr lang="en-US" altLang="zh-CN" sz="1600" dirty="0"/>
              <a:t>        </a:t>
            </a:r>
            <a:r>
              <a:rPr lang="en-US" altLang="zh-CN" sz="1600" dirty="0" err="1"/>
              <a:t>slowPtr</a:t>
            </a:r>
            <a:r>
              <a:rPr lang="en-US" altLang="zh-CN" sz="1600" dirty="0"/>
              <a:t>++;          </a:t>
            </a:r>
            <a:r>
              <a:rPr lang="en-US" altLang="zh-CN" sz="1600" dirty="0" err="1"/>
              <a:t>fastPtr</a:t>
            </a:r>
            <a:r>
              <a:rPr lang="en-US" altLang="zh-CN" sz="1600" dirty="0"/>
              <a:t> = </a:t>
            </a:r>
            <a:r>
              <a:rPr lang="en-US" altLang="zh-CN" sz="1600" dirty="0" err="1"/>
              <a:t>slowPtr</a:t>
            </a:r>
            <a:r>
              <a:rPr lang="en-US" altLang="zh-CN" sz="1600" dirty="0"/>
              <a:t> + 1;</a:t>
            </a:r>
          </a:p>
          <a:p>
            <a:r>
              <a:rPr lang="en-US" altLang="zh-CN" sz="1600" dirty="0"/>
              <a:t>    }</a:t>
            </a:r>
          </a:p>
          <a:p>
            <a:r>
              <a:rPr lang="en-US" altLang="zh-CN" sz="1600" dirty="0"/>
              <a:t>}</a:t>
            </a:r>
          </a:p>
        </p:txBody>
      </p:sp>
      <p:sp>
        <p:nvSpPr>
          <p:cNvPr id="4" name="灯片编号占位符 3">
            <a:extLst>
              <a:ext uri="{FF2B5EF4-FFF2-40B4-BE49-F238E27FC236}">
                <a16:creationId xmlns:a16="http://schemas.microsoft.com/office/drawing/2014/main" id="{600C0FA5-35F6-8158-3BB4-8BD96A5DA062}"/>
              </a:ext>
            </a:extLst>
          </p:cNvPr>
          <p:cNvSpPr>
            <a:spLocks noGrp="1"/>
          </p:cNvSpPr>
          <p:nvPr>
            <p:ph type="sldNum" sz="quarter" idx="12"/>
          </p:nvPr>
        </p:nvSpPr>
        <p:spPr/>
        <p:txBody>
          <a:bodyPr/>
          <a:lstStyle/>
          <a:p>
            <a:pPr>
              <a:defRPr/>
            </a:pPr>
            <a:fld id="{4C02CBC6-E8D8-4A37-96BD-A7C68420EB00}" type="slidenum">
              <a:rPr lang="en-US" altLang="zh-CN" smtClean="0"/>
              <a:pPr>
                <a:defRPr/>
              </a:pPr>
              <a:t>63</a:t>
            </a:fld>
            <a:endParaRPr lang="en-US" altLang="zh-CN"/>
          </a:p>
        </p:txBody>
      </p:sp>
      <p:sp>
        <p:nvSpPr>
          <p:cNvPr id="5" name="矩形 4">
            <a:extLst>
              <a:ext uri="{FF2B5EF4-FFF2-40B4-BE49-F238E27FC236}">
                <a16:creationId xmlns:a16="http://schemas.microsoft.com/office/drawing/2014/main" id="{8BDC6527-C8A0-26D7-37E4-A47D5E906510}"/>
              </a:ext>
            </a:extLst>
          </p:cNvPr>
          <p:cNvSpPr/>
          <p:nvPr/>
        </p:nvSpPr>
        <p:spPr>
          <a:xfrm>
            <a:off x="1475656" y="2564904"/>
            <a:ext cx="3096344" cy="230425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BB9CBBC-BF5E-A5C0-6F9D-93C7A8C4D55D}"/>
              </a:ext>
            </a:extLst>
          </p:cNvPr>
          <p:cNvSpPr/>
          <p:nvPr/>
        </p:nvSpPr>
        <p:spPr>
          <a:xfrm>
            <a:off x="1331640" y="1988840"/>
            <a:ext cx="3744416" cy="316835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F9114DD-E40E-5379-B72A-29CD77A3058F}"/>
              </a:ext>
            </a:extLst>
          </p:cNvPr>
          <p:cNvSpPr/>
          <p:nvPr/>
        </p:nvSpPr>
        <p:spPr>
          <a:xfrm>
            <a:off x="1187624" y="1672329"/>
            <a:ext cx="4536504" cy="403244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511AB8E-8D4C-1D7A-CB0F-6A2834512C58}"/>
              </a:ext>
            </a:extLst>
          </p:cNvPr>
          <p:cNvSpPr txBox="1"/>
          <p:nvPr/>
        </p:nvSpPr>
        <p:spPr>
          <a:xfrm>
            <a:off x="5940152" y="2996952"/>
            <a:ext cx="3096344" cy="2031325"/>
          </a:xfrm>
          <a:prstGeom prst="rect">
            <a:avLst/>
          </a:prstGeom>
          <a:noFill/>
        </p:spPr>
        <p:txBody>
          <a:bodyPr wrap="square" rtlCol="0">
            <a:spAutoFit/>
          </a:bodyPr>
          <a:lstStyle/>
          <a:p>
            <a:r>
              <a:rPr lang="zh-CN" altLang="en-US" dirty="0"/>
              <a:t>对于一个给定的</a:t>
            </a:r>
            <a:r>
              <a:rPr lang="en-US" altLang="zh-CN" dirty="0" err="1"/>
              <a:t>slowPtr</a:t>
            </a:r>
            <a:r>
              <a:rPr lang="zh-CN" altLang="en-US" dirty="0"/>
              <a:t>，一次</a:t>
            </a:r>
            <a:r>
              <a:rPr lang="en-US" altLang="zh-CN" dirty="0" err="1"/>
              <a:t>fastPtr</a:t>
            </a:r>
            <a:r>
              <a:rPr lang="zh-CN" altLang="en-US" dirty="0"/>
              <a:t>的遍历意味着什么？</a:t>
            </a:r>
            <a:endParaRPr lang="en-US" altLang="zh-CN" dirty="0"/>
          </a:p>
          <a:p>
            <a:endParaRPr lang="en-US" altLang="zh-CN" dirty="0"/>
          </a:p>
          <a:p>
            <a:r>
              <a:rPr lang="zh-CN" altLang="en-US" dirty="0"/>
              <a:t>细节：</a:t>
            </a:r>
            <a:endParaRPr lang="en-US" altLang="zh-CN" dirty="0"/>
          </a:p>
          <a:p>
            <a:pPr marL="342900" indent="-342900">
              <a:buAutoNum type="arabicPeriod"/>
            </a:pPr>
            <a:r>
              <a:rPr lang="zh-CN" altLang="en-US" dirty="0"/>
              <a:t>字符串终止标志复制了吗？</a:t>
            </a:r>
            <a:endParaRPr lang="en-US" altLang="zh-CN" dirty="0"/>
          </a:p>
          <a:p>
            <a:pPr marL="342900" indent="-342900">
              <a:buAutoNum type="arabicPeriod"/>
            </a:pPr>
            <a:r>
              <a:rPr lang="zh-CN" altLang="en-US" dirty="0"/>
              <a:t>为什么有个</a:t>
            </a:r>
            <a:r>
              <a:rPr lang="en-US" altLang="zh-CN" dirty="0" err="1"/>
              <a:t>fastPtr</a:t>
            </a:r>
            <a:r>
              <a:rPr lang="en-US" altLang="zh-CN" dirty="0"/>
              <a:t>--</a:t>
            </a:r>
            <a:r>
              <a:rPr lang="zh-CN" altLang="en-US" dirty="0"/>
              <a:t>？</a:t>
            </a:r>
            <a:endParaRPr lang="en-US" altLang="zh-CN" dirty="0"/>
          </a:p>
          <a:p>
            <a:pPr marL="342900" indent="-342900">
              <a:buAutoNum type="arabicPeriod"/>
            </a:pPr>
            <a:r>
              <a:rPr lang="en-US" altLang="zh-CN" dirty="0"/>
              <a:t>count</a:t>
            </a:r>
            <a:r>
              <a:rPr lang="zh-CN" altLang="en-US" dirty="0"/>
              <a:t>什么情况下调整</a:t>
            </a:r>
          </a:p>
        </p:txBody>
      </p:sp>
    </p:spTree>
    <p:extLst>
      <p:ext uri="{BB962C8B-B14F-4D97-AF65-F5344CB8AC3E}">
        <p14:creationId xmlns:p14="http://schemas.microsoft.com/office/powerpoint/2010/main" val="147948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6"/>
                                        </p:tgtEl>
                                        <p:attrNameLst>
                                          <p:attrName>ppt_x</p:attrName>
                                        </p:attrNameLst>
                                      </p:cBhvr>
                                      <p:tavLst>
                                        <p:tav tm="0">
                                          <p:val>
                                            <p:strVal val="ppt_x"/>
                                          </p:val>
                                        </p:tav>
                                        <p:tav tm="100000">
                                          <p:val>
                                            <p:strVal val="ppt_x"/>
                                          </p:val>
                                        </p:tav>
                                      </p:tavLst>
                                    </p:anim>
                                    <p:anim calcmode="lin" valueType="num">
                                      <p:cBhvr additive="base">
                                        <p:cTn id="11" dur="500"/>
                                        <p:tgtEl>
                                          <p:spTgt spid="6"/>
                                        </p:tgtEl>
                                        <p:attrNameLst>
                                          <p:attrName>ppt_y</p:attrName>
                                        </p:attrNameLst>
                                      </p:cBhvr>
                                      <p:tavLst>
                                        <p:tav tm="0">
                                          <p:val>
                                            <p:strVal val="ppt_y"/>
                                          </p:val>
                                        </p:tav>
                                        <p:tav tm="100000">
                                          <p:val>
                                            <p:strVal val="1+ppt_h/2"/>
                                          </p:val>
                                        </p:tav>
                                      </p:tavLst>
                                    </p:anim>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 calcmode="lin" valueType="num">
                                      <p:cBhvr additive="base">
                                        <p:cTn id="2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 calcmode="lin" valueType="num">
                                      <p:cBhvr additive="base">
                                        <p:cTn id="28"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
                                            <p:txEl>
                                              <p:pRg st="2" end="2"/>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 calcmode="lin" valueType="num">
                                      <p:cBhvr additive="base">
                                        <p:cTn id="32"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3" end="3"/>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 calcmode="lin" valueType="num">
                                      <p:cBhvr additive="base">
                                        <p:cTn id="36"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4" end="4"/>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 calcmode="lin" valueType="num">
                                      <p:cBhvr additive="base">
                                        <p:cTn id="40"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1D31CE-4D22-65E1-66A3-0A3BD8ECDFD2}"/>
              </a:ext>
            </a:extLst>
          </p:cNvPr>
          <p:cNvSpPr>
            <a:spLocks noGrp="1"/>
          </p:cNvSpPr>
          <p:nvPr>
            <p:ph type="title"/>
          </p:nvPr>
        </p:nvSpPr>
        <p:spPr>
          <a:xfrm>
            <a:off x="395536" y="620688"/>
            <a:ext cx="8229600" cy="579090"/>
          </a:xfrm>
        </p:spPr>
        <p:txBody>
          <a:bodyPr/>
          <a:lstStyle/>
          <a:p>
            <a:r>
              <a:rPr lang="zh-CN" altLang="en-US" sz="2400" b="0" i="0" dirty="0">
                <a:effectLst/>
                <a:latin typeface="Noto Sans" panose="020B0502040504020204" pitchFamily="34" charset="0"/>
              </a:rPr>
              <a:t>合并两个排序数组：</a:t>
            </a:r>
            <a:br>
              <a:rPr lang="en-US" altLang="zh-CN" sz="2400" b="0" i="0" dirty="0">
                <a:effectLst/>
                <a:latin typeface="Noto Sans" panose="020B0502040504020204" pitchFamily="34" charset="0"/>
              </a:rPr>
            </a:br>
            <a:r>
              <a:rPr lang="en-US" altLang="zh-CN" sz="2400" b="0" i="0" dirty="0">
                <a:effectLst/>
                <a:latin typeface="Noto Sans" panose="020B0502040504020204" pitchFamily="34" charset="0"/>
              </a:rPr>
              <a:t>       </a:t>
            </a:r>
            <a:r>
              <a:rPr lang="zh-CN" altLang="en-US" sz="2400" dirty="0">
                <a:latin typeface="Noto Sans" panose="020B0502040504020204" pitchFamily="34" charset="0"/>
              </a:rPr>
              <a:t>给定</a:t>
            </a:r>
            <a:r>
              <a:rPr lang="zh-CN" altLang="en-US" sz="2400" b="0" i="0" dirty="0">
                <a:effectLst/>
                <a:latin typeface="Noto Sans" panose="020B0502040504020204" pitchFamily="34" charset="0"/>
              </a:rPr>
              <a:t>两个排好序的整数数组，将它们合并成为一个排好序的整数数组。结果放在第一个数组（假定空间足够）</a:t>
            </a:r>
            <a:endParaRPr lang="zh-CN" altLang="en-US" sz="2400" dirty="0"/>
          </a:p>
        </p:txBody>
      </p:sp>
      <p:sp>
        <p:nvSpPr>
          <p:cNvPr id="3" name="内容占位符 2">
            <a:extLst>
              <a:ext uri="{FF2B5EF4-FFF2-40B4-BE49-F238E27FC236}">
                <a16:creationId xmlns:a16="http://schemas.microsoft.com/office/drawing/2014/main" id="{46CEFFED-17C6-AC3B-E557-6E4A689D3B02}"/>
              </a:ext>
            </a:extLst>
          </p:cNvPr>
          <p:cNvSpPr>
            <a:spLocks noGrp="1"/>
          </p:cNvSpPr>
          <p:nvPr>
            <p:ph idx="1"/>
          </p:nvPr>
        </p:nvSpPr>
        <p:spPr>
          <a:xfrm>
            <a:off x="107504" y="1340768"/>
            <a:ext cx="8928992" cy="5328591"/>
          </a:xfrm>
        </p:spPr>
        <p:txBody>
          <a:bodyPr/>
          <a:lstStyle/>
          <a:p>
            <a:r>
              <a:rPr lang="en-US" altLang="zh-CN" sz="2000" dirty="0"/>
              <a:t>#include &lt;</a:t>
            </a:r>
            <a:r>
              <a:rPr lang="en-US" altLang="zh-CN" sz="2000" dirty="0" err="1"/>
              <a:t>stdio.h</a:t>
            </a:r>
            <a:r>
              <a:rPr lang="en-US" altLang="zh-CN" sz="2000" dirty="0"/>
              <a:t>&gt;</a:t>
            </a:r>
          </a:p>
          <a:p>
            <a:r>
              <a:rPr lang="en-US" altLang="zh-CN" sz="2000" dirty="0"/>
              <a:t>int main() {</a:t>
            </a:r>
          </a:p>
          <a:p>
            <a:r>
              <a:rPr lang="en-US" altLang="zh-CN" sz="2000" dirty="0"/>
              <a:t>    int nums1[100] = {3, 5, 9, 11, 22};</a:t>
            </a:r>
          </a:p>
          <a:p>
            <a:r>
              <a:rPr lang="en-US" altLang="zh-CN" sz="2000" dirty="0"/>
              <a:t>    int m = 5;</a:t>
            </a:r>
          </a:p>
          <a:p>
            <a:r>
              <a:rPr lang="en-US" altLang="zh-CN" sz="2000" dirty="0"/>
              <a:t>    int nums2[] = {1, 4, 5, 6};</a:t>
            </a:r>
          </a:p>
          <a:p>
            <a:r>
              <a:rPr lang="en-US" altLang="zh-CN" sz="2000" dirty="0"/>
              <a:t>    int n = 4;</a:t>
            </a:r>
          </a:p>
          <a:p>
            <a:r>
              <a:rPr lang="en-US" altLang="zh-CN" sz="2000" i="1" dirty="0">
                <a:solidFill>
                  <a:srgbClr val="FF0000"/>
                </a:solidFill>
              </a:rPr>
              <a:t>    merge(nums1, m, nums2, n); // </a:t>
            </a:r>
            <a:r>
              <a:rPr lang="zh-CN" altLang="en-US" sz="2000" i="1" dirty="0">
                <a:solidFill>
                  <a:srgbClr val="FF0000"/>
                </a:solidFill>
              </a:rPr>
              <a:t>将</a:t>
            </a:r>
            <a:r>
              <a:rPr lang="en-US" altLang="zh-CN" sz="2000" i="1" dirty="0">
                <a:solidFill>
                  <a:srgbClr val="FF0000"/>
                </a:solidFill>
              </a:rPr>
              <a:t>nums1</a:t>
            </a:r>
            <a:r>
              <a:rPr lang="zh-CN" altLang="en-US" sz="2000" i="1" dirty="0">
                <a:solidFill>
                  <a:srgbClr val="FF0000"/>
                </a:solidFill>
              </a:rPr>
              <a:t>和</a:t>
            </a:r>
            <a:r>
              <a:rPr lang="en-US" altLang="zh-CN" sz="2000" i="1" dirty="0">
                <a:solidFill>
                  <a:srgbClr val="FF0000"/>
                </a:solidFill>
              </a:rPr>
              <a:t>nums2</a:t>
            </a:r>
            <a:r>
              <a:rPr lang="zh-CN" altLang="en-US" sz="2000" i="1" dirty="0">
                <a:solidFill>
                  <a:srgbClr val="FF0000"/>
                </a:solidFill>
              </a:rPr>
              <a:t>合并成为</a:t>
            </a:r>
            <a:r>
              <a:rPr lang="en-US" altLang="zh-CN" sz="2000" i="1" dirty="0">
                <a:solidFill>
                  <a:srgbClr val="FF0000"/>
                </a:solidFill>
              </a:rPr>
              <a:t>nums1</a:t>
            </a:r>
          </a:p>
          <a:p>
            <a:r>
              <a:rPr lang="en-US" altLang="zh-CN" sz="2000" dirty="0"/>
              <a:t>    </a:t>
            </a:r>
            <a:r>
              <a:rPr lang="en-US" altLang="zh-CN" sz="2000" dirty="0" err="1"/>
              <a:t>printf</a:t>
            </a:r>
            <a:r>
              <a:rPr lang="en-US" altLang="zh-CN" sz="2000" dirty="0"/>
              <a:t>("Merged array: ");</a:t>
            </a:r>
          </a:p>
          <a:p>
            <a:r>
              <a:rPr lang="en-US" altLang="zh-CN" sz="2000" dirty="0"/>
              <a:t>    for (int </a:t>
            </a:r>
            <a:r>
              <a:rPr lang="en-US" altLang="zh-CN" sz="2000" dirty="0" err="1"/>
              <a:t>i</a:t>
            </a:r>
            <a:r>
              <a:rPr lang="en-US" altLang="zh-CN" sz="2000" dirty="0"/>
              <a:t> = 0; </a:t>
            </a:r>
            <a:r>
              <a:rPr lang="en-US" altLang="zh-CN" sz="2000" dirty="0" err="1"/>
              <a:t>i</a:t>
            </a:r>
            <a:r>
              <a:rPr lang="en-US" altLang="zh-CN" sz="2000" dirty="0"/>
              <a:t> &lt; </a:t>
            </a:r>
            <a:r>
              <a:rPr lang="en-US" altLang="zh-CN" sz="2000" dirty="0" err="1"/>
              <a:t>n+m</a:t>
            </a:r>
            <a:r>
              <a:rPr lang="en-US" altLang="zh-CN" sz="2000" dirty="0"/>
              <a:t>; </a:t>
            </a:r>
            <a:r>
              <a:rPr lang="en-US" altLang="zh-CN" sz="2000" dirty="0" err="1"/>
              <a:t>i</a:t>
            </a:r>
            <a:r>
              <a:rPr lang="en-US" altLang="zh-CN" sz="2000" dirty="0"/>
              <a:t>++) {</a:t>
            </a:r>
          </a:p>
          <a:p>
            <a:r>
              <a:rPr lang="en-US" altLang="zh-CN" sz="2000" dirty="0"/>
              <a:t>        </a:t>
            </a:r>
            <a:r>
              <a:rPr lang="en-US" altLang="zh-CN" sz="2000" dirty="0" err="1"/>
              <a:t>printf</a:t>
            </a:r>
            <a:r>
              <a:rPr lang="en-US" altLang="zh-CN" sz="2000" dirty="0"/>
              <a:t>("%d ", nums1[</a:t>
            </a:r>
            <a:r>
              <a:rPr lang="en-US" altLang="zh-CN" sz="2000" dirty="0" err="1"/>
              <a:t>i</a:t>
            </a:r>
            <a:r>
              <a:rPr lang="en-US" altLang="zh-CN" sz="2000" dirty="0"/>
              <a:t>]);</a:t>
            </a:r>
          </a:p>
          <a:p>
            <a:r>
              <a:rPr lang="en-US" altLang="zh-CN" sz="2000" dirty="0"/>
              <a:t>    }</a:t>
            </a:r>
          </a:p>
          <a:p>
            <a:r>
              <a:rPr lang="en-US" altLang="zh-CN" sz="2000" dirty="0"/>
              <a:t>    return 0;</a:t>
            </a:r>
          </a:p>
          <a:p>
            <a:r>
              <a:rPr lang="en-US" altLang="zh-CN" sz="2000" dirty="0"/>
              <a:t>}</a:t>
            </a:r>
          </a:p>
          <a:p>
            <a:endParaRPr lang="zh-CN" altLang="en-US" sz="2000" dirty="0"/>
          </a:p>
        </p:txBody>
      </p:sp>
      <p:sp>
        <p:nvSpPr>
          <p:cNvPr id="4" name="灯片编号占位符 3">
            <a:extLst>
              <a:ext uri="{FF2B5EF4-FFF2-40B4-BE49-F238E27FC236}">
                <a16:creationId xmlns:a16="http://schemas.microsoft.com/office/drawing/2014/main" id="{FF06B679-B0A0-1E97-4858-75B16AEAD2D8}"/>
              </a:ext>
            </a:extLst>
          </p:cNvPr>
          <p:cNvSpPr>
            <a:spLocks noGrp="1"/>
          </p:cNvSpPr>
          <p:nvPr>
            <p:ph type="sldNum" sz="quarter" idx="12"/>
          </p:nvPr>
        </p:nvSpPr>
        <p:spPr/>
        <p:txBody>
          <a:bodyPr/>
          <a:lstStyle/>
          <a:p>
            <a:pPr>
              <a:defRPr/>
            </a:pPr>
            <a:fld id="{4C02CBC6-E8D8-4A37-96BD-A7C68420EB00}" type="slidenum">
              <a:rPr lang="en-US" altLang="zh-CN" smtClean="0"/>
              <a:pPr>
                <a:defRPr/>
              </a:pPr>
              <a:t>64</a:t>
            </a:fld>
            <a:endParaRPr lang="en-US" altLang="zh-CN"/>
          </a:p>
        </p:txBody>
      </p:sp>
    </p:spTree>
    <p:extLst>
      <p:ext uri="{BB962C8B-B14F-4D97-AF65-F5344CB8AC3E}">
        <p14:creationId xmlns:p14="http://schemas.microsoft.com/office/powerpoint/2010/main" val="31586416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180A714-02D1-3C5B-9C8F-57A4C73D89AC}"/>
              </a:ext>
            </a:extLst>
          </p:cNvPr>
          <p:cNvSpPr>
            <a:spLocks noGrp="1"/>
          </p:cNvSpPr>
          <p:nvPr>
            <p:ph idx="1"/>
          </p:nvPr>
        </p:nvSpPr>
        <p:spPr>
          <a:xfrm>
            <a:off x="251520" y="130247"/>
            <a:ext cx="8229600" cy="6591228"/>
          </a:xfrm>
        </p:spPr>
        <p:txBody>
          <a:bodyPr/>
          <a:lstStyle/>
          <a:p>
            <a:r>
              <a:rPr lang="en-US" altLang="zh-CN" sz="2800" dirty="0"/>
              <a:t>void merge(int* nums1, int m, int* nums2, int n){</a:t>
            </a:r>
          </a:p>
          <a:p>
            <a:r>
              <a:rPr lang="en-US" altLang="zh-CN" sz="2800" dirty="0"/>
              <a:t>    int </a:t>
            </a:r>
            <a:r>
              <a:rPr lang="en-US" altLang="zh-CN" sz="2800" dirty="0" err="1"/>
              <a:t>i</a:t>
            </a:r>
            <a:r>
              <a:rPr lang="en-US" altLang="zh-CN" sz="2800" dirty="0"/>
              <a:t> = m - 1;</a:t>
            </a:r>
          </a:p>
          <a:p>
            <a:r>
              <a:rPr lang="en-US" altLang="zh-CN" sz="2800" dirty="0"/>
              <a:t>    int j = n - 1;</a:t>
            </a:r>
          </a:p>
          <a:p>
            <a:r>
              <a:rPr lang="en-US" altLang="zh-CN" sz="2800" dirty="0"/>
              <a:t>    int k = m + n - 1;</a:t>
            </a:r>
          </a:p>
          <a:p>
            <a:r>
              <a:rPr lang="en-US" altLang="zh-CN" sz="2800" dirty="0"/>
              <a:t>    while (</a:t>
            </a:r>
            <a:r>
              <a:rPr lang="en-US" altLang="zh-CN" sz="2800" dirty="0" err="1"/>
              <a:t>i</a:t>
            </a:r>
            <a:r>
              <a:rPr lang="en-US" altLang="zh-CN" sz="2800" dirty="0"/>
              <a:t> &gt;= 0 &amp;&amp; j &gt;= 0) {</a:t>
            </a:r>
          </a:p>
          <a:p>
            <a:r>
              <a:rPr lang="en-US" altLang="zh-CN" sz="2800" dirty="0"/>
              <a:t>        if (nums1[</a:t>
            </a:r>
            <a:r>
              <a:rPr lang="en-US" altLang="zh-CN" sz="2800" dirty="0" err="1"/>
              <a:t>i</a:t>
            </a:r>
            <a:r>
              <a:rPr lang="en-US" altLang="zh-CN" sz="2800" dirty="0"/>
              <a:t>] &gt; nums2[j]) </a:t>
            </a:r>
          </a:p>
          <a:p>
            <a:r>
              <a:rPr lang="en-US" altLang="zh-CN" sz="2800" dirty="0"/>
              <a:t>            nums1[k--] = nums1[</a:t>
            </a:r>
            <a:r>
              <a:rPr lang="en-US" altLang="zh-CN" sz="2800" dirty="0" err="1"/>
              <a:t>i</a:t>
            </a:r>
            <a:r>
              <a:rPr lang="en-US" altLang="zh-CN" sz="2800" dirty="0"/>
              <a:t>--];</a:t>
            </a:r>
          </a:p>
          <a:p>
            <a:r>
              <a:rPr lang="en-US" altLang="zh-CN" sz="2800" dirty="0"/>
              <a:t>        else  nums1[k--] = nums2[j--];</a:t>
            </a:r>
          </a:p>
          <a:p>
            <a:r>
              <a:rPr lang="en-US" altLang="zh-CN" sz="2800" dirty="0"/>
              <a:t>    }</a:t>
            </a:r>
          </a:p>
          <a:p>
            <a:r>
              <a:rPr lang="en-US" altLang="zh-CN" sz="2800" dirty="0"/>
              <a:t>    while (j &gt;= 0) </a:t>
            </a:r>
          </a:p>
          <a:p>
            <a:r>
              <a:rPr lang="en-US" altLang="zh-CN" sz="2800" dirty="0"/>
              <a:t>        nums1[k--] = nums2[j--];</a:t>
            </a:r>
          </a:p>
          <a:p>
            <a:r>
              <a:rPr lang="en-US" altLang="zh-CN" sz="2800" dirty="0"/>
              <a:t>}</a:t>
            </a:r>
          </a:p>
          <a:p>
            <a:endParaRPr lang="zh-CN" altLang="en-US" sz="2800" dirty="0"/>
          </a:p>
        </p:txBody>
      </p:sp>
      <p:sp>
        <p:nvSpPr>
          <p:cNvPr id="4" name="灯片编号占位符 3">
            <a:extLst>
              <a:ext uri="{FF2B5EF4-FFF2-40B4-BE49-F238E27FC236}">
                <a16:creationId xmlns:a16="http://schemas.microsoft.com/office/drawing/2014/main" id="{7D5118A2-6A79-C58F-62E4-57C809774FDF}"/>
              </a:ext>
            </a:extLst>
          </p:cNvPr>
          <p:cNvSpPr>
            <a:spLocks noGrp="1"/>
          </p:cNvSpPr>
          <p:nvPr>
            <p:ph type="sldNum" sz="quarter" idx="12"/>
          </p:nvPr>
        </p:nvSpPr>
        <p:spPr/>
        <p:txBody>
          <a:bodyPr/>
          <a:lstStyle/>
          <a:p>
            <a:pPr>
              <a:defRPr/>
            </a:pPr>
            <a:fld id="{4C02CBC6-E8D8-4A37-96BD-A7C68420EB00}" type="slidenum">
              <a:rPr lang="en-US" altLang="zh-CN" smtClean="0"/>
              <a:pPr>
                <a:defRPr/>
              </a:pPr>
              <a:t>65</a:t>
            </a:fld>
            <a:endParaRPr lang="en-US" altLang="zh-CN"/>
          </a:p>
        </p:txBody>
      </p:sp>
      <p:sp>
        <p:nvSpPr>
          <p:cNvPr id="5" name="矩形 4">
            <a:extLst>
              <a:ext uri="{FF2B5EF4-FFF2-40B4-BE49-F238E27FC236}">
                <a16:creationId xmlns:a16="http://schemas.microsoft.com/office/drawing/2014/main" id="{0FC0DFC8-0313-C648-25EE-4A4B5A92FD9A}"/>
              </a:ext>
            </a:extLst>
          </p:cNvPr>
          <p:cNvSpPr/>
          <p:nvPr/>
        </p:nvSpPr>
        <p:spPr>
          <a:xfrm>
            <a:off x="2051720" y="4797153"/>
            <a:ext cx="792088" cy="360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B2B2B4F-AF29-460B-994A-DFAECF20D4DD}"/>
              </a:ext>
            </a:extLst>
          </p:cNvPr>
          <p:cNvSpPr/>
          <p:nvPr/>
        </p:nvSpPr>
        <p:spPr>
          <a:xfrm>
            <a:off x="1799691" y="2800823"/>
            <a:ext cx="3070685"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2FE11A0-0B1C-7B44-D5F9-5AA0C4851418}"/>
              </a:ext>
            </a:extLst>
          </p:cNvPr>
          <p:cNvSpPr/>
          <p:nvPr/>
        </p:nvSpPr>
        <p:spPr>
          <a:xfrm>
            <a:off x="2051720" y="2319684"/>
            <a:ext cx="2304256"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34CA736E-CEBD-0421-21E0-75054D14F900}"/>
              </a:ext>
            </a:extLst>
          </p:cNvPr>
          <p:cNvSpPr txBox="1"/>
          <p:nvPr/>
        </p:nvSpPr>
        <p:spPr>
          <a:xfrm>
            <a:off x="5220072" y="1240174"/>
            <a:ext cx="3816424" cy="1200329"/>
          </a:xfrm>
          <a:prstGeom prst="rect">
            <a:avLst/>
          </a:prstGeom>
          <a:noFill/>
        </p:spPr>
        <p:txBody>
          <a:bodyPr wrap="square" rtlCol="0">
            <a:spAutoFit/>
          </a:bodyPr>
          <a:lstStyle/>
          <a:p>
            <a:r>
              <a:rPr lang="zh-CN" altLang="en-US" sz="2400" dirty="0"/>
              <a:t>为什么要从后向前排</a:t>
            </a:r>
            <a:r>
              <a:rPr lang="en-US" altLang="zh-CN" sz="2400" dirty="0"/>
              <a:t>?</a:t>
            </a:r>
          </a:p>
          <a:p>
            <a:endParaRPr lang="en-US" altLang="zh-CN" sz="2400" dirty="0"/>
          </a:p>
          <a:p>
            <a:r>
              <a:rPr lang="zh-CN" altLang="en-US" sz="2400" dirty="0"/>
              <a:t>细节：可以处理重复值吗？</a:t>
            </a:r>
          </a:p>
        </p:txBody>
      </p:sp>
      <p:sp>
        <p:nvSpPr>
          <p:cNvPr id="8" name="文本框 7">
            <a:extLst>
              <a:ext uri="{FF2B5EF4-FFF2-40B4-BE49-F238E27FC236}">
                <a16:creationId xmlns:a16="http://schemas.microsoft.com/office/drawing/2014/main" id="{364380DF-55D8-8B31-494A-976F8395416E}"/>
              </a:ext>
            </a:extLst>
          </p:cNvPr>
          <p:cNvSpPr txBox="1"/>
          <p:nvPr/>
        </p:nvSpPr>
        <p:spPr>
          <a:xfrm>
            <a:off x="5122404" y="4515507"/>
            <a:ext cx="3816424" cy="461665"/>
          </a:xfrm>
          <a:prstGeom prst="rect">
            <a:avLst/>
          </a:prstGeom>
          <a:noFill/>
        </p:spPr>
        <p:txBody>
          <a:bodyPr wrap="square" rtlCol="0">
            <a:spAutoFit/>
          </a:bodyPr>
          <a:lstStyle/>
          <a:p>
            <a:r>
              <a:rPr lang="zh-CN" altLang="en-US" sz="2400" dirty="0"/>
              <a:t>结束了吗？</a:t>
            </a:r>
          </a:p>
        </p:txBody>
      </p:sp>
    </p:spTree>
    <p:extLst>
      <p:ext uri="{BB962C8B-B14F-4D97-AF65-F5344CB8AC3E}">
        <p14:creationId xmlns:p14="http://schemas.microsoft.com/office/powerpoint/2010/main" val="53691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 calcmode="lin" valueType="num">
                                      <p:cBhvr additive="base">
                                        <p:cTn id="2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 calcmode="lin" valueType="num">
                                      <p:cBhvr additive="base">
                                        <p:cTn id="3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 calcmode="lin" valueType="num">
                                      <p:cBhvr additive="base">
                                        <p:cTn id="4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81DDD2F-816A-1881-547E-21A63C656627}"/>
              </a:ext>
            </a:extLst>
          </p:cNvPr>
          <p:cNvSpPr>
            <a:spLocks noGrp="1"/>
          </p:cNvSpPr>
          <p:nvPr>
            <p:ph idx="1"/>
          </p:nvPr>
        </p:nvSpPr>
        <p:spPr>
          <a:xfrm>
            <a:off x="179512" y="620689"/>
            <a:ext cx="8712968" cy="5703912"/>
          </a:xfrm>
        </p:spPr>
        <p:txBody>
          <a:bodyPr/>
          <a:lstStyle/>
          <a:p>
            <a:pPr marL="0" indent="0">
              <a:buNone/>
            </a:pPr>
            <a:r>
              <a:rPr lang="zh-CN" altLang="en-US" b="0" i="0" dirty="0">
                <a:effectLst/>
                <a:latin typeface="Noto Sans" panose="020B0502040504020204" pitchFamily="34" charset="0"/>
              </a:rPr>
              <a:t>给你一个整数数组 </a:t>
            </a:r>
            <a:r>
              <a:rPr lang="en-US" altLang="zh-CN" b="0" i="0" dirty="0" err="1">
                <a:effectLst/>
                <a:latin typeface="Noto Sans" panose="020B0502040504020204" pitchFamily="34" charset="0"/>
              </a:rPr>
              <a:t>nums</a:t>
            </a:r>
            <a:r>
              <a:rPr lang="en-US" altLang="zh-CN" b="0" i="0" dirty="0">
                <a:effectLst/>
                <a:latin typeface="Noto Sans" panose="020B0502040504020204" pitchFamily="34" charset="0"/>
              </a:rPr>
              <a:t> </a:t>
            </a:r>
            <a:r>
              <a:rPr lang="zh-CN" altLang="en-US" b="0" i="0" dirty="0">
                <a:effectLst/>
                <a:latin typeface="Noto Sans" panose="020B0502040504020204" pitchFamily="34" charset="0"/>
              </a:rPr>
              <a:t>，请计算数组的中心下标  </a:t>
            </a:r>
            <a:endParaRPr lang="en-US" altLang="zh-CN" b="0" i="0" dirty="0">
              <a:effectLst/>
              <a:latin typeface="Noto Sans" panose="020B0502040504020204" pitchFamily="34" charset="0"/>
            </a:endParaRPr>
          </a:p>
          <a:p>
            <a:r>
              <a:rPr lang="zh-CN" altLang="en-US" b="0" i="0" dirty="0">
                <a:effectLst/>
                <a:latin typeface="Noto Sans" panose="020B0502040504020204" pitchFamily="34" charset="0"/>
              </a:rPr>
              <a:t>数组中心下标是数组的一个下标，其左侧所有元素相加的和等于右侧所有元素相加的和</a:t>
            </a:r>
            <a:endParaRPr lang="en-US" altLang="zh-CN" b="0" i="0" dirty="0">
              <a:effectLst/>
              <a:latin typeface="Noto Sans" panose="020B0502040504020204" pitchFamily="34" charset="0"/>
            </a:endParaRPr>
          </a:p>
          <a:p>
            <a:r>
              <a:rPr lang="zh-CN" altLang="en-US" b="0" i="0" dirty="0">
                <a:effectLst/>
                <a:latin typeface="Noto Sans" panose="020B0502040504020204" pitchFamily="34" charset="0"/>
              </a:rPr>
              <a:t>如果中心下标位于数组最左端，那么左侧数之和为 </a:t>
            </a:r>
            <a:r>
              <a:rPr lang="en-US" altLang="zh-CN" b="0" i="0" dirty="0">
                <a:effectLst/>
                <a:latin typeface="Noto Sans" panose="020B0502040504020204" pitchFamily="34" charset="0"/>
              </a:rPr>
              <a:t>0 </a:t>
            </a:r>
            <a:r>
              <a:rPr lang="zh-CN" altLang="en-US" b="0" i="0" dirty="0">
                <a:effectLst/>
                <a:latin typeface="Noto Sans" panose="020B0502040504020204" pitchFamily="34" charset="0"/>
              </a:rPr>
              <a:t>，因为在下标的左侧不存在元素。这一点对于中心下标位于数组最右端同样适用</a:t>
            </a:r>
            <a:endParaRPr lang="en-US" altLang="zh-CN" b="0" i="0" dirty="0">
              <a:effectLst/>
              <a:latin typeface="Noto Sans" panose="020B0502040504020204" pitchFamily="34" charset="0"/>
            </a:endParaRPr>
          </a:p>
          <a:p>
            <a:r>
              <a:rPr lang="zh-CN" altLang="en-US" b="0" i="0" dirty="0">
                <a:effectLst/>
                <a:latin typeface="Noto Sans" panose="020B0502040504020204" pitchFamily="34" charset="0"/>
              </a:rPr>
              <a:t>如果数组有多个中心下标，应该返回最靠近左边的一个。如果数组不存在中心下标，返回 </a:t>
            </a:r>
            <a:r>
              <a:rPr lang="en-US" altLang="zh-CN" b="0" i="0" dirty="0">
                <a:effectLst/>
                <a:latin typeface="Noto Sans" panose="020B0502040504020204" pitchFamily="34" charset="0"/>
              </a:rPr>
              <a:t>-1</a:t>
            </a:r>
          </a:p>
          <a:p>
            <a:pPr marL="0" indent="0">
              <a:buNone/>
            </a:pPr>
            <a:r>
              <a:rPr lang="en-US" altLang="zh-CN" sz="1800" b="0" i="0" dirty="0">
                <a:effectLst/>
                <a:latin typeface="Noto Sans" panose="020B0502040504020204" pitchFamily="34" charset="0"/>
              </a:rPr>
              <a:t>int main() {</a:t>
            </a:r>
          </a:p>
          <a:p>
            <a:pPr marL="0" indent="0">
              <a:buNone/>
            </a:pPr>
            <a:r>
              <a:rPr lang="en-US" altLang="zh-CN" sz="1800" b="0" i="0" dirty="0">
                <a:effectLst/>
                <a:latin typeface="Noto Sans" panose="020B0502040504020204" pitchFamily="34" charset="0"/>
              </a:rPr>
              <a:t>    int </a:t>
            </a:r>
            <a:r>
              <a:rPr lang="en-US" altLang="zh-CN" sz="1800" b="0" i="0" dirty="0" err="1">
                <a:effectLst/>
                <a:latin typeface="Noto Sans" panose="020B0502040504020204" pitchFamily="34" charset="0"/>
              </a:rPr>
              <a:t>nums</a:t>
            </a:r>
            <a:r>
              <a:rPr lang="en-US" altLang="zh-CN" sz="1800" b="0" i="0" dirty="0">
                <a:effectLst/>
                <a:latin typeface="Noto Sans" panose="020B0502040504020204" pitchFamily="34" charset="0"/>
              </a:rPr>
              <a:t>[] = {1, 7, 3, 6, 5, 6};</a:t>
            </a:r>
          </a:p>
          <a:p>
            <a:pPr marL="0" indent="0">
              <a:buNone/>
            </a:pPr>
            <a:r>
              <a:rPr lang="en-US" altLang="zh-CN" sz="1800" b="0" i="0" dirty="0">
                <a:effectLst/>
                <a:latin typeface="Noto Sans" panose="020B0502040504020204" pitchFamily="34" charset="0"/>
              </a:rPr>
              <a:t>    int </a:t>
            </a:r>
            <a:r>
              <a:rPr lang="en-US" altLang="zh-CN" sz="1800" b="0" i="0" dirty="0" err="1">
                <a:effectLst/>
                <a:latin typeface="Noto Sans" panose="020B0502040504020204" pitchFamily="34" charset="0"/>
              </a:rPr>
              <a:t>numsSize</a:t>
            </a:r>
            <a:r>
              <a:rPr lang="en-US" altLang="zh-CN" sz="1800" b="0" i="0" dirty="0">
                <a:effectLst/>
                <a:latin typeface="Noto Sans" panose="020B0502040504020204" pitchFamily="34" charset="0"/>
              </a:rPr>
              <a:t> = </a:t>
            </a:r>
            <a:r>
              <a:rPr lang="en-US" altLang="zh-CN" sz="1800" b="0" i="0" dirty="0" err="1">
                <a:effectLst/>
                <a:latin typeface="Noto Sans" panose="020B0502040504020204" pitchFamily="34" charset="0"/>
              </a:rPr>
              <a:t>sizeof</a:t>
            </a:r>
            <a:r>
              <a:rPr lang="en-US" altLang="zh-CN" sz="1800" b="0" i="0" dirty="0">
                <a:effectLst/>
                <a:latin typeface="Noto Sans" panose="020B0502040504020204" pitchFamily="34" charset="0"/>
              </a:rPr>
              <a:t>(</a:t>
            </a:r>
            <a:r>
              <a:rPr lang="en-US" altLang="zh-CN" sz="1800" b="0" i="0" dirty="0" err="1">
                <a:effectLst/>
                <a:latin typeface="Noto Sans" panose="020B0502040504020204" pitchFamily="34" charset="0"/>
              </a:rPr>
              <a:t>nums</a:t>
            </a:r>
            <a:r>
              <a:rPr lang="en-US" altLang="zh-CN" sz="1800" b="0" i="0" dirty="0">
                <a:effectLst/>
                <a:latin typeface="Noto Sans" panose="020B0502040504020204" pitchFamily="34" charset="0"/>
              </a:rPr>
              <a:t>) / </a:t>
            </a:r>
            <a:r>
              <a:rPr lang="en-US" altLang="zh-CN" sz="1800" b="0" i="0" dirty="0" err="1">
                <a:effectLst/>
                <a:latin typeface="Noto Sans" panose="020B0502040504020204" pitchFamily="34" charset="0"/>
              </a:rPr>
              <a:t>sizeof</a:t>
            </a:r>
            <a:r>
              <a:rPr lang="en-US" altLang="zh-CN" sz="1800" b="0" i="0" dirty="0">
                <a:effectLst/>
                <a:latin typeface="Noto Sans" panose="020B0502040504020204" pitchFamily="34" charset="0"/>
              </a:rPr>
              <a:t>(</a:t>
            </a:r>
            <a:r>
              <a:rPr lang="en-US" altLang="zh-CN" sz="1800" b="0" i="0" dirty="0" err="1">
                <a:effectLst/>
                <a:latin typeface="Noto Sans" panose="020B0502040504020204" pitchFamily="34" charset="0"/>
              </a:rPr>
              <a:t>nums</a:t>
            </a:r>
            <a:r>
              <a:rPr lang="en-US" altLang="zh-CN" sz="1800" b="0" i="0" dirty="0">
                <a:effectLst/>
                <a:latin typeface="Noto Sans" panose="020B0502040504020204" pitchFamily="34" charset="0"/>
              </a:rPr>
              <a:t>[0]);</a:t>
            </a:r>
          </a:p>
          <a:p>
            <a:pPr marL="0" indent="0">
              <a:buNone/>
            </a:pPr>
            <a:r>
              <a:rPr lang="en-US" altLang="zh-CN" sz="1800" b="0" i="0" dirty="0">
                <a:effectLst/>
                <a:latin typeface="Noto Sans" panose="020B0502040504020204" pitchFamily="34" charset="0"/>
              </a:rPr>
              <a:t>    int </a:t>
            </a:r>
            <a:r>
              <a:rPr lang="en-US" altLang="zh-CN" sz="1800" b="0" i="0" dirty="0" err="1">
                <a:effectLst/>
                <a:latin typeface="Noto Sans" panose="020B0502040504020204" pitchFamily="34" charset="0"/>
              </a:rPr>
              <a:t>centerIndex</a:t>
            </a:r>
            <a:r>
              <a:rPr lang="en-US" altLang="zh-CN" sz="1800" b="0" i="0" dirty="0">
                <a:effectLst/>
                <a:latin typeface="Noto Sans" panose="020B0502040504020204" pitchFamily="34" charset="0"/>
              </a:rPr>
              <a:t> = </a:t>
            </a:r>
            <a:r>
              <a:rPr lang="en-US" altLang="zh-CN" sz="1800" b="0" i="0" dirty="0" err="1">
                <a:effectLst/>
                <a:latin typeface="Noto Sans" panose="020B0502040504020204" pitchFamily="34" charset="0"/>
              </a:rPr>
              <a:t>pivotIndex</a:t>
            </a:r>
            <a:r>
              <a:rPr lang="en-US" altLang="zh-CN" sz="1800" b="0" i="0" dirty="0">
                <a:effectLst/>
                <a:latin typeface="Noto Sans" panose="020B0502040504020204" pitchFamily="34" charset="0"/>
              </a:rPr>
              <a:t>(</a:t>
            </a:r>
            <a:r>
              <a:rPr lang="en-US" altLang="zh-CN" sz="1800" b="0" i="0" dirty="0" err="1">
                <a:effectLst/>
                <a:latin typeface="Noto Sans" panose="020B0502040504020204" pitchFamily="34" charset="0"/>
              </a:rPr>
              <a:t>nums</a:t>
            </a:r>
            <a:r>
              <a:rPr lang="en-US" altLang="zh-CN" sz="1800" b="0" i="0" dirty="0">
                <a:effectLst/>
                <a:latin typeface="Noto Sans" panose="020B0502040504020204" pitchFamily="34" charset="0"/>
              </a:rPr>
              <a:t>, </a:t>
            </a:r>
            <a:r>
              <a:rPr lang="en-US" altLang="zh-CN" sz="1800" b="0" i="0" dirty="0" err="1">
                <a:effectLst/>
                <a:latin typeface="Noto Sans" panose="020B0502040504020204" pitchFamily="34" charset="0"/>
              </a:rPr>
              <a:t>numsSize</a:t>
            </a:r>
            <a:r>
              <a:rPr lang="en-US" altLang="zh-CN" sz="1800" b="0" i="0" dirty="0">
                <a:effectLst/>
                <a:latin typeface="Noto Sans" panose="020B0502040504020204" pitchFamily="34" charset="0"/>
              </a:rPr>
              <a:t>);</a:t>
            </a:r>
          </a:p>
          <a:p>
            <a:pPr marL="0" indent="0">
              <a:buNone/>
            </a:pPr>
            <a:r>
              <a:rPr lang="en-US" altLang="zh-CN" sz="1800" b="0" i="0" dirty="0">
                <a:effectLst/>
                <a:latin typeface="Noto Sans" panose="020B0502040504020204" pitchFamily="34" charset="0"/>
              </a:rPr>
              <a:t>    </a:t>
            </a:r>
            <a:r>
              <a:rPr lang="en-US" altLang="zh-CN" sz="1800" b="0" i="0" dirty="0" err="1">
                <a:effectLst/>
                <a:latin typeface="Noto Sans" panose="020B0502040504020204" pitchFamily="34" charset="0"/>
              </a:rPr>
              <a:t>printf</a:t>
            </a:r>
            <a:r>
              <a:rPr lang="en-US" altLang="zh-CN" sz="1800" b="0" i="0" dirty="0">
                <a:effectLst/>
                <a:latin typeface="Noto Sans" panose="020B0502040504020204" pitchFamily="34" charset="0"/>
              </a:rPr>
              <a:t>("Center index: %d\n", </a:t>
            </a:r>
            <a:r>
              <a:rPr lang="en-US" altLang="zh-CN" sz="1800" b="0" i="0" dirty="0" err="1">
                <a:effectLst/>
                <a:latin typeface="Noto Sans" panose="020B0502040504020204" pitchFamily="34" charset="0"/>
              </a:rPr>
              <a:t>centerIndex</a:t>
            </a:r>
            <a:r>
              <a:rPr lang="en-US" altLang="zh-CN" sz="1800" b="0" i="0" dirty="0">
                <a:effectLst/>
                <a:latin typeface="Noto Sans" panose="020B0502040504020204" pitchFamily="34" charset="0"/>
              </a:rPr>
              <a:t>);</a:t>
            </a:r>
          </a:p>
          <a:p>
            <a:pPr marL="0" indent="0">
              <a:buNone/>
            </a:pPr>
            <a:r>
              <a:rPr lang="en-US" altLang="zh-CN" sz="1800" b="0" i="0" dirty="0">
                <a:effectLst/>
                <a:latin typeface="Noto Sans" panose="020B0502040504020204" pitchFamily="34" charset="0"/>
              </a:rPr>
              <a:t>    return 0;</a:t>
            </a:r>
          </a:p>
          <a:p>
            <a:pPr marL="0" indent="0">
              <a:buNone/>
            </a:pPr>
            <a:r>
              <a:rPr lang="en-US" altLang="zh-CN" sz="1800" b="0" i="0" dirty="0">
                <a:effectLst/>
                <a:latin typeface="Noto Sans" panose="020B0502040504020204" pitchFamily="34" charset="0"/>
              </a:rPr>
              <a:t>}    // </a:t>
            </a:r>
            <a:r>
              <a:rPr lang="zh-CN" altLang="en-US" sz="1800" b="0" i="0" dirty="0">
                <a:effectLst/>
                <a:latin typeface="Noto Sans" panose="020B0502040504020204" pitchFamily="34" charset="0"/>
              </a:rPr>
              <a:t>输出为  </a:t>
            </a:r>
            <a:r>
              <a:rPr lang="en-US" altLang="zh-CN" sz="1800" b="0" i="0" dirty="0">
                <a:solidFill>
                  <a:srgbClr val="FF0000"/>
                </a:solidFill>
                <a:effectLst/>
                <a:latin typeface="ui-monospace"/>
              </a:rPr>
              <a:t>Center index: 3</a:t>
            </a:r>
            <a:endParaRPr lang="en-US" altLang="zh-CN" sz="1800" b="0" i="0" dirty="0">
              <a:solidFill>
                <a:srgbClr val="FF0000"/>
              </a:solidFill>
              <a:effectLst/>
              <a:latin typeface="Noto Sans" panose="020B0502040504020204" pitchFamily="34" charset="0"/>
            </a:endParaRPr>
          </a:p>
          <a:p>
            <a:pPr marL="0" indent="0">
              <a:buNone/>
            </a:pPr>
            <a:r>
              <a:rPr lang="en-US" altLang="zh-CN" b="0" i="0" dirty="0">
                <a:effectLst/>
                <a:latin typeface="Noto Sans" panose="020B0502040504020204" pitchFamily="34" charset="0"/>
              </a:rPr>
              <a:t> </a:t>
            </a:r>
            <a:endParaRPr lang="zh-CN" altLang="en-US" dirty="0"/>
          </a:p>
        </p:txBody>
      </p:sp>
      <p:sp>
        <p:nvSpPr>
          <p:cNvPr id="4" name="灯片编号占位符 3">
            <a:extLst>
              <a:ext uri="{FF2B5EF4-FFF2-40B4-BE49-F238E27FC236}">
                <a16:creationId xmlns:a16="http://schemas.microsoft.com/office/drawing/2014/main" id="{84753C7E-A5C8-C7CF-CB0A-A07ED9843E48}"/>
              </a:ext>
            </a:extLst>
          </p:cNvPr>
          <p:cNvSpPr>
            <a:spLocks noGrp="1"/>
          </p:cNvSpPr>
          <p:nvPr>
            <p:ph type="sldNum" sz="quarter" idx="12"/>
          </p:nvPr>
        </p:nvSpPr>
        <p:spPr/>
        <p:txBody>
          <a:bodyPr/>
          <a:lstStyle/>
          <a:p>
            <a:pPr>
              <a:defRPr/>
            </a:pPr>
            <a:fld id="{4C02CBC6-E8D8-4A37-96BD-A7C68420EB00}" type="slidenum">
              <a:rPr lang="en-US" altLang="zh-CN" smtClean="0"/>
              <a:pPr>
                <a:defRPr/>
              </a:pPr>
              <a:t>66</a:t>
            </a:fld>
            <a:endParaRPr lang="en-US" altLang="zh-CN"/>
          </a:p>
        </p:txBody>
      </p:sp>
    </p:spTree>
    <p:extLst>
      <p:ext uri="{BB962C8B-B14F-4D97-AF65-F5344CB8AC3E}">
        <p14:creationId xmlns:p14="http://schemas.microsoft.com/office/powerpoint/2010/main" val="363310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6C93C49-6CA4-0010-E997-BDEEE2658C7F}"/>
              </a:ext>
            </a:extLst>
          </p:cNvPr>
          <p:cNvSpPr>
            <a:spLocks noGrp="1"/>
          </p:cNvSpPr>
          <p:nvPr>
            <p:ph type="sldNum" sz="quarter" idx="12"/>
          </p:nvPr>
        </p:nvSpPr>
        <p:spPr/>
        <p:txBody>
          <a:bodyPr/>
          <a:lstStyle/>
          <a:p>
            <a:pPr>
              <a:defRPr/>
            </a:pPr>
            <a:fld id="{4C02CBC6-E8D8-4A37-96BD-A7C68420EB00}" type="slidenum">
              <a:rPr lang="en-US" altLang="zh-CN" smtClean="0"/>
              <a:pPr>
                <a:defRPr/>
              </a:pPr>
              <a:t>67</a:t>
            </a:fld>
            <a:endParaRPr lang="en-US" altLang="zh-CN"/>
          </a:p>
        </p:txBody>
      </p:sp>
      <p:sp>
        <p:nvSpPr>
          <p:cNvPr id="6" name="文本框 5">
            <a:extLst>
              <a:ext uri="{FF2B5EF4-FFF2-40B4-BE49-F238E27FC236}">
                <a16:creationId xmlns:a16="http://schemas.microsoft.com/office/drawing/2014/main" id="{80F60029-46B2-42BA-F8FE-C305E0FF037B}"/>
              </a:ext>
            </a:extLst>
          </p:cNvPr>
          <p:cNvSpPr txBox="1"/>
          <p:nvPr/>
        </p:nvSpPr>
        <p:spPr>
          <a:xfrm>
            <a:off x="611560" y="1294245"/>
            <a:ext cx="7920880" cy="5262979"/>
          </a:xfrm>
          <a:prstGeom prst="rect">
            <a:avLst/>
          </a:prstGeom>
          <a:noFill/>
        </p:spPr>
        <p:txBody>
          <a:bodyPr wrap="square">
            <a:spAutoFit/>
          </a:bodyPr>
          <a:lstStyle/>
          <a:p>
            <a:r>
              <a:rPr lang="zh-CN" altLang="en-US" sz="2400" dirty="0"/>
              <a:t>int pivotIndex(int* nums, int numsSize) {</a:t>
            </a:r>
          </a:p>
          <a:p>
            <a:r>
              <a:rPr lang="zh-CN" altLang="en-US" sz="2400" dirty="0"/>
              <a:t>    int sum = 0;</a:t>
            </a:r>
          </a:p>
          <a:p>
            <a:r>
              <a:rPr lang="zh-CN" altLang="en-US" sz="2400" dirty="0"/>
              <a:t>    for (int i = 0; i &lt; numsSize; i++) {</a:t>
            </a:r>
          </a:p>
          <a:p>
            <a:r>
              <a:rPr lang="zh-CN" altLang="en-US" sz="2400" dirty="0"/>
              <a:t>        sum += nums[i];</a:t>
            </a:r>
          </a:p>
          <a:p>
            <a:r>
              <a:rPr lang="zh-CN" altLang="en-US" sz="2400" dirty="0"/>
              <a:t>    }</a:t>
            </a:r>
          </a:p>
          <a:p>
            <a:r>
              <a:rPr lang="zh-CN" altLang="en-US" sz="2400" dirty="0"/>
              <a:t>    int leftSum = 0;</a:t>
            </a:r>
          </a:p>
          <a:p>
            <a:r>
              <a:rPr lang="zh-CN" altLang="en-US" sz="2400" dirty="0"/>
              <a:t>    for (int i = 0; i &lt; numsSize; i++) {</a:t>
            </a:r>
          </a:p>
          <a:p>
            <a:r>
              <a:rPr lang="zh-CN" altLang="en-US" sz="2400" dirty="0"/>
              <a:t>        if (leftSum == sum - leftSum - nums[i]) {</a:t>
            </a:r>
          </a:p>
          <a:p>
            <a:r>
              <a:rPr lang="zh-CN" altLang="en-US" sz="2400" dirty="0"/>
              <a:t>            return i;</a:t>
            </a:r>
          </a:p>
          <a:p>
            <a:r>
              <a:rPr lang="zh-CN" altLang="en-US" sz="2400" dirty="0"/>
              <a:t>        }</a:t>
            </a:r>
          </a:p>
          <a:p>
            <a:r>
              <a:rPr lang="zh-CN" altLang="en-US" sz="2400" dirty="0"/>
              <a:t>        leftSum += nums[i];</a:t>
            </a:r>
          </a:p>
          <a:p>
            <a:r>
              <a:rPr lang="zh-CN" altLang="en-US" sz="2400" dirty="0"/>
              <a:t>    }</a:t>
            </a:r>
          </a:p>
          <a:p>
            <a:r>
              <a:rPr lang="zh-CN" altLang="en-US" sz="2400" dirty="0"/>
              <a:t>    return -1;</a:t>
            </a:r>
          </a:p>
          <a:p>
            <a:r>
              <a:rPr lang="zh-CN" altLang="en-US" sz="2400" dirty="0"/>
              <a:t>}</a:t>
            </a:r>
          </a:p>
        </p:txBody>
      </p:sp>
      <p:sp>
        <p:nvSpPr>
          <p:cNvPr id="7" name="矩形 6">
            <a:extLst>
              <a:ext uri="{FF2B5EF4-FFF2-40B4-BE49-F238E27FC236}">
                <a16:creationId xmlns:a16="http://schemas.microsoft.com/office/drawing/2014/main" id="{753DA862-5179-ADEE-2F50-831DAF6DF6C0}"/>
              </a:ext>
            </a:extLst>
          </p:cNvPr>
          <p:cNvSpPr/>
          <p:nvPr/>
        </p:nvSpPr>
        <p:spPr>
          <a:xfrm>
            <a:off x="1691680" y="3925734"/>
            <a:ext cx="4680520" cy="3673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960DBA84-0444-B81F-A55B-0E4C2763DB57}"/>
              </a:ext>
            </a:extLst>
          </p:cNvPr>
          <p:cNvSpPr/>
          <p:nvPr/>
        </p:nvSpPr>
        <p:spPr>
          <a:xfrm>
            <a:off x="1355804" y="5085184"/>
            <a:ext cx="2712140" cy="2709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EF7E0E36-3D45-CDEA-1F36-EED7AB98F205}"/>
              </a:ext>
            </a:extLst>
          </p:cNvPr>
          <p:cNvSpPr/>
          <p:nvPr/>
        </p:nvSpPr>
        <p:spPr>
          <a:xfrm>
            <a:off x="1043608" y="5733256"/>
            <a:ext cx="2664296" cy="36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1370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53" presetClass="exit" presetSubtype="32" fill="hold" grpId="0" nodeType="clickEffect">
                                  <p:stCondLst>
                                    <p:cond delay="0"/>
                                  </p:stCondLst>
                                  <p:childTnLst>
                                    <p:anim calcmode="lin" valueType="num">
                                      <p:cBhvr>
                                        <p:cTn id="15" dur="500"/>
                                        <p:tgtEl>
                                          <p:spTgt spid="9"/>
                                        </p:tgtEl>
                                        <p:attrNameLst>
                                          <p:attrName>ppt_w</p:attrName>
                                        </p:attrNameLst>
                                      </p:cBhvr>
                                      <p:tavLst>
                                        <p:tav tm="0">
                                          <p:val>
                                            <p:strVal val="ppt_w"/>
                                          </p:val>
                                        </p:tav>
                                        <p:tav tm="100000">
                                          <p:val>
                                            <p:fltVal val="0"/>
                                          </p:val>
                                        </p:tav>
                                      </p:tavLst>
                                    </p:anim>
                                    <p:anim calcmode="lin" valueType="num">
                                      <p:cBhvr>
                                        <p:cTn id="16" dur="500"/>
                                        <p:tgtEl>
                                          <p:spTgt spid="9"/>
                                        </p:tgtEl>
                                        <p:attrNameLst>
                                          <p:attrName>ppt_h</p:attrName>
                                        </p:attrNameLst>
                                      </p:cBhvr>
                                      <p:tavLst>
                                        <p:tav tm="0">
                                          <p:val>
                                            <p:strVal val="ppt_h"/>
                                          </p:val>
                                        </p:tav>
                                        <p:tav tm="100000">
                                          <p:val>
                                            <p:fltVal val="0"/>
                                          </p:val>
                                        </p:tav>
                                      </p:tavLst>
                                    </p:anim>
                                    <p:animEffect transition="out" filter="fade">
                                      <p:cBhvr>
                                        <p:cTn id="17" dur="500"/>
                                        <p:tgtEl>
                                          <p:spTgt spid="9"/>
                                        </p:tgtEl>
                                      </p:cBhvr>
                                    </p:animEffect>
                                    <p:set>
                                      <p:cBhvr>
                                        <p:cTn id="18"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a:xfrm>
            <a:off x="681038" y="585788"/>
            <a:ext cx="7797800" cy="839787"/>
          </a:xfrm>
        </p:spPr>
        <p:txBody>
          <a:bodyPr/>
          <a:lstStyle/>
          <a:p>
            <a:pPr>
              <a:defRPr/>
            </a:pPr>
            <a:r>
              <a:rPr lang="zh-CN" altLang="en-US" dirty="0"/>
              <a:t>指针和二维数组间的关系</a:t>
            </a:r>
          </a:p>
        </p:txBody>
      </p:sp>
      <p:sp>
        <p:nvSpPr>
          <p:cNvPr id="680963" name="Rectangle 3"/>
          <p:cNvSpPr>
            <a:spLocks noGrp="1" noChangeArrowheads="1"/>
          </p:cNvSpPr>
          <p:nvPr>
            <p:ph type="body" idx="1"/>
          </p:nvPr>
        </p:nvSpPr>
        <p:spPr>
          <a:xfrm>
            <a:off x="395288" y="1354138"/>
            <a:ext cx="8497887" cy="1655762"/>
          </a:xfrm>
        </p:spPr>
        <p:txBody>
          <a:bodyPr/>
          <a:lstStyle/>
          <a:p>
            <a:pPr eaLnBrk="1">
              <a:lnSpc>
                <a:spcPct val="110000"/>
              </a:lnSpc>
              <a:defRPr/>
            </a:pPr>
            <a:r>
              <a:rPr lang="zh-CN" altLang="en-US" dirty="0">
                <a:solidFill>
                  <a:srgbClr val="333399"/>
                </a:solidFill>
              </a:rPr>
              <a:t>将二维数组看作一维数组，其</a:t>
            </a:r>
            <a:r>
              <a:rPr lang="zh-CN" altLang="en-US" dirty="0">
                <a:solidFill>
                  <a:srgbClr val="FF0000"/>
                </a:solidFill>
              </a:rPr>
              <a:t>每个数组元素又是一个一维数组</a:t>
            </a:r>
          </a:p>
          <a:p>
            <a:pPr eaLnBrk="1">
              <a:lnSpc>
                <a:spcPct val="110000"/>
              </a:lnSpc>
              <a:defRPr/>
            </a:pPr>
            <a:r>
              <a:rPr lang="zh-CN" altLang="en-US" dirty="0">
                <a:solidFill>
                  <a:srgbClr val="333399"/>
                </a:solidFill>
              </a:rPr>
              <a:t>按行顺序存放所有元素</a:t>
            </a:r>
          </a:p>
        </p:txBody>
      </p:sp>
      <p:grpSp>
        <p:nvGrpSpPr>
          <p:cNvPr id="5" name="Group 46"/>
          <p:cNvGrpSpPr>
            <a:grpSpLocks/>
          </p:cNvGrpSpPr>
          <p:nvPr/>
        </p:nvGrpSpPr>
        <p:grpSpPr bwMode="auto">
          <a:xfrm>
            <a:off x="-1116013" y="3724275"/>
            <a:ext cx="5181601" cy="2225675"/>
            <a:chOff x="336" y="1093"/>
            <a:chExt cx="3264" cy="1402"/>
          </a:xfrm>
        </p:grpSpPr>
        <p:grpSp>
          <p:nvGrpSpPr>
            <p:cNvPr id="6" name="Group 47"/>
            <p:cNvGrpSpPr>
              <a:grpSpLocks/>
            </p:cNvGrpSpPr>
            <p:nvPr/>
          </p:nvGrpSpPr>
          <p:grpSpPr bwMode="auto">
            <a:xfrm>
              <a:off x="336" y="1093"/>
              <a:ext cx="3264" cy="1402"/>
              <a:chOff x="336" y="1105"/>
              <a:chExt cx="3264" cy="1402"/>
            </a:xfrm>
          </p:grpSpPr>
          <p:sp>
            <p:nvSpPr>
              <p:cNvPr id="13358" name="Rectangle 48"/>
              <p:cNvSpPr>
                <a:spLocks noChangeArrowheads="1"/>
              </p:cNvSpPr>
              <p:nvPr/>
            </p:nvSpPr>
            <p:spPr bwMode="auto">
              <a:xfrm>
                <a:off x="768" y="1105"/>
                <a:ext cx="2832" cy="1402"/>
              </a:xfrm>
              <a:prstGeom prst="rect">
                <a:avLst/>
              </a:prstGeom>
              <a:noFill/>
              <a:ln w="19050">
                <a:noFill/>
                <a:miter lim="800000"/>
                <a:headEnd/>
                <a:tailEnd/>
              </a:ln>
            </p:spPr>
            <p:txBody>
              <a:bodyPr anchor="ctr">
                <a:spAutoFit/>
              </a:bodyPr>
              <a:lstStyle/>
              <a:p>
                <a:pPr eaLnBrk="1" hangingPunct="1"/>
                <a:r>
                  <a:rPr kumimoji="1" lang="zh-CN" altLang="en-US" sz="2000" b="1">
                    <a:solidFill>
                      <a:schemeClr val="accent2"/>
                    </a:solidFill>
                    <a:effectLst/>
                    <a:ea typeface="宋体" charset="-122"/>
                  </a:rPr>
                  <a:t>		</a:t>
                </a:r>
              </a:p>
              <a:p>
                <a:pPr eaLnBrk="1" hangingPunct="1"/>
                <a:r>
                  <a:rPr kumimoji="1" lang="zh-CN" altLang="zh-CN" sz="2000" b="1">
                    <a:solidFill>
                      <a:schemeClr val="tx2"/>
                    </a:solidFill>
                    <a:effectLst/>
                    <a:ea typeface="宋体" charset="-122"/>
                  </a:rPr>
                  <a:t>	     		</a:t>
                </a:r>
                <a:r>
                  <a:rPr kumimoji="1" lang="en-US" altLang="zh-CN" sz="2000" b="1">
                    <a:solidFill>
                      <a:schemeClr val="tx2"/>
                    </a:solidFill>
                    <a:effectLst/>
                    <a:ea typeface="宋体" charset="-122"/>
                  </a:rPr>
                  <a:t>a[0][0]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a[0]</a:t>
                </a:r>
                <a:r>
                  <a:rPr kumimoji="1" lang="en-US" altLang="zh-CN" sz="2000" b="1">
                    <a:solidFill>
                      <a:schemeClr val="tx2"/>
                    </a:solidFill>
                    <a:effectLst/>
                    <a:ea typeface="宋体" charset="-122"/>
                  </a:rPr>
                  <a:t>	a[0][1]	</a:t>
                </a:r>
              </a:p>
              <a:p>
                <a:pPr eaLnBrk="1" hangingPunct="1"/>
                <a:r>
                  <a:rPr kumimoji="1" lang="en-US" altLang="zh-CN" sz="2000" b="1">
                    <a:solidFill>
                      <a:schemeClr val="tx2"/>
                    </a:solidFill>
                    <a:effectLst/>
                    <a:ea typeface="宋体" charset="-122"/>
                  </a:rPr>
                  <a:t>			a[0][2]	</a:t>
                </a:r>
              </a:p>
              <a:p>
                <a:pPr eaLnBrk="1" hangingPunct="1"/>
                <a:r>
                  <a:rPr kumimoji="1" lang="en-US" altLang="zh-CN" sz="2000" b="1">
                    <a:solidFill>
                      <a:schemeClr val="tx2"/>
                    </a:solidFill>
                    <a:effectLst/>
                    <a:ea typeface="宋体" charset="-122"/>
                  </a:rPr>
                  <a:t>			a[1][0]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a[1]</a:t>
                </a:r>
                <a:r>
                  <a:rPr kumimoji="1" lang="en-US" altLang="zh-CN" sz="2000" b="1">
                    <a:solidFill>
                      <a:schemeClr val="tx2"/>
                    </a:solidFill>
                    <a:effectLst/>
                    <a:ea typeface="宋体" charset="-122"/>
                  </a:rPr>
                  <a:t> 	a[1][1]	</a:t>
                </a:r>
              </a:p>
              <a:p>
                <a:pPr eaLnBrk="1" hangingPunct="1"/>
                <a:r>
                  <a:rPr kumimoji="1" lang="en-US" altLang="zh-CN" sz="2000" b="1">
                    <a:solidFill>
                      <a:schemeClr val="tx2"/>
                    </a:solidFill>
                    <a:effectLst/>
                    <a:ea typeface="宋体" charset="-122"/>
                  </a:rPr>
                  <a:t>			a[1][2]	</a:t>
                </a:r>
              </a:p>
            </p:txBody>
          </p:sp>
          <p:sp>
            <p:nvSpPr>
              <p:cNvPr id="13359" name="Rectangle 49"/>
              <p:cNvSpPr>
                <a:spLocks noChangeArrowheads="1"/>
              </p:cNvSpPr>
              <p:nvPr/>
            </p:nvSpPr>
            <p:spPr bwMode="auto">
              <a:xfrm>
                <a:off x="336" y="1565"/>
                <a:ext cx="1236" cy="711"/>
              </a:xfrm>
              <a:prstGeom prst="rect">
                <a:avLst/>
              </a:prstGeom>
              <a:noFill/>
              <a:ln w="28575" cap="sq">
                <a:noFill/>
                <a:miter lim="800000"/>
                <a:headEnd/>
                <a:tailEnd/>
              </a:ln>
            </p:spPr>
            <p:txBody>
              <a:bodyPr anchor="ctr">
                <a:spAutoFit/>
              </a:bodyPr>
              <a:lstStyle/>
              <a:p>
                <a:pPr eaLnBrk="1" hangingPunct="1"/>
                <a:r>
                  <a:rPr kumimoji="1" lang="en-US" altLang="zh-CN" sz="2000" b="1">
                    <a:solidFill>
                      <a:schemeClr val="tx2"/>
                    </a:solidFill>
                    <a:effectLst/>
                    <a:latin typeface="Courier New" pitchFamily="49" charset="0"/>
                    <a:ea typeface="宋体" charset="-122"/>
                  </a:rPr>
                  <a:t>                           </a:t>
                </a:r>
              </a:p>
              <a:p>
                <a:pPr eaLnBrk="1" hangingPunct="1"/>
                <a:r>
                  <a:rPr kumimoji="1" lang="en-US" altLang="zh-CN" sz="2000" b="1">
                    <a:solidFill>
                      <a:schemeClr val="tx2"/>
                    </a:solidFill>
                    <a:effectLst/>
                    <a:latin typeface="Courier New" pitchFamily="49" charset="0"/>
                    <a:ea typeface="宋体" charset="-122"/>
                  </a:rPr>
                  <a:t>          </a:t>
                </a:r>
                <a:r>
                  <a:rPr kumimoji="1" lang="en-US" altLang="zh-CN" sz="2800" b="1">
                    <a:solidFill>
                      <a:schemeClr val="tx2"/>
                    </a:solidFill>
                    <a:effectLst/>
                    <a:latin typeface="Courier New" pitchFamily="49" charset="0"/>
                    <a:ea typeface="宋体" charset="-122"/>
                  </a:rPr>
                  <a:t>a</a:t>
                </a:r>
              </a:p>
              <a:p>
                <a:pPr eaLnBrk="1" hangingPunct="1"/>
                <a:r>
                  <a:rPr kumimoji="1" lang="en-US" altLang="zh-CN" sz="2000" b="1">
                    <a:solidFill>
                      <a:schemeClr val="tx2"/>
                    </a:solidFill>
                    <a:effectLst/>
                    <a:latin typeface="Courier New" pitchFamily="49" charset="0"/>
                    <a:ea typeface="宋体" charset="-122"/>
                  </a:rPr>
                  <a:t>          </a:t>
                </a:r>
              </a:p>
            </p:txBody>
          </p:sp>
        </p:grpSp>
        <p:grpSp>
          <p:nvGrpSpPr>
            <p:cNvPr id="7" name="Group 50"/>
            <p:cNvGrpSpPr>
              <a:grpSpLocks/>
            </p:cNvGrpSpPr>
            <p:nvPr/>
          </p:nvGrpSpPr>
          <p:grpSpPr bwMode="auto">
            <a:xfrm>
              <a:off x="1728" y="1441"/>
              <a:ext cx="768" cy="970"/>
              <a:chOff x="1728" y="1441"/>
              <a:chExt cx="768" cy="970"/>
            </a:xfrm>
          </p:grpSpPr>
          <p:sp>
            <p:nvSpPr>
              <p:cNvPr id="681011" name="AutoShape 51"/>
              <p:cNvSpPr>
                <a:spLocks/>
              </p:cNvSpPr>
              <p:nvPr/>
            </p:nvSpPr>
            <p:spPr bwMode="auto">
              <a:xfrm>
                <a:off x="1728" y="1633"/>
                <a:ext cx="192" cy="62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1012" name="AutoShape 52"/>
              <p:cNvSpPr>
                <a:spLocks/>
              </p:cNvSpPr>
              <p:nvPr/>
            </p:nvSpPr>
            <p:spPr bwMode="auto">
              <a:xfrm>
                <a:off x="2304" y="1441"/>
                <a:ext cx="192" cy="38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1013" name="AutoShape 53"/>
              <p:cNvSpPr>
                <a:spLocks/>
              </p:cNvSpPr>
              <p:nvPr/>
            </p:nvSpPr>
            <p:spPr bwMode="auto">
              <a:xfrm>
                <a:off x="2304" y="2017"/>
                <a:ext cx="192" cy="39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grpSp>
      <p:sp>
        <p:nvSpPr>
          <p:cNvPr id="681016" name="Rectangle 56"/>
          <p:cNvSpPr>
            <a:spLocks noChangeArrowheads="1"/>
          </p:cNvSpPr>
          <p:nvPr/>
        </p:nvSpPr>
        <p:spPr bwMode="auto">
          <a:xfrm>
            <a:off x="827088" y="3357563"/>
            <a:ext cx="2740025" cy="457200"/>
          </a:xfrm>
          <a:prstGeom prst="rect">
            <a:avLst/>
          </a:prstGeom>
          <a:noFill/>
          <a:ln w="12700">
            <a:noFill/>
            <a:miter lim="800000"/>
            <a:headEnd type="none" w="sm" len="sm"/>
            <a:tailEnd type="none" w="sm" len="sm"/>
          </a:ln>
          <a:effectLst/>
        </p:spPr>
        <p:txBody>
          <a:bodyPr wrap="none">
            <a:spAutoFit/>
          </a:bodyPr>
          <a:lstStyle/>
          <a:p>
            <a:pPr>
              <a:defRPr/>
            </a:pPr>
            <a:r>
              <a:rPr kumimoji="1"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short</a:t>
            </a:r>
            <a:r>
              <a:rPr kumimoji="1" lang="en-US" altLang="zh-CN" b="1" dirty="0">
                <a:solidFill>
                  <a:schemeClr val="tx2"/>
                </a:solidFill>
                <a:effectLst/>
                <a:latin typeface="Courier New" pitchFamily="49" charset="0"/>
                <a:ea typeface="宋体" pitchFamily="2" charset="-122"/>
              </a:rPr>
              <a:t> a[2][3];</a:t>
            </a:r>
            <a:endParaRPr kumimoji="1" lang="zh-CN" altLang="en-US" b="1" dirty="0">
              <a:solidFill>
                <a:schemeClr val="tx2"/>
              </a:solidFill>
              <a:effectLst/>
              <a:latin typeface="Courier New" pitchFamily="49" charset="0"/>
              <a:ea typeface="宋体" pitchFamily="2" charset="-122"/>
            </a:endParaRPr>
          </a:p>
        </p:txBody>
      </p:sp>
      <p:sp>
        <p:nvSpPr>
          <p:cNvPr id="681028" name="Rectangle 68"/>
          <p:cNvSpPr>
            <a:spLocks noChangeArrowheads="1"/>
          </p:cNvSpPr>
          <p:nvPr/>
        </p:nvSpPr>
        <p:spPr bwMode="auto">
          <a:xfrm>
            <a:off x="438150" y="4135438"/>
            <a:ext cx="1655763" cy="18002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1029" name="Rectangle 69"/>
          <p:cNvSpPr>
            <a:spLocks noChangeArrowheads="1"/>
          </p:cNvSpPr>
          <p:nvPr/>
        </p:nvSpPr>
        <p:spPr bwMode="auto">
          <a:xfrm>
            <a:off x="1390650" y="4076700"/>
            <a:ext cx="1885950" cy="9366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1030" name="Rectangle 70"/>
          <p:cNvSpPr>
            <a:spLocks noChangeArrowheads="1"/>
          </p:cNvSpPr>
          <p:nvPr/>
        </p:nvSpPr>
        <p:spPr bwMode="auto">
          <a:xfrm>
            <a:off x="1403350" y="5013325"/>
            <a:ext cx="1885950" cy="9366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81028"/>
                                        </p:tgtEl>
                                        <p:attrNameLst>
                                          <p:attrName>style.visibility</p:attrName>
                                        </p:attrNameLst>
                                      </p:cBhvr>
                                      <p:to>
                                        <p:strVal val="visible"/>
                                      </p:to>
                                    </p:set>
                                    <p:anim calcmode="lin" valueType="num">
                                      <p:cBhvr>
                                        <p:cTn id="7" dur="500" fill="hold"/>
                                        <p:tgtEl>
                                          <p:spTgt spid="681028"/>
                                        </p:tgtEl>
                                        <p:attrNameLst>
                                          <p:attrName>ppt_w</p:attrName>
                                        </p:attrNameLst>
                                      </p:cBhvr>
                                      <p:tavLst>
                                        <p:tav tm="0">
                                          <p:val>
                                            <p:fltVal val="0"/>
                                          </p:val>
                                        </p:tav>
                                        <p:tav tm="100000">
                                          <p:val>
                                            <p:strVal val="#ppt_w"/>
                                          </p:val>
                                        </p:tav>
                                      </p:tavLst>
                                    </p:anim>
                                    <p:anim calcmode="lin" valueType="num">
                                      <p:cBhvr>
                                        <p:cTn id="8" dur="500" fill="hold"/>
                                        <p:tgtEl>
                                          <p:spTgt spid="681028"/>
                                        </p:tgtEl>
                                        <p:attrNameLst>
                                          <p:attrName>ppt_h</p:attrName>
                                        </p:attrNameLst>
                                      </p:cBhvr>
                                      <p:tavLst>
                                        <p:tav tm="0">
                                          <p:val>
                                            <p:fltVal val="0"/>
                                          </p:val>
                                        </p:tav>
                                        <p:tav tm="100000">
                                          <p:val>
                                            <p:strVal val="#ppt_h"/>
                                          </p:val>
                                        </p:tav>
                                      </p:tavLst>
                                    </p:anim>
                                    <p:animEffect transition="in" filter="fade">
                                      <p:cBhvr>
                                        <p:cTn id="9" dur="500"/>
                                        <p:tgtEl>
                                          <p:spTgt spid="68102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681028"/>
                                        </p:tgtEl>
                                        <p:attrNameLst>
                                          <p:attrName>style.visibility</p:attrName>
                                        </p:attrNameLst>
                                      </p:cBhvr>
                                      <p:to>
                                        <p:strVal val="hidden"/>
                                      </p:to>
                                    </p:set>
                                  </p:childTnLst>
                                </p:cTn>
                              </p:par>
                              <p:par>
                                <p:cTn id="14" presetID="53" presetClass="entr" presetSubtype="0" fill="hold" grpId="0" nodeType="withEffect">
                                  <p:stCondLst>
                                    <p:cond delay="0"/>
                                  </p:stCondLst>
                                  <p:childTnLst>
                                    <p:set>
                                      <p:cBhvr>
                                        <p:cTn id="15" dur="1" fill="hold">
                                          <p:stCondLst>
                                            <p:cond delay="0"/>
                                          </p:stCondLst>
                                        </p:cTn>
                                        <p:tgtEl>
                                          <p:spTgt spid="681029"/>
                                        </p:tgtEl>
                                        <p:attrNameLst>
                                          <p:attrName>style.visibility</p:attrName>
                                        </p:attrNameLst>
                                      </p:cBhvr>
                                      <p:to>
                                        <p:strVal val="visible"/>
                                      </p:to>
                                    </p:set>
                                    <p:anim calcmode="lin" valueType="num">
                                      <p:cBhvr>
                                        <p:cTn id="16" dur="500" fill="hold"/>
                                        <p:tgtEl>
                                          <p:spTgt spid="681029"/>
                                        </p:tgtEl>
                                        <p:attrNameLst>
                                          <p:attrName>ppt_w</p:attrName>
                                        </p:attrNameLst>
                                      </p:cBhvr>
                                      <p:tavLst>
                                        <p:tav tm="0">
                                          <p:val>
                                            <p:fltVal val="0"/>
                                          </p:val>
                                        </p:tav>
                                        <p:tav tm="100000">
                                          <p:val>
                                            <p:strVal val="#ppt_w"/>
                                          </p:val>
                                        </p:tav>
                                      </p:tavLst>
                                    </p:anim>
                                    <p:anim calcmode="lin" valueType="num">
                                      <p:cBhvr>
                                        <p:cTn id="17" dur="500" fill="hold"/>
                                        <p:tgtEl>
                                          <p:spTgt spid="681029"/>
                                        </p:tgtEl>
                                        <p:attrNameLst>
                                          <p:attrName>ppt_h</p:attrName>
                                        </p:attrNameLst>
                                      </p:cBhvr>
                                      <p:tavLst>
                                        <p:tav tm="0">
                                          <p:val>
                                            <p:fltVal val="0"/>
                                          </p:val>
                                        </p:tav>
                                        <p:tav tm="100000">
                                          <p:val>
                                            <p:strVal val="#ppt_h"/>
                                          </p:val>
                                        </p:tav>
                                      </p:tavLst>
                                    </p:anim>
                                    <p:animEffect transition="in" filter="fade">
                                      <p:cBhvr>
                                        <p:cTn id="18" dur="500"/>
                                        <p:tgtEl>
                                          <p:spTgt spid="68102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681029"/>
                                        </p:tgtEl>
                                        <p:attrNameLst>
                                          <p:attrName>style.visibility</p:attrName>
                                        </p:attrNameLst>
                                      </p:cBhvr>
                                      <p:to>
                                        <p:strVal val="hidden"/>
                                      </p:to>
                                    </p:set>
                                  </p:childTnLst>
                                </p:cTn>
                              </p:par>
                              <p:par>
                                <p:cTn id="23" presetID="53" presetClass="entr" presetSubtype="0" fill="hold" grpId="0" nodeType="withEffect">
                                  <p:stCondLst>
                                    <p:cond delay="0"/>
                                  </p:stCondLst>
                                  <p:childTnLst>
                                    <p:set>
                                      <p:cBhvr>
                                        <p:cTn id="24" dur="1" fill="hold">
                                          <p:stCondLst>
                                            <p:cond delay="0"/>
                                          </p:stCondLst>
                                        </p:cTn>
                                        <p:tgtEl>
                                          <p:spTgt spid="681030"/>
                                        </p:tgtEl>
                                        <p:attrNameLst>
                                          <p:attrName>style.visibility</p:attrName>
                                        </p:attrNameLst>
                                      </p:cBhvr>
                                      <p:to>
                                        <p:strVal val="visible"/>
                                      </p:to>
                                    </p:set>
                                    <p:anim calcmode="lin" valueType="num">
                                      <p:cBhvr>
                                        <p:cTn id="25" dur="500" fill="hold"/>
                                        <p:tgtEl>
                                          <p:spTgt spid="681030"/>
                                        </p:tgtEl>
                                        <p:attrNameLst>
                                          <p:attrName>ppt_w</p:attrName>
                                        </p:attrNameLst>
                                      </p:cBhvr>
                                      <p:tavLst>
                                        <p:tav tm="0">
                                          <p:val>
                                            <p:fltVal val="0"/>
                                          </p:val>
                                        </p:tav>
                                        <p:tav tm="100000">
                                          <p:val>
                                            <p:strVal val="#ppt_w"/>
                                          </p:val>
                                        </p:tav>
                                      </p:tavLst>
                                    </p:anim>
                                    <p:anim calcmode="lin" valueType="num">
                                      <p:cBhvr>
                                        <p:cTn id="26" dur="500" fill="hold"/>
                                        <p:tgtEl>
                                          <p:spTgt spid="681030"/>
                                        </p:tgtEl>
                                        <p:attrNameLst>
                                          <p:attrName>ppt_h</p:attrName>
                                        </p:attrNameLst>
                                      </p:cBhvr>
                                      <p:tavLst>
                                        <p:tav tm="0">
                                          <p:val>
                                            <p:fltVal val="0"/>
                                          </p:val>
                                        </p:tav>
                                        <p:tav tm="100000">
                                          <p:val>
                                            <p:strVal val="#ppt_h"/>
                                          </p:val>
                                        </p:tav>
                                      </p:tavLst>
                                    </p:anim>
                                    <p:animEffect transition="in" filter="fade">
                                      <p:cBhvr>
                                        <p:cTn id="27" dur="500"/>
                                        <p:tgtEl>
                                          <p:spTgt spid="68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028" grpId="0" animBg="1"/>
      <p:bldP spid="681028" grpId="1" animBg="1"/>
      <p:bldP spid="681029" grpId="0" animBg="1"/>
      <p:bldP spid="681029" grpId="1" animBg="1"/>
      <p:bldP spid="681030"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457200" y="404664"/>
            <a:ext cx="8229600" cy="939130"/>
          </a:xfrm>
        </p:spPr>
        <p:txBody>
          <a:bodyPr/>
          <a:lstStyle/>
          <a:p>
            <a:pPr>
              <a:defRPr/>
            </a:pPr>
            <a:r>
              <a:rPr lang="zh-CN" altLang="en-US" dirty="0"/>
              <a:t>指针和二维数组间的关系</a:t>
            </a:r>
          </a:p>
        </p:txBody>
      </p:sp>
      <p:grpSp>
        <p:nvGrpSpPr>
          <p:cNvPr id="2" name="Group 3"/>
          <p:cNvGrpSpPr>
            <a:grpSpLocks/>
          </p:cNvGrpSpPr>
          <p:nvPr/>
        </p:nvGrpSpPr>
        <p:grpSpPr bwMode="auto">
          <a:xfrm>
            <a:off x="7185025" y="2184400"/>
            <a:ext cx="1981200" cy="4572000"/>
            <a:chOff x="4512" y="336"/>
            <a:chExt cx="1248" cy="2880"/>
          </a:xfrm>
        </p:grpSpPr>
        <p:sp>
          <p:nvSpPr>
            <p:cNvPr id="14371" name="Text Box 4"/>
            <p:cNvSpPr txBox="1">
              <a:spLocks noChangeArrowheads="1"/>
            </p:cNvSpPr>
            <p:nvPr/>
          </p:nvSpPr>
          <p:spPr bwMode="auto">
            <a:xfrm>
              <a:off x="5210" y="645"/>
              <a:ext cx="550" cy="1371"/>
            </a:xfrm>
            <a:prstGeom prst="rect">
              <a:avLst/>
            </a:prstGeom>
            <a:noFill/>
            <a:ln w="12700" cap="sq">
              <a:noFill/>
              <a:miter lim="800000"/>
              <a:headEnd type="none" w="sm" len="sm"/>
              <a:tailEnd type="none" w="sm" len="sm"/>
            </a:ln>
          </p:spPr>
          <p:txBody>
            <a:bodyPr>
              <a:spAutoFit/>
            </a:bodyPr>
            <a:lstStyle/>
            <a:p>
              <a:pPr eaLnBrk="1" hangingPunct="1">
                <a:spcBef>
                  <a:spcPct val="10000"/>
                </a:spcBef>
              </a:pPr>
              <a:r>
                <a:rPr kumimoji="1" lang="en-US" altLang="zh-CN" sz="1800" b="1">
                  <a:effectLst/>
                  <a:ea typeface="宋体" charset="-122"/>
                </a:rPr>
                <a:t>a[0][0]</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a[0][1]</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a[0][2]</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a[1][0]</a:t>
              </a:r>
            </a:p>
          </p:txBody>
        </p:sp>
        <p:sp>
          <p:nvSpPr>
            <p:cNvPr id="14372" name="Text Box 5"/>
            <p:cNvSpPr txBox="1">
              <a:spLocks noChangeArrowheads="1"/>
            </p:cNvSpPr>
            <p:nvPr/>
          </p:nvSpPr>
          <p:spPr bwMode="auto">
            <a:xfrm>
              <a:off x="5210" y="2127"/>
              <a:ext cx="550" cy="801"/>
            </a:xfrm>
            <a:prstGeom prst="rect">
              <a:avLst/>
            </a:prstGeom>
            <a:noFill/>
            <a:ln w="12700" cap="sq">
              <a:noFill/>
              <a:miter lim="800000"/>
              <a:headEnd type="none" w="sm" len="sm"/>
              <a:tailEnd type="none" w="sm" len="sm"/>
            </a:ln>
          </p:spPr>
          <p:txBody>
            <a:bodyPr>
              <a:spAutoFit/>
            </a:bodyPr>
            <a:lstStyle/>
            <a:p>
              <a:pPr eaLnBrk="1" hangingPunct="1">
                <a:spcBef>
                  <a:spcPct val="10000"/>
                </a:spcBef>
              </a:pPr>
              <a:r>
                <a:rPr kumimoji="1" lang="en-US" altLang="zh-CN" sz="1800" b="1">
                  <a:effectLst/>
                  <a:ea typeface="宋体" charset="-122"/>
                </a:rPr>
                <a:t>a[1][1]</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a[1][2]</a:t>
              </a:r>
            </a:p>
            <a:p>
              <a:pPr eaLnBrk="1" hangingPunct="1">
                <a:spcBef>
                  <a:spcPct val="10000"/>
                </a:spcBef>
              </a:pPr>
              <a:endParaRPr kumimoji="1" lang="zh-CN" altLang="en-US" sz="1800" b="1">
                <a:effectLst/>
                <a:ea typeface="宋体" charset="-122"/>
              </a:endParaRPr>
            </a:p>
          </p:txBody>
        </p:sp>
        <p:grpSp>
          <p:nvGrpSpPr>
            <p:cNvPr id="3" name="Group 6"/>
            <p:cNvGrpSpPr>
              <a:grpSpLocks/>
            </p:cNvGrpSpPr>
            <p:nvPr/>
          </p:nvGrpSpPr>
          <p:grpSpPr bwMode="auto">
            <a:xfrm>
              <a:off x="4512" y="336"/>
              <a:ext cx="759" cy="2880"/>
              <a:chOff x="4512" y="336"/>
              <a:chExt cx="759" cy="2880"/>
            </a:xfrm>
          </p:grpSpPr>
          <p:grpSp>
            <p:nvGrpSpPr>
              <p:cNvPr id="4" name="Group 7"/>
              <p:cNvGrpSpPr>
                <a:grpSpLocks/>
              </p:cNvGrpSpPr>
              <p:nvPr/>
            </p:nvGrpSpPr>
            <p:grpSpPr bwMode="auto">
              <a:xfrm>
                <a:off x="4512" y="336"/>
                <a:ext cx="576" cy="1920"/>
                <a:chOff x="4752" y="576"/>
                <a:chExt cx="576" cy="1920"/>
              </a:xfrm>
            </p:grpSpPr>
            <p:sp>
              <p:nvSpPr>
                <p:cNvPr id="684040" name="Rectangle 8"/>
                <p:cNvSpPr>
                  <a:spLocks noChangeArrowheads="1"/>
                </p:cNvSpPr>
                <p:nvPr/>
              </p:nvSpPr>
              <p:spPr bwMode="auto">
                <a:xfrm>
                  <a:off x="4752" y="96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1" name="Rectangle 9"/>
                <p:cNvSpPr>
                  <a:spLocks noChangeArrowheads="1"/>
                </p:cNvSpPr>
                <p:nvPr/>
              </p:nvSpPr>
              <p:spPr bwMode="auto">
                <a:xfrm>
                  <a:off x="4752" y="115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2" name="Rectangle 10"/>
                <p:cNvSpPr>
                  <a:spLocks noChangeArrowheads="1"/>
                </p:cNvSpPr>
                <p:nvPr/>
              </p:nvSpPr>
              <p:spPr bwMode="auto">
                <a:xfrm>
                  <a:off x="4752" y="134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3" name="Rectangle 11"/>
                <p:cNvSpPr>
                  <a:spLocks noChangeArrowheads="1"/>
                </p:cNvSpPr>
                <p:nvPr/>
              </p:nvSpPr>
              <p:spPr bwMode="auto">
                <a:xfrm>
                  <a:off x="4752" y="153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4" name="Rectangle 12"/>
                <p:cNvSpPr>
                  <a:spLocks noChangeArrowheads="1"/>
                </p:cNvSpPr>
                <p:nvPr/>
              </p:nvSpPr>
              <p:spPr bwMode="auto">
                <a:xfrm>
                  <a:off x="4752" y="172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5" name="Rectangle 13"/>
                <p:cNvSpPr>
                  <a:spLocks noChangeArrowheads="1"/>
                </p:cNvSpPr>
                <p:nvPr/>
              </p:nvSpPr>
              <p:spPr bwMode="auto">
                <a:xfrm>
                  <a:off x="4752" y="192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6" name="Rectangle 14"/>
                <p:cNvSpPr>
                  <a:spLocks noChangeArrowheads="1"/>
                </p:cNvSpPr>
                <p:nvPr/>
              </p:nvSpPr>
              <p:spPr bwMode="auto">
                <a:xfrm>
                  <a:off x="4752" y="211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7" name="Rectangle 15"/>
                <p:cNvSpPr>
                  <a:spLocks noChangeArrowheads="1"/>
                </p:cNvSpPr>
                <p:nvPr/>
              </p:nvSpPr>
              <p:spPr bwMode="auto">
                <a:xfrm>
                  <a:off x="4752" y="230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8" name="Rectangle 16"/>
                <p:cNvSpPr>
                  <a:spLocks noChangeArrowheads="1"/>
                </p:cNvSpPr>
                <p:nvPr/>
              </p:nvSpPr>
              <p:spPr bwMode="auto">
                <a:xfrm>
                  <a:off x="4752" y="76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49" name="Rectangle 17"/>
                <p:cNvSpPr>
                  <a:spLocks noChangeArrowheads="1"/>
                </p:cNvSpPr>
                <p:nvPr/>
              </p:nvSpPr>
              <p:spPr bwMode="auto">
                <a:xfrm>
                  <a:off x="4752" y="57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sp>
            <p:nvSpPr>
              <p:cNvPr id="684050" name="AutoShape 18"/>
              <p:cNvSpPr>
                <a:spLocks/>
              </p:cNvSpPr>
              <p:nvPr/>
            </p:nvSpPr>
            <p:spPr bwMode="auto">
              <a:xfrm>
                <a:off x="5088" y="609"/>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4051" name="AutoShape 19"/>
              <p:cNvSpPr>
                <a:spLocks/>
              </p:cNvSpPr>
              <p:nvPr/>
            </p:nvSpPr>
            <p:spPr bwMode="auto">
              <a:xfrm>
                <a:off x="5088" y="993"/>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4052" name="AutoShape 20"/>
              <p:cNvSpPr>
                <a:spLocks/>
              </p:cNvSpPr>
              <p:nvPr/>
            </p:nvSpPr>
            <p:spPr bwMode="auto">
              <a:xfrm>
                <a:off x="5088" y="1377"/>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4053" name="AutoShape 21"/>
              <p:cNvSpPr>
                <a:spLocks/>
              </p:cNvSpPr>
              <p:nvPr/>
            </p:nvSpPr>
            <p:spPr bwMode="auto">
              <a:xfrm>
                <a:off x="5088" y="1750"/>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4054" name="Rectangle 22"/>
              <p:cNvSpPr>
                <a:spLocks noChangeArrowheads="1"/>
              </p:cNvSpPr>
              <p:nvPr/>
            </p:nvSpPr>
            <p:spPr bwMode="auto">
              <a:xfrm>
                <a:off x="4512" y="264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55" name="Rectangle 23"/>
              <p:cNvSpPr>
                <a:spLocks noChangeArrowheads="1"/>
              </p:cNvSpPr>
              <p:nvPr/>
            </p:nvSpPr>
            <p:spPr bwMode="auto">
              <a:xfrm>
                <a:off x="4512" y="283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56" name="Rectangle 24"/>
              <p:cNvSpPr>
                <a:spLocks noChangeArrowheads="1"/>
              </p:cNvSpPr>
              <p:nvPr/>
            </p:nvSpPr>
            <p:spPr bwMode="auto">
              <a:xfrm>
                <a:off x="4512" y="302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57" name="Rectangle 25"/>
              <p:cNvSpPr>
                <a:spLocks noChangeArrowheads="1"/>
              </p:cNvSpPr>
              <p:nvPr/>
            </p:nvSpPr>
            <p:spPr bwMode="auto">
              <a:xfrm>
                <a:off x="4512" y="244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58" name="Rectangle 26"/>
              <p:cNvSpPr>
                <a:spLocks noChangeArrowheads="1"/>
              </p:cNvSpPr>
              <p:nvPr/>
            </p:nvSpPr>
            <p:spPr bwMode="auto">
              <a:xfrm>
                <a:off x="4512" y="225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4059" name="AutoShape 27"/>
              <p:cNvSpPr>
                <a:spLocks/>
              </p:cNvSpPr>
              <p:nvPr/>
            </p:nvSpPr>
            <p:spPr bwMode="auto">
              <a:xfrm>
                <a:off x="5088" y="2119"/>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4060" name="AutoShape 28"/>
              <p:cNvSpPr>
                <a:spLocks/>
              </p:cNvSpPr>
              <p:nvPr/>
            </p:nvSpPr>
            <p:spPr bwMode="auto">
              <a:xfrm>
                <a:off x="5088" y="2503"/>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grpSp>
      </p:grpSp>
      <p:sp>
        <p:nvSpPr>
          <p:cNvPr id="684061" name="Line 29"/>
          <p:cNvSpPr>
            <a:spLocks noChangeShapeType="1"/>
          </p:cNvSpPr>
          <p:nvPr/>
        </p:nvSpPr>
        <p:spPr bwMode="auto">
          <a:xfrm>
            <a:off x="6742113" y="26035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4062" name="Line 30"/>
          <p:cNvSpPr>
            <a:spLocks noChangeShapeType="1"/>
          </p:cNvSpPr>
          <p:nvPr/>
        </p:nvSpPr>
        <p:spPr bwMode="auto">
          <a:xfrm>
            <a:off x="6742113" y="44323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4063" name="Line 31"/>
          <p:cNvSpPr>
            <a:spLocks noChangeShapeType="1"/>
          </p:cNvSpPr>
          <p:nvPr/>
        </p:nvSpPr>
        <p:spPr bwMode="auto">
          <a:xfrm>
            <a:off x="6742113" y="32131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4064" name="Line 32"/>
          <p:cNvSpPr>
            <a:spLocks noChangeShapeType="1"/>
          </p:cNvSpPr>
          <p:nvPr/>
        </p:nvSpPr>
        <p:spPr bwMode="auto">
          <a:xfrm>
            <a:off x="6742113" y="38227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4065" name="Line 33"/>
          <p:cNvSpPr>
            <a:spLocks noChangeShapeType="1"/>
          </p:cNvSpPr>
          <p:nvPr/>
        </p:nvSpPr>
        <p:spPr bwMode="auto">
          <a:xfrm>
            <a:off x="6742113" y="5013325"/>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grpSp>
        <p:nvGrpSpPr>
          <p:cNvPr id="5" name="Group 34"/>
          <p:cNvGrpSpPr>
            <a:grpSpLocks/>
          </p:cNvGrpSpPr>
          <p:nvPr/>
        </p:nvGrpSpPr>
        <p:grpSpPr bwMode="auto">
          <a:xfrm>
            <a:off x="-1116013" y="3724275"/>
            <a:ext cx="5181601" cy="2225675"/>
            <a:chOff x="336" y="1093"/>
            <a:chExt cx="3264" cy="1402"/>
          </a:xfrm>
        </p:grpSpPr>
        <p:grpSp>
          <p:nvGrpSpPr>
            <p:cNvPr id="6" name="Group 35"/>
            <p:cNvGrpSpPr>
              <a:grpSpLocks/>
            </p:cNvGrpSpPr>
            <p:nvPr/>
          </p:nvGrpSpPr>
          <p:grpSpPr bwMode="auto">
            <a:xfrm>
              <a:off x="336" y="1093"/>
              <a:ext cx="3264" cy="1402"/>
              <a:chOff x="336" y="1105"/>
              <a:chExt cx="3264" cy="1402"/>
            </a:xfrm>
          </p:grpSpPr>
          <p:sp>
            <p:nvSpPr>
              <p:cNvPr id="14369" name="Rectangle 36"/>
              <p:cNvSpPr>
                <a:spLocks noChangeArrowheads="1"/>
              </p:cNvSpPr>
              <p:nvPr/>
            </p:nvSpPr>
            <p:spPr bwMode="auto">
              <a:xfrm>
                <a:off x="768" y="1105"/>
                <a:ext cx="2832" cy="1402"/>
              </a:xfrm>
              <a:prstGeom prst="rect">
                <a:avLst/>
              </a:prstGeom>
              <a:noFill/>
              <a:ln w="19050">
                <a:noFill/>
                <a:miter lim="800000"/>
                <a:headEnd/>
                <a:tailEnd/>
              </a:ln>
            </p:spPr>
            <p:txBody>
              <a:bodyPr anchor="ctr">
                <a:spAutoFit/>
              </a:bodyPr>
              <a:lstStyle/>
              <a:p>
                <a:pPr eaLnBrk="1" hangingPunct="1"/>
                <a:r>
                  <a:rPr kumimoji="1" lang="zh-CN" altLang="en-US" sz="2000" b="1">
                    <a:solidFill>
                      <a:schemeClr val="accent2"/>
                    </a:solidFill>
                    <a:effectLst/>
                    <a:ea typeface="宋体" charset="-122"/>
                  </a:rPr>
                  <a:t>		</a:t>
                </a:r>
              </a:p>
              <a:p>
                <a:pPr eaLnBrk="1" hangingPunct="1"/>
                <a:r>
                  <a:rPr kumimoji="1" lang="zh-CN" altLang="zh-CN" sz="2000" b="1">
                    <a:solidFill>
                      <a:schemeClr val="tx2"/>
                    </a:solidFill>
                    <a:effectLst/>
                    <a:ea typeface="宋体" charset="-122"/>
                  </a:rPr>
                  <a:t>	     		</a:t>
                </a:r>
                <a:r>
                  <a:rPr kumimoji="1" lang="en-US" altLang="zh-CN" sz="2000" b="1">
                    <a:solidFill>
                      <a:schemeClr val="tx2"/>
                    </a:solidFill>
                    <a:effectLst/>
                    <a:ea typeface="宋体" charset="-122"/>
                  </a:rPr>
                  <a:t>a[0][0]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a[0]</a:t>
                </a:r>
                <a:r>
                  <a:rPr kumimoji="1" lang="en-US" altLang="zh-CN" sz="2000" b="1">
                    <a:solidFill>
                      <a:schemeClr val="tx2"/>
                    </a:solidFill>
                    <a:effectLst/>
                    <a:ea typeface="宋体" charset="-122"/>
                  </a:rPr>
                  <a:t>	a[0][1]	</a:t>
                </a:r>
              </a:p>
              <a:p>
                <a:pPr eaLnBrk="1" hangingPunct="1"/>
                <a:r>
                  <a:rPr kumimoji="1" lang="en-US" altLang="zh-CN" sz="2000" b="1">
                    <a:solidFill>
                      <a:schemeClr val="tx2"/>
                    </a:solidFill>
                    <a:effectLst/>
                    <a:ea typeface="宋体" charset="-122"/>
                  </a:rPr>
                  <a:t>			a[0][2]	</a:t>
                </a:r>
              </a:p>
              <a:p>
                <a:pPr eaLnBrk="1" hangingPunct="1"/>
                <a:r>
                  <a:rPr kumimoji="1" lang="en-US" altLang="zh-CN" sz="2000" b="1">
                    <a:solidFill>
                      <a:schemeClr val="tx2"/>
                    </a:solidFill>
                    <a:effectLst/>
                    <a:ea typeface="宋体" charset="-122"/>
                  </a:rPr>
                  <a:t>			a[1][0]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a[1]</a:t>
                </a:r>
                <a:r>
                  <a:rPr kumimoji="1" lang="en-US" altLang="zh-CN" sz="2000" b="1">
                    <a:solidFill>
                      <a:schemeClr val="tx2"/>
                    </a:solidFill>
                    <a:effectLst/>
                    <a:ea typeface="宋体" charset="-122"/>
                  </a:rPr>
                  <a:t> 	a[1][1]	</a:t>
                </a:r>
              </a:p>
              <a:p>
                <a:pPr eaLnBrk="1" hangingPunct="1"/>
                <a:r>
                  <a:rPr kumimoji="1" lang="en-US" altLang="zh-CN" sz="2000" b="1">
                    <a:solidFill>
                      <a:schemeClr val="tx2"/>
                    </a:solidFill>
                    <a:effectLst/>
                    <a:ea typeface="宋体" charset="-122"/>
                  </a:rPr>
                  <a:t>			a[1][2]	</a:t>
                </a:r>
              </a:p>
            </p:txBody>
          </p:sp>
          <p:sp>
            <p:nvSpPr>
              <p:cNvPr id="14370" name="Rectangle 37"/>
              <p:cNvSpPr>
                <a:spLocks noChangeArrowheads="1"/>
              </p:cNvSpPr>
              <p:nvPr/>
            </p:nvSpPr>
            <p:spPr bwMode="auto">
              <a:xfrm>
                <a:off x="336" y="1565"/>
                <a:ext cx="1236" cy="711"/>
              </a:xfrm>
              <a:prstGeom prst="rect">
                <a:avLst/>
              </a:prstGeom>
              <a:noFill/>
              <a:ln w="28575" cap="sq">
                <a:noFill/>
                <a:miter lim="800000"/>
                <a:headEnd/>
                <a:tailEnd/>
              </a:ln>
            </p:spPr>
            <p:txBody>
              <a:bodyPr anchor="ctr">
                <a:spAutoFit/>
              </a:bodyPr>
              <a:lstStyle/>
              <a:p>
                <a:pPr eaLnBrk="1" hangingPunct="1"/>
                <a:r>
                  <a:rPr kumimoji="1" lang="en-US" altLang="zh-CN" sz="2000" b="1">
                    <a:solidFill>
                      <a:schemeClr val="tx2"/>
                    </a:solidFill>
                    <a:effectLst/>
                    <a:latin typeface="Courier New" pitchFamily="49" charset="0"/>
                    <a:ea typeface="宋体" charset="-122"/>
                  </a:rPr>
                  <a:t>                           </a:t>
                </a:r>
              </a:p>
              <a:p>
                <a:pPr eaLnBrk="1" hangingPunct="1"/>
                <a:r>
                  <a:rPr kumimoji="1" lang="en-US" altLang="zh-CN" sz="2000" b="1">
                    <a:solidFill>
                      <a:schemeClr val="tx2"/>
                    </a:solidFill>
                    <a:effectLst/>
                    <a:latin typeface="Courier New" pitchFamily="49" charset="0"/>
                    <a:ea typeface="宋体" charset="-122"/>
                  </a:rPr>
                  <a:t>          </a:t>
                </a:r>
                <a:r>
                  <a:rPr kumimoji="1" lang="en-US" altLang="zh-CN" sz="2800" b="1">
                    <a:solidFill>
                      <a:schemeClr val="tx2"/>
                    </a:solidFill>
                    <a:effectLst/>
                    <a:latin typeface="Courier New" pitchFamily="49" charset="0"/>
                    <a:ea typeface="宋体" charset="-122"/>
                  </a:rPr>
                  <a:t>a</a:t>
                </a:r>
              </a:p>
              <a:p>
                <a:pPr eaLnBrk="1" hangingPunct="1"/>
                <a:r>
                  <a:rPr kumimoji="1" lang="en-US" altLang="zh-CN" sz="2000" b="1">
                    <a:solidFill>
                      <a:schemeClr val="tx2"/>
                    </a:solidFill>
                    <a:effectLst/>
                    <a:latin typeface="Courier New" pitchFamily="49" charset="0"/>
                    <a:ea typeface="宋体" charset="-122"/>
                  </a:rPr>
                  <a:t>          </a:t>
                </a:r>
              </a:p>
            </p:txBody>
          </p:sp>
        </p:grpSp>
        <p:grpSp>
          <p:nvGrpSpPr>
            <p:cNvPr id="7" name="Group 38"/>
            <p:cNvGrpSpPr>
              <a:grpSpLocks/>
            </p:cNvGrpSpPr>
            <p:nvPr/>
          </p:nvGrpSpPr>
          <p:grpSpPr bwMode="auto">
            <a:xfrm>
              <a:off x="1728" y="1441"/>
              <a:ext cx="768" cy="970"/>
              <a:chOff x="1728" y="1441"/>
              <a:chExt cx="768" cy="970"/>
            </a:xfrm>
          </p:grpSpPr>
          <p:sp>
            <p:nvSpPr>
              <p:cNvPr id="684071" name="AutoShape 39"/>
              <p:cNvSpPr>
                <a:spLocks/>
              </p:cNvSpPr>
              <p:nvPr/>
            </p:nvSpPr>
            <p:spPr bwMode="auto">
              <a:xfrm>
                <a:off x="1728" y="1633"/>
                <a:ext cx="192" cy="62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72" name="AutoShape 40"/>
              <p:cNvSpPr>
                <a:spLocks/>
              </p:cNvSpPr>
              <p:nvPr/>
            </p:nvSpPr>
            <p:spPr bwMode="auto">
              <a:xfrm>
                <a:off x="2304" y="1441"/>
                <a:ext cx="192" cy="38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73" name="AutoShape 41"/>
              <p:cNvSpPr>
                <a:spLocks/>
              </p:cNvSpPr>
              <p:nvPr/>
            </p:nvSpPr>
            <p:spPr bwMode="auto">
              <a:xfrm>
                <a:off x="2304" y="2017"/>
                <a:ext cx="192" cy="39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grpSp>
      <p:sp>
        <p:nvSpPr>
          <p:cNvPr id="684074" name="Line 42"/>
          <p:cNvSpPr>
            <a:spLocks noChangeShapeType="1"/>
          </p:cNvSpPr>
          <p:nvPr/>
        </p:nvSpPr>
        <p:spPr bwMode="auto">
          <a:xfrm>
            <a:off x="6732588" y="56769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4075" name="Rectangle 43"/>
          <p:cNvSpPr>
            <a:spLocks noChangeArrowheads="1"/>
          </p:cNvSpPr>
          <p:nvPr/>
        </p:nvSpPr>
        <p:spPr bwMode="auto">
          <a:xfrm>
            <a:off x="827088" y="3357563"/>
            <a:ext cx="2740025" cy="457200"/>
          </a:xfrm>
          <a:prstGeom prst="rect">
            <a:avLst/>
          </a:prstGeom>
          <a:noFill/>
          <a:ln w="12700">
            <a:noFill/>
            <a:miter lim="800000"/>
            <a:headEnd type="none" w="sm" len="sm"/>
            <a:tailEnd type="none" w="sm" len="sm"/>
          </a:ln>
          <a:effectLst/>
        </p:spPr>
        <p:txBody>
          <a:bodyPr wrap="none">
            <a:spAutoFit/>
          </a:bodyPr>
          <a:lstStyle/>
          <a:p>
            <a:pPr>
              <a:defRPr/>
            </a:pPr>
            <a:r>
              <a:rPr kumimoji="1" lang="en-US" altLang="zh-CN" b="1">
                <a:solidFill>
                  <a:schemeClr val="accent2"/>
                </a:solidFill>
                <a:effectLst>
                  <a:outerShdw blurRad="38100" dist="38100" dir="2700000" algn="tl">
                    <a:srgbClr val="C0C0C0"/>
                  </a:outerShdw>
                </a:effectLst>
                <a:latin typeface="Courier New" pitchFamily="49" charset="0"/>
                <a:ea typeface="宋体" pitchFamily="2" charset="-122"/>
              </a:rPr>
              <a:t>short</a:t>
            </a:r>
            <a:r>
              <a:rPr kumimoji="1" lang="en-US" altLang="zh-CN" b="1">
                <a:solidFill>
                  <a:schemeClr val="tx2"/>
                </a:solidFill>
                <a:effectLst/>
                <a:latin typeface="Courier New" pitchFamily="49" charset="0"/>
                <a:ea typeface="宋体" pitchFamily="2" charset="-122"/>
              </a:rPr>
              <a:t> a[2][3];</a:t>
            </a:r>
            <a:endParaRPr kumimoji="1" lang="zh-CN" altLang="en-US" b="1">
              <a:solidFill>
                <a:schemeClr val="tx2"/>
              </a:solidFill>
              <a:effectLst/>
              <a:latin typeface="Courier New" pitchFamily="49" charset="0"/>
              <a:ea typeface="宋体" pitchFamily="2" charset="-122"/>
            </a:endParaRPr>
          </a:p>
        </p:txBody>
      </p:sp>
      <p:sp>
        <p:nvSpPr>
          <p:cNvPr id="684076" name="Line 44"/>
          <p:cNvSpPr>
            <a:spLocks noChangeShapeType="1"/>
          </p:cNvSpPr>
          <p:nvPr/>
        </p:nvSpPr>
        <p:spPr bwMode="auto">
          <a:xfrm>
            <a:off x="7181850" y="4321175"/>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4077" name="Line 45"/>
          <p:cNvSpPr>
            <a:spLocks noChangeShapeType="1"/>
          </p:cNvSpPr>
          <p:nvPr/>
        </p:nvSpPr>
        <p:spPr bwMode="auto">
          <a:xfrm>
            <a:off x="7172325" y="6151563"/>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4078" name="Line 46"/>
          <p:cNvSpPr>
            <a:spLocks noChangeShapeType="1"/>
          </p:cNvSpPr>
          <p:nvPr/>
        </p:nvSpPr>
        <p:spPr bwMode="auto">
          <a:xfrm>
            <a:off x="7172325" y="2492375"/>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4079" name="Rectangle 47"/>
          <p:cNvSpPr>
            <a:spLocks noChangeArrowheads="1"/>
          </p:cNvSpPr>
          <p:nvPr/>
        </p:nvSpPr>
        <p:spPr bwMode="auto">
          <a:xfrm>
            <a:off x="7192963" y="2492375"/>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0" name="Rectangle 48"/>
          <p:cNvSpPr>
            <a:spLocks noChangeArrowheads="1"/>
          </p:cNvSpPr>
          <p:nvPr/>
        </p:nvSpPr>
        <p:spPr bwMode="auto">
          <a:xfrm>
            <a:off x="7192963" y="3111500"/>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1" name="Rectangle 49"/>
          <p:cNvSpPr>
            <a:spLocks noChangeArrowheads="1"/>
          </p:cNvSpPr>
          <p:nvPr/>
        </p:nvSpPr>
        <p:spPr bwMode="auto">
          <a:xfrm>
            <a:off x="7192963" y="3716338"/>
            <a:ext cx="900112" cy="611187"/>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2" name="Rectangle 50"/>
          <p:cNvSpPr>
            <a:spLocks noChangeArrowheads="1"/>
          </p:cNvSpPr>
          <p:nvPr/>
        </p:nvSpPr>
        <p:spPr bwMode="auto">
          <a:xfrm>
            <a:off x="7192963" y="4330700"/>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3" name="Rectangle 51"/>
          <p:cNvSpPr>
            <a:spLocks noChangeArrowheads="1"/>
          </p:cNvSpPr>
          <p:nvPr/>
        </p:nvSpPr>
        <p:spPr bwMode="auto">
          <a:xfrm>
            <a:off x="7192963" y="4949825"/>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4" name="Rectangle 52"/>
          <p:cNvSpPr>
            <a:spLocks noChangeArrowheads="1"/>
          </p:cNvSpPr>
          <p:nvPr/>
        </p:nvSpPr>
        <p:spPr bwMode="auto">
          <a:xfrm>
            <a:off x="7192963" y="5554663"/>
            <a:ext cx="900112" cy="611187"/>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5" name="AutoShape 53"/>
          <p:cNvSpPr>
            <a:spLocks/>
          </p:cNvSpPr>
          <p:nvPr/>
        </p:nvSpPr>
        <p:spPr bwMode="auto">
          <a:xfrm>
            <a:off x="6530975" y="2565400"/>
            <a:ext cx="217488" cy="1727200"/>
          </a:xfrm>
          <a:prstGeom prst="leftBrace">
            <a:avLst>
              <a:gd name="adj1" fmla="val 66180"/>
              <a:gd name="adj2" fmla="val 50000"/>
            </a:avLst>
          </a:prstGeom>
          <a:noFill/>
          <a:ln w="53975">
            <a:solidFill>
              <a:srgbClr val="FF0000"/>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6" name="AutoShape 54"/>
          <p:cNvSpPr>
            <a:spLocks/>
          </p:cNvSpPr>
          <p:nvPr/>
        </p:nvSpPr>
        <p:spPr bwMode="auto">
          <a:xfrm>
            <a:off x="6516688" y="4351338"/>
            <a:ext cx="217487" cy="1727200"/>
          </a:xfrm>
          <a:prstGeom prst="leftBrace">
            <a:avLst>
              <a:gd name="adj1" fmla="val 66180"/>
              <a:gd name="adj2" fmla="val 50000"/>
            </a:avLst>
          </a:prstGeom>
          <a:noFill/>
          <a:ln w="53975">
            <a:solidFill>
              <a:srgbClr val="FF0000"/>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7" name="Rectangle 55"/>
          <p:cNvSpPr>
            <a:spLocks noChangeArrowheads="1"/>
          </p:cNvSpPr>
          <p:nvPr/>
        </p:nvSpPr>
        <p:spPr bwMode="auto">
          <a:xfrm>
            <a:off x="438150" y="4135438"/>
            <a:ext cx="1655763" cy="18002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4088" name="Text Box 56"/>
          <p:cNvSpPr txBox="1">
            <a:spLocks noChangeArrowheads="1"/>
          </p:cNvSpPr>
          <p:nvPr/>
        </p:nvSpPr>
        <p:spPr bwMode="auto">
          <a:xfrm>
            <a:off x="5973763" y="2335213"/>
            <a:ext cx="336550" cy="366712"/>
          </a:xfrm>
          <a:prstGeom prst="rect">
            <a:avLst/>
          </a:prstGeom>
          <a:noFill/>
          <a:ln w="28575" cap="sq">
            <a:noFill/>
            <a:miter lim="800000"/>
            <a:headEnd/>
            <a:tailEnd/>
          </a:ln>
          <a:effectLst/>
        </p:spPr>
        <p:txBody>
          <a:bodyPr wrap="none"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a:t>
            </a:r>
          </a:p>
        </p:txBody>
      </p:sp>
      <p:sp>
        <p:nvSpPr>
          <p:cNvPr id="684089" name="Text Box 57"/>
          <p:cNvSpPr txBox="1">
            <a:spLocks noChangeArrowheads="1"/>
          </p:cNvSpPr>
          <p:nvPr/>
        </p:nvSpPr>
        <p:spPr bwMode="auto">
          <a:xfrm>
            <a:off x="5580063" y="4214813"/>
            <a:ext cx="1052512" cy="366712"/>
          </a:xfrm>
          <a:prstGeom prst="rect">
            <a:avLst/>
          </a:prstGeom>
          <a:noFill/>
          <a:ln w="28575" cap="sq">
            <a:noFill/>
            <a:miter lim="800000"/>
            <a:headEnd/>
            <a:tailEnd/>
          </a:ln>
          <a:effectLst/>
        </p:spPr>
        <p:txBody>
          <a:bodyPr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a:t>
            </a:r>
            <a:r>
              <a:rPr kumimoji="1" lang="en-US" altLang="zh-CN" b="1">
                <a:solidFill>
                  <a:srgbClr val="000066"/>
                </a:solidFill>
                <a:effectLst>
                  <a:outerShdw blurRad="38100" dist="38100" dir="2700000" algn="tl">
                    <a:srgbClr val="C0C0C0"/>
                  </a:outerShdw>
                </a:effectLst>
                <a:ea typeface="宋体" pitchFamily="2" charset="-122"/>
              </a:rPr>
              <a:t>+1</a:t>
            </a:r>
            <a:endParaRPr kumimoji="1" lang="en-US" altLang="zh-CN" b="1">
              <a:solidFill>
                <a:srgbClr val="880000"/>
              </a:solidFill>
              <a:effectLst>
                <a:outerShdw blurRad="38100" dist="38100" dir="2700000" algn="tl">
                  <a:srgbClr val="C0C0C0"/>
                </a:outerShdw>
              </a:effectLst>
              <a:ea typeface="宋体" pitchFamily="2" charset="-122"/>
            </a:endParaRPr>
          </a:p>
        </p:txBody>
      </p:sp>
      <p:sp>
        <p:nvSpPr>
          <p:cNvPr id="684090" name="Rectangle 58"/>
          <p:cNvSpPr>
            <a:spLocks noChangeArrowheads="1"/>
          </p:cNvSpPr>
          <p:nvPr/>
        </p:nvSpPr>
        <p:spPr bwMode="auto">
          <a:xfrm>
            <a:off x="539750" y="1414463"/>
            <a:ext cx="7777163" cy="646112"/>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defRPr/>
            </a:pPr>
            <a:r>
              <a:rPr kumimoji="1" lang="en-US" altLang="zh-CN" sz="2800" b="1">
                <a:solidFill>
                  <a:srgbClr val="000066"/>
                </a:solidFill>
                <a:effectLst/>
                <a:ea typeface="楷体_GB2312" pitchFamily="49" charset="-122"/>
              </a:rPr>
              <a:t>a </a:t>
            </a:r>
            <a:r>
              <a:rPr kumimoji="1" lang="zh-CN" altLang="zh-CN" sz="2800" b="1">
                <a:solidFill>
                  <a:srgbClr val="000066"/>
                </a:solidFill>
                <a:effectLst/>
                <a:latin typeface="楷体_GB2312" pitchFamily="49" charset="-122"/>
                <a:ea typeface="楷体_GB2312" pitchFamily="49" charset="-122"/>
              </a:rPr>
              <a:t>代表</a:t>
            </a:r>
            <a:r>
              <a:rPr kumimoji="1" lang="zh-CN" altLang="en-US" sz="2800" b="1">
                <a:solidFill>
                  <a:srgbClr val="000066"/>
                </a:solidFill>
                <a:effectLst/>
                <a:latin typeface="楷体_GB2312" pitchFamily="49" charset="-122"/>
                <a:ea typeface="楷体_GB2312" pitchFamily="49" charset="-122"/>
              </a:rPr>
              <a:t>二</a:t>
            </a:r>
            <a:r>
              <a:rPr kumimoji="1" lang="zh-CN" altLang="zh-CN" sz="2800" b="1">
                <a:solidFill>
                  <a:srgbClr val="000066"/>
                </a:solidFill>
                <a:effectLst/>
                <a:latin typeface="楷体_GB2312" pitchFamily="49" charset="-122"/>
                <a:ea typeface="楷体_GB2312" pitchFamily="49" charset="-122"/>
              </a:rPr>
              <a:t>维数组的首地址，</a:t>
            </a:r>
            <a:r>
              <a:rPr kumimoji="1" lang="zh-CN" altLang="en-US" sz="2800" b="1">
                <a:solidFill>
                  <a:srgbClr val="000066"/>
                </a:solidFill>
                <a:effectLst/>
                <a:latin typeface="楷体_GB2312" pitchFamily="49" charset="-122"/>
                <a:ea typeface="楷体_GB2312" pitchFamily="49" charset="-122"/>
              </a:rPr>
              <a:t>第</a:t>
            </a:r>
            <a:r>
              <a:rPr kumimoji="1" lang="en-US" altLang="zh-CN" sz="2800" b="1">
                <a:solidFill>
                  <a:srgbClr val="000066"/>
                </a:solidFill>
                <a:effectLst/>
                <a:latin typeface="楷体_GB2312" pitchFamily="49" charset="-122"/>
                <a:ea typeface="楷体_GB2312" pitchFamily="49" charset="-122"/>
              </a:rPr>
              <a:t>0</a:t>
            </a:r>
            <a:r>
              <a:rPr kumimoji="1" lang="zh-CN" altLang="en-US" sz="2800" b="1">
                <a:solidFill>
                  <a:srgbClr val="000066"/>
                </a:solidFill>
                <a:effectLst/>
                <a:latin typeface="楷体_GB2312" pitchFamily="49" charset="-122"/>
                <a:ea typeface="楷体_GB2312" pitchFamily="49" charset="-122"/>
              </a:rPr>
              <a:t>行</a:t>
            </a:r>
            <a:r>
              <a:rPr kumimoji="1" lang="zh-CN" altLang="zh-CN" sz="2800" b="1">
                <a:solidFill>
                  <a:srgbClr val="000066"/>
                </a:solidFill>
                <a:effectLst/>
                <a:latin typeface="楷体_GB2312" pitchFamily="49" charset="-122"/>
                <a:ea typeface="楷体_GB2312" pitchFamily="49" charset="-122"/>
              </a:rPr>
              <a:t>的地址，</a:t>
            </a:r>
            <a:r>
              <a:rPr kumimoji="1" lang="zh-CN" altLang="zh-CN" sz="2800" b="1">
                <a:solidFill>
                  <a:srgbClr val="FF3300"/>
                </a:solidFill>
                <a:effectLst>
                  <a:outerShdw blurRad="38100" dist="38100" dir="2700000" algn="tl">
                    <a:srgbClr val="000000"/>
                  </a:outerShdw>
                </a:effectLst>
                <a:latin typeface="楷体_GB2312" pitchFamily="49" charset="-122"/>
                <a:ea typeface="楷体_GB2312" pitchFamily="49" charset="-122"/>
              </a:rPr>
              <a:t>行地址</a:t>
            </a:r>
            <a:endParaRPr lang="zh-CN" altLang="en-US" sz="2800" b="1">
              <a:solidFill>
                <a:srgbClr val="FF3300"/>
              </a:solidFill>
              <a:effectLst>
                <a:outerShdw blurRad="38100" dist="38100" dir="2700000" algn="tl">
                  <a:srgbClr val="000000"/>
                </a:outerShdw>
              </a:effectLst>
              <a:latin typeface="楷体_GB2312" pitchFamily="49" charset="-122"/>
              <a:ea typeface="楷体_GB2312" pitchFamily="49" charset="-122"/>
            </a:endParaRPr>
          </a:p>
        </p:txBody>
      </p:sp>
      <p:sp>
        <p:nvSpPr>
          <p:cNvPr id="684091" name="Rectangle 59"/>
          <p:cNvSpPr>
            <a:spLocks noChangeArrowheads="1"/>
          </p:cNvSpPr>
          <p:nvPr/>
        </p:nvSpPr>
        <p:spPr bwMode="auto">
          <a:xfrm>
            <a:off x="538163" y="2205038"/>
            <a:ext cx="4033837" cy="1152525"/>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pPr>
            <a:r>
              <a:rPr kumimoji="1" lang="en-US" altLang="zh-CN" sz="2800" b="1">
                <a:solidFill>
                  <a:srgbClr val="000066"/>
                </a:solidFill>
                <a:effectLst/>
                <a:ea typeface="楷体_GB2312" pitchFamily="49" charset="-122"/>
              </a:rPr>
              <a:t>a + i </a:t>
            </a:r>
            <a:r>
              <a:rPr kumimoji="1" lang="zh-CN" altLang="zh-CN" sz="2800" b="1">
                <a:solidFill>
                  <a:srgbClr val="000066"/>
                </a:solidFill>
                <a:effectLst/>
                <a:latin typeface="楷体_GB2312" pitchFamily="49" charset="-122"/>
                <a:ea typeface="楷体_GB2312" pitchFamily="49" charset="-122"/>
              </a:rPr>
              <a:t>代表</a:t>
            </a:r>
            <a:r>
              <a:rPr kumimoji="1" lang="zh-CN" altLang="en-US" sz="2800" b="1">
                <a:solidFill>
                  <a:srgbClr val="000066"/>
                </a:solidFill>
                <a:effectLst/>
                <a:latin typeface="楷体_GB2312" pitchFamily="49" charset="-122"/>
                <a:ea typeface="楷体_GB2312" pitchFamily="49" charset="-122"/>
              </a:rPr>
              <a:t>第</a:t>
            </a:r>
            <a:r>
              <a:rPr kumimoji="1" lang="en-US" altLang="zh-CN" sz="2800" b="1">
                <a:solidFill>
                  <a:srgbClr val="000066"/>
                </a:solidFill>
                <a:effectLst/>
                <a:latin typeface="楷体_GB2312" pitchFamily="49" charset="-122"/>
                <a:ea typeface="楷体_GB2312" pitchFamily="49" charset="-122"/>
              </a:rPr>
              <a:t>i</a:t>
            </a:r>
            <a:r>
              <a:rPr kumimoji="1" lang="zh-CN" altLang="en-US" sz="2800" b="1">
                <a:solidFill>
                  <a:srgbClr val="000066"/>
                </a:solidFill>
                <a:effectLst/>
                <a:latin typeface="楷体_GB2312" pitchFamily="49" charset="-122"/>
                <a:ea typeface="楷体_GB2312" pitchFamily="49" charset="-122"/>
              </a:rPr>
              <a:t>行</a:t>
            </a:r>
            <a:r>
              <a:rPr kumimoji="1" lang="zh-CN" altLang="zh-CN" sz="2800" b="1">
                <a:solidFill>
                  <a:srgbClr val="000066"/>
                </a:solidFill>
                <a:effectLst/>
                <a:latin typeface="楷体_GB2312" pitchFamily="49" charset="-122"/>
                <a:ea typeface="楷体_GB2312" pitchFamily="49" charset="-122"/>
              </a:rPr>
              <a:t>的地址</a:t>
            </a:r>
            <a:endParaRPr kumimoji="1" lang="zh-CN" altLang="en-US" sz="2800" b="1">
              <a:solidFill>
                <a:srgbClr val="000066"/>
              </a:solidFill>
              <a:effectLst/>
              <a:latin typeface="楷体_GB2312" pitchFamily="49" charset="-122"/>
              <a:ea typeface="楷体_GB2312" pitchFamily="49" charset="-122"/>
            </a:endParaRPr>
          </a:p>
          <a:p>
            <a:pPr algn="ctr" eaLnBrk="1">
              <a:lnSpc>
                <a:spcPct val="95000"/>
              </a:lnSpc>
              <a:spcBef>
                <a:spcPct val="20000"/>
              </a:spcBef>
              <a:buClr>
                <a:srgbClr val="FFCC66"/>
              </a:buClr>
              <a:buSzPct val="80000"/>
              <a:buFont typeface="Monotype Sorts" charset="2"/>
              <a:buNone/>
            </a:pPr>
            <a:r>
              <a:rPr kumimoji="1" lang="zh-CN" altLang="en-US" sz="2800" b="1">
                <a:solidFill>
                  <a:srgbClr val="000066"/>
                </a:solidFill>
                <a:effectLst/>
                <a:latin typeface="楷体_GB2312" pitchFamily="49" charset="-122"/>
                <a:ea typeface="楷体_GB2312" pitchFamily="49" charset="-122"/>
              </a:rPr>
              <a:t>但并非增加</a:t>
            </a:r>
            <a:r>
              <a:rPr kumimoji="1" lang="en-US" altLang="zh-CN" sz="2800" b="1">
                <a:solidFill>
                  <a:srgbClr val="000066"/>
                </a:solidFill>
                <a:effectLst/>
                <a:latin typeface="楷体_GB2312" pitchFamily="49" charset="-122"/>
                <a:ea typeface="楷体_GB2312" pitchFamily="49" charset="-122"/>
              </a:rPr>
              <a:t>i</a:t>
            </a:r>
            <a:r>
              <a:rPr kumimoji="1" lang="zh-CN" altLang="en-US" sz="2800" b="1">
                <a:solidFill>
                  <a:srgbClr val="000066"/>
                </a:solidFill>
                <a:effectLst/>
                <a:latin typeface="楷体_GB2312" pitchFamily="49" charset="-122"/>
                <a:ea typeface="楷体_GB2312" pitchFamily="49" charset="-122"/>
              </a:rPr>
              <a:t>个字节！</a:t>
            </a:r>
            <a:endParaRPr lang="zh-CN" altLang="en-US" sz="2800" b="1">
              <a:solidFill>
                <a:srgbClr val="000066"/>
              </a:solidFill>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84090"/>
                                        </p:tgtEl>
                                        <p:attrNameLst>
                                          <p:attrName>style.visibility</p:attrName>
                                        </p:attrNameLst>
                                      </p:cBhvr>
                                      <p:to>
                                        <p:strVal val="visible"/>
                                      </p:to>
                                    </p:set>
                                    <p:anim calcmode="lin" valueType="num">
                                      <p:cBhvr>
                                        <p:cTn id="7" dur="500" fill="hold"/>
                                        <p:tgtEl>
                                          <p:spTgt spid="684090"/>
                                        </p:tgtEl>
                                        <p:attrNameLst>
                                          <p:attrName>ppt_w</p:attrName>
                                        </p:attrNameLst>
                                      </p:cBhvr>
                                      <p:tavLst>
                                        <p:tav tm="0">
                                          <p:val>
                                            <p:fltVal val="0"/>
                                          </p:val>
                                        </p:tav>
                                        <p:tav tm="100000">
                                          <p:val>
                                            <p:strVal val="#ppt_w"/>
                                          </p:val>
                                        </p:tav>
                                      </p:tavLst>
                                    </p:anim>
                                    <p:anim calcmode="lin" valueType="num">
                                      <p:cBhvr>
                                        <p:cTn id="8" dur="500" fill="hold"/>
                                        <p:tgtEl>
                                          <p:spTgt spid="684090"/>
                                        </p:tgtEl>
                                        <p:attrNameLst>
                                          <p:attrName>ppt_h</p:attrName>
                                        </p:attrNameLst>
                                      </p:cBhvr>
                                      <p:tavLst>
                                        <p:tav tm="0">
                                          <p:val>
                                            <p:fltVal val="0"/>
                                          </p:val>
                                        </p:tav>
                                        <p:tav tm="100000">
                                          <p:val>
                                            <p:strVal val="#ppt_h"/>
                                          </p:val>
                                        </p:tav>
                                      </p:tavLst>
                                    </p:anim>
                                    <p:animEffect transition="in" filter="fade">
                                      <p:cBhvr>
                                        <p:cTn id="9" dur="500"/>
                                        <p:tgtEl>
                                          <p:spTgt spid="6840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84091"/>
                                        </p:tgtEl>
                                        <p:attrNameLst>
                                          <p:attrName>style.visibility</p:attrName>
                                        </p:attrNameLst>
                                      </p:cBhvr>
                                      <p:to>
                                        <p:strVal val="visible"/>
                                      </p:to>
                                    </p:set>
                                    <p:anim calcmode="lin" valueType="num">
                                      <p:cBhvr>
                                        <p:cTn id="14" dur="500" fill="hold"/>
                                        <p:tgtEl>
                                          <p:spTgt spid="684091"/>
                                        </p:tgtEl>
                                        <p:attrNameLst>
                                          <p:attrName>ppt_w</p:attrName>
                                        </p:attrNameLst>
                                      </p:cBhvr>
                                      <p:tavLst>
                                        <p:tav tm="0">
                                          <p:val>
                                            <p:fltVal val="0"/>
                                          </p:val>
                                        </p:tav>
                                        <p:tav tm="100000">
                                          <p:val>
                                            <p:strVal val="#ppt_w"/>
                                          </p:val>
                                        </p:tav>
                                      </p:tavLst>
                                    </p:anim>
                                    <p:anim calcmode="lin" valueType="num">
                                      <p:cBhvr>
                                        <p:cTn id="15" dur="500" fill="hold"/>
                                        <p:tgtEl>
                                          <p:spTgt spid="684091"/>
                                        </p:tgtEl>
                                        <p:attrNameLst>
                                          <p:attrName>ppt_h</p:attrName>
                                        </p:attrNameLst>
                                      </p:cBhvr>
                                      <p:tavLst>
                                        <p:tav tm="0">
                                          <p:val>
                                            <p:fltVal val="0"/>
                                          </p:val>
                                        </p:tav>
                                        <p:tav tm="100000">
                                          <p:val>
                                            <p:strVal val="#ppt_h"/>
                                          </p:val>
                                        </p:tav>
                                      </p:tavLst>
                                    </p:anim>
                                    <p:animEffect transition="in" filter="fade">
                                      <p:cBhvr>
                                        <p:cTn id="16" dur="500"/>
                                        <p:tgtEl>
                                          <p:spTgt spid="684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90" grpId="0" animBg="1" autoUpdateAnimBg="0"/>
      <p:bldP spid="684091"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3"/>
          <p:cNvGrpSpPr>
            <a:grpSpLocks/>
          </p:cNvGrpSpPr>
          <p:nvPr/>
        </p:nvGrpSpPr>
        <p:grpSpPr bwMode="auto">
          <a:xfrm>
            <a:off x="7185025" y="2184400"/>
            <a:ext cx="1981200" cy="4572000"/>
            <a:chOff x="4512" y="336"/>
            <a:chExt cx="1248" cy="2880"/>
          </a:xfrm>
        </p:grpSpPr>
        <p:sp>
          <p:nvSpPr>
            <p:cNvPr id="15403" name="Text Box 4"/>
            <p:cNvSpPr txBox="1">
              <a:spLocks noChangeArrowheads="1"/>
            </p:cNvSpPr>
            <p:nvPr/>
          </p:nvSpPr>
          <p:spPr bwMode="auto">
            <a:xfrm>
              <a:off x="5210" y="645"/>
              <a:ext cx="550" cy="1371"/>
            </a:xfrm>
            <a:prstGeom prst="rect">
              <a:avLst/>
            </a:prstGeom>
            <a:noFill/>
            <a:ln w="12700" cap="sq">
              <a:noFill/>
              <a:miter lim="800000"/>
              <a:headEnd type="none" w="sm" len="sm"/>
              <a:tailEnd type="none" w="sm" len="sm"/>
            </a:ln>
          </p:spPr>
          <p:txBody>
            <a:bodyPr>
              <a:spAutoFit/>
            </a:bodyPr>
            <a:lstStyle/>
            <a:p>
              <a:pPr eaLnBrk="1" hangingPunct="1">
                <a:spcBef>
                  <a:spcPct val="10000"/>
                </a:spcBef>
              </a:pPr>
              <a:r>
                <a:rPr kumimoji="1" lang="en-US" altLang="zh-CN" sz="1800" b="1">
                  <a:effectLst/>
                  <a:ea typeface="宋体" charset="-122"/>
                </a:rPr>
                <a:t>a[0][0]</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a[0][1]</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a[0][2]</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a[1][0]</a:t>
              </a:r>
            </a:p>
          </p:txBody>
        </p:sp>
        <p:sp>
          <p:nvSpPr>
            <p:cNvPr id="15404" name="Text Box 5"/>
            <p:cNvSpPr txBox="1">
              <a:spLocks noChangeArrowheads="1"/>
            </p:cNvSpPr>
            <p:nvPr/>
          </p:nvSpPr>
          <p:spPr bwMode="auto">
            <a:xfrm>
              <a:off x="5210" y="2127"/>
              <a:ext cx="550" cy="801"/>
            </a:xfrm>
            <a:prstGeom prst="rect">
              <a:avLst/>
            </a:prstGeom>
            <a:noFill/>
            <a:ln w="12700" cap="sq">
              <a:noFill/>
              <a:miter lim="800000"/>
              <a:headEnd type="none" w="sm" len="sm"/>
              <a:tailEnd type="none" w="sm" len="sm"/>
            </a:ln>
          </p:spPr>
          <p:txBody>
            <a:bodyPr>
              <a:spAutoFit/>
            </a:bodyPr>
            <a:lstStyle/>
            <a:p>
              <a:pPr eaLnBrk="1" hangingPunct="1">
                <a:spcBef>
                  <a:spcPct val="10000"/>
                </a:spcBef>
              </a:pPr>
              <a:r>
                <a:rPr kumimoji="1" lang="en-US" altLang="zh-CN" sz="1800" b="1">
                  <a:effectLst/>
                  <a:ea typeface="宋体" charset="-122"/>
                </a:rPr>
                <a:t>a[1][1]</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a[1][2]</a:t>
              </a:r>
            </a:p>
            <a:p>
              <a:pPr eaLnBrk="1" hangingPunct="1">
                <a:spcBef>
                  <a:spcPct val="10000"/>
                </a:spcBef>
              </a:pPr>
              <a:endParaRPr kumimoji="1" lang="zh-CN" altLang="en-US" sz="1800" b="1">
                <a:effectLst/>
                <a:ea typeface="宋体" charset="-122"/>
              </a:endParaRPr>
            </a:p>
          </p:txBody>
        </p:sp>
        <p:grpSp>
          <p:nvGrpSpPr>
            <p:cNvPr id="3" name="Group 6"/>
            <p:cNvGrpSpPr>
              <a:grpSpLocks/>
            </p:cNvGrpSpPr>
            <p:nvPr/>
          </p:nvGrpSpPr>
          <p:grpSpPr bwMode="auto">
            <a:xfrm>
              <a:off x="4512" y="336"/>
              <a:ext cx="759" cy="2880"/>
              <a:chOff x="4512" y="336"/>
              <a:chExt cx="759" cy="2880"/>
            </a:xfrm>
          </p:grpSpPr>
          <p:grpSp>
            <p:nvGrpSpPr>
              <p:cNvPr id="4" name="Group 7"/>
              <p:cNvGrpSpPr>
                <a:grpSpLocks/>
              </p:cNvGrpSpPr>
              <p:nvPr/>
            </p:nvGrpSpPr>
            <p:grpSpPr bwMode="auto">
              <a:xfrm>
                <a:off x="4512" y="336"/>
                <a:ext cx="576" cy="1920"/>
                <a:chOff x="4752" y="576"/>
                <a:chExt cx="576" cy="1920"/>
              </a:xfrm>
            </p:grpSpPr>
            <p:sp>
              <p:nvSpPr>
                <p:cNvPr id="685064" name="Rectangle 8"/>
                <p:cNvSpPr>
                  <a:spLocks noChangeArrowheads="1"/>
                </p:cNvSpPr>
                <p:nvPr/>
              </p:nvSpPr>
              <p:spPr bwMode="auto">
                <a:xfrm>
                  <a:off x="4752" y="96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65" name="Rectangle 9"/>
                <p:cNvSpPr>
                  <a:spLocks noChangeArrowheads="1"/>
                </p:cNvSpPr>
                <p:nvPr/>
              </p:nvSpPr>
              <p:spPr bwMode="auto">
                <a:xfrm>
                  <a:off x="4752" y="115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66" name="Rectangle 10"/>
                <p:cNvSpPr>
                  <a:spLocks noChangeArrowheads="1"/>
                </p:cNvSpPr>
                <p:nvPr/>
              </p:nvSpPr>
              <p:spPr bwMode="auto">
                <a:xfrm>
                  <a:off x="4752" y="134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67" name="Rectangle 11"/>
                <p:cNvSpPr>
                  <a:spLocks noChangeArrowheads="1"/>
                </p:cNvSpPr>
                <p:nvPr/>
              </p:nvSpPr>
              <p:spPr bwMode="auto">
                <a:xfrm>
                  <a:off x="4752" y="153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68" name="Rectangle 12"/>
                <p:cNvSpPr>
                  <a:spLocks noChangeArrowheads="1"/>
                </p:cNvSpPr>
                <p:nvPr/>
              </p:nvSpPr>
              <p:spPr bwMode="auto">
                <a:xfrm>
                  <a:off x="4752" y="172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69" name="Rectangle 13"/>
                <p:cNvSpPr>
                  <a:spLocks noChangeArrowheads="1"/>
                </p:cNvSpPr>
                <p:nvPr/>
              </p:nvSpPr>
              <p:spPr bwMode="auto">
                <a:xfrm>
                  <a:off x="4752" y="192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70" name="Rectangle 14"/>
                <p:cNvSpPr>
                  <a:spLocks noChangeArrowheads="1"/>
                </p:cNvSpPr>
                <p:nvPr/>
              </p:nvSpPr>
              <p:spPr bwMode="auto">
                <a:xfrm>
                  <a:off x="4752" y="211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71" name="Rectangle 15"/>
                <p:cNvSpPr>
                  <a:spLocks noChangeArrowheads="1"/>
                </p:cNvSpPr>
                <p:nvPr/>
              </p:nvSpPr>
              <p:spPr bwMode="auto">
                <a:xfrm>
                  <a:off x="4752" y="230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72" name="Rectangle 16"/>
                <p:cNvSpPr>
                  <a:spLocks noChangeArrowheads="1"/>
                </p:cNvSpPr>
                <p:nvPr/>
              </p:nvSpPr>
              <p:spPr bwMode="auto">
                <a:xfrm>
                  <a:off x="4752" y="76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73" name="Rectangle 17"/>
                <p:cNvSpPr>
                  <a:spLocks noChangeArrowheads="1"/>
                </p:cNvSpPr>
                <p:nvPr/>
              </p:nvSpPr>
              <p:spPr bwMode="auto">
                <a:xfrm>
                  <a:off x="4752" y="57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sp>
            <p:nvSpPr>
              <p:cNvPr id="685074" name="AutoShape 18"/>
              <p:cNvSpPr>
                <a:spLocks/>
              </p:cNvSpPr>
              <p:nvPr/>
            </p:nvSpPr>
            <p:spPr bwMode="auto">
              <a:xfrm>
                <a:off x="5088" y="609"/>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5075" name="AutoShape 19"/>
              <p:cNvSpPr>
                <a:spLocks/>
              </p:cNvSpPr>
              <p:nvPr/>
            </p:nvSpPr>
            <p:spPr bwMode="auto">
              <a:xfrm>
                <a:off x="5088" y="993"/>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5076" name="AutoShape 20"/>
              <p:cNvSpPr>
                <a:spLocks/>
              </p:cNvSpPr>
              <p:nvPr/>
            </p:nvSpPr>
            <p:spPr bwMode="auto">
              <a:xfrm>
                <a:off x="5088" y="1377"/>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5077" name="AutoShape 21"/>
              <p:cNvSpPr>
                <a:spLocks/>
              </p:cNvSpPr>
              <p:nvPr/>
            </p:nvSpPr>
            <p:spPr bwMode="auto">
              <a:xfrm>
                <a:off x="5088" y="1750"/>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5078" name="Rectangle 22"/>
              <p:cNvSpPr>
                <a:spLocks noChangeArrowheads="1"/>
              </p:cNvSpPr>
              <p:nvPr/>
            </p:nvSpPr>
            <p:spPr bwMode="auto">
              <a:xfrm>
                <a:off x="4512" y="264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79" name="Rectangle 23"/>
              <p:cNvSpPr>
                <a:spLocks noChangeArrowheads="1"/>
              </p:cNvSpPr>
              <p:nvPr/>
            </p:nvSpPr>
            <p:spPr bwMode="auto">
              <a:xfrm>
                <a:off x="4512" y="283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80" name="Rectangle 24"/>
              <p:cNvSpPr>
                <a:spLocks noChangeArrowheads="1"/>
              </p:cNvSpPr>
              <p:nvPr/>
            </p:nvSpPr>
            <p:spPr bwMode="auto">
              <a:xfrm>
                <a:off x="4512" y="302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81" name="Rectangle 25"/>
              <p:cNvSpPr>
                <a:spLocks noChangeArrowheads="1"/>
              </p:cNvSpPr>
              <p:nvPr/>
            </p:nvSpPr>
            <p:spPr bwMode="auto">
              <a:xfrm>
                <a:off x="4512" y="244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82" name="Rectangle 26"/>
              <p:cNvSpPr>
                <a:spLocks noChangeArrowheads="1"/>
              </p:cNvSpPr>
              <p:nvPr/>
            </p:nvSpPr>
            <p:spPr bwMode="auto">
              <a:xfrm>
                <a:off x="4512" y="225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5083" name="AutoShape 27"/>
              <p:cNvSpPr>
                <a:spLocks/>
              </p:cNvSpPr>
              <p:nvPr/>
            </p:nvSpPr>
            <p:spPr bwMode="auto">
              <a:xfrm>
                <a:off x="5088" y="2119"/>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5084" name="AutoShape 28"/>
              <p:cNvSpPr>
                <a:spLocks/>
              </p:cNvSpPr>
              <p:nvPr/>
            </p:nvSpPr>
            <p:spPr bwMode="auto">
              <a:xfrm>
                <a:off x="5088" y="2503"/>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grpSp>
      </p:grpSp>
      <p:sp>
        <p:nvSpPr>
          <p:cNvPr id="685085" name="Line 29"/>
          <p:cNvSpPr>
            <a:spLocks noChangeShapeType="1"/>
          </p:cNvSpPr>
          <p:nvPr/>
        </p:nvSpPr>
        <p:spPr bwMode="auto">
          <a:xfrm>
            <a:off x="6742113" y="26035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5086" name="Text Box 30"/>
          <p:cNvSpPr txBox="1">
            <a:spLocks noChangeArrowheads="1"/>
          </p:cNvSpPr>
          <p:nvPr/>
        </p:nvSpPr>
        <p:spPr bwMode="auto">
          <a:xfrm>
            <a:off x="5795963" y="2457450"/>
            <a:ext cx="692150" cy="366713"/>
          </a:xfrm>
          <a:prstGeom prst="rect">
            <a:avLst/>
          </a:prstGeom>
          <a:noFill/>
          <a:ln w="28575" cap="sq">
            <a:noFill/>
            <a:miter lim="800000"/>
            <a:headEnd/>
            <a:tailEnd/>
          </a:ln>
          <a:effectLst/>
        </p:spPr>
        <p:txBody>
          <a:bodyPr wrap="none"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a[0]</a:t>
            </a:r>
          </a:p>
        </p:txBody>
      </p:sp>
      <p:sp>
        <p:nvSpPr>
          <p:cNvPr id="685087" name="Line 31"/>
          <p:cNvSpPr>
            <a:spLocks noChangeShapeType="1"/>
          </p:cNvSpPr>
          <p:nvPr/>
        </p:nvSpPr>
        <p:spPr bwMode="auto">
          <a:xfrm>
            <a:off x="6742113" y="44323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5088" name="Text Box 32"/>
          <p:cNvSpPr txBox="1">
            <a:spLocks noChangeArrowheads="1"/>
          </p:cNvSpPr>
          <p:nvPr/>
        </p:nvSpPr>
        <p:spPr bwMode="auto">
          <a:xfrm>
            <a:off x="5603875" y="4343400"/>
            <a:ext cx="1052513" cy="366713"/>
          </a:xfrm>
          <a:prstGeom prst="rect">
            <a:avLst/>
          </a:prstGeom>
          <a:noFill/>
          <a:ln w="28575" cap="sq">
            <a:noFill/>
            <a:miter lim="800000"/>
            <a:headEnd/>
            <a:tailEnd/>
          </a:ln>
          <a:effectLst/>
        </p:spPr>
        <p:txBody>
          <a:bodyPr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a[1]</a:t>
            </a:r>
          </a:p>
        </p:txBody>
      </p:sp>
      <p:sp>
        <p:nvSpPr>
          <p:cNvPr id="685089" name="Line 33"/>
          <p:cNvSpPr>
            <a:spLocks noChangeShapeType="1"/>
          </p:cNvSpPr>
          <p:nvPr/>
        </p:nvSpPr>
        <p:spPr bwMode="auto">
          <a:xfrm>
            <a:off x="6742113" y="32131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5090" name="Line 34"/>
          <p:cNvSpPr>
            <a:spLocks noChangeShapeType="1"/>
          </p:cNvSpPr>
          <p:nvPr/>
        </p:nvSpPr>
        <p:spPr bwMode="auto">
          <a:xfrm>
            <a:off x="6742113" y="38227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5091" name="Text Box 35"/>
          <p:cNvSpPr txBox="1">
            <a:spLocks noChangeArrowheads="1"/>
          </p:cNvSpPr>
          <p:nvPr/>
        </p:nvSpPr>
        <p:spPr bwMode="auto">
          <a:xfrm>
            <a:off x="4465638" y="2395538"/>
            <a:ext cx="1301750" cy="457200"/>
          </a:xfrm>
          <a:prstGeom prst="rect">
            <a:avLst/>
          </a:prstGeom>
          <a:noFill/>
          <a:ln w="12700" cap="sq">
            <a:noFill/>
            <a:miter lim="800000"/>
            <a:headEnd type="none" w="sm" len="sm"/>
            <a:tailEnd type="none" w="sm" len="sm"/>
          </a:ln>
          <a:effectLst/>
        </p:spPr>
        <p:txBody>
          <a:bodyPr wrap="none" anchor="ctr">
            <a:spAutoFit/>
          </a:bodyPr>
          <a:lstStyle/>
          <a:p>
            <a:pPr algn="ctr" eaLnBrk="1" hangingPunct="1">
              <a:defRPr/>
            </a:pPr>
            <a:r>
              <a:rPr kumimoji="1" lang="en-US" altLang="zh-CN" b="1">
                <a:solidFill>
                  <a:srgbClr val="000066"/>
                </a:solidFill>
                <a:effectLst>
                  <a:outerShdw blurRad="38100" dist="38100" dir="2700000" algn="tl">
                    <a:srgbClr val="C0C0C0"/>
                  </a:outerShdw>
                </a:effectLst>
                <a:ea typeface="宋体" pitchFamily="2" charset="-122"/>
              </a:rPr>
              <a:t>&amp;</a:t>
            </a:r>
            <a:r>
              <a:rPr kumimoji="1" lang="en-US" altLang="zh-CN" b="1">
                <a:solidFill>
                  <a:srgbClr val="880000"/>
                </a:solidFill>
                <a:effectLst>
                  <a:outerShdw blurRad="38100" dist="38100" dir="2700000" algn="tl">
                    <a:srgbClr val="C0C0C0"/>
                  </a:outerShdw>
                </a:effectLst>
                <a:ea typeface="宋体" pitchFamily="2" charset="-122"/>
              </a:rPr>
              <a:t>a[0]</a:t>
            </a:r>
            <a:r>
              <a:rPr kumimoji="1" lang="en-US" altLang="zh-CN" b="1">
                <a:solidFill>
                  <a:srgbClr val="000066"/>
                </a:solidFill>
                <a:effectLst>
                  <a:outerShdw blurRad="38100" dist="38100" dir="2700000" algn="tl">
                    <a:srgbClr val="C0C0C0"/>
                  </a:outerShdw>
                </a:effectLst>
                <a:ea typeface="宋体" pitchFamily="2" charset="-122"/>
              </a:rPr>
              <a:t>[0]</a:t>
            </a:r>
          </a:p>
        </p:txBody>
      </p:sp>
      <p:sp>
        <p:nvSpPr>
          <p:cNvPr id="685092" name="Text Box 36"/>
          <p:cNvSpPr txBox="1">
            <a:spLocks noChangeArrowheads="1"/>
          </p:cNvSpPr>
          <p:nvPr/>
        </p:nvSpPr>
        <p:spPr bwMode="auto">
          <a:xfrm>
            <a:off x="4465638" y="4267200"/>
            <a:ext cx="1301750" cy="457200"/>
          </a:xfrm>
          <a:prstGeom prst="rect">
            <a:avLst/>
          </a:prstGeom>
          <a:noFill/>
          <a:ln w="12700" cap="sq">
            <a:noFill/>
            <a:miter lim="800000"/>
            <a:headEnd type="none" w="sm" len="sm"/>
            <a:tailEnd type="none" w="sm" len="sm"/>
          </a:ln>
          <a:effectLst/>
        </p:spPr>
        <p:txBody>
          <a:bodyPr wrap="none" anchor="ctr">
            <a:spAutoFit/>
          </a:bodyPr>
          <a:lstStyle/>
          <a:p>
            <a:pPr algn="ctr" eaLnBrk="1" hangingPunct="1">
              <a:defRPr/>
            </a:pPr>
            <a:r>
              <a:rPr kumimoji="1" lang="en-US" altLang="zh-CN" b="1">
                <a:solidFill>
                  <a:srgbClr val="000066"/>
                </a:solidFill>
                <a:effectLst>
                  <a:outerShdw blurRad="38100" dist="38100" dir="2700000" algn="tl">
                    <a:srgbClr val="C0C0C0"/>
                  </a:outerShdw>
                </a:effectLst>
                <a:ea typeface="宋体" pitchFamily="2" charset="-122"/>
              </a:rPr>
              <a:t>&amp;</a:t>
            </a:r>
            <a:r>
              <a:rPr kumimoji="1" lang="en-US" altLang="zh-CN" b="1">
                <a:solidFill>
                  <a:srgbClr val="880000"/>
                </a:solidFill>
                <a:effectLst>
                  <a:outerShdw blurRad="38100" dist="38100" dir="2700000" algn="tl">
                    <a:srgbClr val="C0C0C0"/>
                  </a:outerShdw>
                </a:effectLst>
                <a:ea typeface="宋体" pitchFamily="2" charset="-122"/>
              </a:rPr>
              <a:t>a[1]</a:t>
            </a:r>
            <a:r>
              <a:rPr kumimoji="1" lang="en-US" altLang="zh-CN" b="1">
                <a:solidFill>
                  <a:srgbClr val="000066"/>
                </a:solidFill>
                <a:effectLst>
                  <a:outerShdw blurRad="38100" dist="38100" dir="2700000" algn="tl">
                    <a:srgbClr val="C0C0C0"/>
                  </a:outerShdw>
                </a:effectLst>
                <a:ea typeface="宋体" pitchFamily="2" charset="-122"/>
              </a:rPr>
              <a:t>[0]</a:t>
            </a:r>
          </a:p>
        </p:txBody>
      </p:sp>
      <p:sp>
        <p:nvSpPr>
          <p:cNvPr id="685093" name="Line 37"/>
          <p:cNvSpPr>
            <a:spLocks noChangeShapeType="1"/>
          </p:cNvSpPr>
          <p:nvPr/>
        </p:nvSpPr>
        <p:spPr bwMode="auto">
          <a:xfrm>
            <a:off x="6742113" y="5013325"/>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grpSp>
        <p:nvGrpSpPr>
          <p:cNvPr id="5" name="Group 38"/>
          <p:cNvGrpSpPr>
            <a:grpSpLocks/>
          </p:cNvGrpSpPr>
          <p:nvPr/>
        </p:nvGrpSpPr>
        <p:grpSpPr bwMode="auto">
          <a:xfrm>
            <a:off x="-1116013" y="3724275"/>
            <a:ext cx="5181601" cy="2225675"/>
            <a:chOff x="336" y="1093"/>
            <a:chExt cx="3264" cy="1402"/>
          </a:xfrm>
        </p:grpSpPr>
        <p:grpSp>
          <p:nvGrpSpPr>
            <p:cNvPr id="6" name="Group 39"/>
            <p:cNvGrpSpPr>
              <a:grpSpLocks/>
            </p:cNvGrpSpPr>
            <p:nvPr/>
          </p:nvGrpSpPr>
          <p:grpSpPr bwMode="auto">
            <a:xfrm>
              <a:off x="336" y="1093"/>
              <a:ext cx="3264" cy="1402"/>
              <a:chOff x="336" y="1105"/>
              <a:chExt cx="3264" cy="1402"/>
            </a:xfrm>
          </p:grpSpPr>
          <p:sp>
            <p:nvSpPr>
              <p:cNvPr id="15401" name="Rectangle 40"/>
              <p:cNvSpPr>
                <a:spLocks noChangeArrowheads="1"/>
              </p:cNvSpPr>
              <p:nvPr/>
            </p:nvSpPr>
            <p:spPr bwMode="auto">
              <a:xfrm>
                <a:off x="768" y="1105"/>
                <a:ext cx="2832" cy="1402"/>
              </a:xfrm>
              <a:prstGeom prst="rect">
                <a:avLst/>
              </a:prstGeom>
              <a:noFill/>
              <a:ln w="19050">
                <a:noFill/>
                <a:miter lim="800000"/>
                <a:headEnd/>
                <a:tailEnd/>
              </a:ln>
            </p:spPr>
            <p:txBody>
              <a:bodyPr anchor="ctr">
                <a:spAutoFit/>
              </a:bodyPr>
              <a:lstStyle/>
              <a:p>
                <a:pPr eaLnBrk="1" hangingPunct="1"/>
                <a:r>
                  <a:rPr kumimoji="1" lang="zh-CN" altLang="en-US" sz="2000" b="1">
                    <a:solidFill>
                      <a:schemeClr val="accent2"/>
                    </a:solidFill>
                    <a:effectLst/>
                    <a:ea typeface="宋体" charset="-122"/>
                  </a:rPr>
                  <a:t>		</a:t>
                </a:r>
              </a:p>
              <a:p>
                <a:pPr eaLnBrk="1" hangingPunct="1"/>
                <a:r>
                  <a:rPr kumimoji="1" lang="zh-CN" altLang="zh-CN" sz="2000" b="1">
                    <a:solidFill>
                      <a:schemeClr val="tx2"/>
                    </a:solidFill>
                    <a:effectLst/>
                    <a:ea typeface="宋体" charset="-122"/>
                  </a:rPr>
                  <a:t>	     		</a:t>
                </a:r>
                <a:r>
                  <a:rPr kumimoji="1" lang="en-US" altLang="zh-CN" sz="2000" b="1">
                    <a:solidFill>
                      <a:schemeClr val="tx2"/>
                    </a:solidFill>
                    <a:effectLst/>
                    <a:ea typeface="宋体" charset="-122"/>
                  </a:rPr>
                  <a:t>a[0][0]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a[0]</a:t>
                </a:r>
                <a:r>
                  <a:rPr kumimoji="1" lang="en-US" altLang="zh-CN" sz="2000" b="1">
                    <a:solidFill>
                      <a:schemeClr val="tx2"/>
                    </a:solidFill>
                    <a:effectLst/>
                    <a:ea typeface="宋体" charset="-122"/>
                  </a:rPr>
                  <a:t>	a[0][1]	</a:t>
                </a:r>
              </a:p>
              <a:p>
                <a:pPr eaLnBrk="1" hangingPunct="1"/>
                <a:r>
                  <a:rPr kumimoji="1" lang="en-US" altLang="zh-CN" sz="2000" b="1">
                    <a:solidFill>
                      <a:schemeClr val="tx2"/>
                    </a:solidFill>
                    <a:effectLst/>
                    <a:ea typeface="宋体" charset="-122"/>
                  </a:rPr>
                  <a:t>			a[0][2]	</a:t>
                </a:r>
              </a:p>
              <a:p>
                <a:pPr eaLnBrk="1" hangingPunct="1"/>
                <a:r>
                  <a:rPr kumimoji="1" lang="en-US" altLang="zh-CN" sz="2000" b="1">
                    <a:solidFill>
                      <a:schemeClr val="tx2"/>
                    </a:solidFill>
                    <a:effectLst/>
                    <a:ea typeface="宋体" charset="-122"/>
                  </a:rPr>
                  <a:t>			a[1][0]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a[1]</a:t>
                </a:r>
                <a:r>
                  <a:rPr kumimoji="1" lang="en-US" altLang="zh-CN" sz="2000" b="1">
                    <a:solidFill>
                      <a:schemeClr val="tx2"/>
                    </a:solidFill>
                    <a:effectLst/>
                    <a:ea typeface="宋体" charset="-122"/>
                  </a:rPr>
                  <a:t> 	a[1][1]	</a:t>
                </a:r>
              </a:p>
              <a:p>
                <a:pPr eaLnBrk="1" hangingPunct="1"/>
                <a:r>
                  <a:rPr kumimoji="1" lang="en-US" altLang="zh-CN" sz="2000" b="1">
                    <a:solidFill>
                      <a:schemeClr val="tx2"/>
                    </a:solidFill>
                    <a:effectLst/>
                    <a:ea typeface="宋体" charset="-122"/>
                  </a:rPr>
                  <a:t>			a[1][2]	</a:t>
                </a:r>
              </a:p>
            </p:txBody>
          </p:sp>
          <p:sp>
            <p:nvSpPr>
              <p:cNvPr id="15402" name="Rectangle 41"/>
              <p:cNvSpPr>
                <a:spLocks noChangeArrowheads="1"/>
              </p:cNvSpPr>
              <p:nvPr/>
            </p:nvSpPr>
            <p:spPr bwMode="auto">
              <a:xfrm>
                <a:off x="336" y="1565"/>
                <a:ext cx="1236" cy="711"/>
              </a:xfrm>
              <a:prstGeom prst="rect">
                <a:avLst/>
              </a:prstGeom>
              <a:noFill/>
              <a:ln w="28575" cap="sq">
                <a:noFill/>
                <a:miter lim="800000"/>
                <a:headEnd/>
                <a:tailEnd/>
              </a:ln>
            </p:spPr>
            <p:txBody>
              <a:bodyPr anchor="ctr">
                <a:spAutoFit/>
              </a:bodyPr>
              <a:lstStyle/>
              <a:p>
                <a:pPr eaLnBrk="1" hangingPunct="1"/>
                <a:r>
                  <a:rPr kumimoji="1" lang="en-US" altLang="zh-CN" sz="2000" b="1">
                    <a:solidFill>
                      <a:schemeClr val="tx2"/>
                    </a:solidFill>
                    <a:effectLst/>
                    <a:latin typeface="Courier New" pitchFamily="49" charset="0"/>
                    <a:ea typeface="宋体" charset="-122"/>
                  </a:rPr>
                  <a:t>                           </a:t>
                </a:r>
              </a:p>
              <a:p>
                <a:pPr eaLnBrk="1" hangingPunct="1"/>
                <a:r>
                  <a:rPr kumimoji="1" lang="en-US" altLang="zh-CN" sz="2000" b="1">
                    <a:solidFill>
                      <a:schemeClr val="tx2"/>
                    </a:solidFill>
                    <a:effectLst/>
                    <a:latin typeface="Courier New" pitchFamily="49" charset="0"/>
                    <a:ea typeface="宋体" charset="-122"/>
                  </a:rPr>
                  <a:t>          </a:t>
                </a:r>
                <a:r>
                  <a:rPr kumimoji="1" lang="en-US" altLang="zh-CN" sz="2800" b="1">
                    <a:solidFill>
                      <a:schemeClr val="tx2"/>
                    </a:solidFill>
                    <a:effectLst/>
                    <a:latin typeface="Courier New" pitchFamily="49" charset="0"/>
                    <a:ea typeface="宋体" charset="-122"/>
                  </a:rPr>
                  <a:t>a</a:t>
                </a:r>
              </a:p>
              <a:p>
                <a:pPr eaLnBrk="1" hangingPunct="1"/>
                <a:r>
                  <a:rPr kumimoji="1" lang="en-US" altLang="zh-CN" sz="2000" b="1">
                    <a:solidFill>
                      <a:schemeClr val="tx2"/>
                    </a:solidFill>
                    <a:effectLst/>
                    <a:latin typeface="Courier New" pitchFamily="49" charset="0"/>
                    <a:ea typeface="宋体" charset="-122"/>
                  </a:rPr>
                  <a:t>          </a:t>
                </a:r>
              </a:p>
            </p:txBody>
          </p:sp>
        </p:grpSp>
        <p:grpSp>
          <p:nvGrpSpPr>
            <p:cNvPr id="7" name="Group 42"/>
            <p:cNvGrpSpPr>
              <a:grpSpLocks/>
            </p:cNvGrpSpPr>
            <p:nvPr/>
          </p:nvGrpSpPr>
          <p:grpSpPr bwMode="auto">
            <a:xfrm>
              <a:off x="1728" y="1441"/>
              <a:ext cx="768" cy="970"/>
              <a:chOff x="1728" y="1441"/>
              <a:chExt cx="768" cy="970"/>
            </a:xfrm>
          </p:grpSpPr>
          <p:sp>
            <p:nvSpPr>
              <p:cNvPr id="685099" name="AutoShape 43"/>
              <p:cNvSpPr>
                <a:spLocks/>
              </p:cNvSpPr>
              <p:nvPr/>
            </p:nvSpPr>
            <p:spPr bwMode="auto">
              <a:xfrm>
                <a:off x="1728" y="1633"/>
                <a:ext cx="192" cy="62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00" name="AutoShape 44"/>
              <p:cNvSpPr>
                <a:spLocks/>
              </p:cNvSpPr>
              <p:nvPr/>
            </p:nvSpPr>
            <p:spPr bwMode="auto">
              <a:xfrm>
                <a:off x="2304" y="1441"/>
                <a:ext cx="192" cy="38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01" name="AutoShape 45"/>
              <p:cNvSpPr>
                <a:spLocks/>
              </p:cNvSpPr>
              <p:nvPr/>
            </p:nvSpPr>
            <p:spPr bwMode="auto">
              <a:xfrm>
                <a:off x="2304" y="2017"/>
                <a:ext cx="192" cy="39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grpSp>
      <p:sp>
        <p:nvSpPr>
          <p:cNvPr id="685102" name="Line 46"/>
          <p:cNvSpPr>
            <a:spLocks noChangeShapeType="1"/>
          </p:cNvSpPr>
          <p:nvPr/>
        </p:nvSpPr>
        <p:spPr bwMode="auto">
          <a:xfrm>
            <a:off x="6732588" y="56769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5103" name="Rectangle 47"/>
          <p:cNvSpPr>
            <a:spLocks noChangeArrowheads="1"/>
          </p:cNvSpPr>
          <p:nvPr/>
        </p:nvSpPr>
        <p:spPr bwMode="auto">
          <a:xfrm>
            <a:off x="827088" y="3357563"/>
            <a:ext cx="2740025" cy="457200"/>
          </a:xfrm>
          <a:prstGeom prst="rect">
            <a:avLst/>
          </a:prstGeom>
          <a:noFill/>
          <a:ln w="12700">
            <a:noFill/>
            <a:miter lim="800000"/>
            <a:headEnd type="none" w="sm" len="sm"/>
            <a:tailEnd type="none" w="sm" len="sm"/>
          </a:ln>
          <a:effectLst/>
        </p:spPr>
        <p:txBody>
          <a:bodyPr wrap="none">
            <a:spAutoFit/>
          </a:bodyPr>
          <a:lstStyle/>
          <a:p>
            <a:pPr>
              <a:defRPr/>
            </a:pPr>
            <a:r>
              <a:rPr kumimoji="1" lang="en-US" altLang="zh-CN" b="1">
                <a:solidFill>
                  <a:schemeClr val="accent2"/>
                </a:solidFill>
                <a:effectLst>
                  <a:outerShdw blurRad="38100" dist="38100" dir="2700000" algn="tl">
                    <a:srgbClr val="C0C0C0"/>
                  </a:outerShdw>
                </a:effectLst>
                <a:latin typeface="Courier New" pitchFamily="49" charset="0"/>
                <a:ea typeface="宋体" pitchFamily="2" charset="-122"/>
              </a:rPr>
              <a:t>short</a:t>
            </a:r>
            <a:r>
              <a:rPr kumimoji="1" lang="en-US" altLang="zh-CN" b="1">
                <a:solidFill>
                  <a:schemeClr val="tx2"/>
                </a:solidFill>
                <a:effectLst/>
                <a:latin typeface="Courier New" pitchFamily="49" charset="0"/>
                <a:ea typeface="宋体" pitchFamily="2" charset="-122"/>
              </a:rPr>
              <a:t> a[2][3];</a:t>
            </a:r>
            <a:endParaRPr kumimoji="1" lang="zh-CN" altLang="en-US" b="1">
              <a:solidFill>
                <a:schemeClr val="tx2"/>
              </a:solidFill>
              <a:effectLst/>
              <a:latin typeface="Courier New" pitchFamily="49" charset="0"/>
              <a:ea typeface="宋体" pitchFamily="2" charset="-122"/>
            </a:endParaRPr>
          </a:p>
        </p:txBody>
      </p:sp>
      <p:sp>
        <p:nvSpPr>
          <p:cNvPr id="685104" name="Line 48"/>
          <p:cNvSpPr>
            <a:spLocks noChangeShapeType="1"/>
          </p:cNvSpPr>
          <p:nvPr/>
        </p:nvSpPr>
        <p:spPr bwMode="auto">
          <a:xfrm>
            <a:off x="7181850" y="4321175"/>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5105" name="Line 49"/>
          <p:cNvSpPr>
            <a:spLocks noChangeShapeType="1"/>
          </p:cNvSpPr>
          <p:nvPr/>
        </p:nvSpPr>
        <p:spPr bwMode="auto">
          <a:xfrm>
            <a:off x="7172325" y="6151563"/>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5106" name="Line 50"/>
          <p:cNvSpPr>
            <a:spLocks noChangeShapeType="1"/>
          </p:cNvSpPr>
          <p:nvPr/>
        </p:nvSpPr>
        <p:spPr bwMode="auto">
          <a:xfrm>
            <a:off x="7172325" y="2492375"/>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5107" name="Rectangle 51"/>
          <p:cNvSpPr>
            <a:spLocks noChangeArrowheads="1"/>
          </p:cNvSpPr>
          <p:nvPr/>
        </p:nvSpPr>
        <p:spPr bwMode="auto">
          <a:xfrm>
            <a:off x="7192963" y="2492375"/>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08" name="Rectangle 52"/>
          <p:cNvSpPr>
            <a:spLocks noChangeArrowheads="1"/>
          </p:cNvSpPr>
          <p:nvPr/>
        </p:nvSpPr>
        <p:spPr bwMode="auto">
          <a:xfrm>
            <a:off x="7192963" y="3111500"/>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09" name="Rectangle 53"/>
          <p:cNvSpPr>
            <a:spLocks noChangeArrowheads="1"/>
          </p:cNvSpPr>
          <p:nvPr/>
        </p:nvSpPr>
        <p:spPr bwMode="auto">
          <a:xfrm>
            <a:off x="7192963" y="3716338"/>
            <a:ext cx="900112" cy="611187"/>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0" name="Rectangle 54"/>
          <p:cNvSpPr>
            <a:spLocks noChangeArrowheads="1"/>
          </p:cNvSpPr>
          <p:nvPr/>
        </p:nvSpPr>
        <p:spPr bwMode="auto">
          <a:xfrm>
            <a:off x="7192963" y="4330700"/>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1" name="Rectangle 55"/>
          <p:cNvSpPr>
            <a:spLocks noChangeArrowheads="1"/>
          </p:cNvSpPr>
          <p:nvPr/>
        </p:nvSpPr>
        <p:spPr bwMode="auto">
          <a:xfrm>
            <a:off x="7192963" y="4949825"/>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2" name="Rectangle 56"/>
          <p:cNvSpPr>
            <a:spLocks noChangeArrowheads="1"/>
          </p:cNvSpPr>
          <p:nvPr/>
        </p:nvSpPr>
        <p:spPr bwMode="auto">
          <a:xfrm>
            <a:off x="7192963" y="5554663"/>
            <a:ext cx="900112" cy="611187"/>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3" name="AutoShape 57"/>
          <p:cNvSpPr>
            <a:spLocks/>
          </p:cNvSpPr>
          <p:nvPr/>
        </p:nvSpPr>
        <p:spPr bwMode="auto">
          <a:xfrm>
            <a:off x="6530975" y="2565400"/>
            <a:ext cx="217488" cy="1727200"/>
          </a:xfrm>
          <a:prstGeom prst="leftBrace">
            <a:avLst>
              <a:gd name="adj1" fmla="val 66180"/>
              <a:gd name="adj2" fmla="val 50000"/>
            </a:avLst>
          </a:prstGeom>
          <a:noFill/>
          <a:ln w="53975">
            <a:solidFill>
              <a:srgbClr val="FF0000"/>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4" name="AutoShape 58"/>
          <p:cNvSpPr>
            <a:spLocks/>
          </p:cNvSpPr>
          <p:nvPr/>
        </p:nvSpPr>
        <p:spPr bwMode="auto">
          <a:xfrm>
            <a:off x="6516688" y="4351338"/>
            <a:ext cx="217487" cy="1727200"/>
          </a:xfrm>
          <a:prstGeom prst="leftBrace">
            <a:avLst>
              <a:gd name="adj1" fmla="val 66180"/>
              <a:gd name="adj2" fmla="val 50000"/>
            </a:avLst>
          </a:prstGeom>
          <a:noFill/>
          <a:ln w="53975">
            <a:solidFill>
              <a:srgbClr val="FF0000"/>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5" name="Rectangle 59"/>
          <p:cNvSpPr>
            <a:spLocks noChangeArrowheads="1"/>
          </p:cNvSpPr>
          <p:nvPr/>
        </p:nvSpPr>
        <p:spPr bwMode="auto">
          <a:xfrm>
            <a:off x="1390650" y="4076700"/>
            <a:ext cx="1885950" cy="9366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6" name="Rectangle 60"/>
          <p:cNvSpPr>
            <a:spLocks noChangeArrowheads="1"/>
          </p:cNvSpPr>
          <p:nvPr/>
        </p:nvSpPr>
        <p:spPr bwMode="auto">
          <a:xfrm>
            <a:off x="1390650" y="5013325"/>
            <a:ext cx="1885950" cy="9366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5117" name="Rectangle 61"/>
          <p:cNvSpPr>
            <a:spLocks noChangeArrowheads="1"/>
          </p:cNvSpPr>
          <p:nvPr/>
        </p:nvSpPr>
        <p:spPr bwMode="auto">
          <a:xfrm>
            <a:off x="539750" y="1341438"/>
            <a:ext cx="7632700" cy="646112"/>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defRPr/>
            </a:pPr>
            <a:r>
              <a:rPr lang="zh-CN" altLang="en-US" sz="2800" b="1">
                <a:solidFill>
                  <a:srgbClr val="000066"/>
                </a:solidFill>
                <a:effectLst/>
                <a:ea typeface="楷体_GB2312" pitchFamily="49" charset="-122"/>
              </a:rPr>
              <a:t>*</a:t>
            </a:r>
            <a:r>
              <a:rPr lang="en-US" altLang="zh-CN" sz="2800" b="1">
                <a:solidFill>
                  <a:srgbClr val="000066"/>
                </a:solidFill>
                <a:effectLst/>
                <a:ea typeface="楷体_GB2312" pitchFamily="49" charset="-122"/>
              </a:rPr>
              <a:t>(a </a:t>
            </a:r>
            <a:r>
              <a:rPr kumimoji="1" lang="en-US" altLang="zh-CN" sz="2800" b="1">
                <a:solidFill>
                  <a:srgbClr val="000066"/>
                </a:solidFill>
                <a:effectLst/>
                <a:ea typeface="楷体_GB2312" pitchFamily="49" charset="-122"/>
              </a:rPr>
              <a:t>+ i)  </a:t>
            </a:r>
            <a:r>
              <a:rPr kumimoji="1" lang="zh-CN" altLang="en-US" sz="2800" b="1">
                <a:solidFill>
                  <a:srgbClr val="000066"/>
                </a:solidFill>
                <a:effectLst/>
                <a:ea typeface="楷体_GB2312" pitchFamily="49" charset="-122"/>
              </a:rPr>
              <a:t>即 </a:t>
            </a:r>
            <a:r>
              <a:rPr kumimoji="1" lang="en-US" altLang="zh-CN" sz="2800" b="1">
                <a:solidFill>
                  <a:srgbClr val="000066"/>
                </a:solidFill>
                <a:effectLst/>
                <a:ea typeface="楷体_GB2312" pitchFamily="49" charset="-122"/>
              </a:rPr>
              <a:t>a[i]  </a:t>
            </a:r>
            <a:r>
              <a:rPr kumimoji="1" lang="zh-CN" altLang="zh-CN" sz="2800" b="1">
                <a:solidFill>
                  <a:srgbClr val="000066"/>
                </a:solidFill>
                <a:effectLst/>
                <a:ea typeface="楷体_GB2312" pitchFamily="49" charset="-122"/>
              </a:rPr>
              <a:t>代表</a:t>
            </a:r>
            <a:r>
              <a:rPr kumimoji="1" lang="zh-CN" altLang="en-US" sz="2800" b="1">
                <a:solidFill>
                  <a:srgbClr val="000066"/>
                </a:solidFill>
                <a:effectLst/>
                <a:ea typeface="楷体_GB2312" pitchFamily="49" charset="-122"/>
              </a:rPr>
              <a:t>第</a:t>
            </a:r>
            <a:r>
              <a:rPr kumimoji="1" lang="en-US" altLang="zh-CN" sz="2800" b="1">
                <a:solidFill>
                  <a:srgbClr val="000066"/>
                </a:solidFill>
                <a:effectLst/>
                <a:ea typeface="楷体_GB2312" pitchFamily="49" charset="-122"/>
              </a:rPr>
              <a:t>i</a:t>
            </a:r>
            <a:r>
              <a:rPr kumimoji="1" lang="zh-CN" altLang="en-US" sz="2800" b="1">
                <a:solidFill>
                  <a:srgbClr val="000066"/>
                </a:solidFill>
                <a:effectLst/>
                <a:ea typeface="楷体_GB2312" pitchFamily="49" charset="-122"/>
              </a:rPr>
              <a:t>行</a:t>
            </a:r>
            <a:r>
              <a:rPr kumimoji="1" lang="zh-CN" altLang="en-US" sz="2800" b="1">
                <a:solidFill>
                  <a:srgbClr val="FF3300"/>
                </a:solidFill>
                <a:effectLst>
                  <a:outerShdw blurRad="38100" dist="38100" dir="2700000" algn="tl">
                    <a:srgbClr val="000000"/>
                  </a:outerShdw>
                </a:effectLst>
                <a:ea typeface="楷体_GB2312" pitchFamily="49" charset="-122"/>
              </a:rPr>
              <a:t>第</a:t>
            </a:r>
            <a:r>
              <a:rPr kumimoji="1" lang="en-US" altLang="zh-CN" sz="2800" b="1">
                <a:solidFill>
                  <a:srgbClr val="FF3300"/>
                </a:solidFill>
                <a:effectLst>
                  <a:outerShdw blurRad="38100" dist="38100" dir="2700000" algn="tl">
                    <a:srgbClr val="000000"/>
                  </a:outerShdw>
                </a:effectLst>
                <a:ea typeface="楷体_GB2312" pitchFamily="49" charset="-122"/>
              </a:rPr>
              <a:t>0</a:t>
            </a:r>
            <a:r>
              <a:rPr kumimoji="1" lang="zh-CN" altLang="en-US" sz="2800" b="1">
                <a:solidFill>
                  <a:srgbClr val="FF3300"/>
                </a:solidFill>
                <a:effectLst>
                  <a:outerShdw blurRad="38100" dist="38100" dir="2700000" algn="tl">
                    <a:srgbClr val="000000"/>
                  </a:outerShdw>
                </a:effectLst>
                <a:ea typeface="楷体_GB2312" pitchFamily="49" charset="-122"/>
              </a:rPr>
              <a:t>列</a:t>
            </a:r>
            <a:r>
              <a:rPr kumimoji="1" lang="zh-CN" altLang="zh-CN" sz="2800" b="1">
                <a:solidFill>
                  <a:srgbClr val="000066"/>
                </a:solidFill>
                <a:effectLst/>
                <a:ea typeface="楷体_GB2312" pitchFamily="49" charset="-122"/>
              </a:rPr>
              <a:t>的地址</a:t>
            </a:r>
            <a:r>
              <a:rPr kumimoji="1" lang="zh-CN" altLang="en-US" sz="2800" b="1">
                <a:solidFill>
                  <a:srgbClr val="000066"/>
                </a:solidFill>
                <a:effectLst/>
                <a:ea typeface="楷体_GB2312" pitchFamily="49" charset="-122"/>
              </a:rPr>
              <a:t>，</a:t>
            </a:r>
            <a:r>
              <a:rPr kumimoji="1" lang="zh-CN" altLang="en-US" sz="2800" b="1">
                <a:solidFill>
                  <a:srgbClr val="FF3300"/>
                </a:solidFill>
                <a:effectLst>
                  <a:outerShdw blurRad="38100" dist="38100" dir="2700000" algn="tl">
                    <a:srgbClr val="000000"/>
                  </a:outerShdw>
                </a:effectLst>
                <a:ea typeface="楷体_GB2312" pitchFamily="49" charset="-122"/>
              </a:rPr>
              <a:t>列地址</a:t>
            </a:r>
            <a:endParaRPr lang="en-US" altLang="zh-CN" sz="2800" b="1">
              <a:solidFill>
                <a:srgbClr val="FF3300"/>
              </a:solidFill>
              <a:effectLst>
                <a:outerShdw blurRad="38100" dist="38100" dir="2700000" algn="tl">
                  <a:srgbClr val="000000"/>
                </a:outerShdw>
              </a:effectLst>
              <a:ea typeface="楷体_GB2312" pitchFamily="49" charset="-122"/>
            </a:endParaRPr>
          </a:p>
        </p:txBody>
      </p:sp>
      <p:sp>
        <p:nvSpPr>
          <p:cNvPr id="685118" name="Text Box 62"/>
          <p:cNvSpPr txBox="1">
            <a:spLocks noChangeArrowheads="1"/>
          </p:cNvSpPr>
          <p:nvPr/>
        </p:nvSpPr>
        <p:spPr bwMode="auto">
          <a:xfrm>
            <a:off x="5973763" y="2133600"/>
            <a:ext cx="336550" cy="366713"/>
          </a:xfrm>
          <a:prstGeom prst="rect">
            <a:avLst/>
          </a:prstGeom>
          <a:noFill/>
          <a:ln w="28575" cap="sq">
            <a:noFill/>
            <a:miter lim="800000"/>
            <a:headEnd/>
            <a:tailEnd/>
          </a:ln>
          <a:effectLst/>
        </p:spPr>
        <p:txBody>
          <a:bodyPr wrap="none"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a:t>
            </a:r>
          </a:p>
        </p:txBody>
      </p:sp>
      <p:sp>
        <p:nvSpPr>
          <p:cNvPr id="685119" name="Text Box 63"/>
          <p:cNvSpPr txBox="1">
            <a:spLocks noChangeArrowheads="1"/>
          </p:cNvSpPr>
          <p:nvPr/>
        </p:nvSpPr>
        <p:spPr bwMode="auto">
          <a:xfrm>
            <a:off x="5580063" y="4013200"/>
            <a:ext cx="1052512" cy="366713"/>
          </a:xfrm>
          <a:prstGeom prst="rect">
            <a:avLst/>
          </a:prstGeom>
          <a:noFill/>
          <a:ln w="28575" cap="sq">
            <a:noFill/>
            <a:miter lim="800000"/>
            <a:headEnd/>
            <a:tailEnd/>
          </a:ln>
          <a:effectLst/>
        </p:spPr>
        <p:txBody>
          <a:bodyPr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a:t>
            </a:r>
            <a:r>
              <a:rPr kumimoji="1" lang="en-US" altLang="zh-CN" b="1">
                <a:solidFill>
                  <a:srgbClr val="000066"/>
                </a:solidFill>
                <a:effectLst>
                  <a:outerShdw blurRad="38100" dist="38100" dir="2700000" algn="tl">
                    <a:srgbClr val="C0C0C0"/>
                  </a:outerShdw>
                </a:effectLst>
                <a:ea typeface="宋体" pitchFamily="2" charset="-122"/>
              </a:rPr>
              <a:t>+1</a:t>
            </a:r>
            <a:endParaRPr kumimoji="1" lang="en-US" altLang="zh-CN" b="1">
              <a:solidFill>
                <a:srgbClr val="880000"/>
              </a:solidFill>
              <a:effectLst>
                <a:outerShdw blurRad="38100" dist="38100" dir="2700000" algn="tl">
                  <a:srgbClr val="C0C0C0"/>
                </a:outerShdw>
              </a:effectLst>
              <a:ea typeface="宋体" pitchFamily="2" charset="-122"/>
            </a:endParaRPr>
          </a:p>
        </p:txBody>
      </p:sp>
      <p:sp>
        <p:nvSpPr>
          <p:cNvPr id="685120" name="Rectangle 64"/>
          <p:cNvSpPr>
            <a:spLocks noChangeArrowheads="1"/>
          </p:cNvSpPr>
          <p:nvPr/>
        </p:nvSpPr>
        <p:spPr bwMode="auto">
          <a:xfrm>
            <a:off x="525463" y="2133600"/>
            <a:ext cx="3975100" cy="1152525"/>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defRPr/>
            </a:pPr>
            <a:r>
              <a:rPr lang="zh-CN" altLang="en-US" sz="2800" b="1">
                <a:solidFill>
                  <a:srgbClr val="000066"/>
                </a:solidFill>
                <a:effectLst/>
                <a:ea typeface="楷体_GB2312" pitchFamily="49" charset="-122"/>
              </a:rPr>
              <a:t>*</a:t>
            </a:r>
            <a:r>
              <a:rPr lang="en-US" altLang="zh-CN" sz="2800" b="1">
                <a:solidFill>
                  <a:srgbClr val="000066"/>
                </a:solidFill>
                <a:effectLst/>
                <a:ea typeface="楷体_GB2312" pitchFamily="49" charset="-122"/>
              </a:rPr>
              <a:t>(a</a:t>
            </a:r>
            <a:r>
              <a:rPr kumimoji="1" lang="en-US" altLang="zh-CN" sz="2800" b="1">
                <a:solidFill>
                  <a:srgbClr val="000066"/>
                </a:solidFill>
                <a:effectLst/>
                <a:ea typeface="楷体_GB2312" pitchFamily="49" charset="-122"/>
              </a:rPr>
              <a:t>+i) + j </a:t>
            </a:r>
            <a:r>
              <a:rPr kumimoji="1" lang="zh-CN" altLang="en-US" sz="2800" b="1">
                <a:solidFill>
                  <a:srgbClr val="000066"/>
                </a:solidFill>
                <a:effectLst/>
                <a:ea typeface="楷体_GB2312" pitchFamily="49" charset="-122"/>
              </a:rPr>
              <a:t>即 </a:t>
            </a:r>
            <a:r>
              <a:rPr kumimoji="1" lang="en-US" altLang="zh-CN" sz="2800" b="1">
                <a:solidFill>
                  <a:srgbClr val="000066"/>
                </a:solidFill>
                <a:effectLst/>
                <a:ea typeface="楷体_GB2312" pitchFamily="49" charset="-122"/>
              </a:rPr>
              <a:t>a[i] + j</a:t>
            </a:r>
            <a:r>
              <a:rPr kumimoji="1" lang="zh-CN" altLang="zh-CN" sz="2800" b="1">
                <a:solidFill>
                  <a:srgbClr val="000066"/>
                </a:solidFill>
                <a:effectLst/>
                <a:ea typeface="楷体_GB2312" pitchFamily="49" charset="-122"/>
              </a:rPr>
              <a:t>代表</a:t>
            </a:r>
            <a:endParaRPr kumimoji="1" lang="zh-CN" altLang="en-US" sz="2800" b="1">
              <a:solidFill>
                <a:srgbClr val="000066"/>
              </a:solidFill>
              <a:effectLst/>
              <a:ea typeface="楷体_GB2312" pitchFamily="49" charset="-122"/>
            </a:endParaRPr>
          </a:p>
          <a:p>
            <a:pPr algn="ctr" eaLnBrk="1">
              <a:lnSpc>
                <a:spcPct val="95000"/>
              </a:lnSpc>
              <a:spcBef>
                <a:spcPct val="20000"/>
              </a:spcBef>
              <a:buClr>
                <a:srgbClr val="FFCC66"/>
              </a:buClr>
              <a:buSzPct val="80000"/>
              <a:buFont typeface="Monotype Sorts" charset="2"/>
              <a:buNone/>
              <a:defRPr/>
            </a:pPr>
            <a:r>
              <a:rPr kumimoji="1" lang="zh-CN" altLang="en-US" sz="2800" b="1">
                <a:solidFill>
                  <a:srgbClr val="000066"/>
                </a:solidFill>
                <a:effectLst/>
                <a:ea typeface="楷体_GB2312" pitchFamily="49" charset="-122"/>
              </a:rPr>
              <a:t>第</a:t>
            </a:r>
            <a:r>
              <a:rPr kumimoji="1" lang="en-US" altLang="zh-CN" sz="2800" b="1">
                <a:solidFill>
                  <a:srgbClr val="000066"/>
                </a:solidFill>
                <a:effectLst/>
                <a:ea typeface="楷体_GB2312" pitchFamily="49" charset="-122"/>
              </a:rPr>
              <a:t>i</a:t>
            </a:r>
            <a:r>
              <a:rPr kumimoji="1" lang="zh-CN" altLang="en-US" sz="2800" b="1">
                <a:solidFill>
                  <a:srgbClr val="000066"/>
                </a:solidFill>
                <a:effectLst/>
                <a:ea typeface="楷体_GB2312" pitchFamily="49" charset="-122"/>
              </a:rPr>
              <a:t>行</a:t>
            </a:r>
            <a:r>
              <a:rPr kumimoji="1" lang="zh-CN" altLang="en-US" sz="2800" b="1">
                <a:solidFill>
                  <a:srgbClr val="FF3300"/>
                </a:solidFill>
                <a:effectLst>
                  <a:outerShdw blurRad="38100" dist="38100" dir="2700000" algn="tl">
                    <a:srgbClr val="000000"/>
                  </a:outerShdw>
                </a:effectLst>
                <a:ea typeface="楷体_GB2312" pitchFamily="49" charset="-122"/>
              </a:rPr>
              <a:t>第</a:t>
            </a:r>
            <a:r>
              <a:rPr kumimoji="1" lang="en-US" altLang="zh-CN" sz="2800" b="1">
                <a:solidFill>
                  <a:srgbClr val="FF3300"/>
                </a:solidFill>
                <a:effectLst>
                  <a:outerShdw blurRad="38100" dist="38100" dir="2700000" algn="tl">
                    <a:srgbClr val="000000"/>
                  </a:outerShdw>
                </a:effectLst>
                <a:ea typeface="楷体_GB2312" pitchFamily="49" charset="-122"/>
              </a:rPr>
              <a:t>j</a:t>
            </a:r>
            <a:r>
              <a:rPr kumimoji="1" lang="zh-CN" altLang="en-US" sz="2800" b="1">
                <a:solidFill>
                  <a:srgbClr val="FF3300"/>
                </a:solidFill>
                <a:effectLst>
                  <a:outerShdw blurRad="38100" dist="38100" dir="2700000" algn="tl">
                    <a:srgbClr val="000000"/>
                  </a:outerShdw>
                </a:effectLst>
                <a:ea typeface="楷体_GB2312" pitchFamily="49" charset="-122"/>
              </a:rPr>
              <a:t>列</a:t>
            </a:r>
            <a:r>
              <a:rPr kumimoji="1" lang="zh-CN" altLang="zh-CN" sz="2800" b="1">
                <a:solidFill>
                  <a:srgbClr val="000066"/>
                </a:solidFill>
                <a:effectLst/>
                <a:ea typeface="楷体_GB2312" pitchFamily="49" charset="-122"/>
              </a:rPr>
              <a:t>的地址</a:t>
            </a:r>
            <a:r>
              <a:rPr kumimoji="1" lang="en-US" altLang="zh-CN" sz="2800" b="1">
                <a:solidFill>
                  <a:srgbClr val="000066"/>
                </a:solidFill>
                <a:effectLst/>
                <a:ea typeface="楷体_GB2312" pitchFamily="49" charset="-122"/>
              </a:rPr>
              <a:t>&amp;a[i][j] </a:t>
            </a:r>
          </a:p>
        </p:txBody>
      </p:sp>
      <p:sp>
        <p:nvSpPr>
          <p:cNvPr id="685121" name="Text Box 65"/>
          <p:cNvSpPr txBox="1">
            <a:spLocks noChangeArrowheads="1"/>
          </p:cNvSpPr>
          <p:nvPr/>
        </p:nvSpPr>
        <p:spPr bwMode="auto">
          <a:xfrm>
            <a:off x="4486275" y="5487988"/>
            <a:ext cx="1301750" cy="457200"/>
          </a:xfrm>
          <a:prstGeom prst="rect">
            <a:avLst/>
          </a:prstGeom>
          <a:noFill/>
          <a:ln w="12700" cap="sq">
            <a:noFill/>
            <a:miter lim="800000"/>
            <a:headEnd type="none" w="sm" len="sm"/>
            <a:tailEnd type="none" w="sm" len="sm"/>
          </a:ln>
        </p:spPr>
        <p:txBody>
          <a:bodyPr wrap="none" anchor="ctr">
            <a:spAutoFit/>
          </a:bodyPr>
          <a:lstStyle/>
          <a:p>
            <a:pPr algn="ctr" eaLnBrk="1" hangingPunct="1"/>
            <a:r>
              <a:rPr kumimoji="1" lang="en-US" altLang="zh-CN" b="1">
                <a:solidFill>
                  <a:srgbClr val="000066"/>
                </a:solidFill>
                <a:effectLst/>
                <a:ea typeface="宋体" charset="-122"/>
              </a:rPr>
              <a:t>&amp;</a:t>
            </a:r>
            <a:r>
              <a:rPr kumimoji="1" lang="en-US" altLang="zh-CN" b="1">
                <a:solidFill>
                  <a:srgbClr val="880000"/>
                </a:solidFill>
                <a:effectLst/>
                <a:ea typeface="宋体" charset="-122"/>
              </a:rPr>
              <a:t>a[1]</a:t>
            </a:r>
            <a:r>
              <a:rPr kumimoji="1" lang="en-US" altLang="zh-CN" b="1">
                <a:solidFill>
                  <a:srgbClr val="000066"/>
                </a:solidFill>
                <a:effectLst/>
                <a:ea typeface="宋体" charset="-122"/>
              </a:rPr>
              <a:t>[2]</a:t>
            </a:r>
          </a:p>
        </p:txBody>
      </p:sp>
      <p:sp>
        <p:nvSpPr>
          <p:cNvPr id="685122" name="Text Box 66"/>
          <p:cNvSpPr txBox="1">
            <a:spLocks noChangeArrowheads="1"/>
          </p:cNvSpPr>
          <p:nvPr/>
        </p:nvSpPr>
        <p:spPr bwMode="auto">
          <a:xfrm>
            <a:off x="5653088" y="5549900"/>
            <a:ext cx="998537" cy="366713"/>
          </a:xfrm>
          <a:prstGeom prst="rect">
            <a:avLst/>
          </a:prstGeom>
          <a:noFill/>
          <a:ln w="28575" cap="sq">
            <a:noFill/>
            <a:miter lim="800000"/>
            <a:headEnd/>
            <a:tailEnd/>
          </a:ln>
        </p:spPr>
        <p:txBody>
          <a:bodyPr wrap="none" anchor="ctr">
            <a:spAutoFit/>
          </a:bodyPr>
          <a:lstStyle/>
          <a:p>
            <a:pPr algn="ctr" eaLnBrk="1" hangingPunct="1">
              <a:lnSpc>
                <a:spcPct val="75000"/>
              </a:lnSpc>
            </a:pPr>
            <a:r>
              <a:rPr kumimoji="1" lang="en-US" altLang="zh-CN">
                <a:solidFill>
                  <a:srgbClr val="880000"/>
                </a:solidFill>
                <a:effectLst/>
                <a:ea typeface="宋体" charset="-122"/>
              </a:rPr>
              <a:t>a[1]</a:t>
            </a:r>
            <a:r>
              <a:rPr kumimoji="1" lang="en-US" altLang="zh-CN">
                <a:effectLst/>
                <a:ea typeface="宋体" charset="-122"/>
              </a:rPr>
              <a:t>+2</a:t>
            </a:r>
          </a:p>
        </p:txBody>
      </p:sp>
      <p:sp>
        <p:nvSpPr>
          <p:cNvPr id="685123" name="Line 67"/>
          <p:cNvSpPr>
            <a:spLocks noChangeShapeType="1"/>
          </p:cNvSpPr>
          <p:nvPr/>
        </p:nvSpPr>
        <p:spPr bwMode="auto">
          <a:xfrm>
            <a:off x="6724650" y="5688013"/>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4034" name="Rectangle 2"/>
          <p:cNvSpPr>
            <a:spLocks noChangeArrowheads="1"/>
          </p:cNvSpPr>
          <p:nvPr/>
        </p:nvSpPr>
        <p:spPr bwMode="auto">
          <a:xfrm>
            <a:off x="681038" y="573088"/>
            <a:ext cx="7797800" cy="839787"/>
          </a:xfrm>
          <a:prstGeom prst="rect">
            <a:avLst/>
          </a:prstGeom>
          <a:noFill/>
          <a:ln w="9525">
            <a:noFill/>
            <a:miter lim="800000"/>
            <a:headEnd/>
            <a:tailEnd/>
          </a:ln>
          <a:effectLst>
            <a:outerShdw dist="35921" dir="2700000" algn="ctr" rotWithShape="0">
              <a:schemeClr val="tx1"/>
            </a:outerShdw>
          </a:effectLst>
        </p:spPr>
        <p:txBody>
          <a:bodyPr lIns="92075" tIns="46037" rIns="92075" bIns="46037" anchor="ctr"/>
          <a:lstStyle/>
          <a:p>
            <a:pPr algn="ctr">
              <a:lnSpc>
                <a:spcPct val="85000"/>
              </a:lnSpc>
              <a:defRPr/>
            </a:pPr>
            <a:r>
              <a:rPr lang="zh-CN" altLang="en-US" sz="4400" b="1" i="1" dirty="0">
                <a:solidFill>
                  <a:schemeClr val="accent2">
                    <a:lumMod val="50000"/>
                  </a:schemeClr>
                </a:solidFill>
                <a:effectLst>
                  <a:outerShdw blurRad="38100" dist="38100" dir="2700000" algn="tl">
                    <a:srgbClr val="C0C0C0"/>
                  </a:outerShdw>
                </a:effectLst>
                <a:ea typeface="黑体" pitchFamily="2" charset="-122"/>
              </a:rPr>
              <a:t>指针和二维数组间的关系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85086"/>
                                        </p:tgtEl>
                                        <p:attrNameLst>
                                          <p:attrName>style.visibility</p:attrName>
                                        </p:attrNameLst>
                                      </p:cBhvr>
                                      <p:to>
                                        <p:strVal val="visible"/>
                                      </p:to>
                                    </p:set>
                                    <p:animEffect transition="in" filter="slide(fromLeft)">
                                      <p:cBhvr>
                                        <p:cTn id="7" dur="500"/>
                                        <p:tgtEl>
                                          <p:spTgt spid="685086"/>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685091"/>
                                        </p:tgtEl>
                                        <p:attrNameLst>
                                          <p:attrName>style.visibility</p:attrName>
                                        </p:attrNameLst>
                                      </p:cBhvr>
                                      <p:to>
                                        <p:strVal val="visible"/>
                                      </p:to>
                                    </p:set>
                                    <p:animEffect transition="in" filter="slide(fromLeft)">
                                      <p:cBhvr>
                                        <p:cTn id="10" dur="500"/>
                                        <p:tgtEl>
                                          <p:spTgt spid="685091"/>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685092"/>
                                        </p:tgtEl>
                                        <p:attrNameLst>
                                          <p:attrName>style.visibility</p:attrName>
                                        </p:attrNameLst>
                                      </p:cBhvr>
                                      <p:to>
                                        <p:strVal val="visible"/>
                                      </p:to>
                                    </p:set>
                                    <p:animEffect transition="in" filter="slide(fromLeft)">
                                      <p:cBhvr>
                                        <p:cTn id="15" dur="500"/>
                                        <p:tgtEl>
                                          <p:spTgt spid="685092"/>
                                        </p:tgtEl>
                                      </p:cBhvr>
                                    </p:animEffect>
                                  </p:childTnLst>
                                </p:cTn>
                              </p:par>
                              <p:par>
                                <p:cTn id="16" presetID="12" presetClass="entr" presetSubtype="8" fill="hold" grpId="0" nodeType="withEffect">
                                  <p:stCondLst>
                                    <p:cond delay="0"/>
                                  </p:stCondLst>
                                  <p:childTnLst>
                                    <p:set>
                                      <p:cBhvr>
                                        <p:cTn id="17" dur="1" fill="hold">
                                          <p:stCondLst>
                                            <p:cond delay="0"/>
                                          </p:stCondLst>
                                        </p:cTn>
                                        <p:tgtEl>
                                          <p:spTgt spid="685088"/>
                                        </p:tgtEl>
                                        <p:attrNameLst>
                                          <p:attrName>style.visibility</p:attrName>
                                        </p:attrNameLst>
                                      </p:cBhvr>
                                      <p:to>
                                        <p:strVal val="visible"/>
                                      </p:to>
                                    </p:set>
                                    <p:animEffect transition="in" filter="slide(fromLeft)">
                                      <p:cBhvr>
                                        <p:cTn id="18" dur="500"/>
                                        <p:tgtEl>
                                          <p:spTgt spid="685088"/>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0" fill="hold" grpId="0" nodeType="clickEffect">
                                  <p:stCondLst>
                                    <p:cond delay="0"/>
                                  </p:stCondLst>
                                  <p:childTnLst>
                                    <p:set>
                                      <p:cBhvr>
                                        <p:cTn id="22" dur="1" fill="hold">
                                          <p:stCondLst>
                                            <p:cond delay="0"/>
                                          </p:stCondLst>
                                        </p:cTn>
                                        <p:tgtEl>
                                          <p:spTgt spid="685117"/>
                                        </p:tgtEl>
                                        <p:attrNameLst>
                                          <p:attrName>style.visibility</p:attrName>
                                        </p:attrNameLst>
                                      </p:cBhvr>
                                      <p:to>
                                        <p:strVal val="visible"/>
                                      </p:to>
                                    </p:set>
                                    <p:anim calcmode="lin" valueType="num">
                                      <p:cBhvr>
                                        <p:cTn id="23" dur="500" fill="hold"/>
                                        <p:tgtEl>
                                          <p:spTgt spid="685117"/>
                                        </p:tgtEl>
                                        <p:attrNameLst>
                                          <p:attrName>ppt_w</p:attrName>
                                        </p:attrNameLst>
                                      </p:cBhvr>
                                      <p:tavLst>
                                        <p:tav tm="0">
                                          <p:val>
                                            <p:fltVal val="0"/>
                                          </p:val>
                                        </p:tav>
                                        <p:tav tm="100000">
                                          <p:val>
                                            <p:strVal val="#ppt_w"/>
                                          </p:val>
                                        </p:tav>
                                      </p:tavLst>
                                    </p:anim>
                                    <p:anim calcmode="lin" valueType="num">
                                      <p:cBhvr>
                                        <p:cTn id="24" dur="500" fill="hold"/>
                                        <p:tgtEl>
                                          <p:spTgt spid="685117"/>
                                        </p:tgtEl>
                                        <p:attrNameLst>
                                          <p:attrName>ppt_h</p:attrName>
                                        </p:attrNameLst>
                                      </p:cBhvr>
                                      <p:tavLst>
                                        <p:tav tm="0">
                                          <p:val>
                                            <p:fltVal val="0"/>
                                          </p:val>
                                        </p:tav>
                                        <p:tav tm="100000">
                                          <p:val>
                                            <p:strVal val="#ppt_h"/>
                                          </p:val>
                                        </p:tav>
                                      </p:tavLst>
                                    </p:anim>
                                    <p:animEffect transition="in" filter="fade">
                                      <p:cBhvr>
                                        <p:cTn id="25" dur="500"/>
                                        <p:tgtEl>
                                          <p:spTgt spid="685117"/>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0" fill="hold" grpId="0" nodeType="clickEffect">
                                  <p:stCondLst>
                                    <p:cond delay="0"/>
                                  </p:stCondLst>
                                  <p:childTnLst>
                                    <p:set>
                                      <p:cBhvr>
                                        <p:cTn id="29" dur="1" fill="hold">
                                          <p:stCondLst>
                                            <p:cond delay="0"/>
                                          </p:stCondLst>
                                        </p:cTn>
                                        <p:tgtEl>
                                          <p:spTgt spid="685120"/>
                                        </p:tgtEl>
                                        <p:attrNameLst>
                                          <p:attrName>style.visibility</p:attrName>
                                        </p:attrNameLst>
                                      </p:cBhvr>
                                      <p:to>
                                        <p:strVal val="visible"/>
                                      </p:to>
                                    </p:set>
                                    <p:anim calcmode="lin" valueType="num">
                                      <p:cBhvr>
                                        <p:cTn id="30" dur="500" fill="hold"/>
                                        <p:tgtEl>
                                          <p:spTgt spid="685120"/>
                                        </p:tgtEl>
                                        <p:attrNameLst>
                                          <p:attrName>ppt_w</p:attrName>
                                        </p:attrNameLst>
                                      </p:cBhvr>
                                      <p:tavLst>
                                        <p:tav tm="0">
                                          <p:val>
                                            <p:fltVal val="0"/>
                                          </p:val>
                                        </p:tav>
                                        <p:tav tm="100000">
                                          <p:val>
                                            <p:strVal val="#ppt_w"/>
                                          </p:val>
                                        </p:tav>
                                      </p:tavLst>
                                    </p:anim>
                                    <p:anim calcmode="lin" valueType="num">
                                      <p:cBhvr>
                                        <p:cTn id="31" dur="500" fill="hold"/>
                                        <p:tgtEl>
                                          <p:spTgt spid="685120"/>
                                        </p:tgtEl>
                                        <p:attrNameLst>
                                          <p:attrName>ppt_h</p:attrName>
                                        </p:attrNameLst>
                                      </p:cBhvr>
                                      <p:tavLst>
                                        <p:tav tm="0">
                                          <p:val>
                                            <p:fltVal val="0"/>
                                          </p:val>
                                        </p:tav>
                                        <p:tav tm="100000">
                                          <p:val>
                                            <p:strVal val="#ppt_h"/>
                                          </p:val>
                                        </p:tav>
                                      </p:tavLst>
                                    </p:anim>
                                    <p:animEffect transition="in" filter="fade">
                                      <p:cBhvr>
                                        <p:cTn id="32" dur="500"/>
                                        <p:tgtEl>
                                          <p:spTgt spid="68512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685122"/>
                                        </p:tgtEl>
                                        <p:attrNameLst>
                                          <p:attrName>style.visibility</p:attrName>
                                        </p:attrNameLst>
                                      </p:cBhvr>
                                      <p:to>
                                        <p:strVal val="visible"/>
                                      </p:to>
                                    </p:set>
                                    <p:animEffect transition="in" filter="slide(fromLeft)">
                                      <p:cBhvr>
                                        <p:cTn id="37" dur="500"/>
                                        <p:tgtEl>
                                          <p:spTgt spid="685122"/>
                                        </p:tgtEl>
                                      </p:cBhvr>
                                    </p:animEffect>
                                  </p:childTnLst>
                                </p:cTn>
                              </p:par>
                              <p:par>
                                <p:cTn id="38" presetID="12" presetClass="entr" presetSubtype="8" fill="hold" nodeType="withEffect">
                                  <p:stCondLst>
                                    <p:cond delay="0"/>
                                  </p:stCondLst>
                                  <p:childTnLst>
                                    <p:set>
                                      <p:cBhvr>
                                        <p:cTn id="39" dur="1" fill="hold">
                                          <p:stCondLst>
                                            <p:cond delay="0"/>
                                          </p:stCondLst>
                                        </p:cTn>
                                        <p:tgtEl>
                                          <p:spTgt spid="685123"/>
                                        </p:tgtEl>
                                        <p:attrNameLst>
                                          <p:attrName>style.visibility</p:attrName>
                                        </p:attrNameLst>
                                      </p:cBhvr>
                                      <p:to>
                                        <p:strVal val="visible"/>
                                      </p:to>
                                    </p:set>
                                    <p:animEffect transition="in" filter="slide(fromLeft)">
                                      <p:cBhvr>
                                        <p:cTn id="40" dur="500"/>
                                        <p:tgtEl>
                                          <p:spTgt spid="685123"/>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685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86" grpId="0"/>
      <p:bldP spid="685088" grpId="0"/>
      <p:bldP spid="685091" grpId="0"/>
      <p:bldP spid="685092" grpId="0"/>
      <p:bldP spid="685117" grpId="0" animBg="1" autoUpdateAnimBg="0"/>
      <p:bldP spid="685120" grpId="0" animBg="1" autoUpdateAnimBg="0"/>
      <p:bldP spid="685121" grpId="0"/>
      <p:bldP spid="685122" grpId="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3"/>
          <p:cNvGrpSpPr>
            <a:grpSpLocks/>
          </p:cNvGrpSpPr>
          <p:nvPr/>
        </p:nvGrpSpPr>
        <p:grpSpPr bwMode="auto">
          <a:xfrm>
            <a:off x="7185025" y="2184400"/>
            <a:ext cx="1981200" cy="4572000"/>
            <a:chOff x="4512" y="336"/>
            <a:chExt cx="1248" cy="2880"/>
          </a:xfrm>
        </p:grpSpPr>
        <p:sp>
          <p:nvSpPr>
            <p:cNvPr id="16428" name="Text Box 4"/>
            <p:cNvSpPr txBox="1">
              <a:spLocks noChangeArrowheads="1"/>
            </p:cNvSpPr>
            <p:nvPr/>
          </p:nvSpPr>
          <p:spPr bwMode="auto">
            <a:xfrm>
              <a:off x="5210" y="645"/>
              <a:ext cx="550" cy="1371"/>
            </a:xfrm>
            <a:prstGeom prst="rect">
              <a:avLst/>
            </a:prstGeom>
            <a:noFill/>
            <a:ln w="12700" cap="sq">
              <a:noFill/>
              <a:miter lim="800000"/>
              <a:headEnd type="none" w="sm" len="sm"/>
              <a:tailEnd type="none" w="sm" len="sm"/>
            </a:ln>
          </p:spPr>
          <p:txBody>
            <a:bodyPr>
              <a:spAutoFit/>
            </a:bodyPr>
            <a:lstStyle/>
            <a:p>
              <a:pPr eaLnBrk="1" hangingPunct="1">
                <a:spcBef>
                  <a:spcPct val="10000"/>
                </a:spcBef>
              </a:pPr>
              <a:r>
                <a:rPr kumimoji="1" lang="en-US" altLang="zh-CN" sz="1800" b="1">
                  <a:effectLst/>
                  <a:ea typeface="宋体" charset="-122"/>
                </a:rPr>
                <a:t>a[0][0]</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a[0][1]</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a[0][2]</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a[1][0]</a:t>
              </a:r>
            </a:p>
          </p:txBody>
        </p:sp>
        <p:sp>
          <p:nvSpPr>
            <p:cNvPr id="16429" name="Text Box 5"/>
            <p:cNvSpPr txBox="1">
              <a:spLocks noChangeArrowheads="1"/>
            </p:cNvSpPr>
            <p:nvPr/>
          </p:nvSpPr>
          <p:spPr bwMode="auto">
            <a:xfrm>
              <a:off x="5210" y="2127"/>
              <a:ext cx="550" cy="801"/>
            </a:xfrm>
            <a:prstGeom prst="rect">
              <a:avLst/>
            </a:prstGeom>
            <a:noFill/>
            <a:ln w="12700" cap="sq">
              <a:noFill/>
              <a:miter lim="800000"/>
              <a:headEnd type="none" w="sm" len="sm"/>
              <a:tailEnd type="none" w="sm" len="sm"/>
            </a:ln>
          </p:spPr>
          <p:txBody>
            <a:bodyPr>
              <a:spAutoFit/>
            </a:bodyPr>
            <a:lstStyle/>
            <a:p>
              <a:pPr eaLnBrk="1" hangingPunct="1">
                <a:spcBef>
                  <a:spcPct val="10000"/>
                </a:spcBef>
              </a:pPr>
              <a:r>
                <a:rPr kumimoji="1" lang="en-US" altLang="zh-CN" sz="1800" b="1">
                  <a:effectLst/>
                  <a:ea typeface="宋体" charset="-122"/>
                </a:rPr>
                <a:t>a[1][1]</a:t>
              </a:r>
            </a:p>
            <a:p>
              <a:pPr eaLnBrk="1" hangingPunct="1">
                <a:spcBef>
                  <a:spcPct val="10000"/>
                </a:spcBef>
              </a:pPr>
              <a:endParaRPr kumimoji="1" lang="en-US" altLang="zh-CN" sz="1800" b="1">
                <a:effectLst/>
                <a:ea typeface="宋体" charset="-122"/>
              </a:endParaRPr>
            </a:p>
            <a:p>
              <a:pPr eaLnBrk="1" hangingPunct="1">
                <a:spcBef>
                  <a:spcPct val="10000"/>
                </a:spcBef>
              </a:pPr>
              <a:r>
                <a:rPr kumimoji="1" lang="en-US" altLang="zh-CN" sz="1800" b="1">
                  <a:effectLst/>
                  <a:ea typeface="宋体" charset="-122"/>
                </a:rPr>
                <a:t>a[1][2]</a:t>
              </a:r>
            </a:p>
            <a:p>
              <a:pPr eaLnBrk="1" hangingPunct="1">
                <a:spcBef>
                  <a:spcPct val="10000"/>
                </a:spcBef>
              </a:pPr>
              <a:endParaRPr kumimoji="1" lang="zh-CN" altLang="en-US" sz="1800" b="1">
                <a:effectLst/>
                <a:ea typeface="宋体" charset="-122"/>
              </a:endParaRPr>
            </a:p>
          </p:txBody>
        </p:sp>
        <p:grpSp>
          <p:nvGrpSpPr>
            <p:cNvPr id="3" name="Group 6"/>
            <p:cNvGrpSpPr>
              <a:grpSpLocks/>
            </p:cNvGrpSpPr>
            <p:nvPr/>
          </p:nvGrpSpPr>
          <p:grpSpPr bwMode="auto">
            <a:xfrm>
              <a:off x="4512" y="336"/>
              <a:ext cx="759" cy="2880"/>
              <a:chOff x="4512" y="336"/>
              <a:chExt cx="759" cy="2880"/>
            </a:xfrm>
          </p:grpSpPr>
          <p:grpSp>
            <p:nvGrpSpPr>
              <p:cNvPr id="4" name="Group 7"/>
              <p:cNvGrpSpPr>
                <a:grpSpLocks/>
              </p:cNvGrpSpPr>
              <p:nvPr/>
            </p:nvGrpSpPr>
            <p:grpSpPr bwMode="auto">
              <a:xfrm>
                <a:off x="4512" y="336"/>
                <a:ext cx="576" cy="1920"/>
                <a:chOff x="4752" y="576"/>
                <a:chExt cx="576" cy="1920"/>
              </a:xfrm>
            </p:grpSpPr>
            <p:sp>
              <p:nvSpPr>
                <p:cNvPr id="686088" name="Rectangle 8"/>
                <p:cNvSpPr>
                  <a:spLocks noChangeArrowheads="1"/>
                </p:cNvSpPr>
                <p:nvPr/>
              </p:nvSpPr>
              <p:spPr bwMode="auto">
                <a:xfrm>
                  <a:off x="4752" y="96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89" name="Rectangle 9"/>
                <p:cNvSpPr>
                  <a:spLocks noChangeArrowheads="1"/>
                </p:cNvSpPr>
                <p:nvPr/>
              </p:nvSpPr>
              <p:spPr bwMode="auto">
                <a:xfrm>
                  <a:off x="4752" y="115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0" name="Rectangle 10"/>
                <p:cNvSpPr>
                  <a:spLocks noChangeArrowheads="1"/>
                </p:cNvSpPr>
                <p:nvPr/>
              </p:nvSpPr>
              <p:spPr bwMode="auto">
                <a:xfrm>
                  <a:off x="4752" y="134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1" name="Rectangle 11"/>
                <p:cNvSpPr>
                  <a:spLocks noChangeArrowheads="1"/>
                </p:cNvSpPr>
                <p:nvPr/>
              </p:nvSpPr>
              <p:spPr bwMode="auto">
                <a:xfrm>
                  <a:off x="4752" y="153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2" name="Rectangle 12"/>
                <p:cNvSpPr>
                  <a:spLocks noChangeArrowheads="1"/>
                </p:cNvSpPr>
                <p:nvPr/>
              </p:nvSpPr>
              <p:spPr bwMode="auto">
                <a:xfrm>
                  <a:off x="4752" y="172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3" name="Rectangle 13"/>
                <p:cNvSpPr>
                  <a:spLocks noChangeArrowheads="1"/>
                </p:cNvSpPr>
                <p:nvPr/>
              </p:nvSpPr>
              <p:spPr bwMode="auto">
                <a:xfrm>
                  <a:off x="4752" y="192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4" name="Rectangle 14"/>
                <p:cNvSpPr>
                  <a:spLocks noChangeArrowheads="1"/>
                </p:cNvSpPr>
                <p:nvPr/>
              </p:nvSpPr>
              <p:spPr bwMode="auto">
                <a:xfrm>
                  <a:off x="4752" y="211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5" name="Rectangle 15"/>
                <p:cNvSpPr>
                  <a:spLocks noChangeArrowheads="1"/>
                </p:cNvSpPr>
                <p:nvPr/>
              </p:nvSpPr>
              <p:spPr bwMode="auto">
                <a:xfrm>
                  <a:off x="4752" y="230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6" name="Rectangle 16"/>
                <p:cNvSpPr>
                  <a:spLocks noChangeArrowheads="1"/>
                </p:cNvSpPr>
                <p:nvPr/>
              </p:nvSpPr>
              <p:spPr bwMode="auto">
                <a:xfrm>
                  <a:off x="4752" y="76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097" name="Rectangle 17"/>
                <p:cNvSpPr>
                  <a:spLocks noChangeArrowheads="1"/>
                </p:cNvSpPr>
                <p:nvPr/>
              </p:nvSpPr>
              <p:spPr bwMode="auto">
                <a:xfrm>
                  <a:off x="4752" y="57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grpSp>
          <p:sp>
            <p:nvSpPr>
              <p:cNvPr id="686098" name="AutoShape 18"/>
              <p:cNvSpPr>
                <a:spLocks/>
              </p:cNvSpPr>
              <p:nvPr/>
            </p:nvSpPr>
            <p:spPr bwMode="auto">
              <a:xfrm>
                <a:off x="5088" y="609"/>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6099" name="AutoShape 19"/>
              <p:cNvSpPr>
                <a:spLocks/>
              </p:cNvSpPr>
              <p:nvPr/>
            </p:nvSpPr>
            <p:spPr bwMode="auto">
              <a:xfrm>
                <a:off x="5088" y="993"/>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6100" name="AutoShape 20"/>
              <p:cNvSpPr>
                <a:spLocks/>
              </p:cNvSpPr>
              <p:nvPr/>
            </p:nvSpPr>
            <p:spPr bwMode="auto">
              <a:xfrm>
                <a:off x="5088" y="1377"/>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6101" name="AutoShape 21"/>
              <p:cNvSpPr>
                <a:spLocks/>
              </p:cNvSpPr>
              <p:nvPr/>
            </p:nvSpPr>
            <p:spPr bwMode="auto">
              <a:xfrm>
                <a:off x="5088" y="1750"/>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6102" name="Rectangle 22"/>
              <p:cNvSpPr>
                <a:spLocks noChangeArrowheads="1"/>
              </p:cNvSpPr>
              <p:nvPr/>
            </p:nvSpPr>
            <p:spPr bwMode="auto">
              <a:xfrm>
                <a:off x="4512" y="2640"/>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103" name="Rectangle 23"/>
              <p:cNvSpPr>
                <a:spLocks noChangeArrowheads="1"/>
              </p:cNvSpPr>
              <p:nvPr/>
            </p:nvSpPr>
            <p:spPr bwMode="auto">
              <a:xfrm>
                <a:off x="4512" y="2832"/>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104" name="Rectangle 24"/>
              <p:cNvSpPr>
                <a:spLocks noChangeArrowheads="1"/>
              </p:cNvSpPr>
              <p:nvPr/>
            </p:nvSpPr>
            <p:spPr bwMode="auto">
              <a:xfrm>
                <a:off x="4512" y="3024"/>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105" name="Rectangle 25"/>
              <p:cNvSpPr>
                <a:spLocks noChangeArrowheads="1"/>
              </p:cNvSpPr>
              <p:nvPr/>
            </p:nvSpPr>
            <p:spPr bwMode="auto">
              <a:xfrm>
                <a:off x="4512" y="2448"/>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106" name="Rectangle 26"/>
              <p:cNvSpPr>
                <a:spLocks noChangeArrowheads="1"/>
              </p:cNvSpPr>
              <p:nvPr/>
            </p:nvSpPr>
            <p:spPr bwMode="auto">
              <a:xfrm>
                <a:off x="4512" y="2256"/>
                <a:ext cx="576" cy="192"/>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ea typeface="宋体" pitchFamily="2" charset="-122"/>
                </a:endParaRPr>
              </a:p>
            </p:txBody>
          </p:sp>
          <p:sp>
            <p:nvSpPr>
              <p:cNvPr id="686107" name="AutoShape 27"/>
              <p:cNvSpPr>
                <a:spLocks/>
              </p:cNvSpPr>
              <p:nvPr/>
            </p:nvSpPr>
            <p:spPr bwMode="auto">
              <a:xfrm>
                <a:off x="5088" y="2119"/>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sp>
            <p:nvSpPr>
              <p:cNvPr id="686108" name="AutoShape 28"/>
              <p:cNvSpPr>
                <a:spLocks/>
              </p:cNvSpPr>
              <p:nvPr/>
            </p:nvSpPr>
            <p:spPr bwMode="auto">
              <a:xfrm>
                <a:off x="5088" y="2503"/>
                <a:ext cx="183" cy="288"/>
              </a:xfrm>
              <a:prstGeom prst="rightBrace">
                <a:avLst>
                  <a:gd name="adj1" fmla="val 13115"/>
                  <a:gd name="adj2" fmla="val 50000"/>
                </a:avLst>
              </a:prstGeom>
              <a:noFill/>
              <a:ln w="12700" cap="sq">
                <a:solidFill>
                  <a:schemeClr val="accent2"/>
                </a:solidFill>
                <a:round/>
                <a:headEnd/>
                <a:tailEnd/>
              </a:ln>
              <a:effectLst/>
            </p:spPr>
            <p:txBody>
              <a:bodyPr anchor="ctr">
                <a:spAutoFit/>
              </a:bodyPr>
              <a:lstStyle/>
              <a:p>
                <a:pPr>
                  <a:defRPr/>
                </a:pPr>
                <a:endParaRPr lang="zh-CN" altLang="en-US">
                  <a:effectLst>
                    <a:outerShdw blurRad="38100" dist="38100" dir="2700000" algn="tl">
                      <a:srgbClr val="C0C0C0"/>
                    </a:outerShdw>
                  </a:effectLst>
                  <a:ea typeface="宋体" pitchFamily="2" charset="-122"/>
                </a:endParaRPr>
              </a:p>
            </p:txBody>
          </p:sp>
        </p:grpSp>
      </p:grpSp>
      <p:sp>
        <p:nvSpPr>
          <p:cNvPr id="686109" name="Line 29"/>
          <p:cNvSpPr>
            <a:spLocks noChangeShapeType="1"/>
          </p:cNvSpPr>
          <p:nvPr/>
        </p:nvSpPr>
        <p:spPr bwMode="auto">
          <a:xfrm>
            <a:off x="6742113" y="26035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6110" name="Text Box 30"/>
          <p:cNvSpPr txBox="1">
            <a:spLocks noChangeArrowheads="1"/>
          </p:cNvSpPr>
          <p:nvPr/>
        </p:nvSpPr>
        <p:spPr bwMode="auto">
          <a:xfrm>
            <a:off x="5795963" y="2457450"/>
            <a:ext cx="692150" cy="366713"/>
          </a:xfrm>
          <a:prstGeom prst="rect">
            <a:avLst/>
          </a:prstGeom>
          <a:noFill/>
          <a:ln w="28575" cap="sq">
            <a:noFill/>
            <a:miter lim="800000"/>
            <a:headEnd/>
            <a:tailEnd/>
          </a:ln>
          <a:effectLst/>
        </p:spPr>
        <p:txBody>
          <a:bodyPr wrap="none"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a[0]</a:t>
            </a:r>
          </a:p>
        </p:txBody>
      </p:sp>
      <p:sp>
        <p:nvSpPr>
          <p:cNvPr id="686111" name="Line 31"/>
          <p:cNvSpPr>
            <a:spLocks noChangeShapeType="1"/>
          </p:cNvSpPr>
          <p:nvPr/>
        </p:nvSpPr>
        <p:spPr bwMode="auto">
          <a:xfrm>
            <a:off x="6742113" y="44323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6112" name="Text Box 32"/>
          <p:cNvSpPr txBox="1">
            <a:spLocks noChangeArrowheads="1"/>
          </p:cNvSpPr>
          <p:nvPr/>
        </p:nvSpPr>
        <p:spPr bwMode="auto">
          <a:xfrm>
            <a:off x="5603875" y="4343400"/>
            <a:ext cx="1052513" cy="366713"/>
          </a:xfrm>
          <a:prstGeom prst="rect">
            <a:avLst/>
          </a:prstGeom>
          <a:noFill/>
          <a:ln w="28575" cap="sq">
            <a:noFill/>
            <a:miter lim="800000"/>
            <a:headEnd/>
            <a:tailEnd/>
          </a:ln>
          <a:effectLst/>
        </p:spPr>
        <p:txBody>
          <a:bodyPr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a[1]</a:t>
            </a:r>
          </a:p>
        </p:txBody>
      </p:sp>
      <p:sp>
        <p:nvSpPr>
          <p:cNvPr id="686113" name="Line 33"/>
          <p:cNvSpPr>
            <a:spLocks noChangeShapeType="1"/>
          </p:cNvSpPr>
          <p:nvPr/>
        </p:nvSpPr>
        <p:spPr bwMode="auto">
          <a:xfrm>
            <a:off x="6742113" y="32131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6114" name="Line 34"/>
          <p:cNvSpPr>
            <a:spLocks noChangeShapeType="1"/>
          </p:cNvSpPr>
          <p:nvPr/>
        </p:nvSpPr>
        <p:spPr bwMode="auto">
          <a:xfrm>
            <a:off x="6742113" y="38227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6115" name="Text Box 35"/>
          <p:cNvSpPr txBox="1">
            <a:spLocks noChangeArrowheads="1"/>
          </p:cNvSpPr>
          <p:nvPr/>
        </p:nvSpPr>
        <p:spPr bwMode="auto">
          <a:xfrm>
            <a:off x="4465638" y="2395538"/>
            <a:ext cx="1301750" cy="457200"/>
          </a:xfrm>
          <a:prstGeom prst="rect">
            <a:avLst/>
          </a:prstGeom>
          <a:noFill/>
          <a:ln w="12700" cap="sq">
            <a:noFill/>
            <a:miter lim="800000"/>
            <a:headEnd type="none" w="sm" len="sm"/>
            <a:tailEnd type="none" w="sm" len="sm"/>
          </a:ln>
          <a:effectLst/>
        </p:spPr>
        <p:txBody>
          <a:bodyPr wrap="none" anchor="ctr">
            <a:spAutoFit/>
          </a:bodyPr>
          <a:lstStyle/>
          <a:p>
            <a:pPr algn="ctr" eaLnBrk="1" hangingPunct="1">
              <a:defRPr/>
            </a:pPr>
            <a:r>
              <a:rPr kumimoji="1" lang="en-US" altLang="zh-CN" b="1">
                <a:solidFill>
                  <a:srgbClr val="000066"/>
                </a:solidFill>
                <a:effectLst>
                  <a:outerShdw blurRad="38100" dist="38100" dir="2700000" algn="tl">
                    <a:srgbClr val="C0C0C0"/>
                  </a:outerShdw>
                </a:effectLst>
                <a:ea typeface="宋体" pitchFamily="2" charset="-122"/>
              </a:rPr>
              <a:t>&amp;</a:t>
            </a:r>
            <a:r>
              <a:rPr kumimoji="1" lang="en-US" altLang="zh-CN" b="1">
                <a:solidFill>
                  <a:srgbClr val="880000"/>
                </a:solidFill>
                <a:effectLst>
                  <a:outerShdw blurRad="38100" dist="38100" dir="2700000" algn="tl">
                    <a:srgbClr val="C0C0C0"/>
                  </a:outerShdw>
                </a:effectLst>
                <a:ea typeface="宋体" pitchFamily="2" charset="-122"/>
              </a:rPr>
              <a:t>a[0]</a:t>
            </a:r>
            <a:r>
              <a:rPr kumimoji="1" lang="en-US" altLang="zh-CN" b="1">
                <a:solidFill>
                  <a:srgbClr val="000066"/>
                </a:solidFill>
                <a:effectLst>
                  <a:outerShdw blurRad="38100" dist="38100" dir="2700000" algn="tl">
                    <a:srgbClr val="C0C0C0"/>
                  </a:outerShdw>
                </a:effectLst>
                <a:ea typeface="宋体" pitchFamily="2" charset="-122"/>
              </a:rPr>
              <a:t>[0]</a:t>
            </a:r>
          </a:p>
        </p:txBody>
      </p:sp>
      <p:sp>
        <p:nvSpPr>
          <p:cNvPr id="686116" name="Text Box 36"/>
          <p:cNvSpPr txBox="1">
            <a:spLocks noChangeArrowheads="1"/>
          </p:cNvSpPr>
          <p:nvPr/>
        </p:nvSpPr>
        <p:spPr bwMode="auto">
          <a:xfrm>
            <a:off x="4465638" y="4267200"/>
            <a:ext cx="1301750" cy="457200"/>
          </a:xfrm>
          <a:prstGeom prst="rect">
            <a:avLst/>
          </a:prstGeom>
          <a:noFill/>
          <a:ln w="12700" cap="sq">
            <a:noFill/>
            <a:miter lim="800000"/>
            <a:headEnd type="none" w="sm" len="sm"/>
            <a:tailEnd type="none" w="sm" len="sm"/>
          </a:ln>
          <a:effectLst/>
        </p:spPr>
        <p:txBody>
          <a:bodyPr wrap="none" anchor="ctr">
            <a:spAutoFit/>
          </a:bodyPr>
          <a:lstStyle/>
          <a:p>
            <a:pPr algn="ctr" eaLnBrk="1" hangingPunct="1">
              <a:defRPr/>
            </a:pPr>
            <a:r>
              <a:rPr kumimoji="1" lang="en-US" altLang="zh-CN" b="1">
                <a:solidFill>
                  <a:srgbClr val="000066"/>
                </a:solidFill>
                <a:effectLst>
                  <a:outerShdw blurRad="38100" dist="38100" dir="2700000" algn="tl">
                    <a:srgbClr val="C0C0C0"/>
                  </a:outerShdw>
                </a:effectLst>
                <a:ea typeface="宋体" pitchFamily="2" charset="-122"/>
              </a:rPr>
              <a:t>&amp;</a:t>
            </a:r>
            <a:r>
              <a:rPr kumimoji="1" lang="en-US" altLang="zh-CN" b="1">
                <a:solidFill>
                  <a:srgbClr val="880000"/>
                </a:solidFill>
                <a:effectLst>
                  <a:outerShdw blurRad="38100" dist="38100" dir="2700000" algn="tl">
                    <a:srgbClr val="C0C0C0"/>
                  </a:outerShdw>
                </a:effectLst>
                <a:ea typeface="宋体" pitchFamily="2" charset="-122"/>
              </a:rPr>
              <a:t>a[1]</a:t>
            </a:r>
            <a:r>
              <a:rPr kumimoji="1" lang="en-US" altLang="zh-CN" b="1">
                <a:solidFill>
                  <a:srgbClr val="000066"/>
                </a:solidFill>
                <a:effectLst>
                  <a:outerShdw blurRad="38100" dist="38100" dir="2700000" algn="tl">
                    <a:srgbClr val="C0C0C0"/>
                  </a:outerShdw>
                </a:effectLst>
                <a:ea typeface="宋体" pitchFamily="2" charset="-122"/>
              </a:rPr>
              <a:t>[0]</a:t>
            </a:r>
          </a:p>
        </p:txBody>
      </p:sp>
      <p:sp>
        <p:nvSpPr>
          <p:cNvPr id="686117" name="Line 37"/>
          <p:cNvSpPr>
            <a:spLocks noChangeShapeType="1"/>
          </p:cNvSpPr>
          <p:nvPr/>
        </p:nvSpPr>
        <p:spPr bwMode="auto">
          <a:xfrm>
            <a:off x="6742113" y="5013325"/>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grpSp>
        <p:nvGrpSpPr>
          <p:cNvPr id="5" name="Group 38"/>
          <p:cNvGrpSpPr>
            <a:grpSpLocks/>
          </p:cNvGrpSpPr>
          <p:nvPr/>
        </p:nvGrpSpPr>
        <p:grpSpPr bwMode="auto">
          <a:xfrm>
            <a:off x="-1116013" y="3724275"/>
            <a:ext cx="5181601" cy="2225675"/>
            <a:chOff x="336" y="1093"/>
            <a:chExt cx="3264" cy="1402"/>
          </a:xfrm>
        </p:grpSpPr>
        <p:grpSp>
          <p:nvGrpSpPr>
            <p:cNvPr id="6" name="Group 39"/>
            <p:cNvGrpSpPr>
              <a:grpSpLocks/>
            </p:cNvGrpSpPr>
            <p:nvPr/>
          </p:nvGrpSpPr>
          <p:grpSpPr bwMode="auto">
            <a:xfrm>
              <a:off x="336" y="1093"/>
              <a:ext cx="3264" cy="1402"/>
              <a:chOff x="336" y="1105"/>
              <a:chExt cx="3264" cy="1402"/>
            </a:xfrm>
          </p:grpSpPr>
          <p:sp>
            <p:nvSpPr>
              <p:cNvPr id="16426" name="Rectangle 40"/>
              <p:cNvSpPr>
                <a:spLocks noChangeArrowheads="1"/>
              </p:cNvSpPr>
              <p:nvPr/>
            </p:nvSpPr>
            <p:spPr bwMode="auto">
              <a:xfrm>
                <a:off x="768" y="1105"/>
                <a:ext cx="2832" cy="1402"/>
              </a:xfrm>
              <a:prstGeom prst="rect">
                <a:avLst/>
              </a:prstGeom>
              <a:noFill/>
              <a:ln w="19050">
                <a:noFill/>
                <a:miter lim="800000"/>
                <a:headEnd/>
                <a:tailEnd/>
              </a:ln>
            </p:spPr>
            <p:txBody>
              <a:bodyPr anchor="ctr">
                <a:spAutoFit/>
              </a:bodyPr>
              <a:lstStyle/>
              <a:p>
                <a:pPr eaLnBrk="1" hangingPunct="1"/>
                <a:r>
                  <a:rPr kumimoji="1" lang="zh-CN" altLang="en-US" sz="2000" b="1">
                    <a:solidFill>
                      <a:schemeClr val="accent2"/>
                    </a:solidFill>
                    <a:effectLst/>
                    <a:ea typeface="宋体" charset="-122"/>
                  </a:rPr>
                  <a:t>		</a:t>
                </a:r>
              </a:p>
              <a:p>
                <a:pPr eaLnBrk="1" hangingPunct="1"/>
                <a:r>
                  <a:rPr kumimoji="1" lang="zh-CN" altLang="zh-CN" sz="2000" b="1">
                    <a:solidFill>
                      <a:schemeClr val="tx2"/>
                    </a:solidFill>
                    <a:effectLst/>
                    <a:ea typeface="宋体" charset="-122"/>
                  </a:rPr>
                  <a:t>	     		</a:t>
                </a:r>
                <a:r>
                  <a:rPr kumimoji="1" lang="en-US" altLang="zh-CN" sz="2000" b="1">
                    <a:solidFill>
                      <a:schemeClr val="tx2"/>
                    </a:solidFill>
                    <a:effectLst/>
                    <a:ea typeface="宋体" charset="-122"/>
                  </a:rPr>
                  <a:t>a[0][0]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a[0]</a:t>
                </a:r>
                <a:r>
                  <a:rPr kumimoji="1" lang="en-US" altLang="zh-CN" sz="2000" b="1">
                    <a:solidFill>
                      <a:schemeClr val="tx2"/>
                    </a:solidFill>
                    <a:effectLst/>
                    <a:ea typeface="宋体" charset="-122"/>
                  </a:rPr>
                  <a:t>	a[0][1]	</a:t>
                </a:r>
              </a:p>
              <a:p>
                <a:pPr eaLnBrk="1" hangingPunct="1"/>
                <a:r>
                  <a:rPr kumimoji="1" lang="en-US" altLang="zh-CN" sz="2000" b="1">
                    <a:solidFill>
                      <a:schemeClr val="tx2"/>
                    </a:solidFill>
                    <a:effectLst/>
                    <a:ea typeface="宋体" charset="-122"/>
                  </a:rPr>
                  <a:t>			a[0][2]	</a:t>
                </a:r>
              </a:p>
              <a:p>
                <a:pPr eaLnBrk="1" hangingPunct="1"/>
                <a:r>
                  <a:rPr kumimoji="1" lang="en-US" altLang="zh-CN" sz="2000" b="1">
                    <a:solidFill>
                      <a:schemeClr val="tx2"/>
                    </a:solidFill>
                    <a:effectLst/>
                    <a:ea typeface="宋体" charset="-122"/>
                  </a:rPr>
                  <a:t>			a[1][0]	</a:t>
                </a:r>
              </a:p>
              <a:p>
                <a:pPr eaLnBrk="1" hangingPunct="1"/>
                <a:r>
                  <a:rPr kumimoji="1" lang="en-US" altLang="zh-CN" sz="2000" b="1">
                    <a:solidFill>
                      <a:schemeClr val="tx2"/>
                    </a:solidFill>
                    <a:effectLst/>
                    <a:ea typeface="宋体" charset="-122"/>
                  </a:rPr>
                  <a:t>	      	</a:t>
                </a:r>
                <a:r>
                  <a:rPr kumimoji="1" lang="en-US" altLang="zh-CN" sz="2000" b="1">
                    <a:solidFill>
                      <a:srgbClr val="880000"/>
                    </a:solidFill>
                    <a:effectLst/>
                    <a:ea typeface="宋体" charset="-122"/>
                  </a:rPr>
                  <a:t>a[1]</a:t>
                </a:r>
                <a:r>
                  <a:rPr kumimoji="1" lang="en-US" altLang="zh-CN" sz="2000" b="1">
                    <a:solidFill>
                      <a:schemeClr val="tx2"/>
                    </a:solidFill>
                    <a:effectLst/>
                    <a:ea typeface="宋体" charset="-122"/>
                  </a:rPr>
                  <a:t> 	a[1][1]	</a:t>
                </a:r>
              </a:p>
              <a:p>
                <a:pPr eaLnBrk="1" hangingPunct="1"/>
                <a:r>
                  <a:rPr kumimoji="1" lang="en-US" altLang="zh-CN" sz="2000" b="1">
                    <a:solidFill>
                      <a:schemeClr val="tx2"/>
                    </a:solidFill>
                    <a:effectLst/>
                    <a:ea typeface="宋体" charset="-122"/>
                  </a:rPr>
                  <a:t>			a[1][2]	</a:t>
                </a:r>
              </a:p>
            </p:txBody>
          </p:sp>
          <p:sp>
            <p:nvSpPr>
              <p:cNvPr id="16427" name="Rectangle 41"/>
              <p:cNvSpPr>
                <a:spLocks noChangeArrowheads="1"/>
              </p:cNvSpPr>
              <p:nvPr/>
            </p:nvSpPr>
            <p:spPr bwMode="auto">
              <a:xfrm>
                <a:off x="336" y="1565"/>
                <a:ext cx="1236" cy="711"/>
              </a:xfrm>
              <a:prstGeom prst="rect">
                <a:avLst/>
              </a:prstGeom>
              <a:noFill/>
              <a:ln w="28575" cap="sq">
                <a:noFill/>
                <a:miter lim="800000"/>
                <a:headEnd/>
                <a:tailEnd/>
              </a:ln>
            </p:spPr>
            <p:txBody>
              <a:bodyPr anchor="ctr">
                <a:spAutoFit/>
              </a:bodyPr>
              <a:lstStyle/>
              <a:p>
                <a:pPr eaLnBrk="1" hangingPunct="1"/>
                <a:r>
                  <a:rPr kumimoji="1" lang="en-US" altLang="zh-CN" sz="2000" b="1">
                    <a:solidFill>
                      <a:schemeClr val="tx2"/>
                    </a:solidFill>
                    <a:effectLst/>
                    <a:latin typeface="Courier New" pitchFamily="49" charset="0"/>
                    <a:ea typeface="宋体" charset="-122"/>
                  </a:rPr>
                  <a:t>                           </a:t>
                </a:r>
              </a:p>
              <a:p>
                <a:pPr eaLnBrk="1" hangingPunct="1"/>
                <a:r>
                  <a:rPr kumimoji="1" lang="en-US" altLang="zh-CN" sz="2000" b="1">
                    <a:solidFill>
                      <a:schemeClr val="tx2"/>
                    </a:solidFill>
                    <a:effectLst/>
                    <a:latin typeface="Courier New" pitchFamily="49" charset="0"/>
                    <a:ea typeface="宋体" charset="-122"/>
                  </a:rPr>
                  <a:t>          </a:t>
                </a:r>
                <a:r>
                  <a:rPr kumimoji="1" lang="en-US" altLang="zh-CN" sz="2800" b="1">
                    <a:solidFill>
                      <a:schemeClr val="tx2"/>
                    </a:solidFill>
                    <a:effectLst/>
                    <a:latin typeface="Courier New" pitchFamily="49" charset="0"/>
                    <a:ea typeface="宋体" charset="-122"/>
                  </a:rPr>
                  <a:t>a</a:t>
                </a:r>
              </a:p>
              <a:p>
                <a:pPr eaLnBrk="1" hangingPunct="1"/>
                <a:r>
                  <a:rPr kumimoji="1" lang="en-US" altLang="zh-CN" sz="2000" b="1">
                    <a:solidFill>
                      <a:schemeClr val="tx2"/>
                    </a:solidFill>
                    <a:effectLst/>
                    <a:latin typeface="Courier New" pitchFamily="49" charset="0"/>
                    <a:ea typeface="宋体" charset="-122"/>
                  </a:rPr>
                  <a:t>          </a:t>
                </a:r>
              </a:p>
            </p:txBody>
          </p:sp>
        </p:grpSp>
        <p:grpSp>
          <p:nvGrpSpPr>
            <p:cNvPr id="7" name="Group 42"/>
            <p:cNvGrpSpPr>
              <a:grpSpLocks/>
            </p:cNvGrpSpPr>
            <p:nvPr/>
          </p:nvGrpSpPr>
          <p:grpSpPr bwMode="auto">
            <a:xfrm>
              <a:off x="1728" y="1441"/>
              <a:ext cx="768" cy="970"/>
              <a:chOff x="1728" y="1441"/>
              <a:chExt cx="768" cy="970"/>
            </a:xfrm>
          </p:grpSpPr>
          <p:sp>
            <p:nvSpPr>
              <p:cNvPr id="686123" name="AutoShape 43"/>
              <p:cNvSpPr>
                <a:spLocks/>
              </p:cNvSpPr>
              <p:nvPr/>
            </p:nvSpPr>
            <p:spPr bwMode="auto">
              <a:xfrm>
                <a:off x="1728" y="1633"/>
                <a:ext cx="192" cy="62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24" name="AutoShape 44"/>
              <p:cNvSpPr>
                <a:spLocks/>
              </p:cNvSpPr>
              <p:nvPr/>
            </p:nvSpPr>
            <p:spPr bwMode="auto">
              <a:xfrm>
                <a:off x="2304" y="1441"/>
                <a:ext cx="192" cy="38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25" name="AutoShape 45"/>
              <p:cNvSpPr>
                <a:spLocks/>
              </p:cNvSpPr>
              <p:nvPr/>
            </p:nvSpPr>
            <p:spPr bwMode="auto">
              <a:xfrm>
                <a:off x="2304" y="2017"/>
                <a:ext cx="192" cy="394"/>
              </a:xfrm>
              <a:prstGeom prst="leftBrace">
                <a:avLst>
                  <a:gd name="adj1" fmla="val 0"/>
                  <a:gd name="adj2" fmla="val 50000"/>
                </a:avLst>
              </a:prstGeom>
              <a:noFill/>
              <a:ln w="25400">
                <a:solidFill>
                  <a:srgbClr val="000080"/>
                </a:solidFill>
                <a:round/>
                <a:headEnd/>
                <a:tailEnd/>
              </a:ln>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grpSp>
      </p:grpSp>
      <p:sp>
        <p:nvSpPr>
          <p:cNvPr id="686126" name="Line 46"/>
          <p:cNvSpPr>
            <a:spLocks noChangeShapeType="1"/>
          </p:cNvSpPr>
          <p:nvPr/>
        </p:nvSpPr>
        <p:spPr bwMode="auto">
          <a:xfrm>
            <a:off x="6732588" y="5676900"/>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6127" name="Rectangle 47"/>
          <p:cNvSpPr>
            <a:spLocks noChangeArrowheads="1"/>
          </p:cNvSpPr>
          <p:nvPr/>
        </p:nvSpPr>
        <p:spPr bwMode="auto">
          <a:xfrm>
            <a:off x="827088" y="3357563"/>
            <a:ext cx="2740025" cy="457200"/>
          </a:xfrm>
          <a:prstGeom prst="rect">
            <a:avLst/>
          </a:prstGeom>
          <a:noFill/>
          <a:ln w="12700">
            <a:noFill/>
            <a:miter lim="800000"/>
            <a:headEnd type="none" w="sm" len="sm"/>
            <a:tailEnd type="none" w="sm" len="sm"/>
          </a:ln>
          <a:effectLst/>
        </p:spPr>
        <p:txBody>
          <a:bodyPr wrap="none">
            <a:spAutoFit/>
          </a:bodyPr>
          <a:lstStyle/>
          <a:p>
            <a:pPr>
              <a:defRPr/>
            </a:pPr>
            <a:r>
              <a:rPr kumimoji="1" lang="en-US" altLang="zh-CN" b="1">
                <a:solidFill>
                  <a:schemeClr val="accent2"/>
                </a:solidFill>
                <a:effectLst>
                  <a:outerShdw blurRad="38100" dist="38100" dir="2700000" algn="tl">
                    <a:srgbClr val="C0C0C0"/>
                  </a:outerShdw>
                </a:effectLst>
                <a:latin typeface="Courier New" pitchFamily="49" charset="0"/>
                <a:ea typeface="宋体" pitchFamily="2" charset="-122"/>
              </a:rPr>
              <a:t>short</a:t>
            </a:r>
            <a:r>
              <a:rPr kumimoji="1" lang="en-US" altLang="zh-CN" b="1">
                <a:solidFill>
                  <a:schemeClr val="tx2"/>
                </a:solidFill>
                <a:effectLst/>
                <a:latin typeface="Courier New" pitchFamily="49" charset="0"/>
                <a:ea typeface="宋体" pitchFamily="2" charset="-122"/>
              </a:rPr>
              <a:t> a[2][3];</a:t>
            </a:r>
            <a:endParaRPr kumimoji="1" lang="zh-CN" altLang="en-US" b="1">
              <a:solidFill>
                <a:schemeClr val="tx2"/>
              </a:solidFill>
              <a:effectLst/>
              <a:latin typeface="Courier New" pitchFamily="49" charset="0"/>
              <a:ea typeface="宋体" pitchFamily="2" charset="-122"/>
            </a:endParaRPr>
          </a:p>
        </p:txBody>
      </p:sp>
      <p:sp>
        <p:nvSpPr>
          <p:cNvPr id="686128" name="Line 48"/>
          <p:cNvSpPr>
            <a:spLocks noChangeShapeType="1"/>
          </p:cNvSpPr>
          <p:nvPr/>
        </p:nvSpPr>
        <p:spPr bwMode="auto">
          <a:xfrm>
            <a:off x="7181850" y="4321175"/>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6129" name="Line 49"/>
          <p:cNvSpPr>
            <a:spLocks noChangeShapeType="1"/>
          </p:cNvSpPr>
          <p:nvPr/>
        </p:nvSpPr>
        <p:spPr bwMode="auto">
          <a:xfrm>
            <a:off x="7172325" y="6151563"/>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6130" name="Line 50"/>
          <p:cNvSpPr>
            <a:spLocks noChangeShapeType="1"/>
          </p:cNvSpPr>
          <p:nvPr/>
        </p:nvSpPr>
        <p:spPr bwMode="auto">
          <a:xfrm>
            <a:off x="7172325" y="2492375"/>
            <a:ext cx="935038" cy="0"/>
          </a:xfrm>
          <a:prstGeom prst="line">
            <a:avLst/>
          </a:prstGeom>
          <a:noFill/>
          <a:ln w="12700">
            <a:solidFill>
              <a:schemeClr val="tx1"/>
            </a:solidFill>
            <a:round/>
            <a:headEnd type="none" w="sm" len="sm"/>
            <a:tailEnd type="none" w="sm" len="sm"/>
          </a:ln>
          <a:effectLst/>
        </p:spPr>
        <p:txBody>
          <a:bodyPr/>
          <a:lstStyle/>
          <a:p>
            <a:pPr>
              <a:defRPr/>
            </a:pPr>
            <a:endParaRPr lang="zh-CN" altLang="en-US"/>
          </a:p>
        </p:txBody>
      </p:sp>
      <p:sp>
        <p:nvSpPr>
          <p:cNvPr id="686131" name="Rectangle 51"/>
          <p:cNvSpPr>
            <a:spLocks noChangeArrowheads="1"/>
          </p:cNvSpPr>
          <p:nvPr/>
        </p:nvSpPr>
        <p:spPr bwMode="auto">
          <a:xfrm>
            <a:off x="7192963" y="2492375"/>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2" name="Rectangle 52"/>
          <p:cNvSpPr>
            <a:spLocks noChangeArrowheads="1"/>
          </p:cNvSpPr>
          <p:nvPr/>
        </p:nvSpPr>
        <p:spPr bwMode="auto">
          <a:xfrm>
            <a:off x="7192963" y="3111500"/>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3" name="Rectangle 53"/>
          <p:cNvSpPr>
            <a:spLocks noChangeArrowheads="1"/>
          </p:cNvSpPr>
          <p:nvPr/>
        </p:nvSpPr>
        <p:spPr bwMode="auto">
          <a:xfrm>
            <a:off x="7192963" y="3716338"/>
            <a:ext cx="900112" cy="611187"/>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4" name="Rectangle 54"/>
          <p:cNvSpPr>
            <a:spLocks noChangeArrowheads="1"/>
          </p:cNvSpPr>
          <p:nvPr/>
        </p:nvSpPr>
        <p:spPr bwMode="auto">
          <a:xfrm>
            <a:off x="7192963" y="4330700"/>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5" name="Rectangle 55"/>
          <p:cNvSpPr>
            <a:spLocks noChangeArrowheads="1"/>
          </p:cNvSpPr>
          <p:nvPr/>
        </p:nvSpPr>
        <p:spPr bwMode="auto">
          <a:xfrm>
            <a:off x="7192963" y="4949825"/>
            <a:ext cx="900112" cy="611188"/>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6" name="Rectangle 56"/>
          <p:cNvSpPr>
            <a:spLocks noChangeArrowheads="1"/>
          </p:cNvSpPr>
          <p:nvPr/>
        </p:nvSpPr>
        <p:spPr bwMode="auto">
          <a:xfrm>
            <a:off x="7192963" y="5554663"/>
            <a:ext cx="900112" cy="611187"/>
          </a:xfrm>
          <a:prstGeom prst="rect">
            <a:avLst/>
          </a:prstGeom>
          <a:noFill/>
          <a:ln w="38100">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7" name="AutoShape 57"/>
          <p:cNvSpPr>
            <a:spLocks/>
          </p:cNvSpPr>
          <p:nvPr/>
        </p:nvSpPr>
        <p:spPr bwMode="auto">
          <a:xfrm>
            <a:off x="6530975" y="2565400"/>
            <a:ext cx="217488" cy="1727200"/>
          </a:xfrm>
          <a:prstGeom prst="leftBrace">
            <a:avLst>
              <a:gd name="adj1" fmla="val 66180"/>
              <a:gd name="adj2" fmla="val 50000"/>
            </a:avLst>
          </a:prstGeom>
          <a:noFill/>
          <a:ln w="53975">
            <a:solidFill>
              <a:srgbClr val="FF0000"/>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8" name="AutoShape 58"/>
          <p:cNvSpPr>
            <a:spLocks/>
          </p:cNvSpPr>
          <p:nvPr/>
        </p:nvSpPr>
        <p:spPr bwMode="auto">
          <a:xfrm>
            <a:off x="6516688" y="4351338"/>
            <a:ext cx="217487" cy="1727200"/>
          </a:xfrm>
          <a:prstGeom prst="leftBrace">
            <a:avLst>
              <a:gd name="adj1" fmla="val 66180"/>
              <a:gd name="adj2" fmla="val 50000"/>
            </a:avLst>
          </a:prstGeom>
          <a:noFill/>
          <a:ln w="53975">
            <a:solidFill>
              <a:srgbClr val="FF0000"/>
            </a:solidFill>
            <a:round/>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39" name="Rectangle 59"/>
          <p:cNvSpPr>
            <a:spLocks noChangeArrowheads="1"/>
          </p:cNvSpPr>
          <p:nvPr/>
        </p:nvSpPr>
        <p:spPr bwMode="auto">
          <a:xfrm>
            <a:off x="1390650" y="4076700"/>
            <a:ext cx="1885950" cy="9366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40" name="Rectangle 60"/>
          <p:cNvSpPr>
            <a:spLocks noChangeArrowheads="1"/>
          </p:cNvSpPr>
          <p:nvPr/>
        </p:nvSpPr>
        <p:spPr bwMode="auto">
          <a:xfrm>
            <a:off x="1390650" y="5013325"/>
            <a:ext cx="1885950" cy="936625"/>
          </a:xfrm>
          <a:prstGeom prst="rect">
            <a:avLst/>
          </a:prstGeom>
          <a:noFill/>
          <a:ln w="57150">
            <a:solidFill>
              <a:srgbClr val="FF0000"/>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686142" name="Text Box 62"/>
          <p:cNvSpPr txBox="1">
            <a:spLocks noChangeArrowheads="1"/>
          </p:cNvSpPr>
          <p:nvPr/>
        </p:nvSpPr>
        <p:spPr bwMode="auto">
          <a:xfrm>
            <a:off x="5973763" y="2133600"/>
            <a:ext cx="336550" cy="366713"/>
          </a:xfrm>
          <a:prstGeom prst="rect">
            <a:avLst/>
          </a:prstGeom>
          <a:noFill/>
          <a:ln w="28575" cap="sq">
            <a:noFill/>
            <a:miter lim="800000"/>
            <a:headEnd/>
            <a:tailEnd/>
          </a:ln>
          <a:effectLst/>
        </p:spPr>
        <p:txBody>
          <a:bodyPr wrap="none"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a:t>
            </a:r>
          </a:p>
        </p:txBody>
      </p:sp>
      <p:sp>
        <p:nvSpPr>
          <p:cNvPr id="686143" name="Text Box 63"/>
          <p:cNvSpPr txBox="1">
            <a:spLocks noChangeArrowheads="1"/>
          </p:cNvSpPr>
          <p:nvPr/>
        </p:nvSpPr>
        <p:spPr bwMode="auto">
          <a:xfrm>
            <a:off x="5580063" y="4013200"/>
            <a:ext cx="1052512" cy="366713"/>
          </a:xfrm>
          <a:prstGeom prst="rect">
            <a:avLst/>
          </a:prstGeom>
          <a:noFill/>
          <a:ln w="28575" cap="sq">
            <a:noFill/>
            <a:miter lim="800000"/>
            <a:headEnd/>
            <a:tailEnd/>
          </a:ln>
          <a:effectLst/>
        </p:spPr>
        <p:txBody>
          <a:bodyPr anchor="ctr">
            <a:spAutoFit/>
          </a:bodyPr>
          <a:lstStyle/>
          <a:p>
            <a:pPr algn="ctr" eaLnBrk="1" hangingPunct="1">
              <a:lnSpc>
                <a:spcPct val="75000"/>
              </a:lnSpc>
              <a:defRPr/>
            </a:pPr>
            <a:r>
              <a:rPr kumimoji="1" lang="en-US" altLang="zh-CN" b="1">
                <a:solidFill>
                  <a:srgbClr val="880000"/>
                </a:solidFill>
                <a:effectLst>
                  <a:outerShdw blurRad="38100" dist="38100" dir="2700000" algn="tl">
                    <a:srgbClr val="C0C0C0"/>
                  </a:outerShdw>
                </a:effectLst>
                <a:ea typeface="宋体" pitchFamily="2" charset="-122"/>
              </a:rPr>
              <a:t>a</a:t>
            </a:r>
            <a:r>
              <a:rPr kumimoji="1" lang="en-US" altLang="zh-CN" b="1">
                <a:solidFill>
                  <a:srgbClr val="000066"/>
                </a:solidFill>
                <a:effectLst>
                  <a:outerShdw blurRad="38100" dist="38100" dir="2700000" algn="tl">
                    <a:srgbClr val="C0C0C0"/>
                  </a:outerShdw>
                </a:effectLst>
                <a:ea typeface="宋体" pitchFamily="2" charset="-122"/>
              </a:rPr>
              <a:t>+1</a:t>
            </a:r>
            <a:endParaRPr kumimoji="1" lang="en-US" altLang="zh-CN" b="1">
              <a:solidFill>
                <a:srgbClr val="880000"/>
              </a:solidFill>
              <a:effectLst>
                <a:outerShdw blurRad="38100" dist="38100" dir="2700000" algn="tl">
                  <a:srgbClr val="C0C0C0"/>
                </a:outerShdw>
              </a:effectLst>
              <a:ea typeface="宋体" pitchFamily="2" charset="-122"/>
            </a:endParaRPr>
          </a:p>
        </p:txBody>
      </p:sp>
      <p:sp>
        <p:nvSpPr>
          <p:cNvPr id="16414" name="Text Box 65"/>
          <p:cNvSpPr txBox="1">
            <a:spLocks noChangeArrowheads="1"/>
          </p:cNvSpPr>
          <p:nvPr/>
        </p:nvSpPr>
        <p:spPr bwMode="auto">
          <a:xfrm>
            <a:off x="4486275" y="5487988"/>
            <a:ext cx="1301750" cy="457200"/>
          </a:xfrm>
          <a:prstGeom prst="rect">
            <a:avLst/>
          </a:prstGeom>
          <a:noFill/>
          <a:ln w="12700" cap="sq">
            <a:noFill/>
            <a:miter lim="800000"/>
            <a:headEnd type="none" w="sm" len="sm"/>
            <a:tailEnd type="none" w="sm" len="sm"/>
          </a:ln>
        </p:spPr>
        <p:txBody>
          <a:bodyPr wrap="none" anchor="ctr">
            <a:spAutoFit/>
          </a:bodyPr>
          <a:lstStyle/>
          <a:p>
            <a:pPr algn="ctr" eaLnBrk="1" hangingPunct="1"/>
            <a:r>
              <a:rPr kumimoji="1" lang="en-US" altLang="zh-CN" b="1">
                <a:solidFill>
                  <a:srgbClr val="000066"/>
                </a:solidFill>
                <a:effectLst/>
                <a:ea typeface="宋体" charset="-122"/>
              </a:rPr>
              <a:t>&amp;</a:t>
            </a:r>
            <a:r>
              <a:rPr kumimoji="1" lang="en-US" altLang="zh-CN" b="1">
                <a:solidFill>
                  <a:srgbClr val="880000"/>
                </a:solidFill>
                <a:effectLst/>
                <a:ea typeface="宋体" charset="-122"/>
              </a:rPr>
              <a:t>a[1]</a:t>
            </a:r>
            <a:r>
              <a:rPr kumimoji="1" lang="en-US" altLang="zh-CN" b="1">
                <a:solidFill>
                  <a:srgbClr val="000066"/>
                </a:solidFill>
                <a:effectLst/>
                <a:ea typeface="宋体" charset="-122"/>
              </a:rPr>
              <a:t>[2]</a:t>
            </a:r>
          </a:p>
        </p:txBody>
      </p:sp>
      <p:sp>
        <p:nvSpPr>
          <p:cNvPr id="16415" name="Text Box 66"/>
          <p:cNvSpPr txBox="1">
            <a:spLocks noChangeArrowheads="1"/>
          </p:cNvSpPr>
          <p:nvPr/>
        </p:nvSpPr>
        <p:spPr bwMode="auto">
          <a:xfrm>
            <a:off x="5653088" y="5549900"/>
            <a:ext cx="998537" cy="366713"/>
          </a:xfrm>
          <a:prstGeom prst="rect">
            <a:avLst/>
          </a:prstGeom>
          <a:noFill/>
          <a:ln w="28575" cap="sq">
            <a:noFill/>
            <a:miter lim="800000"/>
            <a:headEnd/>
            <a:tailEnd/>
          </a:ln>
        </p:spPr>
        <p:txBody>
          <a:bodyPr wrap="none" anchor="ctr">
            <a:spAutoFit/>
          </a:bodyPr>
          <a:lstStyle/>
          <a:p>
            <a:pPr algn="ctr" eaLnBrk="1" hangingPunct="1">
              <a:lnSpc>
                <a:spcPct val="75000"/>
              </a:lnSpc>
            </a:pPr>
            <a:r>
              <a:rPr kumimoji="1" lang="en-US" altLang="zh-CN">
                <a:solidFill>
                  <a:srgbClr val="880000"/>
                </a:solidFill>
                <a:effectLst/>
                <a:ea typeface="宋体" charset="-122"/>
              </a:rPr>
              <a:t>a[1]</a:t>
            </a:r>
            <a:r>
              <a:rPr kumimoji="1" lang="en-US" altLang="zh-CN">
                <a:effectLst/>
                <a:ea typeface="宋体" charset="-122"/>
              </a:rPr>
              <a:t>+2</a:t>
            </a:r>
          </a:p>
        </p:txBody>
      </p:sp>
      <p:sp>
        <p:nvSpPr>
          <p:cNvPr id="686147" name="Line 67"/>
          <p:cNvSpPr>
            <a:spLocks noChangeShapeType="1"/>
          </p:cNvSpPr>
          <p:nvPr/>
        </p:nvSpPr>
        <p:spPr bwMode="auto">
          <a:xfrm>
            <a:off x="6724650" y="5688013"/>
            <a:ext cx="457200" cy="0"/>
          </a:xfrm>
          <a:prstGeom prst="line">
            <a:avLst/>
          </a:prstGeom>
          <a:noFill/>
          <a:ln w="38100" cap="sq">
            <a:solidFill>
              <a:srgbClr val="FF0066"/>
            </a:solidFill>
            <a:round/>
            <a:headEnd/>
            <a:tailEnd type="triangle" w="med" len="med"/>
          </a:ln>
          <a:effectLst/>
        </p:spPr>
        <p:txBody>
          <a:bodyPr wrap="none" anchor="ctr"/>
          <a:lstStyle/>
          <a:p>
            <a:pPr>
              <a:defRPr/>
            </a:pPr>
            <a:endParaRPr lang="zh-CN" altLang="en-US"/>
          </a:p>
        </p:txBody>
      </p:sp>
      <p:sp>
        <p:nvSpPr>
          <p:cNvPr id="686148" name="Rectangle 68"/>
          <p:cNvSpPr>
            <a:spLocks noChangeArrowheads="1"/>
          </p:cNvSpPr>
          <p:nvPr/>
        </p:nvSpPr>
        <p:spPr bwMode="auto">
          <a:xfrm>
            <a:off x="539750" y="3500438"/>
            <a:ext cx="3830638" cy="1152525"/>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defRPr/>
            </a:pPr>
            <a:r>
              <a:rPr lang="en-US" altLang="zh-CN" sz="2800" b="1">
                <a:solidFill>
                  <a:srgbClr val="FF3300"/>
                </a:solidFill>
                <a:effectLst>
                  <a:outerShdw blurRad="38100" dist="38100" dir="2700000" algn="tl">
                    <a:srgbClr val="000000"/>
                  </a:outerShdw>
                </a:effectLst>
                <a:ea typeface="楷体_GB2312" pitchFamily="49" charset="-122"/>
              </a:rPr>
              <a:t>*</a:t>
            </a:r>
            <a:r>
              <a:rPr lang="en-US" altLang="zh-CN" sz="2800" b="1">
                <a:solidFill>
                  <a:srgbClr val="000066"/>
                </a:solidFill>
                <a:effectLst/>
                <a:ea typeface="楷体_GB2312" pitchFamily="49" charset="-122"/>
              </a:rPr>
              <a:t>( *(a</a:t>
            </a:r>
            <a:r>
              <a:rPr kumimoji="1" lang="en-US" altLang="zh-CN" sz="2800" b="1">
                <a:solidFill>
                  <a:srgbClr val="000066"/>
                </a:solidFill>
                <a:effectLst/>
                <a:ea typeface="楷体_GB2312" pitchFamily="49" charset="-122"/>
              </a:rPr>
              <a:t>+i) + j ) </a:t>
            </a:r>
            <a:r>
              <a:rPr kumimoji="1" lang="zh-CN" altLang="en-US" sz="2800" b="1">
                <a:solidFill>
                  <a:srgbClr val="000066"/>
                </a:solidFill>
                <a:effectLst/>
                <a:ea typeface="楷体_GB2312" pitchFamily="49" charset="-122"/>
              </a:rPr>
              <a:t>即 </a:t>
            </a:r>
            <a:r>
              <a:rPr kumimoji="1" lang="en-US" altLang="zh-CN" sz="2800" b="1">
                <a:solidFill>
                  <a:srgbClr val="000066"/>
                </a:solidFill>
                <a:effectLst/>
                <a:ea typeface="楷体_GB2312" pitchFamily="49" charset="-122"/>
              </a:rPr>
              <a:t>a[i][j]  </a:t>
            </a:r>
          </a:p>
          <a:p>
            <a:pPr algn="ctr" eaLnBrk="1">
              <a:lnSpc>
                <a:spcPct val="95000"/>
              </a:lnSpc>
              <a:spcBef>
                <a:spcPct val="20000"/>
              </a:spcBef>
              <a:buClr>
                <a:srgbClr val="FFCC66"/>
              </a:buClr>
              <a:buSzPct val="80000"/>
              <a:buFont typeface="Monotype Sorts" charset="2"/>
              <a:buNone/>
              <a:defRPr/>
            </a:pPr>
            <a:r>
              <a:rPr kumimoji="1" lang="zh-CN" altLang="zh-CN" sz="2800" b="1">
                <a:solidFill>
                  <a:srgbClr val="000066"/>
                </a:solidFill>
                <a:effectLst/>
                <a:ea typeface="楷体_GB2312" pitchFamily="49" charset="-122"/>
              </a:rPr>
              <a:t>代表</a:t>
            </a:r>
            <a:r>
              <a:rPr kumimoji="1" lang="zh-CN" altLang="en-US" sz="2800" b="1">
                <a:solidFill>
                  <a:srgbClr val="000066"/>
                </a:solidFill>
                <a:effectLst/>
                <a:ea typeface="楷体_GB2312" pitchFamily="49" charset="-122"/>
              </a:rPr>
              <a:t>第</a:t>
            </a:r>
            <a:r>
              <a:rPr kumimoji="1" lang="en-US" altLang="zh-CN" sz="2800" b="1">
                <a:solidFill>
                  <a:srgbClr val="000066"/>
                </a:solidFill>
                <a:effectLst/>
                <a:ea typeface="楷体_GB2312" pitchFamily="49" charset="-122"/>
              </a:rPr>
              <a:t>i</a:t>
            </a:r>
            <a:r>
              <a:rPr kumimoji="1" lang="zh-CN" altLang="en-US" sz="2800" b="1">
                <a:solidFill>
                  <a:srgbClr val="000066"/>
                </a:solidFill>
                <a:effectLst/>
                <a:ea typeface="楷体_GB2312" pitchFamily="49" charset="-122"/>
              </a:rPr>
              <a:t>行第</a:t>
            </a:r>
            <a:r>
              <a:rPr kumimoji="1" lang="en-US" altLang="zh-CN" sz="2800" b="1">
                <a:solidFill>
                  <a:srgbClr val="000066"/>
                </a:solidFill>
                <a:effectLst/>
                <a:ea typeface="楷体_GB2312" pitchFamily="49" charset="-122"/>
              </a:rPr>
              <a:t>j</a:t>
            </a:r>
            <a:r>
              <a:rPr kumimoji="1" lang="zh-CN" altLang="en-US" sz="2800" b="1">
                <a:solidFill>
                  <a:srgbClr val="000066"/>
                </a:solidFill>
                <a:effectLst/>
                <a:ea typeface="楷体_GB2312" pitchFamily="49" charset="-122"/>
              </a:rPr>
              <a:t>列</a:t>
            </a:r>
            <a:r>
              <a:rPr kumimoji="1" lang="zh-CN" altLang="zh-CN" sz="2800" b="1">
                <a:solidFill>
                  <a:srgbClr val="000066"/>
                </a:solidFill>
                <a:effectLst/>
                <a:ea typeface="楷体_GB2312" pitchFamily="49" charset="-122"/>
              </a:rPr>
              <a:t>的</a:t>
            </a:r>
            <a:r>
              <a:rPr kumimoji="1" lang="zh-CN" altLang="en-US" sz="2800" b="1">
                <a:solidFill>
                  <a:srgbClr val="FF3300"/>
                </a:solidFill>
                <a:effectLst>
                  <a:outerShdw blurRad="38100" dist="38100" dir="2700000" algn="tl">
                    <a:srgbClr val="000000"/>
                  </a:outerShdw>
                </a:effectLst>
                <a:ea typeface="楷体_GB2312" pitchFamily="49" charset="-122"/>
              </a:rPr>
              <a:t>内容</a:t>
            </a:r>
            <a:endParaRPr lang="en-US" altLang="zh-CN" sz="2800" b="1">
              <a:solidFill>
                <a:srgbClr val="FF3300"/>
              </a:solidFill>
              <a:effectLst>
                <a:outerShdw blurRad="38100" dist="38100" dir="2700000" algn="tl">
                  <a:srgbClr val="000000"/>
                </a:outerShdw>
              </a:effectLst>
              <a:ea typeface="楷体_GB2312" pitchFamily="49" charset="-122"/>
            </a:endParaRPr>
          </a:p>
        </p:txBody>
      </p:sp>
      <p:sp>
        <p:nvSpPr>
          <p:cNvPr id="686149" name="Rectangle 69"/>
          <p:cNvSpPr>
            <a:spLocks noChangeArrowheads="1"/>
          </p:cNvSpPr>
          <p:nvPr/>
        </p:nvSpPr>
        <p:spPr bwMode="auto">
          <a:xfrm>
            <a:off x="539750" y="1341438"/>
            <a:ext cx="7632700" cy="646112"/>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defRPr/>
            </a:pPr>
            <a:r>
              <a:rPr lang="zh-CN" altLang="en-US" sz="2800" b="1">
                <a:solidFill>
                  <a:srgbClr val="000066"/>
                </a:solidFill>
                <a:effectLst/>
                <a:ea typeface="楷体_GB2312" pitchFamily="49" charset="-122"/>
              </a:rPr>
              <a:t>*</a:t>
            </a:r>
            <a:r>
              <a:rPr lang="en-US" altLang="zh-CN" sz="2800" b="1">
                <a:solidFill>
                  <a:srgbClr val="000066"/>
                </a:solidFill>
                <a:effectLst/>
                <a:ea typeface="楷体_GB2312" pitchFamily="49" charset="-122"/>
              </a:rPr>
              <a:t>(a </a:t>
            </a:r>
            <a:r>
              <a:rPr kumimoji="1" lang="en-US" altLang="zh-CN" sz="2800" b="1">
                <a:solidFill>
                  <a:srgbClr val="000066"/>
                </a:solidFill>
                <a:effectLst/>
                <a:ea typeface="楷体_GB2312" pitchFamily="49" charset="-122"/>
              </a:rPr>
              <a:t>+ i)  </a:t>
            </a:r>
            <a:r>
              <a:rPr kumimoji="1" lang="zh-CN" altLang="en-US" sz="2800" b="1">
                <a:solidFill>
                  <a:srgbClr val="000066"/>
                </a:solidFill>
                <a:effectLst/>
                <a:ea typeface="楷体_GB2312" pitchFamily="49" charset="-122"/>
              </a:rPr>
              <a:t>即 </a:t>
            </a:r>
            <a:r>
              <a:rPr kumimoji="1" lang="en-US" altLang="zh-CN" sz="2800" b="1">
                <a:solidFill>
                  <a:srgbClr val="000066"/>
                </a:solidFill>
                <a:effectLst/>
                <a:ea typeface="楷体_GB2312" pitchFamily="49" charset="-122"/>
              </a:rPr>
              <a:t>a[i]  </a:t>
            </a:r>
            <a:r>
              <a:rPr kumimoji="1" lang="zh-CN" altLang="zh-CN" sz="2800" b="1">
                <a:solidFill>
                  <a:srgbClr val="000066"/>
                </a:solidFill>
                <a:effectLst/>
                <a:ea typeface="楷体_GB2312" pitchFamily="49" charset="-122"/>
              </a:rPr>
              <a:t>代表</a:t>
            </a:r>
            <a:r>
              <a:rPr kumimoji="1" lang="zh-CN" altLang="en-US" sz="2800" b="1">
                <a:solidFill>
                  <a:srgbClr val="000066"/>
                </a:solidFill>
                <a:effectLst/>
                <a:ea typeface="楷体_GB2312" pitchFamily="49" charset="-122"/>
              </a:rPr>
              <a:t>第</a:t>
            </a:r>
            <a:r>
              <a:rPr kumimoji="1" lang="en-US" altLang="zh-CN" sz="2800" b="1">
                <a:solidFill>
                  <a:srgbClr val="000066"/>
                </a:solidFill>
                <a:effectLst/>
                <a:ea typeface="楷体_GB2312" pitchFamily="49" charset="-122"/>
              </a:rPr>
              <a:t>i</a:t>
            </a:r>
            <a:r>
              <a:rPr kumimoji="1" lang="zh-CN" altLang="en-US" sz="2800" b="1">
                <a:solidFill>
                  <a:srgbClr val="000066"/>
                </a:solidFill>
                <a:effectLst/>
                <a:ea typeface="楷体_GB2312" pitchFamily="49" charset="-122"/>
              </a:rPr>
              <a:t>行</a:t>
            </a:r>
            <a:r>
              <a:rPr kumimoji="1" lang="zh-CN" altLang="en-US" sz="2800" b="1">
                <a:solidFill>
                  <a:srgbClr val="FF3300"/>
                </a:solidFill>
                <a:effectLst>
                  <a:outerShdw blurRad="38100" dist="38100" dir="2700000" algn="tl">
                    <a:srgbClr val="000000"/>
                  </a:outerShdw>
                </a:effectLst>
                <a:ea typeface="楷体_GB2312" pitchFamily="49" charset="-122"/>
              </a:rPr>
              <a:t>第</a:t>
            </a:r>
            <a:r>
              <a:rPr kumimoji="1" lang="en-US" altLang="zh-CN" sz="2800" b="1">
                <a:solidFill>
                  <a:srgbClr val="FF3300"/>
                </a:solidFill>
                <a:effectLst>
                  <a:outerShdw blurRad="38100" dist="38100" dir="2700000" algn="tl">
                    <a:srgbClr val="000000"/>
                  </a:outerShdw>
                </a:effectLst>
                <a:ea typeface="楷体_GB2312" pitchFamily="49" charset="-122"/>
              </a:rPr>
              <a:t>0</a:t>
            </a:r>
            <a:r>
              <a:rPr kumimoji="1" lang="zh-CN" altLang="en-US" sz="2800" b="1">
                <a:solidFill>
                  <a:srgbClr val="FF3300"/>
                </a:solidFill>
                <a:effectLst>
                  <a:outerShdw blurRad="38100" dist="38100" dir="2700000" algn="tl">
                    <a:srgbClr val="000000"/>
                  </a:outerShdw>
                </a:effectLst>
                <a:ea typeface="楷体_GB2312" pitchFamily="49" charset="-122"/>
              </a:rPr>
              <a:t>列</a:t>
            </a:r>
            <a:r>
              <a:rPr kumimoji="1" lang="zh-CN" altLang="zh-CN" sz="2800" b="1">
                <a:solidFill>
                  <a:srgbClr val="000066"/>
                </a:solidFill>
                <a:effectLst/>
                <a:ea typeface="楷体_GB2312" pitchFamily="49" charset="-122"/>
              </a:rPr>
              <a:t>的地址</a:t>
            </a:r>
            <a:r>
              <a:rPr kumimoji="1" lang="zh-CN" altLang="en-US" sz="2800" b="1">
                <a:solidFill>
                  <a:srgbClr val="000066"/>
                </a:solidFill>
                <a:effectLst/>
                <a:ea typeface="楷体_GB2312" pitchFamily="49" charset="-122"/>
              </a:rPr>
              <a:t>，</a:t>
            </a:r>
            <a:r>
              <a:rPr kumimoji="1" lang="zh-CN" altLang="en-US" sz="2800" b="1">
                <a:solidFill>
                  <a:srgbClr val="FF3300"/>
                </a:solidFill>
                <a:effectLst>
                  <a:outerShdw blurRad="38100" dist="38100" dir="2700000" algn="tl">
                    <a:srgbClr val="000000"/>
                  </a:outerShdw>
                </a:effectLst>
                <a:ea typeface="楷体_GB2312" pitchFamily="49" charset="-122"/>
              </a:rPr>
              <a:t>列地址</a:t>
            </a:r>
            <a:endParaRPr lang="en-US" altLang="zh-CN" sz="2800" b="1">
              <a:solidFill>
                <a:srgbClr val="FF3300"/>
              </a:solidFill>
              <a:effectLst>
                <a:outerShdw blurRad="38100" dist="38100" dir="2700000" algn="tl">
                  <a:srgbClr val="000000"/>
                </a:outerShdw>
              </a:effectLst>
              <a:ea typeface="楷体_GB2312" pitchFamily="49" charset="-122"/>
            </a:endParaRPr>
          </a:p>
        </p:txBody>
      </p:sp>
      <p:sp>
        <p:nvSpPr>
          <p:cNvPr id="686150" name="Rectangle 70"/>
          <p:cNvSpPr>
            <a:spLocks noChangeArrowheads="1"/>
          </p:cNvSpPr>
          <p:nvPr/>
        </p:nvSpPr>
        <p:spPr bwMode="auto">
          <a:xfrm>
            <a:off x="525463" y="2133600"/>
            <a:ext cx="3975100" cy="1152525"/>
          </a:xfrm>
          <a:prstGeom prst="rect">
            <a:avLst/>
          </a:prstGeom>
          <a:solidFill>
            <a:srgbClr val="FFFFCC"/>
          </a:solidFill>
          <a:ln w="28575">
            <a:solidFill>
              <a:srgbClr val="800000"/>
            </a:solidFill>
            <a:miter lim="800000"/>
            <a:headEnd/>
            <a:tailEnd/>
          </a:ln>
        </p:spPr>
        <p:txBody>
          <a:bodyPr wrap="none" anchor="ctr"/>
          <a:lstStyle/>
          <a:p>
            <a:pPr algn="ctr" eaLnBrk="1">
              <a:lnSpc>
                <a:spcPct val="95000"/>
              </a:lnSpc>
              <a:spcBef>
                <a:spcPct val="20000"/>
              </a:spcBef>
              <a:buClr>
                <a:srgbClr val="FFCC66"/>
              </a:buClr>
              <a:buSzPct val="80000"/>
              <a:buFont typeface="Monotype Sorts" charset="2"/>
              <a:buNone/>
              <a:defRPr/>
            </a:pPr>
            <a:r>
              <a:rPr lang="zh-CN" altLang="en-US" sz="2800" b="1">
                <a:solidFill>
                  <a:srgbClr val="000066"/>
                </a:solidFill>
                <a:effectLst/>
                <a:ea typeface="楷体_GB2312" pitchFamily="49" charset="-122"/>
              </a:rPr>
              <a:t>*</a:t>
            </a:r>
            <a:r>
              <a:rPr lang="en-US" altLang="zh-CN" sz="2800" b="1">
                <a:solidFill>
                  <a:srgbClr val="000066"/>
                </a:solidFill>
                <a:effectLst/>
                <a:ea typeface="楷体_GB2312" pitchFamily="49" charset="-122"/>
              </a:rPr>
              <a:t>(a</a:t>
            </a:r>
            <a:r>
              <a:rPr kumimoji="1" lang="en-US" altLang="zh-CN" sz="2800" b="1">
                <a:solidFill>
                  <a:srgbClr val="000066"/>
                </a:solidFill>
                <a:effectLst/>
                <a:ea typeface="楷体_GB2312" pitchFamily="49" charset="-122"/>
              </a:rPr>
              <a:t>+i) + j </a:t>
            </a:r>
            <a:r>
              <a:rPr kumimoji="1" lang="zh-CN" altLang="en-US" sz="2800" b="1">
                <a:solidFill>
                  <a:srgbClr val="000066"/>
                </a:solidFill>
                <a:effectLst/>
                <a:ea typeface="楷体_GB2312" pitchFamily="49" charset="-122"/>
              </a:rPr>
              <a:t>即 </a:t>
            </a:r>
            <a:r>
              <a:rPr kumimoji="1" lang="en-US" altLang="zh-CN" sz="2800" b="1">
                <a:solidFill>
                  <a:srgbClr val="000066"/>
                </a:solidFill>
                <a:effectLst/>
                <a:ea typeface="楷体_GB2312" pitchFamily="49" charset="-122"/>
              </a:rPr>
              <a:t>a[i] + j</a:t>
            </a:r>
            <a:r>
              <a:rPr kumimoji="1" lang="zh-CN" altLang="zh-CN" sz="2800" b="1">
                <a:solidFill>
                  <a:srgbClr val="000066"/>
                </a:solidFill>
                <a:effectLst/>
                <a:ea typeface="楷体_GB2312" pitchFamily="49" charset="-122"/>
              </a:rPr>
              <a:t>代表</a:t>
            </a:r>
            <a:endParaRPr kumimoji="1" lang="zh-CN" altLang="en-US" sz="2800" b="1">
              <a:solidFill>
                <a:srgbClr val="000066"/>
              </a:solidFill>
              <a:effectLst/>
              <a:ea typeface="楷体_GB2312" pitchFamily="49" charset="-122"/>
            </a:endParaRPr>
          </a:p>
          <a:p>
            <a:pPr algn="ctr" eaLnBrk="1">
              <a:lnSpc>
                <a:spcPct val="95000"/>
              </a:lnSpc>
              <a:spcBef>
                <a:spcPct val="20000"/>
              </a:spcBef>
              <a:buClr>
                <a:srgbClr val="FFCC66"/>
              </a:buClr>
              <a:buSzPct val="80000"/>
              <a:buFont typeface="Monotype Sorts" charset="2"/>
              <a:buNone/>
              <a:defRPr/>
            </a:pPr>
            <a:r>
              <a:rPr kumimoji="1" lang="zh-CN" altLang="en-US" sz="2800" b="1">
                <a:solidFill>
                  <a:srgbClr val="000066"/>
                </a:solidFill>
                <a:effectLst/>
                <a:ea typeface="楷体_GB2312" pitchFamily="49" charset="-122"/>
              </a:rPr>
              <a:t>第</a:t>
            </a:r>
            <a:r>
              <a:rPr kumimoji="1" lang="en-US" altLang="zh-CN" sz="2800" b="1">
                <a:solidFill>
                  <a:srgbClr val="000066"/>
                </a:solidFill>
                <a:effectLst/>
                <a:ea typeface="楷体_GB2312" pitchFamily="49" charset="-122"/>
              </a:rPr>
              <a:t>i</a:t>
            </a:r>
            <a:r>
              <a:rPr kumimoji="1" lang="zh-CN" altLang="en-US" sz="2800" b="1">
                <a:solidFill>
                  <a:srgbClr val="000066"/>
                </a:solidFill>
                <a:effectLst/>
                <a:ea typeface="楷体_GB2312" pitchFamily="49" charset="-122"/>
              </a:rPr>
              <a:t>行</a:t>
            </a:r>
            <a:r>
              <a:rPr kumimoji="1" lang="zh-CN" altLang="en-US" sz="2800" b="1">
                <a:solidFill>
                  <a:srgbClr val="FF3300"/>
                </a:solidFill>
                <a:effectLst>
                  <a:outerShdw blurRad="38100" dist="38100" dir="2700000" algn="tl">
                    <a:srgbClr val="000000"/>
                  </a:outerShdw>
                </a:effectLst>
                <a:ea typeface="楷体_GB2312" pitchFamily="49" charset="-122"/>
              </a:rPr>
              <a:t>第</a:t>
            </a:r>
            <a:r>
              <a:rPr kumimoji="1" lang="en-US" altLang="zh-CN" sz="2800" b="1">
                <a:solidFill>
                  <a:srgbClr val="FF3300"/>
                </a:solidFill>
                <a:effectLst>
                  <a:outerShdw blurRad="38100" dist="38100" dir="2700000" algn="tl">
                    <a:srgbClr val="000000"/>
                  </a:outerShdw>
                </a:effectLst>
                <a:ea typeface="楷体_GB2312" pitchFamily="49" charset="-122"/>
              </a:rPr>
              <a:t>j</a:t>
            </a:r>
            <a:r>
              <a:rPr kumimoji="1" lang="zh-CN" altLang="en-US" sz="2800" b="1">
                <a:solidFill>
                  <a:srgbClr val="FF3300"/>
                </a:solidFill>
                <a:effectLst>
                  <a:outerShdw blurRad="38100" dist="38100" dir="2700000" algn="tl">
                    <a:srgbClr val="000000"/>
                  </a:outerShdw>
                </a:effectLst>
                <a:ea typeface="楷体_GB2312" pitchFamily="49" charset="-122"/>
              </a:rPr>
              <a:t>列</a:t>
            </a:r>
            <a:r>
              <a:rPr kumimoji="1" lang="zh-CN" altLang="zh-CN" sz="2800" b="1">
                <a:solidFill>
                  <a:srgbClr val="000066"/>
                </a:solidFill>
                <a:effectLst/>
                <a:ea typeface="楷体_GB2312" pitchFamily="49" charset="-122"/>
              </a:rPr>
              <a:t>的地址</a:t>
            </a:r>
            <a:r>
              <a:rPr kumimoji="1" lang="en-US" altLang="zh-CN" sz="2800" b="1">
                <a:solidFill>
                  <a:srgbClr val="000066"/>
                </a:solidFill>
                <a:effectLst/>
                <a:ea typeface="楷体_GB2312" pitchFamily="49" charset="-122"/>
              </a:rPr>
              <a:t>&amp;a[i][j] </a:t>
            </a:r>
          </a:p>
        </p:txBody>
      </p:sp>
      <p:sp>
        <p:nvSpPr>
          <p:cNvPr id="684034" name="Rectangle 2"/>
          <p:cNvSpPr>
            <a:spLocks noChangeArrowheads="1"/>
          </p:cNvSpPr>
          <p:nvPr/>
        </p:nvSpPr>
        <p:spPr bwMode="auto">
          <a:xfrm>
            <a:off x="681038" y="573088"/>
            <a:ext cx="7797800" cy="839787"/>
          </a:xfrm>
          <a:prstGeom prst="rect">
            <a:avLst/>
          </a:prstGeom>
          <a:noFill/>
          <a:ln w="9525">
            <a:noFill/>
            <a:miter lim="800000"/>
            <a:headEnd/>
            <a:tailEnd/>
          </a:ln>
          <a:effectLst>
            <a:outerShdw dist="35921" dir="2700000" algn="ctr" rotWithShape="0">
              <a:schemeClr val="tx1"/>
            </a:outerShdw>
          </a:effectLst>
        </p:spPr>
        <p:txBody>
          <a:bodyPr lIns="92075" tIns="46037" rIns="92075" bIns="46037" anchor="ctr"/>
          <a:lstStyle/>
          <a:p>
            <a:pPr algn="ctr">
              <a:lnSpc>
                <a:spcPct val="85000"/>
              </a:lnSpc>
              <a:defRPr/>
            </a:pPr>
            <a:r>
              <a:rPr lang="zh-CN" altLang="en-US" sz="4400" b="1" i="1" dirty="0">
                <a:solidFill>
                  <a:schemeClr val="accent2">
                    <a:lumMod val="50000"/>
                  </a:schemeClr>
                </a:solidFill>
                <a:effectLst>
                  <a:outerShdw blurRad="38100" dist="38100" dir="2700000" algn="tl">
                    <a:srgbClr val="C0C0C0"/>
                  </a:outerShdw>
                </a:effectLst>
                <a:ea typeface="黑体" pitchFamily="2" charset="-122"/>
              </a:rPr>
              <a:t>指针和二维数组间的关系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86148"/>
                                        </p:tgtEl>
                                        <p:attrNameLst>
                                          <p:attrName>style.visibility</p:attrName>
                                        </p:attrNameLst>
                                      </p:cBhvr>
                                      <p:to>
                                        <p:strVal val="visible"/>
                                      </p:to>
                                    </p:set>
                                    <p:anim calcmode="lin" valueType="num">
                                      <p:cBhvr>
                                        <p:cTn id="7" dur="500" fill="hold"/>
                                        <p:tgtEl>
                                          <p:spTgt spid="686148"/>
                                        </p:tgtEl>
                                        <p:attrNameLst>
                                          <p:attrName>ppt_w</p:attrName>
                                        </p:attrNameLst>
                                      </p:cBhvr>
                                      <p:tavLst>
                                        <p:tav tm="0">
                                          <p:val>
                                            <p:fltVal val="0"/>
                                          </p:val>
                                        </p:tav>
                                        <p:tav tm="100000">
                                          <p:val>
                                            <p:strVal val="#ppt_w"/>
                                          </p:val>
                                        </p:tav>
                                      </p:tavLst>
                                    </p:anim>
                                    <p:anim calcmode="lin" valueType="num">
                                      <p:cBhvr>
                                        <p:cTn id="8" dur="500" fill="hold"/>
                                        <p:tgtEl>
                                          <p:spTgt spid="686148"/>
                                        </p:tgtEl>
                                        <p:attrNameLst>
                                          <p:attrName>ppt_h</p:attrName>
                                        </p:attrNameLst>
                                      </p:cBhvr>
                                      <p:tavLst>
                                        <p:tav tm="0">
                                          <p:val>
                                            <p:fltVal val="0"/>
                                          </p:val>
                                        </p:tav>
                                        <p:tav tm="100000">
                                          <p:val>
                                            <p:strVal val="#ppt_h"/>
                                          </p:val>
                                        </p:tav>
                                      </p:tavLst>
                                    </p:anim>
                                    <p:animEffect transition="in" filter="fade">
                                      <p:cBhvr>
                                        <p:cTn id="9" dur="500"/>
                                        <p:tgtEl>
                                          <p:spTgt spid="68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8"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Line 3"/>
          <p:cNvSpPr>
            <a:spLocks noChangeShapeType="1"/>
          </p:cNvSpPr>
          <p:nvPr/>
        </p:nvSpPr>
        <p:spPr bwMode="auto">
          <a:xfrm>
            <a:off x="1981200" y="2286000"/>
            <a:ext cx="2362200" cy="0"/>
          </a:xfrm>
          <a:prstGeom prst="line">
            <a:avLst/>
          </a:prstGeom>
          <a:noFill/>
          <a:ln w="9525">
            <a:noFill/>
            <a:round/>
            <a:headEnd/>
            <a:tailEnd/>
          </a:ln>
        </p:spPr>
        <p:txBody>
          <a:bodyPr wrap="none" lIns="92075" tIns="46038" rIns="92075" bIns="46038" anchor="ctr"/>
          <a:lstStyle/>
          <a:p>
            <a:endParaRPr lang="zh-CN" altLang="en-US"/>
          </a:p>
        </p:txBody>
      </p:sp>
      <p:sp>
        <p:nvSpPr>
          <p:cNvPr id="223237" name="Rectangle 5"/>
          <p:cNvSpPr>
            <a:spLocks noGrp="1" noChangeArrowheads="1"/>
          </p:cNvSpPr>
          <p:nvPr>
            <p:ph type="title"/>
          </p:nvPr>
        </p:nvSpPr>
        <p:spPr>
          <a:xfrm>
            <a:off x="533400" y="457200"/>
            <a:ext cx="7848600" cy="914400"/>
          </a:xfrm>
          <a:solidFill>
            <a:srgbClr val="C00000"/>
          </a:solidFill>
          <a:effectLst>
            <a:outerShdw dist="28398" dir="20006097" algn="ctr" rotWithShape="0">
              <a:srgbClr val="FFFF00"/>
            </a:outerShdw>
          </a:effectLst>
        </p:spPr>
        <p:txBody>
          <a:bodyPr>
            <a:normAutofit fontScale="90000"/>
          </a:bodyPr>
          <a:lstStyle/>
          <a:p>
            <a:pPr eaLnBrk="1" fontAlgn="auto" hangingPunct="1">
              <a:spcAft>
                <a:spcPts val="0"/>
              </a:spcAft>
              <a:defRPr/>
            </a:pPr>
            <a:r>
              <a:rPr lang="zh-CN" altLang="en-US" sz="3200" dirty="0">
                <a:solidFill>
                  <a:schemeClr val="bg1"/>
                </a:solidFill>
              </a:rPr>
              <a:t>归纳： </a:t>
            </a:r>
            <a:r>
              <a:rPr lang="en-US" altLang="zh-CN" sz="3200" dirty="0">
                <a:solidFill>
                  <a:schemeClr val="bg1"/>
                </a:solidFill>
              </a:rPr>
              <a:t>a[</a:t>
            </a:r>
            <a:r>
              <a:rPr lang="en-US" altLang="zh-CN" sz="3200" dirty="0" err="1">
                <a:solidFill>
                  <a:schemeClr val="bg1"/>
                </a:solidFill>
              </a:rPr>
              <a:t>i</a:t>
            </a:r>
            <a:r>
              <a:rPr lang="en-US" altLang="zh-CN" sz="3200" dirty="0">
                <a:solidFill>
                  <a:schemeClr val="bg1"/>
                </a:solidFill>
              </a:rPr>
              <a:t>][j]</a:t>
            </a:r>
            <a:r>
              <a:rPr lang="zh-CN" altLang="en-US" sz="3200" dirty="0">
                <a:solidFill>
                  <a:schemeClr val="bg1"/>
                </a:solidFill>
              </a:rPr>
              <a:t>有以下三种等价表示形式：</a:t>
            </a:r>
            <a:br>
              <a:rPr lang="zh-CN" altLang="en-US" sz="3200" dirty="0">
                <a:solidFill>
                  <a:schemeClr val="bg1"/>
                </a:solidFill>
              </a:rPr>
            </a:br>
            <a:r>
              <a:rPr lang="zh-CN" altLang="en-US" sz="3200" dirty="0">
                <a:solidFill>
                  <a:schemeClr val="bg1"/>
                </a:solidFill>
              </a:rPr>
              <a:t>*</a:t>
            </a:r>
            <a:r>
              <a:rPr lang="en-US" altLang="zh-CN" sz="3200" dirty="0">
                <a:solidFill>
                  <a:schemeClr val="bg1"/>
                </a:solidFill>
              </a:rPr>
              <a:t>(a[</a:t>
            </a:r>
            <a:r>
              <a:rPr lang="en-US" altLang="zh-CN" sz="3200" dirty="0" err="1">
                <a:solidFill>
                  <a:schemeClr val="bg1"/>
                </a:solidFill>
              </a:rPr>
              <a:t>i</a:t>
            </a:r>
            <a:r>
              <a:rPr lang="en-US" altLang="zh-CN" sz="3200" dirty="0">
                <a:solidFill>
                  <a:schemeClr val="bg1"/>
                </a:solidFill>
              </a:rPr>
              <a:t>]+j)</a:t>
            </a:r>
            <a:r>
              <a:rPr lang="zh-CN" altLang="en-US" sz="3200" dirty="0">
                <a:solidFill>
                  <a:schemeClr val="bg1"/>
                </a:solidFill>
              </a:rPr>
              <a:t>、*</a:t>
            </a:r>
            <a:r>
              <a:rPr lang="en-US" altLang="zh-CN" sz="3200" dirty="0">
                <a:solidFill>
                  <a:schemeClr val="bg1"/>
                </a:solidFill>
              </a:rPr>
              <a:t>(*(</a:t>
            </a:r>
            <a:r>
              <a:rPr lang="en-US" altLang="zh-CN" sz="3200" dirty="0" err="1">
                <a:solidFill>
                  <a:schemeClr val="bg1"/>
                </a:solidFill>
              </a:rPr>
              <a:t>a+i</a:t>
            </a:r>
            <a:r>
              <a:rPr lang="en-US" altLang="zh-CN" sz="3200" dirty="0">
                <a:solidFill>
                  <a:schemeClr val="bg1"/>
                </a:solidFill>
              </a:rPr>
              <a:t>)+j)</a:t>
            </a:r>
            <a:r>
              <a:rPr lang="zh-CN" altLang="en-US" sz="3200" dirty="0">
                <a:solidFill>
                  <a:schemeClr val="bg1"/>
                </a:solidFill>
              </a:rPr>
              <a:t>、</a:t>
            </a:r>
            <a:r>
              <a:rPr lang="en-US" altLang="zh-CN" sz="3200" dirty="0">
                <a:solidFill>
                  <a:schemeClr val="bg1"/>
                </a:solidFill>
              </a:rPr>
              <a:t>(*(</a:t>
            </a:r>
            <a:r>
              <a:rPr lang="en-US" altLang="zh-CN" sz="3200" dirty="0" err="1">
                <a:solidFill>
                  <a:schemeClr val="bg1"/>
                </a:solidFill>
              </a:rPr>
              <a:t>a+i</a:t>
            </a:r>
            <a:r>
              <a:rPr lang="en-US" altLang="zh-CN" sz="3200" dirty="0">
                <a:solidFill>
                  <a:schemeClr val="bg1"/>
                </a:solidFill>
              </a:rPr>
              <a:t>))[j]</a:t>
            </a:r>
          </a:p>
        </p:txBody>
      </p:sp>
      <p:sp>
        <p:nvSpPr>
          <p:cNvPr id="68612" name="Rectangle 6"/>
          <p:cNvSpPr>
            <a:spLocks noChangeArrowheads="1"/>
          </p:cNvSpPr>
          <p:nvPr/>
        </p:nvSpPr>
        <p:spPr bwMode="auto">
          <a:xfrm>
            <a:off x="609600" y="1752600"/>
            <a:ext cx="8153400" cy="1905000"/>
          </a:xfrm>
          <a:prstGeom prst="rect">
            <a:avLst/>
          </a:prstGeom>
          <a:noFill/>
          <a:ln w="9525">
            <a:noFill/>
            <a:miter lim="800000"/>
            <a:headEnd/>
            <a:tailEnd/>
          </a:ln>
        </p:spPr>
        <p:txBody>
          <a:bodyPr/>
          <a:lstStyle/>
          <a:p>
            <a:pPr>
              <a:spcBef>
                <a:spcPct val="20000"/>
              </a:spcBef>
            </a:pPr>
            <a:r>
              <a:rPr kumimoji="1" lang="zh-CN" altLang="en-US" sz="2800" b="1">
                <a:solidFill>
                  <a:srgbClr val="FF3300"/>
                </a:solidFill>
                <a:latin typeface="Times New Roman" charset="0"/>
                <a:ea typeface="隶书_GB2312" pitchFamily="1" charset="-122"/>
              </a:rPr>
              <a:t>同样： </a:t>
            </a:r>
            <a:r>
              <a:rPr kumimoji="1" lang="en-US" altLang="zh-CN" sz="2800" b="1">
                <a:solidFill>
                  <a:srgbClr val="0000FF"/>
                </a:solidFill>
                <a:latin typeface="Times New Roman" charset="0"/>
                <a:ea typeface="隶书_GB2312" pitchFamily="1" charset="-122"/>
              </a:rPr>
              <a:t>a[0][0]</a:t>
            </a:r>
            <a:r>
              <a:rPr kumimoji="1" lang="zh-CN" altLang="en-US" sz="2800" b="1">
                <a:solidFill>
                  <a:srgbClr val="0000FF"/>
                </a:solidFill>
                <a:latin typeface="Times New Roman" charset="0"/>
                <a:ea typeface="隶书_GB2312" pitchFamily="1" charset="-122"/>
              </a:rPr>
              <a:t>有以下两种等价表示形式：</a:t>
            </a:r>
          </a:p>
          <a:p>
            <a:pPr>
              <a:spcBef>
                <a:spcPct val="20000"/>
              </a:spcBef>
            </a:pPr>
            <a:r>
              <a:rPr kumimoji="1" lang="zh-CN" altLang="en-US" sz="2800" b="1">
                <a:solidFill>
                  <a:srgbClr val="0000FF"/>
                </a:solidFill>
                <a:latin typeface="Times New Roman" charset="0"/>
                <a:ea typeface="隶书_GB2312" pitchFamily="1" charset="-122"/>
              </a:rPr>
              <a:t>         </a:t>
            </a:r>
            <a:r>
              <a:rPr kumimoji="1" lang="zh-CN" altLang="en-US" sz="2800" b="1">
                <a:solidFill>
                  <a:srgbClr val="A50021"/>
                </a:solidFill>
                <a:latin typeface="Times New Roman" charset="0"/>
                <a:ea typeface="隶书_GB2312" pitchFamily="1" charset="-122"/>
              </a:rPr>
              <a:t>*</a:t>
            </a:r>
            <a:r>
              <a:rPr kumimoji="1" lang="en-US" altLang="zh-CN" sz="2800" b="1">
                <a:solidFill>
                  <a:srgbClr val="A50021"/>
                </a:solidFill>
                <a:latin typeface="Times New Roman" charset="0"/>
                <a:ea typeface="隶书_GB2312" pitchFamily="1" charset="-122"/>
              </a:rPr>
              <a:t>a[0]</a:t>
            </a:r>
            <a:r>
              <a:rPr kumimoji="1" lang="en-US" altLang="zh-CN" sz="2800" b="1">
                <a:solidFill>
                  <a:srgbClr val="0000FF"/>
                </a:solidFill>
                <a:latin typeface="Times New Roman" charset="0"/>
                <a:ea typeface="隶书_GB2312" pitchFamily="1" charset="-122"/>
              </a:rPr>
              <a:t> </a:t>
            </a:r>
            <a:r>
              <a:rPr kumimoji="1" lang="zh-CN" altLang="en-US" sz="2800" b="1">
                <a:solidFill>
                  <a:srgbClr val="0000FF"/>
                </a:solidFill>
                <a:latin typeface="Times New Roman" charset="0"/>
                <a:ea typeface="隶书_GB2312" pitchFamily="1" charset="-122"/>
              </a:rPr>
              <a:t>因为 </a:t>
            </a:r>
            <a:r>
              <a:rPr kumimoji="1" lang="en-US" altLang="zh-CN" sz="2800" b="1">
                <a:solidFill>
                  <a:srgbClr val="A50021"/>
                </a:solidFill>
                <a:latin typeface="Times New Roman" charset="0"/>
                <a:ea typeface="隶书_GB2312" pitchFamily="1" charset="-122"/>
              </a:rPr>
              <a:t>a[0] </a:t>
            </a:r>
            <a:r>
              <a:rPr kumimoji="1" lang="zh-CN" altLang="en-US" sz="2800" b="1">
                <a:solidFill>
                  <a:srgbClr val="0000FF"/>
                </a:solidFill>
                <a:latin typeface="Times New Roman" charset="0"/>
                <a:ea typeface="隶书_GB2312" pitchFamily="1" charset="-122"/>
              </a:rPr>
              <a:t>表示 </a:t>
            </a:r>
            <a:r>
              <a:rPr kumimoji="1" lang="en-US" altLang="zh-CN" sz="2800" b="1">
                <a:solidFill>
                  <a:srgbClr val="A50021"/>
                </a:solidFill>
                <a:latin typeface="Times New Roman" charset="0"/>
                <a:ea typeface="隶书_GB2312" pitchFamily="1" charset="-122"/>
              </a:rPr>
              <a:t>&amp;a[0][0];</a:t>
            </a:r>
            <a:endParaRPr kumimoji="1" lang="en-US" altLang="zh-CN" sz="2800" b="1">
              <a:solidFill>
                <a:srgbClr val="0000FF"/>
              </a:solidFill>
              <a:latin typeface="Times New Roman" charset="0"/>
              <a:ea typeface="隶书_GB2312" pitchFamily="1" charset="-122"/>
            </a:endParaRPr>
          </a:p>
          <a:p>
            <a:pPr>
              <a:spcBef>
                <a:spcPct val="20000"/>
              </a:spcBef>
            </a:pPr>
            <a:r>
              <a:rPr kumimoji="1" lang="en-US" altLang="zh-CN" sz="2800" b="1">
                <a:solidFill>
                  <a:srgbClr val="0000FF"/>
                </a:solidFill>
                <a:latin typeface="Times New Roman" charset="0"/>
                <a:ea typeface="隶书_GB2312" pitchFamily="1" charset="-122"/>
              </a:rPr>
              <a:t>         </a:t>
            </a:r>
            <a:r>
              <a:rPr kumimoji="1" lang="en-US" altLang="zh-CN" sz="2800" b="1">
                <a:solidFill>
                  <a:srgbClr val="A50021"/>
                </a:solidFill>
                <a:latin typeface="Times New Roman" charset="0"/>
                <a:ea typeface="隶书_GB2312" pitchFamily="1" charset="-122"/>
              </a:rPr>
              <a:t>**a</a:t>
            </a:r>
            <a:r>
              <a:rPr kumimoji="1" lang="en-US" altLang="zh-CN" sz="2800" b="1">
                <a:solidFill>
                  <a:srgbClr val="0000FF"/>
                </a:solidFill>
                <a:latin typeface="Times New Roman" charset="0"/>
                <a:ea typeface="隶书_GB2312" pitchFamily="1" charset="-122"/>
              </a:rPr>
              <a:t>    </a:t>
            </a:r>
            <a:r>
              <a:rPr kumimoji="1" lang="zh-CN" altLang="en-US" sz="2800" b="1">
                <a:solidFill>
                  <a:srgbClr val="0000FF"/>
                </a:solidFill>
                <a:latin typeface="Times New Roman" charset="0"/>
                <a:ea typeface="隶书_GB2312" pitchFamily="1" charset="-122"/>
              </a:rPr>
              <a:t>因为 </a:t>
            </a:r>
            <a:r>
              <a:rPr kumimoji="1" lang="en-US" altLang="zh-CN" sz="2800" b="1">
                <a:solidFill>
                  <a:srgbClr val="A50021"/>
                </a:solidFill>
                <a:latin typeface="Times New Roman" charset="0"/>
                <a:ea typeface="隶书_GB2312" pitchFamily="1" charset="-122"/>
              </a:rPr>
              <a:t>a</a:t>
            </a:r>
            <a:r>
              <a:rPr kumimoji="1" lang="en-US" altLang="zh-CN" sz="2800" b="1">
                <a:solidFill>
                  <a:srgbClr val="0000FF"/>
                </a:solidFill>
                <a:latin typeface="Times New Roman" charset="0"/>
                <a:ea typeface="隶书_GB2312" pitchFamily="1" charset="-122"/>
              </a:rPr>
              <a:t> </a:t>
            </a:r>
            <a:r>
              <a:rPr kumimoji="1" lang="zh-CN" altLang="en-US" sz="2800" b="1">
                <a:solidFill>
                  <a:srgbClr val="0000FF"/>
                </a:solidFill>
                <a:latin typeface="Times New Roman" charset="0"/>
                <a:ea typeface="隶书_GB2312" pitchFamily="1" charset="-122"/>
              </a:rPr>
              <a:t>表示 </a:t>
            </a:r>
            <a:r>
              <a:rPr kumimoji="1" lang="en-US" altLang="zh-CN" sz="2800" b="1">
                <a:solidFill>
                  <a:srgbClr val="A50021"/>
                </a:solidFill>
                <a:latin typeface="Times New Roman" charset="0"/>
                <a:ea typeface="隶书_GB2312" pitchFamily="1" charset="-122"/>
              </a:rPr>
              <a:t>&amp;a[0], *a</a:t>
            </a:r>
            <a:r>
              <a:rPr kumimoji="1" lang="en-US" altLang="zh-CN" sz="2800" b="1">
                <a:solidFill>
                  <a:srgbClr val="0000FF"/>
                </a:solidFill>
                <a:latin typeface="Times New Roman" charset="0"/>
                <a:ea typeface="隶书_GB2312" pitchFamily="1" charset="-122"/>
              </a:rPr>
              <a:t> </a:t>
            </a:r>
            <a:r>
              <a:rPr kumimoji="1" lang="zh-CN" altLang="en-US" sz="2800" b="1">
                <a:solidFill>
                  <a:srgbClr val="0000FF"/>
                </a:solidFill>
                <a:latin typeface="Times New Roman" charset="0"/>
                <a:ea typeface="隶书_GB2312" pitchFamily="1" charset="-122"/>
              </a:rPr>
              <a:t>表示 </a:t>
            </a:r>
            <a:r>
              <a:rPr kumimoji="1" lang="en-US" altLang="zh-CN" sz="2800" b="1">
                <a:solidFill>
                  <a:srgbClr val="A50021"/>
                </a:solidFill>
                <a:latin typeface="Times New Roman" charset="0"/>
                <a:ea typeface="隶书_GB2312" pitchFamily="1" charset="-122"/>
              </a:rPr>
              <a:t>a[0]</a:t>
            </a:r>
          </a:p>
        </p:txBody>
      </p:sp>
      <p:graphicFrame>
        <p:nvGraphicFramePr>
          <p:cNvPr id="223239" name="Group 7"/>
          <p:cNvGraphicFramePr>
            <a:graphicFrameLocks noGrp="1"/>
          </p:cNvGraphicFramePr>
          <p:nvPr/>
        </p:nvGraphicFramePr>
        <p:xfrm>
          <a:off x="762000" y="3657600"/>
          <a:ext cx="7561263" cy="2747016"/>
        </p:xfrm>
        <a:graphic>
          <a:graphicData uri="http://schemas.openxmlformats.org/drawingml/2006/table">
            <a:tbl>
              <a:tblPr/>
              <a:tblGrid>
                <a:gridCol w="4103688">
                  <a:extLst>
                    <a:ext uri="{9D8B030D-6E8A-4147-A177-3AD203B41FA5}">
                      <a16:colId xmlns:a16="http://schemas.microsoft.com/office/drawing/2014/main" val="20000"/>
                    </a:ext>
                  </a:extLst>
                </a:gridCol>
                <a:gridCol w="3457575">
                  <a:extLst>
                    <a:ext uri="{9D8B030D-6E8A-4147-A177-3AD203B41FA5}">
                      <a16:colId xmlns:a16="http://schemas.microsoft.com/office/drawing/2014/main" val="20001"/>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rgbClr val="0000CC"/>
                          </a:solidFill>
                          <a:effectLst/>
                          <a:latin typeface="Arial" charset="0"/>
                          <a:ea typeface="宋体" charset="-122"/>
                        </a:rPr>
                        <a:t>表示形式</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rgbClr val="0000CC"/>
                          </a:solidFill>
                          <a:effectLst/>
                          <a:latin typeface="Arial" charset="0"/>
                          <a:ea typeface="宋体" charset="-122"/>
                        </a:rPr>
                        <a:t>含    义</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269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122"/>
                        </a:rPr>
                        <a:t>a</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charset="0"/>
                          <a:ea typeface="宋体" charset="-122"/>
                        </a:rPr>
                        <a:t>数组首地址，即</a:t>
                      </a:r>
                      <a:r>
                        <a:rPr kumimoji="0" lang="en-US" altLang="zh-CN" sz="2400" b="1" i="0" u="none" strike="noStrike" cap="none" normalizeH="0" baseline="0">
                          <a:ln>
                            <a:noFill/>
                          </a:ln>
                          <a:solidFill>
                            <a:schemeClr val="tx1"/>
                          </a:solidFill>
                          <a:effectLst/>
                          <a:latin typeface="Arial" charset="0"/>
                          <a:ea typeface="宋体" charset="-122"/>
                        </a:rPr>
                        <a:t>&amp;a[0]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9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122"/>
                        </a:rPr>
                        <a:t>a+i</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charset="0"/>
                          <a:ea typeface="宋体" charset="-122"/>
                        </a:rPr>
                        <a:t>第</a:t>
                      </a:r>
                      <a:r>
                        <a:rPr kumimoji="0" lang="en-US" altLang="zh-CN" sz="2400" b="1" i="0" u="none" strike="noStrike" cap="none" normalizeH="0" baseline="0">
                          <a:ln>
                            <a:noFill/>
                          </a:ln>
                          <a:solidFill>
                            <a:schemeClr val="tx1"/>
                          </a:solidFill>
                          <a:effectLst/>
                          <a:latin typeface="Arial" charset="0"/>
                          <a:ea typeface="宋体" charset="-122"/>
                        </a:rPr>
                        <a:t>i</a:t>
                      </a:r>
                      <a:r>
                        <a:rPr kumimoji="0" lang="zh-CN" altLang="en-US" sz="2400" b="1" i="0" u="none" strike="noStrike" cap="none" normalizeH="0" baseline="0">
                          <a:ln>
                            <a:noFill/>
                          </a:ln>
                          <a:solidFill>
                            <a:schemeClr val="tx1"/>
                          </a:solidFill>
                          <a:effectLst/>
                          <a:latin typeface="Arial" charset="0"/>
                          <a:ea typeface="宋体" charset="-122"/>
                        </a:rPr>
                        <a:t>行首地址，即</a:t>
                      </a:r>
                      <a:r>
                        <a:rPr kumimoji="0" lang="en-US" altLang="zh-CN" sz="2400" b="1" i="0" u="none" strike="noStrike" cap="none" normalizeH="0" baseline="0">
                          <a:ln>
                            <a:noFill/>
                          </a:ln>
                          <a:solidFill>
                            <a:schemeClr val="tx1"/>
                          </a:solidFill>
                          <a:effectLst/>
                          <a:latin typeface="Arial" charset="0"/>
                          <a:ea typeface="宋体" charset="-122"/>
                        </a:rPr>
                        <a:t>&amp;a[i]</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122"/>
                        </a:rPr>
                        <a:t>a[0]</a:t>
                      </a:r>
                      <a:r>
                        <a:rPr kumimoji="0" lang="zh-CN" altLang="en-US" sz="2400" b="1" i="0" u="none" strike="noStrike" cap="none" normalizeH="0" baseline="0">
                          <a:ln>
                            <a:noFill/>
                          </a:ln>
                          <a:solidFill>
                            <a:schemeClr val="tx1"/>
                          </a:solidFill>
                          <a:effectLst/>
                          <a:latin typeface="Arial" charset="0"/>
                          <a:ea typeface="宋体" charset="-122"/>
                        </a:rPr>
                        <a:t>、*</a:t>
                      </a:r>
                      <a:r>
                        <a:rPr kumimoji="0" lang="en-US" altLang="zh-CN" sz="2400" b="1" i="0" u="none" strike="noStrike" cap="none" normalizeH="0" baseline="0">
                          <a:ln>
                            <a:noFill/>
                          </a:ln>
                          <a:solidFill>
                            <a:schemeClr val="tx1"/>
                          </a:solidFill>
                          <a:effectLst/>
                          <a:latin typeface="Arial" charset="0"/>
                          <a:ea typeface="宋体" charset="-122"/>
                        </a:rPr>
                        <a:t>(a+0)</a:t>
                      </a:r>
                      <a:r>
                        <a:rPr kumimoji="0" lang="zh-CN" altLang="en-US" sz="2400" b="1" i="0" u="none" strike="noStrike" cap="none" normalizeH="0" baseline="0">
                          <a:ln>
                            <a:noFill/>
                          </a:ln>
                          <a:solidFill>
                            <a:schemeClr val="tx1"/>
                          </a:solidFill>
                          <a:effectLst/>
                          <a:latin typeface="Arial" charset="0"/>
                          <a:ea typeface="宋体" charset="-122"/>
                        </a:rPr>
                        <a:t>、*</a:t>
                      </a:r>
                      <a:r>
                        <a:rPr kumimoji="0" lang="en-US" altLang="zh-CN" sz="2400" b="1" i="0" u="none" strike="noStrike" cap="none" normalizeH="0" baseline="0">
                          <a:ln>
                            <a:noFill/>
                          </a:ln>
                          <a:solidFill>
                            <a:schemeClr val="tx1"/>
                          </a:solidFill>
                          <a:effectLst/>
                          <a:latin typeface="Arial" charset="0"/>
                          <a:ea typeface="宋体" charset="-122"/>
                        </a:rPr>
                        <a:t>a</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charset="0"/>
                          <a:ea typeface="宋体" charset="-122"/>
                        </a:rPr>
                        <a:t>第</a:t>
                      </a:r>
                      <a:r>
                        <a:rPr kumimoji="0" lang="en-US" altLang="zh-CN" sz="2400" b="1" i="0" u="none" strike="noStrike" cap="none" normalizeH="0" baseline="0">
                          <a:ln>
                            <a:noFill/>
                          </a:ln>
                          <a:solidFill>
                            <a:schemeClr val="tx1"/>
                          </a:solidFill>
                          <a:effectLst/>
                          <a:latin typeface="Arial" charset="0"/>
                          <a:ea typeface="宋体" charset="-122"/>
                        </a:rPr>
                        <a:t>0</a:t>
                      </a:r>
                      <a:r>
                        <a:rPr kumimoji="0" lang="zh-CN" altLang="en-US" sz="2400" b="1" i="0" u="none" strike="noStrike" cap="none" normalizeH="0" baseline="0">
                          <a:ln>
                            <a:noFill/>
                          </a:ln>
                          <a:solidFill>
                            <a:schemeClr val="tx1"/>
                          </a:solidFill>
                          <a:effectLst/>
                          <a:latin typeface="Arial" charset="0"/>
                          <a:ea typeface="宋体" charset="-122"/>
                        </a:rPr>
                        <a:t>行第</a:t>
                      </a:r>
                      <a:r>
                        <a:rPr kumimoji="0" lang="en-US" altLang="zh-CN" sz="2400" b="1" i="0" u="none" strike="noStrike" cap="none" normalizeH="0" baseline="0">
                          <a:ln>
                            <a:noFill/>
                          </a:ln>
                          <a:solidFill>
                            <a:schemeClr val="tx1"/>
                          </a:solidFill>
                          <a:effectLst/>
                          <a:latin typeface="Arial" charset="0"/>
                          <a:ea typeface="宋体" charset="-122"/>
                        </a:rPr>
                        <a:t>0</a:t>
                      </a:r>
                      <a:r>
                        <a:rPr kumimoji="0" lang="zh-CN" altLang="en-US" sz="2400" b="1" i="0" u="none" strike="noStrike" cap="none" normalizeH="0" baseline="0">
                          <a:ln>
                            <a:noFill/>
                          </a:ln>
                          <a:solidFill>
                            <a:schemeClr val="tx1"/>
                          </a:solidFill>
                          <a:effectLst/>
                          <a:latin typeface="Arial" charset="0"/>
                          <a:ea typeface="宋体" charset="-122"/>
                        </a:rPr>
                        <a:t>列元素地址</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122"/>
                        </a:rPr>
                        <a:t>a[i]+j</a:t>
                      </a:r>
                      <a:r>
                        <a:rPr kumimoji="0" lang="zh-CN" altLang="en-US" sz="2400" b="1" i="0" u="none" strike="noStrike" cap="none" normalizeH="0" baseline="0">
                          <a:ln>
                            <a:noFill/>
                          </a:ln>
                          <a:solidFill>
                            <a:schemeClr val="tx1"/>
                          </a:solidFill>
                          <a:effectLst/>
                          <a:latin typeface="Arial" charset="0"/>
                          <a:ea typeface="宋体" charset="-122"/>
                        </a:rPr>
                        <a:t>、*</a:t>
                      </a:r>
                      <a:r>
                        <a:rPr kumimoji="0" lang="en-US" altLang="zh-CN" sz="2400" b="1" i="0" u="none" strike="noStrike" cap="none" normalizeH="0" baseline="0">
                          <a:ln>
                            <a:noFill/>
                          </a:ln>
                          <a:solidFill>
                            <a:schemeClr val="tx1"/>
                          </a:solidFill>
                          <a:effectLst/>
                          <a:latin typeface="Arial" charset="0"/>
                          <a:ea typeface="宋体" charset="-122"/>
                        </a:rPr>
                        <a:t>(a+i)+j</a:t>
                      </a:r>
                      <a:r>
                        <a:rPr kumimoji="0" lang="zh-CN" altLang="en-US" sz="2400" b="1" i="0" u="none" strike="noStrike" cap="none" normalizeH="0" baseline="0">
                          <a:ln>
                            <a:noFill/>
                          </a:ln>
                          <a:solidFill>
                            <a:schemeClr val="tx1"/>
                          </a:solidFill>
                          <a:effectLst/>
                          <a:latin typeface="Arial" charset="0"/>
                          <a:ea typeface="宋体" charset="-122"/>
                        </a:rPr>
                        <a:t>、</a:t>
                      </a:r>
                      <a:r>
                        <a:rPr kumimoji="0" lang="en-US" altLang="zh-CN" sz="2400" b="1" i="0" u="none" strike="noStrike" cap="none" normalizeH="0" baseline="0">
                          <a:ln>
                            <a:noFill/>
                          </a:ln>
                          <a:solidFill>
                            <a:schemeClr val="tx1"/>
                          </a:solidFill>
                          <a:effectLst/>
                          <a:latin typeface="Arial" charset="0"/>
                          <a:ea typeface="宋体" charset="-122"/>
                        </a:rPr>
                        <a:t>&amp;a[i][j]</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charset="0"/>
                          <a:ea typeface="宋体" charset="-122"/>
                        </a:rPr>
                        <a:t>第</a:t>
                      </a:r>
                      <a:r>
                        <a:rPr kumimoji="0" lang="en-US" altLang="zh-CN" sz="2400" b="1" i="0" u="none" strike="noStrike" cap="none" normalizeH="0" baseline="0">
                          <a:ln>
                            <a:noFill/>
                          </a:ln>
                          <a:solidFill>
                            <a:schemeClr val="tx1"/>
                          </a:solidFill>
                          <a:effectLst/>
                          <a:latin typeface="Arial" charset="0"/>
                          <a:ea typeface="宋体" charset="-122"/>
                        </a:rPr>
                        <a:t>i</a:t>
                      </a:r>
                      <a:r>
                        <a:rPr kumimoji="0" lang="zh-CN" altLang="en-US" sz="2400" b="1" i="0" u="none" strike="noStrike" cap="none" normalizeH="0" baseline="0">
                          <a:ln>
                            <a:noFill/>
                          </a:ln>
                          <a:solidFill>
                            <a:schemeClr val="tx1"/>
                          </a:solidFill>
                          <a:effectLst/>
                          <a:latin typeface="Arial" charset="0"/>
                          <a:ea typeface="宋体" charset="-122"/>
                        </a:rPr>
                        <a:t>行第</a:t>
                      </a:r>
                      <a:r>
                        <a:rPr kumimoji="0" lang="en-US" altLang="zh-CN" sz="2400" b="1" i="0" u="none" strike="noStrike" cap="none" normalizeH="0" baseline="0">
                          <a:ln>
                            <a:noFill/>
                          </a:ln>
                          <a:solidFill>
                            <a:schemeClr val="tx1"/>
                          </a:solidFill>
                          <a:effectLst/>
                          <a:latin typeface="Arial" charset="0"/>
                          <a:ea typeface="宋体" charset="-122"/>
                        </a:rPr>
                        <a:t>j</a:t>
                      </a:r>
                      <a:r>
                        <a:rPr kumimoji="0" lang="zh-CN" altLang="en-US" sz="2400" b="1" i="0" u="none" strike="noStrike" cap="none" normalizeH="0" baseline="0">
                          <a:ln>
                            <a:noFill/>
                          </a:ln>
                          <a:solidFill>
                            <a:schemeClr val="tx1"/>
                          </a:solidFill>
                          <a:effectLst/>
                          <a:latin typeface="Arial" charset="0"/>
                          <a:ea typeface="宋体" charset="-122"/>
                        </a:rPr>
                        <a:t>列元素地址</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9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122"/>
                        </a:rPr>
                        <a:t>*(a[i]+j)</a:t>
                      </a:r>
                      <a:r>
                        <a:rPr kumimoji="0" lang="zh-CN" altLang="en-US" sz="2400" b="1" i="0" u="none" strike="noStrike" cap="none" normalizeH="0" baseline="0">
                          <a:ln>
                            <a:noFill/>
                          </a:ln>
                          <a:solidFill>
                            <a:schemeClr val="tx1"/>
                          </a:solidFill>
                          <a:effectLst/>
                          <a:latin typeface="Arial" charset="0"/>
                          <a:ea typeface="宋体" charset="-122"/>
                        </a:rPr>
                        <a:t>、*</a:t>
                      </a:r>
                      <a:r>
                        <a:rPr kumimoji="0" lang="en-US" altLang="zh-CN" sz="2400" b="1" i="0" u="none" strike="noStrike" cap="none" normalizeH="0" baseline="0">
                          <a:ln>
                            <a:noFill/>
                          </a:ln>
                          <a:solidFill>
                            <a:schemeClr val="tx1"/>
                          </a:solidFill>
                          <a:effectLst/>
                          <a:latin typeface="Arial" charset="0"/>
                          <a:ea typeface="宋体" charset="-122"/>
                        </a:rPr>
                        <a:t>(*(a+i)+j)</a:t>
                      </a:r>
                      <a:r>
                        <a:rPr kumimoji="0" lang="zh-CN" altLang="en-US" sz="2400" b="1" i="0" u="none" strike="noStrike" cap="none" normalizeH="0" baseline="0">
                          <a:ln>
                            <a:noFill/>
                          </a:ln>
                          <a:solidFill>
                            <a:schemeClr val="tx1"/>
                          </a:solidFill>
                          <a:effectLst/>
                          <a:latin typeface="Arial" charset="0"/>
                          <a:ea typeface="宋体" charset="-122"/>
                        </a:rPr>
                        <a:t>、</a:t>
                      </a:r>
                      <a:r>
                        <a:rPr kumimoji="0" lang="en-US" altLang="zh-CN" sz="2400" b="1" i="0" u="none" strike="noStrike" cap="none" normalizeH="0" baseline="0">
                          <a:ln>
                            <a:noFill/>
                          </a:ln>
                          <a:solidFill>
                            <a:schemeClr val="tx1"/>
                          </a:solidFill>
                          <a:effectLst/>
                          <a:latin typeface="Arial" charset="0"/>
                          <a:ea typeface="宋体" charset="-122"/>
                        </a:rPr>
                        <a:t>a[i][j]</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charset="0"/>
                          <a:ea typeface="宋体" charset="-122"/>
                        </a:rPr>
                        <a:t>第</a:t>
                      </a:r>
                      <a:r>
                        <a:rPr kumimoji="0" lang="en-US" altLang="zh-CN" sz="2400" b="1" i="0" u="none" strike="noStrike" cap="none" normalizeH="0" baseline="0">
                          <a:ln>
                            <a:noFill/>
                          </a:ln>
                          <a:solidFill>
                            <a:schemeClr val="tx1"/>
                          </a:solidFill>
                          <a:effectLst/>
                          <a:latin typeface="Arial" charset="0"/>
                          <a:ea typeface="宋体" charset="-122"/>
                        </a:rPr>
                        <a:t>i</a:t>
                      </a:r>
                      <a:r>
                        <a:rPr kumimoji="0" lang="zh-CN" altLang="en-US" sz="2400" b="1" i="0" u="none" strike="noStrike" cap="none" normalizeH="0" baseline="0">
                          <a:ln>
                            <a:noFill/>
                          </a:ln>
                          <a:solidFill>
                            <a:schemeClr val="tx1"/>
                          </a:solidFill>
                          <a:effectLst/>
                          <a:latin typeface="Arial" charset="0"/>
                          <a:ea typeface="宋体" charset="-122"/>
                        </a:rPr>
                        <a:t>行第</a:t>
                      </a:r>
                      <a:r>
                        <a:rPr kumimoji="0" lang="en-US" altLang="zh-CN" sz="2400" b="1" i="0" u="none" strike="noStrike" cap="none" normalizeH="0" baseline="0">
                          <a:ln>
                            <a:noFill/>
                          </a:ln>
                          <a:solidFill>
                            <a:schemeClr val="tx1"/>
                          </a:solidFill>
                          <a:effectLst/>
                          <a:latin typeface="Arial" charset="0"/>
                          <a:ea typeface="宋体" charset="-122"/>
                        </a:rPr>
                        <a:t>j</a:t>
                      </a:r>
                      <a:r>
                        <a:rPr kumimoji="0" lang="zh-CN" altLang="en-US" sz="2400" b="1" i="0" u="none" strike="noStrike" cap="none" normalizeH="0" baseline="0">
                          <a:ln>
                            <a:noFill/>
                          </a:ln>
                          <a:solidFill>
                            <a:schemeClr val="tx1"/>
                          </a:solidFill>
                          <a:effectLst/>
                          <a:latin typeface="Arial" charset="0"/>
                          <a:ea typeface="宋体" charset="-122"/>
                        </a:rPr>
                        <a:t>列元素的值</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Slide Number Placeholder 5"/>
          <p:cNvSpPr>
            <a:spLocks noGrp="1"/>
          </p:cNvSpPr>
          <p:nvPr>
            <p:ph type="sldNum" sz="quarter" idx="12"/>
          </p:nvPr>
        </p:nvSpPr>
        <p:spPr/>
        <p:txBody>
          <a:bodyPr/>
          <a:lstStyle/>
          <a:p>
            <a:pPr>
              <a:defRPr/>
            </a:pPr>
            <a:fld id="{3634D56B-E9AA-447E-A12E-B1BD7A5DBF55}" type="slidenum">
              <a:rPr lang="en-US" altLang="zh-CN"/>
              <a:pPr>
                <a:defRPr/>
              </a:pPr>
              <a:t>72</a:t>
            </a:fld>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p:cNvSpPr>
            <a:spLocks noChangeArrowheads="1"/>
          </p:cNvSpPr>
          <p:nvPr/>
        </p:nvSpPr>
        <p:spPr bwMode="auto">
          <a:xfrm>
            <a:off x="228600" y="685800"/>
            <a:ext cx="8534400" cy="5791200"/>
          </a:xfrm>
          <a:prstGeom prst="rect">
            <a:avLst/>
          </a:prstGeom>
          <a:noFill/>
          <a:ln w="9525">
            <a:noFill/>
            <a:miter lim="800000"/>
            <a:headEnd/>
            <a:tailEnd/>
          </a:ln>
          <a:effectLst/>
        </p:spPr>
        <p:txBody>
          <a:bodyPr lIns="92075" tIns="46038" rIns="92075" bIns="46038"/>
          <a:lstStyle/>
          <a:p>
            <a:pPr algn="just">
              <a:spcBef>
                <a:spcPct val="20000"/>
              </a:spcBef>
              <a:defRPr/>
            </a:pPr>
            <a:endParaRPr lang="zh-CN" altLang="zh-CN" sz="3200" b="1">
              <a:effectLst>
                <a:outerShdw blurRad="38100" dist="38100" dir="2700000" algn="tl">
                  <a:srgbClr val="C0C0C0"/>
                </a:outerShdw>
              </a:effectLst>
              <a:latin typeface="宋体" pitchFamily="2" charset="-122"/>
              <a:ea typeface="宋体" pitchFamily="2" charset="-122"/>
            </a:endParaRPr>
          </a:p>
        </p:txBody>
      </p:sp>
      <p:sp>
        <p:nvSpPr>
          <p:cNvPr id="153603" name="Rectangle 3"/>
          <p:cNvSpPr>
            <a:spLocks noChangeArrowheads="1"/>
          </p:cNvSpPr>
          <p:nvPr/>
        </p:nvSpPr>
        <p:spPr bwMode="auto">
          <a:xfrm>
            <a:off x="468313" y="765175"/>
            <a:ext cx="8397875" cy="4561891"/>
          </a:xfrm>
          <a:prstGeom prst="rect">
            <a:avLst/>
          </a:prstGeom>
          <a:noFill/>
          <a:ln w="9525">
            <a:noFill/>
            <a:miter lim="800000"/>
            <a:headEnd/>
            <a:tailEnd/>
          </a:ln>
          <a:effectLst/>
        </p:spPr>
        <p:txBody>
          <a:bodyPr lIns="92075" tIns="46038" rIns="92075" bIns="46038">
            <a:spAutoFit/>
          </a:bodyPr>
          <a:lstStyle/>
          <a:p>
            <a:pPr>
              <a:spcBef>
                <a:spcPct val="20000"/>
              </a:spcBef>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当一个数组的元素均为指针类型时，该数组称为指针数组。</a:t>
            </a:r>
          </a:p>
          <a:p>
            <a:pPr>
              <a:spcBef>
                <a:spcPct val="20000"/>
              </a:spcBef>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定义形式：类型说明符  * 数组名</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常量表达式</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p>
          <a:p>
            <a:pPr>
              <a:spcBef>
                <a:spcPct val="20000"/>
              </a:spcBef>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例子：</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800" b="1" dirty="0">
                <a:effectLst>
                  <a:outerShdw blurRad="38100" dist="38100" dir="2700000" algn="tl">
                    <a:srgbClr val="C0C0C0"/>
                  </a:outerShdw>
                </a:effectLst>
                <a:latin typeface="楷体_GB2312" pitchFamily="49" charset="-122"/>
                <a:ea typeface="楷体_GB2312" pitchFamily="49" charset="-122"/>
              </a:rPr>
              <a:t>  *p[10];</a:t>
            </a:r>
          </a:p>
          <a:p>
            <a:pPr>
              <a:spcBef>
                <a:spcPct val="20000"/>
              </a:spcBef>
              <a:buClr>
                <a:schemeClr val="hlink"/>
              </a:buClr>
              <a:buSzPct val="50000"/>
              <a:buFont typeface="Monotype Sorts" pitchFamily="2" charset="2"/>
              <a:buNone/>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定义：指针数组</a:t>
            </a:r>
            <a:r>
              <a:rPr kumimoji="1" lang="en-US" altLang="zh-CN" sz="2800" b="1" dirty="0">
                <a:effectLst>
                  <a:outerShdw blurRad="38100" dist="38100" dir="2700000" algn="tl">
                    <a:srgbClr val="C0C0C0"/>
                  </a:outerShdw>
                </a:effectLst>
                <a:latin typeface="楷体_GB2312" pitchFamily="49" charset="-122"/>
                <a:ea typeface="楷体_GB2312" pitchFamily="49" charset="-122"/>
              </a:rPr>
              <a:t>p</a:t>
            </a:r>
            <a:r>
              <a:rPr kumimoji="1" lang="zh-CN" altLang="en-US" sz="2800" b="1" dirty="0">
                <a:effectLst>
                  <a:outerShdw blurRad="38100" dist="38100" dir="2700000" algn="tl">
                    <a:srgbClr val="C0C0C0"/>
                  </a:outerShdw>
                </a:effectLst>
                <a:latin typeface="楷体_GB2312" pitchFamily="49" charset="-122"/>
                <a:ea typeface="楷体_GB2312" pitchFamily="49" charset="-122"/>
              </a:rPr>
              <a:t>有</a:t>
            </a:r>
            <a:r>
              <a:rPr kumimoji="1" lang="en-US" altLang="zh-CN" sz="2800" b="1" dirty="0">
                <a:effectLst>
                  <a:outerShdw blurRad="38100" dist="38100" dir="2700000" algn="tl">
                    <a:srgbClr val="C0C0C0"/>
                  </a:outerShdw>
                </a:effectLst>
                <a:latin typeface="楷体_GB2312" pitchFamily="49" charset="-122"/>
                <a:ea typeface="楷体_GB2312" pitchFamily="49" charset="-122"/>
              </a:rPr>
              <a:t>10</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个元素，每个元素都是一个可	 指向整型数据的指针变量。</a:t>
            </a:r>
          </a:p>
          <a:p>
            <a:pPr>
              <a:spcBef>
                <a:spcPct val="20000"/>
              </a:spcBef>
              <a:buClr>
                <a:schemeClr val="hlink"/>
              </a:buClr>
              <a:buSzPct val="50000"/>
              <a:buFont typeface="Monotype Sorts" pitchFamily="2" charset="2"/>
              <a:buNone/>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说明：和一般的数组定义一样，数组名</a:t>
            </a:r>
            <a:r>
              <a:rPr kumimoji="1" lang="en-US" altLang="zh-CN" sz="2800" b="1" dirty="0">
                <a:effectLst>
                  <a:outerShdw blurRad="38100" dist="38100" dir="2700000" algn="tl">
                    <a:srgbClr val="C0C0C0"/>
                  </a:outerShdw>
                </a:effectLst>
                <a:latin typeface="楷体_GB2312" pitchFamily="49" charset="-122"/>
                <a:ea typeface="楷体_GB2312" pitchFamily="49" charset="-122"/>
              </a:rPr>
              <a:t>p</a:t>
            </a:r>
            <a:r>
              <a:rPr kumimoji="1" lang="zh-CN" altLang="en-US" sz="2800" b="1" dirty="0">
                <a:effectLst>
                  <a:outerShdw blurRad="38100" dist="38100" dir="2700000" algn="tl">
                    <a:srgbClr val="C0C0C0"/>
                  </a:outerShdw>
                </a:effectLst>
                <a:latin typeface="楷体_GB2312" pitchFamily="49" charset="-122"/>
                <a:ea typeface="楷体_GB2312" pitchFamily="49" charset="-122"/>
              </a:rPr>
              <a:t>也可作为	  </a:t>
            </a:r>
            <a:r>
              <a:rPr kumimoji="1" lang="en-US" altLang="zh-CN" sz="2800" b="1" dirty="0">
                <a:effectLst>
                  <a:outerShdw blurRad="38100" dist="38100" dir="2700000" algn="tl">
                    <a:srgbClr val="C0C0C0"/>
                  </a:outerShdw>
                </a:effectLst>
                <a:latin typeface="楷体_GB2312" pitchFamily="49" charset="-122"/>
                <a:ea typeface="楷体_GB2312" pitchFamily="49" charset="-122"/>
              </a:rPr>
              <a:t>p[0]</a:t>
            </a:r>
            <a:r>
              <a:rPr kumimoji="1" lang="zh-CN" altLang="en-US" sz="2800" b="1" dirty="0">
                <a:effectLst>
                  <a:outerShdw blurRad="38100" dist="38100" dir="2700000" algn="tl">
                    <a:srgbClr val="C0C0C0"/>
                  </a:outerShdw>
                </a:effectLst>
                <a:latin typeface="楷体_GB2312" pitchFamily="49" charset="-122"/>
                <a:ea typeface="楷体_GB2312" pitchFamily="49" charset="-122"/>
              </a:rPr>
              <a:t>的地址。</a:t>
            </a:r>
          </a:p>
          <a:p>
            <a:pPr>
              <a:spcBef>
                <a:spcPct val="20000"/>
              </a:spcBef>
              <a:buClr>
                <a:schemeClr val="hlink"/>
              </a:buClr>
              <a:buSzPct val="50000"/>
              <a:buFont typeface="Monotype Sorts" pitchFamily="2" charset="2"/>
              <a:buNone/>
              <a:defRPr/>
            </a:pP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注意：在</a:t>
            </a:r>
            <a:r>
              <a:rPr kumimoji="1" lang="zh-CN" altLang="en-US" sz="2000" b="1" dirty="0">
                <a:solidFill>
                  <a:srgbClr val="C00000"/>
                </a:solidFill>
                <a:effectLst>
                  <a:outerShdw blurRad="38100" dist="38100" dir="2700000" algn="tl">
                    <a:srgbClr val="C0C0C0"/>
                  </a:outerShdw>
                </a:effectLst>
                <a:latin typeface="宋体"/>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宋体"/>
                <a:ea typeface="楷体_GB2312" pitchFamily="49" charset="-122"/>
              </a:rPr>
              <a:t>”</a:t>
            </a:r>
            <a:r>
              <a:rPr kumimoji="1" lang="zh-CN" altLang="en-US" sz="2000" b="1" dirty="0">
                <a:solidFill>
                  <a:srgbClr val="C00000"/>
                </a:solidFill>
                <a:effectLst>
                  <a:outerShdw blurRad="38100" dist="38100" dir="2700000" algn="tl">
                    <a:srgbClr val="C0C0C0"/>
                  </a:outerShdw>
                </a:effectLst>
                <a:latin typeface="楷体_GB2312" pitchFamily="49" charset="-122"/>
                <a:ea typeface="楷体_GB2312" pitchFamily="49" charset="-122"/>
              </a:rPr>
              <a:t>与数组名之外不能加上圆括号，否则就变成指向数组的指针变量。</a:t>
            </a:r>
          </a:p>
        </p:txBody>
      </p:sp>
      <p:sp>
        <p:nvSpPr>
          <p:cNvPr id="153604" name="Rectangle 4"/>
          <p:cNvSpPr>
            <a:spLocks noGrp="1" noChangeArrowheads="1"/>
          </p:cNvSpPr>
          <p:nvPr>
            <p:ph type="title"/>
          </p:nvPr>
        </p:nvSpPr>
        <p:spPr>
          <a:xfrm>
            <a:off x="395288" y="188913"/>
            <a:ext cx="8088312" cy="576262"/>
          </a:xfrm>
        </p:spPr>
        <p:txBody>
          <a:bodyPr>
            <a:normAutofit fontScale="90000"/>
          </a:bodyPr>
          <a:lstStyle/>
          <a:p>
            <a:pPr eaLnBrk="1" fontAlgn="auto" hangingPunct="1">
              <a:spcAft>
                <a:spcPts val="0"/>
              </a:spcAft>
              <a:defRPr/>
            </a:pPr>
            <a:r>
              <a:rPr lang="en-US" altLang="zh-CN" sz="3600" b="1" dirty="0">
                <a:solidFill>
                  <a:schemeClr val="tx1"/>
                </a:solidFill>
                <a:effectLst>
                  <a:outerShdw blurRad="38100" dist="38100" dir="2700000" algn="tl">
                    <a:srgbClr val="C0C0C0"/>
                  </a:outerShdw>
                </a:effectLst>
                <a:latin typeface="黑体" pitchFamily="2" charset="-122"/>
                <a:ea typeface="黑体" pitchFamily="2" charset="-122"/>
              </a:rPr>
              <a:t>6.6</a:t>
            </a:r>
            <a:r>
              <a:rPr lang="zh-CN" altLang="en-US" sz="3600" b="1" dirty="0">
                <a:solidFill>
                  <a:schemeClr val="tx1"/>
                </a:solidFill>
                <a:effectLst>
                  <a:outerShdw blurRad="38100" dist="38100" dir="2700000" algn="tl">
                    <a:srgbClr val="C0C0C0"/>
                  </a:outerShdw>
                </a:effectLst>
                <a:latin typeface="黑体" pitchFamily="2" charset="-122"/>
                <a:ea typeface="黑体" pitchFamily="2" charset="-122"/>
              </a:rPr>
              <a:t>指针数组</a:t>
            </a:r>
          </a:p>
        </p:txBody>
      </p:sp>
      <p:sp>
        <p:nvSpPr>
          <p:cNvPr id="5" name="Slide Number Placeholder 4"/>
          <p:cNvSpPr>
            <a:spLocks noGrp="1"/>
          </p:cNvSpPr>
          <p:nvPr>
            <p:ph type="sldNum" sz="quarter" idx="12"/>
          </p:nvPr>
        </p:nvSpPr>
        <p:spPr/>
        <p:txBody>
          <a:bodyPr/>
          <a:lstStyle/>
          <a:p>
            <a:pPr>
              <a:defRPr/>
            </a:pPr>
            <a:fld id="{ED146523-721E-4497-89B8-10799149A40B}" type="slidenum">
              <a:rPr lang="en-US" altLang="zh-CN"/>
              <a:pPr>
                <a:defRPr/>
              </a:pPr>
              <a:t>73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03">
                                            <p:txEl>
                                              <p:pRg st="5" end="5"/>
                                            </p:txEl>
                                          </p:spTgt>
                                        </p:tgtEl>
                                        <p:attrNameLst>
                                          <p:attrName>style.visibility</p:attrName>
                                        </p:attrNameLst>
                                      </p:cBhvr>
                                      <p:to>
                                        <p:strVal val="visible"/>
                                      </p:to>
                                    </p:set>
                                    <p:anim calcmode="lin" valueType="num">
                                      <p:cBhvr additive="base">
                                        <p:cTn id="7" dur="500" fill="hold"/>
                                        <p:tgtEl>
                                          <p:spTgt spid="15360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0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228600" y="685800"/>
            <a:ext cx="8534400" cy="5791200"/>
          </a:xfrm>
          <a:prstGeom prst="rect">
            <a:avLst/>
          </a:prstGeom>
          <a:noFill/>
          <a:ln w="9525">
            <a:noFill/>
            <a:miter lim="800000"/>
            <a:headEnd/>
            <a:tailEnd/>
          </a:ln>
          <a:effectLst/>
        </p:spPr>
        <p:txBody>
          <a:bodyPr lIns="92075" tIns="46038" rIns="92075" bIns="46038"/>
          <a:lstStyle/>
          <a:p>
            <a:pPr algn="just">
              <a:spcBef>
                <a:spcPct val="20000"/>
              </a:spcBef>
              <a:defRPr/>
            </a:pPr>
            <a:endParaRPr lang="zh-CN" altLang="zh-CN" sz="3200" b="1">
              <a:effectLst>
                <a:outerShdw blurRad="38100" dist="38100" dir="2700000" algn="tl">
                  <a:srgbClr val="C0C0C0"/>
                </a:outerShdw>
              </a:effectLst>
              <a:latin typeface="宋体" pitchFamily="2" charset="-122"/>
              <a:ea typeface="宋体" pitchFamily="2" charset="-122"/>
            </a:endParaRPr>
          </a:p>
        </p:txBody>
      </p:sp>
      <p:sp>
        <p:nvSpPr>
          <p:cNvPr id="154627" name="Rectangle 3"/>
          <p:cNvSpPr>
            <a:spLocks noChangeArrowheads="1"/>
          </p:cNvSpPr>
          <p:nvPr/>
        </p:nvSpPr>
        <p:spPr bwMode="auto">
          <a:xfrm>
            <a:off x="395288" y="1196975"/>
            <a:ext cx="8497887" cy="4401847"/>
          </a:xfrm>
          <a:prstGeom prst="rect">
            <a:avLst/>
          </a:prstGeom>
          <a:noFill/>
          <a:ln w="9525">
            <a:noFill/>
            <a:miter lim="800000"/>
            <a:headEnd/>
            <a:tailEnd/>
          </a:ln>
          <a:effectLst/>
        </p:spPr>
        <p:txBody>
          <a:bodyPr lIns="92075" tIns="46038" rIns="92075" bIns="46038">
            <a:spAutoFit/>
          </a:bodyPr>
          <a:lstStyle/>
          <a:p>
            <a:pPr>
              <a:defRPr/>
            </a:pPr>
            <a:r>
              <a:rPr kumimoji="1"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引入指针数组的主要目的是便于统一管理同类的指针。</a:t>
            </a:r>
          </a:p>
          <a:p>
            <a:pPr>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例如，利用指针数组能实现对一组独立的变量以数组的形式对它们作统一处理。如果有以下定义：</a:t>
            </a:r>
          </a:p>
          <a:p>
            <a:pPr>
              <a:defRPr/>
            </a:pPr>
            <a:r>
              <a:rPr kumimoji="1" lang="en-US" altLang="zh-CN" sz="2800" b="1"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800" b="1" dirty="0">
                <a:effectLst>
                  <a:outerShdw blurRad="38100" dist="38100" dir="2700000" algn="tl">
                    <a:srgbClr val="C0C0C0"/>
                  </a:outerShdw>
                </a:effectLst>
                <a:latin typeface="楷体_GB2312" pitchFamily="49" charset="-122"/>
                <a:ea typeface="楷体_GB2312" pitchFamily="49" charset="-122"/>
              </a:rPr>
              <a:t> a, b, c, d, e, f;</a:t>
            </a:r>
          </a:p>
          <a:p>
            <a:pPr>
              <a:defRPr/>
            </a:pPr>
            <a:r>
              <a:rPr kumimoji="1" lang="en-US" altLang="zh-CN" sz="2800" b="1"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800" b="1" dirty="0">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ap</a:t>
            </a:r>
            <a:r>
              <a:rPr kumimoji="1" lang="en-US" altLang="zh-CN" sz="2800" b="1" dirty="0">
                <a:effectLst>
                  <a:outerShdw blurRad="38100" dist="38100" dir="2700000" algn="tl">
                    <a:srgbClr val="C0C0C0"/>
                  </a:outerShdw>
                </a:effectLst>
                <a:latin typeface="楷体_GB2312" pitchFamily="49" charset="-122"/>
                <a:ea typeface="楷体_GB2312" pitchFamily="49" charset="-122"/>
              </a:rPr>
              <a:t>[] = {&amp;a, &amp;b, &amp;c, &amp;d, &amp;e, &amp;f};</a:t>
            </a:r>
          </a:p>
          <a:p>
            <a:pPr>
              <a:defRPr/>
            </a:pPr>
            <a:r>
              <a:rPr kumimoji="1" lang="zh-CN" altLang="en-US" sz="2800" b="1" dirty="0">
                <a:effectLst>
                  <a:outerShdw blurRad="38100" dist="38100" dir="2700000" algn="tl">
                    <a:srgbClr val="C0C0C0"/>
                  </a:outerShdw>
                </a:effectLst>
                <a:latin typeface="楷体_GB2312" pitchFamily="49" charset="-122"/>
                <a:ea typeface="楷体_GB2312" pitchFamily="49" charset="-122"/>
              </a:rPr>
              <a:t>下面的循环语句能顺序访问独立的变量</a:t>
            </a:r>
            <a:r>
              <a:rPr kumimoji="1" lang="en-US" altLang="zh-CN" sz="2800" b="1" dirty="0">
                <a:effectLst>
                  <a:outerShdw blurRad="38100" dist="38100" dir="2700000" algn="tl">
                    <a:srgbClr val="C0C0C0"/>
                  </a:outerShdw>
                </a:effectLst>
                <a:latin typeface="楷体_GB2312" pitchFamily="49" charset="-122"/>
                <a:ea typeface="楷体_GB2312" pitchFamily="49" charset="-122"/>
              </a:rPr>
              <a:t>a</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b</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c</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d</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e</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f</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p>
          <a:p>
            <a:pPr>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for(k = 0; k &lt; 6; k++)</a:t>
            </a:r>
          </a:p>
          <a:p>
            <a:pPr>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printf</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effectLst>
                  <a:outerShdw blurRad="38100" dist="38100" dir="2700000" algn="tl">
                    <a:srgbClr val="C0C0C0"/>
                  </a:outerShdw>
                </a:effectLst>
                <a:latin typeface="Arial"/>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%d\t</a:t>
            </a:r>
            <a:r>
              <a:rPr kumimoji="1" lang="en-US" altLang="zh-CN" sz="2800" b="1" dirty="0">
                <a:effectLst>
                  <a:outerShdw blurRad="38100" dist="38100" dir="2700000" algn="tl">
                    <a:srgbClr val="C0C0C0"/>
                  </a:outerShdw>
                </a:effectLst>
                <a:latin typeface="Arial"/>
                <a:ea typeface="楷体_GB2312" pitchFamily="49" charset="-122"/>
              </a:rPr>
              <a:t>”</a:t>
            </a:r>
            <a:r>
              <a:rPr kumimoji="1" lang="en-US" altLang="zh-CN" sz="2800" b="1" dirty="0">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ap</a:t>
            </a:r>
            <a:r>
              <a:rPr kumimoji="1" lang="en-US" altLang="zh-CN" sz="2800" b="1" dirty="0">
                <a:effectLst>
                  <a:outerShdw blurRad="38100" dist="38100" dir="2700000" algn="tl">
                    <a:srgbClr val="C0C0C0"/>
                  </a:outerShdw>
                </a:effectLst>
                <a:latin typeface="楷体_GB2312" pitchFamily="49" charset="-122"/>
                <a:ea typeface="楷体_GB2312" pitchFamily="49" charset="-122"/>
              </a:rPr>
              <a:t>[k]); /* </a:t>
            </a:r>
            <a:r>
              <a:rPr kumimoji="1" lang="zh-CN" altLang="en-US" sz="2800" b="1" dirty="0">
                <a:effectLst>
                  <a:outerShdw blurRad="38100" dist="38100" dir="2700000" algn="tl">
                    <a:srgbClr val="C0C0C0"/>
                  </a:outerShdw>
                </a:effectLst>
                <a:latin typeface="楷体_GB2312" pitchFamily="49" charset="-122"/>
                <a:ea typeface="楷体_GB2312" pitchFamily="49" charset="-122"/>
              </a:rPr>
              <a:t>其中*</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ap</a:t>
            </a:r>
            <a:r>
              <a:rPr kumimoji="1" lang="en-US" altLang="zh-CN" sz="2800" b="1" dirty="0">
                <a:effectLst>
                  <a:outerShdw blurRad="38100" dist="38100" dir="2700000" algn="tl">
                    <a:srgbClr val="C0C0C0"/>
                  </a:outerShdw>
                </a:effectLst>
                <a:latin typeface="楷体_GB2312" pitchFamily="49" charset="-122"/>
                <a:ea typeface="楷体_GB2312" pitchFamily="49" charset="-122"/>
              </a:rPr>
              <a:t>[k]</a:t>
            </a:r>
            <a:r>
              <a:rPr kumimoji="1" lang="zh-CN" altLang="en-US" sz="2800" b="1" dirty="0">
                <a:effectLst>
                  <a:outerShdw blurRad="38100" dist="38100" dir="2700000" algn="tl">
                    <a:srgbClr val="C0C0C0"/>
                  </a:outerShdw>
                </a:effectLst>
                <a:latin typeface="楷体_GB2312" pitchFamily="49" charset="-122"/>
                <a:ea typeface="楷体_GB2312" pitchFamily="49" charset="-122"/>
              </a:rPr>
              <a:t>可写成**</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ap+k</a:t>
            </a:r>
            <a:r>
              <a:rPr kumimoji="1" lang="en-US" altLang="zh-CN" sz="2800" b="1" dirty="0">
                <a:effectLst>
                  <a:outerShdw blurRad="38100" dist="38100" dir="2700000" algn="tl">
                    <a:srgbClr val="C0C0C0"/>
                  </a:outerShdw>
                </a:effectLst>
                <a:latin typeface="楷体_GB2312" pitchFamily="49" charset="-122"/>
                <a:ea typeface="楷体_GB2312" pitchFamily="49" charset="-122"/>
              </a:rPr>
              <a:t>) */</a:t>
            </a:r>
          </a:p>
        </p:txBody>
      </p:sp>
      <p:sp>
        <p:nvSpPr>
          <p:cNvPr id="4" name="Slide Number Placeholder 3"/>
          <p:cNvSpPr>
            <a:spLocks noGrp="1"/>
          </p:cNvSpPr>
          <p:nvPr>
            <p:ph type="sldNum" sz="quarter" idx="12"/>
          </p:nvPr>
        </p:nvSpPr>
        <p:spPr/>
        <p:txBody>
          <a:bodyPr/>
          <a:lstStyle/>
          <a:p>
            <a:pPr>
              <a:defRPr/>
            </a:pPr>
            <a:fld id="{41008E9A-7036-4946-9FB8-482F67ECE6F6}" type="slidenum">
              <a:rPr lang="en-US" altLang="zh-CN"/>
              <a:pPr>
                <a:defRPr/>
              </a:pPr>
              <a:t>74</a:t>
            </a:fld>
            <a:endParaRPr lang="en-US" altLang="zh-CN"/>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ChangeArrowheads="1"/>
          </p:cNvSpPr>
          <p:nvPr/>
        </p:nvSpPr>
        <p:spPr bwMode="auto">
          <a:xfrm>
            <a:off x="228600" y="685800"/>
            <a:ext cx="8534400" cy="5791200"/>
          </a:xfrm>
          <a:prstGeom prst="rect">
            <a:avLst/>
          </a:prstGeom>
          <a:noFill/>
          <a:ln w="9525">
            <a:noFill/>
            <a:miter lim="800000"/>
            <a:headEnd/>
            <a:tailEnd/>
          </a:ln>
          <a:effectLst/>
        </p:spPr>
        <p:txBody>
          <a:bodyPr lIns="92075" tIns="46038" rIns="92075" bIns="46038"/>
          <a:lstStyle/>
          <a:p>
            <a:pPr algn="just">
              <a:spcBef>
                <a:spcPct val="20000"/>
              </a:spcBef>
              <a:defRPr/>
            </a:pPr>
            <a:endParaRPr lang="zh-CN" altLang="zh-CN" sz="3200" b="1">
              <a:effectLst>
                <a:outerShdw blurRad="38100" dist="38100" dir="2700000" algn="tl">
                  <a:srgbClr val="C0C0C0"/>
                </a:outerShdw>
              </a:effectLst>
              <a:latin typeface="宋体" pitchFamily="2" charset="-122"/>
              <a:ea typeface="宋体" pitchFamily="2" charset="-122"/>
            </a:endParaRPr>
          </a:p>
        </p:txBody>
      </p:sp>
      <p:sp>
        <p:nvSpPr>
          <p:cNvPr id="155651" name="Rectangle 3"/>
          <p:cNvSpPr>
            <a:spLocks noChangeArrowheads="1"/>
          </p:cNvSpPr>
          <p:nvPr/>
        </p:nvSpPr>
        <p:spPr bwMode="auto">
          <a:xfrm>
            <a:off x="250825" y="981075"/>
            <a:ext cx="8686800" cy="5646738"/>
          </a:xfrm>
          <a:prstGeom prst="rect">
            <a:avLst/>
          </a:prstGeom>
          <a:noFill/>
          <a:ln w="9525">
            <a:noFill/>
            <a:miter lim="800000"/>
            <a:headEnd/>
            <a:tailEnd/>
          </a:ln>
          <a:effectLst/>
        </p:spPr>
        <p:txBody>
          <a:bodyPr lIns="92075" tIns="46038" rIns="92075" bIns="46038">
            <a:spAutoFit/>
          </a:bodyPr>
          <a:lstStyle/>
          <a:p>
            <a:pPr algn="just">
              <a:spcBef>
                <a:spcPct val="20000"/>
              </a:spcBef>
              <a:defRPr/>
            </a:pPr>
            <a:r>
              <a:rPr kumimoji="1" lang="en-US" altLang="zh-CN" sz="2800" b="1">
                <a:solidFill>
                  <a:srgbClr val="006600"/>
                </a:solidFill>
                <a:ea typeface="宋体" pitchFamily="2" charset="-122"/>
              </a:rPr>
              <a:t>#include  &lt;stdio.h&gt;</a:t>
            </a:r>
          </a:p>
          <a:p>
            <a:pPr algn="just">
              <a:spcBef>
                <a:spcPct val="20000"/>
              </a:spcBef>
              <a:defRPr/>
            </a:pPr>
            <a:r>
              <a:rPr kumimoji="1" lang="en-US" altLang="zh-CN" sz="2800" b="1">
                <a:solidFill>
                  <a:srgbClr val="006600"/>
                </a:solidFill>
                <a:ea typeface="宋体" pitchFamily="2" charset="-122"/>
              </a:rPr>
              <a:t>#define  N sizeof ap/sizeof ap[0]</a:t>
            </a:r>
          </a:p>
          <a:p>
            <a:pPr algn="just">
              <a:spcBef>
                <a:spcPct val="20000"/>
              </a:spcBef>
              <a:defRPr/>
            </a:pPr>
            <a:r>
              <a:rPr kumimoji="1" lang="en-US" altLang="zh-CN" sz="2800" b="1">
                <a:solidFill>
                  <a:schemeClr val="bg2"/>
                </a:solidFill>
                <a:ea typeface="宋体" pitchFamily="2" charset="-122"/>
              </a:rPr>
              <a:t>  </a:t>
            </a:r>
            <a:r>
              <a:rPr kumimoji="1" lang="en-US" altLang="zh-CN" sz="2800" b="1">
                <a:solidFill>
                  <a:srgbClr val="0000FF"/>
                </a:solidFill>
                <a:effectLst>
                  <a:outerShdw blurRad="38100" dist="38100" dir="2700000" algn="tl">
                    <a:srgbClr val="C0C0C0"/>
                  </a:outerShdw>
                </a:effectLst>
                <a:ea typeface="宋体" pitchFamily="2" charset="-122"/>
              </a:rPr>
              <a:t>/* </a:t>
            </a:r>
            <a:r>
              <a:rPr kumimoji="1" lang="zh-CN" altLang="en-US" sz="2800" b="1">
                <a:solidFill>
                  <a:srgbClr val="0000FF"/>
                </a:solidFill>
                <a:effectLst>
                  <a:outerShdw blurRad="38100" dist="38100" dir="2700000" algn="tl">
                    <a:srgbClr val="C0C0C0"/>
                  </a:outerShdw>
                </a:effectLst>
                <a:ea typeface="宋体" pitchFamily="2" charset="-122"/>
              </a:rPr>
              <a:t>整个数组占用的字节数</a:t>
            </a:r>
            <a:r>
              <a:rPr kumimoji="1" lang="en-US" altLang="zh-CN" sz="2800" b="1">
                <a:solidFill>
                  <a:srgbClr val="0000FF"/>
                </a:solidFill>
                <a:effectLst>
                  <a:outerShdw blurRad="38100" dist="38100" dir="2700000" algn="tl">
                    <a:srgbClr val="C0C0C0"/>
                  </a:outerShdw>
                </a:effectLst>
                <a:ea typeface="宋体" pitchFamily="2" charset="-122"/>
              </a:rPr>
              <a:t>÷</a:t>
            </a:r>
            <a:r>
              <a:rPr kumimoji="1" lang="zh-CN" altLang="en-US" sz="2800" b="1">
                <a:solidFill>
                  <a:srgbClr val="0000FF"/>
                </a:solidFill>
                <a:effectLst>
                  <a:outerShdw blurRad="38100" dist="38100" dir="2700000" algn="tl">
                    <a:srgbClr val="C0C0C0"/>
                  </a:outerShdw>
                </a:effectLst>
                <a:ea typeface="宋体" pitchFamily="2" charset="-122"/>
              </a:rPr>
              <a:t>一个元素占用的字节数</a:t>
            </a:r>
          </a:p>
          <a:p>
            <a:pPr algn="just">
              <a:spcBef>
                <a:spcPct val="20000"/>
              </a:spcBef>
              <a:defRPr/>
            </a:pPr>
            <a:r>
              <a:rPr kumimoji="1" lang="zh-CN" altLang="en-US" sz="2800" b="1">
                <a:solidFill>
                  <a:srgbClr val="0000FF"/>
                </a:solidFill>
                <a:effectLst>
                  <a:outerShdw blurRad="38100" dist="38100" dir="2700000" algn="tl">
                    <a:srgbClr val="C0C0C0"/>
                  </a:outerShdw>
                </a:effectLst>
                <a:ea typeface="宋体" pitchFamily="2" charset="-122"/>
              </a:rPr>
              <a:t>     得到该数组有多少个元素 *</a:t>
            </a:r>
            <a:r>
              <a:rPr kumimoji="1" lang="en-US" altLang="zh-CN" sz="2800" b="1">
                <a:solidFill>
                  <a:srgbClr val="0000FF"/>
                </a:solidFill>
                <a:effectLst>
                  <a:outerShdw blurRad="38100" dist="38100" dir="2700000" algn="tl">
                    <a:srgbClr val="C0C0C0"/>
                  </a:outerShdw>
                </a:effectLst>
                <a:ea typeface="宋体" pitchFamily="2" charset="-122"/>
              </a:rPr>
              <a:t>/</a:t>
            </a:r>
          </a:p>
          <a:p>
            <a:pPr algn="just">
              <a:spcBef>
                <a:spcPct val="20000"/>
              </a:spcBef>
              <a:defRPr/>
            </a:pPr>
            <a:r>
              <a:rPr kumimoji="1" lang="en-US" altLang="zh-CN" sz="2800" b="1">
                <a:solidFill>
                  <a:srgbClr val="006600"/>
                </a:solidFill>
                <a:ea typeface="宋体" pitchFamily="2" charset="-122"/>
              </a:rPr>
              <a:t>int a, b, c, d, e, f;</a:t>
            </a:r>
          </a:p>
          <a:p>
            <a:pPr algn="just">
              <a:spcBef>
                <a:spcPct val="20000"/>
              </a:spcBef>
              <a:defRPr/>
            </a:pPr>
            <a:r>
              <a:rPr kumimoji="1" lang="en-US" altLang="zh-CN" sz="2800" b="1">
                <a:solidFill>
                  <a:srgbClr val="006600"/>
                </a:solidFill>
                <a:ea typeface="宋体" pitchFamily="2" charset="-122"/>
              </a:rPr>
              <a:t>int main()</a:t>
            </a:r>
          </a:p>
          <a:p>
            <a:pPr algn="just">
              <a:spcBef>
                <a:spcPct val="20000"/>
              </a:spcBef>
              <a:defRPr/>
            </a:pPr>
            <a:r>
              <a:rPr kumimoji="1" lang="en-US" altLang="zh-CN" sz="2800" b="1">
                <a:solidFill>
                  <a:srgbClr val="006600"/>
                </a:solidFill>
                <a:ea typeface="宋体" pitchFamily="2" charset="-122"/>
              </a:rPr>
              <a:t>{ int *ap[ ] = { &amp;a, &amp;b, &amp;c, &amp;d, &amp;e, &amp;f };</a:t>
            </a:r>
          </a:p>
          <a:p>
            <a:pPr algn="just">
              <a:spcBef>
                <a:spcPct val="20000"/>
              </a:spcBef>
              <a:defRPr/>
            </a:pPr>
            <a:r>
              <a:rPr kumimoji="1" lang="en-US" altLang="zh-CN" sz="2800" b="1">
                <a:solidFill>
                  <a:srgbClr val="006600"/>
                </a:solidFill>
                <a:ea typeface="宋体" pitchFamily="2" charset="-122"/>
              </a:rPr>
              <a:t>  int k, j, t;</a:t>
            </a:r>
          </a:p>
          <a:p>
            <a:pPr algn="just">
              <a:spcBef>
                <a:spcPct val="20000"/>
              </a:spcBef>
              <a:defRPr/>
            </a:pPr>
            <a:r>
              <a:rPr kumimoji="1" lang="en-US" altLang="zh-CN" sz="2800" b="1">
                <a:solidFill>
                  <a:srgbClr val="006600"/>
                </a:solidFill>
                <a:ea typeface="宋体" pitchFamily="2" charset="-122"/>
              </a:rPr>
              <a:t>  printf ( "Enter a, b, c, d, e, f.\n" );</a:t>
            </a:r>
          </a:p>
          <a:p>
            <a:pPr algn="just">
              <a:spcBef>
                <a:spcPct val="20000"/>
              </a:spcBef>
              <a:defRPr/>
            </a:pPr>
            <a:r>
              <a:rPr kumimoji="1" lang="en-US" altLang="zh-CN" sz="2800" b="1">
                <a:solidFill>
                  <a:srgbClr val="006600"/>
                </a:solidFill>
                <a:ea typeface="宋体" pitchFamily="2" charset="-122"/>
              </a:rPr>
              <a:t>  for ( k = 0; k &lt; N; k++ )</a:t>
            </a:r>
          </a:p>
          <a:p>
            <a:pPr algn="just">
              <a:spcBef>
                <a:spcPct val="20000"/>
              </a:spcBef>
              <a:defRPr/>
            </a:pPr>
            <a:r>
              <a:rPr kumimoji="1" lang="en-US" altLang="zh-CN" sz="2800" b="1">
                <a:solidFill>
                  <a:srgbClr val="006600"/>
                </a:solidFill>
                <a:ea typeface="宋体" pitchFamily="2" charset="-122"/>
              </a:rPr>
              <a:t>       scanf( "%d",ap[k] );</a:t>
            </a:r>
            <a:r>
              <a:rPr kumimoji="1" lang="en-US" altLang="zh-CN" sz="2800" b="1">
                <a:solidFill>
                  <a:schemeClr val="bg2"/>
                </a:solidFill>
                <a:ea typeface="宋体" pitchFamily="2" charset="-122"/>
              </a:rPr>
              <a:t>    </a:t>
            </a:r>
            <a:r>
              <a:rPr kumimoji="1" lang="en-US" altLang="zh-CN" sz="2400" b="1">
                <a:solidFill>
                  <a:srgbClr val="0000FF"/>
                </a:solidFill>
                <a:ea typeface="宋体" pitchFamily="2" charset="-122"/>
              </a:rPr>
              <a:t>/* ap[k] </a:t>
            </a:r>
            <a:r>
              <a:rPr kumimoji="1" lang="zh-CN" altLang="en-US" sz="2400" b="1">
                <a:solidFill>
                  <a:srgbClr val="0000FF"/>
                </a:solidFill>
                <a:ea typeface="宋体" pitchFamily="2" charset="-122"/>
              </a:rPr>
              <a:t>也可写为 *</a:t>
            </a:r>
            <a:r>
              <a:rPr kumimoji="1" lang="en-US" altLang="zh-CN" sz="2400" b="1">
                <a:solidFill>
                  <a:srgbClr val="0000FF"/>
                </a:solidFill>
                <a:ea typeface="宋体" pitchFamily="2" charset="-122"/>
              </a:rPr>
              <a:t>(ap+k) */</a:t>
            </a:r>
          </a:p>
        </p:txBody>
      </p:sp>
      <p:sp>
        <p:nvSpPr>
          <p:cNvPr id="155652" name="Rectangle 4"/>
          <p:cNvSpPr>
            <a:spLocks noGrp="1" noChangeArrowheads="1"/>
          </p:cNvSpPr>
          <p:nvPr>
            <p:ph type="title"/>
          </p:nvPr>
        </p:nvSpPr>
        <p:spPr>
          <a:xfrm>
            <a:off x="365125" y="158750"/>
            <a:ext cx="8088313" cy="647700"/>
          </a:xfrm>
        </p:spPr>
        <p:txBody>
          <a:bodyPr>
            <a:normAutofit/>
          </a:bodyPr>
          <a:lstStyle/>
          <a:p>
            <a:pPr eaLnBrk="1" fontAlgn="auto" hangingPunct="1">
              <a:spcAft>
                <a:spcPts val="0"/>
              </a:spcAft>
              <a:defRPr/>
            </a:pPr>
            <a:r>
              <a:rPr lang="en-US" altLang="zh-CN" sz="3200" b="1" dirty="0">
                <a:solidFill>
                  <a:schemeClr val="tx1"/>
                </a:solidFill>
                <a:effectLst>
                  <a:outerShdw blurRad="38100" dist="38100" dir="2700000" algn="tl">
                    <a:srgbClr val="C0C0C0"/>
                  </a:outerShdw>
                </a:effectLst>
                <a:latin typeface="黑体" pitchFamily="2" charset="-122"/>
                <a:ea typeface="黑体" pitchFamily="2" charset="-122"/>
              </a:rPr>
              <a:t>【</a:t>
            </a:r>
            <a:r>
              <a:rPr lang="zh-CN" altLang="en-US" sz="3200" b="1" dirty="0">
                <a:solidFill>
                  <a:schemeClr val="tx1"/>
                </a:solidFill>
                <a:effectLst>
                  <a:outerShdw blurRad="38100" dist="38100" dir="2700000" algn="tl">
                    <a:srgbClr val="C0C0C0"/>
                  </a:outerShdw>
                </a:effectLst>
                <a:latin typeface="黑体" pitchFamily="2" charset="-122"/>
                <a:ea typeface="黑体" pitchFamily="2" charset="-122"/>
              </a:rPr>
              <a:t>例</a:t>
            </a:r>
            <a:r>
              <a:rPr lang="en-US" altLang="zh-CN" sz="3200" b="1" dirty="0">
                <a:solidFill>
                  <a:schemeClr val="tx1"/>
                </a:solidFill>
                <a:effectLst>
                  <a:outerShdw blurRad="38100" dist="38100" dir="2700000" algn="tl">
                    <a:srgbClr val="C0C0C0"/>
                  </a:outerShdw>
                </a:effectLst>
                <a:latin typeface="黑体" pitchFamily="2" charset="-122"/>
                <a:ea typeface="黑体" pitchFamily="2" charset="-122"/>
              </a:rPr>
              <a:t>6.12】 </a:t>
            </a:r>
            <a:r>
              <a:rPr lang="en-US" altLang="en-US" sz="3200" b="1" dirty="0" err="1">
                <a:solidFill>
                  <a:schemeClr val="tx1"/>
                </a:solidFill>
                <a:effectLst>
                  <a:outerShdw blurRad="38100" dist="38100" dir="2700000" algn="tl">
                    <a:srgbClr val="C0C0C0"/>
                  </a:outerShdw>
                </a:effectLst>
                <a:latin typeface="黑体" pitchFamily="2" charset="-122"/>
                <a:ea typeface="黑体" pitchFamily="2" charset="-122"/>
              </a:rPr>
              <a:t>排序时交换变量值</a:t>
            </a:r>
            <a:r>
              <a:rPr lang="zh-CN" altLang="en-US" sz="3200" b="1" dirty="0">
                <a:solidFill>
                  <a:schemeClr val="tx1"/>
                </a:solidFill>
                <a:effectLst>
                  <a:outerShdw blurRad="38100" dist="38100" dir="2700000" algn="tl">
                    <a:srgbClr val="C0C0C0"/>
                  </a:outerShdw>
                </a:effectLst>
                <a:latin typeface="黑体" pitchFamily="2" charset="-122"/>
                <a:ea typeface="黑体" pitchFamily="2" charset="-122"/>
              </a:rPr>
              <a:t> </a:t>
            </a:r>
          </a:p>
        </p:txBody>
      </p:sp>
      <p:sp>
        <p:nvSpPr>
          <p:cNvPr id="5" name="Slide Number Placeholder 4"/>
          <p:cNvSpPr>
            <a:spLocks noGrp="1"/>
          </p:cNvSpPr>
          <p:nvPr>
            <p:ph type="sldNum" sz="quarter" idx="12"/>
          </p:nvPr>
        </p:nvSpPr>
        <p:spPr/>
        <p:txBody>
          <a:bodyPr/>
          <a:lstStyle/>
          <a:p>
            <a:pPr>
              <a:defRPr/>
            </a:pPr>
            <a:fld id="{1C18EE36-2C01-42DA-BDFE-40E041A03A6B}" type="slidenum">
              <a:rPr lang="en-US" altLang="zh-CN"/>
              <a:pPr>
                <a:defRPr/>
              </a:pPr>
              <a:t>75</a:t>
            </a:fld>
            <a:endParaRPr lang="en-US" altLang="zh-CN"/>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2"/>
          <p:cNvSpPr>
            <a:spLocks noChangeArrowheads="1"/>
          </p:cNvSpPr>
          <p:nvPr/>
        </p:nvSpPr>
        <p:spPr bwMode="auto">
          <a:xfrm>
            <a:off x="228600" y="685800"/>
            <a:ext cx="8534400" cy="5791200"/>
          </a:xfrm>
          <a:prstGeom prst="rect">
            <a:avLst/>
          </a:prstGeom>
          <a:noFill/>
          <a:ln w="9525">
            <a:noFill/>
            <a:miter lim="800000"/>
            <a:headEnd/>
            <a:tailEnd/>
          </a:ln>
          <a:effectLst/>
        </p:spPr>
        <p:txBody>
          <a:bodyPr lIns="92075" tIns="46038" rIns="92075" bIns="46038"/>
          <a:lstStyle/>
          <a:p>
            <a:pPr algn="just">
              <a:spcBef>
                <a:spcPct val="20000"/>
              </a:spcBef>
              <a:defRPr/>
            </a:pPr>
            <a:endParaRPr lang="zh-CN" altLang="zh-CN" sz="3200" b="1">
              <a:effectLst>
                <a:outerShdw blurRad="38100" dist="38100" dir="2700000" algn="tl">
                  <a:srgbClr val="C0C0C0"/>
                </a:outerShdw>
              </a:effectLst>
              <a:latin typeface="宋体" pitchFamily="2" charset="-122"/>
              <a:ea typeface="宋体" pitchFamily="2" charset="-122"/>
            </a:endParaRPr>
          </a:p>
        </p:txBody>
      </p:sp>
      <p:sp>
        <p:nvSpPr>
          <p:cNvPr id="74755" name="Rectangle 3"/>
          <p:cNvSpPr>
            <a:spLocks noChangeArrowheads="1"/>
          </p:cNvSpPr>
          <p:nvPr/>
        </p:nvSpPr>
        <p:spPr bwMode="auto">
          <a:xfrm>
            <a:off x="395288" y="620713"/>
            <a:ext cx="8231187" cy="5688012"/>
          </a:xfrm>
          <a:prstGeom prst="rect">
            <a:avLst/>
          </a:prstGeom>
          <a:noFill/>
          <a:ln w="9525">
            <a:noFill/>
            <a:miter lim="800000"/>
            <a:headEnd/>
            <a:tailEnd/>
          </a:ln>
        </p:spPr>
        <p:txBody>
          <a:bodyPr lIns="92075" tIns="46038" rIns="92075" bIns="46038">
            <a:spAutoFit/>
          </a:bodyPr>
          <a:lstStyle/>
          <a:p>
            <a:pPr>
              <a:spcBef>
                <a:spcPct val="10000"/>
              </a:spcBef>
            </a:pPr>
            <a:r>
              <a:rPr kumimoji="1" lang="en-US" altLang="zh-CN" sz="2800" b="1" dirty="0">
                <a:solidFill>
                  <a:schemeClr val="bg2"/>
                </a:solidFill>
              </a:rPr>
              <a:t>  </a:t>
            </a:r>
            <a:r>
              <a:rPr kumimoji="1" lang="en-US" altLang="zh-CN" sz="2800" b="1" dirty="0">
                <a:solidFill>
                  <a:srgbClr val="006600"/>
                </a:solidFill>
              </a:rPr>
              <a:t>for ( k = 1; k &lt; N; k++ )</a:t>
            </a:r>
          </a:p>
          <a:p>
            <a:pPr>
              <a:spcBef>
                <a:spcPct val="10000"/>
              </a:spcBef>
            </a:pPr>
            <a:r>
              <a:rPr kumimoji="1" lang="en-US" altLang="zh-CN" sz="2800" b="1" dirty="0">
                <a:solidFill>
                  <a:srgbClr val="006600"/>
                </a:solidFill>
              </a:rPr>
              <a:t>       for ( j = 0; j &lt; N-k; </a:t>
            </a:r>
            <a:r>
              <a:rPr kumimoji="1" lang="en-US" altLang="zh-CN" sz="2800" b="1" dirty="0" err="1">
                <a:solidFill>
                  <a:srgbClr val="006600"/>
                </a:solidFill>
              </a:rPr>
              <a:t>j++</a:t>
            </a:r>
            <a:r>
              <a:rPr kumimoji="1" lang="en-US" altLang="zh-CN" sz="2800" b="1" dirty="0">
                <a:solidFill>
                  <a:srgbClr val="006600"/>
                </a:solidFill>
              </a:rPr>
              <a:t> )</a:t>
            </a:r>
          </a:p>
          <a:p>
            <a:pPr>
              <a:spcBef>
                <a:spcPct val="10000"/>
              </a:spcBef>
            </a:pPr>
            <a:r>
              <a:rPr kumimoji="1" lang="en-US" altLang="zh-CN" sz="2800" b="1" dirty="0">
                <a:solidFill>
                  <a:srgbClr val="006600"/>
                </a:solidFill>
              </a:rPr>
              <a:t>            if ( *ap[j] &gt; *ap[j+1] ) </a:t>
            </a:r>
          </a:p>
          <a:p>
            <a:pPr>
              <a:spcBef>
                <a:spcPct val="10000"/>
              </a:spcBef>
            </a:pPr>
            <a:r>
              <a:rPr kumimoji="1" lang="en-US" altLang="zh-CN" sz="2800" b="1" dirty="0">
                <a:solidFill>
                  <a:srgbClr val="006600"/>
                </a:solidFill>
              </a:rPr>
              <a:t>               {  t = *ap[j];     </a:t>
            </a:r>
            <a:r>
              <a:rPr kumimoji="1" lang="en-US" altLang="zh-CN" sz="2800" b="1" dirty="0">
                <a:solidFill>
                  <a:srgbClr val="FF0000"/>
                </a:solidFill>
              </a:rPr>
              <a:t> /* </a:t>
            </a:r>
            <a:r>
              <a:rPr kumimoji="1" lang="zh-CN" altLang="en-US" sz="2800" b="1" dirty="0">
                <a:solidFill>
                  <a:srgbClr val="FF0000"/>
                </a:solidFill>
              </a:rPr>
              <a:t>交换变量的值 *</a:t>
            </a:r>
            <a:r>
              <a:rPr kumimoji="1" lang="en-US" altLang="zh-CN" sz="2800" b="1" dirty="0">
                <a:solidFill>
                  <a:srgbClr val="FF0000"/>
                </a:solidFill>
              </a:rPr>
              <a:t>/</a:t>
            </a:r>
          </a:p>
          <a:p>
            <a:pPr>
              <a:spcBef>
                <a:spcPct val="10000"/>
              </a:spcBef>
            </a:pPr>
            <a:r>
              <a:rPr kumimoji="1" lang="en-US" altLang="zh-CN" sz="2800" b="1" dirty="0">
                <a:solidFill>
                  <a:srgbClr val="006600"/>
                </a:solidFill>
              </a:rPr>
              <a:t>                  *ap[j] = *ap[j+1];</a:t>
            </a:r>
          </a:p>
          <a:p>
            <a:pPr>
              <a:spcBef>
                <a:spcPct val="10000"/>
              </a:spcBef>
            </a:pPr>
            <a:r>
              <a:rPr kumimoji="1" lang="en-US" altLang="zh-CN" sz="2800" b="1" dirty="0">
                <a:solidFill>
                  <a:srgbClr val="006600"/>
                </a:solidFill>
              </a:rPr>
              <a:t>                  *ap[j+1] = t;</a:t>
            </a:r>
          </a:p>
          <a:p>
            <a:pPr>
              <a:spcBef>
                <a:spcPct val="10000"/>
              </a:spcBef>
            </a:pPr>
            <a:r>
              <a:rPr kumimoji="1" lang="en-US" altLang="zh-CN" sz="2800" b="1" dirty="0">
                <a:solidFill>
                  <a:srgbClr val="006600"/>
                </a:solidFill>
              </a:rPr>
              <a:t>               }</a:t>
            </a:r>
          </a:p>
          <a:p>
            <a:pPr>
              <a:spcBef>
                <a:spcPct val="10000"/>
              </a:spcBef>
            </a:pPr>
            <a:r>
              <a:rPr kumimoji="1" lang="en-US" altLang="zh-CN" sz="2800" b="1" dirty="0">
                <a:solidFill>
                  <a:srgbClr val="006600"/>
                </a:solidFill>
              </a:rPr>
              <a:t>  for ( k = 0; k &lt; N; k++ )</a:t>
            </a:r>
          </a:p>
          <a:p>
            <a:pPr>
              <a:spcBef>
                <a:spcPct val="10000"/>
              </a:spcBef>
            </a:pPr>
            <a:r>
              <a:rPr kumimoji="1" lang="en-US" altLang="zh-CN" sz="2800" b="1" dirty="0">
                <a:solidFill>
                  <a:srgbClr val="006600"/>
                </a:solidFill>
              </a:rPr>
              <a:t>       </a:t>
            </a:r>
            <a:r>
              <a:rPr kumimoji="1" lang="en-US" altLang="zh-CN" sz="2800" b="1" dirty="0" err="1">
                <a:solidFill>
                  <a:srgbClr val="006600"/>
                </a:solidFill>
              </a:rPr>
              <a:t>printf</a:t>
            </a:r>
            <a:r>
              <a:rPr kumimoji="1" lang="en-US" altLang="zh-CN" sz="2800" b="1" dirty="0">
                <a:solidFill>
                  <a:srgbClr val="006600"/>
                </a:solidFill>
              </a:rPr>
              <a:t> ( "%d\t", *ap[k] );</a:t>
            </a:r>
          </a:p>
          <a:p>
            <a:pPr>
              <a:spcBef>
                <a:spcPct val="10000"/>
              </a:spcBef>
            </a:pPr>
            <a:r>
              <a:rPr kumimoji="1" lang="en-US" altLang="zh-CN" sz="2800" b="1" dirty="0">
                <a:solidFill>
                  <a:srgbClr val="006600"/>
                </a:solidFill>
              </a:rPr>
              <a:t>  </a:t>
            </a:r>
            <a:r>
              <a:rPr kumimoji="1" lang="en-US" altLang="zh-CN" sz="2800" b="1" dirty="0" err="1">
                <a:solidFill>
                  <a:srgbClr val="006600"/>
                </a:solidFill>
              </a:rPr>
              <a:t>printf</a:t>
            </a:r>
            <a:r>
              <a:rPr kumimoji="1" lang="en-US" altLang="zh-CN" sz="2800" b="1" dirty="0">
                <a:solidFill>
                  <a:srgbClr val="006600"/>
                </a:solidFill>
              </a:rPr>
              <a:t>("\n");</a:t>
            </a:r>
          </a:p>
          <a:p>
            <a:pPr>
              <a:spcBef>
                <a:spcPct val="10000"/>
              </a:spcBef>
            </a:pPr>
            <a:r>
              <a:rPr kumimoji="1" lang="en-US" altLang="zh-CN" sz="2800" b="1" dirty="0">
                <a:solidFill>
                  <a:srgbClr val="006600"/>
                </a:solidFill>
              </a:rPr>
              <a:t>  return 0;</a:t>
            </a:r>
          </a:p>
          <a:p>
            <a:pPr>
              <a:spcBef>
                <a:spcPct val="10000"/>
              </a:spcBef>
            </a:pPr>
            <a:r>
              <a:rPr kumimoji="1" lang="en-US" altLang="zh-CN" sz="2800" b="1" dirty="0">
                <a:solidFill>
                  <a:srgbClr val="006600"/>
                </a:solidFill>
              </a:rPr>
              <a:t>}</a:t>
            </a:r>
          </a:p>
        </p:txBody>
      </p:sp>
      <p:grpSp>
        <p:nvGrpSpPr>
          <p:cNvPr id="2" name="Group 6"/>
          <p:cNvGrpSpPr>
            <a:grpSpLocks/>
          </p:cNvGrpSpPr>
          <p:nvPr/>
        </p:nvGrpSpPr>
        <p:grpSpPr bwMode="auto">
          <a:xfrm>
            <a:off x="4343400" y="4098925"/>
            <a:ext cx="4572000" cy="1555750"/>
            <a:chOff x="2736" y="2582"/>
            <a:chExt cx="2880" cy="980"/>
          </a:xfrm>
        </p:grpSpPr>
        <p:sp>
          <p:nvSpPr>
            <p:cNvPr id="74759" name="Text Box 7"/>
            <p:cNvSpPr txBox="1">
              <a:spLocks noChangeArrowheads="1"/>
            </p:cNvSpPr>
            <p:nvPr/>
          </p:nvSpPr>
          <p:spPr bwMode="auto">
            <a:xfrm>
              <a:off x="3120" y="2582"/>
              <a:ext cx="2496" cy="250"/>
            </a:xfrm>
            <a:prstGeom prst="rect">
              <a:avLst/>
            </a:prstGeom>
            <a:solidFill>
              <a:srgbClr val="FFFFCC"/>
            </a:solidFill>
            <a:ln w="9525">
              <a:noFill/>
              <a:miter lim="800000"/>
              <a:headEnd/>
              <a:tailEnd/>
            </a:ln>
          </p:spPr>
          <p:txBody>
            <a:bodyPr>
              <a:spAutoFit/>
            </a:bodyPr>
            <a:lstStyle/>
            <a:p>
              <a:r>
                <a:rPr lang="en-US" altLang="zh-CN" sz="2000" b="1">
                  <a:solidFill>
                    <a:srgbClr val="333333"/>
                  </a:solidFill>
                  <a:latin typeface="Times New Roman" charset="0"/>
                </a:rPr>
                <a:t>ap[0] ap[1] ap[2] ap[3] ap[4] ap[5] </a:t>
              </a:r>
            </a:p>
          </p:txBody>
        </p:sp>
        <p:sp>
          <p:nvSpPr>
            <p:cNvPr id="74760" name="Line 8"/>
            <p:cNvSpPr>
              <a:spLocks noChangeShapeType="1"/>
            </p:cNvSpPr>
            <p:nvPr/>
          </p:nvSpPr>
          <p:spPr bwMode="auto">
            <a:xfrm>
              <a:off x="4560"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4761" name="Text Box 9"/>
            <p:cNvSpPr txBox="1">
              <a:spLocks noChangeArrowheads="1"/>
            </p:cNvSpPr>
            <p:nvPr/>
          </p:nvSpPr>
          <p:spPr bwMode="auto">
            <a:xfrm>
              <a:off x="3216" y="3072"/>
              <a:ext cx="2304" cy="250"/>
            </a:xfrm>
            <a:prstGeom prst="rect">
              <a:avLst/>
            </a:prstGeom>
            <a:solidFill>
              <a:srgbClr val="FFFFCC"/>
            </a:solidFill>
            <a:ln w="9525">
              <a:noFill/>
              <a:miter lim="800000"/>
              <a:headEnd/>
              <a:tailEnd/>
            </a:ln>
          </p:spPr>
          <p:txBody>
            <a:bodyPr>
              <a:spAutoFit/>
            </a:bodyPr>
            <a:lstStyle/>
            <a:p>
              <a:r>
                <a:rPr lang="en-US" altLang="zh-CN" sz="2000" b="1">
                  <a:solidFill>
                    <a:srgbClr val="333333"/>
                  </a:solidFill>
                  <a:latin typeface="Times New Roman" charset="0"/>
                </a:rPr>
                <a:t>  a        b       c       d       e       f    </a:t>
              </a:r>
            </a:p>
          </p:txBody>
        </p:sp>
        <p:sp>
          <p:nvSpPr>
            <p:cNvPr id="74762" name="Line 10"/>
            <p:cNvSpPr>
              <a:spLocks noChangeShapeType="1"/>
            </p:cNvSpPr>
            <p:nvPr/>
          </p:nvSpPr>
          <p:spPr bwMode="auto">
            <a:xfrm>
              <a:off x="3408"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4763" name="Line 11"/>
            <p:cNvSpPr>
              <a:spLocks noChangeShapeType="1"/>
            </p:cNvSpPr>
            <p:nvPr/>
          </p:nvSpPr>
          <p:spPr bwMode="auto">
            <a:xfrm>
              <a:off x="3792"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4764" name="Line 12"/>
            <p:cNvSpPr>
              <a:spLocks noChangeShapeType="1"/>
            </p:cNvSpPr>
            <p:nvPr/>
          </p:nvSpPr>
          <p:spPr bwMode="auto">
            <a:xfrm>
              <a:off x="4176"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4765" name="Line 13"/>
            <p:cNvSpPr>
              <a:spLocks noChangeShapeType="1"/>
            </p:cNvSpPr>
            <p:nvPr/>
          </p:nvSpPr>
          <p:spPr bwMode="auto">
            <a:xfrm>
              <a:off x="4896"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4766" name="Line 14"/>
            <p:cNvSpPr>
              <a:spLocks noChangeShapeType="1"/>
            </p:cNvSpPr>
            <p:nvPr/>
          </p:nvSpPr>
          <p:spPr bwMode="auto">
            <a:xfrm>
              <a:off x="5232"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4767" name="Text Box 15"/>
            <p:cNvSpPr txBox="1">
              <a:spLocks noChangeArrowheads="1"/>
            </p:cNvSpPr>
            <p:nvPr/>
          </p:nvSpPr>
          <p:spPr bwMode="auto">
            <a:xfrm>
              <a:off x="2736" y="3312"/>
              <a:ext cx="2832" cy="250"/>
            </a:xfrm>
            <a:prstGeom prst="rect">
              <a:avLst/>
            </a:prstGeom>
            <a:solidFill>
              <a:srgbClr val="FFFFCC"/>
            </a:solidFill>
            <a:ln w="9525">
              <a:noFill/>
              <a:miter lim="800000"/>
              <a:headEnd/>
              <a:tailEnd/>
            </a:ln>
          </p:spPr>
          <p:txBody>
            <a:bodyPr>
              <a:spAutoFit/>
            </a:bodyPr>
            <a:lstStyle/>
            <a:p>
              <a:r>
                <a:rPr lang="zh-CN" altLang="en-US" sz="2000" b="1">
                  <a:solidFill>
                    <a:srgbClr val="0000CC"/>
                  </a:solidFill>
                </a:rPr>
                <a:t>排序前</a:t>
              </a:r>
              <a:r>
                <a:rPr lang="zh-CN" altLang="en-US" sz="2000" b="1"/>
                <a:t>  </a:t>
              </a:r>
              <a:r>
                <a:rPr lang="en-US" altLang="zh-CN" sz="2000" b="1">
                  <a:solidFill>
                    <a:srgbClr val="333333"/>
                  </a:solidFill>
                  <a:latin typeface="Times New Roman" charset="0"/>
                </a:rPr>
                <a:t>3        5       1       2       6       4    </a:t>
              </a:r>
            </a:p>
          </p:txBody>
        </p:sp>
      </p:grpSp>
      <p:sp>
        <p:nvSpPr>
          <p:cNvPr id="156688" name="Text Box 16"/>
          <p:cNvSpPr txBox="1">
            <a:spLocks noChangeArrowheads="1"/>
          </p:cNvSpPr>
          <p:nvPr/>
        </p:nvSpPr>
        <p:spPr bwMode="auto">
          <a:xfrm>
            <a:off x="4343400" y="5638800"/>
            <a:ext cx="4495800" cy="396875"/>
          </a:xfrm>
          <a:prstGeom prst="rect">
            <a:avLst/>
          </a:prstGeom>
          <a:solidFill>
            <a:srgbClr val="CCECFF"/>
          </a:solidFill>
          <a:ln w="9525">
            <a:noFill/>
            <a:miter lim="800000"/>
            <a:headEnd/>
            <a:tailEnd/>
          </a:ln>
        </p:spPr>
        <p:txBody>
          <a:bodyPr>
            <a:spAutoFit/>
          </a:bodyPr>
          <a:lstStyle/>
          <a:p>
            <a:r>
              <a:rPr lang="zh-CN" altLang="en-US" sz="2000" b="1">
                <a:solidFill>
                  <a:srgbClr val="0000CC"/>
                </a:solidFill>
              </a:rPr>
              <a:t>排序后</a:t>
            </a:r>
            <a:r>
              <a:rPr lang="zh-CN" altLang="en-US" sz="2000" b="1"/>
              <a:t>  </a:t>
            </a:r>
            <a:r>
              <a:rPr lang="en-US" altLang="zh-CN" sz="2000" b="1">
                <a:solidFill>
                  <a:srgbClr val="333333"/>
                </a:solidFill>
                <a:latin typeface="Times New Roman" charset="0"/>
              </a:rPr>
              <a:t>1        2       3       4       5       6    </a:t>
            </a:r>
          </a:p>
        </p:txBody>
      </p:sp>
      <p:sp>
        <p:nvSpPr>
          <p:cNvPr id="15" name="Slide Number Placeholder 14"/>
          <p:cNvSpPr>
            <a:spLocks noGrp="1"/>
          </p:cNvSpPr>
          <p:nvPr>
            <p:ph type="sldNum" sz="quarter" idx="12"/>
          </p:nvPr>
        </p:nvSpPr>
        <p:spPr/>
        <p:txBody>
          <a:bodyPr/>
          <a:lstStyle/>
          <a:p>
            <a:pPr>
              <a:defRPr/>
            </a:pPr>
            <a:fld id="{23AC30C2-29FF-4301-BEFE-049E062EC9F5}" type="slidenum">
              <a:rPr lang="en-US" altLang="zh-CN"/>
              <a:pPr>
                <a:defRPr/>
              </a:pPr>
              <a:t>76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688"/>
                                        </p:tgtEl>
                                        <p:attrNameLst>
                                          <p:attrName>style.visibility</p:attrName>
                                        </p:attrNameLst>
                                      </p:cBhvr>
                                      <p:to>
                                        <p:strVal val="visible"/>
                                      </p:to>
                                    </p:set>
                                    <p:animEffect transition="in" filter="wipe(left)">
                                      <p:cBhvr>
                                        <p:cTn id="12" dur="500"/>
                                        <p:tgtEl>
                                          <p:spTgt spid="156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8"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228600" y="685800"/>
            <a:ext cx="8534400" cy="5791200"/>
          </a:xfrm>
          <a:prstGeom prst="rect">
            <a:avLst/>
          </a:prstGeom>
          <a:noFill/>
          <a:ln w="9525">
            <a:noFill/>
            <a:miter lim="800000"/>
            <a:headEnd/>
            <a:tailEnd/>
          </a:ln>
          <a:effectLst/>
        </p:spPr>
        <p:txBody>
          <a:bodyPr lIns="92075" tIns="46038" rIns="92075" bIns="46038"/>
          <a:lstStyle/>
          <a:p>
            <a:pPr algn="just">
              <a:spcBef>
                <a:spcPct val="20000"/>
              </a:spcBef>
              <a:defRPr/>
            </a:pPr>
            <a:endParaRPr lang="zh-CN" altLang="zh-CN" sz="3200" b="1">
              <a:effectLst>
                <a:outerShdw blurRad="38100" dist="38100" dir="2700000" algn="tl">
                  <a:srgbClr val="C0C0C0"/>
                </a:outerShdw>
              </a:effectLst>
              <a:latin typeface="宋体" pitchFamily="2" charset="-122"/>
              <a:ea typeface="宋体" pitchFamily="2" charset="-122"/>
            </a:endParaRPr>
          </a:p>
        </p:txBody>
      </p:sp>
      <p:sp>
        <p:nvSpPr>
          <p:cNvPr id="75779" name="Rectangle 3"/>
          <p:cNvSpPr>
            <a:spLocks noChangeArrowheads="1"/>
          </p:cNvSpPr>
          <p:nvPr/>
        </p:nvSpPr>
        <p:spPr bwMode="auto">
          <a:xfrm>
            <a:off x="395288" y="1412875"/>
            <a:ext cx="8397875" cy="4621213"/>
          </a:xfrm>
          <a:prstGeom prst="rect">
            <a:avLst/>
          </a:prstGeom>
          <a:noFill/>
          <a:ln w="9525">
            <a:noFill/>
            <a:miter lim="800000"/>
            <a:headEnd/>
            <a:tailEnd/>
          </a:ln>
        </p:spPr>
        <p:txBody>
          <a:bodyPr lIns="92075" tIns="46038" rIns="92075" bIns="46038">
            <a:spAutoFit/>
          </a:bodyPr>
          <a:lstStyle/>
          <a:p>
            <a:pPr>
              <a:spcBef>
                <a:spcPct val="20000"/>
              </a:spcBef>
            </a:pPr>
            <a:r>
              <a:rPr kumimoji="1" lang="en-US" altLang="zh-CN" sz="2800" b="1">
                <a:solidFill>
                  <a:schemeClr val="bg2"/>
                </a:solidFill>
              </a:rPr>
              <a:t>  </a:t>
            </a:r>
            <a:r>
              <a:rPr kumimoji="1" lang="en-US" altLang="zh-CN" sz="2800" b="1">
                <a:solidFill>
                  <a:srgbClr val="006600"/>
                </a:solidFill>
              </a:rPr>
              <a:t>#include  &lt;stdio.h&gt;</a:t>
            </a:r>
          </a:p>
          <a:p>
            <a:pPr algn="just">
              <a:spcBef>
                <a:spcPct val="20000"/>
              </a:spcBef>
            </a:pPr>
            <a:r>
              <a:rPr kumimoji="1" lang="en-US" altLang="zh-CN" sz="2800" b="1">
                <a:solidFill>
                  <a:srgbClr val="006600"/>
                </a:solidFill>
              </a:rPr>
              <a:t>  #define  N sizeof ap/sizeof ap[0]</a:t>
            </a:r>
          </a:p>
          <a:p>
            <a:pPr algn="just">
              <a:spcBef>
                <a:spcPct val="20000"/>
              </a:spcBef>
            </a:pPr>
            <a:r>
              <a:rPr kumimoji="1" lang="en-US" altLang="zh-CN" sz="2800" b="1">
                <a:solidFill>
                  <a:srgbClr val="006600"/>
                </a:solidFill>
              </a:rPr>
              <a:t>  int a, b, c, d, e, f;</a:t>
            </a:r>
          </a:p>
          <a:p>
            <a:pPr algn="just">
              <a:spcBef>
                <a:spcPct val="20000"/>
              </a:spcBef>
            </a:pPr>
            <a:r>
              <a:rPr kumimoji="1" lang="en-US" altLang="zh-CN" sz="2800" b="1">
                <a:solidFill>
                  <a:srgbClr val="006600"/>
                </a:solidFill>
              </a:rPr>
              <a:t>  int main()</a:t>
            </a:r>
          </a:p>
          <a:p>
            <a:pPr algn="just">
              <a:spcBef>
                <a:spcPct val="20000"/>
              </a:spcBef>
            </a:pPr>
            <a:r>
              <a:rPr kumimoji="1" lang="en-US" altLang="zh-CN" sz="2800" b="1">
                <a:solidFill>
                  <a:srgbClr val="006600"/>
                </a:solidFill>
              </a:rPr>
              <a:t>  {  int *ap[ ] = { &amp;a, &amp;b, &amp;c, &amp;d, &amp;e, &amp;f };</a:t>
            </a:r>
          </a:p>
          <a:p>
            <a:pPr algn="just">
              <a:spcBef>
                <a:spcPct val="20000"/>
              </a:spcBef>
            </a:pPr>
            <a:r>
              <a:rPr kumimoji="1" lang="en-US" altLang="zh-CN" sz="2800" b="1">
                <a:solidFill>
                  <a:srgbClr val="006600"/>
                </a:solidFill>
              </a:rPr>
              <a:t>     int k, j, *t;</a:t>
            </a:r>
          </a:p>
          <a:p>
            <a:pPr algn="just">
              <a:spcBef>
                <a:spcPct val="20000"/>
              </a:spcBef>
            </a:pPr>
            <a:r>
              <a:rPr kumimoji="1" lang="en-US" altLang="zh-CN" sz="2800" b="1">
                <a:solidFill>
                  <a:srgbClr val="006600"/>
                </a:solidFill>
              </a:rPr>
              <a:t>     printf ( "Enter a, b, c, d, e, f.\n");</a:t>
            </a:r>
          </a:p>
          <a:p>
            <a:pPr algn="just">
              <a:spcBef>
                <a:spcPct val="20000"/>
              </a:spcBef>
            </a:pPr>
            <a:r>
              <a:rPr kumimoji="1" lang="en-US" altLang="zh-CN" sz="2800" b="1">
                <a:solidFill>
                  <a:srgbClr val="006600"/>
                </a:solidFill>
              </a:rPr>
              <a:t>     for ( k = 0; k &lt; N; k++ )</a:t>
            </a:r>
          </a:p>
          <a:p>
            <a:pPr algn="just">
              <a:spcBef>
                <a:spcPct val="20000"/>
              </a:spcBef>
            </a:pPr>
            <a:r>
              <a:rPr kumimoji="1" lang="en-US" altLang="zh-CN" sz="2800" b="1">
                <a:solidFill>
                  <a:srgbClr val="006600"/>
                </a:solidFill>
              </a:rPr>
              <a:t>          scanf ( "%d", ap[k] );</a:t>
            </a:r>
          </a:p>
        </p:txBody>
      </p:sp>
      <p:sp>
        <p:nvSpPr>
          <p:cNvPr id="157700" name="Rectangle 4"/>
          <p:cNvSpPr>
            <a:spLocks noGrp="1" noChangeArrowheads="1"/>
          </p:cNvSpPr>
          <p:nvPr>
            <p:ph type="title"/>
          </p:nvPr>
        </p:nvSpPr>
        <p:spPr>
          <a:xfrm>
            <a:off x="265113" y="217488"/>
            <a:ext cx="8820150" cy="10810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fontAlgn="auto" hangingPunct="1">
              <a:spcAft>
                <a:spcPts val="0"/>
              </a:spcAft>
              <a:defRPr/>
            </a:pPr>
            <a:r>
              <a:rPr lang="en-US" altLang="en-US" sz="3200" b="1" dirty="0">
                <a:solidFill>
                  <a:schemeClr val="tx1"/>
                </a:solidFill>
                <a:effectLst>
                  <a:outerShdw blurRad="38100" dist="38100" dir="2700000" algn="tl">
                    <a:srgbClr val="C0C0C0"/>
                  </a:outerShdw>
                </a:effectLst>
                <a:latin typeface="黑体" pitchFamily="2" charset="-122"/>
                <a:ea typeface="黑体" pitchFamily="2" charset="-122"/>
              </a:rPr>
              <a:t>【例</a:t>
            </a:r>
            <a:r>
              <a:rPr lang="en-US" altLang="zh-CN" sz="3200" b="1" dirty="0">
                <a:solidFill>
                  <a:schemeClr val="tx1"/>
                </a:solidFill>
                <a:effectLst>
                  <a:outerShdw blurRad="38100" dist="38100" dir="2700000" algn="tl">
                    <a:srgbClr val="C0C0C0"/>
                  </a:outerShdw>
                </a:effectLst>
                <a:latin typeface="黑体" pitchFamily="2" charset="-122"/>
                <a:ea typeface="黑体" pitchFamily="2" charset="-122"/>
              </a:rPr>
              <a:t>6</a:t>
            </a:r>
            <a:r>
              <a:rPr lang="en-US" altLang="en-US" sz="3200" b="1" dirty="0">
                <a:solidFill>
                  <a:schemeClr val="tx1"/>
                </a:solidFill>
                <a:effectLst>
                  <a:outerShdw blurRad="38100" dist="38100" dir="2700000" algn="tl">
                    <a:srgbClr val="C0C0C0"/>
                  </a:outerShdw>
                </a:effectLst>
                <a:latin typeface="黑体" pitchFamily="2" charset="-122"/>
                <a:ea typeface="黑体" pitchFamily="2" charset="-122"/>
              </a:rPr>
              <a:t>.</a:t>
            </a:r>
            <a:r>
              <a:rPr lang="en-US" altLang="zh-CN" sz="3200" b="1" dirty="0">
                <a:solidFill>
                  <a:schemeClr val="tx1"/>
                </a:solidFill>
                <a:effectLst>
                  <a:outerShdw blurRad="38100" dist="38100" dir="2700000" algn="tl">
                    <a:srgbClr val="C0C0C0"/>
                  </a:outerShdw>
                </a:effectLst>
                <a:latin typeface="黑体" pitchFamily="2" charset="-122"/>
                <a:ea typeface="黑体" pitchFamily="2" charset="-122"/>
              </a:rPr>
              <a:t>13</a:t>
            </a:r>
            <a:r>
              <a:rPr lang="en-US" altLang="en-US" sz="3200" b="1" dirty="0">
                <a:solidFill>
                  <a:schemeClr val="tx1"/>
                </a:solidFill>
                <a:effectLst>
                  <a:outerShdw blurRad="38100" dist="38100" dir="2700000" algn="tl">
                    <a:srgbClr val="C0C0C0"/>
                  </a:outerShdw>
                </a:effectLst>
                <a:latin typeface="黑体" pitchFamily="2" charset="-122"/>
                <a:ea typeface="黑体" pitchFamily="2" charset="-122"/>
              </a:rPr>
              <a:t>】排序时不交换变量的值，而是交换它们的指针</a:t>
            </a:r>
            <a:endParaRPr lang="zh-CN" altLang="en-US" sz="3200" b="1" dirty="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5" name="Slide Number Placeholder 4"/>
          <p:cNvSpPr>
            <a:spLocks noGrp="1"/>
          </p:cNvSpPr>
          <p:nvPr>
            <p:ph type="sldNum" sz="quarter" idx="12"/>
          </p:nvPr>
        </p:nvSpPr>
        <p:spPr/>
        <p:txBody>
          <a:bodyPr/>
          <a:lstStyle/>
          <a:p>
            <a:pPr>
              <a:defRPr/>
            </a:pPr>
            <a:fld id="{F8FEB152-7B67-49F3-BEDF-F251121DC2FC}" type="slidenum">
              <a:rPr lang="en-US" altLang="zh-CN"/>
              <a:pPr>
                <a:defRPr/>
              </a:pPr>
              <a:t>77</a:t>
            </a:fld>
            <a:endParaRPr lang="en-US" altLang="zh-CN"/>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ChangeArrowheads="1"/>
          </p:cNvSpPr>
          <p:nvPr/>
        </p:nvSpPr>
        <p:spPr bwMode="auto">
          <a:xfrm>
            <a:off x="228600" y="685800"/>
            <a:ext cx="8534400" cy="5791200"/>
          </a:xfrm>
          <a:prstGeom prst="rect">
            <a:avLst/>
          </a:prstGeom>
          <a:noFill/>
          <a:ln w="9525">
            <a:noFill/>
            <a:miter lim="800000"/>
            <a:headEnd/>
            <a:tailEnd/>
          </a:ln>
          <a:effectLst/>
        </p:spPr>
        <p:txBody>
          <a:bodyPr lIns="92075" tIns="46038" rIns="92075" bIns="46038"/>
          <a:lstStyle/>
          <a:p>
            <a:pPr algn="just">
              <a:spcBef>
                <a:spcPct val="20000"/>
              </a:spcBef>
              <a:defRPr/>
            </a:pPr>
            <a:endParaRPr lang="zh-CN" altLang="zh-CN" sz="3200" b="1">
              <a:effectLst>
                <a:outerShdw blurRad="38100" dist="38100" dir="2700000" algn="tl">
                  <a:srgbClr val="C0C0C0"/>
                </a:outerShdw>
              </a:effectLst>
              <a:latin typeface="宋体" pitchFamily="2" charset="-122"/>
              <a:ea typeface="宋体" pitchFamily="2" charset="-122"/>
            </a:endParaRPr>
          </a:p>
        </p:txBody>
      </p:sp>
      <p:sp>
        <p:nvSpPr>
          <p:cNvPr id="76803" name="Rectangle 3"/>
          <p:cNvSpPr>
            <a:spLocks noChangeArrowheads="1"/>
          </p:cNvSpPr>
          <p:nvPr/>
        </p:nvSpPr>
        <p:spPr bwMode="auto">
          <a:xfrm>
            <a:off x="250825" y="620713"/>
            <a:ext cx="8686800" cy="5688012"/>
          </a:xfrm>
          <a:prstGeom prst="rect">
            <a:avLst/>
          </a:prstGeom>
          <a:noFill/>
          <a:ln w="9525">
            <a:noFill/>
            <a:miter lim="800000"/>
            <a:headEnd/>
            <a:tailEnd/>
          </a:ln>
        </p:spPr>
        <p:txBody>
          <a:bodyPr lIns="92075" tIns="46038" rIns="92075" bIns="46038">
            <a:spAutoFit/>
          </a:bodyPr>
          <a:lstStyle/>
          <a:p>
            <a:pPr>
              <a:spcBef>
                <a:spcPct val="10000"/>
              </a:spcBef>
            </a:pPr>
            <a:r>
              <a:rPr kumimoji="1" lang="en-US" altLang="zh-CN" sz="2800">
                <a:solidFill>
                  <a:schemeClr val="bg2"/>
                </a:solidFill>
              </a:rPr>
              <a:t>     </a:t>
            </a:r>
            <a:r>
              <a:rPr kumimoji="1" lang="en-US" altLang="zh-CN" sz="2800" b="1">
                <a:solidFill>
                  <a:srgbClr val="006600"/>
                </a:solidFill>
              </a:rPr>
              <a:t>for ( k = 1; k &lt; N; k++ )</a:t>
            </a:r>
          </a:p>
          <a:p>
            <a:pPr>
              <a:spcBef>
                <a:spcPct val="10000"/>
              </a:spcBef>
            </a:pPr>
            <a:r>
              <a:rPr kumimoji="1" lang="en-US" altLang="zh-CN" sz="2800" b="1">
                <a:solidFill>
                  <a:srgbClr val="006600"/>
                </a:solidFill>
              </a:rPr>
              <a:t>          for ( j = 0; j &lt; N-k; j++ )</a:t>
            </a:r>
          </a:p>
          <a:p>
            <a:pPr>
              <a:spcBef>
                <a:spcPct val="10000"/>
              </a:spcBef>
            </a:pPr>
            <a:r>
              <a:rPr kumimoji="1" lang="en-US" altLang="zh-CN" sz="2800" b="1">
                <a:solidFill>
                  <a:srgbClr val="006600"/>
                </a:solidFill>
              </a:rPr>
              <a:t>               if ( *ap[j] &gt; *ap[j+1] )  </a:t>
            </a:r>
          </a:p>
          <a:p>
            <a:pPr>
              <a:spcBef>
                <a:spcPct val="10000"/>
              </a:spcBef>
            </a:pPr>
            <a:r>
              <a:rPr kumimoji="1" lang="en-US" altLang="zh-CN" sz="2800" b="1">
                <a:solidFill>
                  <a:srgbClr val="006600"/>
                </a:solidFill>
              </a:rPr>
              <a:t>                 {  t = ap[j];</a:t>
            </a:r>
            <a:r>
              <a:rPr kumimoji="1" lang="en-US" altLang="zh-CN" sz="2800" b="1">
                <a:solidFill>
                  <a:schemeClr val="bg2"/>
                </a:solidFill>
              </a:rPr>
              <a:t>        </a:t>
            </a:r>
            <a:r>
              <a:rPr kumimoji="1" lang="en-US" altLang="zh-CN" sz="2800" b="1">
                <a:solidFill>
                  <a:srgbClr val="0000FF"/>
                </a:solidFill>
              </a:rPr>
              <a:t>/* </a:t>
            </a:r>
            <a:r>
              <a:rPr kumimoji="1" lang="zh-CN" altLang="en-US" sz="2800" b="1">
                <a:solidFill>
                  <a:srgbClr val="0000FF"/>
                </a:solidFill>
              </a:rPr>
              <a:t>交换变量的指针 *</a:t>
            </a:r>
            <a:r>
              <a:rPr kumimoji="1" lang="en-US" altLang="zh-CN" sz="2800" b="1">
                <a:solidFill>
                  <a:srgbClr val="0000FF"/>
                </a:solidFill>
              </a:rPr>
              <a:t>/</a:t>
            </a:r>
          </a:p>
          <a:p>
            <a:pPr>
              <a:spcBef>
                <a:spcPct val="10000"/>
              </a:spcBef>
            </a:pPr>
            <a:r>
              <a:rPr kumimoji="1" lang="en-US" altLang="zh-CN" sz="2800" b="1">
                <a:solidFill>
                  <a:schemeClr val="bg2"/>
                </a:solidFill>
              </a:rPr>
              <a:t>                    </a:t>
            </a:r>
            <a:r>
              <a:rPr kumimoji="1" lang="en-US" altLang="zh-CN" sz="2800" b="1">
                <a:solidFill>
                  <a:srgbClr val="006600"/>
                </a:solidFill>
              </a:rPr>
              <a:t>ap[j] = ap[j+1];</a:t>
            </a:r>
          </a:p>
          <a:p>
            <a:pPr>
              <a:spcBef>
                <a:spcPct val="10000"/>
              </a:spcBef>
            </a:pPr>
            <a:r>
              <a:rPr kumimoji="1" lang="en-US" altLang="zh-CN" sz="2800" b="1">
                <a:solidFill>
                  <a:srgbClr val="006600"/>
                </a:solidFill>
              </a:rPr>
              <a:t>                    ap[j+1] = t;</a:t>
            </a:r>
          </a:p>
          <a:p>
            <a:pPr>
              <a:spcBef>
                <a:spcPct val="10000"/>
              </a:spcBef>
            </a:pPr>
            <a:r>
              <a:rPr kumimoji="1" lang="en-US" altLang="zh-CN" sz="2800" b="1">
                <a:solidFill>
                  <a:srgbClr val="006600"/>
                </a:solidFill>
              </a:rPr>
              <a:t>                 }</a:t>
            </a:r>
          </a:p>
          <a:p>
            <a:pPr>
              <a:spcBef>
                <a:spcPct val="10000"/>
              </a:spcBef>
            </a:pPr>
            <a:r>
              <a:rPr kumimoji="1" lang="en-US" altLang="zh-CN" sz="2800" b="1">
                <a:solidFill>
                  <a:srgbClr val="006600"/>
                </a:solidFill>
              </a:rPr>
              <a:t>     for ( k = 0; k &lt; N; k++ )</a:t>
            </a:r>
          </a:p>
          <a:p>
            <a:pPr>
              <a:spcBef>
                <a:spcPct val="10000"/>
              </a:spcBef>
            </a:pPr>
            <a:r>
              <a:rPr kumimoji="1" lang="en-US" altLang="zh-CN" sz="2800" b="1">
                <a:solidFill>
                  <a:srgbClr val="006600"/>
                </a:solidFill>
              </a:rPr>
              <a:t>          printf ( "%d\t", *ap[k] );</a:t>
            </a:r>
          </a:p>
          <a:p>
            <a:pPr>
              <a:spcBef>
                <a:spcPct val="10000"/>
              </a:spcBef>
            </a:pPr>
            <a:r>
              <a:rPr kumimoji="1" lang="en-US" altLang="zh-CN" sz="2800" b="1">
                <a:solidFill>
                  <a:srgbClr val="006600"/>
                </a:solidFill>
              </a:rPr>
              <a:t>     printf( "\n" );</a:t>
            </a:r>
          </a:p>
          <a:p>
            <a:pPr>
              <a:spcBef>
                <a:spcPct val="10000"/>
              </a:spcBef>
            </a:pPr>
            <a:r>
              <a:rPr kumimoji="1" lang="en-US" altLang="zh-CN" sz="2800" b="1">
                <a:solidFill>
                  <a:srgbClr val="006600"/>
                </a:solidFill>
              </a:rPr>
              <a:t>     return 0;</a:t>
            </a:r>
          </a:p>
          <a:p>
            <a:pPr>
              <a:spcBef>
                <a:spcPct val="10000"/>
              </a:spcBef>
            </a:pPr>
            <a:r>
              <a:rPr kumimoji="1" lang="en-US" altLang="zh-CN" sz="2800" b="1">
                <a:solidFill>
                  <a:srgbClr val="006600"/>
                </a:solidFill>
              </a:rPr>
              <a:t>  }</a:t>
            </a:r>
          </a:p>
        </p:txBody>
      </p:sp>
      <p:grpSp>
        <p:nvGrpSpPr>
          <p:cNvPr id="76804" name="Group 7"/>
          <p:cNvGrpSpPr>
            <a:grpSpLocks/>
          </p:cNvGrpSpPr>
          <p:nvPr/>
        </p:nvGrpSpPr>
        <p:grpSpPr bwMode="auto">
          <a:xfrm>
            <a:off x="4343400" y="4038600"/>
            <a:ext cx="4572000" cy="1616075"/>
            <a:chOff x="2736" y="2544"/>
            <a:chExt cx="2880" cy="1018"/>
          </a:xfrm>
        </p:grpSpPr>
        <p:sp>
          <p:nvSpPr>
            <p:cNvPr id="76813" name="Text Box 8"/>
            <p:cNvSpPr txBox="1">
              <a:spLocks noChangeArrowheads="1"/>
            </p:cNvSpPr>
            <p:nvPr/>
          </p:nvSpPr>
          <p:spPr bwMode="auto">
            <a:xfrm>
              <a:off x="3072" y="2544"/>
              <a:ext cx="2544" cy="250"/>
            </a:xfrm>
            <a:prstGeom prst="rect">
              <a:avLst/>
            </a:prstGeom>
            <a:solidFill>
              <a:srgbClr val="FFFFCC"/>
            </a:solidFill>
            <a:ln w="9525">
              <a:noFill/>
              <a:miter lim="800000"/>
              <a:headEnd/>
              <a:tailEnd/>
            </a:ln>
          </p:spPr>
          <p:txBody>
            <a:bodyPr>
              <a:spAutoFit/>
            </a:bodyPr>
            <a:lstStyle/>
            <a:p>
              <a:r>
                <a:rPr lang="en-US" altLang="zh-CN" sz="2000" b="1">
                  <a:solidFill>
                    <a:srgbClr val="333333"/>
                  </a:solidFill>
                  <a:latin typeface="Times New Roman" charset="0"/>
                </a:rPr>
                <a:t>ap[0] ap[1] ap[2] ap[3] ap[4] ap[5] </a:t>
              </a:r>
            </a:p>
          </p:txBody>
        </p:sp>
        <p:sp>
          <p:nvSpPr>
            <p:cNvPr id="76814" name="Line 9"/>
            <p:cNvSpPr>
              <a:spLocks noChangeShapeType="1"/>
            </p:cNvSpPr>
            <p:nvPr/>
          </p:nvSpPr>
          <p:spPr bwMode="auto">
            <a:xfrm>
              <a:off x="4560"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6815" name="Text Box 10"/>
            <p:cNvSpPr txBox="1">
              <a:spLocks noChangeArrowheads="1"/>
            </p:cNvSpPr>
            <p:nvPr/>
          </p:nvSpPr>
          <p:spPr bwMode="auto">
            <a:xfrm>
              <a:off x="3216" y="3072"/>
              <a:ext cx="2304" cy="250"/>
            </a:xfrm>
            <a:prstGeom prst="rect">
              <a:avLst/>
            </a:prstGeom>
            <a:solidFill>
              <a:srgbClr val="FFFFCC"/>
            </a:solidFill>
            <a:ln w="9525">
              <a:noFill/>
              <a:miter lim="800000"/>
              <a:headEnd/>
              <a:tailEnd/>
            </a:ln>
          </p:spPr>
          <p:txBody>
            <a:bodyPr>
              <a:spAutoFit/>
            </a:bodyPr>
            <a:lstStyle/>
            <a:p>
              <a:r>
                <a:rPr lang="en-US" altLang="zh-CN" sz="2000" b="1">
                  <a:solidFill>
                    <a:srgbClr val="333333"/>
                  </a:solidFill>
                  <a:latin typeface="Times New Roman" charset="0"/>
                </a:rPr>
                <a:t>  a        b       c       d       e       f    </a:t>
              </a:r>
            </a:p>
          </p:txBody>
        </p:sp>
        <p:sp>
          <p:nvSpPr>
            <p:cNvPr id="76816" name="Line 11"/>
            <p:cNvSpPr>
              <a:spLocks noChangeShapeType="1"/>
            </p:cNvSpPr>
            <p:nvPr/>
          </p:nvSpPr>
          <p:spPr bwMode="auto">
            <a:xfrm>
              <a:off x="3408"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6817" name="Line 12"/>
            <p:cNvSpPr>
              <a:spLocks noChangeShapeType="1"/>
            </p:cNvSpPr>
            <p:nvPr/>
          </p:nvSpPr>
          <p:spPr bwMode="auto">
            <a:xfrm>
              <a:off x="3792"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6818" name="Line 13"/>
            <p:cNvSpPr>
              <a:spLocks noChangeShapeType="1"/>
            </p:cNvSpPr>
            <p:nvPr/>
          </p:nvSpPr>
          <p:spPr bwMode="auto">
            <a:xfrm>
              <a:off x="4176"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6819" name="Line 14"/>
            <p:cNvSpPr>
              <a:spLocks noChangeShapeType="1"/>
            </p:cNvSpPr>
            <p:nvPr/>
          </p:nvSpPr>
          <p:spPr bwMode="auto">
            <a:xfrm>
              <a:off x="4896"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6820" name="Line 15"/>
            <p:cNvSpPr>
              <a:spLocks noChangeShapeType="1"/>
            </p:cNvSpPr>
            <p:nvPr/>
          </p:nvSpPr>
          <p:spPr bwMode="auto">
            <a:xfrm>
              <a:off x="5232" y="2832"/>
              <a:ext cx="0" cy="240"/>
            </a:xfrm>
            <a:prstGeom prst="line">
              <a:avLst/>
            </a:prstGeom>
            <a:noFill/>
            <a:ln w="28575">
              <a:solidFill>
                <a:srgbClr val="FF3300"/>
              </a:solidFill>
              <a:round/>
              <a:headEnd/>
              <a:tailEnd type="triangle" w="med" len="med"/>
            </a:ln>
          </p:spPr>
          <p:txBody>
            <a:bodyPr/>
            <a:lstStyle/>
            <a:p>
              <a:endParaRPr lang="zh-CN" altLang="en-US"/>
            </a:p>
          </p:txBody>
        </p:sp>
        <p:sp>
          <p:nvSpPr>
            <p:cNvPr id="76821" name="Text Box 16"/>
            <p:cNvSpPr txBox="1">
              <a:spLocks noChangeArrowheads="1"/>
            </p:cNvSpPr>
            <p:nvPr/>
          </p:nvSpPr>
          <p:spPr bwMode="auto">
            <a:xfrm>
              <a:off x="2736" y="3312"/>
              <a:ext cx="2832" cy="250"/>
            </a:xfrm>
            <a:prstGeom prst="rect">
              <a:avLst/>
            </a:prstGeom>
            <a:solidFill>
              <a:srgbClr val="FFFFCC"/>
            </a:solidFill>
            <a:ln w="9525">
              <a:noFill/>
              <a:miter lim="800000"/>
              <a:headEnd/>
              <a:tailEnd/>
            </a:ln>
          </p:spPr>
          <p:txBody>
            <a:bodyPr>
              <a:spAutoFit/>
            </a:bodyPr>
            <a:lstStyle/>
            <a:p>
              <a:r>
                <a:rPr lang="zh-CN" altLang="en-US" sz="2000" b="1">
                  <a:solidFill>
                    <a:srgbClr val="0000CC"/>
                  </a:solidFill>
                </a:rPr>
                <a:t>排序前</a:t>
              </a:r>
              <a:r>
                <a:rPr lang="zh-CN" altLang="en-US" sz="2000" b="1"/>
                <a:t>  </a:t>
              </a:r>
              <a:r>
                <a:rPr lang="en-US" altLang="zh-CN" sz="2000" b="1">
                  <a:solidFill>
                    <a:srgbClr val="333333"/>
                  </a:solidFill>
                  <a:latin typeface="Times New Roman" charset="0"/>
                </a:rPr>
                <a:t>3        5       1       2       6       4    </a:t>
              </a:r>
            </a:p>
          </p:txBody>
        </p:sp>
      </p:grpSp>
      <p:sp>
        <p:nvSpPr>
          <p:cNvPr id="76805" name="Text Box 17"/>
          <p:cNvSpPr txBox="1">
            <a:spLocks noChangeArrowheads="1"/>
          </p:cNvSpPr>
          <p:nvPr/>
        </p:nvSpPr>
        <p:spPr bwMode="auto">
          <a:xfrm>
            <a:off x="4191000" y="5943600"/>
            <a:ext cx="4800600" cy="396875"/>
          </a:xfrm>
          <a:prstGeom prst="rect">
            <a:avLst/>
          </a:prstGeom>
          <a:solidFill>
            <a:srgbClr val="CCECFF"/>
          </a:solidFill>
          <a:ln w="9525">
            <a:noFill/>
            <a:miter lim="800000"/>
            <a:headEnd/>
            <a:tailEnd/>
          </a:ln>
        </p:spPr>
        <p:txBody>
          <a:bodyPr>
            <a:spAutoFit/>
          </a:bodyPr>
          <a:lstStyle/>
          <a:p>
            <a:r>
              <a:rPr lang="zh-CN" altLang="en-US" sz="2000" b="1" dirty="0">
                <a:solidFill>
                  <a:srgbClr val="0000CC"/>
                </a:solidFill>
              </a:rPr>
              <a:t>排序后</a:t>
            </a:r>
            <a:r>
              <a:rPr lang="en-US" altLang="zh-CN" sz="2000" b="1" dirty="0" err="1">
                <a:solidFill>
                  <a:srgbClr val="333333"/>
                </a:solidFill>
                <a:latin typeface="Times New Roman" charset="0"/>
              </a:rPr>
              <a:t>ap</a:t>
            </a:r>
            <a:r>
              <a:rPr lang="en-US" altLang="zh-CN" sz="2000" b="1" dirty="0">
                <a:solidFill>
                  <a:srgbClr val="333333"/>
                </a:solidFill>
                <a:latin typeface="Times New Roman" charset="0"/>
              </a:rPr>
              <a:t>[0] </a:t>
            </a:r>
            <a:r>
              <a:rPr lang="en-US" altLang="zh-CN" sz="2000" b="1" dirty="0" err="1">
                <a:solidFill>
                  <a:srgbClr val="333333"/>
                </a:solidFill>
                <a:latin typeface="Times New Roman" charset="0"/>
              </a:rPr>
              <a:t>ap</a:t>
            </a:r>
            <a:r>
              <a:rPr lang="en-US" altLang="zh-CN" sz="2000" b="1" dirty="0">
                <a:solidFill>
                  <a:srgbClr val="333333"/>
                </a:solidFill>
                <a:latin typeface="Times New Roman" charset="0"/>
              </a:rPr>
              <a:t>[1] </a:t>
            </a:r>
            <a:r>
              <a:rPr lang="en-US" altLang="zh-CN" sz="2000" b="1" dirty="0" err="1">
                <a:solidFill>
                  <a:srgbClr val="333333"/>
                </a:solidFill>
                <a:latin typeface="Times New Roman" charset="0"/>
              </a:rPr>
              <a:t>ap</a:t>
            </a:r>
            <a:r>
              <a:rPr lang="en-US" altLang="zh-CN" sz="2000" b="1" dirty="0">
                <a:solidFill>
                  <a:srgbClr val="333333"/>
                </a:solidFill>
                <a:latin typeface="Times New Roman" charset="0"/>
              </a:rPr>
              <a:t>[2] </a:t>
            </a:r>
            <a:r>
              <a:rPr lang="en-US" altLang="zh-CN" sz="2000" b="1" dirty="0" err="1">
                <a:solidFill>
                  <a:srgbClr val="333333"/>
                </a:solidFill>
                <a:latin typeface="Times New Roman" charset="0"/>
              </a:rPr>
              <a:t>ap</a:t>
            </a:r>
            <a:r>
              <a:rPr lang="en-US" altLang="zh-CN" sz="2000" b="1" dirty="0">
                <a:solidFill>
                  <a:srgbClr val="333333"/>
                </a:solidFill>
                <a:latin typeface="Times New Roman" charset="0"/>
              </a:rPr>
              <a:t>[3] </a:t>
            </a:r>
            <a:r>
              <a:rPr lang="en-US" altLang="zh-CN" sz="2000" b="1" dirty="0" err="1">
                <a:solidFill>
                  <a:srgbClr val="333333"/>
                </a:solidFill>
                <a:latin typeface="Times New Roman" charset="0"/>
              </a:rPr>
              <a:t>ap</a:t>
            </a:r>
            <a:r>
              <a:rPr lang="en-US" altLang="zh-CN" sz="2000" b="1" dirty="0">
                <a:solidFill>
                  <a:srgbClr val="333333"/>
                </a:solidFill>
                <a:latin typeface="Times New Roman" charset="0"/>
              </a:rPr>
              <a:t>[4] </a:t>
            </a:r>
            <a:r>
              <a:rPr lang="en-US" altLang="zh-CN" sz="2000" b="1" dirty="0" err="1">
                <a:solidFill>
                  <a:srgbClr val="333333"/>
                </a:solidFill>
                <a:latin typeface="Times New Roman" charset="0"/>
              </a:rPr>
              <a:t>ap</a:t>
            </a:r>
            <a:r>
              <a:rPr lang="en-US" altLang="zh-CN" sz="2000" b="1" dirty="0">
                <a:solidFill>
                  <a:srgbClr val="333333"/>
                </a:solidFill>
                <a:latin typeface="Times New Roman" charset="0"/>
              </a:rPr>
              <a:t>[5] </a:t>
            </a:r>
          </a:p>
        </p:txBody>
      </p:sp>
      <p:sp>
        <p:nvSpPr>
          <p:cNvPr id="76806" name="Line 18"/>
          <p:cNvSpPr>
            <a:spLocks noChangeShapeType="1"/>
          </p:cNvSpPr>
          <p:nvPr/>
        </p:nvSpPr>
        <p:spPr bwMode="auto">
          <a:xfrm flipH="1" flipV="1">
            <a:off x="5435600" y="5157788"/>
            <a:ext cx="1081088" cy="863600"/>
          </a:xfrm>
          <a:prstGeom prst="line">
            <a:avLst/>
          </a:prstGeom>
          <a:noFill/>
          <a:ln w="28575">
            <a:solidFill>
              <a:srgbClr val="009900"/>
            </a:solidFill>
            <a:round/>
            <a:headEnd/>
            <a:tailEnd type="triangle" w="med" len="med"/>
          </a:ln>
        </p:spPr>
        <p:txBody>
          <a:bodyPr/>
          <a:lstStyle/>
          <a:p>
            <a:endParaRPr lang="zh-CN" altLang="en-US"/>
          </a:p>
        </p:txBody>
      </p:sp>
      <p:sp>
        <p:nvSpPr>
          <p:cNvPr id="76807" name="Line 19"/>
          <p:cNvSpPr>
            <a:spLocks noChangeShapeType="1"/>
          </p:cNvSpPr>
          <p:nvPr/>
        </p:nvSpPr>
        <p:spPr bwMode="auto">
          <a:xfrm flipV="1">
            <a:off x="5292725" y="5157788"/>
            <a:ext cx="1295400" cy="935037"/>
          </a:xfrm>
          <a:prstGeom prst="line">
            <a:avLst/>
          </a:prstGeom>
          <a:noFill/>
          <a:ln w="28575">
            <a:solidFill>
              <a:srgbClr val="FF3300"/>
            </a:solidFill>
            <a:round/>
            <a:headEnd/>
            <a:tailEnd type="triangle" w="med" len="med"/>
          </a:ln>
        </p:spPr>
        <p:txBody>
          <a:bodyPr/>
          <a:lstStyle/>
          <a:p>
            <a:endParaRPr lang="zh-CN" altLang="en-US"/>
          </a:p>
        </p:txBody>
      </p:sp>
      <p:sp>
        <p:nvSpPr>
          <p:cNvPr id="76808" name="Line 20"/>
          <p:cNvSpPr>
            <a:spLocks noChangeShapeType="1"/>
          </p:cNvSpPr>
          <p:nvPr/>
        </p:nvSpPr>
        <p:spPr bwMode="auto">
          <a:xfrm flipV="1">
            <a:off x="6011863" y="5157788"/>
            <a:ext cx="1152525" cy="935037"/>
          </a:xfrm>
          <a:prstGeom prst="line">
            <a:avLst/>
          </a:prstGeom>
          <a:noFill/>
          <a:ln w="28575">
            <a:solidFill>
              <a:srgbClr val="FF3300"/>
            </a:solidFill>
            <a:round/>
            <a:headEnd/>
            <a:tailEnd type="triangle" w="med" len="med"/>
          </a:ln>
        </p:spPr>
        <p:txBody>
          <a:bodyPr/>
          <a:lstStyle/>
          <a:p>
            <a:endParaRPr lang="zh-CN" altLang="en-US"/>
          </a:p>
        </p:txBody>
      </p:sp>
      <p:sp>
        <p:nvSpPr>
          <p:cNvPr id="76809" name="Line 21"/>
          <p:cNvSpPr>
            <a:spLocks noChangeShapeType="1"/>
          </p:cNvSpPr>
          <p:nvPr/>
        </p:nvSpPr>
        <p:spPr bwMode="auto">
          <a:xfrm flipV="1">
            <a:off x="7164388" y="5157788"/>
            <a:ext cx="982662" cy="935037"/>
          </a:xfrm>
          <a:prstGeom prst="line">
            <a:avLst/>
          </a:prstGeom>
          <a:noFill/>
          <a:ln w="28575">
            <a:solidFill>
              <a:srgbClr val="FF3300"/>
            </a:solidFill>
            <a:round/>
            <a:headEnd/>
            <a:tailEnd type="triangle" w="med" len="med"/>
          </a:ln>
        </p:spPr>
        <p:txBody>
          <a:bodyPr/>
          <a:lstStyle/>
          <a:p>
            <a:endParaRPr lang="zh-CN" altLang="en-US"/>
          </a:p>
        </p:txBody>
      </p:sp>
      <p:sp>
        <p:nvSpPr>
          <p:cNvPr id="76810" name="Line 22"/>
          <p:cNvSpPr>
            <a:spLocks noChangeShapeType="1"/>
          </p:cNvSpPr>
          <p:nvPr/>
        </p:nvSpPr>
        <p:spPr bwMode="auto">
          <a:xfrm flipH="1" flipV="1">
            <a:off x="6156325" y="5157788"/>
            <a:ext cx="1655763" cy="935037"/>
          </a:xfrm>
          <a:prstGeom prst="line">
            <a:avLst/>
          </a:prstGeom>
          <a:noFill/>
          <a:ln w="28575">
            <a:solidFill>
              <a:srgbClr val="009900"/>
            </a:solidFill>
            <a:round/>
            <a:headEnd/>
            <a:tailEnd type="triangle" w="med" len="med"/>
          </a:ln>
        </p:spPr>
        <p:txBody>
          <a:bodyPr/>
          <a:lstStyle/>
          <a:p>
            <a:endParaRPr lang="zh-CN" altLang="en-US"/>
          </a:p>
        </p:txBody>
      </p:sp>
      <p:sp>
        <p:nvSpPr>
          <p:cNvPr id="76811" name="Line 23"/>
          <p:cNvSpPr>
            <a:spLocks noChangeShapeType="1"/>
          </p:cNvSpPr>
          <p:nvPr/>
        </p:nvSpPr>
        <p:spPr bwMode="auto">
          <a:xfrm flipH="1" flipV="1">
            <a:off x="7812088" y="5229225"/>
            <a:ext cx="647700" cy="863600"/>
          </a:xfrm>
          <a:prstGeom prst="line">
            <a:avLst/>
          </a:prstGeom>
          <a:noFill/>
          <a:ln w="28575">
            <a:solidFill>
              <a:srgbClr val="009900"/>
            </a:solidFill>
            <a:round/>
            <a:headEnd/>
            <a:tailEnd type="triangle" w="med" len="med"/>
          </a:ln>
        </p:spPr>
        <p:txBody>
          <a:bodyPr/>
          <a:lstStyle/>
          <a:p>
            <a:endParaRPr lang="zh-CN" altLang="en-US"/>
          </a:p>
        </p:txBody>
      </p:sp>
      <p:sp>
        <p:nvSpPr>
          <p:cNvPr id="21" name="Slide Number Placeholder 20"/>
          <p:cNvSpPr>
            <a:spLocks noGrp="1"/>
          </p:cNvSpPr>
          <p:nvPr>
            <p:ph type="sldNum" sz="quarter" idx="12"/>
          </p:nvPr>
        </p:nvSpPr>
        <p:spPr/>
        <p:txBody>
          <a:bodyPr/>
          <a:lstStyle/>
          <a:p>
            <a:pPr>
              <a:defRPr/>
            </a:pPr>
            <a:fld id="{3CA984EA-95F7-48C1-919C-AB1E8CC05BEA}" type="slidenum">
              <a:rPr lang="en-US" altLang="zh-CN"/>
              <a:pPr>
                <a:defRPr/>
              </a:pPr>
              <a:t>78</a:t>
            </a:fld>
            <a:endParaRPr lang="en-US" altLang="zh-CN"/>
          </a:p>
        </p:txBody>
      </p:sp>
      <p:sp>
        <p:nvSpPr>
          <p:cNvPr id="2" name="椭圆 1">
            <a:extLst>
              <a:ext uri="{FF2B5EF4-FFF2-40B4-BE49-F238E27FC236}">
                <a16:creationId xmlns:a16="http://schemas.microsoft.com/office/drawing/2014/main" id="{E197B70E-3014-AFD0-6502-60B576E7D054}"/>
              </a:ext>
            </a:extLst>
          </p:cNvPr>
          <p:cNvSpPr/>
          <p:nvPr/>
        </p:nvSpPr>
        <p:spPr>
          <a:xfrm>
            <a:off x="6246048" y="972984"/>
            <a:ext cx="1944216" cy="7920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什么时候需要这种功能？</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7"/>
                                        </p:tgtEl>
                                        <p:attrNameLst>
                                          <p:attrName>style.visibility</p:attrName>
                                        </p:attrNameLst>
                                      </p:cBhvr>
                                      <p:to>
                                        <p:strVal val="visible"/>
                                      </p:to>
                                    </p:set>
                                    <p:anim calcmode="lin" valueType="num">
                                      <p:cBhvr additive="base">
                                        <p:cTn id="7" dur="500" fill="hold"/>
                                        <p:tgtEl>
                                          <p:spTgt spid="76807"/>
                                        </p:tgtEl>
                                        <p:attrNameLst>
                                          <p:attrName>ppt_x</p:attrName>
                                        </p:attrNameLst>
                                      </p:cBhvr>
                                      <p:tavLst>
                                        <p:tav tm="0">
                                          <p:val>
                                            <p:strVal val="#ppt_x"/>
                                          </p:val>
                                        </p:tav>
                                        <p:tav tm="100000">
                                          <p:val>
                                            <p:strVal val="#ppt_x"/>
                                          </p:val>
                                        </p:tav>
                                      </p:tavLst>
                                    </p:anim>
                                    <p:anim calcmode="lin" valueType="num">
                                      <p:cBhvr additive="base">
                                        <p:cTn id="8" dur="500" fill="hold"/>
                                        <p:tgtEl>
                                          <p:spTgt spid="7680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6808"/>
                                        </p:tgtEl>
                                        <p:attrNameLst>
                                          <p:attrName>style.visibility</p:attrName>
                                        </p:attrNameLst>
                                      </p:cBhvr>
                                      <p:to>
                                        <p:strVal val="visible"/>
                                      </p:to>
                                    </p:set>
                                    <p:anim calcmode="lin" valueType="num">
                                      <p:cBhvr additive="base">
                                        <p:cTn id="11" dur="500" fill="hold"/>
                                        <p:tgtEl>
                                          <p:spTgt spid="76808"/>
                                        </p:tgtEl>
                                        <p:attrNameLst>
                                          <p:attrName>ppt_x</p:attrName>
                                        </p:attrNameLst>
                                      </p:cBhvr>
                                      <p:tavLst>
                                        <p:tav tm="0">
                                          <p:val>
                                            <p:strVal val="#ppt_x"/>
                                          </p:val>
                                        </p:tav>
                                        <p:tav tm="100000">
                                          <p:val>
                                            <p:strVal val="#ppt_x"/>
                                          </p:val>
                                        </p:tav>
                                      </p:tavLst>
                                    </p:anim>
                                    <p:anim calcmode="lin" valueType="num">
                                      <p:cBhvr additive="base">
                                        <p:cTn id="12" dur="500" fill="hold"/>
                                        <p:tgtEl>
                                          <p:spTgt spid="7680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6809"/>
                                        </p:tgtEl>
                                        <p:attrNameLst>
                                          <p:attrName>style.visibility</p:attrName>
                                        </p:attrNameLst>
                                      </p:cBhvr>
                                      <p:to>
                                        <p:strVal val="visible"/>
                                      </p:to>
                                    </p:set>
                                    <p:anim calcmode="lin" valueType="num">
                                      <p:cBhvr additive="base">
                                        <p:cTn id="15" dur="500" fill="hold"/>
                                        <p:tgtEl>
                                          <p:spTgt spid="76809"/>
                                        </p:tgtEl>
                                        <p:attrNameLst>
                                          <p:attrName>ppt_x</p:attrName>
                                        </p:attrNameLst>
                                      </p:cBhvr>
                                      <p:tavLst>
                                        <p:tav tm="0">
                                          <p:val>
                                            <p:strVal val="#ppt_x"/>
                                          </p:val>
                                        </p:tav>
                                        <p:tav tm="100000">
                                          <p:val>
                                            <p:strVal val="#ppt_x"/>
                                          </p:val>
                                        </p:tav>
                                      </p:tavLst>
                                    </p:anim>
                                    <p:anim calcmode="lin" valueType="num">
                                      <p:cBhvr additive="base">
                                        <p:cTn id="16" dur="500" fill="hold"/>
                                        <p:tgtEl>
                                          <p:spTgt spid="7680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6810"/>
                                        </p:tgtEl>
                                        <p:attrNameLst>
                                          <p:attrName>style.visibility</p:attrName>
                                        </p:attrNameLst>
                                      </p:cBhvr>
                                      <p:to>
                                        <p:strVal val="visible"/>
                                      </p:to>
                                    </p:set>
                                    <p:anim calcmode="lin" valueType="num">
                                      <p:cBhvr additive="base">
                                        <p:cTn id="19" dur="500" fill="hold"/>
                                        <p:tgtEl>
                                          <p:spTgt spid="76810"/>
                                        </p:tgtEl>
                                        <p:attrNameLst>
                                          <p:attrName>ppt_x</p:attrName>
                                        </p:attrNameLst>
                                      </p:cBhvr>
                                      <p:tavLst>
                                        <p:tav tm="0">
                                          <p:val>
                                            <p:strVal val="#ppt_x"/>
                                          </p:val>
                                        </p:tav>
                                        <p:tav tm="100000">
                                          <p:val>
                                            <p:strVal val="#ppt_x"/>
                                          </p:val>
                                        </p:tav>
                                      </p:tavLst>
                                    </p:anim>
                                    <p:anim calcmode="lin" valueType="num">
                                      <p:cBhvr additive="base">
                                        <p:cTn id="20" dur="500" fill="hold"/>
                                        <p:tgtEl>
                                          <p:spTgt spid="768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6811"/>
                                        </p:tgtEl>
                                        <p:attrNameLst>
                                          <p:attrName>style.visibility</p:attrName>
                                        </p:attrNameLst>
                                      </p:cBhvr>
                                      <p:to>
                                        <p:strVal val="visible"/>
                                      </p:to>
                                    </p:set>
                                    <p:anim calcmode="lin" valueType="num">
                                      <p:cBhvr additive="base">
                                        <p:cTn id="23" dur="500" fill="hold"/>
                                        <p:tgtEl>
                                          <p:spTgt spid="76811"/>
                                        </p:tgtEl>
                                        <p:attrNameLst>
                                          <p:attrName>ppt_x</p:attrName>
                                        </p:attrNameLst>
                                      </p:cBhvr>
                                      <p:tavLst>
                                        <p:tav tm="0">
                                          <p:val>
                                            <p:strVal val="#ppt_x"/>
                                          </p:val>
                                        </p:tav>
                                        <p:tav tm="100000">
                                          <p:val>
                                            <p:strVal val="#ppt_x"/>
                                          </p:val>
                                        </p:tav>
                                      </p:tavLst>
                                    </p:anim>
                                    <p:anim calcmode="lin" valueType="num">
                                      <p:cBhvr additive="base">
                                        <p:cTn id="24" dur="500" fill="hold"/>
                                        <p:tgtEl>
                                          <p:spTgt spid="768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6806"/>
                                        </p:tgtEl>
                                        <p:attrNameLst>
                                          <p:attrName>style.visibility</p:attrName>
                                        </p:attrNameLst>
                                      </p:cBhvr>
                                      <p:to>
                                        <p:strVal val="visible"/>
                                      </p:to>
                                    </p:set>
                                    <p:anim calcmode="lin" valueType="num">
                                      <p:cBhvr additive="base">
                                        <p:cTn id="27" dur="500" fill="hold"/>
                                        <p:tgtEl>
                                          <p:spTgt spid="76806"/>
                                        </p:tgtEl>
                                        <p:attrNameLst>
                                          <p:attrName>ppt_x</p:attrName>
                                        </p:attrNameLst>
                                      </p:cBhvr>
                                      <p:tavLst>
                                        <p:tav tm="0">
                                          <p:val>
                                            <p:strVal val="#ppt_x"/>
                                          </p:val>
                                        </p:tav>
                                        <p:tav tm="100000">
                                          <p:val>
                                            <p:strVal val="#ppt_x"/>
                                          </p:val>
                                        </p:tav>
                                      </p:tavLst>
                                    </p:anim>
                                    <p:anim calcmode="lin" valueType="num">
                                      <p:cBhvr additive="base">
                                        <p:cTn id="28" dur="500" fill="hold"/>
                                        <p:tgtEl>
                                          <p:spTgt spid="7680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6805"/>
                                        </p:tgtEl>
                                        <p:attrNameLst>
                                          <p:attrName>style.visibility</p:attrName>
                                        </p:attrNameLst>
                                      </p:cBhvr>
                                      <p:to>
                                        <p:strVal val="visible"/>
                                      </p:to>
                                    </p:set>
                                    <p:anim calcmode="lin" valueType="num">
                                      <p:cBhvr additive="base">
                                        <p:cTn id="31" dur="500" fill="hold"/>
                                        <p:tgtEl>
                                          <p:spTgt spid="76805"/>
                                        </p:tgtEl>
                                        <p:attrNameLst>
                                          <p:attrName>ppt_x</p:attrName>
                                        </p:attrNameLst>
                                      </p:cBhvr>
                                      <p:tavLst>
                                        <p:tav tm="0">
                                          <p:val>
                                            <p:strVal val="#ppt_x"/>
                                          </p:val>
                                        </p:tav>
                                        <p:tav tm="100000">
                                          <p:val>
                                            <p:strVal val="#ppt_x"/>
                                          </p:val>
                                        </p:tav>
                                      </p:tavLst>
                                    </p:anim>
                                    <p:anim calcmode="lin" valueType="num">
                                      <p:cBhvr additive="base">
                                        <p:cTn id="32"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animBg="1"/>
      <p:bldP spid="76806" grpId="0" animBg="1"/>
      <p:bldP spid="76807" grpId="0" animBg="1"/>
      <p:bldP spid="76808" grpId="0" animBg="1"/>
      <p:bldP spid="76809" grpId="0" animBg="1"/>
      <p:bldP spid="76810" grpId="0" animBg="1"/>
      <p:bldP spid="76811" grpId="0" animBg="1"/>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noChangeArrowheads="1"/>
          </p:cNvSpPr>
          <p:nvPr>
            <p:ph type="title"/>
          </p:nvPr>
        </p:nvSpPr>
        <p:spPr>
          <a:xfrm>
            <a:off x="468313" y="333375"/>
            <a:ext cx="8351837" cy="576263"/>
          </a:xfrm>
        </p:spPr>
        <p:txBody>
          <a:bodyPr lIns="92075" tIns="46038" rIns="92075" bIns="46038">
            <a:normAutofit fontScale="90000"/>
          </a:bodyPr>
          <a:lstStyle/>
          <a:p>
            <a:pPr eaLnBrk="1" fontAlgn="auto" hangingPunct="1">
              <a:spcAft>
                <a:spcPts val="0"/>
              </a:spcAft>
              <a:defRPr/>
            </a:pPr>
            <a:r>
              <a:rPr lang="en-US" altLang="zh-CN" sz="3600" b="1" dirty="0">
                <a:solidFill>
                  <a:schemeClr val="tx1"/>
                </a:solidFill>
                <a:effectLst>
                  <a:outerShdw blurRad="38100" dist="38100" dir="2700000" algn="tl">
                    <a:srgbClr val="C0C0C0"/>
                  </a:outerShdw>
                </a:effectLst>
                <a:latin typeface="黑体" pitchFamily="2" charset="-122"/>
                <a:ea typeface="黑体" pitchFamily="2" charset="-122"/>
              </a:rPr>
              <a:t>6.9 </a:t>
            </a:r>
            <a:r>
              <a:rPr lang="zh-CN" altLang="en-US" sz="3600" b="1" dirty="0">
                <a:solidFill>
                  <a:schemeClr val="tx1"/>
                </a:solidFill>
                <a:effectLst>
                  <a:outerShdw blurRad="38100" dist="38100" dir="2700000" algn="tl">
                    <a:srgbClr val="C0C0C0"/>
                  </a:outerShdw>
                </a:effectLst>
                <a:latin typeface="黑体" pitchFamily="2" charset="-122"/>
                <a:ea typeface="黑体" pitchFamily="2" charset="-122"/>
              </a:rPr>
              <a:t>返回指针值的函数 </a:t>
            </a:r>
          </a:p>
        </p:txBody>
      </p:sp>
      <p:sp>
        <p:nvSpPr>
          <p:cNvPr id="114690" name="Rectangle 2"/>
          <p:cNvSpPr>
            <a:spLocks noGrp="1" noChangeArrowheads="1"/>
          </p:cNvSpPr>
          <p:nvPr>
            <p:ph idx="1"/>
          </p:nvPr>
        </p:nvSpPr>
        <p:spPr>
          <a:xfrm>
            <a:off x="468313" y="1052513"/>
            <a:ext cx="8135937" cy="5472112"/>
          </a:xfrm>
        </p:spPr>
        <p:txBody>
          <a:bodyPr>
            <a:normAutofit/>
          </a:bodyPr>
          <a:lstStyle/>
          <a:p>
            <a:pPr marL="0" indent="0"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函数也可以返回指针值。</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endParaRPr lang="zh-CN" altLang="en-US"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0000"/>
              </a:lnSpc>
              <a:spcAft>
                <a:spcPts val="0"/>
              </a:spcAft>
              <a:buClr>
                <a:schemeClr val="accent3"/>
              </a:buClr>
              <a:buFontTx/>
              <a:buNone/>
              <a:defRPr/>
            </a:pPr>
            <a:r>
              <a:rPr lang="zh-CN" altLang="en-US" b="1" dirty="0">
                <a:effectLst>
                  <a:outerShdw blurRad="38100" dist="38100" dir="2700000" algn="tl">
                    <a:srgbClr val="C0C0C0"/>
                  </a:outerShdw>
                </a:effectLst>
                <a:ea typeface="楷体_GB2312" pitchFamily="49" charset="-122"/>
              </a:rPr>
              <a:t>返回变量指针的函数</a:t>
            </a:r>
            <a:r>
              <a:rPr lang="zh-CN" altLang="en-US" dirty="0"/>
              <a:t> </a:t>
            </a:r>
            <a:r>
              <a:rPr lang="zh-CN" altLang="en-US" sz="2800" b="1" dirty="0">
                <a:latin typeface="楷体_GB2312" pitchFamily="49" charset="-122"/>
                <a:ea typeface="楷体_GB2312" pitchFamily="49" charset="-122"/>
              </a:rPr>
              <a:t> </a:t>
            </a:r>
            <a:endParaRPr lang="zh-CN" altLang="en-US" sz="2800" b="1" dirty="0">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定义形式：</a:t>
            </a: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      类型说明符  * 函数名</a:t>
            </a: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形参表</a:t>
            </a:r>
            <a:r>
              <a:rPr lang="en-US" altLang="zh-CN" sz="2800" b="1" dirty="0">
                <a:effectLst>
                  <a:outerShdw blurRad="38100" dist="38100" dir="2700000" algn="tl">
                    <a:srgbClr val="C0C0C0"/>
                  </a:outerShdw>
                </a:effectLst>
                <a:latin typeface="楷体_GB2312" pitchFamily="49" charset="-122"/>
                <a:ea typeface="楷体_GB2312" pitchFamily="49" charset="-122"/>
              </a:rPr>
              <a:t>);</a:t>
            </a: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例如： </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*f(</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x</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en-US" altLang="zh-CN" sz="2800" b="1" dirty="0" err="1">
                <a:effectLst>
                  <a:outerShdw blurRad="38100" dist="38100" dir="2700000" algn="tl">
                    <a:srgbClr val="C0C0C0"/>
                  </a:outerShdw>
                </a:effectLst>
                <a:latin typeface="楷体_GB2312" pitchFamily="49" charset="-122"/>
                <a:ea typeface="楷体_GB2312" pitchFamily="49" charset="-122"/>
              </a:rPr>
              <a:t>int</a:t>
            </a:r>
            <a:r>
              <a:rPr lang="en-US" altLang="zh-CN" sz="2800" b="1" dirty="0">
                <a:effectLst>
                  <a:outerShdw blurRad="38100" dist="38100" dir="2700000" algn="tl">
                    <a:srgbClr val="C0C0C0"/>
                  </a:outerShdw>
                </a:effectLst>
                <a:latin typeface="楷体_GB2312" pitchFamily="49" charset="-122"/>
                <a:ea typeface="楷体_GB2312" pitchFamily="49" charset="-122"/>
              </a:rPr>
              <a:t> y);</a:t>
            </a: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说明：</a:t>
            </a:r>
            <a:r>
              <a:rPr lang="en-US" altLang="zh-CN" sz="2800" b="1" dirty="0">
                <a:effectLst>
                  <a:outerShdw blurRad="38100" dist="38100" dir="2700000" algn="tl">
                    <a:srgbClr val="C0C0C0"/>
                  </a:outerShdw>
                </a:effectLst>
                <a:latin typeface="楷体_GB2312" pitchFamily="49" charset="-122"/>
                <a:ea typeface="楷体_GB2312" pitchFamily="49" charset="-122"/>
              </a:rPr>
              <a:t>f</a:t>
            </a:r>
            <a:r>
              <a:rPr lang="zh-CN" altLang="en-US" sz="2800" b="1" dirty="0">
                <a:effectLst>
                  <a:outerShdw blurRad="38100" dist="38100" dir="2700000" algn="tl">
                    <a:srgbClr val="C0C0C0"/>
                  </a:outerShdw>
                </a:effectLst>
                <a:latin typeface="楷体_GB2312" pitchFamily="49" charset="-122"/>
                <a:ea typeface="楷体_GB2312" pitchFamily="49" charset="-122"/>
              </a:rPr>
              <a:t>是函数名，调用</a:t>
            </a:r>
            <a:r>
              <a:rPr lang="en-US" altLang="zh-CN" sz="2800" b="1" dirty="0">
                <a:effectLst>
                  <a:outerShdw blurRad="38100" dist="38100" dir="2700000" algn="tl">
                    <a:srgbClr val="C0C0C0"/>
                  </a:outerShdw>
                </a:effectLst>
                <a:latin typeface="楷体_GB2312" pitchFamily="49" charset="-122"/>
                <a:ea typeface="楷体_GB2312" pitchFamily="49" charset="-122"/>
              </a:rPr>
              <a:t>f</a:t>
            </a:r>
            <a:r>
              <a:rPr lang="zh-CN" altLang="en-US" sz="2800" b="1" dirty="0">
                <a:effectLst>
                  <a:outerShdw blurRad="38100" dist="38100" dir="2700000" algn="tl">
                    <a:srgbClr val="C0C0C0"/>
                  </a:outerShdw>
                </a:effectLst>
                <a:latin typeface="楷体_GB2312" pitchFamily="49" charset="-122"/>
                <a:ea typeface="楷体_GB2312" pitchFamily="49" charset="-122"/>
              </a:rPr>
              <a:t>函数后能得到一个指向整型数据的指针（地址），</a:t>
            </a:r>
            <a:r>
              <a:rPr lang="en-US" altLang="zh-CN" sz="2800" b="1" dirty="0">
                <a:effectLst>
                  <a:outerShdw blurRad="38100" dist="38100" dir="2700000" algn="tl">
                    <a:srgbClr val="C0C0C0"/>
                  </a:outerShdw>
                </a:effectLst>
                <a:latin typeface="楷体_GB2312" pitchFamily="49" charset="-122"/>
                <a:ea typeface="楷体_GB2312" pitchFamily="49" charset="-122"/>
              </a:rPr>
              <a:t>x</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y</a:t>
            </a:r>
            <a:r>
              <a:rPr lang="zh-CN" altLang="en-US" sz="2800" b="1" dirty="0">
                <a:effectLst>
                  <a:outerShdw blurRad="38100" dist="38100" dir="2700000" algn="tl">
                    <a:srgbClr val="C0C0C0"/>
                  </a:outerShdw>
                </a:effectLst>
                <a:latin typeface="楷体_GB2312" pitchFamily="49" charset="-122"/>
                <a:ea typeface="楷体_GB2312" pitchFamily="49" charset="-122"/>
              </a:rPr>
              <a:t>是两个整型形参。</a:t>
            </a:r>
          </a:p>
          <a:p>
            <a:pPr marL="0" indent="0" algn="just" eaLnBrk="1" fontAlgn="auto" hangingPunct="1">
              <a:lnSpc>
                <a:spcPct val="90000"/>
              </a:lnSpc>
              <a:spcAft>
                <a:spcPts val="0"/>
              </a:spcAft>
              <a:buClr>
                <a:schemeClr val="accent3"/>
              </a:buClr>
              <a:buFontTx/>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注意：在函数名的两侧分别为*运算符和</a:t>
            </a:r>
            <a:r>
              <a:rPr lang="en-US" altLang="zh-CN" sz="2800" b="1" dirty="0">
                <a:effectLst>
                  <a:outerShdw blurRad="38100" dist="38100" dir="2700000" algn="tl">
                    <a:srgbClr val="C0C0C0"/>
                  </a:outerShdw>
                </a:effectLst>
                <a:latin typeface="楷体_GB2312" pitchFamily="49" charset="-122"/>
                <a:ea typeface="楷体_GB2312" pitchFamily="49" charset="-122"/>
              </a:rPr>
              <a:t>( )</a:t>
            </a:r>
            <a:r>
              <a:rPr lang="zh-CN" altLang="en-US" sz="2800" b="1" dirty="0">
                <a:effectLst>
                  <a:outerShdw blurRad="38100" dist="38100" dir="2700000" algn="tl">
                    <a:srgbClr val="C0C0C0"/>
                  </a:outerShdw>
                </a:effectLst>
                <a:latin typeface="楷体_GB2312" pitchFamily="49" charset="-122"/>
                <a:ea typeface="楷体_GB2312" pitchFamily="49" charset="-122"/>
              </a:rPr>
              <a:t>运算符。因为</a:t>
            </a:r>
            <a:r>
              <a:rPr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的优先级高于*</a:t>
            </a:r>
            <a:r>
              <a:rPr lang="zh-CN" altLang="en-US" sz="2800" b="1" dirty="0">
                <a:effectLst>
                  <a:outerShdw blurRad="38100" dist="38100" dir="2700000" algn="tl">
                    <a:srgbClr val="C0C0C0"/>
                  </a:outerShdw>
                </a:effectLst>
                <a:latin typeface="楷体_GB2312" pitchFamily="49" charset="-122"/>
                <a:ea typeface="楷体_GB2312" pitchFamily="49" charset="-122"/>
              </a:rPr>
              <a:t>，所以得出</a:t>
            </a:r>
            <a:r>
              <a:rPr lang="en-US" altLang="zh-CN" sz="2800" b="1" dirty="0">
                <a:effectLst>
                  <a:outerShdw blurRad="38100" dist="38100" dir="2700000" algn="tl">
                    <a:srgbClr val="C0C0C0"/>
                  </a:outerShdw>
                </a:effectLst>
                <a:latin typeface="楷体_GB2312" pitchFamily="49" charset="-122"/>
                <a:ea typeface="楷体_GB2312" pitchFamily="49" charset="-122"/>
              </a:rPr>
              <a:t>f</a:t>
            </a:r>
            <a:r>
              <a:rPr lang="zh-CN" altLang="en-US" sz="2800" b="1" dirty="0">
                <a:effectLst>
                  <a:outerShdw blurRad="38100" dist="38100" dir="2700000" algn="tl">
                    <a:srgbClr val="C0C0C0"/>
                  </a:outerShdw>
                </a:effectLst>
                <a:latin typeface="楷体_GB2312" pitchFamily="49" charset="-122"/>
                <a:ea typeface="楷体_GB2312" pitchFamily="49" charset="-122"/>
              </a:rPr>
              <a:t>是函数的说明形式；在函数名之前有一个*，表示函数返回指针类型的值。</a:t>
            </a:r>
          </a:p>
        </p:txBody>
      </p:sp>
      <p:sp>
        <p:nvSpPr>
          <p:cNvPr id="4" name="Slide Number Placeholder 3"/>
          <p:cNvSpPr>
            <a:spLocks noGrp="1"/>
          </p:cNvSpPr>
          <p:nvPr>
            <p:ph type="sldNum" sz="quarter" idx="12"/>
          </p:nvPr>
        </p:nvSpPr>
        <p:spPr/>
        <p:txBody>
          <a:bodyPr/>
          <a:lstStyle/>
          <a:p>
            <a:pPr>
              <a:defRPr/>
            </a:pPr>
            <a:fld id="{167F592C-5E70-4BA5-A6E0-60A8514CE5EC}" type="slidenum">
              <a:rPr lang="en-US" altLang="zh-CN"/>
              <a:pPr>
                <a:defRPr/>
              </a:pPr>
              <a:t>79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690">
                                            <p:txEl>
                                              <p:pRg st="2" end="2"/>
                                            </p:txEl>
                                          </p:spTgt>
                                        </p:tgtEl>
                                        <p:attrNameLst>
                                          <p:attrName>style.visibility</p:attrName>
                                        </p:attrNameLst>
                                      </p:cBhvr>
                                      <p:to>
                                        <p:strVal val="visible"/>
                                      </p:to>
                                    </p:set>
                                    <p:anim calcmode="lin" valueType="num">
                                      <p:cBhvr additive="base">
                                        <p:cTn id="7" dur="500" fill="hold"/>
                                        <p:tgtEl>
                                          <p:spTgt spid="11469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4690">
                                            <p:txEl>
                                              <p:pRg st="3" end="3"/>
                                            </p:txEl>
                                          </p:spTgt>
                                        </p:tgtEl>
                                        <p:attrNameLst>
                                          <p:attrName>style.visibility</p:attrName>
                                        </p:attrNameLst>
                                      </p:cBhvr>
                                      <p:to>
                                        <p:strVal val="visible"/>
                                      </p:to>
                                    </p:set>
                                    <p:anim calcmode="lin" valueType="num">
                                      <p:cBhvr additive="base">
                                        <p:cTn id="11" dur="500" fill="hold"/>
                                        <p:tgtEl>
                                          <p:spTgt spid="11469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4690">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4690">
                                            <p:txEl>
                                              <p:pRg st="4" end="4"/>
                                            </p:txEl>
                                          </p:spTgt>
                                        </p:tgtEl>
                                        <p:attrNameLst>
                                          <p:attrName>style.visibility</p:attrName>
                                        </p:attrNameLst>
                                      </p:cBhvr>
                                      <p:to>
                                        <p:strVal val="visible"/>
                                      </p:to>
                                    </p:set>
                                    <p:anim calcmode="lin" valueType="num">
                                      <p:cBhvr additive="base">
                                        <p:cTn id="15" dur="500" fill="hold"/>
                                        <p:tgtEl>
                                          <p:spTgt spid="114690">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4690">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4690">
                                            <p:txEl>
                                              <p:pRg st="5" end="5"/>
                                            </p:txEl>
                                          </p:spTgt>
                                        </p:tgtEl>
                                        <p:attrNameLst>
                                          <p:attrName>style.visibility</p:attrName>
                                        </p:attrNameLst>
                                      </p:cBhvr>
                                      <p:to>
                                        <p:strVal val="visible"/>
                                      </p:to>
                                    </p:set>
                                    <p:anim calcmode="lin" valueType="num">
                                      <p:cBhvr additive="base">
                                        <p:cTn id="19" dur="500" fill="hold"/>
                                        <p:tgtEl>
                                          <p:spTgt spid="114690">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0">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4690">
                                            <p:txEl>
                                              <p:pRg st="6" end="6"/>
                                            </p:txEl>
                                          </p:spTgt>
                                        </p:tgtEl>
                                        <p:attrNameLst>
                                          <p:attrName>style.visibility</p:attrName>
                                        </p:attrNameLst>
                                      </p:cBhvr>
                                      <p:to>
                                        <p:strVal val="visible"/>
                                      </p:to>
                                    </p:set>
                                    <p:anim calcmode="lin" valueType="num">
                                      <p:cBhvr additive="base">
                                        <p:cTn id="23" dur="500" fill="hold"/>
                                        <p:tgtEl>
                                          <p:spTgt spid="114690">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4690">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4690">
                                            <p:txEl>
                                              <p:pRg st="7" end="7"/>
                                            </p:txEl>
                                          </p:spTgt>
                                        </p:tgtEl>
                                        <p:attrNameLst>
                                          <p:attrName>style.visibility</p:attrName>
                                        </p:attrNameLst>
                                      </p:cBhvr>
                                      <p:to>
                                        <p:strVal val="visible"/>
                                      </p:to>
                                    </p:set>
                                    <p:anim calcmode="lin" valueType="num">
                                      <p:cBhvr additive="base">
                                        <p:cTn id="27" dur="500" fill="hold"/>
                                        <p:tgtEl>
                                          <p:spTgt spid="114690">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469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title"/>
          </p:nvPr>
        </p:nvSpPr>
        <p:spPr>
          <a:xfrm>
            <a:off x="285750" y="928688"/>
            <a:ext cx="8675688" cy="5310187"/>
          </a:xfrm>
          <a:noFill/>
        </p:spPr>
        <p:txBody>
          <a:bodyPr lIns="92075" tIns="46038" rIns="92075" bIns="46038"/>
          <a:lstStyle/>
          <a:p>
            <a:pPr eaLnBrk="1" hangingPunct="1"/>
            <a:r>
              <a:rPr lang="en-US" altLang="zh-CN" sz="2800" b="1" dirty="0">
                <a:solidFill>
                  <a:schemeClr val="tx1"/>
                </a:solidFill>
                <a:latin typeface="楷体_GB2312" pitchFamily="49" charset="-122"/>
                <a:ea typeface="楷体_GB2312" pitchFamily="49" charset="-122"/>
              </a:rPr>
              <a:t>【</a:t>
            </a:r>
            <a:r>
              <a:rPr lang="zh-CN" altLang="en-US" sz="2800" b="1" dirty="0">
                <a:solidFill>
                  <a:schemeClr val="tx1"/>
                </a:solidFill>
                <a:latin typeface="楷体_GB2312" pitchFamily="49" charset="-122"/>
                <a:ea typeface="楷体_GB2312" pitchFamily="49" charset="-122"/>
              </a:rPr>
              <a:t>例</a:t>
            </a:r>
            <a:r>
              <a:rPr lang="en-US" altLang="zh-CN" sz="2800" b="1" dirty="0">
                <a:solidFill>
                  <a:schemeClr val="tx1"/>
                </a:solidFill>
                <a:latin typeface="楷体_GB2312" pitchFamily="49" charset="-122"/>
                <a:ea typeface="楷体_GB2312" pitchFamily="49" charset="-122"/>
              </a:rPr>
              <a:t>6.18】</a:t>
            </a:r>
            <a:r>
              <a:rPr lang="zh-CN" altLang="en-US" sz="2800" b="1" dirty="0">
                <a:solidFill>
                  <a:schemeClr val="tx1"/>
                </a:solidFill>
                <a:latin typeface="楷体_GB2312" pitchFamily="49" charset="-122"/>
                <a:ea typeface="楷体_GB2312" pitchFamily="49" charset="-122"/>
              </a:rPr>
              <a:t>编制在给定的字符串中找特定字符的第一次出现。如果找到，返回找到的字符的指针；反之，如果没有找到，则返回</a:t>
            </a:r>
            <a:r>
              <a:rPr lang="en-US" altLang="zh-CN" sz="2800" b="1" dirty="0">
                <a:solidFill>
                  <a:schemeClr val="tx1"/>
                </a:solidFill>
                <a:latin typeface="楷体_GB2312" pitchFamily="49" charset="-122"/>
                <a:ea typeface="楷体_GB2312" pitchFamily="49" charset="-122"/>
              </a:rPr>
              <a:t>NULL</a:t>
            </a:r>
            <a:r>
              <a:rPr lang="zh-CN" altLang="en-US" sz="2800" b="1" dirty="0">
                <a:solidFill>
                  <a:schemeClr val="tx1"/>
                </a:solidFill>
                <a:latin typeface="楷体_GB2312" pitchFamily="49" charset="-122"/>
                <a:ea typeface="楷体_GB2312" pitchFamily="49" charset="-122"/>
              </a:rPr>
              <a:t>值。</a:t>
            </a:r>
            <a:br>
              <a:rPr lang="zh-CN" altLang="en-US" sz="2800" b="1" dirty="0">
                <a:solidFill>
                  <a:srgbClr val="FF0000"/>
                </a:solidFill>
                <a:latin typeface="楷体_GB2312" pitchFamily="49" charset="-122"/>
                <a:ea typeface="楷体_GB2312" pitchFamily="49" charset="-122"/>
              </a:rPr>
            </a:br>
            <a:br>
              <a:rPr lang="zh-CN" altLang="en-US" sz="2800" b="1" dirty="0">
                <a:latin typeface="楷体_GB2312" pitchFamily="49" charset="-122"/>
                <a:ea typeface="楷体_GB2312" pitchFamily="49" charset="-122"/>
              </a:rPr>
            </a:br>
            <a:r>
              <a:rPr lang="zh-CN" altLang="en-US" sz="2800" b="1" dirty="0">
                <a:solidFill>
                  <a:schemeClr val="tx1"/>
                </a:solidFill>
                <a:latin typeface="楷体_GB2312" pitchFamily="49" charset="-122"/>
                <a:ea typeface="楷体_GB2312" pitchFamily="49" charset="-122"/>
              </a:rPr>
              <a:t>设函数为</a:t>
            </a:r>
            <a:r>
              <a:rPr lang="en-US" altLang="zh-CN" sz="2800" b="1" dirty="0" err="1">
                <a:solidFill>
                  <a:schemeClr val="tx1"/>
                </a:solidFill>
                <a:latin typeface="楷体_GB2312" pitchFamily="49" charset="-122"/>
                <a:ea typeface="楷体_GB2312" pitchFamily="49" charset="-122"/>
              </a:rPr>
              <a:t>searchCh</a:t>
            </a:r>
            <a:r>
              <a:rPr lang="en-US" altLang="zh-CN" sz="2800" b="1" dirty="0">
                <a:solidFill>
                  <a:schemeClr val="tx1"/>
                </a:solidFill>
                <a:latin typeface="楷体_GB2312" pitchFamily="49" charset="-122"/>
                <a:ea typeface="楷体_GB2312" pitchFamily="49" charset="-122"/>
              </a:rPr>
              <a:t>()</a:t>
            </a:r>
            <a:r>
              <a:rPr lang="zh-CN" altLang="en-US" sz="2800" b="1" dirty="0">
                <a:solidFill>
                  <a:schemeClr val="tx1"/>
                </a:solidFill>
                <a:latin typeface="楷体_GB2312" pitchFamily="49" charset="-122"/>
                <a:ea typeface="楷体_GB2312" pitchFamily="49" charset="-122"/>
              </a:rPr>
              <a:t>，函数应设两个形参，指向字符串首字符的指针和待寻找的字符。查找过程是一个循环，函数从首字符开始，在当前字符还不是字符串结束符，并且当前字符不是要查找字符情况，继续考察下一个字符。待查找循环结束，如果当前字符不是字符串结束符，则找到，返回当前字符指针；否则，就是没有找到，函数返回</a:t>
            </a:r>
            <a:r>
              <a:rPr lang="en-US" altLang="zh-CN" sz="2800" b="1" dirty="0">
                <a:solidFill>
                  <a:schemeClr val="tx1"/>
                </a:solidFill>
                <a:latin typeface="楷体_GB2312" pitchFamily="49" charset="-122"/>
                <a:ea typeface="楷体_GB2312" pitchFamily="49" charset="-122"/>
              </a:rPr>
              <a:t>NULL</a:t>
            </a:r>
            <a:r>
              <a:rPr lang="zh-CN" altLang="en-US" sz="2800" b="1" dirty="0">
                <a:solidFill>
                  <a:schemeClr val="tx1"/>
                </a:solidFill>
                <a:latin typeface="楷体_GB2312" pitchFamily="49" charset="-122"/>
                <a:ea typeface="楷体_GB2312" pitchFamily="49" charset="-122"/>
              </a:rPr>
              <a:t>。</a:t>
            </a:r>
            <a:r>
              <a:rPr lang="zh-CN" altLang="en-US" sz="2800" dirty="0">
                <a:solidFill>
                  <a:schemeClr val="tx1"/>
                </a:solidFill>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84487C60-59EB-4374-9041-1659187C4DF2}" type="slidenum">
              <a:rPr lang="en-US" altLang="zh-CN"/>
              <a:pPr>
                <a:defRPr/>
              </a:pPr>
              <a:t>80</a:t>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468313" y="1071563"/>
            <a:ext cx="8675687" cy="3571875"/>
          </a:xfrm>
          <a:noFill/>
        </p:spPr>
        <p:txBody>
          <a:bodyPr lIns="92075" tIns="46038" rIns="92075" bIns="46038"/>
          <a:lstStyle/>
          <a:p>
            <a:pPr eaLnBrk="1" hangingPunct="1"/>
            <a:r>
              <a:rPr lang="en-US" altLang="zh-CN" sz="2800" b="1">
                <a:solidFill>
                  <a:schemeClr val="tx1"/>
                </a:solidFill>
                <a:latin typeface="楷体_GB2312" pitchFamily="49" charset="-122"/>
                <a:ea typeface="楷体_GB2312" pitchFamily="49" charset="-122"/>
              </a:rPr>
              <a:t>char *searchCh(char *s, char c)</a:t>
            </a:r>
            <a:br>
              <a:rPr lang="en-US" altLang="zh-CN" sz="2800" b="1">
                <a:solidFill>
                  <a:schemeClr val="tx1"/>
                </a:solidFill>
                <a:latin typeface="楷体_GB2312" pitchFamily="49" charset="-122"/>
                <a:ea typeface="楷体_GB2312" pitchFamily="49" charset="-122"/>
              </a:rPr>
            </a:br>
            <a:r>
              <a:rPr lang="en-US" altLang="zh-CN" sz="2800" b="1">
                <a:solidFill>
                  <a:schemeClr val="tx1"/>
                </a:solidFill>
                <a:latin typeface="楷体_GB2312" pitchFamily="49" charset="-122"/>
                <a:ea typeface="楷体_GB2312" pitchFamily="49" charset="-122"/>
              </a:rPr>
              <a:t> { </a:t>
            </a:r>
            <a:br>
              <a:rPr lang="en-US" altLang="zh-CN" sz="2800" b="1">
                <a:solidFill>
                  <a:schemeClr val="tx1"/>
                </a:solidFill>
                <a:latin typeface="楷体_GB2312" pitchFamily="49" charset="-122"/>
                <a:ea typeface="楷体_GB2312" pitchFamily="49" charset="-122"/>
              </a:rPr>
            </a:br>
            <a:r>
              <a:rPr lang="en-US" altLang="zh-CN" sz="2800" b="1">
                <a:solidFill>
                  <a:schemeClr val="tx1"/>
                </a:solidFill>
                <a:latin typeface="楷体_GB2312" pitchFamily="49" charset="-122"/>
                <a:ea typeface="楷体_GB2312" pitchFamily="49" charset="-122"/>
              </a:rPr>
              <a:t>      while (*s &amp;&amp; *s != c)</a:t>
            </a:r>
            <a:br>
              <a:rPr lang="en-US" altLang="zh-CN" sz="2800" b="1">
                <a:solidFill>
                  <a:schemeClr val="tx1"/>
                </a:solidFill>
                <a:latin typeface="楷体_GB2312" pitchFamily="49" charset="-122"/>
                <a:ea typeface="楷体_GB2312" pitchFamily="49" charset="-122"/>
              </a:rPr>
            </a:br>
            <a:r>
              <a:rPr lang="en-US" altLang="zh-CN" sz="2800" b="1">
                <a:solidFill>
                  <a:schemeClr val="tx1"/>
                </a:solidFill>
                <a:latin typeface="楷体_GB2312" pitchFamily="49" charset="-122"/>
                <a:ea typeface="楷体_GB2312" pitchFamily="49" charset="-122"/>
              </a:rPr>
              <a:t>            s++;</a:t>
            </a:r>
            <a:br>
              <a:rPr lang="en-US" altLang="zh-CN" sz="2800" b="1">
                <a:solidFill>
                  <a:schemeClr val="tx1"/>
                </a:solidFill>
                <a:latin typeface="楷体_GB2312" pitchFamily="49" charset="-122"/>
                <a:ea typeface="楷体_GB2312" pitchFamily="49" charset="-122"/>
              </a:rPr>
            </a:br>
            <a:r>
              <a:rPr lang="en-US" altLang="zh-CN" sz="2800" b="1">
                <a:solidFill>
                  <a:schemeClr val="tx1"/>
                </a:solidFill>
                <a:latin typeface="楷体_GB2312" pitchFamily="49" charset="-122"/>
                <a:ea typeface="楷体_GB2312" pitchFamily="49" charset="-122"/>
              </a:rPr>
              <a:t>      return *s ? s : NULL;</a:t>
            </a:r>
            <a:br>
              <a:rPr lang="en-US" altLang="zh-CN" sz="2800" b="1">
                <a:solidFill>
                  <a:schemeClr val="tx1"/>
                </a:solidFill>
                <a:latin typeface="楷体_GB2312" pitchFamily="49" charset="-122"/>
                <a:ea typeface="楷体_GB2312" pitchFamily="49" charset="-122"/>
              </a:rPr>
            </a:br>
            <a:r>
              <a:rPr lang="en-US" altLang="zh-CN" sz="2800" b="1">
                <a:solidFill>
                  <a:schemeClr val="tx1"/>
                </a:solidFill>
                <a:latin typeface="楷体_GB2312" pitchFamily="49" charset="-122"/>
                <a:ea typeface="楷体_GB2312" pitchFamily="49" charset="-122"/>
              </a:rPr>
              <a:t> }</a:t>
            </a:r>
          </a:p>
        </p:txBody>
      </p:sp>
      <p:sp>
        <p:nvSpPr>
          <p:cNvPr id="3" name="Slide Number Placeholder 2"/>
          <p:cNvSpPr>
            <a:spLocks noGrp="1"/>
          </p:cNvSpPr>
          <p:nvPr>
            <p:ph type="sldNum" sz="quarter" idx="12"/>
          </p:nvPr>
        </p:nvSpPr>
        <p:spPr/>
        <p:txBody>
          <a:bodyPr/>
          <a:lstStyle/>
          <a:p>
            <a:pPr>
              <a:defRPr/>
            </a:pPr>
            <a:fld id="{EFC36962-613B-4D7B-B73F-49E0FE1DA718}" type="slidenum">
              <a:rPr lang="en-US" altLang="zh-CN"/>
              <a:pPr>
                <a:defRPr/>
              </a:pPr>
              <a:t>81</a:t>
            </a:fld>
            <a:endParaRPr lang="en-US"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707CF9-43EB-6CFA-9F6B-3BF87217107F}"/>
              </a:ext>
            </a:extLst>
          </p:cNvPr>
          <p:cNvSpPr>
            <a:spLocks noGrp="1"/>
          </p:cNvSpPr>
          <p:nvPr>
            <p:ph type="title"/>
          </p:nvPr>
        </p:nvSpPr>
        <p:spPr/>
        <p:txBody>
          <a:bodyPr/>
          <a:lstStyle/>
          <a:p>
            <a:r>
              <a:rPr lang="zh-CN" altLang="en-US" dirty="0"/>
              <a:t>指针可能非常危险</a:t>
            </a:r>
          </a:p>
        </p:txBody>
      </p:sp>
      <p:sp>
        <p:nvSpPr>
          <p:cNvPr id="3" name="内容占位符 2">
            <a:extLst>
              <a:ext uri="{FF2B5EF4-FFF2-40B4-BE49-F238E27FC236}">
                <a16:creationId xmlns:a16="http://schemas.microsoft.com/office/drawing/2014/main" id="{EF937056-349D-3231-451E-70FBED521BEB}"/>
              </a:ext>
            </a:extLst>
          </p:cNvPr>
          <p:cNvSpPr>
            <a:spLocks noGrp="1"/>
          </p:cNvSpPr>
          <p:nvPr>
            <p:ph idx="1"/>
          </p:nvPr>
        </p:nvSpPr>
        <p:spPr>
          <a:xfrm>
            <a:off x="457200" y="1935163"/>
            <a:ext cx="3682752" cy="4389437"/>
          </a:xfrm>
        </p:spPr>
        <p:txBody>
          <a:bodyPr/>
          <a:lstStyle/>
          <a:p>
            <a:r>
              <a:rPr lang="en-US" altLang="zh-CN" sz="3200" dirty="0"/>
              <a:t>int main()</a:t>
            </a:r>
          </a:p>
          <a:p>
            <a:r>
              <a:rPr lang="en-US" altLang="zh-CN" sz="3200" dirty="0"/>
              <a:t>{</a:t>
            </a:r>
          </a:p>
          <a:p>
            <a:r>
              <a:rPr lang="en-US" altLang="zh-CN" sz="3200" dirty="0"/>
              <a:t>   int *p;</a:t>
            </a:r>
          </a:p>
          <a:p>
            <a:r>
              <a:rPr lang="en-US" altLang="zh-CN" sz="3200" dirty="0"/>
              <a:t>   { int n =100;</a:t>
            </a:r>
          </a:p>
          <a:p>
            <a:r>
              <a:rPr lang="en-US" altLang="zh-CN" sz="3200" dirty="0"/>
              <a:t>      p = &amp;n;</a:t>
            </a:r>
          </a:p>
          <a:p>
            <a:r>
              <a:rPr lang="en-US" altLang="zh-CN" sz="3200" dirty="0"/>
              <a:t>   }</a:t>
            </a:r>
          </a:p>
          <a:p>
            <a:r>
              <a:rPr lang="en-US" altLang="zh-CN" sz="3200" dirty="0"/>
              <a:t> *p= 200;</a:t>
            </a:r>
          </a:p>
          <a:p>
            <a:r>
              <a:rPr lang="en-US" altLang="zh-CN" sz="3200" dirty="0"/>
              <a:t>}</a:t>
            </a:r>
            <a:endParaRPr lang="zh-CN" altLang="en-US" sz="3200" dirty="0"/>
          </a:p>
        </p:txBody>
      </p:sp>
      <p:sp>
        <p:nvSpPr>
          <p:cNvPr id="4" name="灯片编号占位符 3">
            <a:extLst>
              <a:ext uri="{FF2B5EF4-FFF2-40B4-BE49-F238E27FC236}">
                <a16:creationId xmlns:a16="http://schemas.microsoft.com/office/drawing/2014/main" id="{2938DC3F-1A96-0C8C-DA4F-4A8FF21F882F}"/>
              </a:ext>
            </a:extLst>
          </p:cNvPr>
          <p:cNvSpPr>
            <a:spLocks noGrp="1"/>
          </p:cNvSpPr>
          <p:nvPr>
            <p:ph type="sldNum" sz="quarter" idx="12"/>
          </p:nvPr>
        </p:nvSpPr>
        <p:spPr/>
        <p:txBody>
          <a:bodyPr/>
          <a:lstStyle/>
          <a:p>
            <a:pPr>
              <a:defRPr/>
            </a:pPr>
            <a:fld id="{4C02CBC6-E8D8-4A37-96BD-A7C68420EB00}" type="slidenum">
              <a:rPr lang="en-US" altLang="zh-CN" smtClean="0"/>
              <a:pPr>
                <a:defRPr/>
              </a:pPr>
              <a:t>82</a:t>
            </a:fld>
            <a:endParaRPr lang="en-US" altLang="zh-CN"/>
          </a:p>
        </p:txBody>
      </p:sp>
      <p:sp>
        <p:nvSpPr>
          <p:cNvPr id="5" name="内容占位符 2">
            <a:extLst>
              <a:ext uri="{FF2B5EF4-FFF2-40B4-BE49-F238E27FC236}">
                <a16:creationId xmlns:a16="http://schemas.microsoft.com/office/drawing/2014/main" id="{EA5D841D-986C-3C23-8944-79883137CBD3}"/>
              </a:ext>
            </a:extLst>
          </p:cNvPr>
          <p:cNvSpPr txBox="1">
            <a:spLocks/>
          </p:cNvSpPr>
          <p:nvPr/>
        </p:nvSpPr>
        <p:spPr bwMode="auto">
          <a:xfrm>
            <a:off x="5004050" y="1971922"/>
            <a:ext cx="2962672" cy="48860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altLang="zh-CN" dirty="0"/>
              <a:t>int *fun(){</a:t>
            </a:r>
          </a:p>
          <a:p>
            <a:r>
              <a:rPr lang="en-US" altLang="zh-CN" dirty="0"/>
              <a:t>  int </a:t>
            </a:r>
            <a:r>
              <a:rPr lang="en-US" altLang="zh-CN" dirty="0" err="1"/>
              <a:t>i</a:t>
            </a:r>
            <a:r>
              <a:rPr lang="en-US" altLang="zh-CN" dirty="0"/>
              <a:t>=100;</a:t>
            </a:r>
          </a:p>
          <a:p>
            <a:r>
              <a:rPr lang="en-US" altLang="zh-CN" dirty="0"/>
              <a:t>  return &amp;</a:t>
            </a:r>
            <a:r>
              <a:rPr lang="en-US" altLang="zh-CN" dirty="0" err="1"/>
              <a:t>i</a:t>
            </a:r>
            <a:r>
              <a:rPr lang="en-US" altLang="zh-CN" dirty="0"/>
              <a:t>;</a:t>
            </a:r>
          </a:p>
          <a:p>
            <a:r>
              <a:rPr lang="en-US" altLang="zh-CN"/>
              <a:t>}</a:t>
            </a:r>
          </a:p>
          <a:p>
            <a:endParaRPr lang="en-US" altLang="zh-CN" dirty="0"/>
          </a:p>
          <a:p>
            <a:r>
              <a:rPr lang="en-US" altLang="zh-CN" dirty="0"/>
              <a:t>int main(){</a:t>
            </a:r>
          </a:p>
          <a:p>
            <a:r>
              <a:rPr lang="en-US" altLang="zh-CN" dirty="0"/>
              <a:t>   int *p;</a:t>
            </a:r>
          </a:p>
          <a:p>
            <a:r>
              <a:rPr lang="en-US" altLang="zh-CN" dirty="0"/>
              <a:t>   p= </a:t>
            </a:r>
            <a:r>
              <a:rPr lang="en-US" altLang="zh-CN" dirty="0" err="1"/>
              <a:t>func</a:t>
            </a:r>
            <a:r>
              <a:rPr lang="en-US" altLang="zh-CN" dirty="0"/>
              <a:t>();</a:t>
            </a:r>
          </a:p>
          <a:p>
            <a:r>
              <a:rPr lang="en-US" altLang="zh-CN" dirty="0"/>
              <a:t>   return 1;</a:t>
            </a:r>
          </a:p>
          <a:p>
            <a:r>
              <a:rPr lang="en-US" altLang="zh-CN" dirty="0"/>
              <a:t>}  </a:t>
            </a:r>
            <a:endParaRPr lang="zh-CN" altLang="en-US" dirty="0"/>
          </a:p>
        </p:txBody>
      </p:sp>
    </p:spTree>
    <p:extLst>
      <p:ext uri="{BB962C8B-B14F-4D97-AF65-F5344CB8AC3E}">
        <p14:creationId xmlns:p14="http://schemas.microsoft.com/office/powerpoint/2010/main" val="251428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5EB3B-0F37-1428-E8D4-AB9A78608E7A}"/>
              </a:ext>
            </a:extLst>
          </p:cNvPr>
          <p:cNvSpPr>
            <a:spLocks noGrp="1"/>
          </p:cNvSpPr>
          <p:nvPr>
            <p:ph type="title"/>
          </p:nvPr>
        </p:nvSpPr>
        <p:spPr/>
        <p:txBody>
          <a:bodyPr/>
          <a:lstStyle/>
          <a:p>
            <a:r>
              <a:rPr lang="zh-CN" altLang="en-US" dirty="0"/>
              <a:t>补充习题（使用指针实现）</a:t>
            </a:r>
          </a:p>
        </p:txBody>
      </p:sp>
      <p:sp>
        <p:nvSpPr>
          <p:cNvPr id="3" name="内容占位符 2">
            <a:extLst>
              <a:ext uri="{FF2B5EF4-FFF2-40B4-BE49-F238E27FC236}">
                <a16:creationId xmlns:a16="http://schemas.microsoft.com/office/drawing/2014/main" id="{F302B948-CF3F-5EC9-9354-EB40EBB33061}"/>
              </a:ext>
            </a:extLst>
          </p:cNvPr>
          <p:cNvSpPr>
            <a:spLocks noGrp="1"/>
          </p:cNvSpPr>
          <p:nvPr>
            <p:ph idx="1"/>
          </p:nvPr>
        </p:nvSpPr>
        <p:spPr/>
        <p:txBody>
          <a:bodyPr/>
          <a:lstStyle/>
          <a:p>
            <a:pPr marL="0" indent="0">
              <a:buNone/>
            </a:pPr>
            <a:r>
              <a:rPr lang="en-US" altLang="zh-CN" b="0" i="0" dirty="0">
                <a:effectLst/>
                <a:latin typeface="Noto Sans" panose="020B0502040504020204" pitchFamily="34" charset="0"/>
              </a:rPr>
              <a:t>Given an array of integers, return indices of the two numbers such that they add up to a specific target.</a:t>
            </a:r>
          </a:p>
          <a:p>
            <a:pPr marL="0" indent="0">
              <a:buNone/>
            </a:pPr>
            <a:endParaRPr lang="en-US" altLang="zh-CN" dirty="0">
              <a:latin typeface="Noto Sans" panose="020B0502040504020204" pitchFamily="34" charset="0"/>
            </a:endParaRPr>
          </a:p>
          <a:p>
            <a:pPr marL="0" indent="0">
              <a:buNone/>
            </a:pPr>
            <a:r>
              <a:rPr lang="en-US" altLang="zh-CN" b="0" i="0">
                <a:effectLst/>
                <a:latin typeface="Noto Sans" panose="020B0502040504020204" pitchFamily="34" charset="0"/>
              </a:rPr>
              <a:t>Example: </a:t>
            </a:r>
          </a:p>
          <a:p>
            <a:pPr marL="0" indent="0">
              <a:buNone/>
            </a:pPr>
            <a:r>
              <a:rPr lang="en-US" altLang="zh-CN" b="0" i="0">
                <a:effectLst/>
                <a:latin typeface="Noto Sans" panose="020B0502040504020204" pitchFamily="34" charset="0"/>
              </a:rPr>
              <a:t>Input</a:t>
            </a:r>
            <a:r>
              <a:rPr lang="en-US" altLang="zh-CN" b="0" i="0" dirty="0">
                <a:effectLst/>
                <a:latin typeface="Noto Sans" panose="020B0502040504020204" pitchFamily="34" charset="0"/>
              </a:rPr>
              <a:t>: </a:t>
            </a:r>
            <a:r>
              <a:rPr lang="en-US" altLang="zh-CN" b="0" i="0" dirty="0" err="1">
                <a:effectLst/>
                <a:latin typeface="Noto Sans" panose="020B0502040504020204" pitchFamily="34" charset="0"/>
              </a:rPr>
              <a:t>nums</a:t>
            </a:r>
            <a:r>
              <a:rPr lang="en-US" altLang="zh-CN" b="0" i="0" dirty="0">
                <a:effectLst/>
                <a:latin typeface="Noto Sans" panose="020B0502040504020204" pitchFamily="34" charset="0"/>
              </a:rPr>
              <a:t> = [2, 7, 11, 15], target = 9 Output: [0, 1]</a:t>
            </a:r>
          </a:p>
          <a:p>
            <a:pPr marL="0" indent="0">
              <a:buNone/>
            </a:pPr>
            <a:endParaRPr lang="en-US" altLang="zh-CN" b="0" i="0" dirty="0">
              <a:effectLst/>
              <a:latin typeface="Noto Sans" panose="020B0502040504020204" pitchFamily="34" charset="0"/>
            </a:endParaRPr>
          </a:p>
          <a:p>
            <a:endParaRPr lang="zh-CN" altLang="en-US" dirty="0"/>
          </a:p>
        </p:txBody>
      </p:sp>
      <p:sp>
        <p:nvSpPr>
          <p:cNvPr id="4" name="灯片编号占位符 3">
            <a:extLst>
              <a:ext uri="{FF2B5EF4-FFF2-40B4-BE49-F238E27FC236}">
                <a16:creationId xmlns:a16="http://schemas.microsoft.com/office/drawing/2014/main" id="{EFECC033-13FA-6655-F2DA-9D76084A305A}"/>
              </a:ext>
            </a:extLst>
          </p:cNvPr>
          <p:cNvSpPr>
            <a:spLocks noGrp="1"/>
          </p:cNvSpPr>
          <p:nvPr>
            <p:ph type="sldNum" sz="quarter" idx="12"/>
          </p:nvPr>
        </p:nvSpPr>
        <p:spPr/>
        <p:txBody>
          <a:bodyPr/>
          <a:lstStyle/>
          <a:p>
            <a:pPr>
              <a:defRPr/>
            </a:pPr>
            <a:fld id="{4C02CBC6-E8D8-4A37-96BD-A7C68420EB00}" type="slidenum">
              <a:rPr lang="en-US" altLang="zh-CN" smtClean="0"/>
              <a:pPr>
                <a:defRPr/>
              </a:pPr>
              <a:t>83</a:t>
            </a:fld>
            <a:endParaRPr lang="en-US" altLang="zh-CN"/>
          </a:p>
        </p:txBody>
      </p:sp>
    </p:spTree>
    <p:extLst>
      <p:ext uri="{BB962C8B-B14F-4D97-AF65-F5344CB8AC3E}">
        <p14:creationId xmlns:p14="http://schemas.microsoft.com/office/powerpoint/2010/main" val="2149334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3601</TotalTime>
  <Words>9820</Words>
  <Application>Microsoft Office PowerPoint</Application>
  <PresentationFormat>全屏显示(4:3)</PresentationFormat>
  <Paragraphs>1123</Paragraphs>
  <Slides>83</Slides>
  <Notes>7</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83</vt:i4>
      </vt:variant>
    </vt:vector>
  </HeadingPairs>
  <TitlesOfParts>
    <vt:vector size="104" baseType="lpstr">
      <vt:lpstr>Academy Engraved LET</vt:lpstr>
      <vt:lpstr>Monotype Sorts</vt:lpstr>
      <vt:lpstr>ui-monospace</vt:lpstr>
      <vt:lpstr>仿宋_GB2312</vt:lpstr>
      <vt:lpstr>黑体</vt:lpstr>
      <vt:lpstr>华文仿宋</vt:lpstr>
      <vt:lpstr>华文楷体</vt:lpstr>
      <vt:lpstr>楷体_GB2312</vt:lpstr>
      <vt:lpstr>隶书</vt:lpstr>
      <vt:lpstr>宋体</vt:lpstr>
      <vt:lpstr>幼圆</vt:lpstr>
      <vt:lpstr>Arial</vt:lpstr>
      <vt:lpstr>Baskerville Old Face</vt:lpstr>
      <vt:lpstr>Calibri</vt:lpstr>
      <vt:lpstr>Constantia</vt:lpstr>
      <vt:lpstr>Courier New</vt:lpstr>
      <vt:lpstr>Noto Sans</vt:lpstr>
      <vt:lpstr>Times New Roman</vt:lpstr>
      <vt:lpstr>Wingdings 2</vt:lpstr>
      <vt:lpstr>Flow</vt:lpstr>
      <vt:lpstr>Clip</vt:lpstr>
      <vt:lpstr>第6章 指针</vt:lpstr>
      <vt:lpstr>6.1 指针基本概念</vt:lpstr>
      <vt:lpstr>变量的内存地址</vt:lpstr>
      <vt:lpstr>变量的内存地址</vt:lpstr>
      <vt:lpstr>变量的内存地址</vt:lpstr>
      <vt:lpstr>变量的内存地址</vt:lpstr>
      <vt:lpstr>变量的内存地址</vt:lpstr>
      <vt:lpstr>PowerPoint 演示文稿</vt:lpstr>
      <vt:lpstr>指针变量的定义和初始化</vt:lpstr>
      <vt:lpstr>PowerPoint 演示文稿</vt:lpstr>
      <vt:lpstr>PowerPoint 演示文稿</vt:lpstr>
      <vt:lpstr>PowerPoint 演示文稿</vt:lpstr>
      <vt:lpstr>PowerPoint 演示文稿</vt:lpstr>
      <vt:lpstr>PowerPoint 演示文稿</vt:lpstr>
      <vt:lpstr>指针类型的存储空间</vt:lpstr>
      <vt:lpstr>引用指针变量所指的变量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6.2指向数组元素的指针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 指针形参 </vt:lpstr>
      <vt:lpstr>按值调用与按地址调用</vt:lpstr>
      <vt:lpstr>按值调用与按地址调用</vt:lpstr>
      <vt:lpstr>按值调用与按地址调用</vt:lpstr>
      <vt:lpstr>按值调用与按地址调用</vt:lpstr>
      <vt:lpstr>按值调用与按地址调用</vt:lpstr>
      <vt:lpstr>PowerPoint 演示文稿</vt:lpstr>
      <vt:lpstr>PowerPoint 演示文稿</vt:lpstr>
      <vt:lpstr>PowerPoint 演示文稿</vt:lpstr>
      <vt:lpstr>PowerPoint 演示文稿</vt:lpstr>
      <vt:lpstr>PowerPoint 演示文稿</vt:lpstr>
      <vt:lpstr>PowerPoint 演示文稿</vt:lpstr>
      <vt:lpstr>6.4数组形参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【例6.10】两字符串比较函数 strcmp() </vt:lpstr>
      <vt:lpstr>PowerPoint 演示文稿</vt:lpstr>
      <vt:lpstr>保留字符串中每个字符的前两次出现，删除之后所有更多的出现</vt:lpstr>
      <vt:lpstr>PowerPoint 演示文稿</vt:lpstr>
      <vt:lpstr>合并两个排序数组：        给定两个排好序的整数数组，将它们合并成为一个排好序的整数数组。结果放在第一个数组（假定空间足够）</vt:lpstr>
      <vt:lpstr>PowerPoint 演示文稿</vt:lpstr>
      <vt:lpstr>PowerPoint 演示文稿</vt:lpstr>
      <vt:lpstr>PowerPoint 演示文稿</vt:lpstr>
      <vt:lpstr>指针和二维数组间的关系</vt:lpstr>
      <vt:lpstr>指针和二维数组间的关系</vt:lpstr>
      <vt:lpstr>PowerPoint 演示文稿</vt:lpstr>
      <vt:lpstr>PowerPoint 演示文稿</vt:lpstr>
      <vt:lpstr>归纳： a[i][j]有以下三种等价表示形式： *(a[i]+j)、*(*(a+i)+j)、(*(a+i))[j]</vt:lpstr>
      <vt:lpstr>6.6指针数组</vt:lpstr>
      <vt:lpstr>PowerPoint 演示文稿</vt:lpstr>
      <vt:lpstr>【例6.12】 排序时交换变量值 </vt:lpstr>
      <vt:lpstr>PowerPoint 演示文稿</vt:lpstr>
      <vt:lpstr>【例6.13】排序时不交换变量的值，而是交换它们的指针</vt:lpstr>
      <vt:lpstr>PowerPoint 演示文稿</vt:lpstr>
      <vt:lpstr>6.9 返回指针值的函数 </vt:lpstr>
      <vt:lpstr>【例6.18】编制在给定的字符串中找特定字符的第一次出现。如果找到，返回找到的字符的指针；反之，如果没有找到，则返回NULL值。  设函数为searchCh()，函数应设两个形参，指向字符串首字符的指针和待寻找的字符。查找过程是一个循环，函数从首字符开始，在当前字符还不是字符串结束符，并且当前字符不是要查找字符情况，继续考察下一个字符。待查找循环结束，如果当前字符不是字符串结束符，则找到，返回当前字符指针；否则，就是没有找到，函数返回NULL。 </vt:lpstr>
      <vt:lpstr>char *searchCh(char *s, char c)  {        while (*s &amp;&amp; *s != c)             s++;       return *s ? s : NULL;  }</vt:lpstr>
      <vt:lpstr>指针可能非常危险</vt:lpstr>
      <vt:lpstr>补充习题（使用指针实现）</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Xia Kuanli</dc:creator>
  <cp:lastModifiedBy>子敬 谈</cp:lastModifiedBy>
  <cp:revision>201</cp:revision>
  <dcterms:created xsi:type="dcterms:W3CDTF">2006-02-06T02:48:09Z</dcterms:created>
  <dcterms:modified xsi:type="dcterms:W3CDTF">2024-11-26T07:11:57Z</dcterms:modified>
</cp:coreProperties>
</file>